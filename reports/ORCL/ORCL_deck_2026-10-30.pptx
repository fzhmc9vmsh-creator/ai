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0.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4.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1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作動している +</c:v>
                </c:pt>
              </c:strCache>
            </c:strRef>
          </c:tx>
          <c:spPr>
            <a:solidFill>
              <a:srgbClr val="197A5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Sheet1!$B$2:$B$2</c:f>
              <c:numCache>
                <c:formatCode>General</c:formatCode>
                <c:ptCount val="1"/>
                <c:pt idx="0">
                  <c:v>54</c:v>
                </c:pt>
              </c:numCache>
            </c:numRef>
          </c:val>
        </c:ser>
        <c:ser>
          <c:idx val="1"/>
          <c:order val="1"/>
          <c:tx>
            <c:strRef>
              <c:f>Sheet1!$C$1</c:f>
              <c:strCache>
                <c:ptCount val="1"/>
                <c:pt idx="0">
                  <c:v>両面・遅延・コスト</c:v>
                </c:pt>
              </c:strCache>
            </c:strRef>
          </c:tx>
          <c:spPr>
            <a:solidFill>
              <a:srgbClr val="D68910"/>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Sheet1!$C$2:$C$2</c:f>
              <c:numCache>
                <c:formatCode>General</c:formatCode>
                <c:ptCount val="1"/>
                <c:pt idx="0">
                  <c:v>45</c:v>
                </c:pt>
              </c:numCache>
            </c:numRef>
          </c:val>
        </c:ser>
        <c:ser>
          <c:idx val="2"/>
          <c:order val="2"/>
          <c:tx>
            <c:strRef>
              <c:f>Sheet1!$D$1</c:f>
              <c:strCache>
                <c:ptCount val="1"/>
                <c:pt idx="0">
                  <c:v>保留</c:v>
                </c:pt>
              </c:strCache>
            </c:strRef>
          </c:tx>
          <c:spPr>
            <a:solidFill>
              <a:srgbClr val="767676"/>
            </a:solidFill>
            <a:effectLst/>
          </c:spPr>
          <c:invertIfNegative val="0"/>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Sheet1!$A$2:$A$2</c:f>
              <c:multiLvlStrCache>
                <c:ptCount val="1"/>
                <c:lvl>
                  <c:pt idx="0">
                    <c:v>重み</c:v>
                  </c:pt>
                </c:lvl>
              </c:multiLvlStrCache>
            </c:multiLvlStrRef>
          </c:cat>
          <c:val>
            <c:numRef>
              <c:f>Sheet1!$D$2:$D$2</c:f>
              <c:numCache>
                <c:formatCode>General</c:formatCode>
                <c:ptCount val="1"/>
                <c:pt idx="0">
                  <c:v>1</c:v>
                </c:pt>
              </c:numCache>
            </c:numRef>
          </c:val>
        </c:ser>
        <c:dLbls>
          <c:numFmt formatCode="[&gt;=2]0&quot;%&quot;;&quot;&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8"/>
          <c:h val="0.74"/>
        </c:manualLayout>
      </c:layout>
      <c:barChart>
        <c:barDir val="col"/>
        <c:grouping val="stacked"/>
        <c:varyColors val="0"/>
        <c:ser>
          <c:idx val="0"/>
          <c:order val="0"/>
          <c:tx>
            <c:strRef>
              <c:f>Sheet1!$B$1</c:f>
              <c:strCache>
                <c:ptCount val="1"/>
                <c:pt idx="0">
                  <c:v>土台</c:v>
                </c:pt>
              </c:strCache>
            </c:strRef>
          </c:tx>
          <c:spPr>
            <a:no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Sheet1!$A$2:$A$9</c:f>
              <c:multiLvlStrCache>
                <c:ptCount val="8"/>
                <c:lvl>
                  <c:pt idx="0">
                    <c:v>第4.3版</c:v>
                  </c:pt>
                  <c:pt idx="1">
                    <c:v>市場の値</c:v>
                  </c:pt>
                  <c:pt idx="2">
                    <c:v>容量</c:v>
                  </c:pt>
                  <c:pt idx="3">
                    <c:v>1GW の単価</c:v>
                  </c:pt>
                  <c:pt idx="4">
                    <c:v>粗利率35%</c:v>
                  </c:pt>
                  <c:pt idx="5">
                    <c:v>資金</c:v>
                  </c:pt>
                  <c:pt idx="6">
                    <c:v>会社のEPS</c:v>
                  </c:pt>
                  <c:pt idx="7">
                    <c:v>第4.4版</c:v>
                  </c:pt>
                </c:lvl>
              </c:multiLvlStrCache>
            </c:multiLvlStrRef>
          </c:cat>
          <c:val>
            <c:numRef>
              <c:f>Sheet1!$B$2:$B$9</c:f>
              <c:numCache>
                <c:formatCode>General</c:formatCode>
                <c:ptCount val="8"/>
                <c:pt idx="0">
                  <c:v>0</c:v>
                </c:pt>
                <c:pt idx="1">
                  <c:v>250.5</c:v>
                </c:pt>
                <c:pt idx="2">
                  <c:v>240.6</c:v>
                </c:pt>
                <c:pt idx="3">
                  <c:v>240.6</c:v>
                </c:pt>
                <c:pt idx="4">
                  <c:v>228.1</c:v>
                </c:pt>
                <c:pt idx="5">
                  <c:v>227.9</c:v>
                </c:pt>
                <c:pt idx="6">
                  <c:v>227.9</c:v>
                </c:pt>
                <c:pt idx="7">
                  <c:v>0</c:v>
                </c:pt>
              </c:numCache>
            </c:numRef>
          </c:val>
        </c:ser>
        <c:ser>
          <c:idx val="1"/>
          <c:order val="1"/>
          <c:tx>
            <c:strRef>
              <c:f>Sheet1!$C$1</c:f>
              <c:strCache>
                <c:ptCount val="1"/>
                <c:pt idx="0">
                  <c:v>増加</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Sheet1!$A$2:$A$9</c:f>
              <c:multiLvlStrCache>
                <c:ptCount val="8"/>
                <c:lvl>
                  <c:pt idx="0">
                    <c:v>第4.3版</c:v>
                  </c:pt>
                  <c:pt idx="1">
                    <c:v>市場の値</c:v>
                  </c:pt>
                  <c:pt idx="2">
                    <c:v>容量</c:v>
                  </c:pt>
                  <c:pt idx="3">
                    <c:v>1GW の単価</c:v>
                  </c:pt>
                  <c:pt idx="4">
                    <c:v>粗利率35%</c:v>
                  </c:pt>
                  <c:pt idx="5">
                    <c:v>資金</c:v>
                  </c:pt>
                  <c:pt idx="6">
                    <c:v>会社のEPS</c:v>
                  </c:pt>
                  <c:pt idx="7">
                    <c:v>第4.4版</c:v>
                  </c:pt>
                </c:lvl>
              </c:multiLvlStrCache>
            </c:multiLvlStrRef>
          </c:cat>
          <c:val>
            <c:numRef>
              <c:f>Sheet1!$C$2:$C$9</c:f>
              <c:numCache>
                <c:formatCode>General</c:formatCode>
                <c:ptCount val="8"/>
                <c:pt idx="0">
                  <c:v>0</c:v>
                </c:pt>
                <c:pt idx="1">
                  <c:v>3.2</c:v>
                </c:pt>
                <c:pt idx="2">
                  <c:v>0</c:v>
                </c:pt>
                <c:pt idx="3">
                  <c:v>6.5</c:v>
                </c:pt>
                <c:pt idx="4">
                  <c:v>0</c:v>
                </c:pt>
                <c:pt idx="5">
                  <c:v>0</c:v>
                </c:pt>
                <c:pt idx="6">
                  <c:v>7.9</c:v>
                </c:pt>
                <c:pt idx="7">
                  <c:v>0</c:v>
                </c:pt>
              </c:numCache>
            </c:numRef>
          </c:val>
        </c:ser>
        <c:ser>
          <c:idx val="2"/>
          <c:order val="2"/>
          <c:tx>
            <c:strRef>
              <c:f>Sheet1!$D$1</c:f>
              <c:strCache>
                <c:ptCount val="1"/>
                <c:pt idx="0">
                  <c:v>減少</c:v>
                </c:pt>
              </c:strCache>
            </c:strRef>
          </c:tx>
          <c:spPr>
            <a:solidFill>
              <a:srgbClr val="C0392B"/>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Sheet1!$A$2:$A$9</c:f>
              <c:multiLvlStrCache>
                <c:ptCount val="8"/>
                <c:lvl>
                  <c:pt idx="0">
                    <c:v>第4.3版</c:v>
                  </c:pt>
                  <c:pt idx="1">
                    <c:v>市場の値</c:v>
                  </c:pt>
                  <c:pt idx="2">
                    <c:v>容量</c:v>
                  </c:pt>
                  <c:pt idx="3">
                    <c:v>1GW の単価</c:v>
                  </c:pt>
                  <c:pt idx="4">
                    <c:v>粗利率35%</c:v>
                  </c:pt>
                  <c:pt idx="5">
                    <c:v>資金</c:v>
                  </c:pt>
                  <c:pt idx="6">
                    <c:v>会社のEPS</c:v>
                  </c:pt>
                  <c:pt idx="7">
                    <c:v>第4.4版</c:v>
                  </c:pt>
                </c:lvl>
              </c:multiLvlStrCache>
            </c:multiLvlStrRef>
          </c:cat>
          <c:val>
            <c:numRef>
              <c:f>Sheet1!$D$2:$D$9</c:f>
              <c:numCache>
                <c:formatCode>General</c:formatCode>
                <c:ptCount val="8"/>
                <c:pt idx="0">
                  <c:v>0</c:v>
                </c:pt>
                <c:pt idx="1">
                  <c:v>0</c:v>
                </c:pt>
                <c:pt idx="2">
                  <c:v>13.1</c:v>
                </c:pt>
                <c:pt idx="3">
                  <c:v>0</c:v>
                </c:pt>
                <c:pt idx="4">
                  <c:v>19</c:v>
                </c:pt>
                <c:pt idx="5">
                  <c:v>0.2</c:v>
                </c:pt>
                <c:pt idx="6">
                  <c:v>0</c:v>
                </c:pt>
                <c:pt idx="7">
                  <c:v>0</c:v>
                </c:pt>
              </c:numCache>
            </c:numRef>
          </c:val>
        </c:ser>
        <c:ser>
          <c:idx val="3"/>
          <c:order val="3"/>
          <c:tx>
            <c:strRef>
              <c:f>Sheet1!$E$1</c:f>
              <c:strCache>
                <c:ptCount val="1"/>
                <c:pt idx="0">
                  <c:v>合計</c:v>
                </c:pt>
              </c:strCache>
            </c:strRef>
          </c:tx>
          <c:spPr>
            <a:solidFill>
              <a:srgbClr val="0E4D33"/>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Sheet1!$A$2:$A$9</c:f>
              <c:multiLvlStrCache>
                <c:ptCount val="8"/>
                <c:lvl>
                  <c:pt idx="0">
                    <c:v>第4.3版</c:v>
                  </c:pt>
                  <c:pt idx="1">
                    <c:v>市場の値</c:v>
                  </c:pt>
                  <c:pt idx="2">
                    <c:v>容量</c:v>
                  </c:pt>
                  <c:pt idx="3">
                    <c:v>1GW の単価</c:v>
                  </c:pt>
                  <c:pt idx="4">
                    <c:v>粗利率35%</c:v>
                  </c:pt>
                  <c:pt idx="5">
                    <c:v>資金</c:v>
                  </c:pt>
                  <c:pt idx="6">
                    <c:v>会社のEPS</c:v>
                  </c:pt>
                  <c:pt idx="7">
                    <c:v>第4.4版</c:v>
                  </c:pt>
                </c:lvl>
              </c:multiLvlStrCache>
            </c:multiLvlStrRef>
          </c:cat>
          <c:val>
            <c:numRef>
              <c:f>Sheet1!$E$2:$E$9</c:f>
              <c:numCache>
                <c:formatCode>General</c:formatCode>
                <c:ptCount val="8"/>
                <c:pt idx="0">
                  <c:v>250.5</c:v>
                </c:pt>
                <c:pt idx="1">
                  <c:v>0</c:v>
                </c:pt>
                <c:pt idx="2">
                  <c:v>0</c:v>
                </c:pt>
                <c:pt idx="3">
                  <c:v>0</c:v>
                </c:pt>
                <c:pt idx="4">
                  <c:v>0</c:v>
                </c:pt>
                <c:pt idx="5">
                  <c:v>0</c:v>
                </c:pt>
                <c:pt idx="6">
                  <c:v>0</c:v>
                </c:pt>
                <c:pt idx="7">
                  <c:v>235.9</c:v>
                </c:pt>
              </c:numCache>
            </c:numRef>
          </c:val>
        </c:ser>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60"/>
          <c:min val="22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全社の営業利益率(GAAP 相当)</c:v>
                </c:pt>
              </c:strCache>
            </c:strRef>
          </c:tx>
          <c:spPr>
            <a:solidFill>
              <a:srgbClr val="0E4D33"/>
            </a:solidFill>
            <a:ln w="25400" cap="flat">
              <a:solidFill>
                <a:srgbClr val="0E4D33"/>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0E4D33"/>
              </a:solidFill>
              <a:ln w="9525" cap="flat">
                <a:solidFill>
                  <a:srgbClr val="0E4D33"/>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31.9</c:v>
                </c:pt>
                <c:pt idx="1">
                  <c:v>31.2</c:v>
                </c:pt>
                <c:pt idx="2">
                  <c:v>35.8</c:v>
                </c:pt>
                <c:pt idx="3">
                  <c:v>35.2</c:v>
                </c:pt>
                <c:pt idx="4">
                  <c:v>33.3</c:v>
                </c:pt>
                <c:pt idx="5">
                  <c:v>33.4</c:v>
                </c:pt>
              </c:numCache>
            </c:numRef>
          </c:val>
          <c:smooth val="0"/>
        </c:ser>
        <c:ser>
          <c:idx val="1"/>
          <c:order val="1"/>
          <c:tx>
            <c:strRef>
              <c:f>Sheet1!$C$1</c:f>
              <c:strCache>
                <c:ptCount val="1"/>
                <c:pt idx="0">
                  <c:v>AI 事業の営業利益率</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13</c:v>
                </c:pt>
                <c:pt idx="1">
                  <c:v>23</c:v>
                </c:pt>
                <c:pt idx="2">
                  <c:v>33.1</c:v>
                </c:pt>
                <c:pt idx="3">
                  <c:v>32</c:v>
                </c:pt>
                <c:pt idx="4">
                  <c:v>29</c:v>
                </c:pt>
                <c:pt idx="5">
                  <c:v>29.4</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4"/>
          <c:y val="0.15"/>
          <c:w val="0.62"/>
          <c:h val="0.72"/>
        </c:manualLayout>
      </c:layout>
      <c:barChart>
        <c:barDir val="bar"/>
        <c:grouping val="clustered"/>
        <c:varyColors val="0"/>
        <c:ser>
          <c:idx val="0"/>
          <c:order val="0"/>
          <c:tx>
            <c:strRef>
              <c:f>Sheet1!$B$1</c:f>
              <c:strCache>
                <c:ptCount val="1"/>
                <c:pt idx="0">
                  <c:v>IRR(%)</c:v>
                </c:pt>
              </c:strCache>
            </c:strRef>
          </c:tx>
          <c:spPr>
            <a:solidFill>
              <a:srgbClr val="197A56"/>
            </a:solidFill>
            <a:effectLst/>
          </c:spPr>
          <c:invertIfNegative val="0"/>
          <c:dLbls>
            <c:numFmt formatCode="0.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Sheet1!$A$2:$A$5</c:f>
              <c:multiLvlStrCache>
                <c:ptCount val="4"/>
                <c:lvl>
                  <c:pt idx="0">
                    <c:v>capex +10%・更新なし</c:v>
                  </c:pt>
                  <c:pt idx="1">
                    <c:v>2 年更新・単価 120%(会社の更新 +20%)</c:v>
                  </c:pt>
                  <c:pt idx="2">
                    <c:v>2 年更新・単価 60%</c:v>
                  </c:pt>
                  <c:pt idx="3">
                    <c:v>更新なし(5 年で終わる)</c:v>
                  </c:pt>
                </c:lvl>
              </c:multiLvlStrCache>
            </c:multiLvlStrRef>
          </c:cat>
          <c:val>
            <c:numRef>
              <c:f>Sheet1!$B$2:$B$5</c:f>
              <c:numCache>
                <c:formatCode>General</c:formatCode>
                <c:ptCount val="4"/>
                <c:pt idx="0">
                  <c:v>15.7</c:v>
                </c:pt>
                <c:pt idx="1">
                  <c:v>26.6</c:v>
                </c:pt>
                <c:pt idx="2">
                  <c:v>21.5</c:v>
                </c:pt>
                <c:pt idx="3">
                  <c:v>17.6</c:v>
                </c:pt>
              </c:numCache>
            </c:numRef>
          </c:val>
        </c:ser>
        <c:dLbls>
          <c:numFmt formatCode="0.0&quot;%&quot;" sourceLinked="0"/>
          <c:txPr>
            <a:bodyPr/>
            <a:lstStyle/>
            <a:p>
              <a:pPr>
                <a:defRPr b="1" i="0" strike="noStrike" sz="900" u="none">
                  <a:solidFill>
                    <a:srgbClr val="333333"/>
                  </a:solidFill>
                  <a:latin typeface="Meiryo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値上げ率(%)</c:v>
                </c:pt>
              </c:strCache>
            </c:strRef>
          </c:tx>
          <c:spPr>
            <a:solidFill>
              <a:srgbClr val="197A56"/>
            </a:solidFill>
            <a:effectLst/>
          </c:spPr>
          <c:invertIfNegative val="0"/>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Sheet1!$A$2:$A$7</c:f>
              <c:multiLvlStrCache>
                <c:ptCount val="6"/>
                <c:lvl>
                  <c:pt idx="0">
                    <c:v>H100 1年契約の指数</c:v>
                  </c:pt>
                  <c:pt idx="1">
                    <c:v>CoreWeave(全品目)</c:v>
                  </c:pt>
                  <c:pt idx="2">
                    <c:v>AWS Capacity Blocks</c:v>
                  </c:pt>
                  <c:pt idx="3">
                    <c:v>Oracle(GPU の更新)</c:v>
                  </c:pt>
                  <c:pt idx="4">
                    <c:v>Dell(全製品の定価)</c:v>
                  </c:pt>
                  <c:pt idx="5">
                    <c:v>Nebius(H100)</c:v>
                  </c:pt>
                </c:lvl>
              </c:multiLvlStrCache>
            </c:multiLvlStrRef>
          </c:cat>
          <c:val>
            <c:numRef>
              <c:f>Sheet1!$B$2:$B$7</c:f>
              <c:numCache>
                <c:formatCode>General</c:formatCode>
                <c:ptCount val="6"/>
                <c:pt idx="0">
                  <c:v>56</c:v>
                </c:pt>
                <c:pt idx="1">
                  <c:v>25</c:v>
                </c:pt>
                <c:pt idx="2">
                  <c:v>20</c:v>
                </c:pt>
                <c:pt idx="3">
                  <c:v>20</c:v>
                </c:pt>
                <c:pt idx="4">
                  <c:v>17</c:v>
                </c:pt>
                <c:pt idx="5">
                  <c:v>17</c:v>
                </c:pt>
              </c:numCache>
            </c:numRef>
          </c:val>
        </c:ser>
        <c:dLbls>
          <c:numFmt formatCode="&quot;+&quot;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6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Database@ 前年同期比(%)</c:v>
                </c:pt>
              </c:strCache>
            </c:strRef>
          </c:tx>
          <c:spPr>
            <a:solidFill>
              <a:srgbClr val="1BA1A6"/>
            </a:solidFill>
            <a:effectLst/>
          </c:spPr>
          <c:invertIfNegative val="0"/>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Q1 FY26</c:v>
                  </c:pt>
                  <c:pt idx="1">
                    <c:v>Q2</c:v>
                  </c:pt>
                  <c:pt idx="2">
                    <c:v>Q3</c:v>
                  </c:pt>
                  <c:pt idx="3">
                    <c:v>Q4</c:v>
                  </c:pt>
                  <c:pt idx="4">
                    <c:v>Q1 FY27</c:v>
                  </c:pt>
                </c:lvl>
              </c:multiLvlStrCache>
            </c:multiLvlStrRef>
          </c:cat>
          <c:val>
            <c:numRef>
              <c:f>Sheet1!$B$2:$B$6</c:f>
              <c:numCache>
                <c:formatCode>General</c:formatCode>
                <c:ptCount val="5"/>
                <c:pt idx="0">
                  <c:v>1529</c:v>
                </c:pt>
                <c:pt idx="1">
                  <c:v>817</c:v>
                </c:pt>
                <c:pt idx="2">
                  <c:v>531</c:v>
                </c:pt>
                <c:pt idx="3">
                  <c:v>404</c:v>
                </c:pt>
                <c:pt idx="4">
                  <c:v>353</c:v>
                </c:pt>
              </c:numCache>
            </c:numRef>
          </c:val>
        </c:ser>
        <c:dLbls>
          <c:numFmt formatCode="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180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赤字</c:v>
                </c:pt>
              </c:strCache>
            </c:strRef>
          </c:tx>
          <c:spPr>
            <a:solidFill>
              <a:srgbClr val="C0392B"/>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Sheet1!$B$2:$B$7</c:f>
              <c:numCache>
                <c:formatCode>General</c:formatCode>
                <c:ptCount val="6"/>
                <c:pt idx="0">
                  <c:v>-49.9</c:v>
                </c:pt>
                <c:pt idx="1">
                  <c:v>-1</c:v>
                </c:pt>
                <c:pt idx="2">
                  <c:v>0</c:v>
                </c:pt>
                <c:pt idx="3">
                  <c:v>0</c:v>
                </c:pt>
                <c:pt idx="4">
                  <c:v>0</c:v>
                </c:pt>
                <c:pt idx="5">
                  <c:v>-1</c:v>
                </c:pt>
              </c:numCache>
            </c:numRef>
          </c:val>
        </c:ser>
        <c:ser>
          <c:idx val="1"/>
          <c:order val="1"/>
          <c:tx>
            <c:strRef>
              <c:f>Sheet1!$C$1</c:f>
              <c:strCache>
                <c:ptCount val="1"/>
                <c:pt idx="0">
                  <c:v>黒字</c:v>
                </c:pt>
              </c:strCache>
            </c:strRef>
          </c:tx>
          <c:spPr>
            <a:solidFill>
              <a:srgbClr val="197A56"/>
            </a:solidFill>
            <a:effectLst/>
          </c:spPr>
          <c:invertIfNegative val="0"/>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cat>
            <c:multiLvlStrRef>
              <c:f>Sheet1!$A$2:$A$7</c:f>
              <c:multiLvlStrCache>
                <c:ptCount val="6"/>
                <c:lvl>
                  <c:pt idx="0">
                    <c:v>FY27</c:v>
                  </c:pt>
                  <c:pt idx="1">
                    <c:v>FY28</c:v>
                  </c:pt>
                  <c:pt idx="2">
                    <c:v>FY29</c:v>
                  </c:pt>
                  <c:pt idx="3">
                    <c:v>FY30</c:v>
                  </c:pt>
                  <c:pt idx="4">
                    <c:v>FY31</c:v>
                  </c:pt>
                  <c:pt idx="5">
                    <c:v>FY32</c:v>
                  </c:pt>
                </c:lvl>
              </c:multiLvlStrCache>
            </c:multiLvlStrRef>
          </c:cat>
          <c:val>
            <c:numRef>
              <c:f>Sheet1!$C$2:$C$7</c:f>
              <c:numCache>
                <c:formatCode>General</c:formatCode>
                <c:ptCount val="6"/>
                <c:pt idx="0">
                  <c:v>0</c:v>
                </c:pt>
                <c:pt idx="1">
                  <c:v>0</c:v>
                </c:pt>
                <c:pt idx="2">
                  <c:v>72.1</c:v>
                </c:pt>
                <c:pt idx="3">
                  <c:v>47.4</c:v>
                </c:pt>
                <c:pt idx="4">
                  <c:v>34.7</c:v>
                </c:pt>
                <c:pt idx="5">
                  <c:v>0</c:v>
                </c:pt>
              </c:numCache>
            </c:numRef>
          </c:val>
        </c:ser>
        <c:dLbls>
          <c:numFmt formatCode="0.0;-0.0;;" sourceLinked="0"/>
          <c:txPr>
            <a:bodyPr/>
            <a:lstStyle/>
            <a:p>
              <a:pPr>
                <a:defRPr b="0" i="0" strike="noStrike" sz="900" u="none">
                  <a:solidFill>
                    <a:srgbClr val="FFFFFF"/>
                  </a:solidFill>
                  <a:latin typeface="Meiryo U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80"/>
          <c:min val="-4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20"/>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1"/>
          <c:w val="0.92"/>
          <c:h val="0.7"/>
        </c:manualLayout>
      </c:layout>
      <c:barChart>
        <c:barDir val="col"/>
        <c:grouping val="stacked"/>
        <c:varyColors val="0"/>
        <c:ser>
          <c:idx val="0"/>
          <c:order val="0"/>
          <c:tx>
            <c:strRef>
              <c:f>Sheet1!$B$1</c:f>
              <c:strCache>
                <c:ptCount val="1"/>
                <c:pt idx="0">
                  <c:v>土台</c:v>
                </c:pt>
              </c:strCache>
            </c:strRef>
          </c:tx>
          <c:spPr>
            <a:no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Sheet1!$B$2:$B$7</c:f>
              <c:numCache>
                <c:formatCode>General</c:formatCode>
                <c:ptCount val="6"/>
                <c:pt idx="0">
                  <c:v>0</c:v>
                </c:pt>
                <c:pt idx="1">
                  <c:v>1820</c:v>
                </c:pt>
                <c:pt idx="2">
                  <c:v>1440</c:v>
                </c:pt>
                <c:pt idx="3">
                  <c:v>1060</c:v>
                </c:pt>
                <c:pt idx="4">
                  <c:v>200</c:v>
                </c:pt>
                <c:pt idx="5">
                  <c:v>0</c:v>
                </c:pt>
              </c:numCache>
            </c:numRef>
          </c:val>
        </c:ser>
        <c:ser>
          <c:idx val="1"/>
          <c:order val="1"/>
          <c:tx>
            <c:strRef>
              <c:f>Sheet1!$C$1</c:f>
              <c:strCache>
                <c:ptCount val="1"/>
                <c:pt idx="0">
                  <c:v>増加</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Sheet1!$C$2:$C$7</c:f>
              <c:numCache>
                <c:formatCode>General</c:formatCode>
                <c:ptCount val="6"/>
                <c:pt idx="0">
                  <c:v>0</c:v>
                </c:pt>
                <c:pt idx="1">
                  <c:v>0</c:v>
                </c:pt>
                <c:pt idx="2">
                  <c:v>0</c:v>
                </c:pt>
                <c:pt idx="3">
                  <c:v>0</c:v>
                </c:pt>
                <c:pt idx="4">
                  <c:v>0</c:v>
                </c:pt>
                <c:pt idx="5">
                  <c:v>0</c:v>
                </c:pt>
              </c:numCache>
            </c:numRef>
          </c:val>
        </c:ser>
        <c:ser>
          <c:idx val="2"/>
          <c:order val="2"/>
          <c:tx>
            <c:strRef>
              <c:f>Sheet1!$D$1</c:f>
              <c:strCache>
                <c:ptCount val="1"/>
                <c:pt idx="0">
                  <c:v>減少</c:v>
                </c:pt>
              </c:strCache>
            </c:strRef>
          </c:tx>
          <c:spPr>
            <a:solidFill>
              <a:srgbClr val="86C99B"/>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Sheet1!$D$2:$D$7</c:f>
              <c:numCache>
                <c:formatCode>General</c:formatCode>
                <c:ptCount val="6"/>
                <c:pt idx="0">
                  <c:v>0</c:v>
                </c:pt>
                <c:pt idx="1">
                  <c:v>380</c:v>
                </c:pt>
                <c:pt idx="2">
                  <c:v>380</c:v>
                </c:pt>
                <c:pt idx="3">
                  <c:v>380</c:v>
                </c:pt>
                <c:pt idx="4">
                  <c:v>860</c:v>
                </c:pt>
                <c:pt idx="5">
                  <c:v>0</c:v>
                </c:pt>
              </c:numCache>
            </c:numRef>
          </c:val>
        </c:ser>
        <c:ser>
          <c:idx val="3"/>
          <c:order val="3"/>
          <c:tx>
            <c:strRef>
              <c:f>Sheet1!$E$1</c:f>
              <c:strCache>
                <c:ptCount val="1"/>
                <c:pt idx="0">
                  <c:v>合計</c:v>
                </c:pt>
              </c:strCache>
            </c:strRef>
          </c:tx>
          <c:spPr>
            <a:solidFill>
              <a:srgbClr val="0E4D33"/>
            </a:solidFill>
            <a:effectLst/>
          </c:spPr>
          <c:invertIfNegative val="0"/>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cat>
            <c:multiLvlStrRef>
              <c:f>Sheet1!$A$2:$A$7</c:f>
              <c:multiLvlStrCache>
                <c:ptCount val="6"/>
                <c:lvl>
                  <c:pt idx="0">
                    <c:v>約 6GW の建設</c:v>
                  </c:pt>
                  <c:pt idx="1">
                    <c:v>ベンダー金融</c:v>
                  </c:pt>
                  <c:pt idx="2">
                    <c:v>BYOH</c:v>
                  </c:pt>
                  <c:pt idx="3">
                    <c:v>前払い</c:v>
                  </c:pt>
                  <c:pt idx="4">
                    <c:v>その他の営業 CF</c:v>
                  </c:pt>
                  <c:pt idx="5">
                    <c:v>最後の調達</c:v>
                  </c:pt>
                </c:lvl>
              </c:multiLvlStrCache>
            </c:multiLvlStrRef>
          </c:cat>
          <c:val>
            <c:numRef>
              <c:f>Sheet1!$E$2:$E$7</c:f>
              <c:numCache>
                <c:formatCode>General</c:formatCode>
                <c:ptCount val="6"/>
                <c:pt idx="0">
                  <c:v>2200</c:v>
                </c:pt>
                <c:pt idx="1">
                  <c:v>0</c:v>
                </c:pt>
                <c:pt idx="2">
                  <c:v>0</c:v>
                </c:pt>
                <c:pt idx="3">
                  <c:v>0</c:v>
                </c:pt>
                <c:pt idx="4">
                  <c:v>0</c:v>
                </c:pt>
                <c:pt idx="5">
                  <c:v>200</c:v>
                </c:pt>
              </c:numCache>
            </c:numRef>
          </c:val>
        </c:ser>
        <c:dLbls>
          <c:numFmt formatCode="#,##0" sourceLinked="0"/>
          <c:txPr>
            <a:bodyPr/>
            <a:lstStyle/>
            <a:p>
              <a:pPr>
                <a:defRPr b="0" i="0" strike="noStrike" sz="900" u="none">
                  <a:solidFill>
                    <a:srgbClr val="333333"/>
                  </a:solidFill>
                  <a:latin typeface="Meiryo UI"/>
                </a:defRPr>
              </a:pPr>
            </a:p>
          </c:txPr>
          <c:dLblPos val="outEnd"/>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none"/>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15"/>
          <c:w val="0.94"/>
          <c:h val="0.62"/>
        </c:manualLayout>
      </c:layout>
      <c:barChart>
        <c:barDir val="col"/>
        <c:grouping val="clustered"/>
        <c:varyColors val="0"/>
        <c:ser>
          <c:idx val="0"/>
          <c:order val="0"/>
          <c:tx>
            <c:strRef>
              <c:f>Sheet1!$B$1</c:f>
              <c:strCache>
                <c:ptCount val="1"/>
                <c:pt idx="0">
                  <c:v>FCF</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cat>
            <c:multiLvlStrRef>
              <c:f>Sheet1!$A$2:$A$9</c:f>
              <c:multiLvlStrCache>
                <c:ptCount val="8"/>
                <c:lvl>
                  <c:pt idx="0">
                    <c:v>FY27</c:v>
                  </c:pt>
                  <c:pt idx="1">
                    <c:v>FY28</c:v>
                  </c:pt>
                  <c:pt idx="2">
                    <c:v>FY29</c:v>
                  </c:pt>
                  <c:pt idx="3">
                    <c:v>FY30</c:v>
                  </c:pt>
                  <c:pt idx="4">
                    <c:v>FY31</c:v>
                  </c:pt>
                  <c:pt idx="5">
                    <c:v>FY32</c:v>
                  </c:pt>
                  <c:pt idx="6">
                    <c:v>FY33</c:v>
                  </c:pt>
                  <c:pt idx="7">
                    <c:v>FY34</c:v>
                  </c:pt>
                </c:lvl>
              </c:multiLvlStrCache>
            </c:multiLvlStrRef>
          </c:cat>
          <c:val>
            <c:numRef>
              <c:f>Sheet1!$B$2:$B$9</c:f>
              <c:numCache>
                <c:formatCode>General</c:formatCode>
                <c:ptCount val="8"/>
                <c:pt idx="0">
                  <c:v>-499</c:v>
                </c:pt>
                <c:pt idx="1">
                  <c:v>-10</c:v>
                </c:pt>
                <c:pt idx="2">
                  <c:v>721</c:v>
                </c:pt>
                <c:pt idx="3">
                  <c:v>474</c:v>
                </c:pt>
                <c:pt idx="4">
                  <c:v>347</c:v>
                </c:pt>
                <c:pt idx="5">
                  <c:v>-10</c:v>
                </c:pt>
                <c:pt idx="6">
                  <c:v>-562</c:v>
                </c:pt>
                <c:pt idx="7">
                  <c:v>315</c:v>
                </c:pt>
              </c:numCache>
            </c:numRef>
          </c:val>
        </c:ser>
        <c:ser>
          <c:idx val="1"/>
          <c:order val="1"/>
          <c:tx>
            <c:strRef>
              <c:f>Sheet1!$C$1</c:f>
              <c:strCache>
                <c:ptCount val="1"/>
                <c:pt idx="0">
                  <c:v>capex</c:v>
                </c:pt>
              </c:strCache>
            </c:strRef>
          </c:tx>
          <c:spPr>
            <a:solidFill>
              <a:srgbClr val="BFBFBF"/>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cat>
            <c:multiLvlStrRef>
              <c:f>Sheet1!$A$2:$A$9</c:f>
              <c:multiLvlStrCache>
                <c:ptCount val="8"/>
                <c:lvl>
                  <c:pt idx="0">
                    <c:v>FY27</c:v>
                  </c:pt>
                  <c:pt idx="1">
                    <c:v>FY28</c:v>
                  </c:pt>
                  <c:pt idx="2">
                    <c:v>FY29</c:v>
                  </c:pt>
                  <c:pt idx="3">
                    <c:v>FY30</c:v>
                  </c:pt>
                  <c:pt idx="4">
                    <c:v>FY31</c:v>
                  </c:pt>
                  <c:pt idx="5">
                    <c:v>FY32</c:v>
                  </c:pt>
                  <c:pt idx="6">
                    <c:v>FY33</c:v>
                  </c:pt>
                  <c:pt idx="7">
                    <c:v>FY34</c:v>
                  </c:pt>
                </c:lvl>
              </c:multiLvlStrCache>
            </c:multiLvlStrRef>
          </c:cat>
          <c:val>
            <c:numRef>
              <c:f>Sheet1!$C$2:$C$9</c:f>
              <c:numCache>
                <c:formatCode>General</c:formatCode>
                <c:ptCount val="8"/>
                <c:pt idx="0">
                  <c:v>1151</c:v>
                </c:pt>
                <c:pt idx="1">
                  <c:v>768</c:v>
                </c:pt>
                <c:pt idx="2">
                  <c:v>233</c:v>
                </c:pt>
                <c:pt idx="3">
                  <c:v>591</c:v>
                </c:pt>
                <c:pt idx="4">
                  <c:v>870</c:v>
                </c:pt>
                <c:pt idx="5">
                  <c:v>1411</c:v>
                </c:pt>
                <c:pt idx="6">
                  <c:v>2110</c:v>
                </c:pt>
                <c:pt idx="7">
                  <c:v>1421</c:v>
                </c:pt>
              </c:numCache>
            </c:numRef>
          </c:val>
        </c:ser>
        <c:dLbls>
          <c:numFmt formatCode="#,##0" sourceLinked="0"/>
          <c:txPr>
            <a:bodyPr/>
            <a:lstStyle/>
            <a:p>
              <a:pPr>
                <a:defRPr b="0" i="0" strike="noStrike" sz="900" u="none">
                  <a:solidFill>
                    <a:srgbClr val="333333"/>
                  </a:solidFill>
                  <a:latin typeface="Meiryo UI"/>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2500"/>
          <c:min val="-1000"/>
        </c:scaling>
        <c:delete val="1"/>
        <c:axPos val="l"/>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majorUnit val="500"/>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 年 CAGR</c:v>
                </c:pt>
              </c:strCache>
            </c:strRef>
          </c:tx>
          <c:spPr>
            <a:solidFill>
              <a:srgbClr val="197A56"/>
            </a:solidFill>
            <a:effectLst/>
          </c:spPr>
          <c:invertIfNegative val="0"/>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Sheet1!$A$2:$A$4</c:f>
              <c:multiLvlStrCache>
                <c:ptCount val="3"/>
                <c:lvl>
                  <c:pt idx="0">
                    <c:v>会社(FY30 目標)</c:v>
                  </c:pt>
                  <c:pt idx="1">
                    <c:v>コンセンサス</c:v>
                  </c:pt>
                  <c:pt idx="2">
                    <c:v>需給エンジン</c:v>
                  </c:pt>
                </c:lvl>
              </c:multiLvlStrCache>
            </c:multiLvlStrRef>
          </c:cat>
          <c:val>
            <c:numRef>
              <c:f>Sheet1!$B$2:$B$4</c:f>
              <c:numCache>
                <c:formatCode>General</c:formatCode>
                <c:ptCount val="3"/>
                <c:pt idx="0">
                  <c:v>30.3</c:v>
                </c:pt>
                <c:pt idx="1">
                  <c:v>29.5</c:v>
                </c:pt>
                <c:pt idx="2">
                  <c:v>28.7</c:v>
                </c:pt>
              </c:numCache>
            </c:numRef>
          </c:val>
        </c:ser>
        <c:dLbls>
          <c:numFmt formatCode="0.0&quot;%&quot;"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12か月以内 860 億</c:v>
                </c:pt>
              </c:strCache>
            </c:strRef>
          </c:tx>
          <c:spPr>
            <a:solidFill>
              <a:srgbClr val="0E4D33"/>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Sheet1!$B$2:$B$2</c:f>
              <c:numCache>
                <c:formatCode>General</c:formatCode>
                <c:ptCount val="1"/>
                <c:pt idx="0">
                  <c:v>86</c:v>
                </c:pt>
              </c:numCache>
            </c:numRef>
          </c:val>
        </c:ser>
        <c:ser>
          <c:idx val="1"/>
          <c:order val="1"/>
          <c:tx>
            <c:strRef>
              <c:f>Sheet1!$C$1</c:f>
              <c:strCache>
                <c:ptCount val="1"/>
                <c:pt idx="0">
                  <c:v>13〜36か月 2,460 億</c:v>
                </c:pt>
              </c:strCache>
            </c:strRef>
          </c:tx>
          <c:spPr>
            <a:solidFill>
              <a:srgbClr val="197A5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Sheet1!$C$2:$C$2</c:f>
              <c:numCache>
                <c:formatCode>General</c:formatCode>
                <c:ptCount val="1"/>
                <c:pt idx="0">
                  <c:v>246</c:v>
                </c:pt>
              </c:numCache>
            </c:numRef>
          </c:val>
        </c:ser>
        <c:ser>
          <c:idx val="2"/>
          <c:order val="2"/>
          <c:tx>
            <c:strRef>
              <c:f>Sheet1!$D$1</c:f>
              <c:strCache>
                <c:ptCount val="1"/>
                <c:pt idx="0">
                  <c:v>37〜60か月 2,260 億</c:v>
                </c:pt>
              </c:strCache>
            </c:strRef>
          </c:tx>
          <c:spPr>
            <a:solidFill>
              <a:srgbClr val="86C99B"/>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Sheet1!$D$2:$D$2</c:f>
              <c:numCache>
                <c:formatCode>General</c:formatCode>
                <c:ptCount val="1"/>
                <c:pt idx="0">
                  <c:v>226</c:v>
                </c:pt>
              </c:numCache>
            </c:numRef>
          </c:val>
        </c:ser>
        <c:ser>
          <c:idx val="3"/>
          <c:order val="3"/>
          <c:tx>
            <c:strRef>
              <c:f>Sheet1!$E$1</c:f>
              <c:strCache>
                <c:ptCount val="1"/>
                <c:pt idx="0">
                  <c:v>60か月超 1,060 億</c:v>
                </c:pt>
              </c:strCache>
            </c:strRef>
          </c:tx>
          <c:spPr>
            <a:solidFill>
              <a:srgbClr val="1BA1A6"/>
            </a:solidFill>
            <a:effectLst/>
          </c:spPr>
          <c:invertIfNegative val="0"/>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cat>
            <c:multiLvlStrRef>
              <c:f>Sheet1!$A$2:$A$2</c:f>
              <c:multiLvlStrCache>
                <c:ptCount val="1"/>
                <c:lvl>
                  <c:pt idx="0">
                    <c:v>RPO</c:v>
                  </c:pt>
                </c:lvl>
              </c:multiLvlStrCache>
            </c:multiLvlStrRef>
          </c:cat>
          <c:val>
            <c:numRef>
              <c:f>Sheet1!$E$2:$E$2</c:f>
              <c:numCache>
                <c:formatCode>General</c:formatCode>
                <c:ptCount val="1"/>
                <c:pt idx="0">
                  <c:v>106</c:v>
                </c:pt>
              </c:numCache>
            </c:numRef>
          </c:val>
        </c:ser>
        <c:dLbls>
          <c:numFmt formatCode="#,##0" sourceLinked="0"/>
          <c:txPr>
            <a:bodyPr/>
            <a:lstStyle/>
            <a:p>
              <a:pPr>
                <a:defRPr b="0" i="0" strike="noStrike" sz="900" u="none">
                  <a:solidFill>
                    <a:srgbClr val="FFFFFF"/>
                  </a:solidFill>
                  <a:latin typeface="Meiryo UI"/>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title>
          <c:tx>
            <c:rich>
              <a:bodyPr/>
              <a:lstStyle/>
              <a:p>
                <a:pPr>
                  <a:defRPr sz="900" b="0" i="0" u="none" strike="noStrike">
                    <a:solidFill>
                      <a:srgbClr val="767676"/>
                    </a:solidFill>
                    <a:latin typeface="Arial"/>
                  </a:defRPr>
                </a:pPr>
                <a:r>
                  <a:rPr sz="900" b="0" i="0" u="none" strike="noStrike">
                    <a:solidFill>
                      <a:srgbClr val="767676"/>
                    </a:solidFill>
                    <a:latin typeface="Arial"/>
                  </a:rPr>
                  <a:t>単位: 10 億ドル</a:t>
                </a:r>
              </a:p>
            </c:rich>
          </c:tx>
          <c:layout/>
          <c:overlay val="0"/>
        </c:title>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市場</c:v>
                </c:pt>
              </c:strCache>
            </c:strRef>
          </c:tx>
          <c:spPr>
            <a:solidFill>
              <a:srgbClr val="D68910"/>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139.56)</c:v>
                  </c:pt>
                  <c:pt idx="2">
                    <c:v>ベース</c:v>
                  </c:pt>
                  <c:pt idx="3">
                    <c:v>強気</c:v>
                  </c:pt>
                </c:lvl>
              </c:multiLvlStrCache>
            </c:multiLvlStrRef>
          </c:cat>
          <c:val>
            <c:numRef>
              <c:f>Sheet1!$B$2:$B$5</c:f>
              <c:numCache>
                <c:formatCode>General</c:formatCode>
                <c:ptCount val="4"/>
                <c:pt idx="0">
                  <c:v>0</c:v>
                </c:pt>
                <c:pt idx="1">
                  <c:v>13.3</c:v>
                </c:pt>
                <c:pt idx="2">
                  <c:v>0</c:v>
                </c:pt>
                <c:pt idx="3">
                  <c:v>0</c:v>
                </c:pt>
              </c:numCache>
            </c:numRef>
          </c:val>
        </c:ser>
        <c:ser>
          <c:idx val="1"/>
          <c:order val="1"/>
          <c:tx>
            <c:strRef>
              <c:f>Sheet1!$C$1</c:f>
              <c:strCache>
                <c:ptCount val="1"/>
                <c:pt idx="0">
                  <c:v>シナリオ</c:v>
                </c:pt>
              </c:strCache>
            </c:strRef>
          </c:tx>
          <c:spPr>
            <a:solidFill>
              <a:srgbClr val="197A56"/>
            </a:solidFill>
            <a:effectLst/>
          </c:spPr>
          <c:invertIfNegative val="0"/>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cat>
            <c:multiLvlStrRef>
              <c:f>Sheet1!$A$2:$A$5</c:f>
              <c:multiLvlStrCache>
                <c:ptCount val="4"/>
                <c:lvl>
                  <c:pt idx="0">
                    <c:v>弱気</c:v>
                  </c:pt>
                  <c:pt idx="1">
                    <c:v>市場(株価 139.56)</c:v>
                  </c:pt>
                  <c:pt idx="2">
                    <c:v>ベース</c:v>
                  </c:pt>
                  <c:pt idx="3">
                    <c:v>強気</c:v>
                  </c:pt>
                </c:lvl>
              </c:multiLvlStrCache>
            </c:multiLvlStrRef>
          </c:cat>
          <c:val>
            <c:numRef>
              <c:f>Sheet1!$C$2:$C$5</c:f>
              <c:numCache>
                <c:formatCode>General</c:formatCode>
                <c:ptCount val="4"/>
                <c:pt idx="0">
                  <c:v>13.4</c:v>
                </c:pt>
                <c:pt idx="1">
                  <c:v>0</c:v>
                </c:pt>
                <c:pt idx="2">
                  <c:v>22</c:v>
                </c:pt>
                <c:pt idx="3">
                  <c:v>28</c:v>
                </c:pt>
              </c:numCache>
            </c:numRef>
          </c:val>
        </c:ser>
        <c:dLbls>
          <c:numFmt formatCode="0.0&quot;倍&quot;;;;" sourceLinked="0"/>
          <c:txPr>
            <a:bodyPr/>
            <a:lstStyle/>
            <a:p>
              <a:pPr>
                <a:defRPr b="0" i="0" strike="noStrike" sz="900" u="none">
                  <a:solidFill>
                    <a:srgbClr val="FFFFFF"/>
                  </a:solidFill>
                  <a:latin typeface="Meiryo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強気</c:v>
                </c:pt>
              </c:strCache>
            </c:strRef>
          </c:tx>
          <c:spPr>
            <a:solidFill>
              <a:srgbClr val="86C99B"/>
            </a:solidFill>
            <a:ln w="25400" cap="flat">
              <a:solidFill>
                <a:srgbClr val="86C99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86C99B"/>
              </a:solidFill>
              <a:ln w="9525" cap="flat">
                <a:solidFill>
                  <a:srgbClr val="86C99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Sheet1!$B$2:$B$7</c:f>
              <c:numCache>
                <c:formatCode>General</c:formatCode>
                <c:ptCount val="6"/>
                <c:pt idx="0">
                  <c:v>7.07</c:v>
                </c:pt>
                <c:pt idx="1">
                  <c:v>11.48</c:v>
                </c:pt>
                <c:pt idx="2">
                  <c:v>19.52</c:v>
                </c:pt>
                <c:pt idx="3">
                  <c:v>22.8</c:v>
                </c:pt>
                <c:pt idx="4">
                  <c:v>25.83</c:v>
                </c:pt>
                <c:pt idx="5">
                  <c:v>34.39</c:v>
                </c:pt>
              </c:numCache>
            </c:numRef>
          </c:val>
          <c:smooth val="0"/>
        </c:ser>
        <c:ser>
          <c:idx val="1"/>
          <c:order val="1"/>
          <c:tx>
            <c:strRef>
              <c:f>Sheet1!$C$1</c:f>
              <c:strCache>
                <c:ptCount val="1"/>
                <c:pt idx="0">
                  <c:v>弱気</c:v>
                </c:pt>
              </c:strCache>
            </c:strRef>
          </c:tx>
          <c:spPr>
            <a:solidFill>
              <a:srgbClr val="C0392B"/>
            </a:solidFill>
            <a:ln w="25400" cap="flat">
              <a:solidFill>
                <a:srgbClr val="C0392B"/>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Sheet1!$C$2:$C$7</c:f>
              <c:numCache>
                <c:formatCode>General</c:formatCode>
                <c:ptCount val="6"/>
                <c:pt idx="0">
                  <c:v>6.67</c:v>
                </c:pt>
                <c:pt idx="1">
                  <c:v>10.4</c:v>
                </c:pt>
                <c:pt idx="2">
                  <c:v>13.26</c:v>
                </c:pt>
                <c:pt idx="3">
                  <c:v>14.17</c:v>
                </c:pt>
                <c:pt idx="4">
                  <c:v>7.42</c:v>
                </c:pt>
                <c:pt idx="5">
                  <c:v>9.41</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ベース</c:v>
                </c:pt>
              </c:strCache>
            </c:strRef>
          </c:tx>
          <c:spPr>
            <a:solidFill>
              <a:srgbClr val="197A56"/>
            </a:solidFill>
            <a:ln w="25400" cap="flat">
              <a:solidFill>
                <a:srgbClr val="197A56"/>
              </a:solidFill>
              <a:prstDash val="solid"/>
              <a:round/>
            </a:ln>
            <a:effectLst/>
          </c:spPr>
          <c:invertIfNegative val="0"/>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c:symbol val="circle"/>
            <c:size val="6"/>
            <c:spPr>
              <a:solidFill>
                <a:srgbClr val="197A56"/>
              </a:solidFill>
              <a:ln w="9525" cap="flat">
                <a:solidFill>
                  <a:srgbClr val="197A56"/>
                </a:solidFill>
                <a:prstDash val="solid"/>
                <a:round/>
              </a:ln>
              <a:effectLst/>
            </c:spPr>
          </c:marker>
          <c:cat>
            <c:multiLvlStrRef>
              <c:f>Sheet1!$A$2:$A$7</c:f>
              <c:multiLvlStrCache>
                <c:ptCount val="6"/>
                <c:lvl>
                  <c:pt idx="0">
                    <c:v>FY27</c:v>
                  </c:pt>
                  <c:pt idx="1">
                    <c:v>FY28</c:v>
                  </c:pt>
                  <c:pt idx="2">
                    <c:v>FY29</c:v>
                  </c:pt>
                  <c:pt idx="3">
                    <c:v>FY30</c:v>
                  </c:pt>
                  <c:pt idx="4">
                    <c:v>FY31(延長)</c:v>
                  </c:pt>
                  <c:pt idx="5">
                    <c:v>FY32(延長)</c:v>
                  </c:pt>
                </c:lvl>
              </c:multiLvlStrCache>
            </c:multiLvlStrRef>
          </c:cat>
          <c:val>
            <c:numRef>
              <c:f>Sheet1!$D$2:$D$7</c:f>
              <c:numCache>
                <c:formatCode>General</c:formatCode>
                <c:ptCount val="6"/>
                <c:pt idx="0">
                  <c:v>6.89</c:v>
                </c:pt>
                <c:pt idx="1">
                  <c:v>11.05</c:v>
                </c:pt>
                <c:pt idx="2">
                  <c:v>17.81</c:v>
                </c:pt>
                <c:pt idx="3">
                  <c:v>19.6</c:v>
                </c:pt>
                <c:pt idx="4">
                  <c:v>21.76</c:v>
                </c:pt>
                <c:pt idx="5">
                  <c:v>25.85</c:v>
                </c:pt>
              </c:numCache>
            </c:numRef>
          </c:val>
          <c:smooth val="0"/>
        </c:ser>
        <c:dLbls>
          <c:numFmt formatCode="0.0" sourceLinked="0"/>
          <c:txPr>
            <a:bodyPr/>
            <a:lstStyle/>
            <a:p>
              <a:pPr>
                <a:defRPr b="0" i="0" strike="noStrike" sz="900" u="none">
                  <a:solidFill>
                    <a:srgbClr val="333333"/>
                  </a:solidFill>
                  <a:latin typeface="Meiryo UI"/>
                </a:defRPr>
              </a:pPr>
            </a:p>
          </c:txPr>
          <c:dLblPos val="t"/>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valAx>
        <c:axId val="2094734553"/>
        <c:scaling>
          <c:orientation val="minMax"/>
          <c:max val="40"/>
          <c:min val="0"/>
        </c:scaling>
        <c:delete val="1"/>
        <c:axPos val="r"/>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latin typeface="Meiryo UI"/>
              <a:cs typeface="Meiryo U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6"/>
          <c:w val="0.9"/>
          <c:h val="0.82"/>
        </c:manualLayout>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Sheet1!$A$2:$A$6</c:f>
              <c:multiLvlStrCache>
                <c:ptCount val="5"/>
                <c:lvl>
                  <c:pt idx="0">
                    <c:v>弱気 15%</c:v>
                  </c:pt>
                  <c:pt idx="1">
                    <c:v>25%(本資料)</c:v>
                  </c:pt>
                  <c:pt idx="2">
                    <c:v>35%</c:v>
                  </c:pt>
                  <c:pt idx="3">
                    <c:v>50%</c:v>
                  </c:pt>
                  <c:pt idx="4">
                    <c:v>75%</c:v>
                  </c:pt>
                </c:lvl>
              </c:multiLvlStrCache>
            </c:multiLvlStrRef>
          </c:cat>
          <c:val>
            <c:numRef>
              <c:f>Sheet1!$B$2:$B$6</c:f>
              <c:numCache>
                <c:formatCode>General</c:formatCode>
                <c:ptCount val="5"/>
                <c:pt idx="0">
                  <c:v>249</c:v>
                </c:pt>
                <c:pt idx="1">
                  <c:v>236</c:v>
                </c:pt>
                <c:pt idx="2">
                  <c:v>223</c:v>
                </c:pt>
                <c:pt idx="3">
                  <c:v>203</c:v>
                </c:pt>
                <c:pt idx="4">
                  <c:v>170</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理論株価(ドル)</c:v>
                </c:pt>
              </c:strCache>
            </c:strRef>
          </c:tx>
          <c:spPr>
            <a:solidFill>
              <a:srgbClr val="197A56"/>
            </a:solidFill>
            <a:effectLst/>
          </c:spPr>
          <c:invertIfNegative val="0"/>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cat>
            <c:multiLvlStrRef>
              <c:f>Sheet1!$A$2:$A$9</c:f>
              <c:multiLvlStrCache>
                <c:ptCount val="8"/>
                <c:lvl>
                  <c:pt idx="0">
                    <c:v>第1版</c:v>
                  </c:pt>
                  <c:pt idx="1">
                    <c:v>第3版</c:v>
                  </c:pt>
                  <c:pt idx="2">
                    <c:v>第3.1版</c:v>
                  </c:pt>
                  <c:pt idx="3">
                    <c:v>第4.0版</c:v>
                  </c:pt>
                  <c:pt idx="4">
                    <c:v>第4.1版</c:v>
                  </c:pt>
                  <c:pt idx="5">
                    <c:v>第4.2版</c:v>
                  </c:pt>
                  <c:pt idx="6">
                    <c:v>第4.3版</c:v>
                  </c:pt>
                  <c:pt idx="7">
                    <c:v>第4.4版</c:v>
                  </c:pt>
                </c:lvl>
              </c:multiLvlStrCache>
            </c:multiLvlStrRef>
          </c:cat>
          <c:val>
            <c:numRef>
              <c:f>Sheet1!$B$2:$B$9</c:f>
              <c:numCache>
                <c:formatCode>General</c:formatCode>
                <c:ptCount val="8"/>
                <c:pt idx="0">
                  <c:v>134</c:v>
                </c:pt>
                <c:pt idx="1">
                  <c:v>137</c:v>
                </c:pt>
                <c:pt idx="2">
                  <c:v>151</c:v>
                </c:pt>
                <c:pt idx="3">
                  <c:v>270</c:v>
                </c:pt>
                <c:pt idx="4">
                  <c:v>277</c:v>
                </c:pt>
                <c:pt idx="5">
                  <c:v>255</c:v>
                </c:pt>
                <c:pt idx="6">
                  <c:v>251</c:v>
                </c:pt>
                <c:pt idx="7">
                  <c:v>236</c:v>
                </c:pt>
              </c:numCache>
            </c:numRef>
          </c:val>
        </c:ser>
        <c:dLbls>
          <c:numFmt formatCode="0" sourceLinked="0"/>
          <c:txPr>
            <a:bodyPr/>
            <a:lstStyle/>
            <a:p>
              <a:pPr>
                <a:defRPr b="0" i="0" strike="noStrike" sz="900" u="none">
                  <a:solidFill>
                    <a:srgbClr val="333333"/>
                  </a:solidFill>
                  <a:latin typeface="Meiryo U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Meiryo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67676"/>
                </a:solidFill>
                <a:latin typeface="Meiryo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bg_cover"/>
          <p:cNvSpPr/>
          <p:nvPr/>
        </p:nvSpPr>
        <p:spPr>
          <a:xfrm>
            <a:off x="0" y="0"/>
            <a:ext cx="7863840" cy="6858000"/>
          </a:xfrm>
          <a:prstGeom prst="rect">
            <a:avLst/>
          </a:prstGeom>
          <a:solidFill>
            <a:srgbClr val="0E4D33"/>
          </a:solidFill>
          <a:ln w="12700">
            <a:solidFill>
              <a:srgbClr val="0E4D33"/>
            </a:solidFill>
            <a:prstDash val="solid"/>
          </a:ln>
        </p:spPr>
      </p:sp>
      <p:sp>
        <p:nvSpPr>
          <p:cNvPr id="3" name="bg_cover_title"/>
          <p:cNvSpPr txBox="1"/>
          <p:nvPr/>
        </p:nvSpPr>
        <p:spPr>
          <a:xfrm>
            <a:off x="731520" y="1828800"/>
            <a:ext cx="6583680" cy="1737360"/>
          </a:xfrm>
          <a:prstGeom prst="rect">
            <a:avLst/>
          </a:prstGeom>
          <a:noFill/>
          <a:ln/>
        </p:spPr>
        <p:txBody>
          <a:bodyPr wrap="square" lIns="508" tIns="508" rIns="508" bIns="508" rtlCol="0" anchor="b"/>
          <a:lstStyle/>
          <a:p>
            <a:pPr indent="0" marL="0">
              <a:buNone/>
            </a:pPr>
            <a:r>
              <a:rPr lang="en-US" sz="3000" b="1" dirty="0">
                <a:solidFill>
                  <a:srgbClr val="FFFFFF"/>
                </a:solidFill>
                <a:latin typeface="Meiryo UI" pitchFamily="34" charset="0"/>
                <a:ea typeface="Meiryo UI" pitchFamily="34" charset="-122"/>
                <a:cs typeface="Meiryo UI" pitchFamily="34" charset="-120"/>
              </a:rPr>
              <a:t>Oracle(ORCL)</a:t>
            </a:r>
            <a:endParaRPr lang="en-US" sz="3000" dirty="0"/>
          </a:p>
          <a:p>
            <a:pPr indent="0" marL="0">
              <a:buNone/>
            </a:pPr>
            <a:r>
              <a:rPr lang="en-US" sz="3000" b="1" dirty="0">
                <a:solidFill>
                  <a:srgbClr val="FFFFFF"/>
                </a:solidFill>
                <a:latin typeface="Meiryo UI" pitchFamily="34" charset="0"/>
                <a:ea typeface="Meiryo UI" pitchFamily="34" charset="-122"/>
                <a:cs typeface="Meiryo UI" pitchFamily="34" charset="-120"/>
              </a:rPr>
              <a:t>長期保有適格性審査</a:t>
            </a:r>
            <a:endParaRPr lang="en-US" sz="3000" dirty="0"/>
          </a:p>
        </p:txBody>
      </p:sp>
      <p:sp>
        <p:nvSpPr>
          <p:cNvPr id="4" name="bg_cover_sub"/>
          <p:cNvSpPr txBox="1"/>
          <p:nvPr/>
        </p:nvSpPr>
        <p:spPr>
          <a:xfrm>
            <a:off x="731520" y="3749040"/>
            <a:ext cx="6583680" cy="1097280"/>
          </a:xfrm>
          <a:prstGeom prst="rect">
            <a:avLst/>
          </a:prstGeom>
          <a:noFill/>
          <a:ln/>
        </p:spPr>
        <p:txBody>
          <a:bodyPr wrap="square" lIns="508" tIns="508" rIns="508" bIns="508" rtlCol="0" anchor="t"/>
          <a:lstStyle/>
          <a:p>
            <a:pPr indent="0" marL="0">
              <a:buNone/>
            </a:pPr>
            <a:r>
              <a:rPr lang="en-US" sz="1400" dirty="0">
                <a:solidFill>
                  <a:srgbClr val="FFFFFF"/>
                </a:solidFill>
                <a:latin typeface="Meiryo UI" pitchFamily="34" charset="0"/>
                <a:ea typeface="Meiryo UI" pitchFamily="34" charset="-122"/>
                <a:cs typeface="Meiryo UI" pitchFamily="34" charset="-120"/>
              </a:rPr>
              <a:t>市場は説明会の後も、株価を弱気シナリオの値に置いている</a:t>
            </a:r>
            <a:endParaRPr lang="en-US" sz="1400" dirty="0"/>
          </a:p>
          <a:p>
            <a:pPr indent="0" marL="0">
              <a:buNone/>
            </a:pPr>
            <a:r>
              <a:rPr lang="en-US" sz="1400" dirty="0">
                <a:solidFill>
                  <a:srgbClr val="FFFFFF"/>
                </a:solidFill>
                <a:latin typeface="Meiryo UI" pitchFamily="34" charset="0"/>
                <a:ea typeface="Meiryo UI" pitchFamily="34" charset="-122"/>
                <a:cs typeface="Meiryo UI" pitchFamily="34" charset="-120"/>
              </a:rPr>
              <a:t>第4.4版(Investor Day 2026-10-28 の会社資料を反映)</a:t>
            </a:r>
            <a:endParaRPr lang="en-US" sz="1400" dirty="0"/>
          </a:p>
        </p:txBody>
      </p:sp>
      <p:sp>
        <p:nvSpPr>
          <p:cNvPr id="5" name="bg_cover_date"/>
          <p:cNvSpPr txBox="1"/>
          <p:nvPr/>
        </p:nvSpPr>
        <p:spPr>
          <a:xfrm>
            <a:off x="731520" y="5943600"/>
            <a:ext cx="4572000" cy="365760"/>
          </a:xfrm>
          <a:prstGeom prst="rect">
            <a:avLst/>
          </a:prstGeom>
          <a:noFill/>
          <a:ln/>
        </p:spPr>
        <p:txBody>
          <a:bodyPr wrap="square" lIns="508" tIns="508" rIns="508" bIns="508" rtlCol="0" anchor="t"/>
          <a:lstStyle/>
          <a:p>
            <a:pPr indent="0" marL="0">
              <a:buNone/>
            </a:pPr>
            <a:r>
              <a:rPr lang="en-US" sz="1100" dirty="0">
                <a:solidFill>
                  <a:srgbClr val="86C99B"/>
                </a:solidFill>
                <a:latin typeface="Meiryo UI" pitchFamily="34" charset="0"/>
                <a:ea typeface="Meiryo UI" pitchFamily="34" charset="-122"/>
                <a:cs typeface="Meiryo UI" pitchFamily="34" charset="-120"/>
              </a:rPr>
              <a:t>2026-10-30</a:t>
            </a:r>
            <a:endParaRPr lang="en-US" sz="1100" dirty="0"/>
          </a:p>
        </p:txBody>
      </p:sp>
      <p:sp>
        <p:nvSpPr>
          <p:cNvPr id="6" name="bg_cover_k1"/>
          <p:cNvSpPr txBox="1"/>
          <p:nvPr/>
        </p:nvSpPr>
        <p:spPr>
          <a:xfrm>
            <a:off x="8321040" y="182880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最終判断</a:t>
            </a:r>
            <a:endParaRPr lang="en-US" sz="1100" dirty="0"/>
          </a:p>
        </p:txBody>
      </p:sp>
      <p:sp>
        <p:nvSpPr>
          <p:cNvPr id="7" name="bg_cover_k1v"/>
          <p:cNvSpPr txBox="1"/>
          <p:nvPr/>
        </p:nvSpPr>
        <p:spPr>
          <a:xfrm>
            <a:off x="8321040" y="212140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買い検討</a:t>
            </a:r>
            <a:endParaRPr lang="en-US" sz="2600" dirty="0"/>
          </a:p>
        </p:txBody>
      </p:sp>
      <p:sp>
        <p:nvSpPr>
          <p:cNvPr id="8" name="bg_cover_k2"/>
          <p:cNvSpPr txBox="1"/>
          <p:nvPr/>
        </p:nvSpPr>
        <p:spPr>
          <a:xfrm>
            <a:off x="8321040" y="301752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理論株価(確率加重)</a:t>
            </a:r>
            <a:endParaRPr lang="en-US" sz="1100" dirty="0"/>
          </a:p>
        </p:txBody>
      </p:sp>
      <p:sp>
        <p:nvSpPr>
          <p:cNvPr id="9" name="bg_cover_k2v"/>
          <p:cNvSpPr txBox="1"/>
          <p:nvPr/>
        </p:nvSpPr>
        <p:spPr>
          <a:xfrm>
            <a:off x="8321040" y="331012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236 ドル</a:t>
            </a:r>
            <a:endParaRPr lang="en-US" sz="2600" dirty="0"/>
          </a:p>
        </p:txBody>
      </p:sp>
      <p:sp>
        <p:nvSpPr>
          <p:cNvPr id="10" name="bg_cover_k3"/>
          <p:cNvSpPr txBox="1"/>
          <p:nvPr/>
        </p:nvSpPr>
        <p:spPr>
          <a:xfrm>
            <a:off x="8321040" y="4206240"/>
            <a:ext cx="3410712" cy="274320"/>
          </a:xfrm>
          <a:prstGeom prst="rect">
            <a:avLst/>
          </a:prstGeom>
          <a:noFill/>
          <a:ln/>
        </p:spPr>
        <p:txBody>
          <a:bodyPr wrap="square" lIns="508" tIns="508" rIns="508" bIns="508" rtlCol="0" anchor="t"/>
          <a:lstStyle/>
          <a:p>
            <a:pPr indent="0" marL="0">
              <a:buNone/>
            </a:pPr>
            <a:r>
              <a:rPr lang="en-US" sz="1100" dirty="0">
                <a:solidFill>
                  <a:srgbClr val="767676"/>
                </a:solidFill>
                <a:latin typeface="Meiryo UI" pitchFamily="34" charset="0"/>
                <a:ea typeface="Meiryo UI" pitchFamily="34" charset="-122"/>
                <a:cs typeface="Meiryo UI" pitchFamily="34" charset="-120"/>
              </a:rPr>
              <a:t>構造評価</a:t>
            </a:r>
            <a:endParaRPr lang="en-US" sz="1100" dirty="0"/>
          </a:p>
        </p:txBody>
      </p:sp>
      <p:sp>
        <p:nvSpPr>
          <p:cNvPr id="11" name="bg_cover_k3v"/>
          <p:cNvSpPr txBox="1"/>
          <p:nvPr/>
        </p:nvSpPr>
        <p:spPr>
          <a:xfrm>
            <a:off x="8321040" y="4498848"/>
            <a:ext cx="3410712" cy="548640"/>
          </a:xfrm>
          <a:prstGeom prst="rect">
            <a:avLst/>
          </a:prstGeom>
          <a:noFill/>
          <a:ln/>
        </p:spPr>
        <p:txBody>
          <a:bodyPr wrap="square" lIns="508" tIns="508" rIns="508" bIns="508" rtlCol="0" anchor="t"/>
          <a:lstStyle/>
          <a:p>
            <a:pPr indent="0" marL="0">
              <a:buNone/>
            </a:pPr>
            <a:r>
              <a:rPr lang="en-US" sz="2600" b="1" dirty="0">
                <a:solidFill>
                  <a:srgbClr val="197A56"/>
                </a:solidFill>
                <a:latin typeface="Meiryo UI" pitchFamily="34" charset="0"/>
                <a:ea typeface="Meiryo UI" pitchFamily="34" charset="-122"/>
                <a:cs typeface="Meiryo UI" pitchFamily="34" charset="-120"/>
              </a:rPr>
              <a:t>B</a:t>
            </a:r>
            <a:endParaRPr lang="en-US" sz="2600" dirty="0"/>
          </a:p>
        </p:txBody>
      </p:sp>
      <p:sp>
        <p:nvSpPr>
          <p:cNvPr id="12" name="bg_cover_note"/>
          <p:cNvSpPr txBox="1"/>
          <p:nvPr/>
        </p:nvSpPr>
        <p:spPr>
          <a:xfrm>
            <a:off x="8321040" y="5303520"/>
            <a:ext cx="3410712" cy="54864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139.56 ドル(2026-10-29 終値)の 1.69 倍</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1-1 結論</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結論</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最初に判断と根拠の骨格を示す。詳しい根拠は各章で確かめる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B・理論株価 236 ドル(株価の 1.69 倍)で「買い検討」を維持。</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説明会で資金の道筋は見えたが、価値の芯は契約後の更新単価</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エグゼクティブサマリ</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FY27)、Investor Day 2026-10-28(8-K Ex.99.1・CFO 資料)、需給エンジン第4.4版(calc/out/m9_fair.json・m9_extra.json)。株価は 2026-10-29 終値</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a:t>
            </a:r>
            <a:endParaRPr lang="en-US" sz="800" dirty="0"/>
          </a:p>
        </p:txBody>
      </p:sp>
      <p:sp>
        <p:nvSpPr>
          <p:cNvPr id="19" name="ovl_tile0"/>
          <p:cNvSpPr/>
          <p:nvPr/>
        </p:nvSpPr>
        <p:spPr>
          <a:xfrm>
            <a:off x="457200" y="1481328"/>
            <a:ext cx="2647874" cy="1325880"/>
          </a:xfrm>
          <a:prstGeom prst="rect">
            <a:avLst/>
          </a:prstGeom>
          <a:solidFill>
            <a:srgbClr val="EAF4EE"/>
          </a:solidFill>
          <a:ln w="9525">
            <a:solidFill>
              <a:srgbClr val="EAF4EE"/>
            </a:solidFill>
            <a:prstDash val="solid"/>
          </a:ln>
        </p:spPr>
      </p:sp>
      <p:sp>
        <p:nvSpPr>
          <p:cNvPr id="20" name="tile_v0"/>
          <p:cNvSpPr txBox="1"/>
          <p:nvPr/>
        </p:nvSpPr>
        <p:spPr>
          <a:xfrm>
            <a:off x="548640"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236 ドル</a:t>
            </a:r>
            <a:endParaRPr lang="en-US" sz="3200" dirty="0"/>
          </a:p>
        </p:txBody>
      </p:sp>
      <p:sp>
        <p:nvSpPr>
          <p:cNvPr id="21" name="tile_l0"/>
          <p:cNvSpPr txBox="1"/>
          <p:nvPr/>
        </p:nvSpPr>
        <p:spPr>
          <a:xfrm>
            <a:off x="548640"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理論株価(確率加重)</a:t>
            </a:r>
            <a:endParaRPr lang="en-US" sz="1050" dirty="0"/>
          </a:p>
        </p:txBody>
      </p:sp>
      <p:sp>
        <p:nvSpPr>
          <p:cNvPr id="22" name="tile_n0"/>
          <p:cNvSpPr txBox="1"/>
          <p:nvPr/>
        </p:nvSpPr>
        <p:spPr>
          <a:xfrm>
            <a:off x="548640"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ベース 233・強気 340・弱気 138</a:t>
            </a:r>
            <a:endParaRPr lang="en-US" sz="850" dirty="0"/>
          </a:p>
        </p:txBody>
      </p:sp>
      <p:sp>
        <p:nvSpPr>
          <p:cNvPr id="23" name="ovl_tile1"/>
          <p:cNvSpPr/>
          <p:nvPr/>
        </p:nvSpPr>
        <p:spPr>
          <a:xfrm>
            <a:off x="3333674" y="1481328"/>
            <a:ext cx="2647874" cy="1325880"/>
          </a:xfrm>
          <a:prstGeom prst="rect">
            <a:avLst/>
          </a:prstGeom>
          <a:solidFill>
            <a:srgbClr val="EAF4EE"/>
          </a:solidFill>
          <a:ln w="9525">
            <a:solidFill>
              <a:srgbClr val="EAF4EE"/>
            </a:solidFill>
            <a:prstDash val="solid"/>
          </a:ln>
        </p:spPr>
      </p:sp>
      <p:sp>
        <p:nvSpPr>
          <p:cNvPr id="24" name="tile_v1"/>
          <p:cNvSpPr txBox="1"/>
          <p:nvPr/>
        </p:nvSpPr>
        <p:spPr>
          <a:xfrm>
            <a:off x="3425114"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139.56 ドル</a:t>
            </a:r>
            <a:endParaRPr lang="en-US" sz="3200" dirty="0"/>
          </a:p>
        </p:txBody>
      </p:sp>
      <p:sp>
        <p:nvSpPr>
          <p:cNvPr id="25" name="tile_l1"/>
          <p:cNvSpPr txBox="1"/>
          <p:nvPr/>
        </p:nvSpPr>
        <p:spPr>
          <a:xfrm>
            <a:off x="3425114"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株価(10/29)</a:t>
            </a:r>
            <a:endParaRPr lang="en-US" sz="1050" dirty="0"/>
          </a:p>
        </p:txBody>
      </p:sp>
      <p:sp>
        <p:nvSpPr>
          <p:cNvPr id="26" name="tile_n1"/>
          <p:cNvSpPr txBox="1"/>
          <p:nvPr/>
        </p:nvSpPr>
        <p:spPr>
          <a:xfrm>
            <a:off x="3425114"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理論株価の 59%</a:t>
            </a:r>
            <a:endParaRPr lang="en-US" sz="850" dirty="0"/>
          </a:p>
        </p:txBody>
      </p:sp>
      <p:sp>
        <p:nvSpPr>
          <p:cNvPr id="27" name="ovl_tile2"/>
          <p:cNvSpPr/>
          <p:nvPr/>
        </p:nvSpPr>
        <p:spPr>
          <a:xfrm>
            <a:off x="6210148" y="1481328"/>
            <a:ext cx="2647874" cy="1325880"/>
          </a:xfrm>
          <a:prstGeom prst="rect">
            <a:avLst/>
          </a:prstGeom>
          <a:solidFill>
            <a:srgbClr val="EAF4EE"/>
          </a:solidFill>
          <a:ln w="9525">
            <a:solidFill>
              <a:srgbClr val="EAF4EE"/>
            </a:solidFill>
            <a:prstDash val="solid"/>
          </a:ln>
        </p:spPr>
      </p:sp>
      <p:sp>
        <p:nvSpPr>
          <p:cNvPr id="28" name="tile_v2"/>
          <p:cNvSpPr txBox="1"/>
          <p:nvPr/>
        </p:nvSpPr>
        <p:spPr>
          <a:xfrm>
            <a:off x="6301588" y="1554480"/>
            <a:ext cx="2464994" cy="713232"/>
          </a:xfrm>
          <a:prstGeom prst="rect">
            <a:avLst/>
          </a:prstGeom>
          <a:noFill/>
          <a:ln/>
        </p:spPr>
        <p:txBody>
          <a:bodyPr wrap="square" lIns="0" tIns="0" rIns="0" bIns="0" rtlCol="0" anchor="ctr"/>
          <a:lstStyle/>
          <a:p>
            <a:pPr algn="ctr" indent="0" marL="0">
              <a:buNone/>
            </a:pPr>
            <a:r>
              <a:rPr lang="en-US" sz="3200" b="1" dirty="0">
                <a:solidFill>
                  <a:srgbClr val="197A56"/>
                </a:solidFill>
                <a:latin typeface="Meiryo UI" pitchFamily="34" charset="0"/>
                <a:ea typeface="Meiryo UI" pitchFamily="34" charset="-122"/>
                <a:cs typeface="Meiryo UI" pitchFamily="34" charset="-120"/>
              </a:rPr>
              <a:t>B</a:t>
            </a:r>
            <a:endParaRPr lang="en-US" sz="3200" dirty="0"/>
          </a:p>
        </p:txBody>
      </p:sp>
      <p:sp>
        <p:nvSpPr>
          <p:cNvPr id="29" name="tile_l2"/>
          <p:cNvSpPr txBox="1"/>
          <p:nvPr/>
        </p:nvSpPr>
        <p:spPr>
          <a:xfrm>
            <a:off x="6301588"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構造評価</a:t>
            </a:r>
            <a:endParaRPr lang="en-US" sz="1050" dirty="0"/>
          </a:p>
        </p:txBody>
      </p:sp>
      <p:sp>
        <p:nvSpPr>
          <p:cNvPr id="30" name="tile_n2"/>
          <p:cNvSpPr txBox="1"/>
          <p:nvPr/>
        </p:nvSpPr>
        <p:spPr>
          <a:xfrm>
            <a:off x="6301588"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S1・A2・B8・C2</a:t>
            </a:r>
            <a:endParaRPr lang="en-US" sz="850" dirty="0"/>
          </a:p>
        </p:txBody>
      </p:sp>
      <p:sp>
        <p:nvSpPr>
          <p:cNvPr id="31" name="ovl_tile3"/>
          <p:cNvSpPr/>
          <p:nvPr/>
        </p:nvSpPr>
        <p:spPr>
          <a:xfrm>
            <a:off x="9086621" y="1481328"/>
            <a:ext cx="2647874" cy="1325880"/>
          </a:xfrm>
          <a:prstGeom prst="rect">
            <a:avLst/>
          </a:prstGeom>
          <a:solidFill>
            <a:srgbClr val="EAF4EE"/>
          </a:solidFill>
          <a:ln w="9525">
            <a:solidFill>
              <a:srgbClr val="EAF4EE"/>
            </a:solidFill>
            <a:prstDash val="solid"/>
          </a:ln>
        </p:spPr>
      </p:sp>
      <p:sp>
        <p:nvSpPr>
          <p:cNvPr id="32" name="tile_v3"/>
          <p:cNvSpPr txBox="1"/>
          <p:nvPr/>
        </p:nvSpPr>
        <p:spPr>
          <a:xfrm>
            <a:off x="9178061" y="1554480"/>
            <a:ext cx="2464994" cy="713232"/>
          </a:xfrm>
          <a:prstGeom prst="rect">
            <a:avLst/>
          </a:prstGeom>
          <a:noFill/>
          <a:ln/>
        </p:spPr>
        <p:txBody>
          <a:bodyPr wrap="square" lIns="0" tIns="0" rIns="0" bIns="0" rtlCol="0" anchor="ctr"/>
          <a:lstStyle/>
          <a:p>
            <a:pPr algn="ctr" indent="0" marL="0">
              <a:buNone/>
            </a:pPr>
            <a:r>
              <a:rPr lang="en-US" sz="3200" b="1" dirty="0">
                <a:solidFill>
                  <a:srgbClr val="0E4D33"/>
                </a:solidFill>
                <a:latin typeface="Meiryo UI" pitchFamily="34" charset="0"/>
                <a:ea typeface="Meiryo UI" pitchFamily="34" charset="-122"/>
                <a:cs typeface="Meiryo UI" pitchFamily="34" charset="-120"/>
              </a:rPr>
              <a:t>買い検討</a:t>
            </a:r>
            <a:endParaRPr lang="en-US" sz="3200" dirty="0"/>
          </a:p>
        </p:txBody>
      </p:sp>
      <p:sp>
        <p:nvSpPr>
          <p:cNvPr id="33" name="tile_l3"/>
          <p:cNvSpPr txBox="1"/>
          <p:nvPr/>
        </p:nvSpPr>
        <p:spPr>
          <a:xfrm>
            <a:off x="9178061" y="2286000"/>
            <a:ext cx="2464994" cy="274320"/>
          </a:xfrm>
          <a:prstGeom prst="rect">
            <a:avLst/>
          </a:prstGeom>
          <a:noFill/>
          <a:ln/>
        </p:spPr>
        <p:txBody>
          <a:bodyPr wrap="square" lIns="0" tIns="0" rIns="0" bIns="0" rtlCol="0" anchor="t"/>
          <a:lstStyle/>
          <a:p>
            <a:pPr algn="ctr" indent="0" marL="0">
              <a:buNone/>
            </a:pPr>
            <a:r>
              <a:rPr lang="en-US" sz="1050" b="1" dirty="0">
                <a:solidFill>
                  <a:srgbClr val="0E4D33"/>
                </a:solidFill>
                <a:latin typeface="Meiryo UI" pitchFamily="34" charset="0"/>
                <a:ea typeface="Meiryo UI" pitchFamily="34" charset="-122"/>
                <a:cs typeface="Meiryo UI" pitchFamily="34" charset="-120"/>
              </a:rPr>
              <a:t>最終判断</a:t>
            </a:r>
            <a:endParaRPr lang="en-US" sz="1050" dirty="0"/>
          </a:p>
        </p:txBody>
      </p:sp>
      <p:sp>
        <p:nvSpPr>
          <p:cNvPr id="34" name="tile_n3"/>
          <p:cNvSpPr txBox="1"/>
          <p:nvPr/>
        </p:nvSpPr>
        <p:spPr>
          <a:xfrm>
            <a:off x="9178061" y="2551176"/>
            <a:ext cx="2464994" cy="301752"/>
          </a:xfrm>
          <a:prstGeom prst="rect">
            <a:avLst/>
          </a:prstGeom>
          <a:noFill/>
          <a:ln/>
        </p:spPr>
        <p:txBody>
          <a:bodyPr wrap="square" lIns="0" tIns="0" rIns="0" bIns="0" rtlCol="0" anchor="t"/>
          <a:lstStyle/>
          <a:p>
            <a:pPr algn="ctr" indent="0" marL="0">
              <a:buNone/>
            </a:pPr>
            <a:r>
              <a:rPr lang="en-US" sz="850" dirty="0">
                <a:solidFill>
                  <a:srgbClr val="767676"/>
                </a:solidFill>
                <a:latin typeface="Meiryo UI" pitchFamily="34" charset="0"/>
                <a:ea typeface="Meiryo UI" pitchFamily="34" charset="-122"/>
                <a:cs typeface="Meiryo UI" pitchFamily="34" charset="-120"/>
              </a:rPr>
              <a:t>株価は分割圏 155〜204 ドルの下</a:t>
            </a:r>
            <a:endParaRPr lang="en-US" sz="850" dirty="0"/>
          </a:p>
        </p:txBody>
      </p:sp>
      <p:sp>
        <p:nvSpPr>
          <p:cNvPr id="35" name="ovl_rail0"/>
          <p:cNvSpPr/>
          <p:nvPr/>
        </p:nvSpPr>
        <p:spPr>
          <a:xfrm>
            <a:off x="457200" y="2971800"/>
            <a:ext cx="2103120" cy="603504"/>
          </a:xfrm>
          <a:prstGeom prst="rect">
            <a:avLst/>
          </a:prstGeom>
          <a:solidFill>
            <a:srgbClr val="0E4D33"/>
          </a:solidFill>
          <a:ln w="9525">
            <a:solidFill>
              <a:srgbClr val="0E4D33"/>
            </a:solidFill>
            <a:prstDash val="solid"/>
          </a:ln>
        </p:spPr>
      </p:sp>
      <p:sp>
        <p:nvSpPr>
          <p:cNvPr id="36" name="rail0"/>
          <p:cNvSpPr txBox="1"/>
          <p:nvPr/>
        </p:nvSpPr>
        <p:spPr>
          <a:xfrm>
            <a:off x="566928" y="2971800"/>
            <a:ext cx="1920240" cy="603504"/>
          </a:xfrm>
          <a:prstGeom prst="rect">
            <a:avLst/>
          </a:prstGeom>
          <a:noFill/>
          <a:ln/>
        </p:spPr>
        <p:txBody>
          <a:bodyPr wrap="square" lIns="0" tIns="0" rIns="0" bIns="0"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結論</a:t>
            </a:r>
            <a:endParaRPr lang="en-US" sz="1200" dirty="0"/>
          </a:p>
        </p:txBody>
      </p:sp>
      <p:sp>
        <p:nvSpPr>
          <p:cNvPr id="37" name="body0"/>
          <p:cNvSpPr txBox="1"/>
          <p:nvPr/>
        </p:nvSpPr>
        <p:spPr>
          <a:xfrm>
            <a:off x="2743200" y="2971800"/>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構造は B、価格は理論株価の 59%。説明会で資金の道筋は示されたが、事前に決めた引き上げ条件(CDS 200bp 未満など)が</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未達のため「買い検討」を維持</a:t>
            </a:r>
            <a:endParaRPr lang="en-US" sz="1100" dirty="0"/>
          </a:p>
        </p:txBody>
      </p:sp>
      <p:sp>
        <p:nvSpPr>
          <p:cNvPr id="38" name="ovl_rail1"/>
          <p:cNvSpPr/>
          <p:nvPr/>
        </p:nvSpPr>
        <p:spPr>
          <a:xfrm>
            <a:off x="457200" y="3630168"/>
            <a:ext cx="2103120" cy="603504"/>
          </a:xfrm>
          <a:prstGeom prst="rect">
            <a:avLst/>
          </a:prstGeom>
          <a:solidFill>
            <a:srgbClr val="EAF4EE"/>
          </a:solidFill>
          <a:ln w="9525">
            <a:solidFill>
              <a:srgbClr val="EAF4EE"/>
            </a:solidFill>
            <a:prstDash val="solid"/>
          </a:ln>
        </p:spPr>
      </p:sp>
      <p:sp>
        <p:nvSpPr>
          <p:cNvPr id="39" name="rail1"/>
          <p:cNvSpPr txBox="1"/>
          <p:nvPr/>
        </p:nvSpPr>
        <p:spPr>
          <a:xfrm>
            <a:off x="566928" y="3630168"/>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事業</a:t>
            </a:r>
            <a:endParaRPr lang="en-US" sz="1200" dirty="0"/>
          </a:p>
        </p:txBody>
      </p:sp>
      <p:sp>
        <p:nvSpPr>
          <p:cNvPr id="40" name="body1"/>
          <p:cNvSpPr txBox="1"/>
          <p:nvPr/>
        </p:nvSpPr>
        <p:spPr>
          <a:xfrm>
            <a:off x="2743200" y="3630168"/>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DB 保守・SaaS の現金と顧客の前払い・他人の建屋で AI 容量を建てる。1GW は年 160 億ドルの売上に capex 370 億ドル、</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粗利率 35%(コストプラス契約)</a:t>
            </a:r>
            <a:endParaRPr lang="en-US" sz="1100" dirty="0"/>
          </a:p>
        </p:txBody>
      </p:sp>
      <p:sp>
        <p:nvSpPr>
          <p:cNvPr id="41" name="ovl_rail2"/>
          <p:cNvSpPr/>
          <p:nvPr/>
        </p:nvSpPr>
        <p:spPr>
          <a:xfrm>
            <a:off x="457200" y="4288536"/>
            <a:ext cx="2103120" cy="603504"/>
          </a:xfrm>
          <a:prstGeom prst="rect">
            <a:avLst/>
          </a:prstGeom>
          <a:solidFill>
            <a:srgbClr val="EAF4EE"/>
          </a:solidFill>
          <a:ln w="9525">
            <a:solidFill>
              <a:srgbClr val="EAF4EE"/>
            </a:solidFill>
            <a:prstDash val="solid"/>
          </a:ln>
        </p:spPr>
      </p:sp>
      <p:sp>
        <p:nvSpPr>
          <p:cNvPr id="42" name="rail2"/>
          <p:cNvSpPr txBox="1"/>
          <p:nvPr/>
        </p:nvSpPr>
        <p:spPr>
          <a:xfrm>
            <a:off x="566928" y="4288536"/>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需給</a:t>
            </a:r>
            <a:endParaRPr lang="en-US" sz="1200" dirty="0"/>
          </a:p>
        </p:txBody>
      </p:sp>
      <p:sp>
        <p:nvSpPr>
          <p:cNvPr id="43" name="body2"/>
          <p:cNvSpPr txBox="1"/>
          <p:nvPr/>
        </p:nvSpPr>
        <p:spPr>
          <a:xfrm>
            <a:off x="2743200" y="4288536"/>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容量は FY26 約 3GW → FY28 末 約 10GW(会社)。受注残 6,640 億ドルの約 9 割がクラウド基盤。FY31 以降の伸びは</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自己資金と契約後の更新単価が決める</a:t>
            </a:r>
            <a:endParaRPr lang="en-US" sz="1100" dirty="0"/>
          </a:p>
        </p:txBody>
      </p:sp>
      <p:sp>
        <p:nvSpPr>
          <p:cNvPr id="44" name="ovl_rail3"/>
          <p:cNvSpPr/>
          <p:nvPr/>
        </p:nvSpPr>
        <p:spPr>
          <a:xfrm>
            <a:off x="457200" y="4946904"/>
            <a:ext cx="2103120" cy="603504"/>
          </a:xfrm>
          <a:prstGeom prst="rect">
            <a:avLst/>
          </a:prstGeom>
          <a:solidFill>
            <a:srgbClr val="EAF4EE"/>
          </a:solidFill>
          <a:ln w="9525">
            <a:solidFill>
              <a:srgbClr val="EAF4EE"/>
            </a:solidFill>
            <a:prstDash val="solid"/>
          </a:ln>
        </p:spPr>
      </p:sp>
      <p:sp>
        <p:nvSpPr>
          <p:cNvPr id="45" name="rail3"/>
          <p:cNvSpPr txBox="1"/>
          <p:nvPr/>
        </p:nvSpPr>
        <p:spPr>
          <a:xfrm>
            <a:off x="566928" y="4946904"/>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価値</a:t>
            </a:r>
            <a:endParaRPr lang="en-US" sz="1200" dirty="0"/>
          </a:p>
        </p:txBody>
      </p:sp>
      <p:sp>
        <p:nvSpPr>
          <p:cNvPr id="46" name="body3"/>
          <p:cNvSpPr txBox="1"/>
          <p:nvPr/>
        </p:nvSpPr>
        <p:spPr>
          <a:xfrm>
            <a:off x="2743200" y="4946904"/>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会社の EPS(FY27 8.10・FY30 21)× 妥当 PER を年度別に評価して 236 ドル。DCF 210 ドル。第4.3版から −15</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(1GW の粗利率 35% −19、容量 −13、会社の EPS +8、1GW の単価 +7)</a:t>
            </a:r>
            <a:endParaRPr lang="en-US" sz="1100" dirty="0"/>
          </a:p>
        </p:txBody>
      </p:sp>
      <p:sp>
        <p:nvSpPr>
          <p:cNvPr id="47" name="ovl_rail4"/>
          <p:cNvSpPr/>
          <p:nvPr/>
        </p:nvSpPr>
        <p:spPr>
          <a:xfrm>
            <a:off x="457200" y="5605272"/>
            <a:ext cx="2103120" cy="603504"/>
          </a:xfrm>
          <a:prstGeom prst="rect">
            <a:avLst/>
          </a:prstGeom>
          <a:solidFill>
            <a:srgbClr val="EAF4EE"/>
          </a:solidFill>
          <a:ln w="9525">
            <a:solidFill>
              <a:srgbClr val="EAF4EE"/>
            </a:solidFill>
            <a:prstDash val="solid"/>
          </a:ln>
        </p:spPr>
      </p:sp>
      <p:sp>
        <p:nvSpPr>
          <p:cNvPr id="48" name="rail4"/>
          <p:cNvSpPr txBox="1"/>
          <p:nvPr/>
        </p:nvSpPr>
        <p:spPr>
          <a:xfrm>
            <a:off x="566928" y="5605272"/>
            <a:ext cx="1920240" cy="603504"/>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市場との差分</a:t>
            </a:r>
            <a:endParaRPr lang="en-US" sz="1200" dirty="0"/>
          </a:p>
        </p:txBody>
      </p:sp>
      <p:sp>
        <p:nvSpPr>
          <p:cNvPr id="49" name="body4"/>
          <p:cNvSpPr txBox="1"/>
          <p:nvPr/>
        </p:nvSpPr>
        <p:spPr>
          <a:xfrm>
            <a:off x="2743200" y="5605272"/>
            <a:ext cx="8988552" cy="603504"/>
          </a:xfrm>
          <a:prstGeom prst="rect">
            <a:avLst/>
          </a:prstGeom>
          <a:noFill/>
          <a:ln/>
        </p:spPr>
        <p:txBody>
          <a:bodyPr wrap="square" lIns="508" tIns="508" rIns="508" bIns="508" rtlCol="0" anchor="ctr"/>
          <a:lstStyle/>
          <a:p>
            <a:pPr indent="0" marL="0">
              <a:buNone/>
            </a:pPr>
            <a:r>
              <a:rPr lang="en-US" sz="1100" dirty="0">
                <a:solidFill>
                  <a:srgbClr val="333333"/>
                </a:solidFill>
                <a:latin typeface="Meiryo UI" pitchFamily="34" charset="0"/>
                <a:ea typeface="Meiryo UI" pitchFamily="34" charset="-122"/>
                <a:cs typeface="Meiryo UI" pitchFamily="34" charset="-120"/>
              </a:rPr>
              <a:t>株価は弱気の値(138 ドル)とほぼ同じ。CDS 277bp は 5 年で 21% の倒産を織り込むが、エンジンは 1.9%。</a:t>
            </a:r>
            <a:endParaRPr lang="en-US" sz="1100" dirty="0"/>
          </a:p>
          <a:p>
            <a:pPr indent="0" marL="0">
              <a:buNone/>
            </a:pPr>
            <a:r>
              <a:rPr lang="en-US" sz="1100" dirty="0">
                <a:solidFill>
                  <a:srgbClr val="333333"/>
                </a:solidFill>
                <a:latin typeface="Meiryo UI" pitchFamily="34" charset="0"/>
                <a:ea typeface="Meiryo UI" pitchFamily="34" charset="-122"/>
                <a:cs typeface="Meiryo UI" pitchFamily="34" charset="-120"/>
              </a:rPr>
              <a:t>CDS の確率で割り引いても DCF は 170 ドル</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197A56"/>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評価総括</a:t>
            </a:r>
            <a:endParaRPr lang="en-US" sz="1800" dirty="0"/>
          </a:p>
        </p:txBody>
      </p:sp>
      <p:sp>
        <p:nvSpPr>
          <p:cNvPr id="7" name="bg_agenda_why0"/>
          <p:cNvSpPr txBox="1"/>
          <p:nvPr/>
        </p:nvSpPr>
        <p:spPr>
          <a:xfrm>
            <a:off x="1417320" y="1938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結論と評価の全体像を先に示し、以降の章で根拠を確かめる</a:t>
            </a:r>
            <a:endParaRPr lang="en-US" sz="1050" dirty="0"/>
          </a:p>
        </p:txBody>
      </p:sp>
      <p:sp>
        <p:nvSpPr>
          <p:cNvPr id="8"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9"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10"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第1章の構成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1-1  結論</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1-2  評価の全体像</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p.4–6</a:t>
            </a:r>
            <a:endParaRPr lang="en-US" sz="1050" dirty="0"/>
          </a:p>
        </p:txBody>
      </p:sp>
      <p:sp>
        <p:nvSpPr>
          <p:cNvPr id="2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評価の全体像(1/3)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13 条件のどこが強く、どこが弱いかを一覧し、構造評価 B の内訳を示す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13 条件は S1・A2・B8・C2 で構造評価 B のまま。条件7 は資金の道筋で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B に近づいたが、引き上げ条件の CDS 200bp 未満は未達</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13 条件の評価一覧(評価の色は全スライド共通: S 濃緑・A 緑・B 薄緑・C アンバー)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第3章(条件別の構造分析)、銘柄分析メソッド Phase 3・6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構造評価</a:t>
            </a:r>
            <a:endParaRPr lang="en-US" sz="800" dirty="0"/>
          </a:p>
        </p:txBody>
      </p:sp>
      <p:graphicFrame>
        <p:nvGraphicFramePr>
          <p:cNvPr id="5" name="tbl"/>
          <p:cNvGraphicFramePr>
            <a:graphicFrameLocks noGrp="1"/>
          </p:cNvGraphicFramePr>
          <p:nvPr>
            <p:extLst>
              <p:ext uri="{D42A27DB-BD31-4B8C-83A1-F6EECF244321}">
                <p14:modId xmlns:p14="http://schemas.microsoft.com/office/powerpoint/2010/main" val="1579011935"/>
              </p:ext>
            </p:extLst>
          </p:nvPr>
        </p:nvGraphicFramePr>
        <p:xfrm>
          <a:off x="457200" y="1481328"/>
          <a:ext cx="11274552" cy="914400"/>
        </p:xfrm>
        <a:graphic>
          <a:graphicData uri="http://schemas.openxmlformats.org/drawingml/2006/table">
            <a:tbl>
              <a:tblPr/>
              <a:tblGrid>
                <a:gridCol w="411480"/>
                <a:gridCol w="2926080"/>
                <a:gridCol w="685800"/>
                <a:gridCol w="5120640"/>
                <a:gridCol w="2130552"/>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条件</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根拠(一文)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監視 KPI(C のみ)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10 年の価格決定力・競争優位・成長性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の切替コストは長いが、AI はコストプラス契約で単価優位は逼迫期(FY32 まで)に限られる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コア事業の潤沢なキャッシュフロー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コアは税引後 230 億ドル。全社 FCF はエンジンで FY29 に 721 億ドル</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(会社 300 億以上)。FY33 に更新の山</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コア技術・データの AI 転用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OCI +121%、Database@ +353% が増収の主因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日本株か米国株</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NYSE 上場の米国企業</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経営陣の経歴と資本配分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経歴は事業に合う。説明会で FCF の時期と資金の上限を数字で示した。</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capex が見通し内かは 12 月に確認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5 年 EPS 成長率 30% 以上で PEG&lt;1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3 経路の CAGR 28.7〜30.3%・PEG 0.67〜0.71。閾値 30% の前後で余裕がない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低 PEG の理由がリスクの過大評価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D68910"/>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資金の道筋は示されたが、CDS 277bp と OpenAI 集中が残る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CDS 200bp / 300bp</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(現在 277)、</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OpenAI 比率 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コモディティでない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D68910"/>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価値の 41% の AI 容量はコストプラス契約で、需給が緩むと商品化</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AI 粗利率 35%(1GW 例)/</a:t>
                      </a:r>
                      <a:endParaRPr lang="en-US" sz="1000" dirty="0">
                        <a:latin typeface="Meiryo UI" charset="0"/>
                        <a:ea typeface="Meiryo UI" charset="0"/>
                        <a:cs typeface="Meiryo UI" charset="0"/>
                      </a:endParaRPr>
                    </a:p>
                    <a:p>
                      <a:pPr algn="l" indent="0" marL="0">
                        <a:buNone/>
                      </a:pPr>
                      <a:r>
                        <a:rPr lang="en-US" sz="1000" dirty="0">
                          <a:solidFill>
                            <a:srgbClr val="333333"/>
                          </a:solidFill>
                          <a:latin typeface="Meiryo UI" pitchFamily="34" charset="0"/>
                          <a:ea typeface="Meiryo UI" pitchFamily="34" charset="-122"/>
                          <a:cs typeface="Meiryo UI" pitchFamily="34" charset="-120"/>
                        </a:rPr>
                        <a:t>更新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停めない運用に不可欠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稼働率 97.9%・更新率は高いが代替のクラウドがある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無形資産の陳腐化リスク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GPU の 6 年償却は会社の ROI 28% と整合。4 年前の GPU の更新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模倣困難・代替不可能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DB の配置は再現困難、AI 容量は 2〜4 年で再現可能</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従量課金型の収益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197A56"/>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受注残 6,640 億ドル(約 9 割がクラウド基盤)が積み上がるストック型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アーキタイプ照合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4D33"/>
                          </a:solidFill>
                          <a:latin typeface="Meiryo UI" pitchFamily="34" charset="0"/>
                          <a:ea typeface="Meiryo UI" pitchFamily="34" charset="-122"/>
                          <a:cs typeface="Meiryo UI" pitchFamily="34" charset="-120"/>
                        </a:rPr>
                        <a:t>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86C99B"/>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原型は ORCL 型、自社調達 GPU は MU 型に寄る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評価の全体像(2/3)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集計の規則(拒否権・C 上限・対評価)を当てた結果を示し、評価に恣意がないことを確かめる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拒否権と C 上限の規則は発動しない。条件6 は数値上 S 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条件7 との対評価で S を無効にし、余裕の薄さから B とした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構造評価の導出: 評価分布 → 適用ルール → 構造評価</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Phase 6、本資料の評価一覧</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5</a:t>
            </a:r>
            <a:endParaRPr lang="en-US" sz="800" dirty="0"/>
          </a:p>
        </p:txBody>
      </p:sp>
      <p:sp>
        <p:nvSpPr>
          <p:cNvPr id="19" name="flow_h0"/>
          <p:cNvSpPr txBox="1"/>
          <p:nvPr/>
        </p:nvSpPr>
        <p:spPr>
          <a:xfrm>
            <a:off x="457200"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入力: 13 条件の評価</a:t>
            </a:r>
            <a:endParaRPr lang="en-US" sz="1100" dirty="0"/>
          </a:p>
        </p:txBody>
      </p:sp>
      <p:sp>
        <p:nvSpPr>
          <p:cNvPr id="20" name="ovl_fbox0_0"/>
          <p:cNvSpPr/>
          <p:nvPr/>
        </p:nvSpPr>
        <p:spPr>
          <a:xfrm>
            <a:off x="457200" y="1947672"/>
            <a:ext cx="3484778" cy="822960"/>
          </a:xfrm>
          <a:prstGeom prst="roundRect">
            <a:avLst>
              <a:gd name="adj" fmla="val 6667"/>
            </a:avLst>
          </a:prstGeom>
          <a:solidFill>
            <a:srgbClr val="0E4D33"/>
          </a:solidFill>
          <a:ln w="9525">
            <a:solidFill>
              <a:srgbClr val="0E4D33"/>
            </a:solidFill>
            <a:prstDash val="solid"/>
          </a:ln>
        </p:spPr>
      </p:sp>
      <p:sp>
        <p:nvSpPr>
          <p:cNvPr id="21" name="flow_t0_0"/>
          <p:cNvSpPr txBox="1"/>
          <p:nvPr/>
        </p:nvSpPr>
        <p:spPr>
          <a:xfrm>
            <a:off x="530352" y="1984248"/>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S × 1(条件4)</a:t>
            </a:r>
            <a:endParaRPr lang="en-US" sz="1000" dirty="0"/>
          </a:p>
        </p:txBody>
      </p:sp>
      <p:sp>
        <p:nvSpPr>
          <p:cNvPr id="22" name="ovl_fbox0_1"/>
          <p:cNvSpPr/>
          <p:nvPr/>
        </p:nvSpPr>
        <p:spPr>
          <a:xfrm>
            <a:off x="457200" y="2880360"/>
            <a:ext cx="3484778" cy="822960"/>
          </a:xfrm>
          <a:prstGeom prst="roundRect">
            <a:avLst>
              <a:gd name="adj" fmla="val 6667"/>
            </a:avLst>
          </a:prstGeom>
          <a:solidFill>
            <a:srgbClr val="197A56"/>
          </a:solidFill>
          <a:ln w="9525">
            <a:solidFill>
              <a:srgbClr val="197A56"/>
            </a:solidFill>
            <a:prstDash val="solid"/>
          </a:ln>
        </p:spPr>
      </p:sp>
      <p:sp>
        <p:nvSpPr>
          <p:cNvPr id="23" name="flow_t0_1"/>
          <p:cNvSpPr txBox="1"/>
          <p:nvPr/>
        </p:nvSpPr>
        <p:spPr>
          <a:xfrm>
            <a:off x="530352" y="2916936"/>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A × 2(条件3・12)</a:t>
            </a:r>
            <a:endParaRPr lang="en-US" sz="1000" dirty="0"/>
          </a:p>
        </p:txBody>
      </p:sp>
      <p:sp>
        <p:nvSpPr>
          <p:cNvPr id="24" name="ovl_fbox0_2"/>
          <p:cNvSpPr/>
          <p:nvPr/>
        </p:nvSpPr>
        <p:spPr>
          <a:xfrm>
            <a:off x="457200" y="3813048"/>
            <a:ext cx="3484778" cy="822960"/>
          </a:xfrm>
          <a:prstGeom prst="roundRect">
            <a:avLst>
              <a:gd name="adj" fmla="val 6667"/>
            </a:avLst>
          </a:prstGeom>
          <a:solidFill>
            <a:srgbClr val="EAF4EE"/>
          </a:solidFill>
          <a:ln w="9525">
            <a:solidFill>
              <a:srgbClr val="EAF4EE"/>
            </a:solidFill>
            <a:prstDash val="solid"/>
          </a:ln>
        </p:spPr>
      </p:sp>
      <p:sp>
        <p:nvSpPr>
          <p:cNvPr id="25" name="flow_t0_2"/>
          <p:cNvSpPr txBox="1"/>
          <p:nvPr/>
        </p:nvSpPr>
        <p:spPr>
          <a:xfrm>
            <a:off x="530352" y="3849624"/>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B × 8</a:t>
            </a:r>
            <a:endParaRPr lang="en-US" sz="1000" dirty="0"/>
          </a:p>
        </p:txBody>
      </p:sp>
      <p:sp>
        <p:nvSpPr>
          <p:cNvPr id="26" name="ovl_fbox0_3"/>
          <p:cNvSpPr/>
          <p:nvPr/>
        </p:nvSpPr>
        <p:spPr>
          <a:xfrm>
            <a:off x="457200" y="4745736"/>
            <a:ext cx="3484778" cy="822960"/>
          </a:xfrm>
          <a:prstGeom prst="roundRect">
            <a:avLst>
              <a:gd name="adj" fmla="val 6667"/>
            </a:avLst>
          </a:prstGeom>
          <a:solidFill>
            <a:srgbClr val="EAF4EE"/>
          </a:solidFill>
          <a:ln w="9525">
            <a:solidFill>
              <a:srgbClr val="EAF4EE"/>
            </a:solidFill>
            <a:prstDash val="solid"/>
          </a:ln>
        </p:spPr>
      </p:sp>
      <p:sp>
        <p:nvSpPr>
          <p:cNvPr id="27" name="flow_t0_3"/>
          <p:cNvSpPr txBox="1"/>
          <p:nvPr/>
        </p:nvSpPr>
        <p:spPr>
          <a:xfrm>
            <a:off x="530352" y="4782312"/>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C × 2(条件7・8)</a:t>
            </a:r>
            <a:endParaRPr lang="en-US" sz="1000" dirty="0"/>
          </a:p>
        </p:txBody>
      </p:sp>
      <p:sp>
        <p:nvSpPr>
          <p:cNvPr id="28" name="ovl_farrow0"/>
          <p:cNvSpPr/>
          <p:nvPr/>
        </p:nvSpPr>
        <p:spPr>
          <a:xfrm>
            <a:off x="4003700" y="3575304"/>
            <a:ext cx="288036" cy="365760"/>
          </a:xfrm>
          <a:prstGeom prst="rightArrow">
            <a:avLst/>
          </a:prstGeom>
          <a:solidFill>
            <a:srgbClr val="86C99B"/>
          </a:solidFill>
          <a:ln w="12700">
            <a:solidFill>
              <a:srgbClr val="86C99B"/>
            </a:solidFill>
            <a:prstDash val="solid"/>
          </a:ln>
        </p:spPr>
      </p:sp>
      <p:sp>
        <p:nvSpPr>
          <p:cNvPr id="29" name="flow_h1"/>
          <p:cNvSpPr txBox="1"/>
          <p:nvPr/>
        </p:nvSpPr>
        <p:spPr>
          <a:xfrm>
            <a:off x="4353458"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処理: 適用ルール</a:t>
            </a:r>
            <a:endParaRPr lang="en-US" sz="1100" dirty="0"/>
          </a:p>
        </p:txBody>
      </p:sp>
      <p:sp>
        <p:nvSpPr>
          <p:cNvPr id="30" name="ovl_fbox1_0"/>
          <p:cNvSpPr/>
          <p:nvPr/>
        </p:nvSpPr>
        <p:spPr>
          <a:xfrm>
            <a:off x="4353458" y="2414016"/>
            <a:ext cx="3484778" cy="822960"/>
          </a:xfrm>
          <a:prstGeom prst="roundRect">
            <a:avLst>
              <a:gd name="adj" fmla="val 6667"/>
            </a:avLst>
          </a:prstGeom>
          <a:solidFill>
            <a:srgbClr val="F2F2F2"/>
          </a:solidFill>
          <a:ln w="9525">
            <a:solidFill>
              <a:srgbClr val="F2F2F2"/>
            </a:solidFill>
            <a:prstDash val="solid"/>
          </a:ln>
        </p:spPr>
      </p:sp>
      <p:sp>
        <p:nvSpPr>
          <p:cNvPr id="31" name="flow_t1_0"/>
          <p:cNvSpPr txBox="1"/>
          <p:nvPr/>
        </p:nvSpPr>
        <p:spPr>
          <a:xfrm>
            <a:off x="4426610" y="2450592"/>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致命条件の拒否権(E 以下): 非発動</a:t>
            </a:r>
            <a:endParaRPr lang="en-US" sz="1000" dirty="0"/>
          </a:p>
        </p:txBody>
      </p:sp>
      <p:sp>
        <p:nvSpPr>
          <p:cNvPr id="32" name="ovl_fbox1_1"/>
          <p:cNvSpPr/>
          <p:nvPr/>
        </p:nvSpPr>
        <p:spPr>
          <a:xfrm>
            <a:off x="4353458" y="3346704"/>
            <a:ext cx="3484778" cy="822960"/>
          </a:xfrm>
          <a:prstGeom prst="roundRect">
            <a:avLst>
              <a:gd name="adj" fmla="val 6667"/>
            </a:avLst>
          </a:prstGeom>
          <a:solidFill>
            <a:srgbClr val="197A56"/>
          </a:solidFill>
          <a:ln w="9525">
            <a:solidFill>
              <a:srgbClr val="197A56"/>
            </a:solidFill>
            <a:prstDash val="solid"/>
          </a:ln>
        </p:spPr>
      </p:sp>
      <p:sp>
        <p:nvSpPr>
          <p:cNvPr id="33" name="flow_t1_1"/>
          <p:cNvSpPr txBox="1"/>
          <p:nvPr/>
        </p:nvSpPr>
        <p:spPr>
          <a:xfrm>
            <a:off x="4426610" y="3383280"/>
            <a:ext cx="3338474"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条件6・7 の対評価: 発動(条件6 の S を無効)</a:t>
            </a:r>
            <a:endParaRPr lang="en-US" sz="1000" dirty="0"/>
          </a:p>
        </p:txBody>
      </p:sp>
      <p:sp>
        <p:nvSpPr>
          <p:cNvPr id="34" name="ovl_fbox1_2"/>
          <p:cNvSpPr/>
          <p:nvPr/>
        </p:nvSpPr>
        <p:spPr>
          <a:xfrm>
            <a:off x="4353458" y="4279392"/>
            <a:ext cx="3484778" cy="822960"/>
          </a:xfrm>
          <a:prstGeom prst="roundRect">
            <a:avLst>
              <a:gd name="adj" fmla="val 6667"/>
            </a:avLst>
          </a:prstGeom>
          <a:solidFill>
            <a:srgbClr val="F2F2F2"/>
          </a:solidFill>
          <a:ln w="9525">
            <a:solidFill>
              <a:srgbClr val="F2F2F2"/>
            </a:solidFill>
            <a:prstDash val="solid"/>
          </a:ln>
        </p:spPr>
      </p:sp>
      <p:sp>
        <p:nvSpPr>
          <p:cNvPr id="35" name="flow_t1_2"/>
          <p:cNvSpPr txBox="1"/>
          <p:nvPr/>
        </p:nvSpPr>
        <p:spPr>
          <a:xfrm>
            <a:off x="4426610" y="4315968"/>
            <a:ext cx="3338474"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C × 4 以上で上限 C: 非発動(C は 2)</a:t>
            </a:r>
            <a:endParaRPr lang="en-US" sz="1000" dirty="0"/>
          </a:p>
        </p:txBody>
      </p:sp>
      <p:sp>
        <p:nvSpPr>
          <p:cNvPr id="36" name="ovl_farrow1"/>
          <p:cNvSpPr/>
          <p:nvPr/>
        </p:nvSpPr>
        <p:spPr>
          <a:xfrm>
            <a:off x="7899959" y="3575304"/>
            <a:ext cx="288036" cy="365760"/>
          </a:xfrm>
          <a:prstGeom prst="rightArrow">
            <a:avLst/>
          </a:prstGeom>
          <a:solidFill>
            <a:srgbClr val="86C99B"/>
          </a:solidFill>
          <a:ln w="12700">
            <a:solidFill>
              <a:srgbClr val="86C99B"/>
            </a:solidFill>
            <a:prstDash val="solid"/>
          </a:ln>
        </p:spPr>
      </p:sp>
      <p:sp>
        <p:nvSpPr>
          <p:cNvPr id="37" name="flow_h2"/>
          <p:cNvSpPr txBox="1"/>
          <p:nvPr/>
        </p:nvSpPr>
        <p:spPr>
          <a:xfrm>
            <a:off x="8249717" y="1554480"/>
            <a:ext cx="3484778"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出力: 構造評価</a:t>
            </a:r>
            <a:endParaRPr lang="en-US" sz="1100" dirty="0"/>
          </a:p>
        </p:txBody>
      </p:sp>
      <p:sp>
        <p:nvSpPr>
          <p:cNvPr id="38" name="ovl_fbox2_0"/>
          <p:cNvSpPr/>
          <p:nvPr/>
        </p:nvSpPr>
        <p:spPr>
          <a:xfrm>
            <a:off x="8249717" y="2560320"/>
            <a:ext cx="3484778" cy="1463040"/>
          </a:xfrm>
          <a:prstGeom prst="roundRect">
            <a:avLst>
              <a:gd name="adj" fmla="val 3750"/>
            </a:avLst>
          </a:prstGeom>
          <a:solidFill>
            <a:srgbClr val="0E4D33"/>
          </a:solidFill>
          <a:ln w="9525">
            <a:solidFill>
              <a:srgbClr val="0E4D33"/>
            </a:solidFill>
            <a:prstDash val="solid"/>
          </a:ln>
        </p:spPr>
      </p:sp>
      <p:sp>
        <p:nvSpPr>
          <p:cNvPr id="39" name="flow_t2_0"/>
          <p:cNvSpPr txBox="1"/>
          <p:nvPr/>
        </p:nvSpPr>
        <p:spPr>
          <a:xfrm>
            <a:off x="8322869" y="2596896"/>
            <a:ext cx="3338474" cy="1389888"/>
          </a:xfrm>
          <a:prstGeom prst="rect">
            <a:avLst/>
          </a:prstGeom>
          <a:noFill/>
          <a:ln/>
        </p:spPr>
        <p:txBody>
          <a:bodyPr wrap="square" lIns="0" tIns="0" rIns="0" bIns="0" rtlCol="0" anchor="ctr"/>
          <a:lstStyle/>
          <a:p>
            <a:pPr algn="ctr" indent="0" marL="0">
              <a:buNone/>
            </a:pPr>
            <a:r>
              <a:rPr lang="en-US" sz="4000" b="1" dirty="0">
                <a:solidFill>
                  <a:srgbClr val="FFFFFF"/>
                </a:solidFill>
                <a:latin typeface="Meiryo UI" pitchFamily="34" charset="0"/>
                <a:ea typeface="Meiryo UI" pitchFamily="34" charset="-122"/>
                <a:cs typeface="Meiryo UI" pitchFamily="34" charset="-120"/>
              </a:rPr>
              <a:t>B</a:t>
            </a:r>
            <a:endParaRPr lang="en-US" sz="4000" dirty="0"/>
          </a:p>
        </p:txBody>
      </p:sp>
      <p:sp>
        <p:nvSpPr>
          <p:cNvPr id="40" name="ovl_fbox2_1"/>
          <p:cNvSpPr/>
          <p:nvPr/>
        </p:nvSpPr>
        <p:spPr>
          <a:xfrm>
            <a:off x="8249717" y="4133088"/>
            <a:ext cx="3484778" cy="822960"/>
          </a:xfrm>
          <a:prstGeom prst="roundRect">
            <a:avLst>
              <a:gd name="adj" fmla="val 6667"/>
            </a:avLst>
          </a:prstGeom>
          <a:solidFill>
            <a:srgbClr val="EAF4EE"/>
          </a:solidFill>
          <a:ln w="9525">
            <a:solidFill>
              <a:srgbClr val="EAF4EE"/>
            </a:solidFill>
            <a:prstDash val="solid"/>
          </a:ln>
        </p:spPr>
      </p:sp>
      <p:sp>
        <p:nvSpPr>
          <p:cNvPr id="41" name="flow_t2_1"/>
          <p:cNvSpPr txBox="1"/>
          <p:nvPr/>
        </p:nvSpPr>
        <p:spPr>
          <a:xfrm>
            <a:off x="8322869" y="4169664"/>
            <a:ext cx="3338474"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最頻の B を採用(機械的な平均はしない)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第1章 評価総括</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1-2 評価の全体像(3/3)</a:t>
            </a:r>
            <a:endParaRPr lang="en-US" sz="900" dirty="0"/>
          </a:p>
        </p:txBody>
      </p:sp>
      <p:sp>
        <p:nvSpPr>
          <p:cNvPr id="4" name="bg_hdr_pill0"/>
          <p:cNvSpPr/>
          <p:nvPr/>
        </p:nvSpPr>
        <p:spPr>
          <a:xfrm>
            <a:off x="8479231" y="64008"/>
            <a:ext cx="786384" cy="182880"/>
          </a:xfrm>
          <a:prstGeom prst="roundRect">
            <a:avLst>
              <a:gd name="adj" fmla="val 20000"/>
            </a:avLst>
          </a:prstGeom>
          <a:solidFill>
            <a:srgbClr val="197A56"/>
          </a:solidFill>
          <a:ln w="9525">
            <a:solidFill>
              <a:srgbClr val="197A56"/>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評価の全体像</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どの事業構造が評価を押し上げ、どれが押し下げたかを、原因から結果の順に示す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の切替コストと前払い・長期リースの資金構造が評価を押し上げ、</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AI 容量の商品性と OpenAI 集中が押し下げる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構造的要因サマリー: 構造(だから)→ 条件の評価(となり)→ 構造評価への効き(を動かした)</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 第3章、需給エンジン第4.4版(calc/out/m9_fair.json)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6</a:t>
            </a:r>
            <a:endParaRPr lang="en-US" sz="800" dirty="0"/>
          </a:p>
        </p:txBody>
      </p:sp>
      <p:sp>
        <p:nvSpPr>
          <p:cNvPr id="19" name="head_up"/>
          <p:cNvSpPr txBox="1"/>
          <p:nvPr/>
        </p:nvSpPr>
        <p:spPr>
          <a:xfrm>
            <a:off x="457200" y="1481328"/>
            <a:ext cx="8961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押し上げ要因</a:t>
            </a:r>
            <a:endParaRPr lang="en-US" sz="1200" dirty="0"/>
          </a:p>
        </p:txBody>
      </p:sp>
      <p:sp>
        <p:nvSpPr>
          <p:cNvPr id="20" name="head_down"/>
          <p:cNvSpPr txBox="1"/>
          <p:nvPr/>
        </p:nvSpPr>
        <p:spPr>
          <a:xfrm>
            <a:off x="457200" y="3630168"/>
            <a:ext cx="8961120" cy="292608"/>
          </a:xfrm>
          <a:prstGeom prst="rect">
            <a:avLst/>
          </a:prstGeom>
          <a:noFill/>
          <a:ln/>
        </p:spPr>
        <p:txBody>
          <a:bodyPr wrap="square" lIns="0" tIns="0" rIns="0" bIns="0" rtlCol="0" anchor="ctr"/>
          <a:lstStyle/>
          <a:p>
            <a:pPr indent="0" marL="0">
              <a:buNone/>
            </a:pPr>
            <a:r>
              <a:rPr lang="en-US" sz="1200" b="1" dirty="0">
                <a:solidFill>
                  <a:srgbClr val="C0392B"/>
                </a:solidFill>
                <a:latin typeface="Meiryo UI" pitchFamily="34" charset="0"/>
                <a:ea typeface="Meiryo UI" pitchFamily="34" charset="-122"/>
                <a:cs typeface="Meiryo UI" pitchFamily="34" charset="-120"/>
              </a:rPr>
              <a:t>押し下げ要因</a:t>
            </a:r>
            <a:endParaRPr lang="en-US" sz="1200" dirty="0"/>
          </a:p>
        </p:txBody>
      </p:sp>
      <p:sp>
        <p:nvSpPr>
          <p:cNvPr id="21" name="ovl_card_up0"/>
          <p:cNvSpPr/>
          <p:nvPr/>
        </p:nvSpPr>
        <p:spPr>
          <a:xfrm>
            <a:off x="457200" y="1828800"/>
            <a:ext cx="2834640" cy="1691640"/>
          </a:xfrm>
          <a:prstGeom prst="rect">
            <a:avLst/>
          </a:prstGeom>
          <a:solidFill>
            <a:srgbClr val="EAF4EE"/>
          </a:solidFill>
          <a:ln w="9525">
            <a:solidFill>
              <a:srgbClr val="86C99B"/>
            </a:solidFill>
            <a:prstDash val="solid"/>
          </a:ln>
        </p:spPr>
      </p:sp>
      <p:sp>
        <p:nvSpPr>
          <p:cNvPr id="22" name="cn_up0"/>
          <p:cNvSpPr txBox="1"/>
          <p:nvPr/>
        </p:nvSpPr>
        <p:spPr>
          <a:xfrm>
            <a:off x="54864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23" name="ovl_badge"/>
          <p:cNvSpPr/>
          <p:nvPr/>
        </p:nvSpPr>
        <p:spPr>
          <a:xfrm>
            <a:off x="932688" y="1920240"/>
            <a:ext cx="384048" cy="384048"/>
          </a:xfrm>
          <a:prstGeom prst="roundRect">
            <a:avLst>
              <a:gd name="adj" fmla="val 19048"/>
            </a:avLst>
          </a:prstGeom>
          <a:solidFill>
            <a:srgbClr val="86C99B"/>
          </a:solidFill>
          <a:ln w="12700">
            <a:solidFill>
              <a:srgbClr val="86C99B"/>
            </a:solidFill>
            <a:prstDash val="solid"/>
          </a:ln>
        </p:spPr>
      </p:sp>
      <p:sp>
        <p:nvSpPr>
          <p:cNvPr id="24" name="ovl_badge_t"/>
          <p:cNvSpPr txBox="1"/>
          <p:nvPr/>
        </p:nvSpPr>
        <p:spPr>
          <a:xfrm>
            <a:off x="93268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5" name="no_up0_0"/>
          <p:cNvSpPr txBox="1"/>
          <p:nvPr/>
        </p:nvSpPr>
        <p:spPr>
          <a:xfrm>
            <a:off x="134416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a:t>
            </a:r>
            <a:endParaRPr lang="en-US" sz="950" dirty="0"/>
          </a:p>
        </p:txBody>
      </p:sp>
      <p:sp>
        <p:nvSpPr>
          <p:cNvPr id="26" name="ovl_badge"/>
          <p:cNvSpPr/>
          <p:nvPr/>
        </p:nvSpPr>
        <p:spPr>
          <a:xfrm>
            <a:off x="1591056" y="1920240"/>
            <a:ext cx="384048" cy="384048"/>
          </a:xfrm>
          <a:prstGeom prst="roundRect">
            <a:avLst>
              <a:gd name="adj" fmla="val 19048"/>
            </a:avLst>
          </a:prstGeom>
          <a:solidFill>
            <a:srgbClr val="86C99B"/>
          </a:solidFill>
          <a:ln w="12700">
            <a:solidFill>
              <a:srgbClr val="86C99B"/>
            </a:solidFill>
            <a:prstDash val="solid"/>
          </a:ln>
        </p:spPr>
      </p:sp>
      <p:sp>
        <p:nvSpPr>
          <p:cNvPr id="27" name="ovl_badge_t"/>
          <p:cNvSpPr txBox="1"/>
          <p:nvPr/>
        </p:nvSpPr>
        <p:spPr>
          <a:xfrm>
            <a:off x="159105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28" name="no_up0_1"/>
          <p:cNvSpPr txBox="1"/>
          <p:nvPr/>
        </p:nvSpPr>
        <p:spPr>
          <a:xfrm>
            <a:off x="200253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29" name="ovl_badge"/>
          <p:cNvSpPr/>
          <p:nvPr/>
        </p:nvSpPr>
        <p:spPr>
          <a:xfrm>
            <a:off x="2331720" y="1920240"/>
            <a:ext cx="384048" cy="384048"/>
          </a:xfrm>
          <a:prstGeom prst="roundRect">
            <a:avLst>
              <a:gd name="adj" fmla="val 19048"/>
            </a:avLst>
          </a:prstGeom>
          <a:solidFill>
            <a:srgbClr val="197A56"/>
          </a:solidFill>
          <a:ln w="12700">
            <a:solidFill>
              <a:srgbClr val="197A56"/>
            </a:solidFill>
            <a:prstDash val="solid"/>
          </a:ln>
        </p:spPr>
      </p:sp>
      <p:sp>
        <p:nvSpPr>
          <p:cNvPr id="30" name="ovl_badge_t"/>
          <p:cNvSpPr txBox="1"/>
          <p:nvPr/>
        </p:nvSpPr>
        <p:spPr>
          <a:xfrm>
            <a:off x="2331720"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31" name="no_up0_2"/>
          <p:cNvSpPr txBox="1"/>
          <p:nvPr/>
        </p:nvSpPr>
        <p:spPr>
          <a:xfrm>
            <a:off x="2743200"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12</a:t>
            </a:r>
            <a:endParaRPr lang="en-US" sz="950" dirty="0"/>
          </a:p>
        </p:txBody>
      </p:sp>
      <p:sp>
        <p:nvSpPr>
          <p:cNvPr id="32" name="h_up0"/>
          <p:cNvSpPr txBox="1"/>
          <p:nvPr/>
        </p:nvSpPr>
        <p:spPr>
          <a:xfrm>
            <a:off x="54864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の切替コスト</a:t>
            </a:r>
            <a:endParaRPr lang="en-US" sz="1100" dirty="0"/>
          </a:p>
        </p:txBody>
      </p:sp>
      <p:sp>
        <p:nvSpPr>
          <p:cNvPr id="33" name="b_up0"/>
          <p:cNvSpPr txBox="1"/>
          <p:nvPr/>
        </p:nvSpPr>
        <p:spPr>
          <a:xfrm>
            <a:off x="54864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数十年続く保守・継続課金が土台になり、価格決定力と模倣困難性を支えて評価を上げた</a:t>
            </a:r>
            <a:endParaRPr lang="en-US" sz="950" dirty="0"/>
          </a:p>
        </p:txBody>
      </p:sp>
      <p:sp>
        <p:nvSpPr>
          <p:cNvPr id="34" name="ovl_card_up1"/>
          <p:cNvSpPr/>
          <p:nvPr/>
        </p:nvSpPr>
        <p:spPr>
          <a:xfrm>
            <a:off x="3520440" y="1828800"/>
            <a:ext cx="2834640" cy="1691640"/>
          </a:xfrm>
          <a:prstGeom prst="rect">
            <a:avLst/>
          </a:prstGeom>
          <a:solidFill>
            <a:srgbClr val="EAF4EE"/>
          </a:solidFill>
          <a:ln w="9525">
            <a:solidFill>
              <a:srgbClr val="86C99B"/>
            </a:solidFill>
            <a:prstDash val="solid"/>
          </a:ln>
        </p:spPr>
      </p:sp>
      <p:sp>
        <p:nvSpPr>
          <p:cNvPr id="35" name="cn_up1"/>
          <p:cNvSpPr txBox="1"/>
          <p:nvPr/>
        </p:nvSpPr>
        <p:spPr>
          <a:xfrm>
            <a:off x="361188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36" name="ovl_badge"/>
          <p:cNvSpPr/>
          <p:nvPr/>
        </p:nvSpPr>
        <p:spPr>
          <a:xfrm>
            <a:off x="3995928" y="1920240"/>
            <a:ext cx="384048" cy="384048"/>
          </a:xfrm>
          <a:prstGeom prst="roundRect">
            <a:avLst>
              <a:gd name="adj" fmla="val 19048"/>
            </a:avLst>
          </a:prstGeom>
          <a:solidFill>
            <a:srgbClr val="86C99B"/>
          </a:solidFill>
          <a:ln w="12700">
            <a:solidFill>
              <a:srgbClr val="86C99B"/>
            </a:solidFill>
            <a:prstDash val="solid"/>
          </a:ln>
        </p:spPr>
      </p:sp>
      <p:sp>
        <p:nvSpPr>
          <p:cNvPr id="37" name="ovl_badge_t"/>
          <p:cNvSpPr txBox="1"/>
          <p:nvPr/>
        </p:nvSpPr>
        <p:spPr>
          <a:xfrm>
            <a:off x="3995928"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38" name="no_up1_0"/>
          <p:cNvSpPr txBox="1"/>
          <p:nvPr/>
        </p:nvSpPr>
        <p:spPr>
          <a:xfrm>
            <a:off x="440740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39" name="ovl_badge"/>
          <p:cNvSpPr/>
          <p:nvPr/>
        </p:nvSpPr>
        <p:spPr>
          <a:xfrm>
            <a:off x="4654296" y="1920240"/>
            <a:ext cx="384048" cy="384048"/>
          </a:xfrm>
          <a:prstGeom prst="roundRect">
            <a:avLst>
              <a:gd name="adj" fmla="val 19048"/>
            </a:avLst>
          </a:prstGeom>
          <a:solidFill>
            <a:srgbClr val="86C99B"/>
          </a:solidFill>
          <a:ln w="12700">
            <a:solidFill>
              <a:srgbClr val="86C99B"/>
            </a:solidFill>
            <a:prstDash val="solid"/>
          </a:ln>
        </p:spPr>
      </p:sp>
      <p:sp>
        <p:nvSpPr>
          <p:cNvPr id="40" name="ovl_badge_t"/>
          <p:cNvSpPr txBox="1"/>
          <p:nvPr/>
        </p:nvSpPr>
        <p:spPr>
          <a:xfrm>
            <a:off x="4654296" y="192024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41" name="no_up1_1"/>
          <p:cNvSpPr txBox="1"/>
          <p:nvPr/>
        </p:nvSpPr>
        <p:spPr>
          <a:xfrm>
            <a:off x="5065776" y="192024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13</a:t>
            </a:r>
            <a:endParaRPr lang="en-US" sz="950" dirty="0"/>
          </a:p>
        </p:txBody>
      </p:sp>
      <p:sp>
        <p:nvSpPr>
          <p:cNvPr id="42" name="h_up1"/>
          <p:cNvSpPr txBox="1"/>
          <p:nvPr/>
        </p:nvSpPr>
        <p:spPr>
          <a:xfrm>
            <a:off x="361188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前払い・長期リースの資金構造</a:t>
            </a:r>
            <a:endParaRPr lang="en-US" sz="1100" dirty="0"/>
          </a:p>
        </p:txBody>
      </p:sp>
      <p:sp>
        <p:nvSpPr>
          <p:cNvPr id="43" name="b_up1"/>
          <p:cNvSpPr txBox="1"/>
          <p:nvPr/>
        </p:nvSpPr>
        <p:spPr>
          <a:xfrm>
            <a:off x="361188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GPU の一部と建屋の資金を</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顧客・パートナーに移し、</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自己資金の負担を軽くして評価を支えた</a:t>
            </a:r>
            <a:endParaRPr lang="en-US" sz="950" dirty="0"/>
          </a:p>
        </p:txBody>
      </p:sp>
      <p:sp>
        <p:nvSpPr>
          <p:cNvPr id="44" name="ovl_card_up2"/>
          <p:cNvSpPr/>
          <p:nvPr/>
        </p:nvSpPr>
        <p:spPr>
          <a:xfrm>
            <a:off x="6583680" y="1828800"/>
            <a:ext cx="2834640" cy="1691640"/>
          </a:xfrm>
          <a:prstGeom prst="rect">
            <a:avLst/>
          </a:prstGeom>
          <a:solidFill>
            <a:srgbClr val="EAF4EE"/>
          </a:solidFill>
          <a:ln w="9525">
            <a:solidFill>
              <a:srgbClr val="86C99B"/>
            </a:solidFill>
            <a:prstDash val="solid"/>
          </a:ln>
        </p:spPr>
      </p:sp>
      <p:sp>
        <p:nvSpPr>
          <p:cNvPr id="45" name="cn_up2"/>
          <p:cNvSpPr txBox="1"/>
          <p:nvPr/>
        </p:nvSpPr>
        <p:spPr>
          <a:xfrm>
            <a:off x="6675120" y="192024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46" name="ovl_badge"/>
          <p:cNvSpPr/>
          <p:nvPr/>
        </p:nvSpPr>
        <p:spPr>
          <a:xfrm>
            <a:off x="7059168" y="1920240"/>
            <a:ext cx="384048" cy="384048"/>
          </a:xfrm>
          <a:prstGeom prst="roundRect">
            <a:avLst>
              <a:gd name="adj" fmla="val 19048"/>
            </a:avLst>
          </a:prstGeom>
          <a:solidFill>
            <a:srgbClr val="197A56"/>
          </a:solidFill>
          <a:ln w="12700">
            <a:solidFill>
              <a:srgbClr val="197A56"/>
            </a:solidFill>
            <a:prstDash val="solid"/>
          </a:ln>
        </p:spPr>
      </p:sp>
      <p:sp>
        <p:nvSpPr>
          <p:cNvPr id="47" name="ovl_badge_t"/>
          <p:cNvSpPr txBox="1"/>
          <p:nvPr/>
        </p:nvSpPr>
        <p:spPr>
          <a:xfrm>
            <a:off x="7059168"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A</a:t>
            </a:r>
            <a:endParaRPr lang="en-US" sz="1300" dirty="0"/>
          </a:p>
        </p:txBody>
      </p:sp>
      <p:sp>
        <p:nvSpPr>
          <p:cNvPr id="48" name="no_up2_0"/>
          <p:cNvSpPr txBox="1"/>
          <p:nvPr/>
        </p:nvSpPr>
        <p:spPr>
          <a:xfrm>
            <a:off x="7470648" y="192024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3</a:t>
            </a:r>
            <a:endParaRPr lang="en-US" sz="950" dirty="0"/>
          </a:p>
        </p:txBody>
      </p:sp>
      <p:sp>
        <p:nvSpPr>
          <p:cNvPr id="49" name="h_up2"/>
          <p:cNvSpPr txBox="1"/>
          <p:nvPr/>
        </p:nvSpPr>
        <p:spPr>
          <a:xfrm>
            <a:off x="6675120" y="235915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DB の AI 転用</a:t>
            </a:r>
            <a:endParaRPr lang="en-US" sz="1100" dirty="0"/>
          </a:p>
        </p:txBody>
      </p:sp>
      <p:sp>
        <p:nvSpPr>
          <p:cNvPr id="50" name="b_up2"/>
          <p:cNvSpPr txBox="1"/>
          <p:nvPr/>
        </p:nvSpPr>
        <p:spPr>
          <a:xfrm>
            <a:off x="6675120" y="267004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OCI と Database@ が増収の主因になり、転用の成果として評価を上げた</a:t>
            </a:r>
            <a:endParaRPr lang="en-US" sz="950" dirty="0"/>
          </a:p>
        </p:txBody>
      </p:sp>
      <p:sp>
        <p:nvSpPr>
          <p:cNvPr id="51" name="ovl_card_down0"/>
          <p:cNvSpPr/>
          <p:nvPr/>
        </p:nvSpPr>
        <p:spPr>
          <a:xfrm>
            <a:off x="457200" y="3977640"/>
            <a:ext cx="2834640" cy="1691640"/>
          </a:xfrm>
          <a:prstGeom prst="rect">
            <a:avLst/>
          </a:prstGeom>
          <a:solidFill>
            <a:srgbClr val="F2F2F2"/>
          </a:solidFill>
          <a:ln w="9525">
            <a:solidFill>
              <a:srgbClr val="C0392B"/>
            </a:solidFill>
            <a:prstDash val="solid"/>
          </a:ln>
        </p:spPr>
      </p:sp>
      <p:sp>
        <p:nvSpPr>
          <p:cNvPr id="52" name="cn_down0"/>
          <p:cNvSpPr txBox="1"/>
          <p:nvPr/>
        </p:nvSpPr>
        <p:spPr>
          <a:xfrm>
            <a:off x="54864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53" name="ovl_badge"/>
          <p:cNvSpPr/>
          <p:nvPr/>
        </p:nvSpPr>
        <p:spPr>
          <a:xfrm>
            <a:off x="932688" y="4069080"/>
            <a:ext cx="384048" cy="384048"/>
          </a:xfrm>
          <a:prstGeom prst="roundRect">
            <a:avLst>
              <a:gd name="adj" fmla="val 19048"/>
            </a:avLst>
          </a:prstGeom>
          <a:solidFill>
            <a:srgbClr val="D68910"/>
          </a:solidFill>
          <a:ln w="12700">
            <a:solidFill>
              <a:srgbClr val="D68910"/>
            </a:solidFill>
            <a:prstDash val="solid"/>
          </a:ln>
        </p:spPr>
      </p:sp>
      <p:sp>
        <p:nvSpPr>
          <p:cNvPr id="54" name="ovl_badge_t"/>
          <p:cNvSpPr txBox="1"/>
          <p:nvPr/>
        </p:nvSpPr>
        <p:spPr>
          <a:xfrm>
            <a:off x="93268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C</a:t>
            </a:r>
            <a:endParaRPr lang="en-US" sz="1300" dirty="0"/>
          </a:p>
        </p:txBody>
      </p:sp>
      <p:sp>
        <p:nvSpPr>
          <p:cNvPr id="55" name="no_down0_0"/>
          <p:cNvSpPr txBox="1"/>
          <p:nvPr/>
        </p:nvSpPr>
        <p:spPr>
          <a:xfrm>
            <a:off x="134416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8</a:t>
            </a:r>
            <a:endParaRPr lang="en-US" sz="950" dirty="0"/>
          </a:p>
        </p:txBody>
      </p:sp>
      <p:sp>
        <p:nvSpPr>
          <p:cNvPr id="56" name="h_down0"/>
          <p:cNvSpPr txBox="1"/>
          <p:nvPr/>
        </p:nvSpPr>
        <p:spPr>
          <a:xfrm>
            <a:off x="54864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容量の商品性</a:t>
            </a:r>
            <a:endParaRPr lang="en-US" sz="1100" dirty="0"/>
          </a:p>
        </p:txBody>
      </p:sp>
      <p:sp>
        <p:nvSpPr>
          <p:cNvPr id="57" name="b_down0"/>
          <p:cNvSpPr txBox="1"/>
          <p:nvPr/>
        </p:nvSpPr>
        <p:spPr>
          <a:xfrm>
            <a:off x="54864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価値の 41% が需給緩和後に限界供給者の損益分岐で値決めされ、評価を下げた</a:t>
            </a:r>
            <a:endParaRPr lang="en-US" sz="950" dirty="0"/>
          </a:p>
        </p:txBody>
      </p:sp>
      <p:sp>
        <p:nvSpPr>
          <p:cNvPr id="58" name="ovl_card_down1"/>
          <p:cNvSpPr/>
          <p:nvPr/>
        </p:nvSpPr>
        <p:spPr>
          <a:xfrm>
            <a:off x="3520440" y="3977640"/>
            <a:ext cx="2834640" cy="1691640"/>
          </a:xfrm>
          <a:prstGeom prst="rect">
            <a:avLst/>
          </a:prstGeom>
          <a:solidFill>
            <a:srgbClr val="F2F2F2"/>
          </a:solidFill>
          <a:ln w="9525">
            <a:solidFill>
              <a:srgbClr val="C0392B"/>
            </a:solidFill>
            <a:prstDash val="solid"/>
          </a:ln>
        </p:spPr>
      </p:sp>
      <p:sp>
        <p:nvSpPr>
          <p:cNvPr id="59" name="cn_down1"/>
          <p:cNvSpPr txBox="1"/>
          <p:nvPr/>
        </p:nvSpPr>
        <p:spPr>
          <a:xfrm>
            <a:off x="361188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0" name="ovl_badge"/>
          <p:cNvSpPr/>
          <p:nvPr/>
        </p:nvSpPr>
        <p:spPr>
          <a:xfrm>
            <a:off x="3995928" y="4069080"/>
            <a:ext cx="384048" cy="384048"/>
          </a:xfrm>
          <a:prstGeom prst="roundRect">
            <a:avLst>
              <a:gd name="adj" fmla="val 19048"/>
            </a:avLst>
          </a:prstGeom>
          <a:solidFill>
            <a:srgbClr val="D68910"/>
          </a:solidFill>
          <a:ln w="12700">
            <a:solidFill>
              <a:srgbClr val="D68910"/>
            </a:solidFill>
            <a:prstDash val="solid"/>
          </a:ln>
        </p:spPr>
      </p:sp>
      <p:sp>
        <p:nvSpPr>
          <p:cNvPr id="61" name="ovl_badge_t"/>
          <p:cNvSpPr txBox="1"/>
          <p:nvPr/>
        </p:nvSpPr>
        <p:spPr>
          <a:xfrm>
            <a:off x="399592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C</a:t>
            </a:r>
            <a:endParaRPr lang="en-US" sz="1300" dirty="0"/>
          </a:p>
        </p:txBody>
      </p:sp>
      <p:sp>
        <p:nvSpPr>
          <p:cNvPr id="62" name="no_down1_0"/>
          <p:cNvSpPr txBox="1"/>
          <p:nvPr/>
        </p:nvSpPr>
        <p:spPr>
          <a:xfrm>
            <a:off x="440740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7</a:t>
            </a:r>
            <a:endParaRPr lang="en-US" sz="950" dirty="0"/>
          </a:p>
        </p:txBody>
      </p:sp>
      <p:sp>
        <p:nvSpPr>
          <p:cNvPr id="63" name="h_down1"/>
          <p:cNvSpPr txBox="1"/>
          <p:nvPr/>
        </p:nvSpPr>
        <p:spPr>
          <a:xfrm>
            <a:off x="361188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OpenAI 集中と信用リスク</a:t>
            </a:r>
            <a:endParaRPr lang="en-US" sz="1100" dirty="0"/>
          </a:p>
        </p:txBody>
      </p:sp>
      <p:sp>
        <p:nvSpPr>
          <p:cNvPr id="64" name="b_down1"/>
          <p:cNvSpPr txBox="1"/>
          <p:nvPr/>
        </p:nvSpPr>
        <p:spPr>
          <a:xfrm>
            <a:off x="361188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受注残の約 45% が1社に集中し、</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CDS 277bp(10 月中旬に 300bp 前後)が示す信用リスクが安さの主因</a:t>
            </a:r>
            <a:endParaRPr lang="en-US" sz="950" dirty="0"/>
          </a:p>
        </p:txBody>
      </p:sp>
      <p:sp>
        <p:nvSpPr>
          <p:cNvPr id="65" name="ovl_card_down2"/>
          <p:cNvSpPr/>
          <p:nvPr/>
        </p:nvSpPr>
        <p:spPr>
          <a:xfrm>
            <a:off x="6583680" y="3977640"/>
            <a:ext cx="2834640" cy="1691640"/>
          </a:xfrm>
          <a:prstGeom prst="rect">
            <a:avLst/>
          </a:prstGeom>
          <a:solidFill>
            <a:srgbClr val="F2F2F2"/>
          </a:solidFill>
          <a:ln w="9525">
            <a:solidFill>
              <a:srgbClr val="C0392B"/>
            </a:solidFill>
            <a:prstDash val="solid"/>
          </a:ln>
        </p:spPr>
      </p:sp>
      <p:sp>
        <p:nvSpPr>
          <p:cNvPr id="66" name="cn_down2"/>
          <p:cNvSpPr txBox="1"/>
          <p:nvPr/>
        </p:nvSpPr>
        <p:spPr>
          <a:xfrm>
            <a:off x="6675120" y="4069080"/>
            <a:ext cx="365760" cy="384048"/>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a:t>
            </a:r>
            <a:endParaRPr lang="en-US" sz="950" dirty="0"/>
          </a:p>
        </p:txBody>
      </p:sp>
      <p:sp>
        <p:nvSpPr>
          <p:cNvPr id="67" name="ovl_badge"/>
          <p:cNvSpPr/>
          <p:nvPr/>
        </p:nvSpPr>
        <p:spPr>
          <a:xfrm>
            <a:off x="7059168" y="4069080"/>
            <a:ext cx="384048" cy="384048"/>
          </a:xfrm>
          <a:prstGeom prst="roundRect">
            <a:avLst>
              <a:gd name="adj" fmla="val 19048"/>
            </a:avLst>
          </a:prstGeom>
          <a:solidFill>
            <a:srgbClr val="86C99B"/>
          </a:solidFill>
          <a:ln w="12700">
            <a:solidFill>
              <a:srgbClr val="86C99B"/>
            </a:solidFill>
            <a:prstDash val="solid"/>
          </a:ln>
        </p:spPr>
      </p:sp>
      <p:sp>
        <p:nvSpPr>
          <p:cNvPr id="68" name="ovl_badge_t"/>
          <p:cNvSpPr txBox="1"/>
          <p:nvPr/>
        </p:nvSpPr>
        <p:spPr>
          <a:xfrm>
            <a:off x="7059168"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69" name="no_down2_0"/>
          <p:cNvSpPr txBox="1"/>
          <p:nvPr/>
        </p:nvSpPr>
        <p:spPr>
          <a:xfrm>
            <a:off x="7470648" y="4069080"/>
            <a:ext cx="192024"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2</a:t>
            </a:r>
            <a:endParaRPr lang="en-US" sz="950" dirty="0"/>
          </a:p>
        </p:txBody>
      </p:sp>
      <p:sp>
        <p:nvSpPr>
          <p:cNvPr id="70" name="ovl_badge"/>
          <p:cNvSpPr/>
          <p:nvPr/>
        </p:nvSpPr>
        <p:spPr>
          <a:xfrm>
            <a:off x="7717536" y="4069080"/>
            <a:ext cx="384048" cy="384048"/>
          </a:xfrm>
          <a:prstGeom prst="roundRect">
            <a:avLst>
              <a:gd name="adj" fmla="val 19048"/>
            </a:avLst>
          </a:prstGeom>
          <a:solidFill>
            <a:srgbClr val="86C99B"/>
          </a:solidFill>
          <a:ln w="12700">
            <a:solidFill>
              <a:srgbClr val="86C99B"/>
            </a:solidFill>
            <a:prstDash val="solid"/>
          </a:ln>
        </p:spPr>
      </p:sp>
      <p:sp>
        <p:nvSpPr>
          <p:cNvPr id="71" name="ovl_badge_t"/>
          <p:cNvSpPr txBox="1"/>
          <p:nvPr/>
        </p:nvSpPr>
        <p:spPr>
          <a:xfrm>
            <a:off x="7717536" y="4069080"/>
            <a:ext cx="384048" cy="384048"/>
          </a:xfrm>
          <a:prstGeom prst="rect">
            <a:avLst/>
          </a:prstGeom>
          <a:noFill/>
          <a:ln/>
        </p:spPr>
        <p:txBody>
          <a:bodyPr wrap="square" lIns="0" tIns="0" rIns="0" bIns="0" rtlCol="0" anchor="ctr"/>
          <a:lstStyle/>
          <a:p>
            <a:pPr algn="ctr" indent="0" marL="0">
              <a:buNone/>
            </a:pPr>
            <a:r>
              <a:rPr lang="en-US" sz="1300" b="1" dirty="0">
                <a:solidFill>
                  <a:srgbClr val="0E4D33"/>
                </a:solidFill>
                <a:latin typeface="Meiryo UI" pitchFamily="34" charset="0"/>
                <a:ea typeface="Meiryo UI" pitchFamily="34" charset="-122"/>
                <a:cs typeface="Meiryo UI" pitchFamily="34" charset="-120"/>
              </a:rPr>
              <a:t>B</a:t>
            </a:r>
            <a:endParaRPr lang="en-US" sz="1300" dirty="0"/>
          </a:p>
        </p:txBody>
      </p:sp>
      <p:sp>
        <p:nvSpPr>
          <p:cNvPr id="72" name="no_down2_1"/>
          <p:cNvSpPr txBox="1"/>
          <p:nvPr/>
        </p:nvSpPr>
        <p:spPr>
          <a:xfrm>
            <a:off x="8129016" y="4069080"/>
            <a:ext cx="274320" cy="384048"/>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11</a:t>
            </a:r>
            <a:endParaRPr lang="en-US" sz="950" dirty="0"/>
          </a:p>
        </p:txBody>
      </p:sp>
      <p:sp>
        <p:nvSpPr>
          <p:cNvPr id="73" name="h_down2"/>
          <p:cNvSpPr txBox="1"/>
          <p:nvPr/>
        </p:nvSpPr>
        <p:spPr>
          <a:xfrm>
            <a:off x="6675120" y="4507992"/>
            <a:ext cx="2651760" cy="274320"/>
          </a:xfrm>
          <a:prstGeom prst="rect">
            <a:avLst/>
          </a:prstGeom>
          <a:noFill/>
          <a:ln/>
        </p:spPr>
        <p:txBody>
          <a:bodyPr wrap="square" lIns="0" tIns="0" rIns="0" bIns="0"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長期リースの固定費</a:t>
            </a:r>
            <a:endParaRPr lang="en-US" sz="1100" dirty="0"/>
          </a:p>
        </p:txBody>
      </p:sp>
      <p:sp>
        <p:nvSpPr>
          <p:cNvPr id="74" name="b_down2"/>
          <p:cNvSpPr txBox="1"/>
          <p:nvPr/>
        </p:nvSpPr>
        <p:spPr>
          <a:xfrm>
            <a:off x="6675120" y="4818888"/>
            <a:ext cx="2651760" cy="777240"/>
          </a:xfrm>
          <a:prstGeom prst="rect">
            <a:avLst/>
          </a:prstGeom>
          <a:noFill/>
          <a:ln/>
        </p:spPr>
        <p:txBody>
          <a:bodyPr wrap="square" lIns="0" tIns="0" rIns="0" bIns="0"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需要が鈍れば 15〜19 年の賃料が</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空室のまま残り、資金構造の利点の</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裏返しとして評価を抑えた</a:t>
            </a:r>
            <a:endParaRPr lang="en-US" sz="950" dirty="0"/>
          </a:p>
        </p:txBody>
      </p:sp>
      <p:sp>
        <p:nvSpPr>
          <p:cNvPr id="75" name="ovl_band"/>
          <p:cNvSpPr/>
          <p:nvPr/>
        </p:nvSpPr>
        <p:spPr>
          <a:xfrm>
            <a:off x="9829800" y="1828800"/>
            <a:ext cx="1901952" cy="3840480"/>
          </a:xfrm>
          <a:prstGeom prst="rect">
            <a:avLst/>
          </a:prstGeom>
          <a:solidFill>
            <a:srgbClr val="0E4D33"/>
          </a:solidFill>
          <a:ln w="9525">
            <a:solidFill>
              <a:srgbClr val="0E4D33"/>
            </a:solidFill>
            <a:prstDash val="solid"/>
          </a:ln>
        </p:spPr>
      </p:sp>
      <p:sp>
        <p:nvSpPr>
          <p:cNvPr id="76" name="ovl_badge"/>
          <p:cNvSpPr/>
          <p:nvPr/>
        </p:nvSpPr>
        <p:spPr>
          <a:xfrm>
            <a:off x="10140696" y="2880360"/>
            <a:ext cx="1280160" cy="1280160"/>
          </a:xfrm>
          <a:prstGeom prst="roundRect">
            <a:avLst>
              <a:gd name="adj" fmla="val 5714"/>
            </a:avLst>
          </a:prstGeom>
          <a:solidFill>
            <a:srgbClr val="86C99B"/>
          </a:solidFill>
          <a:ln w="12700">
            <a:solidFill>
              <a:srgbClr val="86C99B"/>
            </a:solidFill>
            <a:prstDash val="solid"/>
          </a:ln>
        </p:spPr>
      </p:sp>
      <p:sp>
        <p:nvSpPr>
          <p:cNvPr id="77" name="ovl_badge_t"/>
          <p:cNvSpPr txBox="1"/>
          <p:nvPr/>
        </p:nvSpPr>
        <p:spPr>
          <a:xfrm>
            <a:off x="10140696" y="2880360"/>
            <a:ext cx="1280160" cy="1280160"/>
          </a:xfrm>
          <a:prstGeom prst="rect">
            <a:avLst/>
          </a:prstGeom>
          <a:noFill/>
          <a:ln/>
        </p:spPr>
        <p:txBody>
          <a:bodyPr wrap="square" lIns="0" tIns="0" rIns="0" bIns="0" rtlCol="0" anchor="ctr"/>
          <a:lstStyle/>
          <a:p>
            <a:pPr algn="ctr" indent="0" marL="0">
              <a:buNone/>
            </a:pPr>
            <a:r>
              <a:rPr lang="en-US" sz="4200" b="1" dirty="0">
                <a:solidFill>
                  <a:srgbClr val="0E4D33"/>
                </a:solidFill>
                <a:latin typeface="Meiryo UI" pitchFamily="34" charset="0"/>
                <a:ea typeface="Meiryo UI" pitchFamily="34" charset="-122"/>
                <a:cs typeface="Meiryo UI" pitchFamily="34" charset="-120"/>
              </a:rPr>
              <a:t>B</a:t>
            </a:r>
            <a:endParaRPr lang="en-US" sz="4200" dirty="0"/>
          </a:p>
        </p:txBody>
      </p:sp>
      <p:sp>
        <p:nvSpPr>
          <p:cNvPr id="78" name="band_label"/>
          <p:cNvSpPr txBox="1"/>
          <p:nvPr/>
        </p:nvSpPr>
        <p:spPr>
          <a:xfrm>
            <a:off x="9829800" y="4297680"/>
            <a:ext cx="19019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構造評価</a:t>
            </a:r>
            <a:endParaRPr lang="en-US" sz="1400" dirty="0"/>
          </a:p>
        </p:txBody>
      </p:sp>
      <p:sp>
        <p:nvSpPr>
          <p:cNvPr id="79" name="ovl_arrow"/>
          <p:cNvSpPr/>
          <p:nvPr/>
        </p:nvSpPr>
        <p:spPr>
          <a:xfrm>
            <a:off x="9418320" y="2674620"/>
            <a:ext cx="411480" cy="914"/>
          </a:xfrm>
          <a:prstGeom prst="line">
            <a:avLst/>
          </a:prstGeom>
          <a:noFill/>
          <a:ln w="12700">
            <a:solidFill>
              <a:srgbClr val="197A56"/>
            </a:solidFill>
            <a:prstDash val="solid"/>
            <a:tailEnd type="triangle"/>
          </a:ln>
        </p:spPr>
      </p:sp>
      <p:sp>
        <p:nvSpPr>
          <p:cNvPr id="80" name="ovl_arrow"/>
          <p:cNvSpPr/>
          <p:nvPr/>
        </p:nvSpPr>
        <p:spPr>
          <a:xfrm>
            <a:off x="9418320" y="4823460"/>
            <a:ext cx="411480" cy="914"/>
          </a:xfrm>
          <a:prstGeom prst="line">
            <a:avLst/>
          </a:prstGeom>
          <a:noFill/>
          <a:ln w="12700">
            <a:solidFill>
              <a:srgbClr val="C0392B"/>
            </a:solidFill>
            <a:prstDash val="solid"/>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197A56"/>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事業・需給・成長</a:t>
            </a:r>
            <a:endParaRPr lang="en-US" sz="1800" dirty="0"/>
          </a:p>
        </p:txBody>
      </p:sp>
      <p:sp>
        <p:nvSpPr>
          <p:cNvPr id="10" name="bg_agenda_why1"/>
          <p:cNvSpPr txBox="1"/>
          <p:nvPr/>
        </p:nvSpPr>
        <p:spPr>
          <a:xfrm>
            <a:off x="1417320" y="3081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何で稼ぎ、会社がどんな筋書きを描き、</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需要・供給・資金がそれを支えるかを確かめる。価値評価の前提になる</a:t>
            </a:r>
            <a:endParaRPr lang="en-US" sz="1050" dirty="0"/>
          </a:p>
        </p:txBody>
      </p:sp>
      <p:sp>
        <p:nvSpPr>
          <p:cNvPr id="11"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2"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3"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第2章の構成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2-1  事業理解</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p.8–10</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2-2  会社のシナリオ</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p.11–13</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2-3  収益構造</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p.14–16</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2-4  競争優位</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p.17</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2-5  需給</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p.18</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2-6  成長の前提</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p.19–20</a:t>
            </a:r>
            <a:endParaRPr lang="en-US" sz="1050" dirty="0"/>
          </a:p>
        </p:txBody>
      </p:sp>
      <p:sp>
        <p:nvSpPr>
          <p:cNvPr id="31" name="bg_agenda_s6"/>
          <p:cNvSpPr txBox="1"/>
          <p:nvPr/>
        </p:nvSpPr>
        <p:spPr>
          <a:xfrm>
            <a:off x="7818120" y="4663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2-7  資金と信用</a:t>
            </a:r>
            <a:endParaRPr lang="en-US" sz="1250" dirty="0"/>
          </a:p>
        </p:txBody>
      </p:sp>
      <p:sp>
        <p:nvSpPr>
          <p:cNvPr id="32" name="bg_agenda_p6"/>
          <p:cNvSpPr txBox="1"/>
          <p:nvPr/>
        </p:nvSpPr>
        <p:spPr>
          <a:xfrm>
            <a:off x="10881360" y="4663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p.21–22</a:t>
            </a:r>
            <a:endParaRPr lang="en-US" sz="1050" dirty="0"/>
          </a:p>
        </p:txBody>
      </p:sp>
      <p:sp>
        <p:nvSpPr>
          <p:cNvPr id="33"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Oracle が何を誰にどう売るかを押さえる。以降の分析はすべてこの区分の上に立つ</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Oracle は DB を土台に、業務アプリ・クラウド・AI 容量を重ねて売る。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利益は DB 保守、成長は AI 容量が担う</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事業の積み木(どの層を、どこで売るか)。右: 8 群の 5W1H 台帳。下: この資料で使う用語の注釈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§2-0(会社開示・10-Q・価格表の第三者集計)、research2/R4_database_at.md。Q1 FY27 = 2026 年 6〜8 月</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8</a:t>
            </a:r>
            <a:endParaRPr lang="en-US" sz="800" dirty="0"/>
          </a:p>
        </p:txBody>
      </p:sp>
      <p:sp>
        <p:nvSpPr>
          <p:cNvPr id="19" name="pane_head"/>
          <p:cNvSpPr txBox="1"/>
          <p:nvPr/>
        </p:nvSpPr>
        <p:spPr>
          <a:xfrm>
            <a:off x="457200" y="1481328"/>
            <a:ext cx="406908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事業の積み木(層 × 動く場所)</a:t>
            </a:r>
            <a:endParaRPr lang="en-US" sz="1200" dirty="0"/>
          </a:p>
        </p:txBody>
      </p:sp>
      <p:sp>
        <p:nvSpPr>
          <p:cNvPr id="20" name="blk_colh0"/>
          <p:cNvSpPr txBox="1"/>
          <p:nvPr/>
        </p:nvSpPr>
        <p:spPr>
          <a:xfrm>
            <a:off x="137160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顧客の DC</a:t>
            </a:r>
            <a:endParaRPr lang="en-US" sz="900" dirty="0"/>
          </a:p>
        </p:txBody>
      </p:sp>
      <p:sp>
        <p:nvSpPr>
          <p:cNvPr id="21" name="blk_colh1"/>
          <p:cNvSpPr txBox="1"/>
          <p:nvPr/>
        </p:nvSpPr>
        <p:spPr>
          <a:xfrm>
            <a:off x="242316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OCI</a:t>
            </a:r>
            <a:endParaRPr lang="en-US" sz="900" dirty="0"/>
          </a:p>
        </p:txBody>
      </p:sp>
      <p:sp>
        <p:nvSpPr>
          <p:cNvPr id="22" name="blk_colh2"/>
          <p:cNvSpPr txBox="1"/>
          <p:nvPr/>
        </p:nvSpPr>
        <p:spPr>
          <a:xfrm>
            <a:off x="3474720" y="1810512"/>
            <a:ext cx="1005840" cy="237744"/>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他社クラウド</a:t>
            </a:r>
            <a:endParaRPr lang="en-US" sz="900" dirty="0"/>
          </a:p>
        </p:txBody>
      </p:sp>
      <p:sp>
        <p:nvSpPr>
          <p:cNvPr id="23" name="blk_rowh0"/>
          <p:cNvSpPr txBox="1"/>
          <p:nvPr/>
        </p:nvSpPr>
        <p:spPr>
          <a:xfrm>
            <a:off x="457200" y="210312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アプリ</a:t>
            </a:r>
            <a:endParaRPr lang="en-US" sz="900" dirty="0"/>
          </a:p>
        </p:txBody>
      </p:sp>
      <p:sp>
        <p:nvSpPr>
          <p:cNvPr id="24" name="blk_rowh1"/>
          <p:cNvSpPr txBox="1"/>
          <p:nvPr/>
        </p:nvSpPr>
        <p:spPr>
          <a:xfrm>
            <a:off x="457200" y="283464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データ(DB)</a:t>
            </a:r>
            <a:endParaRPr lang="en-US" sz="900" dirty="0"/>
          </a:p>
        </p:txBody>
      </p:sp>
      <p:sp>
        <p:nvSpPr>
          <p:cNvPr id="25" name="blk_rowh2"/>
          <p:cNvSpPr txBox="1"/>
          <p:nvPr/>
        </p:nvSpPr>
        <p:spPr>
          <a:xfrm>
            <a:off x="457200" y="3566160"/>
            <a:ext cx="868680" cy="65836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インフラ</a:t>
            </a:r>
            <a:endParaRPr lang="en-US" sz="900" dirty="0"/>
          </a:p>
        </p:txBody>
      </p:sp>
      <p:sp>
        <p:nvSpPr>
          <p:cNvPr id="26" name="blk_rowh3"/>
          <p:cNvSpPr txBox="1"/>
          <p:nvPr/>
        </p:nvSpPr>
        <p:spPr>
          <a:xfrm>
            <a:off x="457200" y="4297680"/>
            <a:ext cx="868680" cy="384048"/>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土台</a:t>
            </a:r>
            <a:endParaRPr lang="en-US" sz="900" dirty="0"/>
          </a:p>
        </p:txBody>
      </p:sp>
      <p:sp>
        <p:nvSpPr>
          <p:cNvPr id="27" name="blk_c00"/>
          <p:cNvSpPr/>
          <p:nvPr/>
        </p:nvSpPr>
        <p:spPr>
          <a:xfrm>
            <a:off x="137160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旧来の業務アプリ</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(E-Business ほか)</a:t>
            </a:r>
            <a:endParaRPr lang="en-US" sz="850" dirty="0"/>
          </a:p>
        </p:txBody>
      </p:sp>
      <p:sp>
        <p:nvSpPr>
          <p:cNvPr id="28" name="blk_c01"/>
          <p:cNvSpPr/>
          <p:nvPr/>
        </p:nvSpPr>
        <p:spPr>
          <a:xfrm>
            <a:off x="2423160" y="2103120"/>
            <a:ext cx="1005840" cy="658368"/>
          </a:xfrm>
          <a:prstGeom prst="roundRect">
            <a:avLst>
              <a:gd name="adj" fmla="val 8333"/>
            </a:avLst>
          </a:prstGeom>
          <a:solidFill>
            <a:srgbClr val="EAF4EE"/>
          </a:solidFill>
          <a:ln w="9525">
            <a:solidFill>
              <a:srgbClr val="86C99B"/>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(SaaS)</a:t>
            </a:r>
            <a:endParaRPr lang="en-US" sz="850" dirty="0"/>
          </a:p>
        </p:txBody>
      </p:sp>
      <p:sp>
        <p:nvSpPr>
          <p:cNvPr id="29" name="blk_c02"/>
          <p:cNvSpPr/>
          <p:nvPr/>
        </p:nvSpPr>
        <p:spPr>
          <a:xfrm>
            <a:off x="3474720" y="210312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0" name="blk_c10"/>
          <p:cNvSpPr/>
          <p:nvPr/>
        </p:nvSpPr>
        <p:spPr>
          <a:xfrm>
            <a:off x="137160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DB ライセンス・</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保守・Exadata</a:t>
            </a:r>
            <a:endParaRPr lang="en-US" sz="850" dirty="0"/>
          </a:p>
        </p:txBody>
      </p:sp>
      <p:sp>
        <p:nvSpPr>
          <p:cNvPr id="31" name="blk_c11"/>
          <p:cNvSpPr/>
          <p:nvPr/>
        </p:nvSpPr>
        <p:spPr>
          <a:xfrm>
            <a:off x="242316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Autonomous</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Database 26ai</a:t>
            </a:r>
            <a:endParaRPr lang="en-US" sz="850" dirty="0"/>
          </a:p>
        </p:txBody>
      </p:sp>
      <p:sp>
        <p:nvSpPr>
          <p:cNvPr id="32" name="blk_c12"/>
          <p:cNvSpPr/>
          <p:nvPr/>
        </p:nvSpPr>
        <p:spPr>
          <a:xfrm>
            <a:off x="3474720" y="2834640"/>
            <a:ext cx="1005840" cy="658368"/>
          </a:xfrm>
          <a:prstGeom prst="roundRect">
            <a:avLst>
              <a:gd name="adj" fmla="val 8333"/>
            </a:avLst>
          </a:prstGeom>
          <a:solidFill>
            <a:srgbClr val="0E4D33"/>
          </a:solidFill>
          <a:ln w="9525">
            <a:solidFill>
              <a:srgbClr val="0E4D33"/>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Database@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(AWS・Azure・</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Google)</a:t>
            </a:r>
            <a:endParaRPr lang="en-US" sz="850" dirty="0"/>
          </a:p>
        </p:txBody>
      </p:sp>
      <p:sp>
        <p:nvSpPr>
          <p:cNvPr id="33" name="blk_c20"/>
          <p:cNvSpPr/>
          <p:nvPr/>
        </p:nvSpPr>
        <p:spPr>
          <a:xfrm>
            <a:off x="137160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Cloud@Customer</a:t>
            </a:r>
            <a:endParaRPr lang="en-US" sz="850" dirty="0"/>
          </a:p>
        </p:txBody>
      </p:sp>
      <p:sp>
        <p:nvSpPr>
          <p:cNvPr id="34" name="blk_c21"/>
          <p:cNvSpPr/>
          <p:nvPr/>
        </p:nvSpPr>
        <p:spPr>
          <a:xfrm>
            <a:off x="2423160" y="3566160"/>
            <a:ext cx="1005840" cy="658368"/>
          </a:xfrm>
          <a:prstGeom prst="roundRect">
            <a:avLst>
              <a:gd name="adj" fmla="val 8333"/>
            </a:avLst>
          </a:prstGeom>
          <a:solidFill>
            <a:srgbClr val="197A56"/>
          </a:solidFill>
          <a:ln w="9525">
            <a:solidFill>
              <a:srgbClr val="197A56"/>
            </a:solidFill>
          </a:ln>
        </p:spPr>
        <p:txBody>
          <a:bodyPr wrap="square" lIns="254" tIns="254" rIns="254" bIns="254" rtlCol="0" anchor="ctr"/>
          <a:lstStyle/>
          <a:p>
            <a:pPr algn="ctr" indent="0" marL="0">
              <a:buNone/>
            </a:pPr>
            <a:r>
              <a:rPr lang="en-US" sz="850" dirty="0">
                <a:solidFill>
                  <a:srgbClr val="FFFFFF"/>
                </a:solidFill>
                <a:latin typeface="Meiryo UI" pitchFamily="34" charset="0"/>
                <a:ea typeface="Meiryo UI" pitchFamily="34" charset="-122"/>
                <a:cs typeface="Meiryo UI" pitchFamily="34" charset="-120"/>
              </a:rPr>
              <a:t>OCI 一般・主権</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AI 容量(GPU)</a:t>
            </a:r>
            <a:endParaRPr lang="en-US" sz="850" dirty="0"/>
          </a:p>
        </p:txBody>
      </p:sp>
      <p:sp>
        <p:nvSpPr>
          <p:cNvPr id="35" name="blk_c22"/>
          <p:cNvSpPr/>
          <p:nvPr/>
        </p:nvSpPr>
        <p:spPr>
          <a:xfrm>
            <a:off x="3474720" y="3566160"/>
            <a:ext cx="1005840" cy="658368"/>
          </a:xfrm>
          <a:prstGeom prst="roundRect">
            <a:avLst>
              <a:gd name="adj" fmla="val 8333"/>
            </a:avLst>
          </a:prstGeom>
          <a:solidFill>
            <a:srgbClr val="F2F2F2"/>
          </a:solidFill>
          <a:ln w="9525">
            <a:solidFill>
              <a:srgbClr val="F2F2F2"/>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a:t>
            </a:r>
            <a:endParaRPr lang="en-US" sz="850" dirty="0"/>
          </a:p>
        </p:txBody>
      </p:sp>
      <p:sp>
        <p:nvSpPr>
          <p:cNvPr id="36" name="blk_base"/>
          <p:cNvSpPr/>
          <p:nvPr/>
        </p:nvSpPr>
        <p:spPr>
          <a:xfrm>
            <a:off x="1371600" y="4297680"/>
            <a:ext cx="3108960" cy="384048"/>
          </a:xfrm>
          <a:prstGeom prst="roundRect">
            <a:avLst>
              <a:gd name="adj" fmla="val 14286"/>
            </a:avLst>
          </a:prstGeom>
          <a:solidFill>
            <a:srgbClr val="F2F2F2"/>
          </a:solidFill>
          <a:ln w="9525">
            <a:solidFill>
              <a:srgbClr val="D9D9D9"/>
            </a:solidFill>
          </a:ln>
        </p:spPr>
        <p:txBody>
          <a:bodyPr wrap="square" lIns="508" tIns="508" rIns="508" bIns="508"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電力付きの建屋(開発事業者が建てて 15〜19 年で貸す)</a:t>
            </a:r>
            <a:endParaRPr lang="en-US" sz="850" dirty="0"/>
          </a:p>
        </p:txBody>
      </p:sp>
      <p:sp>
        <p:nvSpPr>
          <p:cNvPr id="37" name="blk_legend"/>
          <p:cNvSpPr txBox="1"/>
          <p:nvPr/>
        </p:nvSpPr>
        <p:spPr>
          <a:xfrm>
            <a:off x="457200" y="4754880"/>
            <a:ext cx="4069080" cy="292608"/>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濃緑 = 利益の柱、緑 = 成長、薄緑 = 上積み</a:t>
            </a:r>
            <a:endParaRPr lang="en-US" sz="850" dirty="0"/>
          </a:p>
        </p:txBody>
      </p:sp>
      <p:sp>
        <p:nvSpPr>
          <p:cNvPr id="38" name="pane_head"/>
          <p:cNvSpPr txBox="1"/>
          <p:nvPr/>
        </p:nvSpPr>
        <p:spPr>
          <a:xfrm>
            <a:off x="4709160" y="1481328"/>
            <a:ext cx="702259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8 群の 5W1H 台帳(売上は Q1 FY27 の報告区分)</a:t>
            </a:r>
            <a:endParaRPr lang="en-US" sz="1200" dirty="0"/>
          </a:p>
        </p:txBody>
      </p:sp>
      <p:graphicFrame>
        <p:nvGraphicFramePr>
          <p:cNvPr id="9" name="tbl"/>
          <p:cNvGraphicFramePr>
            <a:graphicFrameLocks noGrp="1"/>
          </p:cNvGraphicFramePr>
          <p:nvPr>
            <p:extLst>
              <p:ext uri="{D42A27DB-BD31-4B8C-83A1-F6EECF244321}">
                <p14:modId xmlns:p14="http://schemas.microsoft.com/office/powerpoint/2010/main" val="1579011935"/>
              </p:ext>
            </p:extLst>
          </p:nvPr>
        </p:nvGraphicFramePr>
        <p:xfrm>
          <a:off x="4709160" y="1810512"/>
          <a:ext cx="7022592" cy="914400"/>
        </p:xfrm>
        <a:graphic>
          <a:graphicData uri="http://schemas.openxmlformats.org/drawingml/2006/table">
            <a:tbl>
              <a:tblPr/>
              <a:tblGrid>
                <a:gridCol w="1417320"/>
                <a:gridCol w="1600200"/>
                <a:gridCol w="2103120"/>
                <a:gridCol w="1188720"/>
                <a:gridCol w="713232"/>
              </a:tblGrid>
              <a:tr h="365760">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群</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誰が買う</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何を・どう課金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売上(前年比)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役割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ライセンス・保守</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(Java・旧来アプリ含む)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既存の大企業・官公庁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は全業種</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DB はプロセッサ単位 + 保守は年 22%</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Java は従業員数 × 月額</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Software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55.5 億ドル(−3%)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E4D33"/>
                          </a:solidFill>
                          <a:latin typeface="Meiryo UI" pitchFamily="34" charset="0"/>
                          <a:ea typeface="Meiryo UI" pitchFamily="34" charset="-122"/>
                          <a:cs typeface="Meiryo UI" pitchFamily="34" charset="-120"/>
                        </a:rPr>
                        <a:t>利益の柱</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OCI 一般・主権クラウド</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企業全般。主権は NRI・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富士通・中東の通信会社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計算・保存・通信の従量課金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主権は最低 5 年のコミット</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 74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(+121%、AI 含む)</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容量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OpenAI・xAI・Meta など</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研究所</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時間(H100 定価 10 ドル/時)</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例: 6 年 600 億ドル。更新 +20%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IaaS 区分に含む</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(単独は非開示)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成長の主因</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Oracle DB を他社クラウドで</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使う企業(顧客数 +180%)</a:t>
                      </a:r>
                      <a:endParaRPr lang="en-US" sz="850" dirty="0">
                        <a:latin typeface="Meiryo UI" charset="0"/>
                        <a:ea typeface="Meiryo UI" charset="0"/>
                        <a:cs typeface="Meiryo UI" charset="0"/>
                      </a:endParaRPr>
                    </a:p>
                  </a:txBody>
                  <a:tcPr marL="54864" marR="0"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他社の DC 内で Exadata・</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Autonomous を稼働。ECPU 時間課金</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+353%</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Autonomous・Exadata</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大規模な Oracle DB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既存顧客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ECPU 時間で課金</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Cloud@Customer は 4 年のサブスク</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Hardware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8 億ドル(+15%)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DB の器</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大企業(Fusion)</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中堅(NetSuite)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従業員数・ユーザー数 × 月額</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AI エージェントは追加料金なし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SaaS 区分</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latin typeface="Meiryo UI" charset="0"/>
                        <a:ea typeface="Meiryo UI" charset="0"/>
                        <a:cs typeface="Meiryo UI" charset="0"/>
                      </a:endParaRPr>
                    </a:p>
                    <a:p>
                      <a:pPr algn="ctr" indent="0" marL="0">
                        <a:buNone/>
                      </a:pPr>
                      <a:r>
                        <a:rPr lang="en-US" sz="850" dirty="0">
                          <a:solidFill>
                            <a:srgbClr val="1BA1A6"/>
                          </a:solidFill>
                          <a:latin typeface="Meiryo UI" pitchFamily="34" charset="0"/>
                          <a:ea typeface="Meiryo UI" pitchFamily="34" charset="-122"/>
                          <a:cs typeface="Meiryo UI" pitchFamily="34" charset="-120"/>
                        </a:rPr>
                        <a:t>(加速候補)</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業種別・Oracle Health</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病院・退役軍人省</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ホテル・銀行・小売</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契約ごと</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電子カルテは上限額方式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業種別 +20% 超</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(額は非開示)</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選択的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サービス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Fusion・OCI・Health の</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導入顧客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導入・移行・運用支援</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工数・固定額</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14.1 億ドル</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(+4.8%)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付随</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0" name="pane_head"/>
          <p:cNvSpPr txBox="1"/>
          <p:nvPr/>
        </p:nvSpPr>
        <p:spPr>
          <a:xfrm>
            <a:off x="457200" y="5102352"/>
            <a:ext cx="112745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用語の注釈(この資料に出てくる順)</a:t>
            </a:r>
            <a:endParaRPr lang="en-US" sz="1200" dirty="0"/>
          </a:p>
        </p:txBody>
      </p:sp>
      <p:sp>
        <p:nvSpPr>
          <p:cNvPr id="41" name="note_0"/>
          <p:cNvSpPr txBox="1"/>
          <p:nvPr/>
        </p:nvSpPr>
        <p:spPr>
          <a:xfrm>
            <a:off x="45720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OCI</a:t>
            </a:r>
            <a:r>
              <a:rPr lang="en-US" sz="850" dirty="0">
                <a:solidFill>
                  <a:srgbClr val="333333"/>
                </a:solidFill>
                <a:latin typeface="Meiryo UI" pitchFamily="34" charset="0"/>
                <a:ea typeface="Meiryo UI" pitchFamily="34" charset="-122"/>
                <a:cs typeface="Meiryo UI" pitchFamily="34" charset="-120"/>
              </a:rPr>
              <a:t> — Oracle のクラウド。計算・保存・通信を従量で貸す</a:t>
            </a:r>
            <a:endParaRPr lang="en-US" sz="850" dirty="0"/>
          </a:p>
        </p:txBody>
      </p:sp>
      <p:sp>
        <p:nvSpPr>
          <p:cNvPr id="42" name="note_1"/>
          <p:cNvSpPr txBox="1"/>
          <p:nvPr/>
        </p:nvSpPr>
        <p:spPr>
          <a:xfrm>
            <a:off x="45720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a:t>
            </a:r>
            <a:r>
              <a:rPr lang="en-US" sz="850" dirty="0">
                <a:solidFill>
                  <a:srgbClr val="333333"/>
                </a:solidFill>
                <a:latin typeface="Meiryo UI" pitchFamily="34" charset="0"/>
                <a:ea typeface="Meiryo UI" pitchFamily="34" charset="-122"/>
                <a:cs typeface="Meiryo UI" pitchFamily="34" charset="-120"/>
              </a:rPr>
              <a:t> — AI 用の GPU 計算力の貸出。OCI の一部</a:t>
            </a:r>
            <a:endParaRPr lang="en-US" sz="850" dirty="0"/>
          </a:p>
        </p:txBody>
      </p:sp>
      <p:sp>
        <p:nvSpPr>
          <p:cNvPr id="43" name="note_2"/>
          <p:cNvSpPr txBox="1"/>
          <p:nvPr/>
        </p:nvSpPr>
        <p:spPr>
          <a:xfrm>
            <a:off x="45720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GW(ギガワット)</a:t>
            </a:r>
            <a:r>
              <a:rPr lang="en-US" sz="850" dirty="0">
                <a:solidFill>
                  <a:srgbClr val="333333"/>
                </a:solidFill>
                <a:latin typeface="Meiryo UI" pitchFamily="34" charset="0"/>
                <a:ea typeface="Meiryo UI" pitchFamily="34" charset="-122"/>
                <a:cs typeface="Meiryo UI" pitchFamily="34" charset="-120"/>
              </a:rPr>
              <a:t> — データセンターの電力容量。AI 容量の規模の単位</a:t>
            </a:r>
            <a:endParaRPr lang="en-US" sz="850" dirty="0"/>
          </a:p>
        </p:txBody>
      </p:sp>
      <p:sp>
        <p:nvSpPr>
          <p:cNvPr id="44" name="note_3"/>
          <p:cNvSpPr txBox="1"/>
          <p:nvPr/>
        </p:nvSpPr>
        <p:spPr>
          <a:xfrm>
            <a:off x="45720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受注残(RPO)</a:t>
            </a:r>
            <a:r>
              <a:rPr lang="en-US" sz="850" dirty="0">
                <a:solidFill>
                  <a:srgbClr val="333333"/>
                </a:solidFill>
                <a:latin typeface="Meiryo UI" pitchFamily="34" charset="0"/>
                <a:ea typeface="Meiryo UI" pitchFamily="34" charset="-122"/>
                <a:cs typeface="Meiryo UI" pitchFamily="34" charset="-120"/>
              </a:rPr>
              <a:t> — 契約済みでまだ売上にしていない額。6,640 億ドル</a:t>
            </a:r>
            <a:endParaRPr lang="en-US" sz="850" dirty="0"/>
          </a:p>
        </p:txBody>
      </p:sp>
      <p:sp>
        <p:nvSpPr>
          <p:cNvPr id="45" name="note_4"/>
          <p:cNvSpPr txBox="1"/>
          <p:nvPr/>
        </p:nvSpPr>
        <p:spPr>
          <a:xfrm>
            <a:off x="425196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Database@</a:t>
            </a:r>
            <a:r>
              <a:rPr lang="en-US" sz="850" dirty="0">
                <a:solidFill>
                  <a:srgbClr val="333333"/>
                </a:solidFill>
                <a:latin typeface="Meiryo UI" pitchFamily="34" charset="0"/>
                <a:ea typeface="Meiryo UI" pitchFamily="34" charset="-122"/>
                <a:cs typeface="Meiryo UI" pitchFamily="34" charset="-120"/>
              </a:rPr>
              <a:t> — 他社クラウドの DC 内で動く Oracle DB</a:t>
            </a:r>
            <a:endParaRPr lang="en-US" sz="850" dirty="0"/>
          </a:p>
        </p:txBody>
      </p:sp>
      <p:sp>
        <p:nvSpPr>
          <p:cNvPr id="46" name="note_5"/>
          <p:cNvSpPr txBox="1"/>
          <p:nvPr/>
        </p:nvSpPr>
        <p:spPr>
          <a:xfrm>
            <a:off x="425196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Exadata・Autonomous</a:t>
            </a:r>
            <a:r>
              <a:rPr lang="en-US" sz="850" dirty="0">
                <a:solidFill>
                  <a:srgbClr val="333333"/>
                </a:solidFill>
                <a:latin typeface="Meiryo UI" pitchFamily="34" charset="0"/>
                <a:ea typeface="Meiryo UI" pitchFamily="34" charset="-122"/>
                <a:cs typeface="Meiryo UI" pitchFamily="34" charset="-120"/>
              </a:rPr>
              <a:t> — DB 専用の機械と、運用を自動化した DB</a:t>
            </a:r>
            <a:endParaRPr lang="en-US" sz="850" dirty="0"/>
          </a:p>
        </p:txBody>
      </p:sp>
      <p:sp>
        <p:nvSpPr>
          <p:cNvPr id="47" name="note_6"/>
          <p:cNvSpPr txBox="1"/>
          <p:nvPr/>
        </p:nvSpPr>
        <p:spPr>
          <a:xfrm>
            <a:off x="425196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Database 26ai</a:t>
            </a:r>
            <a:r>
              <a:rPr lang="en-US" sz="850" dirty="0">
                <a:solidFill>
                  <a:srgbClr val="333333"/>
                </a:solidFill>
                <a:latin typeface="Meiryo UI" pitchFamily="34" charset="0"/>
                <a:ea typeface="Meiryo UI" pitchFamily="34" charset="-122"/>
                <a:cs typeface="Meiryo UI" pitchFamily="34" charset="-120"/>
              </a:rPr>
              <a:t> — AI 検索とエージェントを内蔵した DB の最新版</a:t>
            </a:r>
            <a:endParaRPr lang="en-US" sz="850" dirty="0"/>
          </a:p>
        </p:txBody>
      </p:sp>
      <p:sp>
        <p:nvSpPr>
          <p:cNvPr id="48" name="note_7"/>
          <p:cNvSpPr txBox="1"/>
          <p:nvPr/>
        </p:nvSpPr>
        <p:spPr>
          <a:xfrm>
            <a:off x="425196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保守(サポート)</a:t>
            </a:r>
            <a:r>
              <a:rPr lang="en-US" sz="850" dirty="0">
                <a:solidFill>
                  <a:srgbClr val="333333"/>
                </a:solidFill>
                <a:latin typeface="Meiryo UI" pitchFamily="34" charset="0"/>
                <a:ea typeface="Meiryo UI" pitchFamily="34" charset="-122"/>
                <a:cs typeface="Meiryo UI" pitchFamily="34" charset="-120"/>
              </a:rPr>
              <a:t> — ライセンス価格の年 22% を毎年払う更新料</a:t>
            </a:r>
            <a:endParaRPr lang="en-US" sz="850" dirty="0"/>
          </a:p>
        </p:txBody>
      </p:sp>
      <p:sp>
        <p:nvSpPr>
          <p:cNvPr id="49" name="note_8"/>
          <p:cNvSpPr txBox="1"/>
          <p:nvPr/>
        </p:nvSpPr>
        <p:spPr>
          <a:xfrm>
            <a:off x="8046720" y="541324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BYOL</a:t>
            </a:r>
            <a:r>
              <a:rPr lang="en-US" sz="850" dirty="0">
                <a:solidFill>
                  <a:srgbClr val="333333"/>
                </a:solidFill>
                <a:latin typeface="Meiryo UI" pitchFamily="34" charset="0"/>
                <a:ea typeface="Meiryo UI" pitchFamily="34" charset="-122"/>
                <a:cs typeface="Meiryo UI" pitchFamily="34" charset="-120"/>
              </a:rPr>
              <a:t> — 持っているライセンスをクラウドへ持ち込むこと</a:t>
            </a:r>
            <a:endParaRPr lang="en-US" sz="850" dirty="0"/>
          </a:p>
        </p:txBody>
      </p:sp>
      <p:sp>
        <p:nvSpPr>
          <p:cNvPr id="50" name="note_9"/>
          <p:cNvSpPr txBox="1"/>
          <p:nvPr/>
        </p:nvSpPr>
        <p:spPr>
          <a:xfrm>
            <a:off x="8046720" y="559612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ソブリンクラウド</a:t>
            </a:r>
            <a:r>
              <a:rPr lang="en-US" sz="850" dirty="0">
                <a:solidFill>
                  <a:srgbClr val="333333"/>
                </a:solidFill>
                <a:latin typeface="Meiryo UI" pitchFamily="34" charset="0"/>
                <a:ea typeface="Meiryo UI" pitchFamily="34" charset="-122"/>
                <a:cs typeface="Meiryo UI" pitchFamily="34" charset="-120"/>
              </a:rPr>
              <a:t> — データを国内に置く政府・規制業種向け</a:t>
            </a:r>
            <a:endParaRPr lang="en-US" sz="850" dirty="0"/>
          </a:p>
        </p:txBody>
      </p:sp>
      <p:sp>
        <p:nvSpPr>
          <p:cNvPr id="51" name="note_10"/>
          <p:cNvSpPr txBox="1"/>
          <p:nvPr/>
        </p:nvSpPr>
        <p:spPr>
          <a:xfrm>
            <a:off x="8046720" y="577900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ネオクラウド</a:t>
            </a:r>
            <a:r>
              <a:rPr lang="en-US" sz="850" dirty="0">
                <a:solidFill>
                  <a:srgbClr val="333333"/>
                </a:solidFill>
                <a:latin typeface="Meiryo UI" pitchFamily="34" charset="0"/>
                <a:ea typeface="Meiryo UI" pitchFamily="34" charset="-122"/>
                <a:cs typeface="Meiryo UI" pitchFamily="34" charset="-120"/>
              </a:rPr>
              <a:t> — GPU 貸出の専業(CoreWeave・Nebius など)</a:t>
            </a:r>
            <a:endParaRPr lang="en-US" sz="850" dirty="0"/>
          </a:p>
        </p:txBody>
      </p:sp>
      <p:sp>
        <p:nvSpPr>
          <p:cNvPr id="52" name="note_11"/>
          <p:cNvSpPr txBox="1"/>
          <p:nvPr/>
        </p:nvSpPr>
        <p:spPr>
          <a:xfrm>
            <a:off x="8046720" y="5961888"/>
            <a:ext cx="3685032" cy="182880"/>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事業実態 EPS</a:t>
            </a:r>
            <a:r>
              <a:rPr lang="en-US" sz="850" dirty="0">
                <a:solidFill>
                  <a:srgbClr val="333333"/>
                </a:solidFill>
                <a:latin typeface="Meiryo UI" pitchFamily="34" charset="0"/>
                <a:ea typeface="Meiryo UI" pitchFamily="34" charset="-122"/>
                <a:cs typeface="Meiryo UI" pitchFamily="34" charset="-120"/>
              </a:rPr>
              <a:t> — 非GAAP EPS から株式報酬(税引後)を引いた EPS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事業理解</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事業どうしが顧客と資金をどう受け渡すかを見る。単体の売上より、つながりが成長を生むため</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の顧客基盤が OCI・Database@・AI Database へ顧客を送り、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DB の現金と顧客の前払い・他人の建屋が AI 容量の建設を支える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顧客 → Oracle の事業(稼ぐ柱 → 伸びる柱)。右: 提携先と資本の出し手。①〜⑦ は右の「仕組み」と対応。売上は Q1 FY27(2026 年 6〜8 月)</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§2-0・§3-4、research2/R4_database_at.md、10-Q と決算資料(Q4 FY26・Q1 FY27)、calc/prereg2.md(コアの税引後利益)</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9</a:t>
            </a:r>
            <a:endParaRPr lang="en-US" sz="800" dirty="0"/>
          </a:p>
        </p:txBody>
      </p:sp>
      <p:sp>
        <p:nvSpPr>
          <p:cNvPr id="19" name="bg_lane0"/>
          <p:cNvSpPr/>
          <p:nvPr/>
        </p:nvSpPr>
        <p:spPr>
          <a:xfrm>
            <a:off x="347472" y="1517904"/>
            <a:ext cx="1426464" cy="4315968"/>
          </a:xfrm>
          <a:prstGeom prst="rect">
            <a:avLst/>
          </a:prstGeom>
          <a:solidFill>
            <a:srgbClr val="F2F2F2"/>
          </a:solidFill>
          <a:ln w="12700">
            <a:solidFill>
              <a:srgbClr val="F2F2F2"/>
            </a:solidFill>
            <a:prstDash val="solid"/>
          </a:ln>
        </p:spPr>
      </p:sp>
      <p:sp>
        <p:nvSpPr>
          <p:cNvPr id="20" name="bg_laneh0"/>
          <p:cNvSpPr/>
          <p:nvPr/>
        </p:nvSpPr>
        <p:spPr>
          <a:xfrm>
            <a:off x="347472" y="1517904"/>
            <a:ext cx="1426464" cy="274320"/>
          </a:xfrm>
          <a:prstGeom prst="rect">
            <a:avLst/>
          </a:prstGeom>
          <a:solidFill>
            <a:srgbClr val="D9D9D9"/>
          </a:solidFill>
          <a:ln w="12700">
            <a:solidFill>
              <a:srgbClr val="D9D9D9"/>
            </a:solidFill>
            <a:prstDash val="solid"/>
          </a:ln>
        </p:spPr>
      </p:sp>
      <p:sp>
        <p:nvSpPr>
          <p:cNvPr id="21" name="bg_lanet0"/>
          <p:cNvSpPr txBox="1"/>
          <p:nvPr/>
        </p:nvSpPr>
        <p:spPr>
          <a:xfrm>
            <a:off x="347472"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2" name="bg_lane1"/>
          <p:cNvSpPr/>
          <p:nvPr/>
        </p:nvSpPr>
        <p:spPr>
          <a:xfrm>
            <a:off x="2484120" y="1517904"/>
            <a:ext cx="3764280" cy="4315968"/>
          </a:xfrm>
          <a:prstGeom prst="rect">
            <a:avLst/>
          </a:prstGeom>
          <a:solidFill>
            <a:srgbClr val="EAF4EE"/>
          </a:solidFill>
          <a:ln w="12700">
            <a:solidFill>
              <a:srgbClr val="EAF4EE"/>
            </a:solidFill>
            <a:prstDash val="solid"/>
          </a:ln>
        </p:spPr>
      </p:sp>
      <p:sp>
        <p:nvSpPr>
          <p:cNvPr id="23" name="bg_laneh1"/>
          <p:cNvSpPr/>
          <p:nvPr/>
        </p:nvSpPr>
        <p:spPr>
          <a:xfrm>
            <a:off x="2484120" y="1517904"/>
            <a:ext cx="3764280" cy="274320"/>
          </a:xfrm>
          <a:prstGeom prst="rect">
            <a:avLst/>
          </a:prstGeom>
          <a:solidFill>
            <a:srgbClr val="197A56"/>
          </a:solidFill>
          <a:ln w="12700">
            <a:solidFill>
              <a:srgbClr val="197A56"/>
            </a:solidFill>
            <a:prstDash val="solid"/>
          </a:ln>
        </p:spPr>
      </p:sp>
      <p:sp>
        <p:nvSpPr>
          <p:cNvPr id="24" name="bg_lanet1"/>
          <p:cNvSpPr txBox="1"/>
          <p:nvPr/>
        </p:nvSpPr>
        <p:spPr>
          <a:xfrm>
            <a:off x="2484120" y="1517904"/>
            <a:ext cx="3764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5" name="bg_lane2"/>
          <p:cNvSpPr/>
          <p:nvPr/>
        </p:nvSpPr>
        <p:spPr>
          <a:xfrm>
            <a:off x="6958584" y="1517904"/>
            <a:ext cx="1426464" cy="4315968"/>
          </a:xfrm>
          <a:prstGeom prst="rect">
            <a:avLst/>
          </a:prstGeom>
          <a:solidFill>
            <a:srgbClr val="F2F2F2"/>
          </a:solidFill>
          <a:ln w="12700">
            <a:solidFill>
              <a:srgbClr val="F2F2F2"/>
            </a:solidFill>
            <a:prstDash val="solid"/>
          </a:ln>
        </p:spPr>
      </p:sp>
      <p:sp>
        <p:nvSpPr>
          <p:cNvPr id="26" name="bg_laneh2"/>
          <p:cNvSpPr/>
          <p:nvPr/>
        </p:nvSpPr>
        <p:spPr>
          <a:xfrm>
            <a:off x="6958584" y="1517904"/>
            <a:ext cx="1426464" cy="274320"/>
          </a:xfrm>
          <a:prstGeom prst="rect">
            <a:avLst/>
          </a:prstGeom>
          <a:solidFill>
            <a:srgbClr val="D9D9D9"/>
          </a:solidFill>
          <a:ln w="12700">
            <a:solidFill>
              <a:srgbClr val="D9D9D9"/>
            </a:solidFill>
            <a:prstDash val="solid"/>
          </a:ln>
        </p:spPr>
      </p:sp>
      <p:sp>
        <p:nvSpPr>
          <p:cNvPr id="27" name="bg_lanet2"/>
          <p:cNvSpPr txBox="1"/>
          <p:nvPr/>
        </p:nvSpPr>
        <p:spPr>
          <a:xfrm>
            <a:off x="6958584" y="1517904"/>
            <a:ext cx="1426464"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提携先・資本の出し手</a:t>
            </a:r>
            <a:endParaRPr lang="en-US" sz="950" dirty="0"/>
          </a:p>
        </p:txBody>
      </p:sp>
      <p:sp>
        <p:nvSpPr>
          <p:cNvPr id="28" name="ovl_grp0"/>
          <p:cNvSpPr/>
          <p:nvPr/>
        </p:nvSpPr>
        <p:spPr>
          <a:xfrm>
            <a:off x="2529840" y="1911096"/>
            <a:ext cx="1371600" cy="2894076"/>
          </a:xfrm>
          <a:prstGeom prst="roundRect">
            <a:avLst>
              <a:gd name="adj" fmla="val 4000"/>
            </a:avLst>
          </a:prstGeom>
          <a:solidFill>
            <a:srgbClr val="FFFFFF">
              <a:alpha val="0"/>
            </a:srgbClr>
          </a:solidFill>
          <a:ln w="12700">
            <a:solidFill>
              <a:srgbClr val="197A56"/>
            </a:solidFill>
            <a:prstDash val="dash"/>
          </a:ln>
        </p:spPr>
      </p:sp>
      <p:sp>
        <p:nvSpPr>
          <p:cNvPr id="29" name="ovl_grp1"/>
          <p:cNvSpPr/>
          <p:nvPr/>
        </p:nvSpPr>
        <p:spPr>
          <a:xfrm>
            <a:off x="4703064" y="1911096"/>
            <a:ext cx="1499616" cy="3877056"/>
          </a:xfrm>
          <a:prstGeom prst="roundRect">
            <a:avLst>
              <a:gd name="adj" fmla="val 3659"/>
            </a:avLst>
          </a:prstGeom>
          <a:solidFill>
            <a:srgbClr val="FFFFFF">
              <a:alpha val="0"/>
            </a:srgbClr>
          </a:solidFill>
          <a:ln w="12700">
            <a:solidFill>
              <a:srgbClr val="197A56"/>
            </a:solidFill>
            <a:prstDash val="dash"/>
          </a:ln>
        </p:spPr>
      </p:sp>
      <p:sp>
        <p:nvSpPr>
          <p:cNvPr id="30" name="ovl_s08b_e0_0"/>
          <p:cNvSpPr/>
          <p:nvPr/>
        </p:nvSpPr>
        <p:spPr>
          <a:xfrm>
            <a:off x="1664208" y="2375154"/>
            <a:ext cx="929640" cy="914"/>
          </a:xfrm>
          <a:prstGeom prst="line">
            <a:avLst/>
          </a:prstGeom>
          <a:noFill/>
          <a:ln w="22225">
            <a:solidFill>
              <a:srgbClr val="0E4D33"/>
            </a:solidFill>
            <a:prstDash val="solid"/>
            <a:tailEnd type="triangle"/>
          </a:ln>
        </p:spPr>
      </p:sp>
      <p:sp>
        <p:nvSpPr>
          <p:cNvPr id="31" name="ovl_s08b_e1_0"/>
          <p:cNvSpPr/>
          <p:nvPr/>
        </p:nvSpPr>
        <p:spPr>
          <a:xfrm>
            <a:off x="1664208" y="3849624"/>
            <a:ext cx="929640" cy="914"/>
          </a:xfrm>
          <a:prstGeom prst="line">
            <a:avLst/>
          </a:prstGeom>
          <a:noFill/>
          <a:ln w="22225">
            <a:solidFill>
              <a:srgbClr val="0E4D33"/>
            </a:solidFill>
            <a:prstDash val="solid"/>
            <a:tailEnd type="triangle"/>
          </a:ln>
        </p:spPr>
      </p:sp>
      <p:sp>
        <p:nvSpPr>
          <p:cNvPr id="32" name="ovl_s08b_e2_0"/>
          <p:cNvSpPr/>
          <p:nvPr/>
        </p:nvSpPr>
        <p:spPr>
          <a:xfrm>
            <a:off x="3837432" y="2375154"/>
            <a:ext cx="929640" cy="914"/>
          </a:xfrm>
          <a:prstGeom prst="line">
            <a:avLst/>
          </a:prstGeom>
          <a:noFill/>
          <a:ln w="19050">
            <a:solidFill>
              <a:srgbClr val="1BA1A6"/>
            </a:solidFill>
            <a:prstDash val="solid"/>
            <a:tailEnd type="triangle"/>
          </a:ln>
        </p:spPr>
      </p:sp>
      <p:sp>
        <p:nvSpPr>
          <p:cNvPr id="33" name="ovl_s08b_e3_0"/>
          <p:cNvSpPr/>
          <p:nvPr/>
        </p:nvSpPr>
        <p:spPr>
          <a:xfrm>
            <a:off x="3837432" y="3248406"/>
            <a:ext cx="400812" cy="914"/>
          </a:xfrm>
          <a:prstGeom prst="line">
            <a:avLst/>
          </a:prstGeom>
          <a:noFill/>
          <a:ln w="19050">
            <a:solidFill>
              <a:srgbClr val="1BA1A6"/>
            </a:solidFill>
            <a:prstDash val="solid"/>
          </a:ln>
        </p:spPr>
      </p:sp>
      <p:sp>
        <p:nvSpPr>
          <p:cNvPr id="34" name="ovl_s08b_e3_1"/>
          <p:cNvSpPr/>
          <p:nvPr/>
        </p:nvSpPr>
        <p:spPr>
          <a:xfrm flipV="1">
            <a:off x="4238244" y="2484882"/>
            <a:ext cx="914" cy="763524"/>
          </a:xfrm>
          <a:prstGeom prst="line">
            <a:avLst/>
          </a:prstGeom>
          <a:noFill/>
          <a:ln w="19050">
            <a:solidFill>
              <a:srgbClr val="1BA1A6"/>
            </a:solidFill>
            <a:prstDash val="solid"/>
          </a:ln>
        </p:spPr>
      </p:sp>
      <p:sp>
        <p:nvSpPr>
          <p:cNvPr id="35" name="ovl_s08b_e3_2"/>
          <p:cNvSpPr/>
          <p:nvPr/>
        </p:nvSpPr>
        <p:spPr>
          <a:xfrm>
            <a:off x="4238244" y="2484882"/>
            <a:ext cx="528828" cy="914"/>
          </a:xfrm>
          <a:prstGeom prst="line">
            <a:avLst/>
          </a:prstGeom>
          <a:noFill/>
          <a:ln w="19050">
            <a:solidFill>
              <a:srgbClr val="1BA1A6"/>
            </a:solidFill>
            <a:prstDash val="solid"/>
            <a:tailEnd type="triangle"/>
          </a:ln>
        </p:spPr>
      </p:sp>
      <p:sp>
        <p:nvSpPr>
          <p:cNvPr id="36" name="ovl_s08b_e4_0"/>
          <p:cNvSpPr/>
          <p:nvPr/>
        </p:nvSpPr>
        <p:spPr>
          <a:xfrm>
            <a:off x="3837432" y="3358134"/>
            <a:ext cx="929640" cy="914"/>
          </a:xfrm>
          <a:prstGeom prst="line">
            <a:avLst/>
          </a:prstGeom>
          <a:noFill/>
          <a:ln w="19050">
            <a:solidFill>
              <a:srgbClr val="1BA1A6"/>
            </a:solidFill>
            <a:prstDash val="solid"/>
            <a:tailEnd type="triangle"/>
          </a:ln>
        </p:spPr>
      </p:sp>
      <p:sp>
        <p:nvSpPr>
          <p:cNvPr id="37" name="ovl_s08b_e5_0"/>
          <p:cNvSpPr/>
          <p:nvPr/>
        </p:nvSpPr>
        <p:spPr>
          <a:xfrm>
            <a:off x="6138672" y="3358134"/>
            <a:ext cx="400812" cy="914"/>
          </a:xfrm>
          <a:prstGeom prst="line">
            <a:avLst/>
          </a:prstGeom>
          <a:noFill/>
          <a:ln w="12700">
            <a:solidFill>
              <a:srgbClr val="767676"/>
            </a:solidFill>
            <a:prstDash val="sysDash"/>
          </a:ln>
        </p:spPr>
      </p:sp>
      <p:sp>
        <p:nvSpPr>
          <p:cNvPr id="38" name="ovl_s08b_e5_1"/>
          <p:cNvSpPr/>
          <p:nvPr/>
        </p:nvSpPr>
        <p:spPr>
          <a:xfrm flipV="1">
            <a:off x="6539484" y="2375154"/>
            <a:ext cx="914" cy="982980"/>
          </a:xfrm>
          <a:prstGeom prst="line">
            <a:avLst/>
          </a:prstGeom>
          <a:noFill/>
          <a:ln w="12700">
            <a:solidFill>
              <a:srgbClr val="767676"/>
            </a:solidFill>
            <a:prstDash val="sysDash"/>
          </a:ln>
        </p:spPr>
      </p:sp>
      <p:sp>
        <p:nvSpPr>
          <p:cNvPr id="39" name="ovl_s08b_e5_2"/>
          <p:cNvSpPr/>
          <p:nvPr/>
        </p:nvSpPr>
        <p:spPr>
          <a:xfrm>
            <a:off x="6539484" y="2375154"/>
            <a:ext cx="528828" cy="914"/>
          </a:xfrm>
          <a:prstGeom prst="line">
            <a:avLst/>
          </a:prstGeom>
          <a:noFill/>
          <a:ln w="12700">
            <a:solidFill>
              <a:srgbClr val="767676"/>
            </a:solidFill>
            <a:prstDash val="sysDash"/>
            <a:tailEnd type="triangle"/>
          </a:ln>
        </p:spPr>
      </p:sp>
      <p:sp>
        <p:nvSpPr>
          <p:cNvPr id="40" name="ovl_s08b_e6_0"/>
          <p:cNvSpPr/>
          <p:nvPr/>
        </p:nvSpPr>
        <p:spPr>
          <a:xfrm>
            <a:off x="3837432" y="4341114"/>
            <a:ext cx="929640" cy="914"/>
          </a:xfrm>
          <a:prstGeom prst="line">
            <a:avLst/>
          </a:prstGeom>
          <a:noFill/>
          <a:ln w="19050">
            <a:solidFill>
              <a:srgbClr val="1BA1A6"/>
            </a:solidFill>
            <a:prstDash val="solid"/>
            <a:tailEnd type="triangle"/>
          </a:ln>
        </p:spPr>
      </p:sp>
      <p:sp>
        <p:nvSpPr>
          <p:cNvPr id="41" name="ovl_s08b_e7_0"/>
          <p:cNvSpPr/>
          <p:nvPr/>
        </p:nvSpPr>
        <p:spPr>
          <a:xfrm>
            <a:off x="3837432" y="4450842"/>
            <a:ext cx="528828" cy="914"/>
          </a:xfrm>
          <a:prstGeom prst="line">
            <a:avLst/>
          </a:prstGeom>
          <a:noFill/>
          <a:ln w="22225">
            <a:solidFill>
              <a:srgbClr val="0E4D33"/>
            </a:solidFill>
            <a:prstDash val="solid"/>
          </a:ln>
        </p:spPr>
      </p:sp>
      <p:sp>
        <p:nvSpPr>
          <p:cNvPr id="42" name="ovl_s08b_e7_1"/>
          <p:cNvSpPr/>
          <p:nvPr/>
        </p:nvSpPr>
        <p:spPr>
          <a:xfrm>
            <a:off x="4366260" y="4450842"/>
            <a:ext cx="914" cy="681228"/>
          </a:xfrm>
          <a:prstGeom prst="line">
            <a:avLst/>
          </a:prstGeom>
          <a:noFill/>
          <a:ln w="22225">
            <a:solidFill>
              <a:srgbClr val="0E4D33"/>
            </a:solidFill>
            <a:prstDash val="solid"/>
          </a:ln>
        </p:spPr>
      </p:sp>
      <p:sp>
        <p:nvSpPr>
          <p:cNvPr id="43" name="ovl_s08b_e7_2"/>
          <p:cNvSpPr/>
          <p:nvPr/>
        </p:nvSpPr>
        <p:spPr>
          <a:xfrm>
            <a:off x="4366260" y="5132070"/>
            <a:ext cx="400812" cy="914"/>
          </a:xfrm>
          <a:prstGeom prst="line">
            <a:avLst/>
          </a:prstGeom>
          <a:noFill/>
          <a:ln w="22225">
            <a:solidFill>
              <a:srgbClr val="0E4D33"/>
            </a:solidFill>
            <a:prstDash val="solid"/>
            <a:tailEnd type="triangle"/>
          </a:ln>
        </p:spPr>
      </p:sp>
      <p:sp>
        <p:nvSpPr>
          <p:cNvPr id="44" name="ovl_s08b_e8_0"/>
          <p:cNvSpPr/>
          <p:nvPr/>
        </p:nvSpPr>
        <p:spPr>
          <a:xfrm>
            <a:off x="1664208" y="5241798"/>
            <a:ext cx="3102864" cy="914"/>
          </a:xfrm>
          <a:prstGeom prst="line">
            <a:avLst/>
          </a:prstGeom>
          <a:noFill/>
          <a:ln w="22225">
            <a:solidFill>
              <a:srgbClr val="0E4D33"/>
            </a:solidFill>
            <a:prstDash val="solid"/>
            <a:tailEnd type="triangle"/>
          </a:ln>
        </p:spPr>
      </p:sp>
      <p:sp>
        <p:nvSpPr>
          <p:cNvPr id="45" name="ovl_s08b_e9_0"/>
          <p:cNvSpPr/>
          <p:nvPr/>
        </p:nvSpPr>
        <p:spPr>
          <a:xfrm flipH="1">
            <a:off x="1664208" y="5406390"/>
            <a:ext cx="3102864" cy="914"/>
          </a:xfrm>
          <a:prstGeom prst="line">
            <a:avLst/>
          </a:prstGeom>
          <a:noFill/>
          <a:ln w="19050">
            <a:solidFill>
              <a:srgbClr val="1BA1A6"/>
            </a:solidFill>
            <a:prstDash val="solid"/>
            <a:tailEnd type="triangle"/>
          </a:ln>
        </p:spPr>
      </p:sp>
      <p:sp>
        <p:nvSpPr>
          <p:cNvPr id="46" name="ovl_s08b_e10_0"/>
          <p:cNvSpPr/>
          <p:nvPr/>
        </p:nvSpPr>
        <p:spPr>
          <a:xfrm flipH="1">
            <a:off x="6138672" y="5324094"/>
            <a:ext cx="929640" cy="914"/>
          </a:xfrm>
          <a:prstGeom prst="line">
            <a:avLst/>
          </a:prstGeom>
          <a:noFill/>
          <a:ln w="19050">
            <a:solidFill>
              <a:srgbClr val="1BA1A6"/>
            </a:solidFill>
            <a:prstDash val="solid"/>
            <a:tailEnd type="triangle"/>
          </a:ln>
        </p:spPr>
      </p:sp>
      <p:sp>
        <p:nvSpPr>
          <p:cNvPr id="47" name="ovl_s08b_e11_0"/>
          <p:cNvSpPr/>
          <p:nvPr/>
        </p:nvSpPr>
        <p:spPr>
          <a:xfrm flipH="1">
            <a:off x="6667500" y="4341114"/>
            <a:ext cx="400812" cy="914"/>
          </a:xfrm>
          <a:prstGeom prst="line">
            <a:avLst/>
          </a:prstGeom>
          <a:noFill/>
          <a:ln w="22225">
            <a:solidFill>
              <a:srgbClr val="0E4D33"/>
            </a:solidFill>
            <a:prstDash val="solid"/>
          </a:ln>
        </p:spPr>
      </p:sp>
      <p:sp>
        <p:nvSpPr>
          <p:cNvPr id="48" name="ovl_s08b_e11_1"/>
          <p:cNvSpPr/>
          <p:nvPr/>
        </p:nvSpPr>
        <p:spPr>
          <a:xfrm>
            <a:off x="6667500" y="4341114"/>
            <a:ext cx="914" cy="873252"/>
          </a:xfrm>
          <a:prstGeom prst="line">
            <a:avLst/>
          </a:prstGeom>
          <a:noFill/>
          <a:ln w="22225">
            <a:solidFill>
              <a:srgbClr val="0E4D33"/>
            </a:solidFill>
            <a:prstDash val="solid"/>
          </a:ln>
        </p:spPr>
      </p:sp>
      <p:sp>
        <p:nvSpPr>
          <p:cNvPr id="49" name="ovl_s08b_e11_2"/>
          <p:cNvSpPr/>
          <p:nvPr/>
        </p:nvSpPr>
        <p:spPr>
          <a:xfrm flipH="1">
            <a:off x="6138672" y="5214366"/>
            <a:ext cx="528828" cy="914"/>
          </a:xfrm>
          <a:prstGeom prst="line">
            <a:avLst/>
          </a:prstGeom>
          <a:noFill/>
          <a:ln w="22225">
            <a:solidFill>
              <a:srgbClr val="0E4D33"/>
            </a:solidFill>
            <a:prstDash val="solid"/>
            <a:tailEnd type="triangle"/>
          </a:ln>
        </p:spPr>
      </p:sp>
      <p:sp>
        <p:nvSpPr>
          <p:cNvPr id="50" name="ovl_s08b_n_apps"/>
          <p:cNvSpPr/>
          <p:nvPr/>
        </p:nvSpPr>
        <p:spPr>
          <a:xfrm>
            <a:off x="457200" y="2018538"/>
            <a:ext cx="1207008" cy="713232"/>
          </a:xfrm>
          <a:prstGeom prst="roundRect">
            <a:avLst>
              <a:gd name="adj" fmla="val 7692"/>
            </a:avLst>
          </a:prstGeom>
          <a:solidFill>
            <a:srgbClr val="FFFFFF"/>
          </a:solidFill>
          <a:ln w="9525">
            <a:solidFill>
              <a:srgbClr val="767676"/>
            </a:solidFill>
            <a:prstDash val="solid"/>
          </a:ln>
        </p:spPr>
      </p:sp>
      <p:sp>
        <p:nvSpPr>
          <p:cNvPr id="51" name="ovl_s08b_nt_apps"/>
          <p:cNvSpPr txBox="1"/>
          <p:nvPr/>
        </p:nvSpPr>
        <p:spPr>
          <a:xfrm>
            <a:off x="493776"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業務アプリの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利用企業</a:t>
            </a:r>
            <a:endParaRPr lang="en-US" sz="900" dirty="0"/>
          </a:p>
        </p:txBody>
      </p:sp>
      <p:sp>
        <p:nvSpPr>
          <p:cNvPr id="52" name="ovl_s08b_ns_apps"/>
          <p:cNvSpPr txBox="1"/>
          <p:nvPr/>
        </p:nvSpPr>
        <p:spPr>
          <a:xfrm>
            <a:off x="502920"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大企業・中堅</a:t>
            </a:r>
            <a:endParaRPr lang="en-US" sz="850" dirty="0"/>
          </a:p>
        </p:txBody>
      </p:sp>
      <p:sp>
        <p:nvSpPr>
          <p:cNvPr id="53" name="ovl_s08b_n_ent"/>
          <p:cNvSpPr/>
          <p:nvPr/>
        </p:nvSpPr>
        <p:spPr>
          <a:xfrm>
            <a:off x="457200" y="2967228"/>
            <a:ext cx="1207008" cy="1764792"/>
          </a:xfrm>
          <a:prstGeom prst="roundRect">
            <a:avLst>
              <a:gd name="adj" fmla="val 4545"/>
            </a:avLst>
          </a:prstGeom>
          <a:solidFill>
            <a:srgbClr val="FFFFFF"/>
          </a:solidFill>
          <a:ln w="9525">
            <a:solidFill>
              <a:srgbClr val="767676"/>
            </a:solidFill>
            <a:prstDash val="solid"/>
          </a:ln>
        </p:spPr>
      </p:sp>
      <p:sp>
        <p:nvSpPr>
          <p:cNvPr id="54" name="ovl_s08b_nt_ent"/>
          <p:cNvSpPr txBox="1"/>
          <p:nvPr/>
        </p:nvSpPr>
        <p:spPr>
          <a:xfrm>
            <a:off x="493776" y="299466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既存の DB 顧客</a:t>
            </a:r>
            <a:endParaRPr lang="en-US" sz="1000" dirty="0"/>
          </a:p>
        </p:txBody>
      </p:sp>
      <p:sp>
        <p:nvSpPr>
          <p:cNvPr id="55" name="ovl_s08b_ns_ent"/>
          <p:cNvSpPr txBox="1"/>
          <p:nvPr/>
        </p:nvSpPr>
        <p:spPr>
          <a:xfrm>
            <a:off x="502920" y="3200400"/>
            <a:ext cx="1115568" cy="15041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DB の切替に数年</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他社クラウドへ</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移った企業も含む</a:t>
            </a:r>
            <a:endParaRPr lang="en-US" sz="850" dirty="0"/>
          </a:p>
        </p:txBody>
      </p:sp>
      <p:sp>
        <p:nvSpPr>
          <p:cNvPr id="56" name="ovl_s08b_n_lab"/>
          <p:cNvSpPr/>
          <p:nvPr/>
        </p:nvSpPr>
        <p:spPr>
          <a:xfrm>
            <a:off x="457200" y="4967478"/>
            <a:ext cx="1207008" cy="713232"/>
          </a:xfrm>
          <a:prstGeom prst="roundRect">
            <a:avLst>
              <a:gd name="adj" fmla="val 7692"/>
            </a:avLst>
          </a:prstGeom>
          <a:solidFill>
            <a:srgbClr val="FFFFFF"/>
          </a:solidFill>
          <a:ln w="9525">
            <a:solidFill>
              <a:srgbClr val="767676"/>
            </a:solidFill>
            <a:prstDash val="solid"/>
          </a:ln>
        </p:spPr>
      </p:sp>
      <p:sp>
        <p:nvSpPr>
          <p:cNvPr id="57" name="ovl_s08b_nt_lab"/>
          <p:cNvSpPr txBox="1"/>
          <p:nvPr/>
        </p:nvSpPr>
        <p:spPr>
          <a:xfrm>
            <a:off x="493776"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8" name="ovl_s08b_ns_lab"/>
          <p:cNvSpPr txBox="1"/>
          <p:nvPr/>
        </p:nvSpPr>
        <p:spPr>
          <a:xfrm>
            <a:off x="502920"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9" name="ovl_s08b_n_saas"/>
          <p:cNvSpPr/>
          <p:nvPr/>
        </p:nvSpPr>
        <p:spPr>
          <a:xfrm>
            <a:off x="2593848" y="2018538"/>
            <a:ext cx="1243584" cy="713232"/>
          </a:xfrm>
          <a:prstGeom prst="roundRect">
            <a:avLst>
              <a:gd name="adj" fmla="val 7692"/>
            </a:avLst>
          </a:prstGeom>
          <a:solidFill>
            <a:srgbClr val="FFFFFF"/>
          </a:solidFill>
          <a:ln w="19050">
            <a:solidFill>
              <a:srgbClr val="197A56"/>
            </a:solidFill>
            <a:prstDash val="solid"/>
          </a:ln>
        </p:spPr>
      </p:sp>
      <p:sp>
        <p:nvSpPr>
          <p:cNvPr id="60" name="ovl_s08b_nt_saas"/>
          <p:cNvSpPr txBox="1"/>
          <p:nvPr/>
        </p:nvSpPr>
        <p:spPr>
          <a:xfrm>
            <a:off x="2630424" y="2045970"/>
            <a:ext cx="1170432"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61" name="ovl_s08b_ns_saas"/>
          <p:cNvSpPr txBox="1"/>
          <p:nvPr/>
        </p:nvSpPr>
        <p:spPr>
          <a:xfrm>
            <a:off x="2639568" y="2251710"/>
            <a:ext cx="1152144"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Fusion・NetSuite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42 億ドル(+10%)</a:t>
            </a:r>
            <a:endParaRPr lang="en-US" sz="850" dirty="0"/>
          </a:p>
        </p:txBody>
      </p:sp>
      <p:sp>
        <p:nvSpPr>
          <p:cNvPr id="62" name="ovl_s08b_n_db"/>
          <p:cNvSpPr/>
          <p:nvPr/>
        </p:nvSpPr>
        <p:spPr>
          <a:xfrm>
            <a:off x="2593848" y="2967228"/>
            <a:ext cx="1243584" cy="1764792"/>
          </a:xfrm>
          <a:prstGeom prst="roundRect">
            <a:avLst>
              <a:gd name="adj" fmla="val 4412"/>
            </a:avLst>
          </a:prstGeom>
          <a:solidFill>
            <a:srgbClr val="0E4D33"/>
          </a:solidFill>
          <a:ln w="9525">
            <a:solidFill>
              <a:srgbClr val="0E4D33"/>
            </a:solidFill>
            <a:prstDash val="solid"/>
          </a:ln>
        </p:spPr>
      </p:sp>
      <p:sp>
        <p:nvSpPr>
          <p:cNvPr id="63" name="ovl_s08b_nt_db"/>
          <p:cNvSpPr txBox="1"/>
          <p:nvPr/>
        </p:nvSpPr>
        <p:spPr>
          <a:xfrm>
            <a:off x="2630424" y="2994660"/>
            <a:ext cx="1170432"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DB ライセンス・保守</a:t>
            </a:r>
            <a:endParaRPr lang="en-US" sz="900" dirty="0"/>
          </a:p>
        </p:txBody>
      </p:sp>
      <p:sp>
        <p:nvSpPr>
          <p:cNvPr id="64" name="ovl_s08b_ns_db"/>
          <p:cNvSpPr txBox="1"/>
          <p:nvPr/>
        </p:nvSpPr>
        <p:spPr>
          <a:xfrm>
            <a:off x="2639568" y="3351276"/>
            <a:ext cx="1152144" cy="1353312"/>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Software 区分</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55.5 億ドル(−3%)</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保守はライセンスの</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年 22%</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営業利益の柱</a:t>
            </a:r>
            <a:endParaRPr lang="en-US" sz="850" dirty="0"/>
          </a:p>
        </p:txBody>
      </p:sp>
      <p:sp>
        <p:nvSpPr>
          <p:cNvPr id="65" name="ovl_s08b_n_oci"/>
          <p:cNvSpPr/>
          <p:nvPr/>
        </p:nvSpPr>
        <p:spPr>
          <a:xfrm>
            <a:off x="4767072" y="2018538"/>
            <a:ext cx="1371600" cy="713232"/>
          </a:xfrm>
          <a:prstGeom prst="roundRect">
            <a:avLst>
              <a:gd name="adj" fmla="val 7692"/>
            </a:avLst>
          </a:prstGeom>
          <a:solidFill>
            <a:srgbClr val="FFFFFF"/>
          </a:solidFill>
          <a:ln w="19050">
            <a:solidFill>
              <a:srgbClr val="197A56"/>
            </a:solidFill>
            <a:prstDash val="solid"/>
          </a:ln>
        </p:spPr>
      </p:sp>
      <p:sp>
        <p:nvSpPr>
          <p:cNvPr id="66" name="ovl_s08b_nt_oci"/>
          <p:cNvSpPr txBox="1"/>
          <p:nvPr/>
        </p:nvSpPr>
        <p:spPr>
          <a:xfrm>
            <a:off x="4803648" y="204597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一般・主権</a:t>
            </a:r>
            <a:endParaRPr lang="en-US" sz="1000" dirty="0"/>
          </a:p>
        </p:txBody>
      </p:sp>
      <p:sp>
        <p:nvSpPr>
          <p:cNvPr id="67" name="ovl_s08b_ns_oci"/>
          <p:cNvSpPr txBox="1"/>
          <p:nvPr/>
        </p:nvSpPr>
        <p:spPr>
          <a:xfrm>
            <a:off x="4812792" y="225171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計算・保存の従量課金</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主権は最低 5 年</a:t>
            </a:r>
            <a:endParaRPr lang="en-US" sz="850" dirty="0"/>
          </a:p>
        </p:txBody>
      </p:sp>
      <p:sp>
        <p:nvSpPr>
          <p:cNvPr id="68" name="ovl_s08b_n_dbat"/>
          <p:cNvSpPr/>
          <p:nvPr/>
        </p:nvSpPr>
        <p:spPr>
          <a:xfrm>
            <a:off x="4767072" y="3001518"/>
            <a:ext cx="1371600" cy="713232"/>
          </a:xfrm>
          <a:prstGeom prst="roundRect">
            <a:avLst>
              <a:gd name="adj" fmla="val 7692"/>
            </a:avLst>
          </a:prstGeom>
          <a:solidFill>
            <a:srgbClr val="FFFFFF"/>
          </a:solidFill>
          <a:ln w="19050">
            <a:solidFill>
              <a:srgbClr val="197A56"/>
            </a:solidFill>
            <a:prstDash val="solid"/>
          </a:ln>
        </p:spPr>
      </p:sp>
      <p:sp>
        <p:nvSpPr>
          <p:cNvPr id="69" name="ovl_s08b_nt_dbat"/>
          <p:cNvSpPr txBox="1"/>
          <p:nvPr/>
        </p:nvSpPr>
        <p:spPr>
          <a:xfrm>
            <a:off x="4803648" y="302895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70" name="ovl_s08b_ns_dbat"/>
          <p:cNvSpPr txBox="1"/>
          <p:nvPr/>
        </p:nvSpPr>
        <p:spPr>
          <a:xfrm>
            <a:off x="4812792" y="323469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 DC 内で稼働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 +353%</a:t>
            </a:r>
            <a:endParaRPr lang="en-US" sz="850" dirty="0"/>
          </a:p>
        </p:txBody>
      </p:sp>
      <p:sp>
        <p:nvSpPr>
          <p:cNvPr id="71" name="ovl_s08b_n_aidb"/>
          <p:cNvSpPr/>
          <p:nvPr/>
        </p:nvSpPr>
        <p:spPr>
          <a:xfrm>
            <a:off x="4767072" y="3984498"/>
            <a:ext cx="1371600" cy="713232"/>
          </a:xfrm>
          <a:prstGeom prst="roundRect">
            <a:avLst>
              <a:gd name="adj" fmla="val 7692"/>
            </a:avLst>
          </a:prstGeom>
          <a:solidFill>
            <a:srgbClr val="FFFFFF"/>
          </a:solidFill>
          <a:ln w="19050">
            <a:solidFill>
              <a:srgbClr val="197A56"/>
            </a:solidFill>
            <a:prstDash val="solid"/>
          </a:ln>
        </p:spPr>
      </p:sp>
      <p:sp>
        <p:nvSpPr>
          <p:cNvPr id="72" name="ovl_s08b_nt_aidb"/>
          <p:cNvSpPr txBox="1"/>
          <p:nvPr/>
        </p:nvSpPr>
        <p:spPr>
          <a:xfrm>
            <a:off x="4803648" y="401193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73" name="ovl_s08b_ns_aidb"/>
          <p:cNvSpPr txBox="1"/>
          <p:nvPr/>
        </p:nvSpPr>
        <p:spPr>
          <a:xfrm>
            <a:off x="4812792" y="4217670"/>
            <a:ext cx="1280160"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 AI 推論</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74" name="ovl_s08b_n_aicap"/>
          <p:cNvSpPr/>
          <p:nvPr/>
        </p:nvSpPr>
        <p:spPr>
          <a:xfrm>
            <a:off x="4767072" y="4967478"/>
            <a:ext cx="1371600" cy="713232"/>
          </a:xfrm>
          <a:prstGeom prst="roundRect">
            <a:avLst>
              <a:gd name="adj" fmla="val 7692"/>
            </a:avLst>
          </a:prstGeom>
          <a:solidFill>
            <a:srgbClr val="197A56"/>
          </a:solidFill>
          <a:ln w="9525">
            <a:solidFill>
              <a:srgbClr val="197A56"/>
            </a:solidFill>
            <a:prstDash val="solid"/>
          </a:ln>
        </p:spPr>
      </p:sp>
      <p:sp>
        <p:nvSpPr>
          <p:cNvPr id="75" name="ovl_s08b_nt_aicap"/>
          <p:cNvSpPr txBox="1"/>
          <p:nvPr/>
        </p:nvSpPr>
        <p:spPr>
          <a:xfrm>
            <a:off x="4803648" y="4994910"/>
            <a:ext cx="129844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AI 容量</a:t>
            </a:r>
            <a:endParaRPr lang="en-US" sz="1000" dirty="0"/>
          </a:p>
        </p:txBody>
      </p:sp>
      <p:sp>
        <p:nvSpPr>
          <p:cNvPr id="76" name="ovl_s08b_ns_aicap"/>
          <p:cNvSpPr txBox="1"/>
          <p:nvPr/>
        </p:nvSpPr>
        <p:spPr>
          <a:xfrm>
            <a:off x="4812792" y="5200650"/>
            <a:ext cx="1280160" cy="4526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GPU 時間の貸出</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IaaS +121% の主因</a:t>
            </a:r>
            <a:endParaRPr lang="en-US" sz="850" dirty="0"/>
          </a:p>
        </p:txBody>
      </p:sp>
      <p:sp>
        <p:nvSpPr>
          <p:cNvPr id="77" name="ovl_s08b_n_hyper"/>
          <p:cNvSpPr/>
          <p:nvPr/>
        </p:nvSpPr>
        <p:spPr>
          <a:xfrm>
            <a:off x="7068312" y="2018538"/>
            <a:ext cx="1207008" cy="713232"/>
          </a:xfrm>
          <a:prstGeom prst="roundRect">
            <a:avLst>
              <a:gd name="adj" fmla="val 7692"/>
            </a:avLst>
          </a:prstGeom>
          <a:solidFill>
            <a:srgbClr val="FFFFFF"/>
          </a:solidFill>
          <a:ln w="9525">
            <a:solidFill>
              <a:srgbClr val="767676"/>
            </a:solidFill>
            <a:prstDash val="solid"/>
          </a:ln>
        </p:spPr>
      </p:sp>
      <p:sp>
        <p:nvSpPr>
          <p:cNvPr id="78" name="ovl_s08b_nt_hyper"/>
          <p:cNvSpPr txBox="1"/>
          <p:nvPr/>
        </p:nvSpPr>
        <p:spPr>
          <a:xfrm>
            <a:off x="7104888" y="204597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9" name="ovl_s08b_ns_hyper"/>
          <p:cNvSpPr txBox="1"/>
          <p:nvPr/>
        </p:nvSpPr>
        <p:spPr>
          <a:xfrm>
            <a:off x="7114032" y="240258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競合かつ提携先</a:t>
            </a:r>
            <a:endParaRPr lang="en-US" sz="850" dirty="0"/>
          </a:p>
        </p:txBody>
      </p:sp>
      <p:sp>
        <p:nvSpPr>
          <p:cNvPr id="80" name="ovl_s08b_n_inv"/>
          <p:cNvSpPr/>
          <p:nvPr/>
        </p:nvSpPr>
        <p:spPr>
          <a:xfrm>
            <a:off x="7068312" y="3984498"/>
            <a:ext cx="1207008" cy="713232"/>
          </a:xfrm>
          <a:prstGeom prst="roundRect">
            <a:avLst>
              <a:gd name="adj" fmla="val 7692"/>
            </a:avLst>
          </a:prstGeom>
          <a:solidFill>
            <a:srgbClr val="FFFFFF"/>
          </a:solidFill>
          <a:ln w="9525">
            <a:solidFill>
              <a:srgbClr val="767676"/>
            </a:solidFill>
            <a:prstDash val="solid"/>
          </a:ln>
        </p:spPr>
      </p:sp>
      <p:sp>
        <p:nvSpPr>
          <p:cNvPr id="81" name="ovl_s08b_nt_inv"/>
          <p:cNvSpPr txBox="1"/>
          <p:nvPr/>
        </p:nvSpPr>
        <p:spPr>
          <a:xfrm>
            <a:off x="7104888" y="4011930"/>
            <a:ext cx="1133856"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投資家</a:t>
            </a:r>
            <a:endParaRPr lang="en-US" sz="900" dirty="0"/>
          </a:p>
        </p:txBody>
      </p:sp>
      <p:sp>
        <p:nvSpPr>
          <p:cNvPr id="82" name="ovl_s08b_ns_inv"/>
          <p:cNvSpPr txBox="1"/>
          <p:nvPr/>
        </p:nvSpPr>
        <p:spPr>
          <a:xfrm>
            <a:off x="7114032" y="4368546"/>
            <a:ext cx="1115568" cy="3017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83" name="ovl_s08b_n_dev"/>
          <p:cNvSpPr/>
          <p:nvPr/>
        </p:nvSpPr>
        <p:spPr>
          <a:xfrm>
            <a:off x="7068312" y="4967478"/>
            <a:ext cx="1207008" cy="713232"/>
          </a:xfrm>
          <a:prstGeom prst="roundRect">
            <a:avLst>
              <a:gd name="adj" fmla="val 7692"/>
            </a:avLst>
          </a:prstGeom>
          <a:solidFill>
            <a:srgbClr val="FFFFFF"/>
          </a:solidFill>
          <a:ln w="9525">
            <a:solidFill>
              <a:srgbClr val="767676"/>
            </a:solidFill>
            <a:prstDash val="solid"/>
          </a:ln>
        </p:spPr>
      </p:sp>
      <p:sp>
        <p:nvSpPr>
          <p:cNvPr id="84" name="ovl_s08b_nt_dev"/>
          <p:cNvSpPr txBox="1"/>
          <p:nvPr/>
        </p:nvSpPr>
        <p:spPr>
          <a:xfrm>
            <a:off x="7104888" y="4994910"/>
            <a:ext cx="1133856"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85" name="ovl_s08b_ns_dev"/>
          <p:cNvSpPr txBox="1"/>
          <p:nvPr/>
        </p:nvSpPr>
        <p:spPr>
          <a:xfrm>
            <a:off x="7114032" y="5200650"/>
            <a:ext cx="1115568" cy="4526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建屋と電力を用意</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年で貸す</a:t>
            </a:r>
            <a:endParaRPr lang="en-US" sz="850" dirty="0"/>
          </a:p>
        </p:txBody>
      </p:sp>
      <p:sp>
        <p:nvSpPr>
          <p:cNvPr id="86" name="ovl_s08b_lab0"/>
          <p:cNvSpPr txBox="1"/>
          <p:nvPr/>
        </p:nvSpPr>
        <p:spPr>
          <a:xfrm>
            <a:off x="1899285" y="214198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7" name="ovl_s08b_lab1"/>
          <p:cNvSpPr txBox="1"/>
          <p:nvPr/>
        </p:nvSpPr>
        <p:spPr>
          <a:xfrm>
            <a:off x="1823504"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8" name="ovl_s08b_lab2"/>
          <p:cNvSpPr txBox="1"/>
          <p:nvPr/>
        </p:nvSpPr>
        <p:spPr>
          <a:xfrm>
            <a:off x="3900545" y="2141982"/>
            <a:ext cx="803415"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OCI 上で稼働</a:t>
            </a:r>
            <a:endParaRPr lang="en-US" sz="850" dirty="0"/>
          </a:p>
        </p:txBody>
      </p:sp>
      <p:sp>
        <p:nvSpPr>
          <p:cNvPr id="89" name="ovl_s08b_num3"/>
          <p:cNvSpPr/>
          <p:nvPr/>
        </p:nvSpPr>
        <p:spPr>
          <a:xfrm>
            <a:off x="4119372" y="2747772"/>
            <a:ext cx="237744" cy="237744"/>
          </a:xfrm>
          <a:prstGeom prst="ellipse">
            <a:avLst/>
          </a:prstGeom>
          <a:solidFill>
            <a:srgbClr val="1BA1A6"/>
          </a:solidFill>
          <a:ln w="12700">
            <a:solidFill>
              <a:srgbClr val="FFFFFF"/>
            </a:solidFill>
            <a:prstDash val="solid"/>
          </a:ln>
        </p:spPr>
      </p:sp>
      <p:sp>
        <p:nvSpPr>
          <p:cNvPr id="90" name="ovl_s08b_numt3"/>
          <p:cNvSpPr txBox="1"/>
          <p:nvPr/>
        </p:nvSpPr>
        <p:spPr>
          <a:xfrm>
            <a:off x="411937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1" name="ovl_s08b_lab4"/>
          <p:cNvSpPr txBox="1"/>
          <p:nvPr/>
        </p:nvSpPr>
        <p:spPr>
          <a:xfrm>
            <a:off x="3874008" y="3385566"/>
            <a:ext cx="85648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同じ DB を他社の DC へ</a:t>
            </a:r>
            <a:endParaRPr lang="en-US" sz="850" dirty="0"/>
          </a:p>
        </p:txBody>
      </p:sp>
      <p:sp>
        <p:nvSpPr>
          <p:cNvPr id="92" name="ovl_s08b_num5"/>
          <p:cNvSpPr/>
          <p:nvPr/>
        </p:nvSpPr>
        <p:spPr>
          <a:xfrm>
            <a:off x="6420612" y="2747772"/>
            <a:ext cx="237744" cy="237744"/>
          </a:xfrm>
          <a:prstGeom prst="ellipse">
            <a:avLst/>
          </a:prstGeom>
          <a:solidFill>
            <a:srgbClr val="767676"/>
          </a:solidFill>
          <a:ln w="12700">
            <a:solidFill>
              <a:srgbClr val="FFFFFF"/>
            </a:solidFill>
            <a:prstDash val="solid"/>
          </a:ln>
        </p:spPr>
      </p:sp>
      <p:sp>
        <p:nvSpPr>
          <p:cNvPr id="93" name="ovl_s08b_numt5"/>
          <p:cNvSpPr txBox="1"/>
          <p:nvPr/>
        </p:nvSpPr>
        <p:spPr>
          <a:xfrm>
            <a:off x="6420612" y="27477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94" name="ovl_s08b_lab6"/>
          <p:cNvSpPr txBox="1"/>
          <p:nvPr/>
        </p:nvSpPr>
        <p:spPr>
          <a:xfrm>
            <a:off x="3915118" y="410794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④ </a:t>
            </a:r>
            <a:r>
              <a:rPr lang="en-US" sz="850" dirty="0">
                <a:solidFill>
                  <a:srgbClr val="1BA1A6"/>
                </a:solidFill>
                <a:latin typeface="Meiryo UI" pitchFamily="34" charset="0"/>
                <a:ea typeface="Meiryo UI" pitchFamily="34" charset="-122"/>
                <a:cs typeface="Meiryo UI" pitchFamily="34" charset="-120"/>
              </a:rPr>
              <a:t>AI を内蔵</a:t>
            </a:r>
            <a:endParaRPr lang="en-US" sz="850" dirty="0"/>
          </a:p>
        </p:txBody>
      </p:sp>
      <p:sp>
        <p:nvSpPr>
          <p:cNvPr id="95" name="ovl_s08b_num7"/>
          <p:cNvSpPr/>
          <p:nvPr/>
        </p:nvSpPr>
        <p:spPr>
          <a:xfrm>
            <a:off x="4247388" y="4672584"/>
            <a:ext cx="237744" cy="237744"/>
          </a:xfrm>
          <a:prstGeom prst="ellipse">
            <a:avLst/>
          </a:prstGeom>
          <a:solidFill>
            <a:srgbClr val="0E4D33"/>
          </a:solidFill>
          <a:ln w="12700">
            <a:solidFill>
              <a:srgbClr val="FFFFFF"/>
            </a:solidFill>
            <a:prstDash val="solid"/>
          </a:ln>
        </p:spPr>
      </p:sp>
      <p:sp>
        <p:nvSpPr>
          <p:cNvPr id="96" name="ovl_s08b_numt7"/>
          <p:cNvSpPr txBox="1"/>
          <p:nvPr/>
        </p:nvSpPr>
        <p:spPr>
          <a:xfrm>
            <a:off x="4247388" y="46725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97" name="ovl_s08b_lab8"/>
          <p:cNvSpPr txBox="1"/>
          <p:nvPr/>
        </p:nvSpPr>
        <p:spPr>
          <a:xfrm>
            <a:off x="2429199" y="5008626"/>
            <a:ext cx="157288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⑥ </a:t>
            </a:r>
            <a:r>
              <a:rPr lang="en-US" sz="850" dirty="0">
                <a:solidFill>
                  <a:srgbClr val="0E4D33"/>
                </a:solidFill>
                <a:latin typeface="Meiryo UI" pitchFamily="34" charset="0"/>
                <a:ea typeface="Meiryo UI" pitchFamily="34" charset="-122"/>
                <a:cs typeface="Meiryo UI" pitchFamily="34" charset="-120"/>
              </a:rPr>
              <a:t>利用料と GPU 代の前払い</a:t>
            </a:r>
            <a:endParaRPr lang="en-US" sz="850" dirty="0"/>
          </a:p>
        </p:txBody>
      </p:sp>
      <p:sp>
        <p:nvSpPr>
          <p:cNvPr id="98" name="ovl_s08b_lab9"/>
          <p:cNvSpPr txBox="1"/>
          <p:nvPr/>
        </p:nvSpPr>
        <p:spPr>
          <a:xfrm>
            <a:off x="2755640" y="5433822"/>
            <a:ext cx="920001"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GPU の計算容量</a:t>
            </a:r>
            <a:endParaRPr lang="en-US" sz="850" dirty="0"/>
          </a:p>
        </p:txBody>
      </p:sp>
      <p:sp>
        <p:nvSpPr>
          <p:cNvPr id="99" name="ovl_s08b_lab10"/>
          <p:cNvSpPr txBox="1"/>
          <p:nvPr/>
        </p:nvSpPr>
        <p:spPr>
          <a:xfrm>
            <a:off x="6181382" y="5351526"/>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⑦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100" name="ovl_s08b_num11"/>
          <p:cNvSpPr/>
          <p:nvPr/>
        </p:nvSpPr>
        <p:spPr>
          <a:xfrm>
            <a:off x="6548628" y="4658868"/>
            <a:ext cx="237744" cy="237744"/>
          </a:xfrm>
          <a:prstGeom prst="ellipse">
            <a:avLst/>
          </a:prstGeom>
          <a:solidFill>
            <a:srgbClr val="0E4D33"/>
          </a:solidFill>
          <a:ln w="12700">
            <a:solidFill>
              <a:srgbClr val="FFFFFF"/>
            </a:solidFill>
            <a:prstDash val="solid"/>
          </a:ln>
        </p:spPr>
      </p:sp>
      <p:sp>
        <p:nvSpPr>
          <p:cNvPr id="101" name="ovl_s08b_numt11"/>
          <p:cNvSpPr txBox="1"/>
          <p:nvPr/>
        </p:nvSpPr>
        <p:spPr>
          <a:xfrm>
            <a:off x="6548628" y="46588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7</a:t>
            </a:r>
            <a:endParaRPr lang="en-US" sz="900" dirty="0"/>
          </a:p>
        </p:txBody>
      </p:sp>
      <p:sp>
        <p:nvSpPr>
          <p:cNvPr id="102" name="ovl_s08b_glab0"/>
          <p:cNvSpPr txBox="1"/>
          <p:nvPr/>
        </p:nvSpPr>
        <p:spPr>
          <a:xfrm>
            <a:off x="2621280" y="1828800"/>
            <a:ext cx="4511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稼ぐ柱</a:t>
            </a:r>
            <a:endParaRPr lang="en-US" sz="800" dirty="0"/>
          </a:p>
        </p:txBody>
      </p:sp>
      <p:sp>
        <p:nvSpPr>
          <p:cNvPr id="103" name="ovl_s08b_glab1"/>
          <p:cNvSpPr txBox="1"/>
          <p:nvPr/>
        </p:nvSpPr>
        <p:spPr>
          <a:xfrm>
            <a:off x="4794504"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伸びる柱</a:t>
            </a:r>
            <a:endParaRPr lang="en-US" sz="800" dirty="0"/>
          </a:p>
        </p:txBody>
      </p:sp>
      <p:sp>
        <p:nvSpPr>
          <p:cNvPr id="104" name="ovl_s08b_leg0"/>
          <p:cNvSpPr/>
          <p:nvPr/>
        </p:nvSpPr>
        <p:spPr>
          <a:xfrm>
            <a:off x="457200" y="5971032"/>
            <a:ext cx="365760" cy="914"/>
          </a:xfrm>
          <a:prstGeom prst="line">
            <a:avLst/>
          </a:prstGeom>
          <a:noFill/>
          <a:ln w="22225">
            <a:solidFill>
              <a:srgbClr val="0E4D33"/>
            </a:solidFill>
            <a:prstDash val="solid"/>
            <a:tailEnd type="triangle"/>
          </a:ln>
        </p:spPr>
      </p:sp>
      <p:sp>
        <p:nvSpPr>
          <p:cNvPr id="105" name="ovl_s08b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106" name="ovl_s08b_leg1"/>
          <p:cNvSpPr/>
          <p:nvPr/>
        </p:nvSpPr>
        <p:spPr>
          <a:xfrm>
            <a:off x="1874520" y="5971032"/>
            <a:ext cx="365760" cy="914"/>
          </a:xfrm>
          <a:prstGeom prst="line">
            <a:avLst/>
          </a:prstGeom>
          <a:noFill/>
          <a:ln w="19050">
            <a:solidFill>
              <a:srgbClr val="1BA1A6"/>
            </a:solidFill>
            <a:prstDash val="solid"/>
            <a:tailEnd type="triangle"/>
          </a:ln>
        </p:spPr>
      </p:sp>
      <p:sp>
        <p:nvSpPr>
          <p:cNvPr id="107" name="ovl_s08b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8" name="ovl_s08b_leg2"/>
          <p:cNvSpPr/>
          <p:nvPr/>
        </p:nvSpPr>
        <p:spPr>
          <a:xfrm>
            <a:off x="3291840" y="5971032"/>
            <a:ext cx="365760" cy="914"/>
          </a:xfrm>
          <a:prstGeom prst="line">
            <a:avLst/>
          </a:prstGeom>
          <a:noFill/>
          <a:ln w="12700">
            <a:solidFill>
              <a:srgbClr val="767676"/>
            </a:solidFill>
            <a:prstDash val="sysDash"/>
            <a:tailEnd type="triangle"/>
          </a:ln>
        </p:spPr>
      </p:sp>
      <p:sp>
        <p:nvSpPr>
          <p:cNvPr id="109" name="ovl_s08b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10" name="ovl_s08b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2" name="mech"/>
          <p:cNvSpPr txBox="1"/>
          <p:nvPr/>
        </p:nvSpPr>
        <p:spPr>
          <a:xfrm>
            <a:off x="8458200" y="1810512"/>
            <a:ext cx="3276295" cy="307797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既存顧客は保守料(ライセンスの年 22%)を払い続ける。切替に数年かかり、営業利益の柱になる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OCI へ持ち込むと必要なライセンスは半分。さらに OCI の利用額の 25% 以上を保守料から値引き</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同じ DB を AWS・Azure・Google の DC 内で提供。顧客は他社の契約枠で買え、売上は +353%</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26ai は DB に AI 検索とエージェントを追加費用なしで内蔵し、自社データで AI を動かす需要を DB の中に取り込む</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DB 保守と SaaS が生む税引後 約 230 億ドル/年が、AI 容量の建設の自己資金になる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⑥ </a:t>
            </a:r>
            <a:r>
              <a:rPr lang="en-US" sz="1050" dirty="0">
                <a:solidFill>
                  <a:srgbClr val="333333"/>
                </a:solidFill>
                <a:latin typeface="Meiryo UI" pitchFamily="34" charset="0"/>
                <a:ea typeface="Meiryo UI" pitchFamily="34" charset="-122"/>
                <a:cs typeface="Meiryo UI" pitchFamily="34" charset="-120"/>
              </a:rPr>
              <a:t>AI 研究所は容量の買い手であり、GPU 代の前払いや GPU の持込(該当契約 750 億ドル)で建設資金も出す</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⑦ </a:t>
            </a:r>
            <a:r>
              <a:rPr lang="en-US" sz="1050" dirty="0">
                <a:solidFill>
                  <a:srgbClr val="333333"/>
                </a:solidFill>
                <a:latin typeface="Meiryo UI" pitchFamily="34" charset="0"/>
                <a:ea typeface="Meiryo UI" pitchFamily="34" charset="-122"/>
                <a:cs typeface="Meiryo UI" pitchFamily="34" charset="-120"/>
              </a:rPr>
              <a:t>建屋は開発事業者が建てて 15〜19 年で貸す。不足分は社債 430 億ドルと ATM 200 億ドルで賄う</a:t>
            </a:r>
            <a:endParaRPr lang="en-US" sz="1050" dirty="0"/>
          </a:p>
        </p:txBody>
      </p:sp>
      <p:sp>
        <p:nvSpPr>
          <p:cNvPr id="113" name="ovl_takeaway_bg"/>
          <p:cNvSpPr/>
          <p:nvPr/>
        </p:nvSpPr>
        <p:spPr>
          <a:xfrm>
            <a:off x="8458200" y="5084064"/>
            <a:ext cx="3276295" cy="1005840"/>
          </a:xfrm>
          <a:prstGeom prst="rect">
            <a:avLst/>
          </a:prstGeom>
          <a:solidFill>
            <a:srgbClr val="EAF4EE"/>
          </a:solidFill>
          <a:ln w="12700">
            <a:solidFill>
              <a:srgbClr val="EAF4EE"/>
            </a:solidFill>
            <a:prstDash val="solid"/>
          </a:ln>
        </p:spPr>
      </p:sp>
      <p:sp>
        <p:nvSpPr>
          <p:cNvPr id="114" name="takeaway"/>
          <p:cNvSpPr txBox="1"/>
          <p:nvPr/>
        </p:nvSpPr>
        <p:spPr>
          <a:xfrm>
            <a:off x="8567928" y="5157216"/>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の顧客と現金が成長事業の土台。AI 容量だけは外部の資金(前払い・リース・社債)に頼り、ここが最大の争点</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2-1 事業理解(3/3)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成長分野</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今後の価値を左右する分野を、規模・伸び・確度で比べ、注目すべき順に絞り込む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注目度が最も高いのは AI 容量と Database@。AI 容量は規模で、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は伸びと DB 利益の延命で価値を動かす</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成長分野の比較(注目度の高い順)。右: 1 株価値 × 伸びで見た位置。注目度 = 価値への効きが大きいか、伸びが速く結果がまだ決まっていない分野</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需給エンジン第4.4版(セグメント価値)、research2/R4_database_at.md、research4/T4_ai_demand.md(Gartner)、会社開示(Q1 FY27)、本資料 2-6</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10</a:t>
            </a:r>
            <a:endParaRPr lang="en-US" sz="800" dirty="0"/>
          </a:p>
        </p:txBody>
      </p:sp>
      <p:graphicFrame>
        <p:nvGraphicFramePr>
          <p:cNvPr id="11"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498080" cy="914400"/>
        </p:xfrm>
        <a:graphic>
          <a:graphicData uri="http://schemas.openxmlformats.org/drawingml/2006/table">
            <a:tbl>
              <a:tblPr/>
              <a:tblGrid>
                <a:gridCol w="1234440"/>
                <a:gridCol w="1280160"/>
                <a:gridCol w="1234440"/>
                <a:gridCol w="1417320"/>
                <a:gridCol w="1600200"/>
                <a:gridCol w="731520"/>
              </a:tblGrid>
              <a:tr h="56692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分野</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規模(Q1 FY27)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伸び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1 株価値への効き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見るべき KPI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注目度</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区分</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74 億ドルの大半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IaaS +121%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 株 97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(価値の 41%)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納入 GW/四半期・AI</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粗利率・更新プレミアム</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額は非開示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+353%(4 期前は +1,529%)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FY30 に +5.4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DB 保守 45 ドルの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流出を防ぐ</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伸びの減速の速さ・顧客数(+180%)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Database 26ai</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非開示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未計上(オプション)</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顧客数と課金の開示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ソブリンクラウド</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UAE 1GW・</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日本に 80 億ドル超</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市場 +35.6%</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(2026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容量・OCI に含む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国別の受注の開示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BA1A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66928">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(AI エージェント)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42 億ドル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+10%(14% への加速を想定)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全体で</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 株 44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繰延収益の伸び・</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移行した社数</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76767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ovl_takeaway_bg"/>
          <p:cNvSpPr/>
          <p:nvPr/>
        </p:nvSpPr>
        <p:spPr>
          <a:xfrm>
            <a:off x="457200" y="5074920"/>
            <a:ext cx="7498080" cy="731520"/>
          </a:xfrm>
          <a:prstGeom prst="rect">
            <a:avLst/>
          </a:prstGeom>
          <a:solidFill>
            <a:srgbClr val="EAF4EE"/>
          </a:solidFill>
          <a:ln w="12700">
            <a:solidFill>
              <a:srgbClr val="EAF4EE"/>
            </a:solidFill>
            <a:prstDash val="solid"/>
          </a:ln>
        </p:spPr>
      </p:sp>
      <p:sp>
        <p:nvSpPr>
          <p:cNvPr id="21" name="takeaway"/>
          <p:cNvSpPr txBox="1"/>
          <p:nvPr/>
        </p:nvSpPr>
        <p:spPr>
          <a:xfrm>
            <a:off x="566928" y="5148072"/>
            <a:ext cx="727862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AI 容量は価値の大きさで、Database@ は DB の利益を他社クラウドへ広げて守る点で注目度が最も高い。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Database は数字が出るまでオプションとして扱う</a:t>
            </a:r>
            <a:endParaRPr lang="en-US" sz="1100" dirty="0"/>
          </a:p>
        </p:txBody>
      </p:sp>
      <p:sp>
        <p:nvSpPr>
          <p:cNvPr id="22" name="pane_head"/>
          <p:cNvSpPr txBox="1"/>
          <p:nvPr/>
        </p:nvSpPr>
        <p:spPr>
          <a:xfrm>
            <a:off x="8183880" y="1481328"/>
            <a:ext cx="354787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 株価値 × 伸びで見た位置</a:t>
            </a:r>
            <a:endParaRPr lang="en-US" sz="1200" dirty="0"/>
          </a:p>
        </p:txBody>
      </p:sp>
      <p:sp>
        <p:nvSpPr>
          <p:cNvPr id="23" name="mx_yt"/>
          <p:cNvSpPr txBox="1"/>
          <p:nvPr/>
        </p:nvSpPr>
        <p:spPr>
          <a:xfrm>
            <a:off x="8183880" y="1810512"/>
            <a:ext cx="1005840" cy="365760"/>
          </a:xfrm>
          <a:prstGeom prst="rect">
            <a:avLst/>
          </a:prstGeom>
          <a:noFill/>
          <a:ln/>
        </p:spPr>
        <p:txBody>
          <a:bodyPr wrap="square" lIns="0" tIns="0" rIns="0" bIns="0" rtlCol="0" anchor="b"/>
          <a:lstStyle/>
          <a:p>
            <a:pPr indent="0" marL="0">
              <a:buNone/>
            </a:pPr>
            <a:endParaRPr lang="en-US" sz="900" dirty="0"/>
          </a:p>
        </p:txBody>
      </p:sp>
      <p:sp>
        <p:nvSpPr>
          <p:cNvPr id="24" name="mx_x0"/>
          <p:cNvSpPr txBox="1"/>
          <p:nvPr/>
        </p:nvSpPr>
        <p:spPr>
          <a:xfrm>
            <a:off x="9189720"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穏やか</a:t>
            </a:r>
            <a:endParaRPr lang="en-US" sz="950" dirty="0"/>
          </a:p>
        </p:txBody>
      </p:sp>
      <p:sp>
        <p:nvSpPr>
          <p:cNvPr id="25" name="mx_x1"/>
          <p:cNvSpPr txBox="1"/>
          <p:nvPr/>
        </p:nvSpPr>
        <p:spPr>
          <a:xfrm>
            <a:off x="10460736" y="1810512"/>
            <a:ext cx="1271016"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伸び 速い</a:t>
            </a:r>
            <a:endParaRPr lang="en-US" sz="950" dirty="0"/>
          </a:p>
        </p:txBody>
      </p:sp>
      <p:sp>
        <p:nvSpPr>
          <p:cNvPr id="26" name="mx_y0"/>
          <p:cNvSpPr txBox="1"/>
          <p:nvPr/>
        </p:nvSpPr>
        <p:spPr>
          <a:xfrm>
            <a:off x="8183880" y="217627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大</a:t>
            </a:r>
            <a:endParaRPr lang="en-US" sz="950" dirty="0"/>
          </a:p>
        </p:txBody>
      </p:sp>
      <p:sp>
        <p:nvSpPr>
          <p:cNvPr id="27" name="ovl_mx0_0"/>
          <p:cNvSpPr/>
          <p:nvPr/>
        </p:nvSpPr>
        <p:spPr>
          <a:xfrm>
            <a:off x="9189720" y="2176272"/>
            <a:ext cx="1234440" cy="1289304"/>
          </a:xfrm>
          <a:prstGeom prst="rect">
            <a:avLst/>
          </a:prstGeom>
          <a:solidFill>
            <a:srgbClr val="FFFFFF"/>
          </a:solidFill>
          <a:ln w="9525">
            <a:solidFill>
              <a:srgbClr val="D9D9D9"/>
            </a:solidFill>
            <a:prstDash val="solid"/>
          </a:ln>
        </p:spPr>
      </p:sp>
      <p:sp>
        <p:nvSpPr>
          <p:cNvPr id="28" name="mx_t0_0"/>
          <p:cNvSpPr txBox="1"/>
          <p:nvPr/>
        </p:nvSpPr>
        <p:spPr>
          <a:xfrm>
            <a:off x="9235440" y="220370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SaaS</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DB 保守</a:t>
            </a:r>
            <a:endParaRPr lang="en-US" sz="950" dirty="0"/>
          </a:p>
        </p:txBody>
      </p:sp>
      <p:sp>
        <p:nvSpPr>
          <p:cNvPr id="29" name="ovl_mx1_0"/>
          <p:cNvSpPr/>
          <p:nvPr/>
        </p:nvSpPr>
        <p:spPr>
          <a:xfrm>
            <a:off x="10460736" y="2176272"/>
            <a:ext cx="1234440" cy="1289304"/>
          </a:xfrm>
          <a:prstGeom prst="rect">
            <a:avLst/>
          </a:prstGeom>
          <a:solidFill>
            <a:srgbClr val="197A56"/>
          </a:solidFill>
          <a:ln w="9525">
            <a:solidFill>
              <a:srgbClr val="D9D9D9"/>
            </a:solidFill>
            <a:prstDash val="solid"/>
          </a:ln>
        </p:spPr>
      </p:sp>
      <p:sp>
        <p:nvSpPr>
          <p:cNvPr id="30" name="mx_t1_0"/>
          <p:cNvSpPr txBox="1"/>
          <p:nvPr/>
        </p:nvSpPr>
        <p:spPr>
          <a:xfrm>
            <a:off x="10506456" y="2203704"/>
            <a:ext cx="1143000"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容量</a:t>
            </a:r>
            <a:endParaRPr lang="en-US" sz="950" dirty="0"/>
          </a:p>
        </p:txBody>
      </p:sp>
      <p:sp>
        <p:nvSpPr>
          <p:cNvPr id="31" name="mx_y1"/>
          <p:cNvSpPr txBox="1"/>
          <p:nvPr/>
        </p:nvSpPr>
        <p:spPr>
          <a:xfrm>
            <a:off x="8183880" y="3502152"/>
            <a:ext cx="960120" cy="132588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1 株価値 小</a:t>
            </a:r>
            <a:endParaRPr lang="en-US" sz="950" dirty="0"/>
          </a:p>
        </p:txBody>
      </p:sp>
      <p:sp>
        <p:nvSpPr>
          <p:cNvPr id="32" name="ovl_mx0_1"/>
          <p:cNvSpPr/>
          <p:nvPr/>
        </p:nvSpPr>
        <p:spPr>
          <a:xfrm>
            <a:off x="9189720" y="3502152"/>
            <a:ext cx="1234440" cy="1289304"/>
          </a:xfrm>
          <a:prstGeom prst="rect">
            <a:avLst/>
          </a:prstGeom>
          <a:solidFill>
            <a:srgbClr val="FFFFFF"/>
          </a:solidFill>
          <a:ln w="9525">
            <a:solidFill>
              <a:srgbClr val="D9D9D9"/>
            </a:solidFill>
            <a:prstDash val="solid"/>
          </a:ln>
        </p:spPr>
      </p:sp>
      <p:sp>
        <p:nvSpPr>
          <p:cNvPr id="33" name="mx_t0_1"/>
          <p:cNvSpPr txBox="1"/>
          <p:nvPr/>
        </p:nvSpPr>
        <p:spPr>
          <a:xfrm>
            <a:off x="9235440"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4" name="ovl_mx1_1"/>
          <p:cNvSpPr/>
          <p:nvPr/>
        </p:nvSpPr>
        <p:spPr>
          <a:xfrm>
            <a:off x="10460736" y="3502152"/>
            <a:ext cx="1234440" cy="1289304"/>
          </a:xfrm>
          <a:prstGeom prst="rect">
            <a:avLst/>
          </a:prstGeom>
          <a:solidFill>
            <a:srgbClr val="FFFFFF"/>
          </a:solidFill>
          <a:ln w="9525">
            <a:solidFill>
              <a:srgbClr val="D9D9D9"/>
            </a:solidFill>
            <a:prstDash val="solid"/>
          </a:ln>
        </p:spPr>
      </p:sp>
      <p:sp>
        <p:nvSpPr>
          <p:cNvPr id="35" name="mx_t1_1"/>
          <p:cNvSpPr txBox="1"/>
          <p:nvPr/>
        </p:nvSpPr>
        <p:spPr>
          <a:xfrm>
            <a:off x="10506456" y="3529584"/>
            <a:ext cx="1143000" cy="123444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Database@</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AI Database</a:t>
            </a:r>
            <a:endParaRPr lang="en-US" sz="950" dirty="0"/>
          </a:p>
        </p:txBody>
      </p:sp>
      <p:sp>
        <p:nvSpPr>
          <p:cNvPr id="36" name="mx_xt"/>
          <p:cNvSpPr txBox="1"/>
          <p:nvPr/>
        </p:nvSpPr>
        <p:spPr>
          <a:xfrm>
            <a:off x="9189720" y="4846320"/>
            <a:ext cx="2542032"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伸びは前年同期比</a:t>
            </a:r>
            <a:endParaRPr lang="en-US" sz="900" dirty="0"/>
          </a:p>
        </p:txBody>
      </p:sp>
      <p:sp>
        <p:nvSpPr>
          <p:cNvPr id="37" name="Text 34"/>
          <p:cNvSpPr txBox="1"/>
          <p:nvPr/>
        </p:nvSpPr>
        <p:spPr>
          <a:xfrm>
            <a:off x="8183880" y="5074920"/>
            <a:ext cx="354787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 = 1 株価値への効きが大きいか、伸びが速く結果が未確定の分野。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 = 伸びが穏やかで前提の幅が小さい分野。</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右下の 3 つは「次の大きな柱」の候補</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会社が描く成長の筋書きを 1 枚の図にし、以降の検証の地図にする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会社の筋書きは「FY28 末に約 10GW を建て、FY29 に FCF 300 億ドル、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FY30 に売上 2,250 億ドル・EPS 21 ドル」。進み方は電力と資本が決める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経営陣の発言と目標を、需要 → 資金 → 建設 → 収益化 → 成果の順に並べた。赤は筋書きの進み方を決める制約。下は AI 容量の道筋と節目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§4-1・4-2(FAM 2025-10、決算説明会、DEF 14A)、Investor Day 2026-10-28(8-K Ex.99.1、CFO 資料 p.4・8・26)、需給エンジン第4.4版(容量の道筋)</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11</a:t>
            </a:r>
            <a:endParaRPr lang="en-US" sz="800" dirty="0"/>
          </a:p>
        </p:txBody>
      </p:sp>
      <p:sp>
        <p:nvSpPr>
          <p:cNvPr id="19" name="goal_0"/>
          <p:cNvSpPr/>
          <p:nvPr/>
        </p:nvSpPr>
        <p:spPr>
          <a:xfrm>
            <a:off x="457200"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売上 2,250 億ドル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FY30 目標・FY26〜30 の CAGR 35% 超</a:t>
            </a:r>
            <a:endParaRPr lang="en-US" sz="1600" dirty="0"/>
          </a:p>
        </p:txBody>
      </p:sp>
      <p:sp>
        <p:nvSpPr>
          <p:cNvPr id="20" name="goal_1"/>
          <p:cNvSpPr/>
          <p:nvPr/>
        </p:nvSpPr>
        <p:spPr>
          <a:xfrm>
            <a:off x="3319272"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OCI 1,660 億ドル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売上に占める比率 38% → 74%</a:t>
            </a:r>
            <a:endParaRPr lang="en-US" sz="1600" dirty="0"/>
          </a:p>
        </p:txBody>
      </p:sp>
      <p:sp>
        <p:nvSpPr>
          <p:cNvPr id="21" name="goal_2"/>
          <p:cNvSpPr/>
          <p:nvPr/>
        </p:nvSpPr>
        <p:spPr>
          <a:xfrm>
            <a:off x="6181344"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EPS 21 ドル</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非GAAP・5 年 CAGR 28%</a:t>
            </a:r>
            <a:endParaRPr lang="en-US" sz="1600" dirty="0"/>
          </a:p>
        </p:txBody>
      </p:sp>
      <p:sp>
        <p:nvSpPr>
          <p:cNvPr id="22" name="goal_3"/>
          <p:cNvSpPr/>
          <p:nvPr/>
        </p:nvSpPr>
        <p:spPr>
          <a:xfrm>
            <a:off x="9043416" y="1517904"/>
            <a:ext cx="2697480" cy="713232"/>
          </a:xfrm>
          <a:prstGeom prst="rect">
            <a:avLst/>
          </a:prstGeom>
          <a:solidFill>
            <a:srgbClr val="EAF4EE"/>
          </a:solidFill>
          <a:ln w="9525">
            <a:solidFill>
              <a:srgbClr val="EAF4EE"/>
            </a:solidFill>
          </a:ln>
        </p:spPr>
        <p:txBody>
          <a:bodyPr wrap="square" lIns="508" tIns="508" rIns="508" bIns="508" rtlCol="0" anchor="ctr"/>
          <a:lstStyle/>
          <a:p>
            <a:pPr algn="ctr" indent="0" marL="0">
              <a:buNone/>
            </a:pPr>
            <a:r>
              <a:rPr lang="en-US" sz="1600" b="1" dirty="0">
                <a:solidFill>
                  <a:srgbClr val="197A56"/>
                </a:solidFill>
                <a:latin typeface="Meiryo UI" pitchFamily="34" charset="0"/>
                <a:ea typeface="Meiryo UI" pitchFamily="34" charset="-122"/>
                <a:cs typeface="Meiryo UI" pitchFamily="34" charset="-120"/>
              </a:rPr>
              <a:t>AI 容量の粗利 30〜40%</a:t>
            </a:r>
            <a:endParaRPr lang="en-US" sz="1600" dirty="0"/>
          </a:p>
          <a:p>
            <a:pPr algn="ctr" indent="0" marL="0">
              <a:buNone/>
            </a:pPr>
            <a:r>
              <a:rPr lang="en-US" sz="850" dirty="0">
                <a:solidFill>
                  <a:srgbClr val="767676"/>
                </a:solidFill>
                <a:latin typeface="Meiryo UI" pitchFamily="34" charset="0"/>
                <a:ea typeface="Meiryo UI" pitchFamily="34" charset="-122"/>
                <a:cs typeface="Meiryo UI" pitchFamily="34" charset="-120"/>
              </a:rPr>
              <a:t>立ち上がり後(会社の言葉)</a:t>
            </a:r>
            <a:endParaRPr lang="en-US" sz="1600" dirty="0"/>
          </a:p>
        </p:txBody>
      </p:sp>
      <p:sp>
        <p:nvSpPr>
          <p:cNvPr id="23" name="ovl_s08d_e0_0"/>
          <p:cNvSpPr/>
          <p:nvPr/>
        </p:nvSpPr>
        <p:spPr>
          <a:xfrm>
            <a:off x="2148840" y="3006090"/>
            <a:ext cx="704088" cy="914"/>
          </a:xfrm>
          <a:prstGeom prst="line">
            <a:avLst/>
          </a:prstGeom>
          <a:noFill/>
          <a:ln w="22225">
            <a:solidFill>
              <a:srgbClr val="0E4D33"/>
            </a:solidFill>
            <a:prstDash val="solid"/>
            <a:tailEnd type="triangle"/>
          </a:ln>
        </p:spPr>
      </p:sp>
      <p:sp>
        <p:nvSpPr>
          <p:cNvPr id="24" name="ovl_s08d_e1_0"/>
          <p:cNvSpPr/>
          <p:nvPr/>
        </p:nvSpPr>
        <p:spPr>
          <a:xfrm>
            <a:off x="4544568" y="3006090"/>
            <a:ext cx="704088" cy="914"/>
          </a:xfrm>
          <a:prstGeom prst="line">
            <a:avLst/>
          </a:prstGeom>
          <a:noFill/>
          <a:ln w="22225">
            <a:solidFill>
              <a:srgbClr val="0E4D33"/>
            </a:solidFill>
            <a:prstDash val="solid"/>
            <a:tailEnd type="triangle"/>
          </a:ln>
        </p:spPr>
      </p:sp>
      <p:sp>
        <p:nvSpPr>
          <p:cNvPr id="25" name="ovl_s08d_e2_0"/>
          <p:cNvSpPr/>
          <p:nvPr/>
        </p:nvSpPr>
        <p:spPr>
          <a:xfrm>
            <a:off x="6940296" y="2923794"/>
            <a:ext cx="704088" cy="914"/>
          </a:xfrm>
          <a:prstGeom prst="line">
            <a:avLst/>
          </a:prstGeom>
          <a:noFill/>
          <a:ln w="19050">
            <a:solidFill>
              <a:srgbClr val="1BA1A6"/>
            </a:solidFill>
            <a:prstDash val="solid"/>
            <a:tailEnd type="triangle"/>
          </a:ln>
        </p:spPr>
      </p:sp>
      <p:sp>
        <p:nvSpPr>
          <p:cNvPr id="26" name="ovl_s08d_e3_0"/>
          <p:cNvSpPr/>
          <p:nvPr/>
        </p:nvSpPr>
        <p:spPr>
          <a:xfrm>
            <a:off x="9336024" y="3006090"/>
            <a:ext cx="704088" cy="914"/>
          </a:xfrm>
          <a:prstGeom prst="line">
            <a:avLst/>
          </a:prstGeom>
          <a:noFill/>
          <a:ln w="22225">
            <a:solidFill>
              <a:srgbClr val="0E4D33"/>
            </a:solidFill>
            <a:prstDash val="solid"/>
            <a:tailEnd type="triangle"/>
          </a:ln>
        </p:spPr>
      </p:sp>
      <p:sp>
        <p:nvSpPr>
          <p:cNvPr id="27" name="ovl_s08d_e4_0"/>
          <p:cNvSpPr/>
          <p:nvPr/>
        </p:nvSpPr>
        <p:spPr>
          <a:xfrm flipH="1">
            <a:off x="6940296" y="3088386"/>
            <a:ext cx="704088" cy="914"/>
          </a:xfrm>
          <a:prstGeom prst="line">
            <a:avLst/>
          </a:prstGeom>
          <a:noFill/>
          <a:ln w="22225">
            <a:solidFill>
              <a:srgbClr val="0E4D33"/>
            </a:solidFill>
            <a:prstDash val="solid"/>
            <a:tailEnd type="triangle"/>
          </a:ln>
        </p:spPr>
      </p:sp>
      <p:sp>
        <p:nvSpPr>
          <p:cNvPr id="28" name="ovl_s08d_e5_0"/>
          <p:cNvSpPr/>
          <p:nvPr/>
        </p:nvSpPr>
        <p:spPr>
          <a:xfrm flipV="1">
            <a:off x="10885932" y="3417570"/>
            <a:ext cx="914" cy="251460"/>
          </a:xfrm>
          <a:prstGeom prst="line">
            <a:avLst/>
          </a:prstGeom>
          <a:noFill/>
          <a:ln w="19050">
            <a:solidFill>
              <a:srgbClr val="1BA1A6"/>
            </a:solidFill>
            <a:prstDash val="solid"/>
            <a:tailEnd type="triangle"/>
          </a:ln>
        </p:spPr>
      </p:sp>
      <p:sp>
        <p:nvSpPr>
          <p:cNvPr id="29" name="ovl_s08d_e6_0"/>
          <p:cNvSpPr/>
          <p:nvPr/>
        </p:nvSpPr>
        <p:spPr>
          <a:xfrm flipV="1">
            <a:off x="3698748" y="3417570"/>
            <a:ext cx="914" cy="251460"/>
          </a:xfrm>
          <a:prstGeom prst="line">
            <a:avLst/>
          </a:prstGeom>
          <a:noFill/>
          <a:ln w="15875">
            <a:solidFill>
              <a:srgbClr val="C0392B"/>
            </a:solidFill>
            <a:prstDash val="dash"/>
            <a:tailEnd type="triangle"/>
          </a:ln>
        </p:spPr>
      </p:sp>
      <p:sp>
        <p:nvSpPr>
          <p:cNvPr id="30" name="ovl_s08d_e7_0"/>
          <p:cNvSpPr/>
          <p:nvPr/>
        </p:nvSpPr>
        <p:spPr>
          <a:xfrm flipV="1">
            <a:off x="6094476" y="3417570"/>
            <a:ext cx="914" cy="251460"/>
          </a:xfrm>
          <a:prstGeom prst="line">
            <a:avLst/>
          </a:prstGeom>
          <a:noFill/>
          <a:ln w="15875">
            <a:solidFill>
              <a:srgbClr val="C0392B"/>
            </a:solidFill>
            <a:prstDash val="dash"/>
            <a:tailEnd type="triangle"/>
          </a:ln>
        </p:spPr>
      </p:sp>
      <p:sp>
        <p:nvSpPr>
          <p:cNvPr id="31" name="ovl_s08d_e8_0"/>
          <p:cNvSpPr/>
          <p:nvPr/>
        </p:nvSpPr>
        <p:spPr>
          <a:xfrm flipV="1">
            <a:off x="8490204" y="3417570"/>
            <a:ext cx="914" cy="251460"/>
          </a:xfrm>
          <a:prstGeom prst="line">
            <a:avLst/>
          </a:prstGeom>
          <a:noFill/>
          <a:ln w="15875">
            <a:solidFill>
              <a:srgbClr val="C0392B"/>
            </a:solidFill>
            <a:prstDash val="dash"/>
            <a:tailEnd type="triangle"/>
          </a:ln>
        </p:spPr>
      </p:sp>
      <p:sp>
        <p:nvSpPr>
          <p:cNvPr id="32" name="ovl_s08d_n_dem"/>
          <p:cNvSpPr/>
          <p:nvPr/>
        </p:nvSpPr>
        <p:spPr>
          <a:xfrm>
            <a:off x="457200" y="2594610"/>
            <a:ext cx="1691640" cy="822960"/>
          </a:xfrm>
          <a:prstGeom prst="roundRect">
            <a:avLst>
              <a:gd name="adj" fmla="val 6667"/>
            </a:avLst>
          </a:prstGeom>
          <a:solidFill>
            <a:srgbClr val="FFFFFF"/>
          </a:solidFill>
          <a:ln w="19050">
            <a:solidFill>
              <a:srgbClr val="197A56"/>
            </a:solidFill>
            <a:prstDash val="solid"/>
          </a:ln>
        </p:spPr>
      </p:sp>
      <p:sp>
        <p:nvSpPr>
          <p:cNvPr id="33" name="ovl_s08d_nt_dem"/>
          <p:cNvSpPr txBox="1"/>
          <p:nvPr/>
        </p:nvSpPr>
        <p:spPr>
          <a:xfrm>
            <a:off x="493776" y="262204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① 需要</a:t>
            </a:r>
            <a:endParaRPr lang="en-US" sz="1000" dirty="0"/>
          </a:p>
        </p:txBody>
      </p:sp>
      <p:sp>
        <p:nvSpPr>
          <p:cNvPr id="34" name="ovl_s08d_ns_dem"/>
          <p:cNvSpPr txBox="1"/>
          <p:nvPr/>
        </p:nvSpPr>
        <p:spPr>
          <a:xfrm>
            <a:off x="502920" y="282778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AI 研究所と企業の推論</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30 日で新規契約 650 億ドル</a:t>
            </a:r>
            <a:endParaRPr lang="en-US" sz="850" dirty="0"/>
          </a:p>
        </p:txBody>
      </p:sp>
      <p:sp>
        <p:nvSpPr>
          <p:cNvPr id="35" name="ovl_s08d_n_fin"/>
          <p:cNvSpPr/>
          <p:nvPr/>
        </p:nvSpPr>
        <p:spPr>
          <a:xfrm>
            <a:off x="2852928" y="2594610"/>
            <a:ext cx="1691640" cy="822960"/>
          </a:xfrm>
          <a:prstGeom prst="roundRect">
            <a:avLst>
              <a:gd name="adj" fmla="val 6667"/>
            </a:avLst>
          </a:prstGeom>
          <a:solidFill>
            <a:srgbClr val="FFFFFF"/>
          </a:solidFill>
          <a:ln w="19050">
            <a:solidFill>
              <a:srgbClr val="197A56"/>
            </a:solidFill>
            <a:prstDash val="solid"/>
          </a:ln>
        </p:spPr>
      </p:sp>
      <p:sp>
        <p:nvSpPr>
          <p:cNvPr id="36" name="ovl_s08d_nt_fin"/>
          <p:cNvSpPr txBox="1"/>
          <p:nvPr/>
        </p:nvSpPr>
        <p:spPr>
          <a:xfrm>
            <a:off x="2889504" y="262204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② 資金の外部化</a:t>
            </a:r>
            <a:endParaRPr lang="en-US" sz="1000" dirty="0"/>
          </a:p>
        </p:txBody>
      </p:sp>
      <p:sp>
        <p:nvSpPr>
          <p:cNvPr id="37" name="ovl_s08d_ns_fin"/>
          <p:cNvSpPr txBox="1"/>
          <p:nvPr/>
        </p:nvSpPr>
        <p:spPr>
          <a:xfrm>
            <a:off x="2898648" y="282778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前払い・BYOH・ベンダー金融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各 約 350〜400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追加調達は 200 億ドルが上限</a:t>
            </a:r>
            <a:endParaRPr lang="en-US" sz="850" dirty="0"/>
          </a:p>
        </p:txBody>
      </p:sp>
      <p:sp>
        <p:nvSpPr>
          <p:cNvPr id="38" name="ovl_s08d_n_bld"/>
          <p:cNvSpPr/>
          <p:nvPr/>
        </p:nvSpPr>
        <p:spPr>
          <a:xfrm>
            <a:off x="5248656" y="2594610"/>
            <a:ext cx="1691640" cy="822960"/>
          </a:xfrm>
          <a:prstGeom prst="roundRect">
            <a:avLst>
              <a:gd name="adj" fmla="val 6667"/>
            </a:avLst>
          </a:prstGeom>
          <a:solidFill>
            <a:srgbClr val="FFFFFF"/>
          </a:solidFill>
          <a:ln w="19050">
            <a:solidFill>
              <a:srgbClr val="197A56"/>
            </a:solidFill>
            <a:prstDash val="solid"/>
          </a:ln>
        </p:spPr>
      </p:sp>
      <p:sp>
        <p:nvSpPr>
          <p:cNvPr id="39" name="ovl_s08d_nt_bld"/>
          <p:cNvSpPr txBox="1"/>
          <p:nvPr/>
        </p:nvSpPr>
        <p:spPr>
          <a:xfrm>
            <a:off x="5285232" y="262204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③ 建設</a:t>
            </a:r>
            <a:endParaRPr lang="en-US" sz="1000" dirty="0"/>
          </a:p>
        </p:txBody>
      </p:sp>
      <p:sp>
        <p:nvSpPr>
          <p:cNvPr id="40" name="ovl_s08d_ns_bld"/>
          <p:cNvSpPr txBox="1"/>
          <p:nvPr/>
        </p:nvSpPr>
        <p:spPr>
          <a:xfrm>
            <a:off x="5294376" y="282778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総容量 FY26 約 3GW →</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FY28 末 約 10GW(7GW 追加)</a:t>
            </a:r>
            <a:endParaRPr lang="en-US" sz="850" dirty="0"/>
          </a:p>
        </p:txBody>
      </p:sp>
      <p:sp>
        <p:nvSpPr>
          <p:cNvPr id="41" name="ovl_s08d_n_mon"/>
          <p:cNvSpPr/>
          <p:nvPr/>
        </p:nvSpPr>
        <p:spPr>
          <a:xfrm>
            <a:off x="7644384" y="2594610"/>
            <a:ext cx="1691640" cy="822960"/>
          </a:xfrm>
          <a:prstGeom prst="roundRect">
            <a:avLst>
              <a:gd name="adj" fmla="val 6667"/>
            </a:avLst>
          </a:prstGeom>
          <a:solidFill>
            <a:srgbClr val="FFFFFF"/>
          </a:solidFill>
          <a:ln w="19050">
            <a:solidFill>
              <a:srgbClr val="197A56"/>
            </a:solidFill>
            <a:prstDash val="solid"/>
          </a:ln>
        </p:spPr>
      </p:sp>
      <p:sp>
        <p:nvSpPr>
          <p:cNvPr id="42" name="ovl_s08d_nt_mon"/>
          <p:cNvSpPr txBox="1"/>
          <p:nvPr/>
        </p:nvSpPr>
        <p:spPr>
          <a:xfrm>
            <a:off x="7680960" y="262204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④ 収益化</a:t>
            </a:r>
            <a:endParaRPr lang="en-US" sz="1000" dirty="0"/>
          </a:p>
        </p:txBody>
      </p:sp>
      <p:sp>
        <p:nvSpPr>
          <p:cNvPr id="43" name="ovl_s08d_ns_mon"/>
          <p:cNvSpPr txBox="1"/>
          <p:nvPr/>
        </p:nvSpPr>
        <p:spPr>
          <a:xfrm>
            <a:off x="7690104" y="282778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粗利 30〜40%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(立ち上がり後)</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更新は従来比 +20%</a:t>
            </a:r>
            <a:endParaRPr lang="en-US" sz="850" dirty="0"/>
          </a:p>
        </p:txBody>
      </p:sp>
      <p:sp>
        <p:nvSpPr>
          <p:cNvPr id="44" name="ovl_s08d_n_out"/>
          <p:cNvSpPr/>
          <p:nvPr/>
        </p:nvSpPr>
        <p:spPr>
          <a:xfrm>
            <a:off x="10040112" y="2594610"/>
            <a:ext cx="1691640" cy="822960"/>
          </a:xfrm>
          <a:prstGeom prst="roundRect">
            <a:avLst>
              <a:gd name="adj" fmla="val 6667"/>
            </a:avLst>
          </a:prstGeom>
          <a:solidFill>
            <a:srgbClr val="0E4D33"/>
          </a:solidFill>
          <a:ln w="9525">
            <a:solidFill>
              <a:srgbClr val="0E4D33"/>
            </a:solidFill>
            <a:prstDash val="solid"/>
          </a:ln>
        </p:spPr>
      </p:sp>
      <p:sp>
        <p:nvSpPr>
          <p:cNvPr id="45" name="ovl_s08d_nt_out"/>
          <p:cNvSpPr txBox="1"/>
          <p:nvPr/>
        </p:nvSpPr>
        <p:spPr>
          <a:xfrm>
            <a:off x="10076688" y="2622042"/>
            <a:ext cx="161848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⑥ 成果</a:t>
            </a:r>
            <a:endParaRPr lang="en-US" sz="1000" dirty="0"/>
          </a:p>
        </p:txBody>
      </p:sp>
      <p:sp>
        <p:nvSpPr>
          <p:cNvPr id="46" name="ovl_s08d_ns_out"/>
          <p:cNvSpPr txBox="1"/>
          <p:nvPr/>
        </p:nvSpPr>
        <p:spPr>
          <a:xfrm>
            <a:off x="10085832" y="2827782"/>
            <a:ext cx="1600200" cy="562356"/>
          </a:xfrm>
          <a:prstGeom prst="rect">
            <a:avLst/>
          </a:prstGeom>
          <a:noFill/>
          <a:ln/>
        </p:spPr>
        <p:txBody>
          <a:bodyPr wrap="square" lIns="0" tIns="0" rIns="0" bIns="0" rtlCol="0" anchor="t"/>
          <a:lstStyle/>
          <a:p>
            <a:pPr algn="ctr" indent="0" marL="0">
              <a:buNone/>
            </a:pPr>
            <a:r>
              <a:rPr lang="en-US" sz="800" dirty="0">
                <a:solidFill>
                  <a:srgbClr val="FFFFFF"/>
                </a:solidFill>
                <a:latin typeface="Meiryo UI" pitchFamily="34" charset="0"/>
                <a:ea typeface="Meiryo UI" pitchFamily="34" charset="-122"/>
                <a:cs typeface="Meiryo UI" pitchFamily="34" charset="-120"/>
              </a:rPr>
              <a:t>FY30 売上 2,250 億ドル</a:t>
            </a:r>
            <a:endParaRPr lang="en-US" sz="800" dirty="0"/>
          </a:p>
          <a:p>
            <a:pPr algn="ctr" indent="0" marL="0">
              <a:buNone/>
            </a:pPr>
            <a:r>
              <a:rPr lang="en-US" sz="800" dirty="0">
                <a:solidFill>
                  <a:srgbClr val="FFFFFF"/>
                </a:solidFill>
                <a:latin typeface="Meiryo UI" pitchFamily="34" charset="0"/>
                <a:ea typeface="Meiryo UI" pitchFamily="34" charset="-122"/>
                <a:cs typeface="Meiryo UI" pitchFamily="34" charset="-120"/>
              </a:rPr>
              <a:t>営業利益率 40%・EPS 21 ドル</a:t>
            </a:r>
            <a:endParaRPr lang="en-US" sz="800" dirty="0"/>
          </a:p>
        </p:txBody>
      </p:sp>
      <p:sp>
        <p:nvSpPr>
          <p:cNvPr id="47" name="ovl_s08d_n_quote"/>
          <p:cNvSpPr/>
          <p:nvPr/>
        </p:nvSpPr>
        <p:spPr>
          <a:xfrm>
            <a:off x="457200" y="3669030"/>
            <a:ext cx="1691640" cy="822960"/>
          </a:xfrm>
          <a:prstGeom prst="roundRect">
            <a:avLst>
              <a:gd name="adj" fmla="val 6667"/>
            </a:avLst>
          </a:prstGeom>
          <a:solidFill>
            <a:srgbClr val="EAF4EE"/>
          </a:solidFill>
          <a:ln w="9525">
            <a:solidFill>
              <a:srgbClr val="86C99B"/>
            </a:solidFill>
            <a:prstDash val="solid"/>
          </a:ln>
        </p:spPr>
      </p:sp>
      <p:sp>
        <p:nvSpPr>
          <p:cNvPr id="48" name="ovl_s08d_nt_quote"/>
          <p:cNvSpPr txBox="1"/>
          <p:nvPr/>
        </p:nvSpPr>
        <p:spPr>
          <a:xfrm>
            <a:off x="493776" y="369646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会社の言葉</a:t>
            </a:r>
            <a:endParaRPr lang="en-US" sz="1000" dirty="0"/>
          </a:p>
        </p:txBody>
      </p:sp>
      <p:sp>
        <p:nvSpPr>
          <p:cNvPr id="49" name="ovl_s08d_ns_quote"/>
          <p:cNvSpPr txBox="1"/>
          <p:nvPr/>
        </p:nvSpPr>
        <p:spPr>
          <a:xfrm>
            <a:off x="502920" y="3902202"/>
            <a:ext cx="1600200" cy="56235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「最終的に粗利 30〜40%」</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「前払いでも利益率は</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下がらない」</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「全量を +20% で更新・再販」</a:t>
            </a:r>
            <a:endParaRPr lang="en-US" sz="800" dirty="0"/>
          </a:p>
        </p:txBody>
      </p:sp>
      <p:sp>
        <p:nvSpPr>
          <p:cNvPr id="50" name="ovl_s08d_n_cap"/>
          <p:cNvSpPr/>
          <p:nvPr/>
        </p:nvSpPr>
        <p:spPr>
          <a:xfrm>
            <a:off x="2852928" y="3669030"/>
            <a:ext cx="1691640" cy="822960"/>
          </a:xfrm>
          <a:prstGeom prst="roundRect">
            <a:avLst>
              <a:gd name="adj" fmla="val 6667"/>
            </a:avLst>
          </a:prstGeom>
          <a:solidFill>
            <a:srgbClr val="FFFFFF"/>
          </a:solidFill>
          <a:ln w="19050">
            <a:solidFill>
              <a:srgbClr val="C0392B"/>
            </a:solidFill>
            <a:prstDash val="solid"/>
          </a:ln>
        </p:spPr>
      </p:sp>
      <p:sp>
        <p:nvSpPr>
          <p:cNvPr id="51" name="ovl_s08d_nt_cap"/>
          <p:cNvSpPr txBox="1"/>
          <p:nvPr/>
        </p:nvSpPr>
        <p:spPr>
          <a:xfrm>
            <a:off x="2889504" y="3696462"/>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資本と格付け</a:t>
            </a:r>
            <a:endParaRPr lang="en-US" sz="1000" dirty="0"/>
          </a:p>
        </p:txBody>
      </p:sp>
      <p:sp>
        <p:nvSpPr>
          <p:cNvPr id="52" name="ovl_s08d_ns_cap"/>
          <p:cNvSpPr txBox="1"/>
          <p:nvPr/>
        </p:nvSpPr>
        <p:spPr>
          <a:xfrm>
            <a:off x="2898648" y="3902202"/>
            <a:ext cx="1600200" cy="56235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BBB−、FY27 の純現金</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capex 700 億ドル以下</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FY33: 7GW の更新期</a:t>
            </a:r>
            <a:endParaRPr lang="en-US" sz="800" dirty="0"/>
          </a:p>
        </p:txBody>
      </p:sp>
      <p:sp>
        <p:nvSpPr>
          <p:cNvPr id="53" name="ovl_s08d_n_pow"/>
          <p:cNvSpPr/>
          <p:nvPr/>
        </p:nvSpPr>
        <p:spPr>
          <a:xfrm>
            <a:off x="5248656" y="3669030"/>
            <a:ext cx="1691640" cy="822960"/>
          </a:xfrm>
          <a:prstGeom prst="roundRect">
            <a:avLst>
              <a:gd name="adj" fmla="val 6667"/>
            </a:avLst>
          </a:prstGeom>
          <a:solidFill>
            <a:srgbClr val="FFFFFF"/>
          </a:solidFill>
          <a:ln w="19050">
            <a:solidFill>
              <a:srgbClr val="C0392B"/>
            </a:solidFill>
            <a:prstDash val="solid"/>
          </a:ln>
        </p:spPr>
      </p:sp>
      <p:sp>
        <p:nvSpPr>
          <p:cNvPr id="54" name="ovl_s08d_nt_pow"/>
          <p:cNvSpPr txBox="1"/>
          <p:nvPr/>
        </p:nvSpPr>
        <p:spPr>
          <a:xfrm>
            <a:off x="5285232" y="3696462"/>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電力の解放</a:t>
            </a:r>
            <a:endParaRPr lang="en-US" sz="1000" dirty="0"/>
          </a:p>
        </p:txBody>
      </p:sp>
      <p:sp>
        <p:nvSpPr>
          <p:cNvPr id="55" name="ovl_s08d_ns_pow"/>
          <p:cNvSpPr txBox="1"/>
          <p:nvPr/>
        </p:nvSpPr>
        <p:spPr>
          <a:xfrm>
            <a:off x="5294376" y="390220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ガス管の延期(2027-02)</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不可抗力通知の報道</a:t>
            </a:r>
            <a:endParaRPr lang="en-US" sz="850" dirty="0"/>
          </a:p>
        </p:txBody>
      </p:sp>
      <p:sp>
        <p:nvSpPr>
          <p:cNvPr id="56" name="ovl_s08d_n_oai"/>
          <p:cNvSpPr/>
          <p:nvPr/>
        </p:nvSpPr>
        <p:spPr>
          <a:xfrm>
            <a:off x="7644384" y="3669030"/>
            <a:ext cx="1691640" cy="822960"/>
          </a:xfrm>
          <a:prstGeom prst="roundRect">
            <a:avLst>
              <a:gd name="adj" fmla="val 6667"/>
            </a:avLst>
          </a:prstGeom>
          <a:solidFill>
            <a:srgbClr val="FFFFFF"/>
          </a:solidFill>
          <a:ln w="19050">
            <a:solidFill>
              <a:srgbClr val="C0392B"/>
            </a:solidFill>
            <a:prstDash val="solid"/>
          </a:ln>
        </p:spPr>
      </p:sp>
      <p:sp>
        <p:nvSpPr>
          <p:cNvPr id="57" name="ovl_s08d_nt_oai"/>
          <p:cNvSpPr txBox="1"/>
          <p:nvPr/>
        </p:nvSpPr>
        <p:spPr>
          <a:xfrm>
            <a:off x="7680960" y="3696462"/>
            <a:ext cx="16184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の支払能力</a:t>
            </a:r>
            <a:endParaRPr lang="en-US" sz="1000" dirty="0"/>
          </a:p>
        </p:txBody>
      </p:sp>
      <p:sp>
        <p:nvSpPr>
          <p:cNvPr id="58" name="ovl_s08d_ns_oai"/>
          <p:cNvSpPr txBox="1"/>
          <p:nvPr/>
        </p:nvSpPr>
        <p:spPr>
          <a:xfrm>
            <a:off x="7690104" y="390220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受注残の約 45%</a:t>
            </a:r>
            <a:endParaRPr lang="en-US" sz="850" dirty="0"/>
          </a:p>
        </p:txBody>
      </p:sp>
      <p:sp>
        <p:nvSpPr>
          <p:cNvPr id="59" name="ovl_s08d_n_add"/>
          <p:cNvSpPr/>
          <p:nvPr/>
        </p:nvSpPr>
        <p:spPr>
          <a:xfrm>
            <a:off x="10040112" y="3669030"/>
            <a:ext cx="1691640" cy="822960"/>
          </a:xfrm>
          <a:prstGeom prst="roundRect">
            <a:avLst>
              <a:gd name="adj" fmla="val 6667"/>
            </a:avLst>
          </a:prstGeom>
          <a:solidFill>
            <a:srgbClr val="FFFFFF"/>
          </a:solidFill>
          <a:ln w="19050">
            <a:solidFill>
              <a:srgbClr val="197A56"/>
            </a:solidFill>
            <a:prstDash val="solid"/>
          </a:ln>
        </p:spPr>
      </p:sp>
      <p:sp>
        <p:nvSpPr>
          <p:cNvPr id="60" name="ovl_s08d_nt_add"/>
          <p:cNvSpPr txBox="1"/>
          <p:nvPr/>
        </p:nvSpPr>
        <p:spPr>
          <a:xfrm>
            <a:off x="10076688" y="3696462"/>
            <a:ext cx="16184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⑤ 上積み</a:t>
            </a:r>
            <a:endParaRPr lang="en-US" sz="1000" dirty="0"/>
          </a:p>
        </p:txBody>
      </p:sp>
      <p:sp>
        <p:nvSpPr>
          <p:cNvPr id="61" name="ovl_s08d_ns_add"/>
          <p:cNvSpPr txBox="1"/>
          <p:nvPr/>
        </p:nvSpPr>
        <p:spPr>
          <a:xfrm>
            <a:off x="10085832" y="3902202"/>
            <a:ext cx="1600200" cy="56235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Database@・AI Database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SaaS のエージェント</a:t>
            </a:r>
            <a:endParaRPr lang="en-US" sz="850" dirty="0"/>
          </a:p>
        </p:txBody>
      </p:sp>
      <p:sp>
        <p:nvSpPr>
          <p:cNvPr id="62" name="ovl_s08d_lab0"/>
          <p:cNvSpPr txBox="1"/>
          <p:nvPr/>
        </p:nvSpPr>
        <p:spPr>
          <a:xfrm>
            <a:off x="2180844" y="2631186"/>
            <a:ext cx="640080"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契約が</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資金を呼ぶ</a:t>
            </a:r>
            <a:endParaRPr lang="en-US" sz="850" dirty="0"/>
          </a:p>
        </p:txBody>
      </p:sp>
      <p:sp>
        <p:nvSpPr>
          <p:cNvPr id="63" name="ovl_s08d_lab1"/>
          <p:cNvSpPr txBox="1"/>
          <p:nvPr/>
        </p:nvSpPr>
        <p:spPr>
          <a:xfrm>
            <a:off x="4725162" y="2772918"/>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建設</a:t>
            </a:r>
            <a:endParaRPr lang="en-US" sz="850" dirty="0"/>
          </a:p>
        </p:txBody>
      </p:sp>
      <p:sp>
        <p:nvSpPr>
          <p:cNvPr id="64" name="ovl_s08d_lab2"/>
          <p:cNvSpPr txBox="1"/>
          <p:nvPr/>
        </p:nvSpPr>
        <p:spPr>
          <a:xfrm>
            <a:off x="7120890" y="269062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稼働</a:t>
            </a:r>
            <a:endParaRPr lang="en-US" sz="850" dirty="0"/>
          </a:p>
        </p:txBody>
      </p:sp>
      <p:sp>
        <p:nvSpPr>
          <p:cNvPr id="65" name="ovl_s08d_lab3"/>
          <p:cNvSpPr txBox="1"/>
          <p:nvPr/>
        </p:nvSpPr>
        <p:spPr>
          <a:xfrm>
            <a:off x="9341739" y="2772918"/>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売上・利益</a:t>
            </a:r>
            <a:endParaRPr lang="en-US" sz="850" dirty="0"/>
          </a:p>
        </p:txBody>
      </p:sp>
      <p:sp>
        <p:nvSpPr>
          <p:cNvPr id="66" name="ovl_s08d_lab4"/>
          <p:cNvSpPr txBox="1"/>
          <p:nvPr/>
        </p:nvSpPr>
        <p:spPr>
          <a:xfrm>
            <a:off x="6972300" y="3115818"/>
            <a:ext cx="640080"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現金が次の</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建設へ</a:t>
            </a:r>
            <a:endParaRPr lang="en-US" sz="850" dirty="0"/>
          </a:p>
        </p:txBody>
      </p:sp>
      <p:sp>
        <p:nvSpPr>
          <p:cNvPr id="67" name="ovl_s08d_lab5"/>
          <p:cNvSpPr txBox="1"/>
          <p:nvPr/>
        </p:nvSpPr>
        <p:spPr>
          <a:xfrm>
            <a:off x="10931652" y="3440430"/>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上積み</a:t>
            </a:r>
            <a:endParaRPr lang="en-US" sz="850" dirty="0"/>
          </a:p>
        </p:txBody>
      </p:sp>
      <p:sp>
        <p:nvSpPr>
          <p:cNvPr id="68" name="ovl_s08d_lab6"/>
          <p:cNvSpPr txBox="1"/>
          <p:nvPr/>
        </p:nvSpPr>
        <p:spPr>
          <a:xfrm>
            <a:off x="3744468"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上限</a:t>
            </a:r>
            <a:endParaRPr lang="en-US" sz="850" dirty="0"/>
          </a:p>
        </p:txBody>
      </p:sp>
      <p:sp>
        <p:nvSpPr>
          <p:cNvPr id="69" name="ovl_s08d_lab7"/>
          <p:cNvSpPr txBox="1"/>
          <p:nvPr/>
        </p:nvSpPr>
        <p:spPr>
          <a:xfrm>
            <a:off x="6140196"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律速</a:t>
            </a:r>
            <a:endParaRPr lang="en-US" sz="850" dirty="0"/>
          </a:p>
        </p:txBody>
      </p:sp>
      <p:sp>
        <p:nvSpPr>
          <p:cNvPr id="70" name="ovl_s08d_lab8"/>
          <p:cNvSpPr txBox="1"/>
          <p:nvPr/>
        </p:nvSpPr>
        <p:spPr>
          <a:xfrm>
            <a:off x="8535924" y="3440430"/>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集中</a:t>
            </a:r>
            <a:endParaRPr lang="en-US" sz="850" dirty="0"/>
          </a:p>
        </p:txBody>
      </p:sp>
      <p:sp>
        <p:nvSpPr>
          <p:cNvPr id="71" name="ovl_s08d_leg0"/>
          <p:cNvSpPr/>
          <p:nvPr/>
        </p:nvSpPr>
        <p:spPr>
          <a:xfrm>
            <a:off x="457200" y="4773168"/>
            <a:ext cx="365760" cy="914"/>
          </a:xfrm>
          <a:prstGeom prst="line">
            <a:avLst/>
          </a:prstGeom>
          <a:noFill/>
          <a:ln w="22225">
            <a:solidFill>
              <a:srgbClr val="0E4D33"/>
            </a:solidFill>
            <a:prstDash val="solid"/>
            <a:tailEnd type="triangle"/>
          </a:ln>
        </p:spPr>
      </p:sp>
      <p:sp>
        <p:nvSpPr>
          <p:cNvPr id="72" name="ovl_s08d_legt0"/>
          <p:cNvSpPr txBox="1"/>
          <p:nvPr/>
        </p:nvSpPr>
        <p:spPr>
          <a:xfrm>
            <a:off x="87782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73" name="ovl_s08d_leg1"/>
          <p:cNvSpPr/>
          <p:nvPr/>
        </p:nvSpPr>
        <p:spPr>
          <a:xfrm>
            <a:off x="1874520" y="4773168"/>
            <a:ext cx="365760" cy="914"/>
          </a:xfrm>
          <a:prstGeom prst="line">
            <a:avLst/>
          </a:prstGeom>
          <a:noFill/>
          <a:ln w="19050">
            <a:solidFill>
              <a:srgbClr val="1BA1A6"/>
            </a:solidFill>
            <a:prstDash val="solid"/>
            <a:tailEnd type="triangle"/>
          </a:ln>
        </p:spPr>
      </p:sp>
      <p:sp>
        <p:nvSpPr>
          <p:cNvPr id="74" name="ovl_s08d_legt1"/>
          <p:cNvSpPr txBox="1"/>
          <p:nvPr/>
        </p:nvSpPr>
        <p:spPr>
          <a:xfrm>
            <a:off x="229514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75" name="ovl_s08d_leg2"/>
          <p:cNvSpPr/>
          <p:nvPr/>
        </p:nvSpPr>
        <p:spPr>
          <a:xfrm>
            <a:off x="3291840" y="4773168"/>
            <a:ext cx="365760" cy="914"/>
          </a:xfrm>
          <a:prstGeom prst="line">
            <a:avLst/>
          </a:prstGeom>
          <a:noFill/>
          <a:ln w="15875">
            <a:solidFill>
              <a:srgbClr val="C0392B"/>
            </a:solidFill>
            <a:prstDash val="dash"/>
            <a:tailEnd type="triangle"/>
          </a:ln>
        </p:spPr>
      </p:sp>
      <p:sp>
        <p:nvSpPr>
          <p:cNvPr id="76" name="ovl_s08d_legt2"/>
          <p:cNvSpPr txBox="1"/>
          <p:nvPr/>
        </p:nvSpPr>
        <p:spPr>
          <a:xfrm>
            <a:off x="3712464" y="4672584"/>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77" name="ovl_tl_head"/>
          <p:cNvSpPr txBox="1"/>
          <p:nvPr/>
        </p:nvSpPr>
        <p:spPr>
          <a:xfrm>
            <a:off x="457200" y="5010912"/>
            <a:ext cx="2011680" cy="201168"/>
          </a:xfrm>
          <a:prstGeom prst="rect">
            <a:avLst/>
          </a:prstGeom>
          <a:noFill/>
          <a:ln/>
        </p:spPr>
        <p:txBody>
          <a:bodyPr wrap="square" lIns="0" tIns="0" rIns="0" bIns="0" rtlCol="0" anchor="ctr"/>
          <a:lstStyle/>
          <a:p>
            <a:pPr indent="0" marL="0">
              <a:buNone/>
            </a:pPr>
            <a:r>
              <a:rPr lang="en-US" sz="900" b="1" dirty="0">
                <a:solidFill>
                  <a:srgbClr val="0E4D33"/>
                </a:solidFill>
                <a:latin typeface="Meiryo UI" pitchFamily="34" charset="0"/>
                <a:ea typeface="Meiryo UI" pitchFamily="34" charset="-122"/>
                <a:cs typeface="Meiryo UI" pitchFamily="34" charset="-120"/>
              </a:rPr>
              <a:t>AI 容量(需給エンジン第4.4版)</a:t>
            </a:r>
            <a:endParaRPr lang="en-US" sz="900" dirty="0"/>
          </a:p>
        </p:txBody>
      </p:sp>
      <p:sp>
        <p:nvSpPr>
          <p:cNvPr id="78" name="ovl_tl_axis"/>
          <p:cNvSpPr/>
          <p:nvPr/>
        </p:nvSpPr>
        <p:spPr>
          <a:xfrm>
            <a:off x="731520" y="5559552"/>
            <a:ext cx="8321040" cy="914"/>
          </a:xfrm>
          <a:prstGeom prst="line">
            <a:avLst/>
          </a:prstGeom>
          <a:noFill/>
          <a:ln w="15875">
            <a:solidFill>
              <a:srgbClr val="767676"/>
            </a:solidFill>
            <a:prstDash val="solid"/>
          </a:ln>
        </p:spPr>
      </p:sp>
      <p:sp>
        <p:nvSpPr>
          <p:cNvPr id="79" name="ovl_tl_axis2"/>
          <p:cNvSpPr/>
          <p:nvPr/>
        </p:nvSpPr>
        <p:spPr>
          <a:xfrm>
            <a:off x="9052560" y="5559552"/>
            <a:ext cx="2377440" cy="914"/>
          </a:xfrm>
          <a:prstGeom prst="line">
            <a:avLst/>
          </a:prstGeom>
          <a:noFill/>
          <a:ln w="15875">
            <a:solidFill>
              <a:srgbClr val="767676"/>
            </a:solidFill>
            <a:prstDash val="sysDash"/>
          </a:ln>
        </p:spPr>
      </p:sp>
      <p:sp>
        <p:nvSpPr>
          <p:cNvPr id="80" name="ovl_tl_dot_FY26"/>
          <p:cNvSpPr/>
          <p:nvPr/>
        </p:nvSpPr>
        <p:spPr>
          <a:xfrm>
            <a:off x="1664208" y="5486400"/>
            <a:ext cx="146304" cy="146304"/>
          </a:xfrm>
          <a:prstGeom prst="ellipse">
            <a:avLst/>
          </a:prstGeom>
          <a:solidFill>
            <a:srgbClr val="197A56"/>
          </a:solidFill>
          <a:ln w="12700">
            <a:solidFill>
              <a:srgbClr val="197A56"/>
            </a:solidFill>
            <a:prstDash val="solid"/>
          </a:ln>
        </p:spPr>
      </p:sp>
      <p:sp>
        <p:nvSpPr>
          <p:cNvPr id="81" name="ovl_tl_tick_FY26"/>
          <p:cNvSpPr txBox="1"/>
          <p:nvPr/>
        </p:nvSpPr>
        <p:spPr>
          <a:xfrm>
            <a:off x="1371600" y="566928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FY26</a:t>
            </a:r>
            <a:endParaRPr lang="en-US" sz="850" dirty="0"/>
          </a:p>
        </p:txBody>
      </p:sp>
      <p:sp>
        <p:nvSpPr>
          <p:cNvPr id="82" name="ovl_tl_dot_FY27"/>
          <p:cNvSpPr/>
          <p:nvPr/>
        </p:nvSpPr>
        <p:spPr>
          <a:xfrm>
            <a:off x="3493008" y="5486400"/>
            <a:ext cx="146304" cy="146304"/>
          </a:xfrm>
          <a:prstGeom prst="ellipse">
            <a:avLst/>
          </a:prstGeom>
          <a:solidFill>
            <a:srgbClr val="197A56"/>
          </a:solidFill>
          <a:ln w="12700">
            <a:solidFill>
              <a:srgbClr val="197A56"/>
            </a:solidFill>
            <a:prstDash val="solid"/>
          </a:ln>
        </p:spPr>
      </p:sp>
      <p:sp>
        <p:nvSpPr>
          <p:cNvPr id="83" name="ovl_tl_tick_FY27"/>
          <p:cNvSpPr txBox="1"/>
          <p:nvPr/>
        </p:nvSpPr>
        <p:spPr>
          <a:xfrm>
            <a:off x="3200400" y="566928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FY27</a:t>
            </a:r>
            <a:endParaRPr lang="en-US" sz="850" dirty="0"/>
          </a:p>
        </p:txBody>
      </p:sp>
      <p:sp>
        <p:nvSpPr>
          <p:cNvPr id="84" name="ovl_tl_val_FY27"/>
          <p:cNvSpPr txBox="1"/>
          <p:nvPr/>
        </p:nvSpPr>
        <p:spPr>
          <a:xfrm>
            <a:off x="3108960" y="528523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4.7GW</a:t>
            </a:r>
            <a:endParaRPr lang="en-US" sz="1000" dirty="0"/>
          </a:p>
        </p:txBody>
      </p:sp>
      <p:sp>
        <p:nvSpPr>
          <p:cNvPr id="85" name="ovl_tl_dot_FY28"/>
          <p:cNvSpPr/>
          <p:nvPr/>
        </p:nvSpPr>
        <p:spPr>
          <a:xfrm>
            <a:off x="5321808" y="5486400"/>
            <a:ext cx="146304" cy="146304"/>
          </a:xfrm>
          <a:prstGeom prst="ellipse">
            <a:avLst/>
          </a:prstGeom>
          <a:solidFill>
            <a:srgbClr val="197A56"/>
          </a:solidFill>
          <a:ln w="12700">
            <a:solidFill>
              <a:srgbClr val="197A56"/>
            </a:solidFill>
            <a:prstDash val="solid"/>
          </a:ln>
        </p:spPr>
      </p:sp>
      <p:sp>
        <p:nvSpPr>
          <p:cNvPr id="86" name="ovl_tl_tick_FY28"/>
          <p:cNvSpPr txBox="1"/>
          <p:nvPr/>
        </p:nvSpPr>
        <p:spPr>
          <a:xfrm>
            <a:off x="5029200" y="566928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FY28</a:t>
            </a:r>
            <a:endParaRPr lang="en-US" sz="850" dirty="0"/>
          </a:p>
        </p:txBody>
      </p:sp>
      <p:sp>
        <p:nvSpPr>
          <p:cNvPr id="87" name="ovl_tl_val_FY28"/>
          <p:cNvSpPr txBox="1"/>
          <p:nvPr/>
        </p:nvSpPr>
        <p:spPr>
          <a:xfrm>
            <a:off x="4937760" y="528523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8.7GW</a:t>
            </a:r>
            <a:endParaRPr lang="en-US" sz="1000" dirty="0"/>
          </a:p>
        </p:txBody>
      </p:sp>
      <p:sp>
        <p:nvSpPr>
          <p:cNvPr id="88" name="ovl_tl_dot_FY29"/>
          <p:cNvSpPr/>
          <p:nvPr/>
        </p:nvSpPr>
        <p:spPr>
          <a:xfrm>
            <a:off x="7150608" y="5486400"/>
            <a:ext cx="146304" cy="146304"/>
          </a:xfrm>
          <a:prstGeom prst="ellipse">
            <a:avLst/>
          </a:prstGeom>
          <a:solidFill>
            <a:srgbClr val="197A56"/>
          </a:solidFill>
          <a:ln w="12700">
            <a:solidFill>
              <a:srgbClr val="197A56"/>
            </a:solidFill>
            <a:prstDash val="solid"/>
          </a:ln>
        </p:spPr>
      </p:sp>
      <p:sp>
        <p:nvSpPr>
          <p:cNvPr id="89" name="ovl_tl_tick_FY29"/>
          <p:cNvSpPr txBox="1"/>
          <p:nvPr/>
        </p:nvSpPr>
        <p:spPr>
          <a:xfrm>
            <a:off x="6858000" y="566928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FY29</a:t>
            </a:r>
            <a:endParaRPr lang="en-US" sz="850" dirty="0"/>
          </a:p>
        </p:txBody>
      </p:sp>
      <p:sp>
        <p:nvSpPr>
          <p:cNvPr id="90" name="ovl_tl_val_FY29"/>
          <p:cNvSpPr txBox="1"/>
          <p:nvPr/>
        </p:nvSpPr>
        <p:spPr>
          <a:xfrm>
            <a:off x="6766560" y="528523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9.0GW</a:t>
            </a:r>
            <a:endParaRPr lang="en-US" sz="1000" dirty="0"/>
          </a:p>
        </p:txBody>
      </p:sp>
      <p:sp>
        <p:nvSpPr>
          <p:cNvPr id="91" name="ovl_tl_dot_FY30"/>
          <p:cNvSpPr/>
          <p:nvPr/>
        </p:nvSpPr>
        <p:spPr>
          <a:xfrm>
            <a:off x="8979408" y="5486400"/>
            <a:ext cx="146304" cy="146304"/>
          </a:xfrm>
          <a:prstGeom prst="ellipse">
            <a:avLst/>
          </a:prstGeom>
          <a:solidFill>
            <a:srgbClr val="197A56"/>
          </a:solidFill>
          <a:ln w="12700">
            <a:solidFill>
              <a:srgbClr val="197A56"/>
            </a:solidFill>
            <a:prstDash val="solid"/>
          </a:ln>
        </p:spPr>
      </p:sp>
      <p:sp>
        <p:nvSpPr>
          <p:cNvPr id="92" name="ovl_tl_tick_FY30"/>
          <p:cNvSpPr txBox="1"/>
          <p:nvPr/>
        </p:nvSpPr>
        <p:spPr>
          <a:xfrm>
            <a:off x="8686800" y="5669280"/>
            <a:ext cx="731520" cy="182880"/>
          </a:xfrm>
          <a:prstGeom prst="rect">
            <a:avLst/>
          </a:prstGeom>
          <a:noFill/>
          <a:ln/>
        </p:spPr>
        <p:txBody>
          <a:bodyPr wrap="square" lIns="0" tIns="0" rIns="0" bIns="0"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FY30</a:t>
            </a:r>
            <a:endParaRPr lang="en-US" sz="850" dirty="0"/>
          </a:p>
        </p:txBody>
      </p:sp>
      <p:sp>
        <p:nvSpPr>
          <p:cNvPr id="93" name="ovl_tl_val_FY30"/>
          <p:cNvSpPr txBox="1"/>
          <p:nvPr/>
        </p:nvSpPr>
        <p:spPr>
          <a:xfrm>
            <a:off x="8595360" y="5285232"/>
            <a:ext cx="914400" cy="182880"/>
          </a:xfrm>
          <a:prstGeom prst="rect">
            <a:avLst/>
          </a:prstGeom>
          <a:noFill/>
          <a:ln/>
        </p:spPr>
        <p:txBody>
          <a:bodyPr wrap="square" lIns="0" tIns="0" rIns="0" bIns="0" rtlCol="0" anchor="b"/>
          <a:lstStyle/>
          <a:p>
            <a:pPr algn="ctr" indent="0" marL="0">
              <a:buNone/>
            </a:pPr>
            <a:r>
              <a:rPr lang="en-US" sz="1000" b="1" dirty="0">
                <a:solidFill>
                  <a:srgbClr val="0E4D33"/>
                </a:solidFill>
                <a:latin typeface="Meiryo UI" pitchFamily="34" charset="0"/>
                <a:ea typeface="Meiryo UI" pitchFamily="34" charset="-122"/>
                <a:cs typeface="Meiryo UI" pitchFamily="34" charset="-120"/>
              </a:rPr>
              <a:t>9.5GW</a:t>
            </a:r>
            <a:endParaRPr lang="en-US" sz="1000" dirty="0"/>
          </a:p>
        </p:txBody>
      </p:sp>
      <p:sp>
        <p:nvSpPr>
          <p:cNvPr id="94" name="ovl_tl_dot_FY33"/>
          <p:cNvSpPr/>
          <p:nvPr/>
        </p:nvSpPr>
        <p:spPr>
          <a:xfrm>
            <a:off x="10808208" y="5486400"/>
            <a:ext cx="146304" cy="146304"/>
          </a:xfrm>
          <a:prstGeom prst="ellipse">
            <a:avLst/>
          </a:prstGeom>
          <a:solidFill>
            <a:srgbClr val="C0392B"/>
          </a:solidFill>
          <a:ln w="12700">
            <a:solidFill>
              <a:srgbClr val="C0392B"/>
            </a:solidFill>
            <a:prstDash val="solid"/>
          </a:ln>
        </p:spPr>
      </p:sp>
      <p:sp>
        <p:nvSpPr>
          <p:cNvPr id="95" name="ovl_tl_tick_FY33"/>
          <p:cNvSpPr txBox="1"/>
          <p:nvPr/>
        </p:nvSpPr>
        <p:spPr>
          <a:xfrm>
            <a:off x="10515600" y="5669280"/>
            <a:ext cx="731520" cy="182880"/>
          </a:xfrm>
          <a:prstGeom prst="rect">
            <a:avLst/>
          </a:prstGeom>
          <a:noFill/>
          <a:ln/>
        </p:spPr>
        <p:txBody>
          <a:bodyPr wrap="square" lIns="0" tIns="0" rIns="0" bIns="0"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FY33</a:t>
            </a:r>
            <a:endParaRPr lang="en-US" sz="850" dirty="0"/>
          </a:p>
        </p:txBody>
      </p:sp>
      <p:sp>
        <p:nvSpPr>
          <p:cNvPr id="96" name="ovl_tl_note0"/>
          <p:cNvSpPr txBox="1"/>
          <p:nvPr/>
        </p:nvSpPr>
        <p:spPr>
          <a:xfrm>
            <a:off x="1874520" y="5047488"/>
            <a:ext cx="155448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Q1 FY27: 850MW 納入</a:t>
            </a:r>
            <a:endParaRPr lang="en-US" sz="850" dirty="0"/>
          </a:p>
        </p:txBody>
      </p:sp>
      <p:sp>
        <p:nvSpPr>
          <p:cNvPr id="97" name="ovl_tl_lead0"/>
          <p:cNvSpPr/>
          <p:nvPr/>
        </p:nvSpPr>
        <p:spPr>
          <a:xfrm>
            <a:off x="2651760" y="5376672"/>
            <a:ext cx="914" cy="128016"/>
          </a:xfrm>
          <a:prstGeom prst="line">
            <a:avLst/>
          </a:prstGeom>
          <a:noFill/>
          <a:ln w="9525">
            <a:solidFill>
              <a:srgbClr val="767676"/>
            </a:solidFill>
            <a:prstDash val="sysDot"/>
          </a:ln>
        </p:spPr>
      </p:sp>
      <p:sp>
        <p:nvSpPr>
          <p:cNvPr id="98" name="ovl_tl_mark0"/>
          <p:cNvSpPr/>
          <p:nvPr/>
        </p:nvSpPr>
        <p:spPr>
          <a:xfrm>
            <a:off x="2596896" y="5504688"/>
            <a:ext cx="109728" cy="109728"/>
          </a:xfrm>
          <a:prstGeom prst="ellipse">
            <a:avLst/>
          </a:prstGeom>
          <a:solidFill>
            <a:srgbClr val="FFFFFF"/>
          </a:solidFill>
          <a:ln w="15875">
            <a:solidFill>
              <a:srgbClr val="197A56"/>
            </a:solidFill>
            <a:prstDash val="solid"/>
          </a:ln>
        </p:spPr>
      </p:sp>
      <p:sp>
        <p:nvSpPr>
          <p:cNvPr id="99" name="ovl_tl_note1"/>
          <p:cNvSpPr txBox="1"/>
          <p:nvPr/>
        </p:nvSpPr>
        <p:spPr>
          <a:xfrm>
            <a:off x="3474720" y="5047488"/>
            <a:ext cx="2011680" cy="310896"/>
          </a:xfrm>
          <a:prstGeom prst="rect">
            <a:avLst/>
          </a:prstGeom>
          <a:noFill/>
          <a:ln/>
        </p:spPr>
        <p:txBody>
          <a:bodyPr wrap="square" lIns="0" tIns="0" rIns="0" bIns="0" rtlCol="0" anchor="b"/>
          <a:lstStyle/>
          <a:p>
            <a:pPr algn="ctr" indent="0" marL="0">
              <a:buNone/>
            </a:pPr>
            <a:r>
              <a:rPr lang="en-US" sz="850" dirty="0">
                <a:solidFill>
                  <a:srgbClr val="333333"/>
                </a:solidFill>
                <a:latin typeface="Meiryo UI" pitchFamily="34" charset="0"/>
                <a:ea typeface="Meiryo UI" pitchFamily="34" charset="-122"/>
                <a:cs typeface="Meiryo UI" pitchFamily="34" charset="-120"/>
              </a:rPr>
              <a:t>2027: OpenAI の大型契約が開始</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NM のガス管(2027-02)</a:t>
            </a:r>
            <a:endParaRPr lang="en-US" sz="850" dirty="0"/>
          </a:p>
        </p:txBody>
      </p:sp>
      <p:sp>
        <p:nvSpPr>
          <p:cNvPr id="100" name="ovl_tl_lead1"/>
          <p:cNvSpPr/>
          <p:nvPr/>
        </p:nvSpPr>
        <p:spPr>
          <a:xfrm>
            <a:off x="4480560" y="5376672"/>
            <a:ext cx="914" cy="128016"/>
          </a:xfrm>
          <a:prstGeom prst="line">
            <a:avLst/>
          </a:prstGeom>
          <a:noFill/>
          <a:ln w="9525">
            <a:solidFill>
              <a:srgbClr val="767676"/>
            </a:solidFill>
            <a:prstDash val="sysDot"/>
          </a:ln>
        </p:spPr>
      </p:sp>
      <p:sp>
        <p:nvSpPr>
          <p:cNvPr id="101" name="ovl_tl_mark1"/>
          <p:cNvSpPr/>
          <p:nvPr/>
        </p:nvSpPr>
        <p:spPr>
          <a:xfrm>
            <a:off x="4425696" y="5504688"/>
            <a:ext cx="109728" cy="109728"/>
          </a:xfrm>
          <a:prstGeom prst="ellipse">
            <a:avLst/>
          </a:prstGeom>
          <a:solidFill>
            <a:srgbClr val="FFFFFF"/>
          </a:solidFill>
          <a:ln w="15875">
            <a:solidFill>
              <a:srgbClr val="197A56"/>
            </a:solidFill>
            <a:prstDash val="solid"/>
          </a:ln>
        </p:spPr>
      </p:sp>
      <p:sp>
        <p:nvSpPr>
          <p:cNvPr id="102" name="ovl_tl_dn0"/>
          <p:cNvSpPr txBox="1"/>
          <p:nvPr/>
        </p:nvSpPr>
        <p:spPr>
          <a:xfrm>
            <a:off x="4297680" y="5888736"/>
            <a:ext cx="2194560" cy="31089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FCF 黒字化(会社: FY28 下期)</a:t>
            </a:r>
            <a:endParaRPr lang="en-US" sz="850" dirty="0"/>
          </a:p>
        </p:txBody>
      </p:sp>
      <p:sp>
        <p:nvSpPr>
          <p:cNvPr id="103" name="ovl_tl_dn1"/>
          <p:cNvSpPr txBox="1"/>
          <p:nvPr/>
        </p:nvSpPr>
        <p:spPr>
          <a:xfrm>
            <a:off x="6446520" y="5888736"/>
            <a:ext cx="1554480" cy="31089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FCF 300 億ドル以上</a:t>
            </a:r>
            <a:endParaRPr lang="en-US" sz="850" dirty="0"/>
          </a:p>
        </p:txBody>
      </p:sp>
      <p:sp>
        <p:nvSpPr>
          <p:cNvPr id="104" name="ovl_tl_dn2"/>
          <p:cNvSpPr txBox="1"/>
          <p:nvPr/>
        </p:nvSpPr>
        <p:spPr>
          <a:xfrm>
            <a:off x="8366760" y="5888736"/>
            <a:ext cx="1371600" cy="310896"/>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会社目標の年</a:t>
            </a:r>
            <a:endParaRPr lang="en-US" sz="850" dirty="0"/>
          </a:p>
        </p:txBody>
      </p:sp>
      <p:sp>
        <p:nvSpPr>
          <p:cNvPr id="105" name="ovl_tl_dn3"/>
          <p:cNvSpPr txBox="1"/>
          <p:nvPr/>
        </p:nvSpPr>
        <p:spPr>
          <a:xfrm>
            <a:off x="9509760" y="5888736"/>
            <a:ext cx="2286000" cy="310896"/>
          </a:xfrm>
          <a:prstGeom prst="rect">
            <a:avLst/>
          </a:prstGeom>
          <a:noFill/>
          <a:ln/>
        </p:spPr>
        <p:txBody>
          <a:bodyPr wrap="square" lIns="0" tIns="0" rIns="0" bIns="0" rtlCol="0" anchor="t"/>
          <a:lstStyle/>
          <a:p>
            <a:pPr algn="ctr" indent="0" marL="0">
              <a:buNone/>
            </a:pPr>
            <a:r>
              <a:rPr lang="en-US" sz="850" b="1" dirty="0">
                <a:solidFill>
                  <a:srgbClr val="C0392B"/>
                </a:solidFill>
                <a:latin typeface="Meiryo UI" pitchFamily="34" charset="0"/>
                <a:ea typeface="Meiryo UI" pitchFamily="34" charset="-122"/>
                <a:cs typeface="Meiryo UI" pitchFamily="34" charset="-120"/>
              </a:rPr>
              <a:t>第 2 の山: 7GW の更新期</a:t>
            </a:r>
            <a:endParaRPr lang="en-US" sz="850" dirty="0"/>
          </a:p>
          <a:p>
            <a:pPr algn="ctr" indent="0" marL="0">
              <a:buNone/>
            </a:pPr>
            <a:r>
              <a:rPr lang="en-US" sz="850" b="1" dirty="0">
                <a:solidFill>
                  <a:srgbClr val="C0392B"/>
                </a:solidFill>
                <a:latin typeface="Meiryo UI" pitchFamily="34" charset="0"/>
                <a:ea typeface="Meiryo UI" pitchFamily="34" charset="-122"/>
                <a:cs typeface="Meiryo UI" pitchFamily="34" charset="-120"/>
              </a:rPr>
              <a:t>(FCF −562 億ドル)</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筋書きの部品ごとに、数字で作動しているかを採点し、会社の目標をどこまで信じるかを決める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資金の部品は説明会の数字で「作動」に変わり、OpenAI・電力・更新単価の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 部品が判定を「条件付きのプラス」にとどめる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筋書きの部品(P1〜P11)を、数字で作動しているかで採点。右: 規模で重みづけした判定と、会社目標・コンセンサス・需給エンジンの差</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§4-3・§5-1(10-Q・決算資料)、Investor Day 2026-10-28(8-K Ex.99.1、CFO 資料 p.4・26)、需給エンジン第4.4版、LSEG コンセンサス(説明会の前)</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12</a:t>
            </a:r>
            <a:endParaRPr lang="en-US" sz="800" dirty="0"/>
          </a:p>
        </p:txBody>
      </p:sp>
      <p:graphicFrame>
        <p:nvGraphicFramePr>
          <p:cNvPr id="13" name="tbl"/>
          <p:cNvGraphicFramePr>
            <a:graphicFrameLocks noGrp="1"/>
          </p:cNvGraphicFramePr>
          <p:nvPr>
            <p:extLst>
              <p:ext uri="{D42A27DB-BD31-4B8C-83A1-F6EECF244321}">
                <p14:modId xmlns:p14="http://schemas.microsoft.com/office/powerpoint/2010/main" val="1579011935"/>
              </p:ext>
            </p:extLst>
          </p:nvPr>
        </p:nvGraphicFramePr>
        <p:xfrm>
          <a:off x="457200" y="1481328"/>
          <a:ext cx="7589520" cy="914400"/>
        </p:xfrm>
        <a:graphic>
          <a:graphicData uri="http://schemas.openxmlformats.org/drawingml/2006/table">
            <a:tbl>
              <a:tblPr/>
              <a:tblGrid>
                <a:gridCol w="457200"/>
                <a:gridCol w="1828800"/>
                <a:gridCol w="731520"/>
                <a:gridCol w="3749040"/>
                <a:gridCol w="822960"/>
              </a:tblGrid>
              <a:tr h="347472">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部品</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評価</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850" b="1" dirty="0">
                          <a:solidFill>
                            <a:srgbClr val="FFFFFF"/>
                          </a:solidFill>
                          <a:latin typeface="Meiryo UI" pitchFamily="34" charset="0"/>
                          <a:ea typeface="Meiryo UI" pitchFamily="34" charset="-122"/>
                          <a:cs typeface="Meiryo UI" pitchFamily="34" charset="-120"/>
                        </a:rPr>
                        <a:t>進捗(数字で作動しているか)</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重み</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(約 3,000 億ドル・4.5GW)</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部分作動。Abilene の一部が稼働、他は遅延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OpenAI 以外の AI 顧客</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作動。OpenAI 以外の受注残は 2 倍超</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前払い・GPU 持込</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作動。前受収益 154 → 308 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開発事業者とのリース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作動(未開始 2,880 億ドル)。価値は更新単価しだい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68910"/>
                          </a:solidFill>
                          <a:latin typeface="Meiryo UI" pitchFamily="34" charset="0"/>
                          <a:ea typeface="Meiryo UI" pitchFamily="34" charset="-122"/>
                          <a:cs typeface="Meiryo UI" pitchFamily="34" charset="-120"/>
                        </a:rPr>
                        <a:t>+ 遅延</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遅延。納入 850MW は計画の約 1GW 未満、ガス管も延期</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P6</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資金調達</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追加調達 200 億ドルの上限と</a:t>
                      </a:r>
                      <a:endParaRPr lang="en-US" sz="850" dirty="0">
                        <a:latin typeface="Meiryo UI" charset="0"/>
                        <a:ea typeface="Meiryo UI" charset="0"/>
                        <a:cs typeface="Meiryo UI" charset="0"/>
                      </a:endParaRPr>
                    </a:p>
                    <a:p>
                      <a:pPr algn="l" indent="0" marL="0">
                        <a:buNone/>
                      </a:pPr>
                      <a:r>
                        <a:rPr lang="en-US" sz="850" dirty="0">
                          <a:solidFill>
                            <a:srgbClr val="333333"/>
                          </a:solidFill>
                          <a:latin typeface="Meiryo UI" pitchFamily="34" charset="0"/>
                          <a:ea typeface="Meiryo UI" pitchFamily="34" charset="-122"/>
                          <a:cs typeface="Meiryo UI" pitchFamily="34" charset="-120"/>
                        </a:rPr>
                        <a:t>FY29 FCF 300 億ドル以上を約束</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P7</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作動(+353%)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4%</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P8</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AI Database</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767676"/>
                          </a:solidFill>
                          <a:latin typeface="Meiryo UI" pitchFamily="34" charset="0"/>
                          <a:ea typeface="Meiryo UI" pitchFamily="34" charset="-122"/>
                          <a:cs typeface="Meiryo UI" pitchFamily="34" charset="-120"/>
                        </a:rPr>
                        <a:t>保留</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数字なし</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P9</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アプリ(SaaS)</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作動(+10%、横ばい)</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GPU の更新・再販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作動(全量を従来比 +20% で更新・再販)</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47472">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P11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営業費の効率化</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97A56"/>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作動(非GAAP 営業利益率 42.5%)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0" name="pane_head"/>
          <p:cNvSpPr txBox="1"/>
          <p:nvPr/>
        </p:nvSpPr>
        <p:spPr>
          <a:xfrm>
            <a:off x="8275320" y="1481328"/>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規模で重みづけした判定</a:t>
            </a:r>
            <a:endParaRPr lang="en-US" sz="1200" dirty="0"/>
          </a:p>
        </p:txBody>
      </p:sp>
      <p:graphicFrame>
        <p:nvGraphicFramePr>
          <p:cNvPr id="21" name="chart_weight" descr=""/>
          <p:cNvGraphicFramePr/>
          <p:nvPr/>
        </p:nvGraphicFramePr>
        <p:xfrm>
          <a:off x="8275320" y="1783080"/>
          <a:ext cx="3456432" cy="1051560"/>
        </p:xfrm>
        <a:graphic xmlns:a="http://schemas.openxmlformats.org/drawingml/2006/main">
          <a:graphicData uri="http://schemas.openxmlformats.org/drawingml/2006/chart">
            <c:chart xmlns:c="http://schemas.openxmlformats.org/drawingml/2006/chart" r:id="rId1"/>
          </a:graphicData>
        </a:graphic>
      </p:graphicFrame>
      <p:sp>
        <p:nvSpPr>
          <p:cNvPr id="22" name="ovl_takeaway_bg"/>
          <p:cNvSpPr/>
          <p:nvPr/>
        </p:nvSpPr>
        <p:spPr>
          <a:xfrm>
            <a:off x="8275320" y="2926080"/>
            <a:ext cx="3456432" cy="868680"/>
          </a:xfrm>
          <a:prstGeom prst="rect">
            <a:avLst/>
          </a:prstGeom>
          <a:solidFill>
            <a:srgbClr val="EAF4EE"/>
          </a:solidFill>
          <a:ln w="12700">
            <a:solidFill>
              <a:srgbClr val="EAF4EE"/>
            </a:solidFill>
            <a:prstDash val="solid"/>
          </a:ln>
        </p:spPr>
      </p:sp>
      <p:sp>
        <p:nvSpPr>
          <p:cNvPr id="23" name="takeaway"/>
          <p:cNvSpPr txBox="1"/>
          <p:nvPr/>
        </p:nvSpPr>
        <p:spPr>
          <a:xfrm>
            <a:off x="8385048" y="2999232"/>
            <a:ext cx="32369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判定は「条件付きのプラス」。両面・遅延の部品は失敗ではなく、遅れと条件</a:t>
            </a:r>
            <a:endParaRPr lang="en-US" sz="1100" dirty="0"/>
          </a:p>
        </p:txBody>
      </p:sp>
      <p:sp>
        <p:nvSpPr>
          <p:cNvPr id="24" name="pane_head"/>
          <p:cNvSpPr txBox="1"/>
          <p:nvPr/>
        </p:nvSpPr>
        <p:spPr>
          <a:xfrm>
            <a:off x="8275320" y="3931920"/>
            <a:ext cx="3456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会社の目標をどこまで信じるか</a:t>
            </a:r>
            <a:endParaRPr lang="en-US" sz="1200" dirty="0"/>
          </a:p>
        </p:txBody>
      </p:sp>
      <p:graphicFrame>
        <p:nvGraphicFramePr>
          <p:cNvPr id="25" name="tbl"/>
          <p:cNvGraphicFramePr>
            <a:graphicFrameLocks noGrp="1"/>
          </p:cNvGraphicFramePr>
          <p:nvPr>
            <p:extLst>
              <p:ext uri="{D42A27DB-BD31-4B8C-83A1-F6EECF244321}">
                <p14:modId xmlns:p14="http://schemas.microsoft.com/office/powerpoint/2010/main" val="1579011935"/>
              </p:ext>
            </p:extLst>
          </p:nvPr>
        </p:nvGraphicFramePr>
        <p:xfrm>
          <a:off x="8275320" y="4251960"/>
          <a:ext cx="3456432" cy="914400"/>
        </p:xfrm>
        <a:graphic>
          <a:graphicData uri="http://schemas.openxmlformats.org/drawingml/2006/table">
            <a:tbl>
              <a:tblPr/>
              <a:tblGrid>
                <a:gridCol w="1261872"/>
                <a:gridCol w="658368"/>
                <a:gridCol w="850392"/>
                <a:gridCol w="685800"/>
              </a:tblGrid>
              <a:tr h="274320">
                <a:tc>
                  <a:txBody>
                    <a:bodyPr/>
                    <a:lstStyle/>
                    <a:p>
                      <a:pPr algn="l" indent="0" marL="0">
                        <a:buNone/>
                      </a:pP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会社</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コンセンサス</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エンジン</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売上(億ドル)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2,250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2,242</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2,173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営業利益(億ドル)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900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820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EPS(ドル)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20.53</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19.85</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333333"/>
                          </a:solidFill>
                          <a:latin typeface="Meiryo UI" pitchFamily="34" charset="0"/>
                          <a:ea typeface="Meiryo UI" pitchFamily="34" charset="-122"/>
                          <a:cs typeface="Meiryo UI" pitchFamily="34" charset="-120"/>
                        </a:rPr>
                        <a:t>FY29 FCF(億ドル)</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300</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333333"/>
                          </a:solidFill>
                          <a:latin typeface="Meiryo UI" pitchFamily="34" charset="0"/>
                          <a:ea typeface="Meiryo UI" pitchFamily="34" charset="-122"/>
                          <a:cs typeface="Meiryo UI" pitchFamily="34" charset="-120"/>
                        </a:rPr>
                        <a:t>721</a:t>
                      </a:r>
                      <a:endParaRPr lang="en-US" sz="8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6" name="Text 21"/>
          <p:cNvSpPr txBox="1"/>
          <p:nvPr/>
        </p:nvSpPr>
        <p:spPr>
          <a:xfrm>
            <a:off x="8275320" y="5687568"/>
            <a:ext cx="3456432" cy="548640"/>
          </a:xfrm>
          <a:prstGeom prst="rect">
            <a:avLst/>
          </a:prstGeom>
          <a:noFill/>
          <a:ln/>
        </p:spPr>
        <p:txBody>
          <a:bodyPr wrap="square" lIns="508" tIns="508" rIns="508" bIns="508"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資金の目標はエンジンでも余裕を持って届く。利益の目標は</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エンジンより 5〜9% 高い(粗利率 35% の AI が 6 割に)。</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理論株価は会社の EPS を土台にした</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2-2 会社のシナリオ(3/3)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652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652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会社のシナリオ</a:t>
            </a:r>
            <a:endParaRPr lang="en-US" sz="1000" dirty="0"/>
          </a:p>
        </p:txBody>
      </p:sp>
      <p:sp>
        <p:nvSpPr>
          <p:cNvPr id="14" name="hdr_why"/>
          <p:cNvSpPr txBox="1"/>
          <p:nvPr/>
        </p:nvSpPr>
        <p:spPr>
          <a:xfrm>
            <a:off x="2255774" y="356616"/>
            <a:ext cx="9478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説明会(2026-10-28)で会社の見通しのどこが変わり、理論株価にどう効いたかを確かめる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説明会で変わったのは時期と資金。FCF は FY28 下期に黒字化し、</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追加調達は 200 億ドルが上限。容量は FY28 末の約 10GW で頭打ち</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説明会(2026-10-28)の前後で変わった 6 項目と、理論株価への効き。右: 第4.3版 → 第4.4版の理論株価の変化(変更を 1 つずつ足した順)</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2026-10-28(8-K Ex.99.1、CFO 資料 p.4・8・13・15〜20・26〜28)、需給エンジン第4.4版(calc/out/m9_waterfall.json)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13</a:t>
            </a:r>
            <a:endParaRPr lang="en-US" sz="800" dirty="0"/>
          </a:p>
        </p:txBody>
      </p:sp>
      <p:sp>
        <p:nvSpPr>
          <p:cNvPr id="19" name="pane_head"/>
          <p:cNvSpPr txBox="1"/>
          <p:nvPr/>
        </p:nvSpPr>
        <p:spPr>
          <a:xfrm>
            <a:off x="457200" y="1481328"/>
            <a:ext cx="694944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説明会で変わった 6 項目と、理論株価への効き</a:t>
            </a:r>
            <a:endParaRPr lang="en-US" sz="1200" dirty="0"/>
          </a:p>
        </p:txBody>
      </p:sp>
      <p:graphicFrame>
        <p:nvGraphicFramePr>
          <p:cNvPr id="14" name="tbl"/>
          <p:cNvGraphicFramePr>
            <a:graphicFrameLocks noGrp="1"/>
          </p:cNvGraphicFramePr>
          <p:nvPr>
            <p:extLst>
              <p:ext uri="{D42A27DB-BD31-4B8C-83A1-F6EECF244321}">
                <p14:modId xmlns:p14="http://schemas.microsoft.com/office/powerpoint/2010/main" val="1579011935"/>
              </p:ext>
            </p:extLst>
          </p:nvPr>
        </p:nvGraphicFramePr>
        <p:xfrm>
          <a:off x="457200" y="1801368"/>
          <a:ext cx="6949440" cy="914400"/>
        </p:xfrm>
        <a:graphic>
          <a:graphicData uri="http://schemas.openxmlformats.org/drawingml/2006/table">
            <a:tbl>
              <a:tblPr/>
              <a:tblGrid>
                <a:gridCol w="960120"/>
                <a:gridCol w="2103120"/>
                <a:gridCol w="2103120"/>
                <a:gridCol w="1783080"/>
              </a:tblGrid>
              <a:tr h="521208">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項目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説明会の前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説明会(10/28)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評価への効き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FCF の黒字化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S&amp;P の条件は FY29、</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FY30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FY28 下期に黒字化、</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FY29 に 300 億ドル以上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FY29 721 億。</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容量の頭打ちで capex が減る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追加調達</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2026 年に 450〜500 億ドルの計画</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(ATM 200 億は Q1 で完了)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FY27〜30 に 200 億ドルが上限</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(株 100・債 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株式 100 億 = 7,200 万株</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(希薄化 2.4%)</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容量</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確保電力 10GW 超</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(エンジン FY30 14GW)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FY26 3GW → FY28 末 10GW、</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FY30 約 10GW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容量の計画 −13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1GW の経済性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未開示(エンジンは</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現金費用 27 億ドル/GW)</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売上 160 億・capex 370 億・</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 35%・契約 5 年</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単価 +7 ドル、</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粗利率 35% −19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FY30 の目標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売上 2,250 億・EPS 21</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(FAM 2025)</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営業利益率 40%・営業利益</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900 億を追加</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会社の EPS を起点に +8 ドル</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21208">
                <a:tc>
                  <a:txBody>
                    <a:bodyPr/>
                    <a:lstStyle/>
                    <a:p>
                      <a:pPr algn="l" indent="0" marL="0">
                        <a:buNone/>
                      </a:pPr>
                      <a:r>
                        <a:rPr lang="en-US" sz="900" b="1" dirty="0">
                          <a:solidFill>
                            <a:srgbClr val="0E4D33"/>
                          </a:solidFill>
                          <a:latin typeface="Meiryo UI" pitchFamily="34" charset="0"/>
                          <a:ea typeface="Meiryo UI" pitchFamily="34" charset="-122"/>
                          <a:cs typeface="Meiryo UI" pitchFamily="34" charset="-120"/>
                        </a:rPr>
                        <a:t>信用の目標</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純負債/EBITDA 3.5 倍未満</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(ベンダー金融込み)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エンジンは FY29 1.9 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pane_head"/>
          <p:cNvSpPr txBox="1"/>
          <p:nvPr/>
        </p:nvSpPr>
        <p:spPr>
          <a:xfrm>
            <a:off x="7680960" y="1481328"/>
            <a:ext cx="405079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理論株価の階段(ドル、確率加重)</a:t>
            </a:r>
            <a:endParaRPr lang="en-US" sz="1200" dirty="0"/>
          </a:p>
        </p:txBody>
      </p:sp>
      <p:graphicFrame>
        <p:nvGraphicFramePr>
          <p:cNvPr id="22" name="chart_waterfall" descr=""/>
          <p:cNvGraphicFramePr/>
          <p:nvPr/>
        </p:nvGraphicFramePr>
        <p:xfrm>
          <a:off x="7680960" y="1801368"/>
          <a:ext cx="4050792" cy="3657600"/>
        </p:xfrm>
        <a:graphic xmlns:a="http://schemas.openxmlformats.org/drawingml/2006/main">
          <a:graphicData uri="http://schemas.openxmlformats.org/drawingml/2006/chart">
            <c:chart xmlns:c="http://schemas.openxmlformats.org/drawingml/2006/chart" r:id="rId1"/>
          </a:graphicData>
        </a:graphic>
      </p:graphicFrame>
      <p:sp>
        <p:nvSpPr>
          <p:cNvPr id="23" name="ovl_wf_val0"/>
          <p:cNvSpPr txBox="1"/>
          <p:nvPr/>
        </p:nvSpPr>
        <p:spPr>
          <a:xfrm>
            <a:off x="8086039" y="2462479"/>
            <a:ext cx="445587" cy="182880"/>
          </a:xfrm>
          <a:prstGeom prst="rect">
            <a:avLst/>
          </a:prstGeom>
          <a:noFill/>
          <a:ln/>
        </p:spPr>
        <p:txBody>
          <a:bodyPr wrap="square" lIns="0" tIns="0" rIns="0" bIns="0" rtlCol="0" anchor="b"/>
          <a:lstStyle/>
          <a:p>
            <a:pPr algn="ctr" indent="0" marL="0">
              <a:buNone/>
            </a:pPr>
            <a:r>
              <a:rPr lang="en-US" sz="900" b="1" dirty="0">
                <a:solidFill>
                  <a:srgbClr val="0E4D33"/>
                </a:solidFill>
                <a:latin typeface="Meiryo UI" pitchFamily="34" charset="0"/>
                <a:ea typeface="Meiryo UI" pitchFamily="34" charset="-122"/>
                <a:cs typeface="Meiryo UI" pitchFamily="34" charset="-120"/>
              </a:rPr>
              <a:t>250.5</a:t>
            </a:r>
            <a:endParaRPr lang="en-US" sz="900" dirty="0"/>
          </a:p>
        </p:txBody>
      </p:sp>
      <p:sp>
        <p:nvSpPr>
          <p:cNvPr id="24" name="ovl_wf_cat0"/>
          <p:cNvSpPr txBox="1"/>
          <p:nvPr/>
        </p:nvSpPr>
        <p:spPr>
          <a:xfrm>
            <a:off x="8086039"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第4.3版</a:t>
            </a:r>
            <a:endParaRPr lang="en-US" sz="800" dirty="0"/>
          </a:p>
        </p:txBody>
      </p:sp>
      <p:sp>
        <p:nvSpPr>
          <p:cNvPr id="25" name="ovl_wf_conn0"/>
          <p:cNvSpPr/>
          <p:nvPr/>
        </p:nvSpPr>
        <p:spPr>
          <a:xfrm>
            <a:off x="8467971" y="2663647"/>
            <a:ext cx="127311" cy="914"/>
          </a:xfrm>
          <a:prstGeom prst="line">
            <a:avLst/>
          </a:prstGeom>
          <a:noFill/>
          <a:ln w="6350">
            <a:solidFill>
              <a:srgbClr val="767676"/>
            </a:solidFill>
            <a:prstDash val="sysDash"/>
          </a:ln>
        </p:spPr>
      </p:sp>
      <p:sp>
        <p:nvSpPr>
          <p:cNvPr id="26" name="ovl_wf_val1"/>
          <p:cNvSpPr txBox="1"/>
          <p:nvPr/>
        </p:nvSpPr>
        <p:spPr>
          <a:xfrm>
            <a:off x="8531626" y="2245949"/>
            <a:ext cx="445587" cy="182880"/>
          </a:xfrm>
          <a:prstGeom prst="rect">
            <a:avLst/>
          </a:prstGeom>
          <a:noFill/>
          <a:ln/>
        </p:spPr>
        <p:txBody>
          <a:bodyPr wrap="square" lIns="0" tIns="0" rIns="0" bIns="0" rtlCol="0" anchor="b"/>
          <a:lstStyle/>
          <a:p>
            <a:pPr algn="ctr" indent="0" marL="0">
              <a:buNone/>
            </a:pPr>
            <a:r>
              <a:rPr lang="en-US" sz="900" b="1" dirty="0">
                <a:solidFill>
                  <a:srgbClr val="197A56"/>
                </a:solidFill>
                <a:latin typeface="Meiryo UI" pitchFamily="34" charset="0"/>
                <a:ea typeface="Meiryo UI" pitchFamily="34" charset="-122"/>
                <a:cs typeface="Meiryo UI" pitchFamily="34" charset="-120"/>
              </a:rPr>
              <a:t>+3.2</a:t>
            </a:r>
            <a:endParaRPr lang="en-US" sz="900" dirty="0"/>
          </a:p>
        </p:txBody>
      </p:sp>
      <p:sp>
        <p:nvSpPr>
          <p:cNvPr id="27" name="ovl_wf_cat1"/>
          <p:cNvSpPr txBox="1"/>
          <p:nvPr/>
        </p:nvSpPr>
        <p:spPr>
          <a:xfrm>
            <a:off x="8531626"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市場の値</a:t>
            </a:r>
            <a:endParaRPr lang="en-US" sz="800" dirty="0"/>
          </a:p>
        </p:txBody>
      </p:sp>
      <p:sp>
        <p:nvSpPr>
          <p:cNvPr id="28" name="ovl_wf_conn1"/>
          <p:cNvSpPr/>
          <p:nvPr/>
        </p:nvSpPr>
        <p:spPr>
          <a:xfrm>
            <a:off x="8913558" y="2447117"/>
            <a:ext cx="127311" cy="914"/>
          </a:xfrm>
          <a:prstGeom prst="line">
            <a:avLst/>
          </a:prstGeom>
          <a:noFill/>
          <a:ln w="6350">
            <a:solidFill>
              <a:srgbClr val="767676"/>
            </a:solidFill>
            <a:prstDash val="sysDash"/>
          </a:ln>
        </p:spPr>
      </p:sp>
      <p:sp>
        <p:nvSpPr>
          <p:cNvPr id="29" name="ovl_wf_val2"/>
          <p:cNvSpPr txBox="1"/>
          <p:nvPr/>
        </p:nvSpPr>
        <p:spPr>
          <a:xfrm>
            <a:off x="8977213" y="2245949"/>
            <a:ext cx="445587" cy="182880"/>
          </a:xfrm>
          <a:prstGeom prst="rect">
            <a:avLst/>
          </a:prstGeom>
          <a:noFill/>
          <a:ln/>
        </p:spPr>
        <p:txBody>
          <a:bodyPr wrap="square" lIns="0" tIns="0" rIns="0" bIns="0" rtlCol="0" anchor="b"/>
          <a:lstStyle/>
          <a:p>
            <a:pPr algn="ctr" indent="0" marL="0">
              <a:buNone/>
            </a:pPr>
            <a:r>
              <a:rPr lang="en-US" sz="900" b="1" dirty="0">
                <a:solidFill>
                  <a:srgbClr val="C0392B"/>
                </a:solidFill>
                <a:latin typeface="Meiryo UI" pitchFamily="34" charset="0"/>
                <a:ea typeface="Meiryo UI" pitchFamily="34" charset="-122"/>
                <a:cs typeface="Meiryo UI" pitchFamily="34" charset="-120"/>
              </a:rPr>
              <a:t>−13.1</a:t>
            </a:r>
            <a:endParaRPr lang="en-US" sz="900" dirty="0"/>
          </a:p>
        </p:txBody>
      </p:sp>
      <p:sp>
        <p:nvSpPr>
          <p:cNvPr id="30" name="ovl_wf_cat2"/>
          <p:cNvSpPr txBox="1"/>
          <p:nvPr/>
        </p:nvSpPr>
        <p:spPr>
          <a:xfrm>
            <a:off x="8977213"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容量</a:t>
            </a:r>
            <a:endParaRPr lang="en-US" sz="800" dirty="0"/>
          </a:p>
        </p:txBody>
      </p:sp>
      <p:sp>
        <p:nvSpPr>
          <p:cNvPr id="31" name="ovl_wf_conn2"/>
          <p:cNvSpPr/>
          <p:nvPr/>
        </p:nvSpPr>
        <p:spPr>
          <a:xfrm>
            <a:off x="9359145" y="3333537"/>
            <a:ext cx="127311" cy="914"/>
          </a:xfrm>
          <a:prstGeom prst="line">
            <a:avLst/>
          </a:prstGeom>
          <a:noFill/>
          <a:ln w="6350">
            <a:solidFill>
              <a:srgbClr val="767676"/>
            </a:solidFill>
            <a:prstDash val="sysDash"/>
          </a:ln>
        </p:spPr>
      </p:sp>
      <p:sp>
        <p:nvSpPr>
          <p:cNvPr id="32" name="ovl_wf_val3"/>
          <p:cNvSpPr txBox="1"/>
          <p:nvPr/>
        </p:nvSpPr>
        <p:spPr>
          <a:xfrm>
            <a:off x="9422801" y="2692542"/>
            <a:ext cx="445587" cy="182880"/>
          </a:xfrm>
          <a:prstGeom prst="rect">
            <a:avLst/>
          </a:prstGeom>
          <a:noFill/>
          <a:ln/>
        </p:spPr>
        <p:txBody>
          <a:bodyPr wrap="square" lIns="0" tIns="0" rIns="0" bIns="0" rtlCol="0" anchor="b"/>
          <a:lstStyle/>
          <a:p>
            <a:pPr algn="ctr" indent="0" marL="0">
              <a:buNone/>
            </a:pPr>
            <a:r>
              <a:rPr lang="en-US" sz="900" b="1" dirty="0">
                <a:solidFill>
                  <a:srgbClr val="197A56"/>
                </a:solidFill>
                <a:latin typeface="Meiryo UI" pitchFamily="34" charset="0"/>
                <a:ea typeface="Meiryo UI" pitchFamily="34" charset="-122"/>
                <a:cs typeface="Meiryo UI" pitchFamily="34" charset="-120"/>
              </a:rPr>
              <a:t>+6.5</a:t>
            </a:r>
            <a:endParaRPr lang="en-US" sz="900" dirty="0"/>
          </a:p>
        </p:txBody>
      </p:sp>
      <p:sp>
        <p:nvSpPr>
          <p:cNvPr id="33" name="ovl_wf_cat3"/>
          <p:cNvSpPr txBox="1"/>
          <p:nvPr/>
        </p:nvSpPr>
        <p:spPr>
          <a:xfrm>
            <a:off x="9422801"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1GW の</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単価</a:t>
            </a:r>
            <a:endParaRPr lang="en-US" sz="800" dirty="0"/>
          </a:p>
        </p:txBody>
      </p:sp>
      <p:sp>
        <p:nvSpPr>
          <p:cNvPr id="34" name="ovl_wf_conn3"/>
          <p:cNvSpPr/>
          <p:nvPr/>
        </p:nvSpPr>
        <p:spPr>
          <a:xfrm>
            <a:off x="9804732" y="2893710"/>
            <a:ext cx="127311" cy="914"/>
          </a:xfrm>
          <a:prstGeom prst="line">
            <a:avLst/>
          </a:prstGeom>
          <a:noFill/>
          <a:ln w="6350">
            <a:solidFill>
              <a:srgbClr val="767676"/>
            </a:solidFill>
            <a:prstDash val="sysDash"/>
          </a:ln>
        </p:spPr>
      </p:sp>
      <p:sp>
        <p:nvSpPr>
          <p:cNvPr id="35" name="ovl_wf_val4"/>
          <p:cNvSpPr txBox="1"/>
          <p:nvPr/>
        </p:nvSpPr>
        <p:spPr>
          <a:xfrm>
            <a:off x="9868388" y="2692542"/>
            <a:ext cx="445587" cy="182880"/>
          </a:xfrm>
          <a:prstGeom prst="rect">
            <a:avLst/>
          </a:prstGeom>
          <a:noFill/>
          <a:ln/>
        </p:spPr>
        <p:txBody>
          <a:bodyPr wrap="square" lIns="0" tIns="0" rIns="0" bIns="0" rtlCol="0" anchor="b"/>
          <a:lstStyle/>
          <a:p>
            <a:pPr algn="ctr" indent="0" marL="0">
              <a:buNone/>
            </a:pPr>
            <a:r>
              <a:rPr lang="en-US" sz="900" b="1" dirty="0">
                <a:solidFill>
                  <a:srgbClr val="C0392B"/>
                </a:solidFill>
                <a:latin typeface="Meiryo UI" pitchFamily="34" charset="0"/>
                <a:ea typeface="Meiryo UI" pitchFamily="34" charset="-122"/>
                <a:cs typeface="Meiryo UI" pitchFamily="34" charset="-120"/>
              </a:rPr>
              <a:t>−19.0</a:t>
            </a:r>
            <a:endParaRPr lang="en-US" sz="900" dirty="0"/>
          </a:p>
        </p:txBody>
      </p:sp>
      <p:sp>
        <p:nvSpPr>
          <p:cNvPr id="36" name="ovl_wf_cat4"/>
          <p:cNvSpPr txBox="1"/>
          <p:nvPr/>
        </p:nvSpPr>
        <p:spPr>
          <a:xfrm>
            <a:off x="9868388"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粗利率</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35%</a:t>
            </a:r>
            <a:endParaRPr lang="en-US" sz="800" dirty="0"/>
          </a:p>
        </p:txBody>
      </p:sp>
      <p:sp>
        <p:nvSpPr>
          <p:cNvPr id="37" name="ovl_wf_conn4"/>
          <p:cNvSpPr/>
          <p:nvPr/>
        </p:nvSpPr>
        <p:spPr>
          <a:xfrm>
            <a:off x="10250319" y="4179357"/>
            <a:ext cx="127311" cy="914"/>
          </a:xfrm>
          <a:prstGeom prst="line">
            <a:avLst/>
          </a:prstGeom>
          <a:noFill/>
          <a:ln w="6350">
            <a:solidFill>
              <a:srgbClr val="767676"/>
            </a:solidFill>
            <a:prstDash val="sysDash"/>
          </a:ln>
        </p:spPr>
      </p:sp>
      <p:sp>
        <p:nvSpPr>
          <p:cNvPr id="38" name="ovl_wf_val5"/>
          <p:cNvSpPr txBox="1"/>
          <p:nvPr/>
        </p:nvSpPr>
        <p:spPr>
          <a:xfrm>
            <a:off x="10313975" y="3978189"/>
            <a:ext cx="445587" cy="182880"/>
          </a:xfrm>
          <a:prstGeom prst="rect">
            <a:avLst/>
          </a:prstGeom>
          <a:noFill/>
          <a:ln/>
        </p:spPr>
        <p:txBody>
          <a:bodyPr wrap="square" lIns="0" tIns="0" rIns="0" bIns="0" rtlCol="0" anchor="b"/>
          <a:lstStyle/>
          <a:p>
            <a:pPr algn="ctr" indent="0" marL="0">
              <a:buNone/>
            </a:pPr>
            <a:r>
              <a:rPr lang="en-US" sz="900" b="1" dirty="0">
                <a:solidFill>
                  <a:srgbClr val="C0392B"/>
                </a:solidFill>
                <a:latin typeface="Meiryo UI" pitchFamily="34" charset="0"/>
                <a:ea typeface="Meiryo UI" pitchFamily="34" charset="-122"/>
                <a:cs typeface="Meiryo UI" pitchFamily="34" charset="-120"/>
              </a:rPr>
              <a:t>−0.2</a:t>
            </a:r>
            <a:endParaRPr lang="en-US" sz="900" dirty="0"/>
          </a:p>
        </p:txBody>
      </p:sp>
      <p:sp>
        <p:nvSpPr>
          <p:cNvPr id="39" name="ovl_wf_cat5"/>
          <p:cNvSpPr txBox="1"/>
          <p:nvPr/>
        </p:nvSpPr>
        <p:spPr>
          <a:xfrm>
            <a:off x="10313975"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資金</a:t>
            </a:r>
            <a:endParaRPr lang="en-US" sz="800" dirty="0"/>
          </a:p>
        </p:txBody>
      </p:sp>
      <p:sp>
        <p:nvSpPr>
          <p:cNvPr id="40" name="ovl_wf_conn5"/>
          <p:cNvSpPr/>
          <p:nvPr/>
        </p:nvSpPr>
        <p:spPr>
          <a:xfrm>
            <a:off x="10695907" y="4192890"/>
            <a:ext cx="127311" cy="914"/>
          </a:xfrm>
          <a:prstGeom prst="line">
            <a:avLst/>
          </a:prstGeom>
          <a:noFill/>
          <a:ln w="6350">
            <a:solidFill>
              <a:srgbClr val="767676"/>
            </a:solidFill>
            <a:prstDash val="sysDash"/>
          </a:ln>
        </p:spPr>
      </p:sp>
      <p:sp>
        <p:nvSpPr>
          <p:cNvPr id="41" name="ovl_wf_val6"/>
          <p:cNvSpPr txBox="1"/>
          <p:nvPr/>
        </p:nvSpPr>
        <p:spPr>
          <a:xfrm>
            <a:off x="10759562" y="3457164"/>
            <a:ext cx="445587" cy="182880"/>
          </a:xfrm>
          <a:prstGeom prst="rect">
            <a:avLst/>
          </a:prstGeom>
          <a:noFill/>
          <a:ln/>
        </p:spPr>
        <p:txBody>
          <a:bodyPr wrap="square" lIns="0" tIns="0" rIns="0" bIns="0" rtlCol="0" anchor="b"/>
          <a:lstStyle/>
          <a:p>
            <a:pPr algn="ctr" indent="0" marL="0">
              <a:buNone/>
            </a:pPr>
            <a:r>
              <a:rPr lang="en-US" sz="900" b="1" dirty="0">
                <a:solidFill>
                  <a:srgbClr val="197A56"/>
                </a:solidFill>
                <a:latin typeface="Meiryo UI" pitchFamily="34" charset="0"/>
                <a:ea typeface="Meiryo UI" pitchFamily="34" charset="-122"/>
                <a:cs typeface="Meiryo UI" pitchFamily="34" charset="-120"/>
              </a:rPr>
              <a:t>+7.9</a:t>
            </a:r>
            <a:endParaRPr lang="en-US" sz="900" dirty="0"/>
          </a:p>
        </p:txBody>
      </p:sp>
      <p:sp>
        <p:nvSpPr>
          <p:cNvPr id="42" name="ovl_wf_cat6"/>
          <p:cNvSpPr txBox="1"/>
          <p:nvPr/>
        </p:nvSpPr>
        <p:spPr>
          <a:xfrm>
            <a:off x="10759562"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会社の</a:t>
            </a:r>
            <a:endParaRPr lang="en-US" sz="800" dirty="0"/>
          </a:p>
          <a:p>
            <a:pPr algn="ctr" indent="0" marL="0">
              <a:buNone/>
            </a:pPr>
            <a:r>
              <a:rPr lang="en-US" sz="800" dirty="0">
                <a:solidFill>
                  <a:srgbClr val="333333"/>
                </a:solidFill>
                <a:latin typeface="Meiryo UI" pitchFamily="34" charset="0"/>
                <a:ea typeface="Meiryo UI" pitchFamily="34" charset="-122"/>
                <a:cs typeface="Meiryo UI" pitchFamily="34" charset="-120"/>
              </a:rPr>
              <a:t>EPS</a:t>
            </a:r>
            <a:endParaRPr lang="en-US" sz="800" dirty="0"/>
          </a:p>
        </p:txBody>
      </p:sp>
      <p:sp>
        <p:nvSpPr>
          <p:cNvPr id="43" name="ovl_wf_conn6"/>
          <p:cNvSpPr/>
          <p:nvPr/>
        </p:nvSpPr>
        <p:spPr>
          <a:xfrm>
            <a:off x="11141494" y="3658332"/>
            <a:ext cx="127311" cy="914"/>
          </a:xfrm>
          <a:prstGeom prst="line">
            <a:avLst/>
          </a:prstGeom>
          <a:noFill/>
          <a:ln w="6350">
            <a:solidFill>
              <a:srgbClr val="767676"/>
            </a:solidFill>
            <a:prstDash val="sysDash"/>
          </a:ln>
        </p:spPr>
      </p:sp>
      <p:sp>
        <p:nvSpPr>
          <p:cNvPr id="44" name="ovl_wf_val7"/>
          <p:cNvSpPr txBox="1"/>
          <p:nvPr/>
        </p:nvSpPr>
        <p:spPr>
          <a:xfrm>
            <a:off x="11205149" y="3450397"/>
            <a:ext cx="445587" cy="182880"/>
          </a:xfrm>
          <a:prstGeom prst="rect">
            <a:avLst/>
          </a:prstGeom>
          <a:noFill/>
          <a:ln/>
        </p:spPr>
        <p:txBody>
          <a:bodyPr wrap="square" lIns="0" tIns="0" rIns="0" bIns="0" rtlCol="0" anchor="b"/>
          <a:lstStyle/>
          <a:p>
            <a:pPr algn="ctr" indent="0" marL="0">
              <a:buNone/>
            </a:pPr>
            <a:r>
              <a:rPr lang="en-US" sz="900" b="1" dirty="0">
                <a:solidFill>
                  <a:srgbClr val="0E4D33"/>
                </a:solidFill>
                <a:latin typeface="Meiryo UI" pitchFamily="34" charset="0"/>
                <a:ea typeface="Meiryo UI" pitchFamily="34" charset="-122"/>
                <a:cs typeface="Meiryo UI" pitchFamily="34" charset="-120"/>
              </a:rPr>
              <a:t>235.9</a:t>
            </a:r>
            <a:endParaRPr lang="en-US" sz="900" dirty="0"/>
          </a:p>
        </p:txBody>
      </p:sp>
      <p:sp>
        <p:nvSpPr>
          <p:cNvPr id="45" name="ovl_wf_cat7"/>
          <p:cNvSpPr txBox="1"/>
          <p:nvPr/>
        </p:nvSpPr>
        <p:spPr>
          <a:xfrm>
            <a:off x="11205149" y="4782312"/>
            <a:ext cx="445587" cy="310896"/>
          </a:xfrm>
          <a:prstGeom prst="rect">
            <a:avLst/>
          </a:prstGeom>
          <a:noFill/>
          <a:ln/>
        </p:spPr>
        <p:txBody>
          <a:bodyPr wrap="square" lIns="0" tIns="0" rIns="0" bIns="0" rtlCol="0" anchor="t"/>
          <a:lstStyle/>
          <a:p>
            <a:pPr algn="ctr" indent="0" marL="0">
              <a:buNone/>
            </a:pPr>
            <a:r>
              <a:rPr lang="en-US" sz="800" dirty="0">
                <a:solidFill>
                  <a:srgbClr val="333333"/>
                </a:solidFill>
                <a:latin typeface="Meiryo UI" pitchFamily="34" charset="0"/>
                <a:ea typeface="Meiryo UI" pitchFamily="34" charset="-122"/>
                <a:cs typeface="Meiryo UI" pitchFamily="34" charset="-120"/>
              </a:rPr>
              <a:t>第4.4版</a:t>
            </a:r>
            <a:endParaRPr lang="en-US" sz="800" dirty="0"/>
          </a:p>
        </p:txBody>
      </p:sp>
      <p:sp>
        <p:nvSpPr>
          <p:cNvPr id="46" name="note_wf"/>
          <p:cNvSpPr txBox="1"/>
          <p:nvPr/>
        </p:nvSpPr>
        <p:spPr>
          <a:xfrm>
            <a:off x="7680960" y="5148072"/>
            <a:ext cx="4050792" cy="310896"/>
          </a:xfrm>
          <a:prstGeom prst="rect">
            <a:avLst/>
          </a:prstGeom>
          <a:noFill/>
          <a:ln/>
        </p:spPr>
        <p:txBody>
          <a:bodyPr wrap="square" lIns="0" tIns="0" rIns="0" bIns="0" rtlCol="0" anchor="t"/>
          <a:lstStyle/>
          <a:p>
            <a:pPr indent="0" marL="0">
              <a:buNone/>
            </a:pPr>
            <a:r>
              <a:rPr lang="en-US" sz="800" dirty="0">
                <a:solidFill>
                  <a:srgbClr val="767676"/>
                </a:solidFill>
                <a:latin typeface="Meiryo UI" pitchFamily="34" charset="0"/>
                <a:ea typeface="Meiryo UI" pitchFamily="34" charset="-122"/>
                <a:cs typeface="Meiryo UI" pitchFamily="34" charset="-120"/>
              </a:rPr>
              <a:t>縦軸は 220 ドルから。増減は変更を 1 つずつ</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足した順(丸めのため両端の差と 0.1 ずれる)</a:t>
            </a:r>
            <a:endParaRPr lang="en-US" sz="800" dirty="0"/>
          </a:p>
        </p:txBody>
      </p:sp>
      <p:sp>
        <p:nvSpPr>
          <p:cNvPr id="47" name="ovl_takeaway_bg"/>
          <p:cNvSpPr/>
          <p:nvPr/>
        </p:nvSpPr>
        <p:spPr>
          <a:xfrm>
            <a:off x="457200" y="5596128"/>
            <a:ext cx="11274552" cy="566928"/>
          </a:xfrm>
          <a:prstGeom prst="rect">
            <a:avLst/>
          </a:prstGeom>
          <a:solidFill>
            <a:srgbClr val="EAF4EE"/>
          </a:solidFill>
          <a:ln w="12700">
            <a:solidFill>
              <a:srgbClr val="EAF4EE"/>
            </a:solidFill>
            <a:prstDash val="solid"/>
          </a:ln>
        </p:spPr>
      </p:sp>
      <p:sp>
        <p:nvSpPr>
          <p:cNvPr id="48" name="takeaway"/>
          <p:cNvSpPr txBox="1"/>
          <p:nvPr/>
        </p:nvSpPr>
        <p:spPr>
          <a:xfrm>
            <a:off x="566928" y="5669280"/>
            <a:ext cx="11055096" cy="420624"/>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会社の目標は強気になったが、1GW の粗利率 35% は</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前提より薄く、理論株価は 15 ドル下がった</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売上から利益が残る経路と、最大の費用項目を確かめる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Q1 FY27 の売上 193 億ドルから GAAP 営業利益 67 億ドルが残る。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費用の最大項目は、AI 容量を含むクラウドの原価である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損益フロー(サンキー)、Q1 FY27(2026 年 6〜8 月)、10 億ドル。( )は前年同期比。GAAP 基準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Oracle FY27 Q1 決算発表・10-Q(2026-09)。非GAAP との差: 株式報酬 11.3 億・無形資産償却 2.0 億・リストラ等 0.9 億ドル</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14</a:t>
            </a:r>
            <a:endParaRPr lang="en-US" sz="800" dirty="0"/>
          </a:p>
        </p:txBody>
      </p:sp>
      <p:pic>
        <p:nvPicPr>
          <p:cNvPr id="19" name="Image 0" descr="assets/sankey_q1fy27.png">    </p:cNvPr>
          <p:cNvPicPr>
            <a:picLocks noChangeAspect="1"/>
          </p:cNvPicPr>
          <p:nvPr/>
        </p:nvPicPr>
        <p:blipFill>
          <a:blip r:embed="rId1"/>
          <a:stretch>
            <a:fillRect/>
          </a:stretch>
        </p:blipFill>
        <p:spPr>
          <a:xfrm>
            <a:off x="457200" y="1463040"/>
            <a:ext cx="7680960" cy="4572000"/>
          </a:xfrm>
          <a:prstGeom prst="rect">
            <a:avLst/>
          </a:prstGeom>
        </p:spPr>
      </p:pic>
      <p:sp>
        <p:nvSpPr>
          <p:cNvPr id="20" name="ovl_takeaway_bg"/>
          <p:cNvSpPr/>
          <p:nvPr/>
        </p:nvSpPr>
        <p:spPr>
          <a:xfrm>
            <a:off x="8275320" y="1554480"/>
            <a:ext cx="3456432" cy="132588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1795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クラウド・ソフトの原価が +77% と売上(+33%)の 2 倍以上の速さで伸び、同部門の粗利率は 72.0% → 62.7% に下がった</a:t>
            </a:r>
            <a:endParaRPr lang="en-US" sz="1100" dirty="0"/>
          </a:p>
        </p:txBody>
      </p:sp>
      <p:sp>
        <p:nvSpPr>
          <p:cNvPr id="22" name="bullets"/>
          <p:cNvSpPr txBox="1"/>
          <p:nvPr/>
        </p:nvSpPr>
        <p:spPr>
          <a:xfrm>
            <a:off x="8275320" y="3017520"/>
            <a:ext cx="3456432" cy="3017520"/>
          </a:xfrm>
          <a:prstGeom prst="rect">
            <a:avLst/>
          </a:prstGeom>
          <a:noFill/>
          <a:ln/>
        </p:spPr>
        <p:txBody>
          <a:bodyPr wrap="square" lIns="508" tIns="508" rIns="508" bIns="508" rtlCol="0" anchor="t"/>
          <a:lstStyle/>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営業利益 +24.5 億ドル(+57%)は、</a:t>
            </a:r>
            <a:endParaRPr lang="en-US" sz="1050" dirty="0"/>
          </a:p>
          <a:p>
            <a:pPr marL="152400" indent="-152400">
              <a:buSzPct val="100000"/>
              <a:buChar char=" "/>
            </a:pPr>
            <a:r>
              <a:rPr lang="en-US" sz="1050" dirty="0">
                <a:solidFill>
                  <a:srgbClr val="333333"/>
                </a:solidFill>
                <a:latin typeface="Meiryo UI" pitchFamily="34" charset="0"/>
                <a:ea typeface="Meiryo UI" pitchFamily="34" charset="-122"/>
                <a:cs typeface="Meiryo UI" pitchFamily="34" charset="-120"/>
              </a:rPr>
              <a:t>営業費の減少 8.8 億ドル(うち</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償却とリストラの減少 5.4 億)に支えられた</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GAAP 営業利益率 34.8%(非GAAP 42%)。差は株式報酬と償却</a:t>
            </a:r>
            <a:endParaRPr lang="en-US" sz="1050" dirty="0"/>
          </a:p>
          <a:p>
            <a:pPr marL="152400" indent="-152400">
              <a:buSzPct val="100000"/>
              <a:buChar char="•"/>
            </a:pPr>
            <a:r>
              <a:rPr lang="en-US" sz="1050" dirty="0">
                <a:solidFill>
                  <a:srgbClr val="333333"/>
                </a:solidFill>
                <a:latin typeface="Meiryo UI" pitchFamily="34" charset="0"/>
                <a:ea typeface="Meiryo UI" pitchFamily="34" charset="-122"/>
                <a:cs typeface="Meiryo UI" pitchFamily="34" charset="-120"/>
              </a:rPr>
              <a:t>構成比: クラウド 60%・ソフトウェア 29%・</a:t>
            </a:r>
            <a:endParaRPr lang="en-US" sz="1050" dirty="0"/>
          </a:p>
          <a:p>
            <a:pPr marL="152400" indent="-152400">
              <a:spcAft>
                <a:spcPts val="400"/>
              </a:spcAft>
              <a:buSzPct val="100000"/>
              <a:buChar char=" "/>
            </a:pPr>
            <a:r>
              <a:rPr lang="en-US" sz="1050" dirty="0">
                <a:solidFill>
                  <a:srgbClr val="333333"/>
                </a:solidFill>
                <a:latin typeface="Meiryo UI" pitchFamily="34" charset="0"/>
                <a:ea typeface="Meiryo UI" pitchFamily="34" charset="-122"/>
                <a:cs typeface="Meiryo UI" pitchFamily="34" charset="-120"/>
              </a:rPr>
              <a:t>サービス 7%・ハード 4%</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原価の伸びは、AI 容量の稼働前の費用(電力・賃料)を含む</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の比率が上がると利益率がどう動くかを見て、EPS の伸びの質を確かめる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全社の営業利益率は立ち上げ中の AI で FY28 に 31% へ下がり、</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FY29 に 36% へ戻る。非GAAP の FY30 は 38% で目標 40% に届かない</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全社の営業利益率(GAAP 相当)と AI 事業の営業利益率、FY27〜32、%</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需給エンジン第4.4版(calc/out/m9_more.json)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15</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FY27〜28 は立ち上げ中の AI</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(利益率 13〜23%)が全社を押し下げ、</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FY29 に満稼働で 36% に戻る。</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非GAAP では FY30 37.7% で</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会社の 40% に届かない</a:t>
            </a:r>
            <a:endParaRPr lang="en-US" sz="1100" dirty="0"/>
          </a:p>
        </p:txBody>
      </p:sp>
      <p:graphicFrame>
        <p:nvGraphicFramePr>
          <p:cNvPr id="16" name="tbl"/>
          <p:cNvGraphicFramePr>
            <a:graphicFrameLocks noGrp="1"/>
          </p:cNvGraphicFramePr>
          <p:nvPr>
            <p:extLst>
              <p:ext uri="{D42A27DB-BD31-4B8C-83A1-F6EECF244321}">
                <p14:modId xmlns:p14="http://schemas.microsoft.com/office/powerpoint/2010/main" val="1579011935"/>
              </p:ext>
            </p:extLst>
          </p:nvPr>
        </p:nvGraphicFramePr>
        <p:xfrm>
          <a:off x="8275320" y="2971800"/>
          <a:ext cx="3456432" cy="914400"/>
        </p:xfrm>
        <a:graphic>
          <a:graphicData uri="http://schemas.openxmlformats.org/drawingml/2006/table">
            <a:tbl>
              <a:tblPr/>
              <a:tblGrid>
                <a:gridCol w="713232"/>
                <a:gridCol w="822960"/>
                <a:gridCol w="868680"/>
                <a:gridCol w="1051560"/>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売上成長</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R40(FCF)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R40(オーナー)</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note"/>
          <p:cNvSpPr txBox="1"/>
          <p:nvPr/>
        </p:nvSpPr>
        <p:spPr>
          <a:xfrm>
            <a:off x="8275320" y="4983480"/>
            <a:ext cx="3456432" cy="100584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R40 = 売上成長率 + 利益率。オーナー = オーナー利益(EBITDA − 維持投資 − 現金税)。償却費は将来の現金支出ではないため、</a:t>
            </a:r>
            <a:endParaRPr lang="en-US" sz="850" dirty="0"/>
          </a:p>
          <a:p>
            <a:pPr indent="0" marL="0">
              <a:buNone/>
            </a:pPr>
            <a:r>
              <a:rPr lang="en-US" sz="850" dirty="0">
                <a:solidFill>
                  <a:srgbClr val="767676"/>
                </a:solidFill>
                <a:latin typeface="Meiryo UI" pitchFamily="34" charset="0"/>
                <a:ea typeface="Meiryo UI" pitchFamily="34" charset="-122"/>
                <a:cs typeface="Meiryo UI" pitchFamily="34" charset="-120"/>
              </a:rPr>
              <a:t>維持投資で置き換えた</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2-3 収益構造(3/3)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収益構造</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容量 1GW の投資がいくら稼ぎ、価値が何で決まるかを、会社の数字で確かめる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1GW は年 160 億ドルの売上に capex 370 億ドル。更新なしでも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IRR 17.6% で資本コストを上回り、価値の芯は契約後の更新単価</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左上: 会社が示した 1GW の例(資金調達の型別)。左下: 1GW の IRR(更新のしかた別)と資本コスト。右: 仕組みと、評価が動く条件</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2026-10-28(CFO 資料 p.15〜22)、calc/m9_irr.py、需給エンジン第4.4版</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16</a:t>
            </a:r>
            <a:endParaRPr lang="en-US" sz="800" dirty="0"/>
          </a:p>
        </p:txBody>
      </p:sp>
      <p:sp>
        <p:nvSpPr>
          <p:cNvPr id="19" name="pane_head"/>
          <p:cNvSpPr txBox="1"/>
          <p:nvPr/>
        </p:nvSpPr>
        <p:spPr>
          <a:xfrm>
            <a:off x="457200" y="1481328"/>
            <a:ext cx="7772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1GW の経済性(会社の例)</a:t>
            </a:r>
            <a:endParaRPr lang="en-US" sz="1200" dirty="0"/>
          </a:p>
        </p:txBody>
      </p:sp>
      <p:graphicFrame>
        <p:nvGraphicFramePr>
          <p:cNvPr id="17" name="tbl"/>
          <p:cNvGraphicFramePr>
            <a:graphicFrameLocks noGrp="1"/>
          </p:cNvGraphicFramePr>
          <p:nvPr>
            <p:extLst>
              <p:ext uri="{D42A27DB-BD31-4B8C-83A1-F6EECF244321}">
                <p14:modId xmlns:p14="http://schemas.microsoft.com/office/powerpoint/2010/main" val="1579011935"/>
              </p:ext>
            </p:extLst>
          </p:nvPr>
        </p:nvGraphicFramePr>
        <p:xfrm>
          <a:off x="457200" y="1801368"/>
          <a:ext cx="7772400" cy="914400"/>
        </p:xfrm>
        <a:graphic>
          <a:graphicData uri="http://schemas.openxmlformats.org/drawingml/2006/table">
            <a:tbl>
              <a:tblPr/>
              <a:tblGrid>
                <a:gridCol w="1828800"/>
                <a:gridCol w="1463040"/>
                <a:gridCol w="2286000"/>
                <a:gridCol w="2194560"/>
              </a:tblGrid>
              <a:tr h="32918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項目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自己資金</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ベンダー金融(ハードの 70%)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BYOH(顧客が GPU を持ち込む)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年換算売上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160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160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110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最初の 2 年の capex</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370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60 億ドル(ネットワークだけ)</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粗利率・営業利益率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35%・34%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35%・34%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35% 超・34% 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4D33"/>
                          </a:solidFill>
                          <a:latin typeface="Meiryo UI" pitchFamily="34" charset="0"/>
                          <a:ea typeface="Meiryo UI" pitchFamily="34" charset="-122"/>
                          <a:cs typeface="Meiryo UI" pitchFamily="34" charset="-120"/>
                        </a:rPr>
                        <a:t>誰が GPU を負うか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Oracle</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Oracle(借入)</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顧客</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pane_head"/>
          <p:cNvSpPr txBox="1"/>
          <p:nvPr/>
        </p:nvSpPr>
        <p:spPr>
          <a:xfrm>
            <a:off x="457200" y="3675888"/>
            <a:ext cx="7772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IRR(更新のしかた別、%。四半期で計算)</a:t>
            </a:r>
            <a:endParaRPr lang="en-US" sz="1200" dirty="0"/>
          </a:p>
        </p:txBody>
      </p:sp>
      <p:graphicFrame>
        <p:nvGraphicFramePr>
          <p:cNvPr id="22" name="chart_irr" descr=""/>
          <p:cNvGraphicFramePr/>
          <p:nvPr/>
        </p:nvGraphicFramePr>
        <p:xfrm>
          <a:off x="457200" y="3986784"/>
          <a:ext cx="7772400" cy="2157984"/>
        </p:xfrm>
        <a:graphic xmlns:a="http://schemas.openxmlformats.org/drawingml/2006/main">
          <a:graphicData uri="http://schemas.openxmlformats.org/drawingml/2006/chart">
            <c:chart xmlns:c="http://schemas.openxmlformats.org/drawingml/2006/chart" r:id="rId1"/>
          </a:graphicData>
        </a:graphic>
      </p:graphicFrame>
      <p:sp>
        <p:nvSpPr>
          <p:cNvPr id="23" name="ovl_irr_wacc"/>
          <p:cNvSpPr/>
          <p:nvPr/>
        </p:nvSpPr>
        <p:spPr>
          <a:xfrm>
            <a:off x="4706112" y="4127602"/>
            <a:ext cx="914" cy="1736628"/>
          </a:xfrm>
          <a:prstGeom prst="line">
            <a:avLst/>
          </a:prstGeom>
          <a:noFill/>
          <a:ln w="15875">
            <a:solidFill>
              <a:srgbClr val="C0392B"/>
            </a:solidFill>
            <a:prstDash val="dash"/>
          </a:ln>
        </p:spPr>
      </p:sp>
      <p:sp>
        <p:nvSpPr>
          <p:cNvPr id="24" name="ovl_irr_wacc_t"/>
          <p:cNvSpPr txBox="1"/>
          <p:nvPr/>
        </p:nvSpPr>
        <p:spPr>
          <a:xfrm>
            <a:off x="4779264" y="4127602"/>
            <a:ext cx="1371600" cy="182880"/>
          </a:xfrm>
          <a:prstGeom prst="rect">
            <a:avLst/>
          </a:prstGeom>
          <a:noFill/>
          <a:ln/>
        </p:spPr>
        <p:txBody>
          <a:bodyPr wrap="square" lIns="0" tIns="0" rIns="0" bIns="0" rtlCol="0" anchor="ctr"/>
          <a:lstStyle/>
          <a:p>
            <a:pPr indent="0" marL="0">
              <a:buNone/>
            </a:pPr>
            <a:r>
              <a:rPr lang="en-US" sz="850" b="1" dirty="0">
                <a:solidFill>
                  <a:srgbClr val="C0392B"/>
                </a:solidFill>
                <a:latin typeface="Meiryo UI" pitchFamily="34" charset="0"/>
                <a:ea typeface="Meiryo UI" pitchFamily="34" charset="-122"/>
                <a:cs typeface="Meiryo UI" pitchFamily="34" charset="-120"/>
              </a:rPr>
              <a:t>資本コスト 約 10%</a:t>
            </a:r>
            <a:endParaRPr lang="en-US" sz="850" dirty="0"/>
          </a:p>
        </p:txBody>
      </p:sp>
      <p:sp>
        <p:nvSpPr>
          <p:cNvPr id="25" name="note_irr"/>
          <p:cNvSpPr txBox="1"/>
          <p:nvPr/>
        </p:nvSpPr>
        <p:spPr>
          <a:xfrm>
            <a:off x="457200" y="6053328"/>
            <a:ext cx="7772400" cy="182880"/>
          </a:xfrm>
          <a:prstGeom prst="rect">
            <a:avLst/>
          </a:prstGeom>
          <a:noFill/>
          <a:ln/>
        </p:spPr>
        <p:txBody>
          <a:bodyPr wrap="square" lIns="0" tIns="0" rIns="0" bIns="0" rtlCol="0" anchor="ctr"/>
          <a:lstStyle/>
          <a:p>
            <a:pPr indent="0" marL="0">
              <a:buNone/>
            </a:pPr>
            <a:r>
              <a:rPr lang="en-US" sz="850" dirty="0">
                <a:solidFill>
                  <a:srgbClr val="767676"/>
                </a:solidFill>
                <a:latin typeface="Meiryo UI" pitchFamily="34" charset="0"/>
                <a:ea typeface="Meiryo UI" pitchFamily="34" charset="-122"/>
                <a:cs typeface="Meiryo UI" pitchFamily="34" charset="-120"/>
              </a:rPr>
              <a:t>AI 事業の資本コスト 約 9.6〜10.2%(無リスク金利 4.9〜5.5% + 1.10 × 4.23%)。どのケースでも上回る</a:t>
            </a:r>
            <a:endParaRPr lang="en-US" sz="850" dirty="0"/>
          </a:p>
        </p:txBody>
      </p:sp>
      <p:sp>
        <p:nvSpPr>
          <p:cNvPr id="26"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仕組み(①〜④)</a:t>
            </a:r>
            <a:endParaRPr lang="en-US" sz="1200" dirty="0"/>
          </a:p>
        </p:txBody>
      </p:sp>
      <p:sp>
        <p:nvSpPr>
          <p:cNvPr id="27" name="mech"/>
          <p:cNvSpPr txBox="1"/>
          <p:nvPr/>
        </p:nvSpPr>
        <p:spPr>
          <a:xfrm>
            <a:off x="8458200" y="1810512"/>
            <a:ext cx="3276295" cy="26741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ROI 28% は利回り</a:t>
            </a:r>
            <a:br/>
            <a:r>
              <a:rPr lang="en-US" sz="1100" dirty="0">
                <a:solidFill>
                  <a:srgbClr val="333333"/>
                </a:solidFill>
                <a:latin typeface="Meiryo UI" pitchFamily="34" charset="0"/>
                <a:ea typeface="Meiryo UI" pitchFamily="34" charset="-122"/>
                <a:cs typeface="Meiryo UI" pitchFamily="34" charset="-120"/>
              </a:rPr>
              <a:t>(1 年分の現金 ÷ 投資)で、</a:t>
            </a:r>
            <a:br/>
            <a:r>
              <a:rPr lang="en-US" sz="1100" dirty="0">
                <a:solidFill>
                  <a:srgbClr val="333333"/>
                </a:solidFill>
                <a:latin typeface="Meiryo UI" pitchFamily="34" charset="0"/>
                <a:ea typeface="Meiryo UI" pitchFamily="34" charset="-122"/>
                <a:cs typeface="Meiryo UI" pitchFamily="34" charset="-120"/>
              </a:rPr>
              <a:t>IRR ではない。償却 6 年・</a:t>
            </a:r>
            <a:br/>
            <a:r>
              <a:rPr lang="en-US" sz="1100" dirty="0">
                <a:solidFill>
                  <a:srgbClr val="333333"/>
                </a:solidFill>
                <a:latin typeface="Meiryo UI" pitchFamily="34" charset="0"/>
                <a:ea typeface="Meiryo UI" pitchFamily="34" charset="-122"/>
                <a:cs typeface="Meiryo UI" pitchFamily="34" charset="-120"/>
              </a:rPr>
              <a:t>現金費用 44 億ドル/GW と整合</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更新なしでも黒字</a:t>
            </a:r>
            <a:br/>
            <a:r>
              <a:rPr lang="en-US" sz="1100" dirty="0">
                <a:solidFill>
                  <a:srgbClr val="333333"/>
                </a:solidFill>
                <a:latin typeface="Meiryo UI" pitchFamily="34" charset="0"/>
                <a:ea typeface="Meiryo UI" pitchFamily="34" charset="-122"/>
                <a:cs typeface="Meiryo UI" pitchFamily="34" charset="-120"/>
              </a:rPr>
              <a:t>5 年の契約だけで IRR 17.6%。</a:t>
            </a:r>
            <a:br/>
            <a:r>
              <a:rPr lang="en-US" sz="1100" dirty="0">
                <a:solidFill>
                  <a:srgbClr val="333333"/>
                </a:solidFill>
                <a:latin typeface="Meiryo UI" pitchFamily="34" charset="0"/>
                <a:ea typeface="Meiryo UI" pitchFamily="34" charset="-122"/>
                <a:cs typeface="Meiryo UI" pitchFamily="34" charset="-120"/>
              </a:rPr>
              <a:t>資本コスト 約 10% を上回る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芯は契約後の単価</a:t>
            </a:r>
            <a:br/>
            <a:r>
              <a:rPr lang="en-US" sz="1100" dirty="0">
                <a:solidFill>
                  <a:srgbClr val="333333"/>
                </a:solidFill>
                <a:latin typeface="Meiryo UI" pitchFamily="34" charset="0"/>
                <a:ea typeface="Meiryo UI" pitchFamily="34" charset="-122"/>
                <a:cs typeface="Meiryo UI" pitchFamily="34" charset="-120"/>
              </a:rPr>
              <a:t>更新 ±20% で理論株価 +12 / −10、</a:t>
            </a:r>
            <a:br/>
            <a:r>
              <a:rPr lang="en-US" sz="1100" dirty="0">
                <a:solidFill>
                  <a:srgbClr val="333333"/>
                </a:solidFill>
                <a:latin typeface="Meiryo UI" pitchFamily="34" charset="0"/>
                <a:ea typeface="Meiryo UI" pitchFamily="34" charset="-122"/>
                <a:cs typeface="Meiryo UI" pitchFamily="34" charset="-120"/>
              </a:rPr>
              <a:t>DCF +16 / −19 ドル</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コストプラス</a:t>
            </a:r>
            <a:br/>
            <a:r>
              <a:rPr lang="en-US" sz="1100" dirty="0">
                <a:solidFill>
                  <a:srgbClr val="333333"/>
                </a:solidFill>
                <a:latin typeface="Meiryo UI" pitchFamily="34" charset="0"/>
                <a:ea typeface="Meiryo UI" pitchFamily="34" charset="-122"/>
                <a:cs typeface="Meiryo UI" pitchFamily="34" charset="-120"/>
              </a:rPr>
              <a:t>原価の上昇は顧客に転嫁</a:t>
            </a:r>
            <a:br/>
            <a:r>
              <a:rPr lang="en-US" sz="1100" dirty="0">
                <a:solidFill>
                  <a:srgbClr val="333333"/>
                </a:solidFill>
                <a:latin typeface="Meiryo UI" pitchFamily="34" charset="0"/>
                <a:ea typeface="Meiryo UI" pitchFamily="34" charset="-122"/>
                <a:cs typeface="Meiryo UI" pitchFamily="34" charset="-120"/>
              </a:rPr>
              <a:t>(capex +10% でも 15.7%)。</a:t>
            </a:r>
            <a:br/>
            <a:r>
              <a:rPr lang="en-US" sz="1100" dirty="0">
                <a:solidFill>
                  <a:srgbClr val="333333"/>
                </a:solidFill>
                <a:latin typeface="Meiryo UI" pitchFamily="34" charset="0"/>
                <a:ea typeface="Meiryo UI" pitchFamily="34" charset="-122"/>
                <a:cs typeface="Meiryo UI" pitchFamily="34" charset="-120"/>
              </a:rPr>
              <a:t>超過利益も取りにくい(条件8 C)</a:t>
            </a:r>
            <a:endParaRPr lang="en-US" sz="1100" dirty="0"/>
          </a:p>
        </p:txBody>
      </p:sp>
      <p:sp>
        <p:nvSpPr>
          <p:cNvPr id="28" name="ovl_takeaway_bg"/>
          <p:cNvSpPr/>
          <p:nvPr/>
        </p:nvSpPr>
        <p:spPr>
          <a:xfrm>
            <a:off x="8458200" y="4867656"/>
            <a:ext cx="3276295" cy="853440"/>
          </a:xfrm>
          <a:prstGeom prst="rect">
            <a:avLst/>
          </a:prstGeom>
          <a:solidFill>
            <a:srgbClr val="EAF4EE"/>
          </a:solidFill>
          <a:ln w="12700">
            <a:solidFill>
              <a:srgbClr val="EAF4EE"/>
            </a:solidFill>
            <a:prstDash val="solid"/>
          </a:ln>
        </p:spPr>
      </p:sp>
      <p:sp>
        <p:nvSpPr>
          <p:cNvPr id="29" name="takeaway"/>
          <p:cNvSpPr txBox="1"/>
          <p:nvPr/>
        </p:nvSpPr>
        <p:spPr>
          <a:xfrm>
            <a:off x="8567928" y="4940808"/>
            <a:ext cx="3056839" cy="7071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1GW は更新なしでも資本コストを</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上回る。価値の芯は契約後の更新単価</a:t>
            </a:r>
            <a:endParaRPr lang="en-US" sz="1000" dirty="0"/>
          </a:p>
        </p:txBody>
      </p:sp>
      <p:sp>
        <p:nvSpPr>
          <p:cNvPr id="30" name="updown"/>
          <p:cNvSpPr txBox="1"/>
          <p:nvPr/>
        </p:nvSpPr>
        <p:spPr>
          <a:xfrm>
            <a:off x="8458200" y="5794248"/>
            <a:ext cx="3276295" cy="33223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4 年前の GPU の更新 +20% が続く</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逼迫が FY30 に解け、契約後の単価が 6 割に</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2-4 競争優位</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価格・品質・業界構造から、Oracle が利益を守れる理由と、その限界を見る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優位の源泉は価格ではなく DB と資金・敷地の確保。電力の確保に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3〜4 年かかる構造が参入を遅らせ、上限は NVIDIA と買い手の集中が決める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競合に対する価格・品質・差を生む活動(米国のオンデマンド定価)。右: ファイブフォース(各力の強さと Oracle の利益率への効き)</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report/r3_sections_5w1h_f20.md §3-4(F20)、research3/W3_industry_structure.md、research2/R3_competition.md、ClusterMAX v3.0(2026-09)</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17</a:t>
            </a:r>
            <a:endParaRPr lang="en-US" sz="800" dirty="0"/>
          </a:p>
        </p:txBody>
      </p:sp>
      <p:sp>
        <p:nvSpPr>
          <p:cNvPr id="19" name="pane_l"/>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競合比較: 品質 × 価格 × 価値連鎖</a:t>
            </a:r>
            <a:endParaRPr lang="en-US" sz="1200" dirty="0"/>
          </a:p>
        </p:txBody>
      </p:sp>
      <p:graphicFrame>
        <p:nvGraphicFramePr>
          <p:cNvPr id="18" name="tbl_compete"/>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143000"/>
                <a:gridCol w="1600200"/>
                <a:gridCol w="1417320"/>
                <a:gridCol w="1371600"/>
              </a:tblGrid>
              <a:tr h="548640">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製品</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価格(対競合)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品質</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差を生む活動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AI 容量(H100)</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 ドル/時。</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AWS の 1.45 倍・</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CoreWeave の 1.62 倍</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ClusterMAX は Gold(最上位は CoreWeave・Nebius)</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資金と DC・</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電力の確保</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汎用計算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月額で AWS・Azure より 45% 安い</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SLA 99.99% で同水準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ハード外の仮想化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外向き通信</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月 50TB で AWS の</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12.6 分の 1</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比較なし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ネットワーク設計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ライセンス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同じコアで必要なライセンスが半分</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DB 本体は同一</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ライセンス規則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48640">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OCI と同一価格。他社の契約枠に算入可</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移設不要で低遅延</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他社クラウド内</a:t>
                      </a:r>
                      <a:endParaRPr lang="en-US" sz="900" dirty="0">
                        <a:latin typeface="Meiryo UI" charset="0"/>
                        <a:ea typeface="Meiryo UI" charset="0"/>
                        <a:cs typeface="Meiryo UI" charset="0"/>
                      </a:endParaRPr>
                    </a:p>
                    <a:p>
                      <a:pPr algn="l" indent="0" marL="0">
                        <a:buNone/>
                      </a:pPr>
                      <a:r>
                        <a:rPr lang="en-US" sz="900" dirty="0">
                          <a:solidFill>
                            <a:srgbClr val="333333"/>
                          </a:solidFill>
                          <a:latin typeface="Meiryo UI" pitchFamily="34" charset="0"/>
                          <a:ea typeface="Meiryo UI" pitchFamily="34" charset="-122"/>
                          <a:cs typeface="Meiryo UI" pitchFamily="34" charset="-120"/>
                        </a:rPr>
                        <a:t>への配置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ovl_takeaway_bg"/>
          <p:cNvSpPr/>
          <p:nvPr/>
        </p:nvSpPr>
        <p:spPr>
          <a:xfrm>
            <a:off x="457200" y="5257800"/>
            <a:ext cx="5532120" cy="868680"/>
          </a:xfrm>
          <a:prstGeom prst="rect">
            <a:avLst/>
          </a:prstGeom>
          <a:solidFill>
            <a:srgbClr val="EAF4EE"/>
          </a:solidFill>
          <a:ln w="12700">
            <a:solidFill>
              <a:srgbClr val="EAF4EE"/>
            </a:solidFill>
            <a:prstDash val="solid"/>
          </a:ln>
        </p:spPr>
      </p:sp>
      <p:sp>
        <p:nvSpPr>
          <p:cNvPr id="22" name="takeaway"/>
          <p:cNvSpPr txBox="1"/>
          <p:nvPr/>
        </p:nvSpPr>
        <p:spPr>
          <a:xfrm>
            <a:off x="566928" y="5330952"/>
            <a:ext cx="5312664"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安いのは汎用計算・通信・DB ライセンス。GPU は高く品質も最上位ではない。優位は価格ではなく DB と資金・敷地の確保</a:t>
            </a:r>
            <a:endParaRPr lang="en-US" sz="1100" dirty="0"/>
          </a:p>
        </p:txBody>
      </p:sp>
      <p:sp>
        <p:nvSpPr>
          <p:cNvPr id="23" name="pane_r"/>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ファイブフォース(業界構造)</a:t>
            </a:r>
            <a:endParaRPr lang="en-US" sz="1200" dirty="0"/>
          </a:p>
        </p:txBody>
      </p:sp>
      <p:sp>
        <p:nvSpPr>
          <p:cNvPr id="24" name="ovl_force_entry"/>
          <p:cNvSpPr/>
          <p:nvPr/>
        </p:nvSpPr>
        <p:spPr>
          <a:xfrm>
            <a:off x="8097012" y="1828800"/>
            <a:ext cx="1737360" cy="1325880"/>
          </a:xfrm>
          <a:prstGeom prst="roundRect">
            <a:avLst>
              <a:gd name="adj" fmla="val 4138"/>
            </a:avLst>
          </a:prstGeom>
          <a:solidFill>
            <a:srgbClr val="FFFFFF"/>
          </a:solidFill>
          <a:ln w="9525">
            <a:solidFill>
              <a:srgbClr val="D9D9D9"/>
            </a:solidFill>
            <a:prstDash val="solid"/>
          </a:ln>
        </p:spPr>
      </p:sp>
      <p:sp>
        <p:nvSpPr>
          <p:cNvPr id="25" name="force_n_entry"/>
          <p:cNvSpPr txBox="1"/>
          <p:nvPr/>
        </p:nvSpPr>
        <p:spPr>
          <a:xfrm>
            <a:off x="8170164" y="189280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新規参入</a:t>
            </a:r>
            <a:endParaRPr lang="en-US" sz="1000" dirty="0"/>
          </a:p>
        </p:txBody>
      </p:sp>
      <p:sp>
        <p:nvSpPr>
          <p:cNvPr id="26" name="force_s_entry"/>
          <p:cNvSpPr txBox="1"/>
          <p:nvPr/>
        </p:nvSpPr>
        <p:spPr>
          <a:xfrm>
            <a:off x="9358884" y="1892808"/>
            <a:ext cx="402336" cy="256032"/>
          </a:xfrm>
          <a:prstGeom prst="rect">
            <a:avLst/>
          </a:prstGeom>
          <a:noFill/>
          <a:ln/>
        </p:spPr>
        <p:txBody>
          <a:bodyPr wrap="square" lIns="0" tIns="0" rIns="0" bIns="0" rtlCol="0" anchor="ctr"/>
          <a:lstStyle/>
          <a:p>
            <a:pPr algn="r" indent="0" marL="0">
              <a:buNone/>
            </a:pPr>
            <a:r>
              <a:rPr lang="en-US" sz="1000" b="1" dirty="0">
                <a:solidFill>
                  <a:srgbClr val="197A56"/>
                </a:solidFill>
                <a:latin typeface="Meiryo UI" pitchFamily="34" charset="0"/>
                <a:ea typeface="Meiryo UI" pitchFamily="34" charset="-122"/>
                <a:cs typeface="Meiryo UI" pitchFamily="34" charset="-120"/>
              </a:rPr>
              <a:t>弱</a:t>
            </a:r>
            <a:endParaRPr lang="en-US" sz="1000" dirty="0"/>
          </a:p>
        </p:txBody>
      </p:sp>
      <p:sp>
        <p:nvSpPr>
          <p:cNvPr id="27" name="force_f_entry"/>
          <p:cNvSpPr txBox="1"/>
          <p:nvPr/>
        </p:nvSpPr>
        <p:spPr>
          <a:xfrm>
            <a:off x="8170164" y="219456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ガスタービン納期 約 3 年、</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系統連系 約 40 か月、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変圧器 128〜160 週</a:t>
            </a:r>
            <a:endParaRPr lang="en-US" sz="850" dirty="0"/>
          </a:p>
        </p:txBody>
      </p:sp>
      <p:sp>
        <p:nvSpPr>
          <p:cNvPr id="28" name="ovl_force_supp"/>
          <p:cNvSpPr/>
          <p:nvPr/>
        </p:nvSpPr>
        <p:spPr>
          <a:xfrm>
            <a:off x="6199632" y="3246120"/>
            <a:ext cx="1737360" cy="1325880"/>
          </a:xfrm>
          <a:prstGeom prst="roundRect">
            <a:avLst>
              <a:gd name="adj" fmla="val 4138"/>
            </a:avLst>
          </a:prstGeom>
          <a:solidFill>
            <a:srgbClr val="FFFFFF"/>
          </a:solidFill>
          <a:ln w="9525">
            <a:solidFill>
              <a:srgbClr val="D9D9D9"/>
            </a:solidFill>
            <a:prstDash val="solid"/>
          </a:ln>
        </p:spPr>
      </p:sp>
      <p:sp>
        <p:nvSpPr>
          <p:cNvPr id="29" name="force_n_supp"/>
          <p:cNvSpPr txBox="1"/>
          <p:nvPr/>
        </p:nvSpPr>
        <p:spPr>
          <a:xfrm>
            <a:off x="627278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供給者</a:t>
            </a:r>
            <a:endParaRPr lang="en-US" sz="1000" dirty="0"/>
          </a:p>
        </p:txBody>
      </p:sp>
      <p:sp>
        <p:nvSpPr>
          <p:cNvPr id="30" name="force_s_supp"/>
          <p:cNvSpPr txBox="1"/>
          <p:nvPr/>
        </p:nvSpPr>
        <p:spPr>
          <a:xfrm>
            <a:off x="746150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1" name="force_f_supp"/>
          <p:cNvSpPr txBox="1"/>
          <p:nvPr/>
        </p:nvSpPr>
        <p:spPr>
          <a:xfrm>
            <a:off x="627278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NVIDIA が AI 計算の約 8 割(近似)。メモリ価格の上昇が capex を押し上げ</a:t>
            </a:r>
            <a:endParaRPr lang="en-US" sz="850" dirty="0"/>
          </a:p>
        </p:txBody>
      </p:sp>
      <p:sp>
        <p:nvSpPr>
          <p:cNvPr id="32" name="ovl_force_rival"/>
          <p:cNvSpPr/>
          <p:nvPr/>
        </p:nvSpPr>
        <p:spPr>
          <a:xfrm>
            <a:off x="8097012" y="3246120"/>
            <a:ext cx="1737360" cy="1325880"/>
          </a:xfrm>
          <a:prstGeom prst="roundRect">
            <a:avLst>
              <a:gd name="adj" fmla="val 4138"/>
            </a:avLst>
          </a:prstGeom>
          <a:solidFill>
            <a:srgbClr val="FFFFFF"/>
          </a:solidFill>
          <a:ln w="9525">
            <a:solidFill>
              <a:srgbClr val="D9D9D9"/>
            </a:solidFill>
            <a:prstDash val="solid"/>
          </a:ln>
        </p:spPr>
      </p:sp>
      <p:sp>
        <p:nvSpPr>
          <p:cNvPr id="33" name="force_n_rival"/>
          <p:cNvSpPr txBox="1"/>
          <p:nvPr/>
        </p:nvSpPr>
        <p:spPr>
          <a:xfrm>
            <a:off x="817016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業界内の競争</a:t>
            </a:r>
            <a:endParaRPr lang="en-US" sz="1000" dirty="0"/>
          </a:p>
        </p:txBody>
      </p:sp>
      <p:sp>
        <p:nvSpPr>
          <p:cNvPr id="34" name="force_s_rival"/>
          <p:cNvSpPr txBox="1"/>
          <p:nvPr/>
        </p:nvSpPr>
        <p:spPr>
          <a:xfrm>
            <a:off x="9358884" y="331012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35" name="force_f_rival"/>
          <p:cNvSpPr txBox="1"/>
          <p:nvPr/>
        </p:nvSpPr>
        <p:spPr>
          <a:xfrm>
            <a:off x="817016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H100 実勢: 大手 7.19 ドル・ネオクラウド 2.80 ドル。1 年契約は +38%</a:t>
            </a:r>
            <a:endParaRPr lang="en-US" sz="850" dirty="0"/>
          </a:p>
        </p:txBody>
      </p:sp>
      <p:sp>
        <p:nvSpPr>
          <p:cNvPr id="36" name="ovl_force_buyer"/>
          <p:cNvSpPr/>
          <p:nvPr/>
        </p:nvSpPr>
        <p:spPr>
          <a:xfrm>
            <a:off x="9994392" y="3246120"/>
            <a:ext cx="1737360" cy="1325880"/>
          </a:xfrm>
          <a:prstGeom prst="roundRect">
            <a:avLst>
              <a:gd name="adj" fmla="val 4138"/>
            </a:avLst>
          </a:prstGeom>
          <a:solidFill>
            <a:srgbClr val="FFFFFF"/>
          </a:solidFill>
          <a:ln w="9525">
            <a:solidFill>
              <a:srgbClr val="D9D9D9"/>
            </a:solidFill>
            <a:prstDash val="solid"/>
          </a:ln>
        </p:spPr>
      </p:sp>
      <p:sp>
        <p:nvSpPr>
          <p:cNvPr id="37" name="force_n_buyer"/>
          <p:cNvSpPr txBox="1"/>
          <p:nvPr/>
        </p:nvSpPr>
        <p:spPr>
          <a:xfrm>
            <a:off x="10067544" y="331012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買い手</a:t>
            </a:r>
            <a:endParaRPr lang="en-US" sz="1000" dirty="0"/>
          </a:p>
        </p:txBody>
      </p:sp>
      <p:sp>
        <p:nvSpPr>
          <p:cNvPr id="38" name="force_s_buyer"/>
          <p:cNvSpPr txBox="1"/>
          <p:nvPr/>
        </p:nvSpPr>
        <p:spPr>
          <a:xfrm>
            <a:off x="11256264" y="3310128"/>
            <a:ext cx="402336" cy="256032"/>
          </a:xfrm>
          <a:prstGeom prst="rect">
            <a:avLst/>
          </a:prstGeom>
          <a:noFill/>
          <a:ln/>
        </p:spPr>
        <p:txBody>
          <a:bodyPr wrap="square" lIns="0" tIns="0" rIns="0" bIns="0" rtlCol="0" anchor="ctr"/>
          <a:lstStyle/>
          <a:p>
            <a:pPr algn="r" indent="0" marL="0">
              <a:buNone/>
            </a:pPr>
            <a:r>
              <a:rPr lang="en-US" sz="1000" b="1" dirty="0">
                <a:solidFill>
                  <a:srgbClr val="C0392B"/>
                </a:solidFill>
                <a:latin typeface="Meiryo UI" pitchFamily="34" charset="0"/>
                <a:ea typeface="Meiryo UI" pitchFamily="34" charset="-122"/>
                <a:cs typeface="Meiryo UI" pitchFamily="34" charset="-120"/>
              </a:rPr>
              <a:t>強</a:t>
            </a:r>
            <a:endParaRPr lang="en-US" sz="1000" dirty="0"/>
          </a:p>
        </p:txBody>
      </p:sp>
      <p:sp>
        <p:nvSpPr>
          <p:cNvPr id="39" name="force_f_buyer"/>
          <p:cNvSpPr txBox="1"/>
          <p:nvPr/>
        </p:nvSpPr>
        <p:spPr>
          <a:xfrm>
            <a:off x="10067544" y="361188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OpenAI が受注残の約 45%。</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計算契約は売上見通しの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約 32 倍</a:t>
            </a:r>
            <a:endParaRPr lang="en-US" sz="850" dirty="0"/>
          </a:p>
        </p:txBody>
      </p:sp>
      <p:sp>
        <p:nvSpPr>
          <p:cNvPr id="40" name="ovl_force_subst"/>
          <p:cNvSpPr/>
          <p:nvPr/>
        </p:nvSpPr>
        <p:spPr>
          <a:xfrm>
            <a:off x="8097012" y="4663440"/>
            <a:ext cx="1737360" cy="1325880"/>
          </a:xfrm>
          <a:prstGeom prst="roundRect">
            <a:avLst>
              <a:gd name="adj" fmla="val 4138"/>
            </a:avLst>
          </a:prstGeom>
          <a:solidFill>
            <a:srgbClr val="FFFFFF"/>
          </a:solidFill>
          <a:ln w="9525">
            <a:solidFill>
              <a:srgbClr val="D9D9D9"/>
            </a:solidFill>
            <a:prstDash val="solid"/>
          </a:ln>
        </p:spPr>
      </p:sp>
      <p:sp>
        <p:nvSpPr>
          <p:cNvPr id="41" name="force_n_subst"/>
          <p:cNvSpPr txBox="1"/>
          <p:nvPr/>
        </p:nvSpPr>
        <p:spPr>
          <a:xfrm>
            <a:off x="8170164" y="4727448"/>
            <a:ext cx="1188720" cy="256032"/>
          </a:xfrm>
          <a:prstGeom prst="rect">
            <a:avLst/>
          </a:prstGeom>
          <a:noFill/>
          <a:ln/>
        </p:spPr>
        <p:txBody>
          <a:bodyPr wrap="square" lIns="0" tIns="0" rIns="0" bIns="0"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代替</a:t>
            </a:r>
            <a:endParaRPr lang="en-US" sz="1000" dirty="0"/>
          </a:p>
        </p:txBody>
      </p:sp>
      <p:sp>
        <p:nvSpPr>
          <p:cNvPr id="42" name="force_s_subst"/>
          <p:cNvSpPr txBox="1"/>
          <p:nvPr/>
        </p:nvSpPr>
        <p:spPr>
          <a:xfrm>
            <a:off x="9358884" y="4727448"/>
            <a:ext cx="402336" cy="256032"/>
          </a:xfrm>
          <a:prstGeom prst="rect">
            <a:avLst/>
          </a:prstGeom>
          <a:noFill/>
          <a:ln/>
        </p:spPr>
        <p:txBody>
          <a:bodyPr wrap="square" lIns="0" tIns="0" rIns="0" bIns="0" rtlCol="0" anchor="ctr"/>
          <a:lstStyle/>
          <a:p>
            <a:pPr algn="r" indent="0" marL="0">
              <a:buNone/>
            </a:pPr>
            <a:r>
              <a:rPr lang="en-US" sz="1000" b="1" dirty="0">
                <a:solidFill>
                  <a:srgbClr val="D68910"/>
                </a:solidFill>
                <a:latin typeface="Meiryo UI" pitchFamily="34" charset="0"/>
                <a:ea typeface="Meiryo UI" pitchFamily="34" charset="-122"/>
                <a:cs typeface="Meiryo UI" pitchFamily="34" charset="-120"/>
              </a:rPr>
              <a:t>中</a:t>
            </a:r>
            <a:endParaRPr lang="en-US" sz="1000" dirty="0"/>
          </a:p>
        </p:txBody>
      </p:sp>
      <p:sp>
        <p:nvSpPr>
          <p:cNvPr id="43" name="force_f_subst"/>
          <p:cNvSpPr txBox="1"/>
          <p:nvPr/>
        </p:nvSpPr>
        <p:spPr>
          <a:xfrm>
            <a:off x="8170164" y="5029200"/>
            <a:ext cx="1591056" cy="896112"/>
          </a:xfrm>
          <a:prstGeom prst="rect">
            <a:avLst/>
          </a:prstGeom>
          <a:noFill/>
          <a:ln/>
        </p:spPr>
        <p:txBody>
          <a:bodyPr wrap="square" lIns="0" tIns="0" rIns="0" bIns="0" rtlCol="0" anchor="t"/>
          <a:lstStyle/>
          <a:p>
            <a:pPr indent="0" marL="0">
              <a:buNone/>
            </a:pPr>
            <a:r>
              <a:rPr lang="en-US" sz="850" dirty="0">
                <a:solidFill>
                  <a:srgbClr val="333333"/>
                </a:solidFill>
                <a:latin typeface="Meiryo UI" pitchFamily="34" charset="0"/>
                <a:ea typeface="Meiryo UI" pitchFamily="34" charset="-122"/>
                <a:cs typeface="Meiryo UI" pitchFamily="34" charset="-120"/>
              </a:rPr>
              <a:t>Google TPU(Anthropic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2027 年から約 3.5GW)、</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AWS 自社チップ 年換算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250 億ドル超</a:t>
            </a:r>
            <a:endParaRPr lang="en-US" sz="850" dirty="0"/>
          </a:p>
        </p:txBody>
      </p:sp>
      <p:sp>
        <p:nvSpPr>
          <p:cNvPr id="44" name="ovl_arrow"/>
          <p:cNvSpPr/>
          <p:nvPr/>
        </p:nvSpPr>
        <p:spPr>
          <a:xfrm flipV="1">
            <a:off x="8965692" y="3154680"/>
            <a:ext cx="914" cy="91440"/>
          </a:xfrm>
          <a:prstGeom prst="line">
            <a:avLst/>
          </a:prstGeom>
          <a:noFill/>
          <a:ln w="12700">
            <a:solidFill>
              <a:srgbClr val="767676"/>
            </a:solidFill>
            <a:prstDash val="solid"/>
            <a:tailEnd type="triangle"/>
          </a:ln>
        </p:spPr>
      </p:sp>
      <p:sp>
        <p:nvSpPr>
          <p:cNvPr id="45" name="ovl_arrow"/>
          <p:cNvSpPr/>
          <p:nvPr/>
        </p:nvSpPr>
        <p:spPr>
          <a:xfrm>
            <a:off x="8965692" y="4572000"/>
            <a:ext cx="914" cy="91440"/>
          </a:xfrm>
          <a:prstGeom prst="line">
            <a:avLst/>
          </a:prstGeom>
          <a:noFill/>
          <a:ln w="12700">
            <a:solidFill>
              <a:srgbClr val="767676"/>
            </a:solidFill>
            <a:prstDash val="solid"/>
            <a:tailEnd type="triangle"/>
          </a:ln>
        </p:spPr>
      </p:sp>
      <p:sp>
        <p:nvSpPr>
          <p:cNvPr id="46" name="ovl_arrow"/>
          <p:cNvSpPr/>
          <p:nvPr/>
        </p:nvSpPr>
        <p:spPr>
          <a:xfrm flipH="1">
            <a:off x="7936992" y="3909060"/>
            <a:ext cx="160020" cy="914"/>
          </a:xfrm>
          <a:prstGeom prst="line">
            <a:avLst/>
          </a:prstGeom>
          <a:noFill/>
          <a:ln w="12700">
            <a:solidFill>
              <a:srgbClr val="767676"/>
            </a:solidFill>
            <a:prstDash val="solid"/>
            <a:tailEnd type="triangle"/>
          </a:ln>
        </p:spPr>
      </p:sp>
      <p:sp>
        <p:nvSpPr>
          <p:cNvPr id="47" name="ovl_arrow"/>
          <p:cNvSpPr/>
          <p:nvPr/>
        </p:nvSpPr>
        <p:spPr>
          <a:xfrm>
            <a:off x="9834372" y="3909060"/>
            <a:ext cx="160020" cy="914"/>
          </a:xfrm>
          <a:prstGeom prst="line">
            <a:avLst/>
          </a:prstGeom>
          <a:noFill/>
          <a:ln w="12700">
            <a:solidFill>
              <a:srgbClr val="767676"/>
            </a:solidFill>
            <a:prstDash val="solid"/>
            <a:tailEnd type="triangle"/>
          </a:ln>
        </p:spPr>
      </p:sp>
      <p:sp>
        <p:nvSpPr>
          <p:cNvPr id="48" name="force_legend"/>
          <p:cNvSpPr txBox="1"/>
          <p:nvPr/>
        </p:nvSpPr>
        <p:spPr>
          <a:xfrm>
            <a:off x="9994392" y="4663440"/>
            <a:ext cx="1737360" cy="13258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強さは Oracle の利益率への圧力。弱 = 参入が遅く Oracle に有利</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2-5 需給</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017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017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需給</a:t>
            </a:r>
            <a:endParaRPr lang="en-US" sz="1000" dirty="0"/>
          </a:p>
        </p:txBody>
      </p:sp>
      <p:sp>
        <p:nvSpPr>
          <p:cNvPr id="14" name="hdr_why"/>
          <p:cNvSpPr txBox="1"/>
          <p:nvPr/>
        </p:nvSpPr>
        <p:spPr>
          <a:xfrm>
            <a:off x="1620774" y="356616"/>
            <a:ext cx="10113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需要が供給を上回る状態がいつまで続くかが、AI 容量の単価と利益率を決める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推論・エージェント・ソブリン AI で需要は供給を上回る。7〜9 月も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大手 3 社のクラウドは 39〜103% 伸び、GPU の時間貸しは 10 月に上がった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需要の種類と規模。右: 2026 年の値上げ(前回価格比)と供給の制約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research4/T4_ai_demand.md(McKinsey・Google・Anthropic・Gartner)、research4/T5_supply_components.md(TrendForce・UBS・各社の価格表)、research5/U3_industry_supply_demand.md(7〜9 月期の決算・Ornn 指数)</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18</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需要: 推論・エージェント・ソブリン</a:t>
            </a:r>
            <a:endParaRPr lang="en-US" sz="1200" dirty="0"/>
          </a:p>
        </p:txBody>
      </p:sp>
      <p:graphicFrame>
        <p:nvGraphicFramePr>
          <p:cNvPr id="19"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051560"/>
                <a:gridCol w="4480560"/>
              </a:tblGrid>
              <a:tr h="60350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種類</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規模と伸び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推論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Google の月間トークン処理量 480 兆 → 3,200 兆(1 年で 6.7 倍)。</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推論の電力需要は 20.9 → 93.3GW(2030 年、年 35%)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 タスクのトークンはチャットの約 4 倍、複数エージェントで約 15 倍(Anthropic の自社データ)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ソブリン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Stargate UAE 1GW(Oracle が運営)。ソブリンクラウド IaaS 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2026 年 800 億ドル(+35.6%)。Oracle は日本に 80 億ドル超</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全体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学習 + 推論の電力は 44 → 156GW(2030 年、年 29%)。</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Google・AWS・Azure はそろって「供給制約」を明言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大手クラウド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7〜9 月期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Azure +48%、Google Cloud +103%(受注残 5,610 億ドル)、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AWS +39%(受注残 5,780 億ドル)</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457200" y="5486400"/>
            <a:ext cx="5532120" cy="640080"/>
          </a:xfrm>
          <a:prstGeom prst="rect">
            <a:avLst/>
          </a:prstGeom>
          <a:noFill/>
          <a:ln/>
        </p:spPr>
        <p:txBody>
          <a:bodyPr wrap="square" lIns="508" tIns="508" rIns="508" bIns="508" rtlCol="0" anchor="t"/>
          <a:lstStyle/>
          <a:p>
            <a:pPr indent="0" marL="0">
              <a:buNone/>
            </a:pPr>
            <a:r>
              <a:rPr lang="en-US" sz="850" dirty="0">
                <a:solidFill>
                  <a:srgbClr val="767676"/>
                </a:solidFill>
                <a:latin typeface="Meiryo UI" pitchFamily="34" charset="0"/>
                <a:ea typeface="Meiryo UI" pitchFamily="34" charset="-122"/>
                <a:cs typeface="Meiryo UI" pitchFamily="34" charset="-120"/>
              </a:rPr>
              <a:t>推論型モデルの計算 150 倍は DeepSeek と非推論モデルの 1 例の比較で、推論型モデル全般の値ではない</a:t>
            </a:r>
            <a:endParaRPr lang="en-US" sz="850" dirty="0"/>
          </a:p>
        </p:txBody>
      </p:sp>
      <p:sp>
        <p:nvSpPr>
          <p:cNvPr id="22"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供給: 値上げと制約</a:t>
            </a:r>
            <a:endParaRPr lang="en-US" sz="1200" dirty="0"/>
          </a:p>
        </p:txBody>
      </p:sp>
      <p:graphicFrame>
        <p:nvGraphicFramePr>
          <p:cNvPr id="23" name="chart" descr=""/>
          <p:cNvGraphicFramePr/>
          <p:nvPr/>
        </p:nvGraphicFramePr>
        <p:xfrm>
          <a:off x="6199632" y="1828800"/>
          <a:ext cx="5532120" cy="2331720"/>
        </p:xfrm>
        <a:graphic xmlns:a="http://schemas.openxmlformats.org/drawingml/2006/main">
          <a:graphicData uri="http://schemas.openxmlformats.org/drawingml/2006/chart">
            <c:chart xmlns:c="http://schemas.openxmlformats.org/drawingml/2006/chart" r:id="rId1"/>
          </a:graphicData>
        </a:graphic>
      </p:graphicFrame>
      <p:sp>
        <p:nvSpPr>
          <p:cNvPr id="24" name="bullets"/>
          <p:cNvSpPr txBox="1"/>
          <p:nvPr/>
        </p:nvSpPr>
        <p:spPr>
          <a:xfrm>
            <a:off x="6199632" y="4251960"/>
            <a:ext cx="5532120" cy="109728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メモリ: DRAM 契約価格は 2026 年に累計 約 3.7 倍、HBM の平均単価は 2027 年 +121%(TrendForce)。逼迫は 2028 年まで(UBS)</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電力: ガスタービンの受注残 116GW、計画中の DC 容量の 30〜50% が</a:t>
            </a:r>
            <a:br/>
            <a:r>
              <a:rPr lang="en-US" sz="950" dirty="0">
                <a:solidFill>
                  <a:srgbClr val="333333"/>
                </a:solidFill>
                <a:latin typeface="Meiryo UI" pitchFamily="34" charset="0"/>
                <a:ea typeface="Meiryo UI" pitchFamily="34" charset="-122"/>
                <a:cs typeface="Meiryo UI" pitchFamily="34" charset="-120"/>
              </a:rPr>
              <a:t>2028 年へ後ろ倒しの予想</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GPU の時間貸し(Ornn 指数、10 月): H100 2.59 → 2.92 ドル、B200 7.71 → 9.83 ドル</a:t>
            </a:r>
            <a:endParaRPr lang="en-US" sz="950" dirty="0"/>
          </a:p>
        </p:txBody>
      </p:sp>
      <p:sp>
        <p:nvSpPr>
          <p:cNvPr id="25" name="ovl_takeaway_bg"/>
          <p:cNvSpPr/>
          <p:nvPr/>
        </p:nvSpPr>
        <p:spPr>
          <a:xfrm>
            <a:off x="6199632" y="5394960"/>
            <a:ext cx="5532120" cy="731520"/>
          </a:xfrm>
          <a:prstGeom prst="rect">
            <a:avLst/>
          </a:prstGeom>
          <a:solidFill>
            <a:srgbClr val="EAF4EE"/>
          </a:solidFill>
          <a:ln w="12700">
            <a:solidFill>
              <a:srgbClr val="EAF4EE"/>
            </a:solidFill>
            <a:prstDash val="solid"/>
          </a:ln>
        </p:spPr>
      </p:sp>
      <p:sp>
        <p:nvSpPr>
          <p:cNvPr id="26" name="takeaway"/>
          <p:cNvSpPr txBox="1"/>
          <p:nvPr/>
        </p:nvSpPr>
        <p:spPr>
          <a:xfrm>
            <a:off x="6309360" y="5468112"/>
            <a:ext cx="531266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スマホと同じく、部材の逼迫が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完成品(計算容量)の値上げとして買い手に転嫁されている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コンセンサスの売上が受注残と電力で裏付けられるか、FY30 以降は何で決まるかを確かめる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容量は会社の計画どおり FY28 末に約 10GW へ前倒しで、FY28 売上は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説明会前のコンセンサスより 2 割高い。FY31 以降は自己資金の成長が決める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売上の需給検証(億ドル、容量は AI の GW)。右: FY30 以降の容量の選択肢</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コンセンサス(説明会の前、research5/U2)、Investor Day 2026-10-28(CFO 資料 p.8)、需給エンジン第4.4版(calc/m9_extra.py)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19</a:t>
            </a:r>
            <a:endParaRPr lang="en-US" sz="800" dirty="0"/>
          </a:p>
        </p:txBody>
      </p:sp>
      <p:sp>
        <p:nvSpPr>
          <p:cNvPr id="19" name="pane_head"/>
          <p:cNvSpPr txBox="1"/>
          <p:nvPr/>
        </p:nvSpPr>
        <p:spPr>
          <a:xfrm>
            <a:off x="457200" y="1481328"/>
            <a:ext cx="64008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コンセンサスの需給検証</a:t>
            </a:r>
            <a:endParaRPr lang="en-US" sz="1200" dirty="0"/>
          </a:p>
        </p:txBody>
      </p:sp>
      <p:graphicFrame>
        <p:nvGraphicFramePr>
          <p:cNvPr id="20" name="tbl"/>
          <p:cNvGraphicFramePr>
            <a:graphicFrameLocks noGrp="1"/>
          </p:cNvGraphicFramePr>
          <p:nvPr>
            <p:extLst>
              <p:ext uri="{D42A27DB-BD31-4B8C-83A1-F6EECF244321}">
                <p14:modId xmlns:p14="http://schemas.microsoft.com/office/powerpoint/2010/main" val="1579011935"/>
              </p:ext>
            </p:extLst>
          </p:nvPr>
        </p:nvGraphicFramePr>
        <p:xfrm>
          <a:off x="457200" y="1828800"/>
          <a:ext cx="6400800" cy="914400"/>
        </p:xfrm>
        <a:graphic>
          <a:graphicData uri="http://schemas.openxmlformats.org/drawingml/2006/table">
            <a:tbl>
              <a:tblPr/>
              <a:tblGrid>
                <a:gridCol w="731520"/>
                <a:gridCol w="960120"/>
                <a:gridCol w="960120"/>
                <a:gridCol w="731520"/>
                <a:gridCol w="2103120"/>
                <a:gridCol w="914400"/>
              </a:tblGrid>
              <a:tr h="45720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年度</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説明会前の</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コンセンサス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エンジン</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売上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容量</a:t>
                      </a:r>
                      <a:endParaRPr lang="en-US" sz="950" dirty="0">
                        <a:latin typeface="Meiryo UI" charset="0"/>
                        <a:ea typeface="Meiryo UI" charset="0"/>
                        <a:cs typeface="Meiryo UI" charset="0"/>
                      </a:endParaRPr>
                    </a:p>
                    <a:p>
                      <a:pPr algn="ctr" indent="0" marL="0">
                        <a:buNone/>
                      </a:pPr>
                      <a:r>
                        <a:rPr lang="en-US" sz="950" b="1" dirty="0">
                          <a:solidFill>
                            <a:srgbClr val="FFFFFF"/>
                          </a:solidFill>
                          <a:latin typeface="Meiryo UI" pitchFamily="34" charset="0"/>
                          <a:ea typeface="Meiryo UI" pitchFamily="34" charset="-122"/>
                          <a:cs typeface="Meiryo UI" pitchFamily="34" charset="-120"/>
                        </a:rPr>
                        <a:t>(GW)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根拠</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判定</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904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984</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4.7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Q1 に 850MW 納入。</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会社 900 億以上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供給済み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1,318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1,568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8.7</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会社: FY27〜28 に 約 7GW 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追加(capex のピーク)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会社の計画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1,838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2,052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FY28 末の 約 10GW が</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満稼働</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7A56"/>
                          </a:solidFill>
                          <a:latin typeface="Meiryo UI" pitchFamily="34" charset="0"/>
                          <a:ea typeface="Meiryo UI" pitchFamily="34" charset="-122"/>
                          <a:cs typeface="Meiryo UI" pitchFamily="34" charset="-120"/>
                        </a:rPr>
                        <a:t>裏付けあり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FY30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2,242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2,173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9.5</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会社 2,250 億以上・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総容量 約 10GW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b="1" dirty="0">
                          <a:solidFill>
                            <a:srgbClr val="D68910"/>
                          </a:solidFill>
                          <a:latin typeface="Meiryo UI" pitchFamily="34" charset="0"/>
                          <a:ea typeface="Meiryo UI" pitchFamily="34" charset="-122"/>
                          <a:cs typeface="Meiryo UI" pitchFamily="34" charset="-120"/>
                        </a:rPr>
                        <a:t>会社と −3%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bullets"/>
          <p:cNvSpPr txBox="1"/>
          <p:nvPr/>
        </p:nvSpPr>
        <p:spPr>
          <a:xfrm>
            <a:off x="457200" y="4343400"/>
            <a:ext cx="6400800" cy="173736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エンジンの FY28 売上は前倒しの容量で、説明会前のコンセンサスより 19% 高い。</a:t>
            </a:r>
            <a:br/>
            <a:r>
              <a:rPr lang="en-US" sz="1000" dirty="0">
                <a:solidFill>
                  <a:srgbClr val="333333"/>
                </a:solidFill>
                <a:latin typeface="Meiryo UI" pitchFamily="34" charset="0"/>
                <a:ea typeface="Meiryo UI" pitchFamily="34" charset="-122"/>
                <a:cs typeface="Meiryo UI" pitchFamily="34" charset="-120"/>
              </a:rPr>
              <a:t>FY27 は 984 億ドルで会社の 900 億以上を 9% 上回る(立ち上げの速さの仮定)</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EPS(非GAAP)はエンジンが FY28 12.01・FY30 19.85 で、会社の FY30 21 より 5% 低い。</a:t>
            </a:r>
            <a:br/>
            <a:r>
              <a:rPr lang="en-US" sz="1000" dirty="0">
                <a:solidFill>
                  <a:srgbClr val="333333"/>
                </a:solidFill>
                <a:latin typeface="Meiryo UI" pitchFamily="34" charset="0"/>
                <a:ea typeface="Meiryo UI" pitchFamily="34" charset="-122"/>
                <a:cs typeface="Meiryo UI" pitchFamily="34" charset="-120"/>
              </a:rPr>
              <a:t>理論株価は会社の EPS を使い、エンジンの EPS は感応度(−9.0 ドル)に示した</a:t>
            </a:r>
            <a:endParaRPr lang="en-US" sz="1000" dirty="0"/>
          </a:p>
        </p:txBody>
      </p:sp>
      <p:sp>
        <p:nvSpPr>
          <p:cNvPr id="22" name="pane_head"/>
          <p:cNvSpPr txBox="1"/>
          <p:nvPr/>
        </p:nvSpPr>
        <p:spPr>
          <a:xfrm>
            <a:off x="7132320" y="1481328"/>
            <a:ext cx="45994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FY30 以降の容量の選択肢</a:t>
            </a:r>
            <a:endParaRPr lang="en-US" sz="1200" dirty="0"/>
          </a:p>
        </p:txBody>
      </p:sp>
      <p:graphicFrame>
        <p:nvGraphicFramePr>
          <p:cNvPr id="39" name="tbl"/>
          <p:cNvGraphicFramePr>
            <a:graphicFrameLocks noGrp="1"/>
          </p:cNvGraphicFramePr>
          <p:nvPr>
            <p:extLst>
              <p:ext uri="{D42A27DB-BD31-4B8C-83A1-F6EECF244321}">
                <p14:modId xmlns:p14="http://schemas.microsoft.com/office/powerpoint/2010/main" val="1579011935"/>
              </p:ext>
            </p:extLst>
          </p:nvPr>
        </p:nvGraphicFramePr>
        <p:xfrm>
          <a:off x="7132320" y="1828800"/>
          <a:ext cx="4599432" cy="914400"/>
        </p:xfrm>
        <a:graphic>
          <a:graphicData uri="http://schemas.openxmlformats.org/drawingml/2006/table">
            <a:tbl>
              <a:tblPr/>
              <a:tblGrid>
                <a:gridCol w="1463040"/>
                <a:gridCol w="1005840"/>
                <a:gridCol w="1033272"/>
                <a:gridCol w="1097280"/>
              </a:tblGrid>
              <a:tr h="384048">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ベース(会社)</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売上 225</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に合わせる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年 3.5GW</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容量 FY30/31/32(GW)</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9.5 / 12 / 14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 / 13 / 15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12.5 / 16 / 19.5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 FCF(億ドル)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+721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+500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FY33 FCF(億ドル)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−562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理論株価 加重 / DCF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236 / 210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248 / 216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272 / 236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4" name="ovl_takeaway_bg"/>
          <p:cNvSpPr/>
          <p:nvPr/>
        </p:nvSpPr>
        <p:spPr>
          <a:xfrm>
            <a:off x="7132320" y="4343400"/>
            <a:ext cx="4599432" cy="914400"/>
          </a:xfrm>
          <a:prstGeom prst="rect">
            <a:avLst/>
          </a:prstGeom>
          <a:solidFill>
            <a:srgbClr val="EAF4EE"/>
          </a:solidFill>
          <a:ln w="12700">
            <a:solidFill>
              <a:srgbClr val="EAF4EE"/>
            </a:solidFill>
            <a:prstDash val="solid"/>
          </a:ln>
        </p:spPr>
      </p:sp>
      <p:sp>
        <p:nvSpPr>
          <p:cNvPr id="25" name="takeaway"/>
          <p:cNvSpPr txBox="1"/>
          <p:nvPr/>
        </p:nvSpPr>
        <p:spPr>
          <a:xfrm>
            <a:off x="7242048" y="4416552"/>
            <a:ext cx="4379976" cy="7680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減速は需要ではなく、確保済み電力の期限と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資金(FCF・格付け)で決まる</a:t>
            </a:r>
            <a:endParaRPr lang="en-US" sz="1100" dirty="0"/>
          </a:p>
        </p:txBody>
      </p:sp>
      <p:sp>
        <p:nvSpPr>
          <p:cNvPr id="26" name="Text 22"/>
          <p:cNvSpPr txBox="1"/>
          <p:nvPr/>
        </p:nvSpPr>
        <p:spPr>
          <a:xfrm>
            <a:off x="7132320" y="5349240"/>
            <a:ext cx="4599432"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強気に寄せる条件: FY31 以降の電力・拠点の開示と、</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BYOH・前払いで Oracle の capex が減ること</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2-6 成長の前提(2/2)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成長の前提</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上積みの 2 事業(SaaS・Database@)をどう前提に置いたかと、その根拠を示す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SaaS は旧 ERP 顧客の移行で 10% → 14% に加速すると見て、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Database@ は FY30 に 46 億ドル・1 株 5 ドルの純増と置く</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SaaS の先行指標・製品特性・反証と前提。右: Database@ の伸び(前年同期比)と前提</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research4/T3_saas_products.md、research2/R4_database_at.md、research3/W6_database_at.md、需給エンジン第4.4版(calc/model9.py)</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20</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SaaS: 製品の特性から加速を読む</a:t>
            </a:r>
            <a:endParaRPr lang="en-US" sz="1200" dirty="0"/>
          </a:p>
        </p:txBody>
      </p:sp>
      <p:graphicFrame>
        <p:nvGraphicFramePr>
          <p:cNvPr id="21" name="tbl"/>
          <p:cNvGraphicFramePr>
            <a:graphicFrameLocks noGrp="1"/>
          </p:cNvGraphicFramePr>
          <p:nvPr>
            <p:extLst>
              <p:ext uri="{D42A27DB-BD31-4B8C-83A1-F6EECF244321}">
                <p14:modId xmlns:p14="http://schemas.microsoft.com/office/powerpoint/2010/main" val="1579011935"/>
              </p:ext>
            </p:extLst>
          </p:nvPr>
        </p:nvGraphicFramePr>
        <p:xfrm>
          <a:off x="457200" y="1828800"/>
          <a:ext cx="5532120" cy="914400"/>
        </p:xfrm>
        <a:graphic>
          <a:graphicData uri="http://schemas.openxmlformats.org/drawingml/2006/table">
            <a:tbl>
              <a:tblPr/>
              <a:tblGrid>
                <a:gridCol w="1325880"/>
                <a:gridCol w="4206240"/>
              </a:tblGrid>
              <a:tr h="402336">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観点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事実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実績</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SaaS +10%(Q1 FY27)。直近 5 四半期は</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10〜13% で、まだ加速していない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先行指標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繰延収益 +16% が売上 +10% を上回る(Q4 FY26、要約 1 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移行の余地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旧来 ERP の顧客 8,500 社のうち Fusion へ移行済みは約 1,000 社(CEO 発言、時点不明)</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需要</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エージェント型 AI のソフト支出は 2030 年に 9,850 億ドル(Gartner)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SAP クラウド +22%、ServiceNow 購読 +24.5%、Salesforce +11%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反証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エージェントは追加料金なし。AI で席数が減る懸念(2026-02 に</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ソフト株が急落)</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1" name="ovl_takeaway_bg"/>
          <p:cNvSpPr/>
          <p:nvPr/>
        </p:nvSpPr>
        <p:spPr>
          <a:xfrm>
            <a:off x="457200" y="4754880"/>
            <a:ext cx="5532120" cy="1371600"/>
          </a:xfrm>
          <a:prstGeom prst="rect">
            <a:avLst/>
          </a:prstGeom>
          <a:solidFill>
            <a:srgbClr val="EAF4EE"/>
          </a:solidFill>
          <a:ln w="12700">
            <a:solidFill>
              <a:srgbClr val="EAF4EE"/>
            </a:solidFill>
            <a:prstDash val="solid"/>
          </a:ln>
        </p:spPr>
      </p:sp>
      <p:sp>
        <p:nvSpPr>
          <p:cNvPr id="22" name="takeaway"/>
          <p:cNvSpPr txBox="1"/>
          <p:nvPr/>
        </p:nvSpPr>
        <p:spPr>
          <a:xfrm>
            <a:off x="566928" y="4828032"/>
            <a:ext cx="5312664" cy="12252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前提: FY27 10% → FY31 14% → FY36 に 8%。ERP は取引データと</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実行権限を持つため、エージェントの普及は移行を後押しする。</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反証は弱気シナリオで −2pt として数える</a:t>
            </a:r>
            <a:endParaRPr lang="en-US" sz="110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Database@: 3 桁成長は続くが減速している</a:t>
            </a:r>
            <a:endParaRPr lang="en-US" sz="1200" dirty="0"/>
          </a:p>
        </p:txBody>
      </p:sp>
      <p:graphicFrame>
        <p:nvGraphicFramePr>
          <p:cNvPr id="24" name="chart" descr=""/>
          <p:cNvGraphicFramePr/>
          <p:nvPr/>
        </p:nvGraphicFramePr>
        <p:xfrm>
          <a:off x="6199632" y="1828800"/>
          <a:ext cx="5532120" cy="2377440"/>
        </p:xfrm>
        <a:graphic xmlns:a="http://schemas.openxmlformats.org/drawingml/2006/main">
          <a:graphicData uri="http://schemas.openxmlformats.org/drawingml/2006/chart">
            <c:chart xmlns:c="http://schemas.openxmlformats.org/drawingml/2006/chart" r:id="rId1"/>
          </a:graphicData>
        </a:graphic>
      </p:graphicFrame>
      <p:sp>
        <p:nvSpPr>
          <p:cNvPr id="25" name="bullets"/>
          <p:cNvSpPr txBox="1"/>
          <p:nvPr/>
        </p:nvSpPr>
        <p:spPr>
          <a:xfrm>
            <a:off x="6199632" y="4343400"/>
            <a:ext cx="5532120" cy="178308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70 リージョン・119 AZ(Azure 33・Google 14・AWS 22)、顧客数 +180%</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前提: FY30 に 46 億ドル。移行した保守売上(70%)÷ 移行倍率 2.5 を</a:t>
            </a:r>
            <a:br/>
            <a:r>
              <a:rPr lang="en-US" sz="1000" dirty="0">
                <a:solidFill>
                  <a:srgbClr val="333333"/>
                </a:solidFill>
                <a:latin typeface="Meiryo UI" pitchFamily="34" charset="0"/>
                <a:ea typeface="Meiryo UI" pitchFamily="34" charset="-122"/>
                <a:cs typeface="Meiryo UI" pitchFamily="34" charset="-120"/>
              </a:rPr>
              <a:t>保守から差し引いても 1 株 5.4 ドルの純増</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会社の FY30 目標(クラウド DB 全体 200 億ドル)より保守的。</a:t>
            </a:r>
            <a:br/>
            <a:r>
              <a:rPr lang="en-US" sz="1000" dirty="0">
                <a:solidFill>
                  <a:srgbClr val="333333"/>
                </a:solidFill>
                <a:latin typeface="Meiryo UI" pitchFamily="34" charset="0"/>
                <a:ea typeface="Meiryo UI" pitchFamily="34" charset="-122"/>
                <a:cs typeface="Meiryo UI" pitchFamily="34" charset="-120"/>
              </a:rPr>
              <a:t>伸びは毎期 5pt ずつ減速させた</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2-7 資金と信用(1/2)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資金と信用</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建設資金が尽きないか、格付けと金利が理論株価をどこまで動かすかを確かめる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格付けはエンジンでも BBB- を保ち、FY29 に FCF 721 億ドル。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金利低下なら 245 ドル、6% で高止まりでも 228 ドルで株価を上回る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FCF と格付けの経路(需給エンジン、ベース)。右: 金利の経路と理論株価(株主資本コストも同じ前提で変える)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需給エンジン第4.4版(calc/out/m9_all.json・m9_more.json)、research2/R5_credit.md、research3/W4_rates.md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21</a:t>
            </a:r>
            <a:endParaRPr lang="en-US" sz="800" dirty="0"/>
          </a:p>
        </p:txBody>
      </p:sp>
      <p:sp>
        <p:nvSpPr>
          <p:cNvPr id="19" name="pane_head"/>
          <p:cNvSpPr txBox="1"/>
          <p:nvPr/>
        </p:nvSpPr>
        <p:spPr>
          <a:xfrm>
            <a:off x="457200" y="1481328"/>
            <a:ext cx="57607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FCF(10 億ドル)と格付け</a:t>
            </a:r>
            <a:endParaRPr lang="en-US" sz="1200" dirty="0"/>
          </a:p>
        </p:txBody>
      </p:sp>
      <p:graphicFrame>
        <p:nvGraphicFramePr>
          <p:cNvPr id="20" name="chart" descr=""/>
          <p:cNvGraphicFramePr/>
          <p:nvPr/>
        </p:nvGraphicFramePr>
        <p:xfrm>
          <a:off x="457200" y="1783080"/>
          <a:ext cx="57607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bl"/>
          <p:cNvGraphicFramePr>
            <a:graphicFrameLocks noGrp="1"/>
          </p:cNvGraphicFramePr>
          <p:nvPr>
            <p:extLst>
              <p:ext uri="{D42A27DB-BD31-4B8C-83A1-F6EECF244321}">
                <p14:modId xmlns:p14="http://schemas.microsoft.com/office/powerpoint/2010/main" val="1579011935"/>
              </p:ext>
            </p:extLst>
          </p:nvPr>
        </p:nvGraphicFramePr>
        <p:xfrm>
          <a:off x="457200" y="4663440"/>
          <a:ext cx="5760720" cy="914400"/>
        </p:xfrm>
        <a:graphic>
          <a:graphicData uri="http://schemas.openxmlformats.org/drawingml/2006/table">
            <a:tbl>
              <a:tblPr/>
              <a:tblGrid>
                <a:gridCol w="960120"/>
                <a:gridCol w="960120"/>
                <a:gridCol w="960120"/>
                <a:gridCol w="960120"/>
                <a:gridCol w="960120"/>
                <a:gridCol w="960120"/>
              </a:tblGrid>
              <a:tr h="310896">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FY29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FY32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BBB+</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Text 18"/>
          <p:cNvSpPr txBox="1"/>
          <p:nvPr/>
        </p:nvSpPr>
        <p:spPr>
          <a:xfrm>
            <a:off x="457200" y="5349240"/>
            <a:ext cx="5760720" cy="73152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S&amp;P の格下げ条件: 調整後レバレッジ 4.5 倍超が続く、FY29 までに FOCF が黒字化しない、</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AI 戦略への否定的な見方。会社は FY28 下期の黒字化と FY29 の FCF 300 億ドル以上を約束。</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エンジンは FY29 に 721 億ドル</a:t>
            </a:r>
            <a:endParaRPr lang="en-US" sz="950" dirty="0"/>
          </a:p>
        </p:txBody>
      </p:sp>
      <p:sp>
        <p:nvSpPr>
          <p:cNvPr id="23" name="pane_head"/>
          <p:cNvSpPr txBox="1"/>
          <p:nvPr/>
        </p:nvSpPr>
        <p:spPr>
          <a:xfrm>
            <a:off x="6446520" y="1481328"/>
            <a:ext cx="528523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金利の経路と理論株価</a:t>
            </a:r>
            <a:endParaRPr lang="en-US" sz="1200" dirty="0"/>
          </a:p>
        </p:txBody>
      </p:sp>
      <p:graphicFrame>
        <p:nvGraphicFramePr>
          <p:cNvPr id="43" name="tbl"/>
          <p:cNvGraphicFramePr>
            <a:graphicFrameLocks noGrp="1"/>
          </p:cNvGraphicFramePr>
          <p:nvPr>
            <p:extLst>
              <p:ext uri="{D42A27DB-BD31-4B8C-83A1-F6EECF244321}">
                <p14:modId xmlns:p14="http://schemas.microsoft.com/office/powerpoint/2010/main" val="1579011935"/>
              </p:ext>
            </p:extLst>
          </p:nvPr>
        </p:nvGraphicFramePr>
        <p:xfrm>
          <a:off x="6446520" y="1828800"/>
          <a:ext cx="5285232" cy="914400"/>
        </p:xfrm>
        <a:graphic>
          <a:graphicData uri="http://schemas.openxmlformats.org/drawingml/2006/table">
            <a:tbl>
              <a:tblPr/>
              <a:tblGrid>
                <a:gridCol w="2176272"/>
                <a:gridCol w="1005840"/>
                <a:gridCol w="1051560"/>
                <a:gridCol w="1051560"/>
              </a:tblGrid>
              <a:tr h="41148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金利の経路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株主資本</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コスト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p>
                      <a:pPr algn="ctr" indent="0" marL="0">
                        <a:buNone/>
                      </a:pPr>
                      <a:r>
                        <a:rPr lang="en-US" sz="1000" b="1" dirty="0">
                          <a:solidFill>
                            <a:srgbClr val="FFFFFF"/>
                          </a:solidFill>
                          <a:latin typeface="Meiryo UI" pitchFamily="34" charset="0"/>
                          <a:ea typeface="Meiryo UI" pitchFamily="34" charset="-122"/>
                          <a:cs typeface="Meiryo UI" pitchFamily="34" charset="-120"/>
                        </a:rPr>
                        <a:t>(加重)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DCF(加重)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市場の曲線(ベース)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10.59%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予測どおり低下(5.2 → 4.2%)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10.43%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41148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6.0% で高止まり</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11.57%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187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bullets"/>
          <p:cNvSpPr txBox="1"/>
          <p:nvPr/>
        </p:nvSpPr>
        <p:spPr>
          <a:xfrm>
            <a:off x="6446520" y="3611880"/>
            <a:ext cx="5285232" cy="146304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ベースは市場の利回り曲線で割り引く</a:t>
            </a:r>
            <a:br/>
            <a:r>
              <a:rPr lang="en-US" sz="1000" dirty="0">
                <a:solidFill>
                  <a:srgbClr val="333333"/>
                </a:solidFill>
                <a:latin typeface="Meiryo UI" pitchFamily="34" charset="0"/>
                <a:ea typeface="Meiryo UI" pitchFamily="34" charset="-122"/>
                <a:cs typeface="Meiryo UI" pitchFamily="34" charset="-120"/>
              </a:rPr>
              <a:t>(2 年金利が FF 金利を上回り、市場は利上げも織り込む)</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利下げの見通しはシナリオとして示す。DCF は金利に敏感だが、</a:t>
            </a:r>
            <a:br/>
            <a:r>
              <a:rPr lang="en-US" sz="1000" dirty="0">
                <a:solidFill>
                  <a:srgbClr val="333333"/>
                </a:solidFill>
                <a:latin typeface="Meiryo UI" pitchFamily="34" charset="0"/>
                <a:ea typeface="Meiryo UI" pitchFamily="34" charset="-122"/>
                <a:cs typeface="Meiryo UI" pitchFamily="34" charset="-120"/>
              </a:rPr>
              <a:t>年度別理論株価は近い年度が重いので動きが小さい</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10 年金利は 10 月初めに約 5.3% まで上がり、10/29 は 5.02%。</a:t>
            </a:r>
            <a:br/>
            <a:r>
              <a:rPr lang="en-US" sz="1000" dirty="0">
                <a:solidFill>
                  <a:srgbClr val="333333"/>
                </a:solidFill>
                <a:latin typeface="Meiryo UI" pitchFamily="34" charset="0"/>
                <a:ea typeface="Meiryo UI" pitchFamily="34" charset="-122"/>
                <a:cs typeface="Meiryo UI" pitchFamily="34" charset="-120"/>
              </a:rPr>
              <a:t>足元の金利は歴史的に低くない</a:t>
            </a:r>
            <a:endParaRPr lang="en-US" sz="1000" dirty="0"/>
          </a:p>
        </p:txBody>
      </p:sp>
      <p:sp>
        <p:nvSpPr>
          <p:cNvPr id="26" name="ovl_takeaway_bg"/>
          <p:cNvSpPr/>
          <p:nvPr/>
        </p:nvSpPr>
        <p:spPr>
          <a:xfrm>
            <a:off x="6446520" y="5166360"/>
            <a:ext cx="5285232" cy="868680"/>
          </a:xfrm>
          <a:prstGeom prst="rect">
            <a:avLst/>
          </a:prstGeom>
          <a:solidFill>
            <a:srgbClr val="EAF4EE"/>
          </a:solidFill>
          <a:ln w="12700">
            <a:solidFill>
              <a:srgbClr val="EAF4EE"/>
            </a:solidFill>
            <a:prstDash val="solid"/>
          </a:ln>
        </p:spPr>
      </p:sp>
      <p:sp>
        <p:nvSpPr>
          <p:cNvPr id="27" name="takeaway"/>
          <p:cNvSpPr txBox="1"/>
          <p:nvPr/>
        </p:nvSpPr>
        <p:spPr>
          <a:xfrm>
            <a:off x="6556248" y="5239512"/>
            <a:ext cx="5065776" cy="7223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どの金利の経路でも、理論株価は株価 139.56 ドルを 63% 以上上回る</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第2章 事業・需給・成長</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2-7 資金と信用(2/2)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197A56"/>
          </a:solidFill>
          <a:ln w="9525">
            <a:solidFill>
              <a:srgbClr val="197A56"/>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資金と信用</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会社の資金の橋渡しが何で成り立ち、FCF がいつ、なぜ山と谷を作るかを確かめる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FY29 の FCF は利益率でなく容量の頭打ちから出る。ベンダー金融は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借入の別名で、FY33 に 7GW の更新の山が来る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約 6GW の建設資金(自己資金なら 2,200 億ドル)が何で減り、最後に 200 億ドルが残る道筋。右: FCF と capex の経路(ベース)と FY33 の第 2 の山</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2026-10-28(CFO 資料 p.18・26・28)、需給エンジン第4.4版(calc/out/m9_all.json・m9_extra.json)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22</a:t>
            </a:r>
            <a:endParaRPr lang="en-US" sz="800" dirty="0"/>
          </a:p>
        </p:txBody>
      </p:sp>
      <p:sp>
        <p:nvSpPr>
          <p:cNvPr id="19" name="pane_head"/>
          <p:cNvSpPr txBox="1"/>
          <p:nvPr/>
        </p:nvSpPr>
        <p:spPr>
          <a:xfrm>
            <a:off x="457200" y="1481328"/>
            <a:ext cx="539496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会社の資金の橋渡し(Q2 FY27〜Q4 FY28、億ドル)</a:t>
            </a:r>
            <a:endParaRPr lang="en-US" sz="1200" dirty="0"/>
          </a:p>
        </p:txBody>
      </p:sp>
      <p:graphicFrame>
        <p:nvGraphicFramePr>
          <p:cNvPr id="20" name="chart_bridge" descr=""/>
          <p:cNvGraphicFramePr/>
          <p:nvPr/>
        </p:nvGraphicFramePr>
        <p:xfrm>
          <a:off x="457200" y="1801368"/>
          <a:ext cx="5394960" cy="2880360"/>
        </p:xfrm>
        <a:graphic xmlns:a="http://schemas.openxmlformats.org/drawingml/2006/main">
          <a:graphicData uri="http://schemas.openxmlformats.org/drawingml/2006/chart">
            <c:chart xmlns:c="http://schemas.openxmlformats.org/drawingml/2006/chart" r:id="rId1"/>
          </a:graphicData>
        </a:graphic>
      </p:graphicFrame>
      <p:sp>
        <p:nvSpPr>
          <p:cNvPr id="21" name="ovl_br_val0"/>
          <p:cNvSpPr txBox="1"/>
          <p:nvPr/>
        </p:nvSpPr>
        <p:spPr>
          <a:xfrm>
            <a:off x="672998" y="2056257"/>
            <a:ext cx="827227" cy="18288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2,200</a:t>
            </a:r>
            <a:endParaRPr lang="en-US" sz="950" dirty="0"/>
          </a:p>
        </p:txBody>
      </p:sp>
      <p:sp>
        <p:nvSpPr>
          <p:cNvPr id="22" name="ovl_br_cat0"/>
          <p:cNvSpPr txBox="1"/>
          <p:nvPr/>
        </p:nvSpPr>
        <p:spPr>
          <a:xfrm>
            <a:off x="672998"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約 6GW 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建設</a:t>
            </a:r>
            <a:endParaRPr lang="en-US" sz="850" dirty="0"/>
          </a:p>
        </p:txBody>
      </p:sp>
      <p:sp>
        <p:nvSpPr>
          <p:cNvPr id="23" name="ovl_br_conn0"/>
          <p:cNvSpPr/>
          <p:nvPr/>
        </p:nvSpPr>
        <p:spPr>
          <a:xfrm>
            <a:off x="1382050" y="2257425"/>
            <a:ext cx="236351" cy="914"/>
          </a:xfrm>
          <a:prstGeom prst="line">
            <a:avLst/>
          </a:prstGeom>
          <a:noFill/>
          <a:ln w="6350">
            <a:solidFill>
              <a:srgbClr val="767676"/>
            </a:solidFill>
            <a:prstDash val="sysDash"/>
          </a:ln>
        </p:spPr>
      </p:sp>
      <p:sp>
        <p:nvSpPr>
          <p:cNvPr id="24" name="ovl_br_val1"/>
          <p:cNvSpPr txBox="1"/>
          <p:nvPr/>
        </p:nvSpPr>
        <p:spPr>
          <a:xfrm>
            <a:off x="1500226" y="205625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25" name="ovl_br_cat1"/>
          <p:cNvSpPr txBox="1"/>
          <p:nvPr/>
        </p:nvSpPr>
        <p:spPr>
          <a:xfrm>
            <a:off x="1500226"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ベンダー</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金融</a:t>
            </a:r>
            <a:endParaRPr lang="en-US" sz="850" dirty="0"/>
          </a:p>
        </p:txBody>
      </p:sp>
      <p:sp>
        <p:nvSpPr>
          <p:cNvPr id="26" name="ovl_br_conn1"/>
          <p:cNvSpPr/>
          <p:nvPr/>
        </p:nvSpPr>
        <p:spPr>
          <a:xfrm>
            <a:off x="2209277" y="2576665"/>
            <a:ext cx="236351" cy="914"/>
          </a:xfrm>
          <a:prstGeom prst="line">
            <a:avLst/>
          </a:prstGeom>
          <a:noFill/>
          <a:ln w="6350">
            <a:solidFill>
              <a:srgbClr val="767676"/>
            </a:solidFill>
            <a:prstDash val="sysDash"/>
          </a:ln>
        </p:spPr>
      </p:sp>
      <p:sp>
        <p:nvSpPr>
          <p:cNvPr id="27" name="ovl_br_val2"/>
          <p:cNvSpPr txBox="1"/>
          <p:nvPr/>
        </p:nvSpPr>
        <p:spPr>
          <a:xfrm>
            <a:off x="2327453" y="237549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28" name="ovl_br_cat2"/>
          <p:cNvSpPr txBox="1"/>
          <p:nvPr/>
        </p:nvSpPr>
        <p:spPr>
          <a:xfrm>
            <a:off x="2327453"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BYOH</a:t>
            </a:r>
            <a:endParaRPr lang="en-US" sz="850" dirty="0"/>
          </a:p>
        </p:txBody>
      </p:sp>
      <p:sp>
        <p:nvSpPr>
          <p:cNvPr id="29" name="ovl_br_conn2"/>
          <p:cNvSpPr/>
          <p:nvPr/>
        </p:nvSpPr>
        <p:spPr>
          <a:xfrm>
            <a:off x="3036505" y="2895905"/>
            <a:ext cx="236351" cy="914"/>
          </a:xfrm>
          <a:prstGeom prst="line">
            <a:avLst/>
          </a:prstGeom>
          <a:noFill/>
          <a:ln w="6350">
            <a:solidFill>
              <a:srgbClr val="767676"/>
            </a:solidFill>
            <a:prstDash val="sysDash"/>
          </a:ln>
        </p:spPr>
      </p:sp>
      <p:sp>
        <p:nvSpPr>
          <p:cNvPr id="30" name="ovl_br_val3"/>
          <p:cNvSpPr txBox="1"/>
          <p:nvPr/>
        </p:nvSpPr>
        <p:spPr>
          <a:xfrm>
            <a:off x="3154680" y="269473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380</a:t>
            </a:r>
            <a:endParaRPr lang="en-US" sz="950" dirty="0"/>
          </a:p>
        </p:txBody>
      </p:sp>
      <p:sp>
        <p:nvSpPr>
          <p:cNvPr id="31" name="ovl_br_cat3"/>
          <p:cNvSpPr txBox="1"/>
          <p:nvPr/>
        </p:nvSpPr>
        <p:spPr>
          <a:xfrm>
            <a:off x="3154680"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前払い</a:t>
            </a:r>
            <a:endParaRPr lang="en-US" sz="850" dirty="0"/>
          </a:p>
        </p:txBody>
      </p:sp>
      <p:sp>
        <p:nvSpPr>
          <p:cNvPr id="32" name="ovl_br_conn3"/>
          <p:cNvSpPr/>
          <p:nvPr/>
        </p:nvSpPr>
        <p:spPr>
          <a:xfrm>
            <a:off x="3863732" y="3215145"/>
            <a:ext cx="236351" cy="914"/>
          </a:xfrm>
          <a:prstGeom prst="line">
            <a:avLst/>
          </a:prstGeom>
          <a:noFill/>
          <a:ln w="6350">
            <a:solidFill>
              <a:srgbClr val="767676"/>
            </a:solidFill>
            <a:prstDash val="sysDash"/>
          </a:ln>
        </p:spPr>
      </p:sp>
      <p:sp>
        <p:nvSpPr>
          <p:cNvPr id="33" name="ovl_br_val4"/>
          <p:cNvSpPr txBox="1"/>
          <p:nvPr/>
        </p:nvSpPr>
        <p:spPr>
          <a:xfrm>
            <a:off x="3981907" y="3013977"/>
            <a:ext cx="827227" cy="182880"/>
          </a:xfrm>
          <a:prstGeom prst="rect">
            <a:avLst/>
          </a:prstGeom>
          <a:noFill/>
          <a:ln/>
        </p:spPr>
        <p:txBody>
          <a:bodyPr wrap="square" lIns="0" tIns="0" rIns="0" bIns="0" rtlCol="0" anchor="b"/>
          <a:lstStyle/>
          <a:p>
            <a:pPr algn="ctr" indent="0" marL="0">
              <a:buNone/>
            </a:pPr>
            <a:r>
              <a:rPr lang="en-US" sz="950" b="1" dirty="0">
                <a:solidFill>
                  <a:srgbClr val="197A56"/>
                </a:solidFill>
                <a:latin typeface="Meiryo UI" pitchFamily="34" charset="0"/>
                <a:ea typeface="Meiryo UI" pitchFamily="34" charset="-122"/>
                <a:cs typeface="Meiryo UI" pitchFamily="34" charset="-120"/>
              </a:rPr>
              <a:t>−約 860</a:t>
            </a:r>
            <a:endParaRPr lang="en-US" sz="950" dirty="0"/>
          </a:p>
        </p:txBody>
      </p:sp>
      <p:sp>
        <p:nvSpPr>
          <p:cNvPr id="34" name="ovl_br_cat4"/>
          <p:cNvSpPr txBox="1"/>
          <p:nvPr/>
        </p:nvSpPr>
        <p:spPr>
          <a:xfrm>
            <a:off x="3981907"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その他の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営業 CF</a:t>
            </a:r>
            <a:endParaRPr lang="en-US" sz="850" dirty="0"/>
          </a:p>
        </p:txBody>
      </p:sp>
      <p:sp>
        <p:nvSpPr>
          <p:cNvPr id="35" name="ovl_br_conn4"/>
          <p:cNvSpPr/>
          <p:nvPr/>
        </p:nvSpPr>
        <p:spPr>
          <a:xfrm>
            <a:off x="4690959" y="3937635"/>
            <a:ext cx="236351" cy="914"/>
          </a:xfrm>
          <a:prstGeom prst="line">
            <a:avLst/>
          </a:prstGeom>
          <a:noFill/>
          <a:ln w="6350">
            <a:solidFill>
              <a:srgbClr val="767676"/>
            </a:solidFill>
            <a:prstDash val="sysDash"/>
          </a:ln>
        </p:spPr>
      </p:sp>
      <p:sp>
        <p:nvSpPr>
          <p:cNvPr id="36" name="ovl_br_val5"/>
          <p:cNvSpPr txBox="1"/>
          <p:nvPr/>
        </p:nvSpPr>
        <p:spPr>
          <a:xfrm>
            <a:off x="4809134" y="3736467"/>
            <a:ext cx="827227" cy="18288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200</a:t>
            </a:r>
            <a:endParaRPr lang="en-US" sz="950" dirty="0"/>
          </a:p>
        </p:txBody>
      </p:sp>
      <p:sp>
        <p:nvSpPr>
          <p:cNvPr id="37" name="ovl_br_cat5"/>
          <p:cNvSpPr txBox="1"/>
          <p:nvPr/>
        </p:nvSpPr>
        <p:spPr>
          <a:xfrm>
            <a:off x="4809134" y="4160520"/>
            <a:ext cx="827227" cy="3291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最後の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調達</a:t>
            </a:r>
            <a:endParaRPr lang="en-US" sz="850" dirty="0"/>
          </a:p>
        </p:txBody>
      </p:sp>
      <p:sp>
        <p:nvSpPr>
          <p:cNvPr id="38" name="note_bridge"/>
          <p:cNvSpPr txBox="1"/>
          <p:nvPr/>
        </p:nvSpPr>
        <p:spPr>
          <a:xfrm>
            <a:off x="457200" y="4700016"/>
            <a:ext cx="5394960" cy="329184"/>
          </a:xfrm>
          <a:prstGeom prst="rect">
            <a:avLst/>
          </a:prstGeom>
          <a:noFill/>
          <a:ln/>
        </p:spPr>
        <p:txBody>
          <a:bodyPr wrap="square" lIns="0" tIns="0" rIns="0" bIns="0" rtlCol="0" anchor="t"/>
          <a:lstStyle/>
          <a:p>
            <a:pPr indent="0" marL="0">
              <a:buNone/>
            </a:pPr>
            <a:r>
              <a:rPr lang="en-US" sz="800" dirty="0">
                <a:solidFill>
                  <a:srgbClr val="767676"/>
                </a:solidFill>
                <a:latin typeface="Meiryo UI" pitchFamily="34" charset="0"/>
                <a:ea typeface="Meiryo UI" pitchFamily="34" charset="-122"/>
                <a:cs typeface="Meiryo UI" pitchFamily="34" charset="-120"/>
              </a:rPr>
              <a:t>ベンダー金融・BYOH・前払いの額は図の目盛からの概算(各 350〜400 億ドル)。</a:t>
            </a:r>
            <a:endParaRPr lang="en-US" sz="800" dirty="0"/>
          </a:p>
          <a:p>
            <a:pPr indent="0" marL="0">
              <a:buNone/>
            </a:pPr>
            <a:r>
              <a:rPr lang="en-US" sz="800" dirty="0">
                <a:solidFill>
                  <a:srgbClr val="767676"/>
                </a:solidFill>
                <a:latin typeface="Meiryo UI" pitchFamily="34" charset="0"/>
                <a:ea typeface="Meiryo UI" pitchFamily="34" charset="-122"/>
                <a:cs typeface="Meiryo UI" pitchFamily="34" charset="-120"/>
              </a:rPr>
              <a:t>3 項目は各 380 億ドル、その他の営業 CF は 860 億ドルと置き、残りが 200 億ドルになるようにした</a:t>
            </a:r>
            <a:endParaRPr lang="en-US" sz="800" dirty="0"/>
          </a:p>
        </p:txBody>
      </p:sp>
      <p:sp>
        <p:nvSpPr>
          <p:cNvPr id="39" name="pane_head"/>
          <p:cNvSpPr txBox="1"/>
          <p:nvPr/>
        </p:nvSpPr>
        <p:spPr>
          <a:xfrm>
            <a:off x="6172200" y="1481328"/>
            <a:ext cx="5559552"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FCF と capex(ベース、億ドル)</a:t>
            </a:r>
            <a:endParaRPr lang="en-US" sz="1200" dirty="0"/>
          </a:p>
        </p:txBody>
      </p:sp>
      <p:graphicFrame>
        <p:nvGraphicFramePr>
          <p:cNvPr id="40" name="chart_fcf" descr=""/>
          <p:cNvGraphicFramePr/>
          <p:nvPr/>
        </p:nvGraphicFramePr>
        <p:xfrm>
          <a:off x="6172200" y="1801368"/>
          <a:ext cx="5559552" cy="3200400"/>
        </p:xfrm>
        <a:graphic xmlns:a="http://schemas.openxmlformats.org/drawingml/2006/main">
          <a:graphicData uri="http://schemas.openxmlformats.org/drawingml/2006/chart">
            <c:chart xmlns:c="http://schemas.openxmlformats.org/drawingml/2006/chart" r:id="rId2"/>
          </a:graphicData>
        </a:graphic>
      </p:graphicFrame>
      <p:sp>
        <p:nvSpPr>
          <p:cNvPr id="41" name="ovl_fcf_v0"/>
          <p:cNvSpPr txBox="1"/>
          <p:nvPr/>
        </p:nvSpPr>
        <p:spPr>
          <a:xfrm>
            <a:off x="6407676" y="3999933"/>
            <a:ext cx="365760" cy="164592"/>
          </a:xfrm>
          <a:prstGeom prst="rect">
            <a:avLst/>
          </a:prstGeom>
          <a:noFill/>
          <a:ln/>
        </p:spPr>
        <p:txBody>
          <a:bodyPr wrap="squar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−499</a:t>
            </a:r>
            <a:endParaRPr lang="en-US" sz="800" dirty="0"/>
          </a:p>
        </p:txBody>
      </p:sp>
      <p:sp>
        <p:nvSpPr>
          <p:cNvPr id="42" name="ovl_cap_v0"/>
          <p:cNvSpPr txBox="1"/>
          <p:nvPr/>
        </p:nvSpPr>
        <p:spPr>
          <a:xfrm>
            <a:off x="6668975" y="2863334"/>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1,151</a:t>
            </a:r>
            <a:endParaRPr lang="en-US" sz="800" dirty="0"/>
          </a:p>
        </p:txBody>
      </p:sp>
      <p:sp>
        <p:nvSpPr>
          <p:cNvPr id="43" name="ovl_fcf_v1"/>
          <p:cNvSpPr txBox="1"/>
          <p:nvPr/>
        </p:nvSpPr>
        <p:spPr>
          <a:xfrm>
            <a:off x="7060924" y="3722705"/>
            <a:ext cx="365760" cy="164592"/>
          </a:xfrm>
          <a:prstGeom prst="rect">
            <a:avLst/>
          </a:prstGeom>
          <a:noFill/>
          <a:ln/>
        </p:spPr>
        <p:txBody>
          <a:bodyPr wrap="squar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−10</a:t>
            </a:r>
            <a:endParaRPr lang="en-US" sz="800" dirty="0"/>
          </a:p>
        </p:txBody>
      </p:sp>
      <p:sp>
        <p:nvSpPr>
          <p:cNvPr id="44" name="ovl_cap_v1"/>
          <p:cNvSpPr txBox="1"/>
          <p:nvPr/>
        </p:nvSpPr>
        <p:spPr>
          <a:xfrm>
            <a:off x="7322223" y="3080467"/>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768</a:t>
            </a:r>
            <a:endParaRPr lang="en-US" sz="800" dirty="0"/>
          </a:p>
        </p:txBody>
      </p:sp>
      <p:sp>
        <p:nvSpPr>
          <p:cNvPr id="45" name="ovl_fcf_v2"/>
          <p:cNvSpPr txBox="1"/>
          <p:nvPr/>
        </p:nvSpPr>
        <p:spPr>
          <a:xfrm>
            <a:off x="7714171" y="3107113"/>
            <a:ext cx="365760" cy="164592"/>
          </a:xfrm>
          <a:prstGeom prst="rect">
            <a:avLst/>
          </a:prstGeom>
          <a:noFill/>
          <a:ln/>
        </p:spPr>
        <p:txBody>
          <a:bodyPr wrap="square" lIns="0" tIns="0" rIns="0" bIns="0" rtlCol="0" anchor="b"/>
          <a:lstStyle/>
          <a:p>
            <a:pPr algn="ctr" indent="0" marL="0">
              <a:buNone/>
            </a:pPr>
            <a:r>
              <a:rPr lang="en-US" sz="800" b="1" dirty="0">
                <a:solidFill>
                  <a:srgbClr val="197A56"/>
                </a:solidFill>
                <a:latin typeface="Meiryo UI" pitchFamily="34" charset="0"/>
                <a:ea typeface="Meiryo UI" pitchFamily="34" charset="-122"/>
                <a:cs typeface="Meiryo UI" pitchFamily="34" charset="-120"/>
              </a:rPr>
              <a:t>+721</a:t>
            </a:r>
            <a:endParaRPr lang="en-US" sz="800" dirty="0"/>
          </a:p>
        </p:txBody>
      </p:sp>
      <p:sp>
        <p:nvSpPr>
          <p:cNvPr id="46" name="ovl_cap_v2"/>
          <p:cNvSpPr txBox="1"/>
          <p:nvPr/>
        </p:nvSpPr>
        <p:spPr>
          <a:xfrm>
            <a:off x="7975470" y="3383774"/>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233</a:t>
            </a:r>
            <a:endParaRPr lang="en-US" sz="800" dirty="0"/>
          </a:p>
        </p:txBody>
      </p:sp>
      <p:sp>
        <p:nvSpPr>
          <p:cNvPr id="47" name="ovl_fcf_v3"/>
          <p:cNvSpPr txBox="1"/>
          <p:nvPr/>
        </p:nvSpPr>
        <p:spPr>
          <a:xfrm>
            <a:off x="8367418" y="3247144"/>
            <a:ext cx="365760" cy="164592"/>
          </a:xfrm>
          <a:prstGeom prst="rect">
            <a:avLst/>
          </a:prstGeom>
          <a:noFill/>
          <a:ln/>
        </p:spPr>
        <p:txBody>
          <a:bodyPr wrap="square" lIns="0" tIns="0" rIns="0" bIns="0" rtlCol="0" anchor="b"/>
          <a:lstStyle/>
          <a:p>
            <a:pPr algn="ctr" indent="0" marL="0">
              <a:buNone/>
            </a:pPr>
            <a:r>
              <a:rPr lang="en-US" sz="800" b="1" dirty="0">
                <a:solidFill>
                  <a:srgbClr val="197A56"/>
                </a:solidFill>
                <a:latin typeface="Meiryo UI" pitchFamily="34" charset="0"/>
                <a:ea typeface="Meiryo UI" pitchFamily="34" charset="-122"/>
                <a:cs typeface="Meiryo UI" pitchFamily="34" charset="-120"/>
              </a:rPr>
              <a:t>+474</a:t>
            </a:r>
            <a:endParaRPr lang="en-US" sz="800" dirty="0"/>
          </a:p>
        </p:txBody>
      </p:sp>
      <p:sp>
        <p:nvSpPr>
          <p:cNvPr id="48" name="ovl_cap_v3"/>
          <p:cNvSpPr txBox="1"/>
          <p:nvPr/>
        </p:nvSpPr>
        <p:spPr>
          <a:xfrm>
            <a:off x="8628717" y="3180814"/>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591</a:t>
            </a:r>
            <a:endParaRPr lang="en-US" sz="800" dirty="0"/>
          </a:p>
        </p:txBody>
      </p:sp>
      <p:sp>
        <p:nvSpPr>
          <p:cNvPr id="49" name="ovl_fcf_v4"/>
          <p:cNvSpPr txBox="1"/>
          <p:nvPr/>
        </p:nvSpPr>
        <p:spPr>
          <a:xfrm>
            <a:off x="9020666" y="3319144"/>
            <a:ext cx="365760" cy="164592"/>
          </a:xfrm>
          <a:prstGeom prst="rect">
            <a:avLst/>
          </a:prstGeom>
          <a:noFill/>
          <a:ln/>
        </p:spPr>
        <p:txBody>
          <a:bodyPr wrap="square" lIns="0" tIns="0" rIns="0" bIns="0" rtlCol="0" anchor="b"/>
          <a:lstStyle/>
          <a:p>
            <a:pPr algn="ctr" indent="0" marL="0">
              <a:buNone/>
            </a:pPr>
            <a:r>
              <a:rPr lang="en-US" sz="800" b="1" dirty="0">
                <a:solidFill>
                  <a:srgbClr val="197A56"/>
                </a:solidFill>
                <a:latin typeface="Meiryo UI" pitchFamily="34" charset="0"/>
                <a:ea typeface="Meiryo UI" pitchFamily="34" charset="-122"/>
                <a:cs typeface="Meiryo UI" pitchFamily="34" charset="-120"/>
              </a:rPr>
              <a:t>+347</a:t>
            </a:r>
            <a:endParaRPr lang="en-US" sz="800" dirty="0"/>
          </a:p>
        </p:txBody>
      </p:sp>
      <p:sp>
        <p:nvSpPr>
          <p:cNvPr id="50" name="ovl_cap_v4"/>
          <p:cNvSpPr txBox="1"/>
          <p:nvPr/>
        </p:nvSpPr>
        <p:spPr>
          <a:xfrm>
            <a:off x="9281965" y="3022641"/>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870</a:t>
            </a:r>
            <a:endParaRPr lang="en-US" sz="800" dirty="0"/>
          </a:p>
        </p:txBody>
      </p:sp>
      <p:sp>
        <p:nvSpPr>
          <p:cNvPr id="51" name="ovl_fcf_v5"/>
          <p:cNvSpPr txBox="1"/>
          <p:nvPr/>
        </p:nvSpPr>
        <p:spPr>
          <a:xfrm>
            <a:off x="9673913" y="3722705"/>
            <a:ext cx="365760" cy="164592"/>
          </a:xfrm>
          <a:prstGeom prst="rect">
            <a:avLst/>
          </a:prstGeom>
          <a:noFill/>
          <a:ln/>
        </p:spPr>
        <p:txBody>
          <a:bodyPr wrap="squar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−10</a:t>
            </a:r>
            <a:endParaRPr lang="en-US" sz="800" dirty="0"/>
          </a:p>
        </p:txBody>
      </p:sp>
      <p:sp>
        <p:nvSpPr>
          <p:cNvPr id="52" name="ovl_cap_v5"/>
          <p:cNvSpPr txBox="1"/>
          <p:nvPr/>
        </p:nvSpPr>
        <p:spPr>
          <a:xfrm>
            <a:off x="9935212" y="2715933"/>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1,411</a:t>
            </a:r>
            <a:endParaRPr lang="en-US" sz="800" dirty="0"/>
          </a:p>
        </p:txBody>
      </p:sp>
      <p:sp>
        <p:nvSpPr>
          <p:cNvPr id="53" name="ovl_fcf_v6"/>
          <p:cNvSpPr txBox="1"/>
          <p:nvPr/>
        </p:nvSpPr>
        <p:spPr>
          <a:xfrm>
            <a:off x="10327160" y="4035650"/>
            <a:ext cx="365760" cy="164592"/>
          </a:xfrm>
          <a:prstGeom prst="rect">
            <a:avLst/>
          </a:prstGeom>
          <a:noFill/>
          <a:ln/>
        </p:spPr>
        <p:txBody>
          <a:bodyPr wrap="square" lIns="0" tIns="0" rIns="0" bIns="0" rtlCol="0" anchor="t"/>
          <a:lstStyle/>
          <a:p>
            <a:pPr algn="ctr" indent="0" marL="0">
              <a:buNone/>
            </a:pPr>
            <a:r>
              <a:rPr lang="en-US" sz="800" b="1" dirty="0">
                <a:solidFill>
                  <a:srgbClr val="C0392B"/>
                </a:solidFill>
                <a:latin typeface="Meiryo UI" pitchFamily="34" charset="0"/>
                <a:ea typeface="Meiryo UI" pitchFamily="34" charset="-122"/>
                <a:cs typeface="Meiryo UI" pitchFamily="34" charset="-120"/>
              </a:rPr>
              <a:t>−562</a:t>
            </a:r>
            <a:endParaRPr lang="en-US" sz="800" dirty="0"/>
          </a:p>
        </p:txBody>
      </p:sp>
      <p:sp>
        <p:nvSpPr>
          <p:cNvPr id="54" name="ovl_cap_v6"/>
          <p:cNvSpPr txBox="1"/>
          <p:nvPr/>
        </p:nvSpPr>
        <p:spPr>
          <a:xfrm>
            <a:off x="10588459" y="2319650"/>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2,110</a:t>
            </a:r>
            <a:endParaRPr lang="en-US" sz="800" dirty="0"/>
          </a:p>
        </p:txBody>
      </p:sp>
      <p:sp>
        <p:nvSpPr>
          <p:cNvPr id="55" name="ovl_fcf_v7"/>
          <p:cNvSpPr txBox="1"/>
          <p:nvPr/>
        </p:nvSpPr>
        <p:spPr>
          <a:xfrm>
            <a:off x="10980408" y="3337286"/>
            <a:ext cx="365760" cy="164592"/>
          </a:xfrm>
          <a:prstGeom prst="rect">
            <a:avLst/>
          </a:prstGeom>
          <a:noFill/>
          <a:ln/>
        </p:spPr>
        <p:txBody>
          <a:bodyPr wrap="square" lIns="0" tIns="0" rIns="0" bIns="0" rtlCol="0" anchor="b"/>
          <a:lstStyle/>
          <a:p>
            <a:pPr algn="ctr" indent="0" marL="0">
              <a:buNone/>
            </a:pPr>
            <a:r>
              <a:rPr lang="en-US" sz="800" b="1" dirty="0">
                <a:solidFill>
                  <a:srgbClr val="197A56"/>
                </a:solidFill>
                <a:latin typeface="Meiryo UI" pitchFamily="34" charset="0"/>
                <a:ea typeface="Meiryo UI" pitchFamily="34" charset="-122"/>
                <a:cs typeface="Meiryo UI" pitchFamily="34" charset="-120"/>
              </a:rPr>
              <a:t>+315</a:t>
            </a:r>
            <a:endParaRPr lang="en-US" sz="800" dirty="0"/>
          </a:p>
        </p:txBody>
      </p:sp>
      <p:sp>
        <p:nvSpPr>
          <p:cNvPr id="56" name="ovl_cap_v7"/>
          <p:cNvSpPr txBox="1"/>
          <p:nvPr/>
        </p:nvSpPr>
        <p:spPr>
          <a:xfrm>
            <a:off x="11241707" y="2710263"/>
            <a:ext cx="365760" cy="164592"/>
          </a:xfrm>
          <a:prstGeom prst="rect">
            <a:avLst/>
          </a:prstGeom>
          <a:noFill/>
          <a:ln/>
        </p:spPr>
        <p:txBody>
          <a:bodyPr wrap="square" lIns="0" tIns="0" rIns="0" bIns="0" rtlCol="0" anchor="b"/>
          <a:lstStyle/>
          <a:p>
            <a:pPr algn="ctr" indent="0" marL="0">
              <a:buNone/>
            </a:pPr>
            <a:r>
              <a:rPr lang="en-US" sz="800" dirty="0">
                <a:solidFill>
                  <a:srgbClr val="767676"/>
                </a:solidFill>
                <a:latin typeface="Meiryo UI" pitchFamily="34" charset="0"/>
                <a:ea typeface="Meiryo UI" pitchFamily="34" charset="-122"/>
                <a:cs typeface="Meiryo UI" pitchFamily="34" charset="-120"/>
              </a:rPr>
              <a:t>1,421</a:t>
            </a:r>
            <a:endParaRPr lang="en-US" sz="800" dirty="0"/>
          </a:p>
        </p:txBody>
      </p:sp>
      <p:sp>
        <p:nvSpPr>
          <p:cNvPr id="57" name="ovl_peak_tag"/>
          <p:cNvSpPr/>
          <p:nvPr/>
        </p:nvSpPr>
        <p:spPr>
          <a:xfrm>
            <a:off x="9772010" y="1819656"/>
            <a:ext cx="1737360" cy="329184"/>
          </a:xfrm>
          <a:prstGeom prst="roundRect">
            <a:avLst>
              <a:gd name="adj" fmla="val 13889"/>
            </a:avLst>
          </a:prstGeom>
          <a:solidFill>
            <a:srgbClr val="C0392B"/>
          </a:solidFill>
          <a:ln w="12700">
            <a:solidFill>
              <a:srgbClr val="C0392B"/>
            </a:solidFill>
            <a:prstDash val="solid"/>
          </a:ln>
        </p:spPr>
      </p:sp>
      <p:sp>
        <p:nvSpPr>
          <p:cNvPr id="58" name="ovl_peak_tag_t"/>
          <p:cNvSpPr txBox="1"/>
          <p:nvPr/>
        </p:nvSpPr>
        <p:spPr>
          <a:xfrm>
            <a:off x="9772010" y="1819656"/>
            <a:ext cx="173736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第 2 の山</a:t>
            </a:r>
            <a:endParaRPr lang="en-US" sz="800" dirty="0"/>
          </a:p>
          <a:p>
            <a:pPr algn="ctr" indent="0" marL="0">
              <a:buNone/>
            </a:pPr>
            <a:r>
              <a:rPr lang="en-US" sz="800" b="1" dirty="0">
                <a:solidFill>
                  <a:srgbClr val="FFFFFF"/>
                </a:solidFill>
                <a:latin typeface="Meiryo UI" pitchFamily="34" charset="0"/>
                <a:ea typeface="Meiryo UI" pitchFamily="34" charset="-122"/>
                <a:cs typeface="Meiryo UI" pitchFamily="34" charset="-120"/>
              </a:rPr>
              <a:t>FY27〜28 の 7GW の更新期</a:t>
            </a:r>
            <a:endParaRPr lang="en-US" sz="800" dirty="0"/>
          </a:p>
        </p:txBody>
      </p:sp>
      <p:sp>
        <p:nvSpPr>
          <p:cNvPr id="59" name="ovl_peak_lead"/>
          <p:cNvSpPr/>
          <p:nvPr/>
        </p:nvSpPr>
        <p:spPr>
          <a:xfrm>
            <a:off x="10640690" y="2148840"/>
            <a:ext cx="914" cy="152522"/>
          </a:xfrm>
          <a:prstGeom prst="line">
            <a:avLst/>
          </a:prstGeom>
          <a:noFill/>
          <a:ln w="12700">
            <a:solidFill>
              <a:srgbClr val="C0392B"/>
            </a:solidFill>
            <a:prstDash val="dash"/>
          </a:ln>
        </p:spPr>
      </p:sp>
      <p:sp>
        <p:nvSpPr>
          <p:cNvPr id="60" name="bullets"/>
          <p:cNvSpPr txBox="1"/>
          <p:nvPr/>
        </p:nvSpPr>
        <p:spPr>
          <a:xfrm>
            <a:off x="457200" y="5166360"/>
            <a:ext cx="11274552" cy="1051560"/>
          </a:xfrm>
          <a:prstGeom prst="rect">
            <a:avLst/>
          </a:prstGeom>
          <a:noFill/>
          <a:ln/>
        </p:spPr>
        <p:txBody>
          <a:bodyPr wrap="square" lIns="508" tIns="508" rIns="508" bIns="508" rtlCol="0" anchor="t"/>
          <a:lstStyle/>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FY29 の FCF は利益率でなく、容量の頭打ちから出る(capex 1,151 億 → 233 億ドル)</a:t>
            </a:r>
            <a:endParaRPr lang="en-US" sz="1150" dirty="0"/>
          </a:p>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ベンダー金融は借入の別名で、会社も純負債に含める。会社の FCF は元本返済の前の数字。</a:t>
            </a:r>
            <a:br/>
            <a:r>
              <a:rPr lang="en-US" sz="1150" dirty="0">
                <a:solidFill>
                  <a:srgbClr val="333333"/>
                </a:solidFill>
                <a:latin typeface="Meiryo UI" pitchFamily="34" charset="0"/>
                <a:ea typeface="Meiryo UI" pitchFamily="34" charset="-122"/>
                <a:cs typeface="Meiryo UI" pitchFamily="34" charset="-120"/>
              </a:rPr>
              <a:t>資金負担を本当に減らすのは BYOH と前払い</a:t>
            </a:r>
            <a:endParaRPr lang="en-US" sz="1150" dirty="0"/>
          </a:p>
          <a:p>
            <a:pPr marL="152400" indent="-152400">
              <a:spcAft>
                <a:spcPts val="500"/>
              </a:spcAft>
              <a:buSzPct val="100000"/>
              <a:buChar char="•"/>
            </a:pPr>
            <a:r>
              <a:rPr lang="en-US" sz="1150" dirty="0">
                <a:solidFill>
                  <a:srgbClr val="333333"/>
                </a:solidFill>
                <a:latin typeface="Meiryo UI" pitchFamily="34" charset="0"/>
                <a:ea typeface="Meiryo UI" pitchFamily="34" charset="-122"/>
                <a:cs typeface="Meiryo UI" pitchFamily="34" charset="-120"/>
              </a:rPr>
              <a:t>FY33 は更新単価しだい: +20% なら FCF +130 億、−20% なら −590 億ドル</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197A56"/>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13条件の構造分析</a:t>
            </a:r>
            <a:endParaRPr lang="en-US" sz="1800" dirty="0"/>
          </a:p>
        </p:txBody>
      </p:sp>
      <p:sp>
        <p:nvSpPr>
          <p:cNvPr id="13" name="bg_agenda_why2"/>
          <p:cNvSpPr txBox="1"/>
          <p:nvPr/>
        </p:nvSpPr>
        <p:spPr>
          <a:xfrm>
            <a:off x="1417320" y="4224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長期保有に耐える構造かを 13 の条件で確かめ、構造評価を決める。</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構造評価は許容する倍率(PEG)に直結する</a:t>
            </a:r>
            <a:endParaRPr lang="en-US" sz="1050" dirty="0"/>
          </a:p>
        </p:txBody>
      </p:sp>
      <p:sp>
        <p:nvSpPr>
          <p:cNvPr id="14" name="bg_agenda_n3"/>
          <p:cNvSpPr/>
          <p:nvPr/>
        </p:nvSpPr>
        <p:spPr>
          <a:xfrm>
            <a:off x="777240" y="4892040"/>
            <a:ext cx="457200" cy="457200"/>
          </a:xfrm>
          <a:prstGeom prst="ellipse">
            <a:avLst/>
          </a:prstGeom>
          <a:solidFill>
            <a:srgbClr val="0E4D33"/>
          </a:solidFill>
          <a:ln w="12700">
            <a:solidFill>
              <a:srgbClr val="FFFFFF"/>
            </a:solidFill>
            <a:prstDash val="solid"/>
          </a:ln>
        </p:spPr>
      </p:sp>
      <p:sp>
        <p:nvSpPr>
          <p:cNvPr id="15"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4</a:t>
            </a:r>
            <a:endParaRPr lang="en-US" sz="1400" dirty="0"/>
          </a:p>
        </p:txBody>
      </p:sp>
      <p:sp>
        <p:nvSpPr>
          <p:cNvPr id="16"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第3章の構成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3-1  稼ぐ力(条件1〜3)</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p.24–26</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3-2  経営(条件5)</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p.27</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3-3  成長と割安度(条件6・7)</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p.28–29</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3-4  製品と設備の性格(条件8〜12)</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p.30–34</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3-5  総合(条件13)</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p.35</a:t>
            </a:r>
            <a:endParaRPr lang="en-US" sz="1050" dirty="0"/>
          </a:p>
        </p:txBody>
      </p:sp>
      <p:sp>
        <p:nvSpPr>
          <p:cNvPr id="29" name="bg_agenda_note"/>
          <p:cNvSpPr txBox="1"/>
          <p:nvPr/>
        </p:nvSpPr>
        <p:spPr>
          <a:xfrm>
            <a:off x="7818120" y="4343400"/>
            <a:ext cx="3913632" cy="54864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条件4(上場市場)は審査の前提条件のため、1-2 の評価一覧で扱う</a:t>
            </a:r>
            <a:endParaRPr lang="en-US" sz="950" dirty="0"/>
          </a:p>
        </p:txBody>
      </p:sp>
      <p:sp>
        <p:nvSpPr>
          <p:cNvPr id="30"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競争優位の持続(条件1)</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10 年保有の前提は、利益を守る優位が続くこと。DB と AI 容量で優位の長さが違うかを見る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の切替コストは 10 年以上続くが、AI 容量の単価優位は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逼迫が続く FY32 までに限られ、10 年の圧倒的優位とは言えない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顧客 → Oracle の事業 → 優位の源泉(壁)← 競合の圧力。下: 優位が続く期間。①〜④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 説明会)、research4/T5_supply_components.md、research4/T3_saas_products.md、calc/prereg2.md §9(逼迫の終わり FY32)</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24</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25" name="bg_lane1"/>
          <p:cNvSpPr/>
          <p:nvPr/>
        </p:nvSpPr>
        <p:spPr>
          <a:xfrm>
            <a:off x="2572512" y="1517904"/>
            <a:ext cx="3724656" cy="3172968"/>
          </a:xfrm>
          <a:prstGeom prst="rect">
            <a:avLst/>
          </a:prstGeom>
          <a:solidFill>
            <a:srgbClr val="EAF4EE"/>
          </a:solidFill>
          <a:ln w="12700">
            <a:solidFill>
              <a:srgbClr val="EAF4EE"/>
            </a:solidFill>
            <a:prstDash val="solid"/>
          </a:ln>
        </p:spPr>
      </p:sp>
      <p:sp>
        <p:nvSpPr>
          <p:cNvPr id="26" name="bg_laneh1"/>
          <p:cNvSpPr/>
          <p:nvPr/>
        </p:nvSpPr>
        <p:spPr>
          <a:xfrm>
            <a:off x="2572512" y="1517904"/>
            <a:ext cx="3724656" cy="274320"/>
          </a:xfrm>
          <a:prstGeom prst="rect">
            <a:avLst/>
          </a:prstGeom>
          <a:solidFill>
            <a:srgbClr val="197A56"/>
          </a:solidFill>
          <a:ln w="12700">
            <a:solidFill>
              <a:srgbClr val="197A56"/>
            </a:solidFill>
            <a:prstDash val="solid"/>
          </a:ln>
        </p:spPr>
      </p:sp>
      <p:sp>
        <p:nvSpPr>
          <p:cNvPr id="27" name="bg_lanet1"/>
          <p:cNvSpPr txBox="1"/>
          <p:nvPr/>
        </p:nvSpPr>
        <p:spPr>
          <a:xfrm>
            <a:off x="2572512" y="1517904"/>
            <a:ext cx="37246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の事業と優位の源泉</a:t>
            </a:r>
            <a:endParaRPr lang="en-US" sz="950" dirty="0"/>
          </a:p>
        </p:txBody>
      </p:sp>
      <p:sp>
        <p:nvSpPr>
          <p:cNvPr id="28" name="bg_lane2"/>
          <p:cNvSpPr/>
          <p:nvPr/>
        </p:nvSpPr>
        <p:spPr>
          <a:xfrm>
            <a:off x="6976872" y="1517904"/>
            <a:ext cx="1408176" cy="3172968"/>
          </a:xfrm>
          <a:prstGeom prst="rect">
            <a:avLst/>
          </a:prstGeom>
          <a:solidFill>
            <a:srgbClr val="F2F2F2"/>
          </a:solidFill>
          <a:ln w="12700">
            <a:solidFill>
              <a:srgbClr val="F2F2F2"/>
            </a:solidFill>
            <a:prstDash val="solid"/>
          </a:ln>
        </p:spPr>
      </p:sp>
      <p:sp>
        <p:nvSpPr>
          <p:cNvPr id="29" name="bg_laneh2"/>
          <p:cNvSpPr/>
          <p:nvPr/>
        </p:nvSpPr>
        <p:spPr>
          <a:xfrm>
            <a:off x="6976872" y="1517904"/>
            <a:ext cx="1408176" cy="274320"/>
          </a:xfrm>
          <a:prstGeom prst="rect">
            <a:avLst/>
          </a:prstGeom>
          <a:solidFill>
            <a:srgbClr val="D9D9D9"/>
          </a:solidFill>
          <a:ln w="12700">
            <a:solidFill>
              <a:srgbClr val="D9D9D9"/>
            </a:solidFill>
            <a:prstDash val="solid"/>
          </a:ln>
        </p:spPr>
      </p:sp>
      <p:sp>
        <p:nvSpPr>
          <p:cNvPr id="30" name="bg_lanet2"/>
          <p:cNvSpPr txBox="1"/>
          <p:nvPr/>
        </p:nvSpPr>
        <p:spPr>
          <a:xfrm>
            <a:off x="6976872" y="1517904"/>
            <a:ext cx="14081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競合・代替</a:t>
            </a:r>
            <a:endParaRPr lang="en-US" sz="950" dirty="0"/>
          </a:p>
        </p:txBody>
      </p:sp>
      <p:sp>
        <p:nvSpPr>
          <p:cNvPr id="31" name="ovl_grp0"/>
          <p:cNvSpPr/>
          <p:nvPr/>
        </p:nvSpPr>
        <p:spPr>
          <a:xfrm>
            <a:off x="2618232" y="1911096"/>
            <a:ext cx="1408176" cy="2734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797552" y="1911096"/>
            <a:ext cx="1453896" cy="2734056"/>
          </a:xfrm>
          <a:prstGeom prst="roundRect">
            <a:avLst>
              <a:gd name="adj" fmla="val 3774"/>
            </a:avLst>
          </a:prstGeom>
          <a:solidFill>
            <a:srgbClr val="FFFFFF">
              <a:alpha val="0"/>
            </a:srgbClr>
          </a:solidFill>
          <a:ln w="12700">
            <a:solidFill>
              <a:srgbClr val="197A56"/>
            </a:solidFill>
            <a:prstDash val="dash"/>
          </a:ln>
        </p:spPr>
      </p:sp>
      <p:sp>
        <p:nvSpPr>
          <p:cNvPr id="33" name="ovl_s17_e0_0"/>
          <p:cNvSpPr/>
          <p:nvPr/>
        </p:nvSpPr>
        <p:spPr>
          <a:xfrm>
            <a:off x="1783080" y="2348484"/>
            <a:ext cx="899160" cy="914"/>
          </a:xfrm>
          <a:prstGeom prst="line">
            <a:avLst/>
          </a:prstGeom>
          <a:noFill/>
          <a:ln w="22225">
            <a:solidFill>
              <a:srgbClr val="0E4D33"/>
            </a:solidFill>
            <a:prstDash val="solid"/>
            <a:tailEnd type="triangle"/>
          </a:ln>
        </p:spPr>
      </p:sp>
      <p:sp>
        <p:nvSpPr>
          <p:cNvPr id="34" name="ovl_s17_e1_0"/>
          <p:cNvSpPr/>
          <p:nvPr/>
        </p:nvSpPr>
        <p:spPr>
          <a:xfrm>
            <a:off x="1783080" y="3278124"/>
            <a:ext cx="899160" cy="914"/>
          </a:xfrm>
          <a:prstGeom prst="line">
            <a:avLst/>
          </a:prstGeom>
          <a:noFill/>
          <a:ln w="22225">
            <a:solidFill>
              <a:srgbClr val="0E4D33"/>
            </a:solidFill>
            <a:prstDash val="solid"/>
            <a:tailEnd type="triangle"/>
          </a:ln>
        </p:spPr>
      </p:sp>
      <p:sp>
        <p:nvSpPr>
          <p:cNvPr id="35" name="ovl_s17_e2_0"/>
          <p:cNvSpPr/>
          <p:nvPr/>
        </p:nvSpPr>
        <p:spPr>
          <a:xfrm>
            <a:off x="1783080" y="4207764"/>
            <a:ext cx="899160" cy="914"/>
          </a:xfrm>
          <a:prstGeom prst="line">
            <a:avLst/>
          </a:prstGeom>
          <a:noFill/>
          <a:ln w="22225">
            <a:solidFill>
              <a:srgbClr val="0E4D33"/>
            </a:solidFill>
            <a:prstDash val="solid"/>
            <a:tailEnd type="triangle"/>
          </a:ln>
        </p:spPr>
      </p:sp>
      <p:sp>
        <p:nvSpPr>
          <p:cNvPr id="36" name="ovl_s17_e3_0"/>
          <p:cNvSpPr/>
          <p:nvPr/>
        </p:nvSpPr>
        <p:spPr>
          <a:xfrm flipH="1">
            <a:off x="3962400" y="2348484"/>
            <a:ext cx="899160" cy="914"/>
          </a:xfrm>
          <a:prstGeom prst="line">
            <a:avLst/>
          </a:prstGeom>
          <a:noFill/>
          <a:ln w="12700">
            <a:solidFill>
              <a:srgbClr val="767676"/>
            </a:solidFill>
            <a:prstDash val="sysDash"/>
            <a:tailEnd type="triangle"/>
          </a:ln>
        </p:spPr>
      </p:sp>
      <p:sp>
        <p:nvSpPr>
          <p:cNvPr id="37" name="ovl_s17_e4_0"/>
          <p:cNvSpPr/>
          <p:nvPr/>
        </p:nvSpPr>
        <p:spPr>
          <a:xfrm flipH="1">
            <a:off x="3962400" y="3278124"/>
            <a:ext cx="899160" cy="914"/>
          </a:xfrm>
          <a:prstGeom prst="line">
            <a:avLst/>
          </a:prstGeom>
          <a:noFill/>
          <a:ln w="12700">
            <a:solidFill>
              <a:srgbClr val="767676"/>
            </a:solidFill>
            <a:prstDash val="sysDash"/>
            <a:tailEnd type="triangle"/>
          </a:ln>
        </p:spPr>
      </p:sp>
      <p:sp>
        <p:nvSpPr>
          <p:cNvPr id="38" name="ovl_s17_e5_0"/>
          <p:cNvSpPr/>
          <p:nvPr/>
        </p:nvSpPr>
        <p:spPr>
          <a:xfrm flipH="1">
            <a:off x="3962400" y="4143756"/>
            <a:ext cx="899160" cy="914"/>
          </a:xfrm>
          <a:prstGeom prst="line">
            <a:avLst/>
          </a:prstGeom>
          <a:noFill/>
          <a:ln w="12700">
            <a:solidFill>
              <a:srgbClr val="767676"/>
            </a:solidFill>
            <a:prstDash val="sysDash"/>
            <a:tailEnd type="triangle"/>
          </a:ln>
        </p:spPr>
      </p:sp>
      <p:sp>
        <p:nvSpPr>
          <p:cNvPr id="39" name="ovl_s17_e6_0"/>
          <p:cNvSpPr/>
          <p:nvPr/>
        </p:nvSpPr>
        <p:spPr>
          <a:xfrm flipH="1">
            <a:off x="6187440" y="2348484"/>
            <a:ext cx="899160" cy="914"/>
          </a:xfrm>
          <a:prstGeom prst="line">
            <a:avLst/>
          </a:prstGeom>
          <a:noFill/>
          <a:ln w="15875">
            <a:solidFill>
              <a:srgbClr val="C0392B"/>
            </a:solidFill>
            <a:prstDash val="dash"/>
            <a:tailEnd type="triangle"/>
          </a:ln>
        </p:spPr>
      </p:sp>
      <p:sp>
        <p:nvSpPr>
          <p:cNvPr id="40" name="ovl_s17_e7_0"/>
          <p:cNvSpPr/>
          <p:nvPr/>
        </p:nvSpPr>
        <p:spPr>
          <a:xfrm flipH="1">
            <a:off x="6187440" y="3278124"/>
            <a:ext cx="899160" cy="914"/>
          </a:xfrm>
          <a:prstGeom prst="line">
            <a:avLst/>
          </a:prstGeom>
          <a:noFill/>
          <a:ln w="15875">
            <a:solidFill>
              <a:srgbClr val="C0392B"/>
            </a:solidFill>
            <a:prstDash val="dash"/>
            <a:tailEnd type="triangle"/>
          </a:ln>
        </p:spPr>
      </p:sp>
      <p:sp>
        <p:nvSpPr>
          <p:cNvPr id="41" name="ovl_s17_e8_0"/>
          <p:cNvSpPr/>
          <p:nvPr/>
        </p:nvSpPr>
        <p:spPr>
          <a:xfrm flipH="1">
            <a:off x="6187440" y="4207764"/>
            <a:ext cx="899160" cy="914"/>
          </a:xfrm>
          <a:prstGeom prst="line">
            <a:avLst/>
          </a:prstGeom>
          <a:noFill/>
          <a:ln w="15875">
            <a:solidFill>
              <a:srgbClr val="C0392B"/>
            </a:solidFill>
            <a:prstDash val="dash"/>
            <a:tailEnd type="triangle"/>
          </a:ln>
        </p:spPr>
      </p:sp>
      <p:sp>
        <p:nvSpPr>
          <p:cNvPr id="42" name="ovl_s17_n_ent"/>
          <p:cNvSpPr/>
          <p:nvPr/>
        </p:nvSpPr>
        <p:spPr>
          <a:xfrm>
            <a:off x="457200" y="2019300"/>
            <a:ext cx="1325880" cy="658368"/>
          </a:xfrm>
          <a:prstGeom prst="roundRect">
            <a:avLst>
              <a:gd name="adj" fmla="val 8333"/>
            </a:avLst>
          </a:prstGeom>
          <a:solidFill>
            <a:srgbClr val="FFFFFF"/>
          </a:solidFill>
          <a:ln w="9525">
            <a:solidFill>
              <a:srgbClr val="767676"/>
            </a:solidFill>
            <a:prstDash val="solid"/>
          </a:ln>
        </p:spPr>
      </p:sp>
      <p:sp>
        <p:nvSpPr>
          <p:cNvPr id="43" name="ovl_s17_nt_ent"/>
          <p:cNvSpPr txBox="1"/>
          <p:nvPr/>
        </p:nvSpPr>
        <p:spPr>
          <a:xfrm>
            <a:off x="49377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の既存顧客</a:t>
            </a:r>
            <a:endParaRPr lang="en-US" sz="1000" dirty="0"/>
          </a:p>
        </p:txBody>
      </p:sp>
      <p:sp>
        <p:nvSpPr>
          <p:cNvPr id="44" name="ovl_s17_ns_ent"/>
          <p:cNvSpPr txBox="1"/>
          <p:nvPr/>
        </p:nvSpPr>
        <p:spPr>
          <a:xfrm>
            <a:off x="50292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大企業・官公庁</a:t>
            </a:r>
            <a:endParaRPr lang="en-US" sz="850" dirty="0"/>
          </a:p>
        </p:txBody>
      </p:sp>
      <p:sp>
        <p:nvSpPr>
          <p:cNvPr id="45" name="ovl_s17_n_apps"/>
          <p:cNvSpPr/>
          <p:nvPr/>
        </p:nvSpPr>
        <p:spPr>
          <a:xfrm>
            <a:off x="457200" y="2948940"/>
            <a:ext cx="1325880" cy="658368"/>
          </a:xfrm>
          <a:prstGeom prst="roundRect">
            <a:avLst>
              <a:gd name="adj" fmla="val 8333"/>
            </a:avLst>
          </a:prstGeom>
          <a:solidFill>
            <a:srgbClr val="FFFFFF"/>
          </a:solidFill>
          <a:ln w="9525">
            <a:solidFill>
              <a:srgbClr val="767676"/>
            </a:solidFill>
            <a:prstDash val="solid"/>
          </a:ln>
        </p:spPr>
      </p:sp>
      <p:sp>
        <p:nvSpPr>
          <p:cNvPr id="46" name="ovl_s17_nt_apps"/>
          <p:cNvSpPr txBox="1"/>
          <p:nvPr/>
        </p:nvSpPr>
        <p:spPr>
          <a:xfrm>
            <a:off x="49377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業務アプリの顧客</a:t>
            </a:r>
            <a:endParaRPr lang="en-US" sz="1000" dirty="0"/>
          </a:p>
        </p:txBody>
      </p:sp>
      <p:sp>
        <p:nvSpPr>
          <p:cNvPr id="47" name="ovl_s17_ns_apps"/>
          <p:cNvSpPr txBox="1"/>
          <p:nvPr/>
        </p:nvSpPr>
        <p:spPr>
          <a:xfrm>
            <a:off x="50292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ERP・人事</a:t>
            </a:r>
            <a:endParaRPr lang="en-US" sz="850" dirty="0"/>
          </a:p>
        </p:txBody>
      </p:sp>
      <p:sp>
        <p:nvSpPr>
          <p:cNvPr id="48" name="ovl_s17_n_lab"/>
          <p:cNvSpPr/>
          <p:nvPr/>
        </p:nvSpPr>
        <p:spPr>
          <a:xfrm>
            <a:off x="457200" y="3878580"/>
            <a:ext cx="1325880" cy="658368"/>
          </a:xfrm>
          <a:prstGeom prst="roundRect">
            <a:avLst>
              <a:gd name="adj" fmla="val 8333"/>
            </a:avLst>
          </a:prstGeom>
          <a:solidFill>
            <a:srgbClr val="FFFFFF"/>
          </a:solidFill>
          <a:ln w="9525">
            <a:solidFill>
              <a:srgbClr val="767676"/>
            </a:solidFill>
            <a:prstDash val="solid"/>
          </a:ln>
        </p:spPr>
      </p:sp>
      <p:sp>
        <p:nvSpPr>
          <p:cNvPr id="49" name="ovl_s17_nt_lab"/>
          <p:cNvSpPr txBox="1"/>
          <p:nvPr/>
        </p:nvSpPr>
        <p:spPr>
          <a:xfrm>
            <a:off x="493776" y="390601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50" name="ovl_s17_ns_lab"/>
          <p:cNvSpPr txBox="1"/>
          <p:nvPr/>
        </p:nvSpPr>
        <p:spPr>
          <a:xfrm>
            <a:off x="502920" y="411175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OpenAI・Meta・xAI</a:t>
            </a:r>
            <a:endParaRPr lang="en-US" sz="850" dirty="0"/>
          </a:p>
        </p:txBody>
      </p:sp>
      <p:sp>
        <p:nvSpPr>
          <p:cNvPr id="51" name="ovl_s17_n_db"/>
          <p:cNvSpPr/>
          <p:nvPr/>
        </p:nvSpPr>
        <p:spPr>
          <a:xfrm>
            <a:off x="2682240" y="2019300"/>
            <a:ext cx="1280160" cy="658368"/>
          </a:xfrm>
          <a:prstGeom prst="roundRect">
            <a:avLst>
              <a:gd name="adj" fmla="val 8333"/>
            </a:avLst>
          </a:prstGeom>
          <a:solidFill>
            <a:srgbClr val="FFFFFF"/>
          </a:solidFill>
          <a:ln w="19050">
            <a:solidFill>
              <a:srgbClr val="197A56"/>
            </a:solidFill>
            <a:prstDash val="solid"/>
          </a:ln>
        </p:spPr>
      </p:sp>
      <p:sp>
        <p:nvSpPr>
          <p:cNvPr id="52" name="ovl_s17_nt_db"/>
          <p:cNvSpPr txBox="1"/>
          <p:nvPr/>
        </p:nvSpPr>
        <p:spPr>
          <a:xfrm>
            <a:off x="2718816" y="2046732"/>
            <a:ext cx="120700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ライセンス・保守</a:t>
            </a:r>
            <a:endParaRPr lang="en-US" sz="900" dirty="0"/>
          </a:p>
        </p:txBody>
      </p:sp>
      <p:sp>
        <p:nvSpPr>
          <p:cNvPr id="53" name="ovl_s17_ns_db"/>
          <p:cNvSpPr txBox="1"/>
          <p:nvPr/>
        </p:nvSpPr>
        <p:spPr>
          <a:xfrm>
            <a:off x="2727960" y="225247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保守は年 22%</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Software −3%</a:t>
            </a:r>
            <a:endParaRPr lang="en-US" sz="850" dirty="0"/>
          </a:p>
        </p:txBody>
      </p:sp>
      <p:sp>
        <p:nvSpPr>
          <p:cNvPr id="54" name="ovl_s17_n_saas"/>
          <p:cNvSpPr/>
          <p:nvPr/>
        </p:nvSpPr>
        <p:spPr>
          <a:xfrm>
            <a:off x="2682240" y="2948940"/>
            <a:ext cx="1280160" cy="658368"/>
          </a:xfrm>
          <a:prstGeom prst="roundRect">
            <a:avLst>
              <a:gd name="adj" fmla="val 8333"/>
            </a:avLst>
          </a:prstGeom>
          <a:solidFill>
            <a:srgbClr val="FFFFFF"/>
          </a:solidFill>
          <a:ln w="19050">
            <a:solidFill>
              <a:srgbClr val="197A56"/>
            </a:solidFill>
            <a:prstDash val="solid"/>
          </a:ln>
        </p:spPr>
      </p:sp>
      <p:sp>
        <p:nvSpPr>
          <p:cNvPr id="55" name="ovl_s17_nt_saas"/>
          <p:cNvSpPr txBox="1"/>
          <p:nvPr/>
        </p:nvSpPr>
        <p:spPr>
          <a:xfrm>
            <a:off x="2718816" y="297637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SaaS</a:t>
            </a:r>
            <a:endParaRPr lang="en-US" sz="1000" dirty="0"/>
          </a:p>
        </p:txBody>
      </p:sp>
      <p:sp>
        <p:nvSpPr>
          <p:cNvPr id="56" name="ovl_s17_ns_saas"/>
          <p:cNvSpPr txBox="1"/>
          <p:nvPr/>
        </p:nvSpPr>
        <p:spPr>
          <a:xfrm>
            <a:off x="2727960" y="318211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a:t>
            </a:r>
            <a:endParaRPr lang="en-US" sz="850" dirty="0"/>
          </a:p>
        </p:txBody>
      </p:sp>
      <p:sp>
        <p:nvSpPr>
          <p:cNvPr id="57" name="ovl_s17_n_aicap"/>
          <p:cNvSpPr/>
          <p:nvPr/>
        </p:nvSpPr>
        <p:spPr>
          <a:xfrm>
            <a:off x="2682240" y="3878580"/>
            <a:ext cx="1280160" cy="658368"/>
          </a:xfrm>
          <a:prstGeom prst="roundRect">
            <a:avLst>
              <a:gd name="adj" fmla="val 8333"/>
            </a:avLst>
          </a:prstGeom>
          <a:solidFill>
            <a:srgbClr val="FFFFFF"/>
          </a:solidFill>
          <a:ln w="19050">
            <a:solidFill>
              <a:srgbClr val="197A56"/>
            </a:solidFill>
            <a:prstDash val="solid"/>
          </a:ln>
        </p:spPr>
      </p:sp>
      <p:sp>
        <p:nvSpPr>
          <p:cNvPr id="58" name="ovl_s17_nt_aicap"/>
          <p:cNvSpPr txBox="1"/>
          <p:nvPr/>
        </p:nvSpPr>
        <p:spPr>
          <a:xfrm>
            <a:off x="2718816" y="390601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9" name="ovl_s17_ns_aicap"/>
          <p:cNvSpPr txBox="1"/>
          <p:nvPr/>
        </p:nvSpPr>
        <p:spPr>
          <a:xfrm>
            <a:off x="2727960" y="4111752"/>
            <a:ext cx="118872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更新は従来比 +20%</a:t>
            </a:r>
            <a:endParaRPr lang="en-US" sz="850" dirty="0"/>
          </a:p>
        </p:txBody>
      </p:sp>
      <p:sp>
        <p:nvSpPr>
          <p:cNvPr id="60" name="ovl_s17_n_sw"/>
          <p:cNvSpPr/>
          <p:nvPr/>
        </p:nvSpPr>
        <p:spPr>
          <a:xfrm>
            <a:off x="4861560" y="2019300"/>
            <a:ext cx="1325880" cy="658368"/>
          </a:xfrm>
          <a:prstGeom prst="roundRect">
            <a:avLst>
              <a:gd name="adj" fmla="val 8333"/>
            </a:avLst>
          </a:prstGeom>
          <a:solidFill>
            <a:srgbClr val="EAF4EE"/>
          </a:solidFill>
          <a:ln w="9525">
            <a:solidFill>
              <a:srgbClr val="86C99B"/>
            </a:solidFill>
            <a:prstDash val="solid"/>
          </a:ln>
        </p:spPr>
      </p:sp>
      <p:sp>
        <p:nvSpPr>
          <p:cNvPr id="61" name="ovl_s17_nt_sw"/>
          <p:cNvSpPr txBox="1"/>
          <p:nvPr/>
        </p:nvSpPr>
        <p:spPr>
          <a:xfrm>
            <a:off x="4898136" y="204673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切替コスト</a:t>
            </a:r>
            <a:endParaRPr lang="en-US" sz="1000" dirty="0"/>
          </a:p>
        </p:txBody>
      </p:sp>
      <p:sp>
        <p:nvSpPr>
          <p:cNvPr id="62" name="ovl_s17_ns_sw"/>
          <p:cNvSpPr txBox="1"/>
          <p:nvPr/>
        </p:nvSpPr>
        <p:spPr>
          <a:xfrm>
            <a:off x="4907280" y="225247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データ移行と</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アプリ改修に数年</a:t>
            </a:r>
            <a:endParaRPr lang="en-US" sz="850" dirty="0"/>
          </a:p>
        </p:txBody>
      </p:sp>
      <p:sp>
        <p:nvSpPr>
          <p:cNvPr id="63" name="ovl_s17_n_erp"/>
          <p:cNvSpPr/>
          <p:nvPr/>
        </p:nvSpPr>
        <p:spPr>
          <a:xfrm>
            <a:off x="4861560" y="2948940"/>
            <a:ext cx="1325880" cy="658368"/>
          </a:xfrm>
          <a:prstGeom prst="roundRect">
            <a:avLst>
              <a:gd name="adj" fmla="val 8333"/>
            </a:avLst>
          </a:prstGeom>
          <a:solidFill>
            <a:srgbClr val="EAF4EE"/>
          </a:solidFill>
          <a:ln w="9525">
            <a:solidFill>
              <a:srgbClr val="86C99B"/>
            </a:solidFill>
            <a:prstDash val="solid"/>
          </a:ln>
        </p:spPr>
      </p:sp>
      <p:sp>
        <p:nvSpPr>
          <p:cNvPr id="64" name="ovl_s17_nt_erp"/>
          <p:cNvSpPr txBox="1"/>
          <p:nvPr/>
        </p:nvSpPr>
        <p:spPr>
          <a:xfrm>
            <a:off x="4898136" y="297637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業務データの蓄積</a:t>
            </a:r>
            <a:endParaRPr lang="en-US" sz="1000" dirty="0"/>
          </a:p>
        </p:txBody>
      </p:sp>
      <p:sp>
        <p:nvSpPr>
          <p:cNvPr id="65" name="ovl_s17_ns_erp"/>
          <p:cNvSpPr txBox="1"/>
          <p:nvPr/>
        </p:nvSpPr>
        <p:spPr>
          <a:xfrm>
            <a:off x="4907280" y="3182112"/>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移行は 8,500 社中</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1,000 社</a:t>
            </a:r>
            <a:endParaRPr lang="en-US" sz="850" dirty="0"/>
          </a:p>
        </p:txBody>
      </p:sp>
      <p:sp>
        <p:nvSpPr>
          <p:cNvPr id="66" name="ovl_s17_n_tight"/>
          <p:cNvSpPr/>
          <p:nvPr/>
        </p:nvSpPr>
        <p:spPr>
          <a:xfrm>
            <a:off x="4861560" y="3814572"/>
            <a:ext cx="1325880" cy="658368"/>
          </a:xfrm>
          <a:prstGeom prst="roundRect">
            <a:avLst>
              <a:gd name="adj" fmla="val 8333"/>
            </a:avLst>
          </a:prstGeom>
          <a:solidFill>
            <a:srgbClr val="FFFFFF"/>
          </a:solidFill>
          <a:ln w="19050">
            <a:solidFill>
              <a:srgbClr val="C0392B"/>
            </a:solidFill>
            <a:prstDash val="solid"/>
          </a:ln>
        </p:spPr>
      </p:sp>
      <p:sp>
        <p:nvSpPr>
          <p:cNvPr id="67" name="ovl_s17_nt_tight"/>
          <p:cNvSpPr txBox="1"/>
          <p:nvPr/>
        </p:nvSpPr>
        <p:spPr>
          <a:xfrm>
            <a:off x="4898136" y="3842004"/>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業界全体の逼迫</a:t>
            </a:r>
            <a:endParaRPr lang="en-US" sz="1000" dirty="0"/>
          </a:p>
        </p:txBody>
      </p:sp>
      <p:sp>
        <p:nvSpPr>
          <p:cNvPr id="68" name="ovl_s17_ns_tight"/>
          <p:cNvSpPr txBox="1"/>
          <p:nvPr/>
        </p:nvSpPr>
        <p:spPr>
          <a:xfrm>
            <a:off x="4907280" y="4047744"/>
            <a:ext cx="123444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電力・部材の不足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(自社の優位ではない)</a:t>
            </a:r>
            <a:endParaRPr lang="en-US" sz="850" dirty="0"/>
          </a:p>
        </p:txBody>
      </p:sp>
      <p:sp>
        <p:nvSpPr>
          <p:cNvPr id="69" name="ovl_s17_n_hyper"/>
          <p:cNvSpPr/>
          <p:nvPr/>
        </p:nvSpPr>
        <p:spPr>
          <a:xfrm>
            <a:off x="7086600" y="2019300"/>
            <a:ext cx="1188720" cy="658368"/>
          </a:xfrm>
          <a:prstGeom prst="roundRect">
            <a:avLst>
              <a:gd name="adj" fmla="val 8333"/>
            </a:avLst>
          </a:prstGeom>
          <a:solidFill>
            <a:srgbClr val="FFFFFF"/>
          </a:solidFill>
          <a:ln w="9525">
            <a:solidFill>
              <a:srgbClr val="767676"/>
            </a:solidFill>
            <a:prstDash val="solid"/>
          </a:ln>
        </p:spPr>
      </p:sp>
      <p:sp>
        <p:nvSpPr>
          <p:cNvPr id="70" name="ovl_s17_nt_hyper"/>
          <p:cNvSpPr txBox="1"/>
          <p:nvPr/>
        </p:nvSpPr>
        <p:spPr>
          <a:xfrm>
            <a:off x="7123176" y="2046732"/>
            <a:ext cx="111556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7_ns_hyper"/>
          <p:cNvSpPr txBox="1"/>
          <p:nvPr/>
        </p:nvSpPr>
        <p:spPr>
          <a:xfrm>
            <a:off x="7132320" y="2403348"/>
            <a:ext cx="1097280" cy="24688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移行サービス</a:t>
            </a:r>
            <a:endParaRPr lang="en-US" sz="850" dirty="0"/>
          </a:p>
        </p:txBody>
      </p:sp>
      <p:sp>
        <p:nvSpPr>
          <p:cNvPr id="72" name="ovl_s17_n_sap"/>
          <p:cNvSpPr/>
          <p:nvPr/>
        </p:nvSpPr>
        <p:spPr>
          <a:xfrm>
            <a:off x="7086600" y="2948940"/>
            <a:ext cx="1188720" cy="658368"/>
          </a:xfrm>
          <a:prstGeom prst="roundRect">
            <a:avLst>
              <a:gd name="adj" fmla="val 8333"/>
            </a:avLst>
          </a:prstGeom>
          <a:solidFill>
            <a:srgbClr val="FFFFFF"/>
          </a:solidFill>
          <a:ln w="9525">
            <a:solidFill>
              <a:srgbClr val="767676"/>
            </a:solidFill>
            <a:prstDash val="solid"/>
          </a:ln>
        </p:spPr>
      </p:sp>
      <p:sp>
        <p:nvSpPr>
          <p:cNvPr id="73" name="ovl_s17_nt_sap"/>
          <p:cNvSpPr txBox="1"/>
          <p:nvPr/>
        </p:nvSpPr>
        <p:spPr>
          <a:xfrm>
            <a:off x="7123176" y="2976372"/>
            <a:ext cx="11155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SAP・Workday</a:t>
            </a:r>
            <a:endParaRPr lang="en-US" sz="1000" dirty="0"/>
          </a:p>
        </p:txBody>
      </p:sp>
      <p:sp>
        <p:nvSpPr>
          <p:cNvPr id="74" name="ovl_s17_ns_sap"/>
          <p:cNvSpPr txBox="1"/>
          <p:nvPr/>
        </p:nvSpPr>
        <p:spPr>
          <a:xfrm>
            <a:off x="7132320" y="318211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 ERP +25%</a:t>
            </a:r>
            <a:endParaRPr lang="en-US" sz="850" dirty="0"/>
          </a:p>
        </p:txBody>
      </p:sp>
      <p:sp>
        <p:nvSpPr>
          <p:cNvPr id="75" name="ovl_s17_n_neo"/>
          <p:cNvSpPr/>
          <p:nvPr/>
        </p:nvSpPr>
        <p:spPr>
          <a:xfrm>
            <a:off x="7086600" y="3878580"/>
            <a:ext cx="1188720" cy="658368"/>
          </a:xfrm>
          <a:prstGeom prst="roundRect">
            <a:avLst>
              <a:gd name="adj" fmla="val 8333"/>
            </a:avLst>
          </a:prstGeom>
          <a:solidFill>
            <a:srgbClr val="FFFFFF"/>
          </a:solidFill>
          <a:ln w="19050">
            <a:solidFill>
              <a:srgbClr val="C0392B"/>
            </a:solidFill>
            <a:prstDash val="solid"/>
          </a:ln>
        </p:spPr>
      </p:sp>
      <p:sp>
        <p:nvSpPr>
          <p:cNvPr id="76" name="ovl_s17_nt_neo"/>
          <p:cNvSpPr txBox="1"/>
          <p:nvPr/>
        </p:nvSpPr>
        <p:spPr>
          <a:xfrm>
            <a:off x="7123176" y="3906012"/>
            <a:ext cx="111556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ネオクラウド・TPU</a:t>
            </a:r>
            <a:endParaRPr lang="en-US" sz="900" dirty="0"/>
          </a:p>
        </p:txBody>
      </p:sp>
      <p:sp>
        <p:nvSpPr>
          <p:cNvPr id="77" name="ovl_s17_ns_neo"/>
          <p:cNvSpPr txBox="1"/>
          <p:nvPr/>
        </p:nvSpPr>
        <p:spPr>
          <a:xfrm>
            <a:off x="7132320" y="4111752"/>
            <a:ext cx="1097280" cy="39776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2.6 倍安い</a:t>
            </a:r>
            <a:endParaRPr lang="en-US" sz="850" dirty="0"/>
          </a:p>
        </p:txBody>
      </p:sp>
      <p:sp>
        <p:nvSpPr>
          <p:cNvPr id="78" name="ovl_s17_tag_sw"/>
          <p:cNvSpPr/>
          <p:nvPr/>
        </p:nvSpPr>
        <p:spPr>
          <a:xfrm>
            <a:off x="5280660" y="2705100"/>
            <a:ext cx="487680" cy="182880"/>
          </a:xfrm>
          <a:prstGeom prst="roundRect">
            <a:avLst>
              <a:gd name="adj" fmla="val 20000"/>
            </a:avLst>
          </a:prstGeom>
          <a:solidFill>
            <a:srgbClr val="197A56"/>
          </a:solidFill>
          <a:ln w="12700">
            <a:solidFill>
              <a:srgbClr val="197A56"/>
            </a:solidFill>
            <a:prstDash val="solid"/>
          </a:ln>
        </p:spPr>
      </p:sp>
      <p:sp>
        <p:nvSpPr>
          <p:cNvPr id="79" name="ovl_s17_tagt_sw"/>
          <p:cNvSpPr txBox="1"/>
          <p:nvPr/>
        </p:nvSpPr>
        <p:spPr>
          <a:xfrm>
            <a:off x="5280660" y="2705100"/>
            <a:ext cx="4876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80" name="ovl_s17_tag_erp"/>
          <p:cNvSpPr/>
          <p:nvPr/>
        </p:nvSpPr>
        <p:spPr>
          <a:xfrm>
            <a:off x="5382260" y="3634740"/>
            <a:ext cx="284480" cy="182880"/>
          </a:xfrm>
          <a:prstGeom prst="roundRect">
            <a:avLst>
              <a:gd name="adj" fmla="val 20000"/>
            </a:avLst>
          </a:prstGeom>
          <a:solidFill>
            <a:srgbClr val="D68910"/>
          </a:solidFill>
          <a:ln w="12700">
            <a:solidFill>
              <a:srgbClr val="D68910"/>
            </a:solidFill>
            <a:prstDash val="solid"/>
          </a:ln>
        </p:spPr>
      </p:sp>
      <p:sp>
        <p:nvSpPr>
          <p:cNvPr id="81" name="ovl_s17_tagt_erp"/>
          <p:cNvSpPr txBox="1"/>
          <p:nvPr/>
        </p:nvSpPr>
        <p:spPr>
          <a:xfrm>
            <a:off x="5382260" y="3634740"/>
            <a:ext cx="2844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中</a:t>
            </a:r>
            <a:endParaRPr lang="en-US" sz="800" dirty="0"/>
          </a:p>
        </p:txBody>
      </p:sp>
      <p:sp>
        <p:nvSpPr>
          <p:cNvPr id="82" name="ovl_s17_tag_tight"/>
          <p:cNvSpPr/>
          <p:nvPr/>
        </p:nvSpPr>
        <p:spPr>
          <a:xfrm>
            <a:off x="5204460" y="4500372"/>
            <a:ext cx="640080" cy="182880"/>
          </a:xfrm>
          <a:prstGeom prst="roundRect">
            <a:avLst>
              <a:gd name="adj" fmla="val 20000"/>
            </a:avLst>
          </a:prstGeom>
          <a:solidFill>
            <a:srgbClr val="C0392B"/>
          </a:solidFill>
          <a:ln w="12700">
            <a:solidFill>
              <a:srgbClr val="C0392B"/>
            </a:solidFill>
            <a:prstDash val="solid"/>
          </a:ln>
        </p:spPr>
      </p:sp>
      <p:sp>
        <p:nvSpPr>
          <p:cNvPr id="83" name="ovl_s17_tagt_tight"/>
          <p:cNvSpPr txBox="1"/>
          <p:nvPr/>
        </p:nvSpPr>
        <p:spPr>
          <a:xfrm>
            <a:off x="5204460" y="4500372"/>
            <a:ext cx="6400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FY32 まで</a:t>
            </a:r>
            <a:endParaRPr lang="en-US" sz="800" dirty="0"/>
          </a:p>
        </p:txBody>
      </p:sp>
      <p:sp>
        <p:nvSpPr>
          <p:cNvPr id="84" name="ovl_s17_lab0"/>
          <p:cNvSpPr txBox="1"/>
          <p:nvPr/>
        </p:nvSpPr>
        <p:spPr>
          <a:xfrm>
            <a:off x="1927136" y="211531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① </a:t>
            </a: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5" name="ovl_s17_lab1"/>
          <p:cNvSpPr txBox="1"/>
          <p:nvPr/>
        </p:nvSpPr>
        <p:spPr>
          <a:xfrm>
            <a:off x="1927136" y="30449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6" name="ovl_s17_lab2"/>
          <p:cNvSpPr txBox="1"/>
          <p:nvPr/>
        </p:nvSpPr>
        <p:spPr>
          <a:xfrm>
            <a:off x="181965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③ </a:t>
            </a:r>
            <a:r>
              <a:rPr lang="en-US" sz="850" dirty="0">
                <a:solidFill>
                  <a:srgbClr val="0E4D33"/>
                </a:solidFill>
                <a:latin typeface="Meiryo UI" pitchFamily="34" charset="0"/>
                <a:ea typeface="Meiryo UI" pitchFamily="34" charset="-122"/>
                <a:cs typeface="Meiryo UI" pitchFamily="34" charset="-120"/>
              </a:rPr>
              <a:t>容量料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+5%/年</a:t>
            </a:r>
            <a:endParaRPr lang="en-US" sz="850" dirty="0"/>
          </a:p>
        </p:txBody>
      </p:sp>
      <p:sp>
        <p:nvSpPr>
          <p:cNvPr id="87" name="ovl_s17_lab3"/>
          <p:cNvSpPr txBox="1"/>
          <p:nvPr/>
        </p:nvSpPr>
        <p:spPr>
          <a:xfrm>
            <a:off x="406565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顧客を囲う</a:t>
            </a:r>
            <a:endParaRPr lang="en-US" sz="850" dirty="0"/>
          </a:p>
        </p:txBody>
      </p:sp>
      <p:sp>
        <p:nvSpPr>
          <p:cNvPr id="88" name="ovl_s17_lab4"/>
          <p:cNvSpPr txBox="1"/>
          <p:nvPr/>
        </p:nvSpPr>
        <p:spPr>
          <a:xfrm>
            <a:off x="4065651" y="304495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移行を促す</a:t>
            </a:r>
            <a:endParaRPr lang="en-US" sz="850" dirty="0"/>
          </a:p>
        </p:txBody>
      </p:sp>
      <p:sp>
        <p:nvSpPr>
          <p:cNvPr id="89" name="ovl_s17_lab5"/>
          <p:cNvSpPr txBox="1"/>
          <p:nvPr/>
        </p:nvSpPr>
        <p:spPr>
          <a:xfrm>
            <a:off x="4007358" y="3910584"/>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値上げを許す</a:t>
            </a:r>
            <a:endParaRPr lang="en-US" sz="850" dirty="0"/>
          </a:p>
        </p:txBody>
      </p:sp>
      <p:sp>
        <p:nvSpPr>
          <p:cNvPr id="90" name="ovl_s17_lab6"/>
          <p:cNvSpPr txBox="1"/>
          <p:nvPr/>
        </p:nvSpPr>
        <p:spPr>
          <a:xfrm>
            <a:off x="6290691" y="21153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移行の誘い</a:t>
            </a:r>
            <a:endParaRPr lang="en-US" sz="850" dirty="0"/>
          </a:p>
        </p:txBody>
      </p:sp>
      <p:sp>
        <p:nvSpPr>
          <p:cNvPr id="91" name="ovl_s17_lab7"/>
          <p:cNvSpPr txBox="1"/>
          <p:nvPr/>
        </p:nvSpPr>
        <p:spPr>
          <a:xfrm>
            <a:off x="6224016" y="290322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乗り換えの誘い</a:t>
            </a:r>
            <a:endParaRPr lang="en-US" sz="850" dirty="0"/>
          </a:p>
        </p:txBody>
      </p:sp>
      <p:sp>
        <p:nvSpPr>
          <p:cNvPr id="92" name="ovl_s17_lab8"/>
          <p:cNvSpPr txBox="1"/>
          <p:nvPr/>
        </p:nvSpPr>
        <p:spPr>
          <a:xfrm>
            <a:off x="6224016" y="3832860"/>
            <a:ext cx="826008"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緩和後の</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値下げ</a:t>
            </a:r>
            <a:endParaRPr lang="en-US" sz="850" dirty="0"/>
          </a:p>
        </p:txBody>
      </p:sp>
      <p:sp>
        <p:nvSpPr>
          <p:cNvPr id="93" name="ovl_s17_glab0"/>
          <p:cNvSpPr txBox="1"/>
          <p:nvPr/>
        </p:nvSpPr>
        <p:spPr>
          <a:xfrm>
            <a:off x="2709672" y="1828800"/>
            <a:ext cx="3495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事業</a:t>
            </a:r>
            <a:endParaRPr lang="en-US" sz="800" dirty="0"/>
          </a:p>
        </p:txBody>
      </p:sp>
      <p:sp>
        <p:nvSpPr>
          <p:cNvPr id="94" name="ovl_s17_glab1"/>
          <p:cNvSpPr txBox="1"/>
          <p:nvPr/>
        </p:nvSpPr>
        <p:spPr>
          <a:xfrm>
            <a:off x="4888992" y="1828800"/>
            <a:ext cx="86766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優位の源泉(壁)</a:t>
            </a:r>
            <a:endParaRPr lang="en-US" sz="800" dirty="0"/>
          </a:p>
        </p:txBody>
      </p:sp>
      <p:sp>
        <p:nvSpPr>
          <p:cNvPr id="95" name="ovl_s17_leg0"/>
          <p:cNvSpPr/>
          <p:nvPr/>
        </p:nvSpPr>
        <p:spPr>
          <a:xfrm>
            <a:off x="457200" y="4828032"/>
            <a:ext cx="365760" cy="914"/>
          </a:xfrm>
          <a:prstGeom prst="line">
            <a:avLst/>
          </a:prstGeom>
          <a:noFill/>
          <a:ln w="22225">
            <a:solidFill>
              <a:srgbClr val="0E4D33"/>
            </a:solidFill>
            <a:prstDash val="solid"/>
            <a:tailEnd type="triangle"/>
          </a:ln>
        </p:spPr>
      </p:sp>
      <p:sp>
        <p:nvSpPr>
          <p:cNvPr id="96" name="ovl_s17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7_leg1"/>
          <p:cNvSpPr/>
          <p:nvPr/>
        </p:nvSpPr>
        <p:spPr>
          <a:xfrm>
            <a:off x="1874520" y="4828032"/>
            <a:ext cx="365760" cy="914"/>
          </a:xfrm>
          <a:prstGeom prst="line">
            <a:avLst/>
          </a:prstGeom>
          <a:noFill/>
          <a:ln w="15875">
            <a:solidFill>
              <a:srgbClr val="C0392B"/>
            </a:solidFill>
            <a:prstDash val="dash"/>
            <a:tailEnd type="triangle"/>
          </a:ln>
        </p:spPr>
      </p:sp>
      <p:sp>
        <p:nvSpPr>
          <p:cNvPr id="98" name="ovl_s17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9" name="ovl_s17_leg2"/>
          <p:cNvSpPr/>
          <p:nvPr/>
        </p:nvSpPr>
        <p:spPr>
          <a:xfrm>
            <a:off x="3291840" y="4828032"/>
            <a:ext cx="365760" cy="914"/>
          </a:xfrm>
          <a:prstGeom prst="line">
            <a:avLst/>
          </a:prstGeom>
          <a:noFill/>
          <a:ln w="12700">
            <a:solidFill>
              <a:srgbClr val="767676"/>
            </a:solidFill>
            <a:prstDash val="sysDash"/>
            <a:tailEnd type="triangle"/>
          </a:ln>
        </p:spPr>
      </p:sp>
      <p:sp>
        <p:nvSpPr>
          <p:cNvPr id="100" name="ovl_s17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7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ovl_s17_tbhead"/>
          <p:cNvSpPr txBox="1"/>
          <p:nvPr/>
        </p:nvSpPr>
        <p:spPr>
          <a:xfrm>
            <a:off x="457200" y="5029200"/>
            <a:ext cx="1325880" cy="182880"/>
          </a:xfrm>
          <a:prstGeom prst="rect">
            <a:avLst/>
          </a:prstGeom>
          <a:noFill/>
          <a:ln/>
        </p:spPr>
        <p:txBody>
          <a:bodyPr wrap="square" lIns="0" tIns="0" rIns="0" bIns="0" rtlCol="0" anchor="ctr"/>
          <a:lstStyle/>
          <a:p>
            <a:pPr indent="0" marL="0">
              <a:buNone/>
            </a:pPr>
            <a:r>
              <a:rPr lang="en-US" sz="850" b="1" dirty="0">
                <a:solidFill>
                  <a:srgbClr val="197A56"/>
                </a:solidFill>
                <a:latin typeface="Meiryo UI" pitchFamily="34" charset="0"/>
                <a:ea typeface="Meiryo UI" pitchFamily="34" charset="-122"/>
                <a:cs typeface="Meiryo UI" pitchFamily="34" charset="-120"/>
              </a:rPr>
              <a:t>優位が続く期間</a:t>
            </a:r>
            <a:endParaRPr lang="en-US" sz="850" dirty="0"/>
          </a:p>
        </p:txBody>
      </p:sp>
      <p:sp>
        <p:nvSpPr>
          <p:cNvPr id="103" name="ovl_s17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4" name="ovl_s17tb_gl2027"/>
          <p:cNvSpPr/>
          <p:nvPr/>
        </p:nvSpPr>
        <p:spPr>
          <a:xfrm>
            <a:off x="1874520" y="5212080"/>
            <a:ext cx="914" cy="822960"/>
          </a:xfrm>
          <a:prstGeom prst="line">
            <a:avLst/>
          </a:prstGeom>
          <a:noFill/>
          <a:ln w="6350">
            <a:solidFill>
              <a:srgbClr val="D9D9D9"/>
            </a:solidFill>
            <a:prstDash val="dash"/>
          </a:ln>
        </p:spPr>
      </p:sp>
      <p:sp>
        <p:nvSpPr>
          <p:cNvPr id="105" name="ovl_s17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6" name="ovl_s17tb_gl2032"/>
          <p:cNvSpPr/>
          <p:nvPr/>
        </p:nvSpPr>
        <p:spPr>
          <a:xfrm>
            <a:off x="3474720" y="5212080"/>
            <a:ext cx="914" cy="822960"/>
          </a:xfrm>
          <a:prstGeom prst="line">
            <a:avLst/>
          </a:prstGeom>
          <a:noFill/>
          <a:ln w="6350">
            <a:solidFill>
              <a:srgbClr val="D9D9D9"/>
            </a:solidFill>
            <a:prstDash val="dash"/>
          </a:ln>
        </p:spPr>
      </p:sp>
      <p:sp>
        <p:nvSpPr>
          <p:cNvPr id="107" name="ovl_s17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8" name="ovl_s17tb_gl2037"/>
          <p:cNvSpPr/>
          <p:nvPr/>
        </p:nvSpPr>
        <p:spPr>
          <a:xfrm>
            <a:off x="5074920" y="5212080"/>
            <a:ext cx="914" cy="822960"/>
          </a:xfrm>
          <a:prstGeom prst="line">
            <a:avLst/>
          </a:prstGeom>
          <a:noFill/>
          <a:ln w="6350">
            <a:solidFill>
              <a:srgbClr val="D9D9D9"/>
            </a:solidFill>
            <a:prstDash val="dash"/>
          </a:ln>
        </p:spPr>
      </p:sp>
      <p:sp>
        <p:nvSpPr>
          <p:cNvPr id="109" name="ovl_s17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10" name="ovl_s17tb_gl2042"/>
          <p:cNvSpPr/>
          <p:nvPr/>
        </p:nvSpPr>
        <p:spPr>
          <a:xfrm>
            <a:off x="6675120" y="5212080"/>
            <a:ext cx="914" cy="822960"/>
          </a:xfrm>
          <a:prstGeom prst="line">
            <a:avLst/>
          </a:prstGeom>
          <a:noFill/>
          <a:ln w="6350">
            <a:solidFill>
              <a:srgbClr val="D9D9D9"/>
            </a:solidFill>
            <a:prstDash val="dash"/>
          </a:ln>
        </p:spPr>
      </p:sp>
      <p:sp>
        <p:nvSpPr>
          <p:cNvPr id="111" name="ovl_s17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12" name="ovl_s17tb_gl2047"/>
          <p:cNvSpPr/>
          <p:nvPr/>
        </p:nvSpPr>
        <p:spPr>
          <a:xfrm>
            <a:off x="8275320" y="5212080"/>
            <a:ext cx="914" cy="822960"/>
          </a:xfrm>
          <a:prstGeom prst="line">
            <a:avLst/>
          </a:prstGeom>
          <a:noFill/>
          <a:ln w="6350">
            <a:solidFill>
              <a:srgbClr val="D9D9D9"/>
            </a:solidFill>
            <a:prstDash val="dash"/>
          </a:ln>
        </p:spPr>
      </p:sp>
      <p:sp>
        <p:nvSpPr>
          <p:cNvPr id="113" name="ovl_s17tb_l0"/>
          <p:cNvSpPr txBox="1"/>
          <p:nvPr/>
        </p:nvSpPr>
        <p:spPr>
          <a:xfrm>
            <a:off x="457200" y="5248656"/>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の切替コスト</a:t>
            </a:r>
            <a:endParaRPr lang="en-US" sz="850" dirty="0"/>
          </a:p>
        </p:txBody>
      </p:sp>
      <p:sp>
        <p:nvSpPr>
          <p:cNvPr id="114" name="ovl_s17tb_b0"/>
          <p:cNvSpPr/>
          <p:nvPr/>
        </p:nvSpPr>
        <p:spPr>
          <a:xfrm>
            <a:off x="1874520" y="5285354"/>
            <a:ext cx="6400800" cy="188732"/>
          </a:xfrm>
          <a:prstGeom prst="rect">
            <a:avLst/>
          </a:prstGeom>
          <a:solidFill>
            <a:srgbClr val="0E4D33"/>
          </a:solidFill>
          <a:ln w="12700">
            <a:solidFill>
              <a:srgbClr val="0E4D33"/>
            </a:solidFill>
            <a:prstDash val="solid"/>
          </a:ln>
        </p:spPr>
      </p:sp>
      <p:sp>
        <p:nvSpPr>
          <p:cNvPr id="115" name="ovl_s17tb_t0"/>
          <p:cNvSpPr txBox="1"/>
          <p:nvPr/>
        </p:nvSpPr>
        <p:spPr>
          <a:xfrm>
            <a:off x="1874520" y="5285354"/>
            <a:ext cx="64008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16" name="ovl_s17tb_l1"/>
          <p:cNvSpPr txBox="1"/>
          <p:nvPr/>
        </p:nvSpPr>
        <p:spPr>
          <a:xfrm>
            <a:off x="457200" y="5510784"/>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AI 容量の単価優位</a:t>
            </a:r>
            <a:endParaRPr lang="en-US" sz="850" dirty="0"/>
          </a:p>
        </p:txBody>
      </p:sp>
      <p:sp>
        <p:nvSpPr>
          <p:cNvPr id="117" name="ovl_s17tb_b1"/>
          <p:cNvSpPr/>
          <p:nvPr/>
        </p:nvSpPr>
        <p:spPr>
          <a:xfrm>
            <a:off x="1874520" y="5547482"/>
            <a:ext cx="1600200" cy="188732"/>
          </a:xfrm>
          <a:prstGeom prst="rect">
            <a:avLst/>
          </a:prstGeom>
          <a:solidFill>
            <a:srgbClr val="C0392B"/>
          </a:solidFill>
          <a:ln w="12700">
            <a:solidFill>
              <a:srgbClr val="C0392B"/>
            </a:solidFill>
            <a:prstDash val="solid"/>
          </a:ln>
        </p:spPr>
      </p:sp>
      <p:sp>
        <p:nvSpPr>
          <p:cNvPr id="118" name="ovl_s17tb_t1"/>
          <p:cNvSpPr txBox="1"/>
          <p:nvPr/>
        </p:nvSpPr>
        <p:spPr>
          <a:xfrm>
            <a:off x="1874520" y="5547482"/>
            <a:ext cx="1600200" cy="188732"/>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逼迫が終わる FY32 まで</a:t>
            </a:r>
            <a:endParaRPr lang="en-US" sz="800" dirty="0"/>
          </a:p>
        </p:txBody>
      </p:sp>
      <p:sp>
        <p:nvSpPr>
          <p:cNvPr id="119" name="ovl_s17tb_l2"/>
          <p:cNvSpPr txBox="1"/>
          <p:nvPr/>
        </p:nvSpPr>
        <p:spPr>
          <a:xfrm>
            <a:off x="457200" y="5772912"/>
            <a:ext cx="1344168" cy="262128"/>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建屋の賃料の固定</a:t>
            </a:r>
            <a:endParaRPr lang="en-US" sz="850" dirty="0"/>
          </a:p>
        </p:txBody>
      </p:sp>
      <p:sp>
        <p:nvSpPr>
          <p:cNvPr id="120" name="ovl_s17tb_b2"/>
          <p:cNvSpPr/>
          <p:nvPr/>
        </p:nvSpPr>
        <p:spPr>
          <a:xfrm>
            <a:off x="1874520" y="5809610"/>
            <a:ext cx="6400800" cy="188732"/>
          </a:xfrm>
          <a:prstGeom prst="rect">
            <a:avLst/>
          </a:prstGeom>
          <a:solidFill>
            <a:srgbClr val="86C99B"/>
          </a:solidFill>
          <a:ln w="12700">
            <a:solidFill>
              <a:srgbClr val="86C99B"/>
            </a:solidFill>
            <a:prstDash val="solid"/>
          </a:ln>
        </p:spPr>
      </p:sp>
      <p:sp>
        <p:nvSpPr>
          <p:cNvPr id="121" name="ovl_s17tb_t2"/>
          <p:cNvSpPr txBox="1"/>
          <p:nvPr/>
        </p:nvSpPr>
        <p:spPr>
          <a:xfrm>
            <a:off x="1874520" y="5809610"/>
            <a:ext cx="6400800" cy="188732"/>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長期リースで FY47 まで</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の顧客はデータ移行とアプリ改修に数年かかり、保守料(年 22%)を払い続ける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SaaS は旧 ERP 顧客の移行で伸びるが +10% で、SAP のクラウド ERP(+25%)より遅い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容量は更新期の GPU を従来比 +20% で更新・再販。ただし業界全体の値上げ(AWS +15〜20%)の一部</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逼迫が緩む FY32 以降は、ネオクラウド・TPU との価格競争で超過利益はベースで 0%</a:t>
            </a:r>
            <a:endParaRPr lang="en-US" sz="1100" dirty="0"/>
          </a:p>
        </p:txBody>
      </p:sp>
      <p:sp>
        <p:nvSpPr>
          <p:cNvPr id="124" name="ovl_takeaway_bg"/>
          <p:cNvSpPr/>
          <p:nvPr/>
        </p:nvSpPr>
        <p:spPr>
          <a:xfrm>
            <a:off x="8458200" y="4549140"/>
            <a:ext cx="3276295" cy="1005840"/>
          </a:xfrm>
          <a:prstGeom prst="rect">
            <a:avLst/>
          </a:prstGeom>
          <a:solidFill>
            <a:srgbClr val="EAF4EE"/>
          </a:solidFill>
          <a:ln w="12700">
            <a:solidFill>
              <a:srgbClr val="EAF4EE"/>
            </a:solidFill>
            <a:prstDash val="solid"/>
          </a:ln>
        </p:spPr>
      </p:sp>
      <p:sp>
        <p:nvSpPr>
          <p:cNvPr id="125" name="takeaway"/>
          <p:cNvSpPr txBox="1"/>
          <p:nvPr/>
        </p:nvSpPr>
        <p:spPr>
          <a:xfrm>
            <a:off x="8567928" y="462229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の優位は数十年続くが、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価値の 41% を占める AI 容量の優位は</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逼迫が続く FY32 までに限られるため B</a:t>
            </a:r>
            <a:endParaRPr lang="en-US" sz="1000" dirty="0"/>
          </a:p>
        </p:txBody>
      </p:sp>
      <p:sp>
        <p:nvSpPr>
          <p:cNvPr id="126" name="updown"/>
          <p:cNvSpPr txBox="1"/>
          <p:nvPr/>
        </p:nvSpPr>
        <p:spPr>
          <a:xfrm>
            <a:off x="8458200" y="5628132"/>
            <a:ext cx="3276295" cy="46177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緩和の兆しが出ても</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AI 容量の更新プレミアムが正のまま続けば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Software の減収が −5% を超えて加速すれば C</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369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369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コア事業の現金創出(条件2)</a:t>
            </a:r>
            <a:endParaRPr lang="en-US" sz="1000" dirty="0"/>
          </a:p>
        </p:txBody>
      </p:sp>
      <p:sp>
        <p:nvSpPr>
          <p:cNvPr id="14" name="hdr_why"/>
          <p:cNvSpPr txBox="1"/>
          <p:nvPr/>
        </p:nvSpPr>
        <p:spPr>
          <a:xfrm>
            <a:off x="2973324" y="356616"/>
            <a:ext cx="8761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AI 投資を本業の現金で賄えるかが、増資や格下げなしに成長できるかを決める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コア事業は税引後 230 億ドルを稼ぎ、AI の投資は前払いと長期リースで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外部化する。全社 FCF はエンジンで FY28 にほぼ均衡し、FY29 に 721 億ドル</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資金の出し手 → Oracle の資金の源 → 使い道 → 結果。①〜⑤ は右と対応。金額は FY27(需給エンジン第4.4版・会社開示)</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FY27、10-Q)、需給エンジン第4.4版(calc/out/m9_all.json)、research2/R7_capital_power.md、S&amp;P(2026-07)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25</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条件2</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資金の出し手</a:t>
            </a:r>
            <a:endParaRPr lang="en-US" sz="950" dirty="0"/>
          </a:p>
        </p:txBody>
      </p:sp>
      <p:sp>
        <p:nvSpPr>
          <p:cNvPr id="25" name="bg_lane1"/>
          <p:cNvSpPr/>
          <p:nvPr/>
        </p:nvSpPr>
        <p:spPr>
          <a:xfrm>
            <a:off x="2481072" y="1517904"/>
            <a:ext cx="3770376" cy="4315968"/>
          </a:xfrm>
          <a:prstGeom prst="rect">
            <a:avLst/>
          </a:prstGeom>
          <a:solidFill>
            <a:srgbClr val="EAF4EE"/>
          </a:solidFill>
          <a:ln w="12700">
            <a:solidFill>
              <a:srgbClr val="EAF4EE"/>
            </a:solidFill>
            <a:prstDash val="solid"/>
          </a:ln>
        </p:spPr>
      </p:sp>
      <p:sp>
        <p:nvSpPr>
          <p:cNvPr id="26" name="bg_laneh1"/>
          <p:cNvSpPr/>
          <p:nvPr/>
        </p:nvSpPr>
        <p:spPr>
          <a:xfrm>
            <a:off x="2481072" y="1517904"/>
            <a:ext cx="3770376" cy="274320"/>
          </a:xfrm>
          <a:prstGeom prst="rect">
            <a:avLst/>
          </a:prstGeom>
          <a:solidFill>
            <a:srgbClr val="197A56"/>
          </a:solidFill>
          <a:ln w="12700">
            <a:solidFill>
              <a:srgbClr val="197A56"/>
            </a:solidFill>
            <a:prstDash val="solid"/>
          </a:ln>
        </p:spPr>
      </p:sp>
      <p:sp>
        <p:nvSpPr>
          <p:cNvPr id="27" name="bg_lanet1"/>
          <p:cNvSpPr txBox="1"/>
          <p:nvPr/>
        </p:nvSpPr>
        <p:spPr>
          <a:xfrm>
            <a:off x="2481072" y="1517904"/>
            <a:ext cx="377037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6931152" y="1517904"/>
            <a:ext cx="1453896" cy="4315968"/>
          </a:xfrm>
          <a:prstGeom prst="rect">
            <a:avLst/>
          </a:prstGeom>
          <a:solidFill>
            <a:srgbClr val="F2F2F2"/>
          </a:solidFill>
          <a:ln w="12700">
            <a:solidFill>
              <a:srgbClr val="F2F2F2"/>
            </a:solidFill>
            <a:prstDash val="solid"/>
          </a:ln>
        </p:spPr>
      </p:sp>
      <p:sp>
        <p:nvSpPr>
          <p:cNvPr id="29" name="bg_laneh2"/>
          <p:cNvSpPr/>
          <p:nvPr/>
        </p:nvSpPr>
        <p:spPr>
          <a:xfrm>
            <a:off x="6931152" y="1517904"/>
            <a:ext cx="1453896" cy="274320"/>
          </a:xfrm>
          <a:prstGeom prst="rect">
            <a:avLst/>
          </a:prstGeom>
          <a:solidFill>
            <a:srgbClr val="D9D9D9"/>
          </a:solidFill>
          <a:ln w="12700">
            <a:solidFill>
              <a:srgbClr val="D9D9D9"/>
            </a:solidFill>
            <a:prstDash val="solid"/>
          </a:ln>
        </p:spPr>
      </p:sp>
      <p:sp>
        <p:nvSpPr>
          <p:cNvPr id="30" name="bg_lanet2"/>
          <p:cNvSpPr txBox="1"/>
          <p:nvPr/>
        </p:nvSpPr>
        <p:spPr>
          <a:xfrm>
            <a:off x="693115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支払先・評価者</a:t>
            </a:r>
            <a:endParaRPr lang="en-US" sz="950" dirty="0"/>
          </a:p>
        </p:txBody>
      </p:sp>
      <p:sp>
        <p:nvSpPr>
          <p:cNvPr id="31" name="ovl_grp0"/>
          <p:cNvSpPr/>
          <p:nvPr/>
        </p:nvSpPr>
        <p:spPr>
          <a:xfrm>
            <a:off x="252679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2" name="ovl_grp1"/>
          <p:cNvSpPr/>
          <p:nvPr/>
        </p:nvSpPr>
        <p:spPr>
          <a:xfrm>
            <a:off x="4751832" y="1911096"/>
            <a:ext cx="1453896" cy="3877056"/>
          </a:xfrm>
          <a:prstGeom prst="roundRect">
            <a:avLst>
              <a:gd name="adj" fmla="val 3774"/>
            </a:avLst>
          </a:prstGeom>
          <a:solidFill>
            <a:srgbClr val="FFFFFF">
              <a:alpha val="0"/>
            </a:srgbClr>
          </a:solidFill>
          <a:ln w="12700">
            <a:solidFill>
              <a:srgbClr val="197A56"/>
            </a:solidFill>
            <a:prstDash val="dash"/>
          </a:ln>
        </p:spPr>
      </p:sp>
      <p:sp>
        <p:nvSpPr>
          <p:cNvPr id="33" name="ovl_s18_e0_0"/>
          <p:cNvSpPr/>
          <p:nvPr/>
        </p:nvSpPr>
        <p:spPr>
          <a:xfrm>
            <a:off x="1691640" y="2375154"/>
            <a:ext cx="899160" cy="914"/>
          </a:xfrm>
          <a:prstGeom prst="line">
            <a:avLst/>
          </a:prstGeom>
          <a:noFill/>
          <a:ln w="22225">
            <a:solidFill>
              <a:srgbClr val="0E4D33"/>
            </a:solidFill>
            <a:prstDash val="solid"/>
            <a:tailEnd type="triangle"/>
          </a:ln>
        </p:spPr>
      </p:sp>
      <p:sp>
        <p:nvSpPr>
          <p:cNvPr id="34" name="ovl_s18_e1_0"/>
          <p:cNvSpPr/>
          <p:nvPr/>
        </p:nvSpPr>
        <p:spPr>
          <a:xfrm>
            <a:off x="3916680" y="2375154"/>
            <a:ext cx="899160" cy="914"/>
          </a:xfrm>
          <a:prstGeom prst="line">
            <a:avLst/>
          </a:prstGeom>
          <a:noFill/>
          <a:ln w="22225">
            <a:solidFill>
              <a:srgbClr val="0E4D33"/>
            </a:solidFill>
            <a:prstDash val="solid"/>
            <a:tailEnd type="triangle"/>
          </a:ln>
        </p:spPr>
      </p:sp>
      <p:sp>
        <p:nvSpPr>
          <p:cNvPr id="35" name="ovl_s18_e2_0"/>
          <p:cNvSpPr/>
          <p:nvPr/>
        </p:nvSpPr>
        <p:spPr>
          <a:xfrm>
            <a:off x="1691640" y="3358134"/>
            <a:ext cx="899160" cy="914"/>
          </a:xfrm>
          <a:prstGeom prst="line">
            <a:avLst/>
          </a:prstGeom>
          <a:noFill/>
          <a:ln w="22225">
            <a:solidFill>
              <a:srgbClr val="0E4D33"/>
            </a:solidFill>
            <a:prstDash val="solid"/>
            <a:tailEnd type="triangle"/>
          </a:ln>
        </p:spPr>
      </p:sp>
      <p:sp>
        <p:nvSpPr>
          <p:cNvPr id="36" name="ovl_s18_e3_0"/>
          <p:cNvSpPr/>
          <p:nvPr/>
        </p:nvSpPr>
        <p:spPr>
          <a:xfrm>
            <a:off x="3916680" y="3358134"/>
            <a:ext cx="899160" cy="914"/>
          </a:xfrm>
          <a:prstGeom prst="line">
            <a:avLst/>
          </a:prstGeom>
          <a:noFill/>
          <a:ln w="22225">
            <a:solidFill>
              <a:srgbClr val="0E4D33"/>
            </a:solidFill>
            <a:prstDash val="solid"/>
            <a:tailEnd type="triangle"/>
          </a:ln>
        </p:spPr>
      </p:sp>
      <p:sp>
        <p:nvSpPr>
          <p:cNvPr id="37" name="ovl_s18_e4_0"/>
          <p:cNvSpPr/>
          <p:nvPr/>
        </p:nvSpPr>
        <p:spPr>
          <a:xfrm>
            <a:off x="1691640" y="4341114"/>
            <a:ext cx="899160" cy="914"/>
          </a:xfrm>
          <a:prstGeom prst="line">
            <a:avLst/>
          </a:prstGeom>
          <a:noFill/>
          <a:ln w="19050">
            <a:solidFill>
              <a:srgbClr val="1BA1A6"/>
            </a:solidFill>
            <a:prstDash val="solid"/>
            <a:tailEnd type="triangle"/>
          </a:ln>
        </p:spPr>
      </p:sp>
      <p:sp>
        <p:nvSpPr>
          <p:cNvPr id="38" name="ovl_s18_e5_0"/>
          <p:cNvSpPr/>
          <p:nvPr/>
        </p:nvSpPr>
        <p:spPr>
          <a:xfrm>
            <a:off x="3916680" y="4341114"/>
            <a:ext cx="899160" cy="914"/>
          </a:xfrm>
          <a:prstGeom prst="line">
            <a:avLst/>
          </a:prstGeom>
          <a:noFill/>
          <a:ln w="22225">
            <a:solidFill>
              <a:srgbClr val="0E4D33"/>
            </a:solidFill>
            <a:prstDash val="solid"/>
            <a:tailEnd type="triangle"/>
          </a:ln>
        </p:spPr>
      </p:sp>
      <p:sp>
        <p:nvSpPr>
          <p:cNvPr id="39" name="ovl_s18_e6_0"/>
          <p:cNvSpPr/>
          <p:nvPr/>
        </p:nvSpPr>
        <p:spPr>
          <a:xfrm>
            <a:off x="1691640" y="5324094"/>
            <a:ext cx="899160" cy="914"/>
          </a:xfrm>
          <a:prstGeom prst="line">
            <a:avLst/>
          </a:prstGeom>
          <a:noFill/>
          <a:ln w="22225">
            <a:solidFill>
              <a:srgbClr val="0E4D33"/>
            </a:solidFill>
            <a:prstDash val="solid"/>
            <a:tailEnd type="triangle"/>
          </a:ln>
        </p:spPr>
      </p:sp>
      <p:sp>
        <p:nvSpPr>
          <p:cNvPr id="40" name="ovl_s18_e7_0"/>
          <p:cNvSpPr/>
          <p:nvPr/>
        </p:nvSpPr>
        <p:spPr>
          <a:xfrm>
            <a:off x="3916680" y="5324094"/>
            <a:ext cx="899160" cy="914"/>
          </a:xfrm>
          <a:prstGeom prst="line">
            <a:avLst/>
          </a:prstGeom>
          <a:noFill/>
          <a:ln w="22225">
            <a:solidFill>
              <a:srgbClr val="0E4D33"/>
            </a:solidFill>
            <a:prstDash val="solid"/>
            <a:tailEnd type="triangle"/>
          </a:ln>
        </p:spPr>
      </p:sp>
      <p:sp>
        <p:nvSpPr>
          <p:cNvPr id="41" name="ovl_s18_e8_0"/>
          <p:cNvSpPr/>
          <p:nvPr/>
        </p:nvSpPr>
        <p:spPr>
          <a:xfrm>
            <a:off x="6141720" y="2375154"/>
            <a:ext cx="899160" cy="914"/>
          </a:xfrm>
          <a:prstGeom prst="line">
            <a:avLst/>
          </a:prstGeom>
          <a:noFill/>
          <a:ln w="22225">
            <a:solidFill>
              <a:srgbClr val="0E4D33"/>
            </a:solidFill>
            <a:prstDash val="solid"/>
            <a:tailEnd type="triangle"/>
          </a:ln>
        </p:spPr>
      </p:sp>
      <p:sp>
        <p:nvSpPr>
          <p:cNvPr id="42" name="ovl_s18_e9_0"/>
          <p:cNvSpPr/>
          <p:nvPr/>
        </p:nvSpPr>
        <p:spPr>
          <a:xfrm>
            <a:off x="6141720" y="5324094"/>
            <a:ext cx="899160" cy="914"/>
          </a:xfrm>
          <a:prstGeom prst="line">
            <a:avLst/>
          </a:prstGeom>
          <a:noFill/>
          <a:ln w="12700">
            <a:solidFill>
              <a:srgbClr val="767676"/>
            </a:solidFill>
            <a:prstDash val="sysDash"/>
            <a:tailEnd type="triangle"/>
          </a:ln>
        </p:spPr>
      </p:sp>
      <p:sp>
        <p:nvSpPr>
          <p:cNvPr id="43" name="ovl_s18_n_cust"/>
          <p:cNvSpPr/>
          <p:nvPr/>
        </p:nvSpPr>
        <p:spPr>
          <a:xfrm>
            <a:off x="457200" y="2000250"/>
            <a:ext cx="1234440" cy="749808"/>
          </a:xfrm>
          <a:prstGeom prst="roundRect">
            <a:avLst>
              <a:gd name="adj" fmla="val 7317"/>
            </a:avLst>
          </a:prstGeom>
          <a:solidFill>
            <a:srgbClr val="FFFFFF"/>
          </a:solidFill>
          <a:ln w="9525">
            <a:solidFill>
              <a:srgbClr val="767676"/>
            </a:solidFill>
            <a:prstDash val="solid"/>
          </a:ln>
        </p:spPr>
      </p:sp>
      <p:sp>
        <p:nvSpPr>
          <p:cNvPr id="44" name="ovl_s18_nt_cust"/>
          <p:cNvSpPr txBox="1"/>
          <p:nvPr/>
        </p:nvSpPr>
        <p:spPr>
          <a:xfrm>
            <a:off x="49377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45" name="ovl_s18_ns_cust"/>
          <p:cNvSpPr txBox="1"/>
          <p:nvPr/>
        </p:nvSpPr>
        <p:spPr>
          <a:xfrm>
            <a:off x="50292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保守料・購読料</a:t>
            </a:r>
            <a:endParaRPr lang="en-US" sz="850" dirty="0"/>
          </a:p>
        </p:txBody>
      </p:sp>
      <p:sp>
        <p:nvSpPr>
          <p:cNvPr id="46" name="ovl_s18_n_lab"/>
          <p:cNvSpPr/>
          <p:nvPr/>
        </p:nvSpPr>
        <p:spPr>
          <a:xfrm>
            <a:off x="457200" y="2983230"/>
            <a:ext cx="1234440" cy="749808"/>
          </a:xfrm>
          <a:prstGeom prst="roundRect">
            <a:avLst>
              <a:gd name="adj" fmla="val 7317"/>
            </a:avLst>
          </a:prstGeom>
          <a:solidFill>
            <a:srgbClr val="FFFFFF"/>
          </a:solidFill>
          <a:ln w="9525">
            <a:solidFill>
              <a:srgbClr val="767676"/>
            </a:solidFill>
            <a:prstDash val="solid"/>
          </a:ln>
        </p:spPr>
      </p:sp>
      <p:sp>
        <p:nvSpPr>
          <p:cNvPr id="47" name="ovl_s18_nt_lab"/>
          <p:cNvSpPr txBox="1"/>
          <p:nvPr/>
        </p:nvSpPr>
        <p:spPr>
          <a:xfrm>
            <a:off x="493776" y="301066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48" name="ovl_s18_ns_lab"/>
          <p:cNvSpPr txBox="1"/>
          <p:nvPr/>
        </p:nvSpPr>
        <p:spPr>
          <a:xfrm>
            <a:off x="502920" y="321640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代の前払い</a:t>
            </a:r>
            <a:endParaRPr lang="en-US" sz="850" dirty="0"/>
          </a:p>
        </p:txBody>
      </p:sp>
      <p:sp>
        <p:nvSpPr>
          <p:cNvPr id="49" name="ovl_s18_n_dev"/>
          <p:cNvSpPr/>
          <p:nvPr/>
        </p:nvSpPr>
        <p:spPr>
          <a:xfrm>
            <a:off x="457200" y="3966210"/>
            <a:ext cx="1234440" cy="749808"/>
          </a:xfrm>
          <a:prstGeom prst="roundRect">
            <a:avLst>
              <a:gd name="adj" fmla="val 7317"/>
            </a:avLst>
          </a:prstGeom>
          <a:solidFill>
            <a:srgbClr val="EAF4EE"/>
          </a:solidFill>
          <a:ln w="9525">
            <a:solidFill>
              <a:srgbClr val="86C99B"/>
            </a:solidFill>
            <a:prstDash val="solid"/>
          </a:ln>
        </p:spPr>
      </p:sp>
      <p:sp>
        <p:nvSpPr>
          <p:cNvPr id="50" name="ovl_s18_nt_dev"/>
          <p:cNvSpPr txBox="1"/>
          <p:nvPr/>
        </p:nvSpPr>
        <p:spPr>
          <a:xfrm>
            <a:off x="493776" y="399364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DC 開発事業者</a:t>
            </a:r>
            <a:endParaRPr lang="en-US" sz="1000" dirty="0"/>
          </a:p>
        </p:txBody>
      </p:sp>
      <p:sp>
        <p:nvSpPr>
          <p:cNvPr id="51" name="ovl_s18_ns_dev"/>
          <p:cNvSpPr txBox="1"/>
          <p:nvPr/>
        </p:nvSpPr>
        <p:spPr>
          <a:xfrm>
            <a:off x="502920" y="419938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の 90% 超の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建屋を負担</a:t>
            </a:r>
            <a:endParaRPr lang="en-US" sz="850" dirty="0"/>
          </a:p>
        </p:txBody>
      </p:sp>
      <p:sp>
        <p:nvSpPr>
          <p:cNvPr id="52" name="ovl_s18_n_inv"/>
          <p:cNvSpPr/>
          <p:nvPr/>
        </p:nvSpPr>
        <p:spPr>
          <a:xfrm>
            <a:off x="457200" y="4949190"/>
            <a:ext cx="1234440" cy="749808"/>
          </a:xfrm>
          <a:prstGeom prst="roundRect">
            <a:avLst>
              <a:gd name="adj" fmla="val 7317"/>
            </a:avLst>
          </a:prstGeom>
          <a:solidFill>
            <a:srgbClr val="FFFFFF"/>
          </a:solidFill>
          <a:ln w="9525">
            <a:solidFill>
              <a:srgbClr val="767676"/>
            </a:solidFill>
            <a:prstDash val="solid"/>
          </a:ln>
        </p:spPr>
      </p:sp>
      <p:sp>
        <p:nvSpPr>
          <p:cNvPr id="53" name="ovl_s18_nt_inv"/>
          <p:cNvSpPr txBox="1"/>
          <p:nvPr/>
        </p:nvSpPr>
        <p:spPr>
          <a:xfrm>
            <a:off x="493776" y="4976622"/>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社債・株式の投資家</a:t>
            </a:r>
            <a:endParaRPr lang="en-US" sz="900" dirty="0"/>
          </a:p>
        </p:txBody>
      </p:sp>
      <p:sp>
        <p:nvSpPr>
          <p:cNvPr id="54" name="ovl_s18_ns_inv"/>
          <p:cNvSpPr txBox="1"/>
          <p:nvPr/>
        </p:nvSpPr>
        <p:spPr>
          <a:xfrm>
            <a:off x="50292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社債 430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優先株 50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ATM 200 億ドル</a:t>
            </a:r>
            <a:endParaRPr lang="en-US" sz="850" dirty="0"/>
          </a:p>
        </p:txBody>
      </p:sp>
      <p:sp>
        <p:nvSpPr>
          <p:cNvPr id="55" name="ovl_s18_n_core"/>
          <p:cNvSpPr/>
          <p:nvPr/>
        </p:nvSpPr>
        <p:spPr>
          <a:xfrm>
            <a:off x="2590800" y="2000250"/>
            <a:ext cx="1325880" cy="749808"/>
          </a:xfrm>
          <a:prstGeom prst="roundRect">
            <a:avLst>
              <a:gd name="adj" fmla="val 7317"/>
            </a:avLst>
          </a:prstGeom>
          <a:solidFill>
            <a:srgbClr val="FFFFFF"/>
          </a:solidFill>
          <a:ln w="19050">
            <a:solidFill>
              <a:srgbClr val="197A56"/>
            </a:solidFill>
            <a:prstDash val="solid"/>
          </a:ln>
        </p:spPr>
      </p:sp>
      <p:sp>
        <p:nvSpPr>
          <p:cNvPr id="56" name="ovl_s18_nt_core"/>
          <p:cNvSpPr txBox="1"/>
          <p:nvPr/>
        </p:nvSpPr>
        <p:spPr>
          <a:xfrm>
            <a:off x="26273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コアの利益</a:t>
            </a:r>
            <a:endParaRPr lang="en-US" sz="1000" dirty="0"/>
          </a:p>
        </p:txBody>
      </p:sp>
      <p:sp>
        <p:nvSpPr>
          <p:cNvPr id="57" name="ovl_s18_ns_core"/>
          <p:cNvSpPr txBox="1"/>
          <p:nvPr/>
        </p:nvSpPr>
        <p:spPr>
          <a:xfrm>
            <a:off x="26365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税引後 230 億ドル</a:t>
            </a:r>
            <a:endParaRPr lang="en-US" sz="850" dirty="0"/>
          </a:p>
        </p:txBody>
      </p:sp>
      <p:sp>
        <p:nvSpPr>
          <p:cNvPr id="58" name="ovl_s18_n_prepay"/>
          <p:cNvSpPr/>
          <p:nvPr/>
        </p:nvSpPr>
        <p:spPr>
          <a:xfrm>
            <a:off x="2590800" y="2983230"/>
            <a:ext cx="1325880" cy="749808"/>
          </a:xfrm>
          <a:prstGeom prst="roundRect">
            <a:avLst>
              <a:gd name="adj" fmla="val 7317"/>
            </a:avLst>
          </a:prstGeom>
          <a:solidFill>
            <a:srgbClr val="EAF4EE"/>
          </a:solidFill>
          <a:ln w="9525">
            <a:solidFill>
              <a:srgbClr val="86C99B"/>
            </a:solidFill>
            <a:prstDash val="solid"/>
          </a:ln>
        </p:spPr>
      </p:sp>
      <p:sp>
        <p:nvSpPr>
          <p:cNvPr id="59" name="ovl_s18_nt_prepay"/>
          <p:cNvSpPr txBox="1"/>
          <p:nvPr/>
        </p:nvSpPr>
        <p:spPr>
          <a:xfrm>
            <a:off x="26273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前受収益</a:t>
            </a:r>
            <a:endParaRPr lang="en-US" sz="1000" dirty="0"/>
          </a:p>
        </p:txBody>
      </p:sp>
      <p:sp>
        <p:nvSpPr>
          <p:cNvPr id="60" name="ovl_s18_ns_prepay"/>
          <p:cNvSpPr txBox="1"/>
          <p:nvPr/>
        </p:nvSpPr>
        <p:spPr>
          <a:xfrm>
            <a:off x="26365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154 → 308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年で倍増)</a:t>
            </a:r>
            <a:endParaRPr lang="en-US" sz="850" dirty="0"/>
          </a:p>
        </p:txBody>
      </p:sp>
      <p:sp>
        <p:nvSpPr>
          <p:cNvPr id="61" name="ovl_s18_n_lease"/>
          <p:cNvSpPr/>
          <p:nvPr/>
        </p:nvSpPr>
        <p:spPr>
          <a:xfrm>
            <a:off x="2590800" y="3966210"/>
            <a:ext cx="1325880" cy="749808"/>
          </a:xfrm>
          <a:prstGeom prst="roundRect">
            <a:avLst>
              <a:gd name="adj" fmla="val 7317"/>
            </a:avLst>
          </a:prstGeom>
          <a:solidFill>
            <a:srgbClr val="EAF4EE"/>
          </a:solidFill>
          <a:ln w="9525">
            <a:solidFill>
              <a:srgbClr val="86C99B"/>
            </a:solidFill>
            <a:prstDash val="solid"/>
          </a:ln>
        </p:spPr>
      </p:sp>
      <p:sp>
        <p:nvSpPr>
          <p:cNvPr id="62" name="ovl_s18_nt_lease"/>
          <p:cNvSpPr txBox="1"/>
          <p:nvPr/>
        </p:nvSpPr>
        <p:spPr>
          <a:xfrm>
            <a:off x="26273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長期リース</a:t>
            </a:r>
            <a:endParaRPr lang="en-US" sz="1000" dirty="0"/>
          </a:p>
        </p:txBody>
      </p:sp>
      <p:sp>
        <p:nvSpPr>
          <p:cNvPr id="63" name="ovl_s18_ns_lease"/>
          <p:cNvSpPr txBox="1"/>
          <p:nvPr/>
        </p:nvSpPr>
        <p:spPr>
          <a:xfrm>
            <a:off x="26365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未開始 2,880 億ドル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a:t>
            </a:r>
            <a:endParaRPr lang="en-US" sz="850" dirty="0"/>
          </a:p>
        </p:txBody>
      </p:sp>
      <p:sp>
        <p:nvSpPr>
          <p:cNvPr id="64" name="ovl_s18_n_debt"/>
          <p:cNvSpPr/>
          <p:nvPr/>
        </p:nvSpPr>
        <p:spPr>
          <a:xfrm>
            <a:off x="2590800" y="4949190"/>
            <a:ext cx="1325880" cy="749808"/>
          </a:xfrm>
          <a:prstGeom prst="roundRect">
            <a:avLst>
              <a:gd name="adj" fmla="val 7317"/>
            </a:avLst>
          </a:prstGeom>
          <a:solidFill>
            <a:srgbClr val="FFFFFF"/>
          </a:solidFill>
          <a:ln w="19050">
            <a:solidFill>
              <a:srgbClr val="C0392B"/>
            </a:solidFill>
            <a:prstDash val="solid"/>
          </a:ln>
        </p:spPr>
      </p:sp>
      <p:sp>
        <p:nvSpPr>
          <p:cNvPr id="65" name="ovl_s18_nt_debt"/>
          <p:cNvSpPr txBox="1"/>
          <p:nvPr/>
        </p:nvSpPr>
        <p:spPr>
          <a:xfrm>
            <a:off x="262737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借入・株式</a:t>
            </a:r>
            <a:endParaRPr lang="en-US" sz="1000" dirty="0"/>
          </a:p>
        </p:txBody>
      </p:sp>
      <p:sp>
        <p:nvSpPr>
          <p:cNvPr id="66" name="ovl_s18_ns_debt"/>
          <p:cNvSpPr txBox="1"/>
          <p:nvPr/>
        </p:nvSpPr>
        <p:spPr>
          <a:xfrm>
            <a:off x="26365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67" name="ovl_s18_n_capex"/>
          <p:cNvSpPr/>
          <p:nvPr/>
        </p:nvSpPr>
        <p:spPr>
          <a:xfrm>
            <a:off x="4815840" y="1984248"/>
            <a:ext cx="1325880" cy="1764792"/>
          </a:xfrm>
          <a:prstGeom prst="roundRect">
            <a:avLst>
              <a:gd name="adj" fmla="val 4138"/>
            </a:avLst>
          </a:prstGeom>
          <a:solidFill>
            <a:srgbClr val="0E4D33"/>
          </a:solidFill>
          <a:ln w="9525">
            <a:solidFill>
              <a:srgbClr val="0E4D33"/>
            </a:solidFill>
            <a:prstDash val="solid"/>
          </a:ln>
        </p:spPr>
      </p:sp>
      <p:sp>
        <p:nvSpPr>
          <p:cNvPr id="68" name="ovl_s18_nt_capex"/>
          <p:cNvSpPr txBox="1"/>
          <p:nvPr/>
        </p:nvSpPr>
        <p:spPr>
          <a:xfrm>
            <a:off x="4852416" y="2011680"/>
            <a:ext cx="125272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capex(FY27)</a:t>
            </a:r>
            <a:endParaRPr lang="en-US" sz="1000" dirty="0"/>
          </a:p>
        </p:txBody>
      </p:sp>
      <p:sp>
        <p:nvSpPr>
          <p:cNvPr id="69" name="ovl_s18_ns_capex"/>
          <p:cNvSpPr txBox="1"/>
          <p:nvPr/>
        </p:nvSpPr>
        <p:spPr>
          <a:xfrm>
            <a:off x="4861560" y="2217420"/>
            <a:ext cx="1234440" cy="150418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総額 900〜950 億ドル</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前払いが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約 24% を賄う</a:t>
            </a:r>
            <a:endParaRPr lang="en-US" sz="850" dirty="0"/>
          </a:p>
          <a:p>
            <a:pPr algn="ctr" indent="0" marL="0">
              <a:buNone/>
            </a:pP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純現金 700 億ドル以下</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(会社の見通し)</a:t>
            </a:r>
            <a:endParaRPr lang="en-US" sz="850" dirty="0"/>
          </a:p>
        </p:txBody>
      </p:sp>
      <p:sp>
        <p:nvSpPr>
          <p:cNvPr id="70" name="ovl_s18_n_rent"/>
          <p:cNvSpPr/>
          <p:nvPr/>
        </p:nvSpPr>
        <p:spPr>
          <a:xfrm>
            <a:off x="4815840" y="3966210"/>
            <a:ext cx="1325880" cy="749808"/>
          </a:xfrm>
          <a:prstGeom prst="roundRect">
            <a:avLst>
              <a:gd name="adj" fmla="val 7317"/>
            </a:avLst>
          </a:prstGeom>
          <a:solidFill>
            <a:srgbClr val="FFFFFF"/>
          </a:solidFill>
          <a:ln w="19050">
            <a:solidFill>
              <a:srgbClr val="C0392B"/>
            </a:solidFill>
            <a:prstDash val="solid"/>
          </a:ln>
        </p:spPr>
      </p:sp>
      <p:sp>
        <p:nvSpPr>
          <p:cNvPr id="71" name="ovl_s18_nt_rent"/>
          <p:cNvSpPr txBox="1"/>
          <p:nvPr/>
        </p:nvSpPr>
        <p:spPr>
          <a:xfrm>
            <a:off x="48524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賃料</a:t>
            </a:r>
            <a:endParaRPr lang="en-US" sz="1000" dirty="0"/>
          </a:p>
        </p:txBody>
      </p:sp>
      <p:sp>
        <p:nvSpPr>
          <p:cNvPr id="72" name="ovl_s18_ns_rent"/>
          <p:cNvSpPr txBox="1"/>
          <p:nvPr/>
        </p:nvSpPr>
        <p:spPr>
          <a:xfrm>
            <a:off x="48615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固定費として</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15〜19 年続く</a:t>
            </a:r>
            <a:endParaRPr lang="en-US" sz="850" dirty="0"/>
          </a:p>
        </p:txBody>
      </p:sp>
      <p:sp>
        <p:nvSpPr>
          <p:cNvPr id="73" name="ovl_s18_n_fcf"/>
          <p:cNvSpPr/>
          <p:nvPr/>
        </p:nvSpPr>
        <p:spPr>
          <a:xfrm>
            <a:off x="4815840" y="4949190"/>
            <a:ext cx="1325880" cy="749808"/>
          </a:xfrm>
          <a:prstGeom prst="roundRect">
            <a:avLst>
              <a:gd name="adj" fmla="val 7317"/>
            </a:avLst>
          </a:prstGeom>
          <a:solidFill>
            <a:srgbClr val="FFFFFF"/>
          </a:solidFill>
          <a:ln w="19050">
            <a:solidFill>
              <a:srgbClr val="C0392B"/>
            </a:solidFill>
            <a:prstDash val="solid"/>
          </a:ln>
        </p:spPr>
      </p:sp>
      <p:sp>
        <p:nvSpPr>
          <p:cNvPr id="74" name="ovl_s18_nt_fcf"/>
          <p:cNvSpPr txBox="1"/>
          <p:nvPr/>
        </p:nvSpPr>
        <p:spPr>
          <a:xfrm>
            <a:off x="4852416" y="4976622"/>
            <a:ext cx="125272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全社 FCF</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(エンジン)</a:t>
            </a:r>
            <a:endParaRPr lang="en-US" sz="900" dirty="0"/>
          </a:p>
        </p:txBody>
      </p:sp>
      <p:sp>
        <p:nvSpPr>
          <p:cNvPr id="75" name="ovl_s18_ns_fcf"/>
          <p:cNvSpPr txBox="1"/>
          <p:nvPr/>
        </p:nvSpPr>
        <p:spPr>
          <a:xfrm>
            <a:off x="48615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FY27 −499 億</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+721 億ドル</a:t>
            </a:r>
            <a:endParaRPr lang="en-US" sz="850" dirty="0"/>
          </a:p>
        </p:txBody>
      </p:sp>
      <p:sp>
        <p:nvSpPr>
          <p:cNvPr id="76" name="ovl_s18_n_nv"/>
          <p:cNvSpPr/>
          <p:nvPr/>
        </p:nvSpPr>
        <p:spPr>
          <a:xfrm>
            <a:off x="7040880" y="2000250"/>
            <a:ext cx="1234440" cy="749808"/>
          </a:xfrm>
          <a:prstGeom prst="roundRect">
            <a:avLst>
              <a:gd name="adj" fmla="val 7317"/>
            </a:avLst>
          </a:prstGeom>
          <a:solidFill>
            <a:srgbClr val="FFFFFF"/>
          </a:solidFill>
          <a:ln w="9525">
            <a:solidFill>
              <a:srgbClr val="767676"/>
            </a:solidFill>
            <a:prstDash val="solid"/>
          </a:ln>
        </p:spPr>
      </p:sp>
      <p:sp>
        <p:nvSpPr>
          <p:cNvPr id="77" name="ovl_s18_nt_nv"/>
          <p:cNvSpPr txBox="1"/>
          <p:nvPr/>
        </p:nvSpPr>
        <p:spPr>
          <a:xfrm>
            <a:off x="7077456" y="202768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NVIDIA・部材</a:t>
            </a:r>
            <a:endParaRPr lang="en-US" sz="1000" dirty="0"/>
          </a:p>
        </p:txBody>
      </p:sp>
      <p:sp>
        <p:nvSpPr>
          <p:cNvPr id="78" name="ovl_s18_ns_nv"/>
          <p:cNvSpPr txBox="1"/>
          <p:nvPr/>
        </p:nvSpPr>
        <p:spPr>
          <a:xfrm>
            <a:off x="7086600" y="223342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GPU・網・メモリ</a:t>
            </a:r>
            <a:endParaRPr lang="en-US" sz="850" dirty="0"/>
          </a:p>
        </p:txBody>
      </p:sp>
      <p:sp>
        <p:nvSpPr>
          <p:cNvPr id="79" name="ovl_s18_n_sp"/>
          <p:cNvSpPr/>
          <p:nvPr/>
        </p:nvSpPr>
        <p:spPr>
          <a:xfrm>
            <a:off x="7040880" y="4949190"/>
            <a:ext cx="1234440" cy="749808"/>
          </a:xfrm>
          <a:prstGeom prst="roundRect">
            <a:avLst>
              <a:gd name="adj" fmla="val 7317"/>
            </a:avLst>
          </a:prstGeom>
          <a:solidFill>
            <a:srgbClr val="FFFFFF"/>
          </a:solidFill>
          <a:ln w="9525">
            <a:solidFill>
              <a:srgbClr val="767676"/>
            </a:solidFill>
            <a:prstDash val="solid"/>
          </a:ln>
        </p:spPr>
      </p:sp>
      <p:sp>
        <p:nvSpPr>
          <p:cNvPr id="80" name="ovl_s18_nt_sp"/>
          <p:cNvSpPr txBox="1"/>
          <p:nvPr/>
        </p:nvSpPr>
        <p:spPr>
          <a:xfrm>
            <a:off x="7077456" y="4976622"/>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S&amp;P</a:t>
            </a:r>
            <a:endParaRPr lang="en-US" sz="1000" dirty="0"/>
          </a:p>
        </p:txBody>
      </p:sp>
      <p:sp>
        <p:nvSpPr>
          <p:cNvPr id="81" name="ovl_s18_ns_sp"/>
          <p:cNvSpPr txBox="1"/>
          <p:nvPr/>
        </p:nvSpPr>
        <p:spPr>
          <a:xfrm>
            <a:off x="7086600" y="518236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FOCF 黒字を要求</a:t>
            </a:r>
            <a:endParaRPr lang="en-US" sz="850" dirty="0"/>
          </a:p>
        </p:txBody>
      </p:sp>
      <p:sp>
        <p:nvSpPr>
          <p:cNvPr id="82" name="ovl_s18_lab0"/>
          <p:cNvSpPr txBox="1"/>
          <p:nvPr/>
        </p:nvSpPr>
        <p:spPr>
          <a:xfrm>
            <a:off x="1728216" y="2000250"/>
            <a:ext cx="826008" cy="347472"/>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a:p>
            <a:pPr algn="ctr" indent="0" marL="0">
              <a:buNone/>
            </a:pPr>
            <a:r>
              <a:rPr lang="en-US" sz="850" dirty="0">
                <a:solidFill>
                  <a:srgbClr val="0E4D33"/>
                </a:solidFill>
                <a:latin typeface="Meiryo UI" pitchFamily="34" charset="0"/>
                <a:ea typeface="Meiryo UI" pitchFamily="34" charset="-122"/>
                <a:cs typeface="Meiryo UI" pitchFamily="34" charset="-120"/>
              </a:rPr>
              <a:t>購読料</a:t>
            </a:r>
            <a:endParaRPr lang="en-US" sz="850" dirty="0"/>
          </a:p>
        </p:txBody>
      </p:sp>
      <p:sp>
        <p:nvSpPr>
          <p:cNvPr id="83" name="ovl_s18_num1"/>
          <p:cNvSpPr/>
          <p:nvPr/>
        </p:nvSpPr>
        <p:spPr>
          <a:xfrm>
            <a:off x="4247388" y="2256282"/>
            <a:ext cx="237744" cy="237744"/>
          </a:xfrm>
          <a:prstGeom prst="ellipse">
            <a:avLst/>
          </a:prstGeom>
          <a:solidFill>
            <a:srgbClr val="0E4D33"/>
          </a:solidFill>
          <a:ln w="12700">
            <a:solidFill>
              <a:srgbClr val="FFFFFF"/>
            </a:solidFill>
            <a:prstDash val="solid"/>
          </a:ln>
        </p:spPr>
      </p:sp>
      <p:sp>
        <p:nvSpPr>
          <p:cNvPr id="84" name="ovl_s18_numt1"/>
          <p:cNvSpPr txBox="1"/>
          <p:nvPr/>
        </p:nvSpPr>
        <p:spPr>
          <a:xfrm>
            <a:off x="42473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5" name="ovl_s18_lab2"/>
          <p:cNvSpPr txBox="1"/>
          <p:nvPr/>
        </p:nvSpPr>
        <p:spPr>
          <a:xfrm>
            <a:off x="1835696" y="312496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② </a:t>
            </a:r>
            <a:r>
              <a:rPr lang="en-US" sz="850" dirty="0">
                <a:solidFill>
                  <a:srgbClr val="0E4D33"/>
                </a:solidFill>
                <a:latin typeface="Meiryo UI" pitchFamily="34" charset="0"/>
                <a:ea typeface="Meiryo UI" pitchFamily="34" charset="-122"/>
                <a:cs typeface="Meiryo UI" pitchFamily="34" charset="-120"/>
              </a:rPr>
              <a:t>前払い</a:t>
            </a:r>
            <a:endParaRPr lang="en-US" sz="850" dirty="0"/>
          </a:p>
        </p:txBody>
      </p:sp>
      <p:sp>
        <p:nvSpPr>
          <p:cNvPr id="86" name="ovl_s18_num3"/>
          <p:cNvSpPr/>
          <p:nvPr/>
        </p:nvSpPr>
        <p:spPr>
          <a:xfrm>
            <a:off x="4247388" y="3239262"/>
            <a:ext cx="237744" cy="237744"/>
          </a:xfrm>
          <a:prstGeom prst="ellipse">
            <a:avLst/>
          </a:prstGeom>
          <a:solidFill>
            <a:srgbClr val="0E4D33"/>
          </a:solidFill>
          <a:ln w="12700">
            <a:solidFill>
              <a:srgbClr val="FFFFFF"/>
            </a:solidFill>
            <a:prstDash val="solid"/>
          </a:ln>
        </p:spPr>
      </p:sp>
      <p:sp>
        <p:nvSpPr>
          <p:cNvPr id="87" name="ovl_s18_numt3"/>
          <p:cNvSpPr txBox="1"/>
          <p:nvPr/>
        </p:nvSpPr>
        <p:spPr>
          <a:xfrm>
            <a:off x="42473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8" name="ovl_s18_lab4"/>
          <p:cNvSpPr txBox="1"/>
          <p:nvPr/>
        </p:nvSpPr>
        <p:spPr>
          <a:xfrm>
            <a:off x="171911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建屋を賃貸</a:t>
            </a:r>
            <a:endParaRPr lang="en-US" sz="850" dirty="0"/>
          </a:p>
        </p:txBody>
      </p:sp>
      <p:sp>
        <p:nvSpPr>
          <p:cNvPr id="89" name="ovl_s18_lab6"/>
          <p:cNvSpPr txBox="1"/>
          <p:nvPr/>
        </p:nvSpPr>
        <p:spPr>
          <a:xfrm>
            <a:off x="1719110" y="509092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社債・株式</a:t>
            </a:r>
            <a:endParaRPr lang="en-US" sz="850" dirty="0"/>
          </a:p>
        </p:txBody>
      </p:sp>
      <p:sp>
        <p:nvSpPr>
          <p:cNvPr id="90" name="ovl_s18_lab7"/>
          <p:cNvSpPr txBox="1"/>
          <p:nvPr/>
        </p:nvSpPr>
        <p:spPr>
          <a:xfrm>
            <a:off x="3961638" y="509092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不足を埋める</a:t>
            </a:r>
            <a:endParaRPr lang="en-US" sz="850" dirty="0"/>
          </a:p>
        </p:txBody>
      </p:sp>
      <p:sp>
        <p:nvSpPr>
          <p:cNvPr id="91" name="ovl_s18_lab8"/>
          <p:cNvSpPr txBox="1"/>
          <p:nvPr/>
        </p:nvSpPr>
        <p:spPr>
          <a:xfrm>
            <a:off x="6364472" y="2141982"/>
            <a:ext cx="453657"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GPU 代</a:t>
            </a:r>
            <a:endParaRPr lang="en-US" sz="850" dirty="0"/>
          </a:p>
        </p:txBody>
      </p:sp>
      <p:sp>
        <p:nvSpPr>
          <p:cNvPr id="92" name="ovl_s18_lab9"/>
          <p:cNvSpPr txBox="1"/>
          <p:nvPr/>
        </p:nvSpPr>
        <p:spPr>
          <a:xfrm>
            <a:off x="6143244" y="4949190"/>
            <a:ext cx="896112"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⑤ </a:t>
            </a:r>
            <a:r>
              <a:rPr lang="en-US" sz="850" dirty="0">
                <a:solidFill>
                  <a:srgbClr val="767676"/>
                </a:solidFill>
                <a:latin typeface="Meiryo UI" pitchFamily="34" charset="0"/>
                <a:ea typeface="Meiryo UI" pitchFamily="34" charset="-122"/>
                <a:cs typeface="Meiryo UI" pitchFamily="34" charset="-120"/>
              </a:rPr>
              <a:t>格付けの条件</a:t>
            </a:r>
            <a:endParaRPr lang="en-US" sz="850" dirty="0"/>
          </a:p>
        </p:txBody>
      </p:sp>
      <p:sp>
        <p:nvSpPr>
          <p:cNvPr id="93" name="ovl_s18_glab0"/>
          <p:cNvSpPr txBox="1"/>
          <p:nvPr/>
        </p:nvSpPr>
        <p:spPr>
          <a:xfrm>
            <a:off x="2618232" y="1828800"/>
            <a:ext cx="5527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資金の源</a:t>
            </a:r>
            <a:endParaRPr lang="en-US" sz="800" dirty="0"/>
          </a:p>
        </p:txBody>
      </p:sp>
      <p:sp>
        <p:nvSpPr>
          <p:cNvPr id="94" name="ovl_s18_glab1"/>
          <p:cNvSpPr txBox="1"/>
          <p:nvPr/>
        </p:nvSpPr>
        <p:spPr>
          <a:xfrm>
            <a:off x="4843272" y="1828800"/>
            <a:ext cx="7559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使い道と結果</a:t>
            </a:r>
            <a:endParaRPr lang="en-US" sz="800" dirty="0"/>
          </a:p>
        </p:txBody>
      </p:sp>
      <p:sp>
        <p:nvSpPr>
          <p:cNvPr id="95" name="ovl_s18_leg0"/>
          <p:cNvSpPr/>
          <p:nvPr/>
        </p:nvSpPr>
        <p:spPr>
          <a:xfrm>
            <a:off x="457200" y="5971032"/>
            <a:ext cx="365760" cy="914"/>
          </a:xfrm>
          <a:prstGeom prst="line">
            <a:avLst/>
          </a:prstGeom>
          <a:noFill/>
          <a:ln w="22225">
            <a:solidFill>
              <a:srgbClr val="0E4D33"/>
            </a:solidFill>
            <a:prstDash val="solid"/>
            <a:tailEnd type="triangle"/>
          </a:ln>
        </p:spPr>
      </p:sp>
      <p:sp>
        <p:nvSpPr>
          <p:cNvPr id="96" name="ovl_s18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7" name="ovl_s18_leg1"/>
          <p:cNvSpPr/>
          <p:nvPr/>
        </p:nvSpPr>
        <p:spPr>
          <a:xfrm>
            <a:off x="1874520" y="5971032"/>
            <a:ext cx="365760" cy="914"/>
          </a:xfrm>
          <a:prstGeom prst="line">
            <a:avLst/>
          </a:prstGeom>
          <a:noFill/>
          <a:ln w="19050">
            <a:solidFill>
              <a:srgbClr val="1BA1A6"/>
            </a:solidFill>
            <a:prstDash val="solid"/>
            <a:tailEnd type="triangle"/>
          </a:ln>
        </p:spPr>
      </p:sp>
      <p:sp>
        <p:nvSpPr>
          <p:cNvPr id="98" name="ovl_s18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9" name="ovl_s18_leg2"/>
          <p:cNvSpPr/>
          <p:nvPr/>
        </p:nvSpPr>
        <p:spPr>
          <a:xfrm>
            <a:off x="3291840" y="5971032"/>
            <a:ext cx="365760" cy="914"/>
          </a:xfrm>
          <a:prstGeom prst="line">
            <a:avLst/>
          </a:prstGeom>
          <a:noFill/>
          <a:ln w="12700">
            <a:solidFill>
              <a:srgbClr val="767676"/>
            </a:solidFill>
            <a:prstDash val="sysDash"/>
            <a:tailEnd type="triangle"/>
          </a:ln>
        </p:spPr>
      </p:sp>
      <p:sp>
        <p:nvSpPr>
          <p:cNvPr id="100" name="ovl_s18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1" name="ovl_s18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3" name="mech"/>
          <p:cNvSpPr txBox="1"/>
          <p:nvPr/>
        </p:nvSpPr>
        <p:spPr>
          <a:xfrm>
            <a:off x="8458200" y="1810512"/>
            <a:ext cx="3276295" cy="2790952"/>
          </a:xfrm>
          <a:prstGeom prst="rect">
            <a:avLst/>
          </a:prstGeom>
          <a:noFill/>
          <a:ln/>
        </p:spPr>
        <p:txBody>
          <a:bodyPr wrap="square" lIns="381" tIns="381" rIns="381" bIns="381" rtlCol="0" anchor="t"/>
          <a:lstStyle/>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① </a:t>
            </a:r>
            <a:r>
              <a:rPr lang="en-US" sz="1050" dirty="0">
                <a:solidFill>
                  <a:srgbClr val="333333"/>
                </a:solidFill>
                <a:latin typeface="Meiryo UI" pitchFamily="34" charset="0"/>
                <a:ea typeface="Meiryo UI" pitchFamily="34" charset="-122"/>
                <a:cs typeface="Meiryo UI" pitchFamily="34" charset="-120"/>
              </a:rPr>
              <a:t>コアの利益(税引後 230 億ドル)が capex の自己資金の柱になる</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② </a:t>
            </a:r>
            <a:r>
              <a:rPr lang="en-US" sz="1050" dirty="0">
                <a:solidFill>
                  <a:srgbClr val="333333"/>
                </a:solidFill>
                <a:latin typeface="Meiryo UI" pitchFamily="34" charset="0"/>
                <a:ea typeface="Meiryo UI" pitchFamily="34" charset="-122"/>
                <a:cs typeface="Meiryo UI" pitchFamily="34" charset="-120"/>
              </a:rPr>
              <a:t>AI 研究所が GPU 代の約 24% を前払いし、前受収益は 1 年で倍増(154 → 308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③ </a:t>
            </a:r>
            <a:r>
              <a:rPr lang="en-US" sz="1050" dirty="0">
                <a:solidFill>
                  <a:srgbClr val="333333"/>
                </a:solidFill>
                <a:latin typeface="Meiryo UI" pitchFamily="34" charset="0"/>
                <a:ea typeface="Meiryo UI" pitchFamily="34" charset="-122"/>
                <a:cs typeface="Meiryo UI" pitchFamily="34" charset="-120"/>
              </a:rPr>
              <a:t>建屋と電力は開発事業者が資金を出し、Oracle は 15〜19 年の賃料で借りる(未開始 2,880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④ </a:t>
            </a:r>
            <a:r>
              <a:rPr lang="en-US" sz="1050" dirty="0">
                <a:solidFill>
                  <a:srgbClr val="333333"/>
                </a:solidFill>
                <a:latin typeface="Meiryo UI" pitchFamily="34" charset="0"/>
                <a:ea typeface="Meiryo UI" pitchFamily="34" charset="-122"/>
                <a:cs typeface="Meiryo UI" pitchFamily="34" charset="-120"/>
              </a:rPr>
              <a:t>残りは社債・優先株・ATM で調達(ATM 200 億ドルは Q1 で完了)。</a:t>
            </a:r>
            <a:br/>
            <a:r>
              <a:rPr lang="en-US" sz="1050" dirty="0">
                <a:solidFill>
                  <a:srgbClr val="333333"/>
                </a:solidFill>
                <a:latin typeface="Meiryo UI" pitchFamily="34" charset="0"/>
                <a:ea typeface="Meiryo UI" pitchFamily="34" charset="-122"/>
                <a:cs typeface="Meiryo UI" pitchFamily="34" charset="-120"/>
              </a:rPr>
              <a:t>追加は 200 億ドルが上限。</a:t>
            </a:r>
            <a:br/>
            <a:r>
              <a:rPr lang="en-US" sz="1050" dirty="0">
                <a:solidFill>
                  <a:srgbClr val="333333"/>
                </a:solidFill>
                <a:latin typeface="Meiryo UI" pitchFamily="34" charset="0"/>
                <a:ea typeface="Meiryo UI" pitchFamily="34" charset="-122"/>
                <a:cs typeface="Meiryo UI" pitchFamily="34" charset="-120"/>
              </a:rPr>
              <a:t>全社 FCF はエンジンで FY28 にほぼ均衡、</a:t>
            </a:r>
            <a:br/>
            <a:r>
              <a:rPr lang="en-US" sz="1050" dirty="0">
                <a:solidFill>
                  <a:srgbClr val="333333"/>
                </a:solidFill>
                <a:latin typeface="Meiryo UI" pitchFamily="34" charset="0"/>
                <a:ea typeface="Meiryo UI" pitchFamily="34" charset="-122"/>
                <a:cs typeface="Meiryo UI" pitchFamily="34" charset="-120"/>
              </a:rPr>
              <a:t>FY29 に 721 億ドル</a:t>
            </a:r>
            <a:endParaRPr lang="en-US" sz="1050" dirty="0"/>
          </a:p>
          <a:p>
            <a:pPr indent="0" marL="0">
              <a:spcAft>
                <a:spcPts val="500"/>
              </a:spcAft>
              <a:buNone/>
            </a:pPr>
            <a:r>
              <a:rPr lang="en-US" sz="1050" b="1" dirty="0">
                <a:solidFill>
                  <a:srgbClr val="197A56"/>
                </a:solidFill>
                <a:latin typeface="Meiryo UI" pitchFamily="34" charset="0"/>
                <a:ea typeface="Meiryo UI" pitchFamily="34" charset="-122"/>
                <a:cs typeface="Meiryo UI" pitchFamily="34" charset="-120"/>
              </a:rPr>
              <a:t>⑤ </a:t>
            </a:r>
            <a:r>
              <a:rPr lang="en-US" sz="1050" dirty="0">
                <a:solidFill>
                  <a:srgbClr val="333333"/>
                </a:solidFill>
                <a:latin typeface="Meiryo UI" pitchFamily="34" charset="0"/>
                <a:ea typeface="Meiryo UI" pitchFamily="34" charset="-122"/>
                <a:cs typeface="Meiryo UI" pitchFamily="34" charset="-120"/>
              </a:rPr>
              <a:t>S&amp;P は FY29 までの FOCF 黒字化を、格付け維持の条件にする。</a:t>
            </a:r>
            <a:br/>
            <a:r>
              <a:rPr lang="en-US" sz="1050" dirty="0">
                <a:solidFill>
                  <a:srgbClr val="333333"/>
                </a:solidFill>
                <a:latin typeface="Meiryo UI" pitchFamily="34" charset="0"/>
                <a:ea typeface="Meiryo UI" pitchFamily="34" charset="-122"/>
                <a:cs typeface="Meiryo UI" pitchFamily="34" charset="-120"/>
              </a:rPr>
              <a:t>S&amp;P とコンセンサスは FY29 に黒字</a:t>
            </a:r>
            <a:endParaRPr lang="en-US" sz="1050" dirty="0"/>
          </a:p>
        </p:txBody>
      </p:sp>
      <p:sp>
        <p:nvSpPr>
          <p:cNvPr id="104" name="ovl_takeaway_bg"/>
          <p:cNvSpPr/>
          <p:nvPr/>
        </p:nvSpPr>
        <p:spPr>
          <a:xfrm>
            <a:off x="8458200" y="4674616"/>
            <a:ext cx="3276295" cy="750824"/>
          </a:xfrm>
          <a:prstGeom prst="rect">
            <a:avLst/>
          </a:prstGeom>
          <a:solidFill>
            <a:srgbClr val="EAF4EE"/>
          </a:solidFill>
          <a:ln w="12700">
            <a:solidFill>
              <a:srgbClr val="EAF4EE"/>
            </a:solidFill>
            <a:prstDash val="solid"/>
          </a:ln>
        </p:spPr>
      </p:sp>
      <p:sp>
        <p:nvSpPr>
          <p:cNvPr id="105" name="takeaway"/>
          <p:cNvSpPr txBox="1"/>
          <p:nvPr/>
        </p:nvSpPr>
        <p:spPr>
          <a:xfrm>
            <a:off x="8567928" y="4747768"/>
            <a:ext cx="3056839" cy="60452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コアの現金は潤沢で、投資の多くは</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外部化されている。ただし自己資金で</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賄えない期間が FY29 まで続くため B</a:t>
            </a:r>
            <a:endParaRPr lang="en-US" sz="1000" dirty="0"/>
          </a:p>
        </p:txBody>
      </p:sp>
      <p:sp>
        <p:nvSpPr>
          <p:cNvPr id="10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前払いの比率が 30% を超え、FCF の黒字化が FY28 下期に確認されれば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FY29 の FCF が赤字のまま</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BB+ に格下げされれば C</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3-1 稼ぐ力(条件1〜3)(3/3)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777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777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技術の AI 転用(条件3)</a:t>
            </a:r>
            <a:endParaRPr lang="en-US" sz="1000" dirty="0"/>
          </a:p>
        </p:txBody>
      </p:sp>
      <p:sp>
        <p:nvSpPr>
          <p:cNvPr id="14" name="hdr_why"/>
          <p:cNvSpPr txBox="1"/>
          <p:nvPr/>
        </p:nvSpPr>
        <p:spPr>
          <a:xfrm>
            <a:off x="2681224" y="356616"/>
            <a:ext cx="90532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既存の技術と顧客が AI 事業で成果を生んでいれば、新規参入より有利に伸びる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とネットワークの技術が OCI(+121%)と Database@(+353%)に</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転用され、増収の主因になった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既存の資産 → 転用の経路 → 新しい収益 ← 顧客。①〜④ は右と対応。数値は Q1 FY27</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会社開示(Q1 FY27)、research3/W6_database_at.md、research3/W8_aws_vs_commodity.md、report/r3_sections_5w1h_f20.md §2-0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26</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条件3</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既存の資産</a:t>
            </a:r>
            <a:endParaRPr lang="en-US" sz="950" dirty="0"/>
          </a:p>
        </p:txBody>
      </p:sp>
      <p:sp>
        <p:nvSpPr>
          <p:cNvPr id="25" name="bg_lane1"/>
          <p:cNvSpPr/>
          <p:nvPr/>
        </p:nvSpPr>
        <p:spPr>
          <a:xfrm>
            <a:off x="2542032" y="1517904"/>
            <a:ext cx="3739896" cy="4315968"/>
          </a:xfrm>
          <a:prstGeom prst="rect">
            <a:avLst/>
          </a:prstGeom>
          <a:solidFill>
            <a:srgbClr val="EAF4EE"/>
          </a:solidFill>
          <a:ln w="12700">
            <a:solidFill>
              <a:srgbClr val="EAF4EE"/>
            </a:solidFill>
            <a:prstDash val="solid"/>
          </a:ln>
        </p:spPr>
      </p:sp>
      <p:sp>
        <p:nvSpPr>
          <p:cNvPr id="26" name="bg_laneh1"/>
          <p:cNvSpPr/>
          <p:nvPr/>
        </p:nvSpPr>
        <p:spPr>
          <a:xfrm>
            <a:off x="2542032" y="1517904"/>
            <a:ext cx="3739896" cy="274320"/>
          </a:xfrm>
          <a:prstGeom prst="rect">
            <a:avLst/>
          </a:prstGeom>
          <a:solidFill>
            <a:srgbClr val="197A56"/>
          </a:solidFill>
          <a:ln w="12700">
            <a:solidFill>
              <a:srgbClr val="197A56"/>
            </a:solidFill>
            <a:prstDash val="solid"/>
          </a:ln>
        </p:spPr>
      </p:sp>
      <p:sp>
        <p:nvSpPr>
          <p:cNvPr id="27" name="bg_lanet1"/>
          <p:cNvSpPr txBox="1"/>
          <p:nvPr/>
        </p:nvSpPr>
        <p:spPr>
          <a:xfrm>
            <a:off x="2542032" y="1517904"/>
            <a:ext cx="37398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の転用と成果</a:t>
            </a:r>
            <a:endParaRPr lang="en-US" sz="950" dirty="0"/>
          </a:p>
        </p:txBody>
      </p:sp>
      <p:sp>
        <p:nvSpPr>
          <p:cNvPr id="28" name="bg_lane2"/>
          <p:cNvSpPr/>
          <p:nvPr/>
        </p:nvSpPr>
        <p:spPr>
          <a:xfrm>
            <a:off x="7022592" y="1517904"/>
            <a:ext cx="1362456" cy="4315968"/>
          </a:xfrm>
          <a:prstGeom prst="rect">
            <a:avLst/>
          </a:prstGeom>
          <a:solidFill>
            <a:srgbClr val="F2F2F2"/>
          </a:solidFill>
          <a:ln w="12700">
            <a:solidFill>
              <a:srgbClr val="F2F2F2"/>
            </a:solidFill>
            <a:prstDash val="solid"/>
          </a:ln>
        </p:spPr>
      </p:sp>
      <p:sp>
        <p:nvSpPr>
          <p:cNvPr id="29" name="bg_laneh2"/>
          <p:cNvSpPr/>
          <p:nvPr/>
        </p:nvSpPr>
        <p:spPr>
          <a:xfrm>
            <a:off x="7022592" y="1517904"/>
            <a:ext cx="1362456" cy="274320"/>
          </a:xfrm>
          <a:prstGeom prst="rect">
            <a:avLst/>
          </a:prstGeom>
          <a:solidFill>
            <a:srgbClr val="D9D9D9"/>
          </a:solidFill>
          <a:ln w="12700">
            <a:solidFill>
              <a:srgbClr val="D9D9D9"/>
            </a:solidFill>
            <a:prstDash val="solid"/>
          </a:ln>
        </p:spPr>
      </p:sp>
      <p:sp>
        <p:nvSpPr>
          <p:cNvPr id="30" name="bg_lanet2"/>
          <p:cNvSpPr txBox="1"/>
          <p:nvPr/>
        </p:nvSpPr>
        <p:spPr>
          <a:xfrm>
            <a:off x="7022592" y="1517904"/>
            <a:ext cx="13624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a:t>
            </a:r>
            <a:endParaRPr lang="en-US" sz="950" dirty="0"/>
          </a:p>
        </p:txBody>
      </p:sp>
      <p:sp>
        <p:nvSpPr>
          <p:cNvPr id="31" name="ovl_grp0"/>
          <p:cNvSpPr/>
          <p:nvPr/>
        </p:nvSpPr>
        <p:spPr>
          <a:xfrm>
            <a:off x="258775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2" name="ovl_grp1"/>
          <p:cNvSpPr/>
          <p:nvPr/>
        </p:nvSpPr>
        <p:spPr>
          <a:xfrm>
            <a:off x="4828032" y="1911096"/>
            <a:ext cx="1408176" cy="3877056"/>
          </a:xfrm>
          <a:prstGeom prst="roundRect">
            <a:avLst>
              <a:gd name="adj" fmla="val 3896"/>
            </a:avLst>
          </a:prstGeom>
          <a:solidFill>
            <a:srgbClr val="FFFFFF">
              <a:alpha val="0"/>
            </a:srgbClr>
          </a:solidFill>
          <a:ln w="12700">
            <a:solidFill>
              <a:srgbClr val="197A56"/>
            </a:solidFill>
            <a:prstDash val="dash"/>
          </a:ln>
        </p:spPr>
      </p:sp>
      <p:sp>
        <p:nvSpPr>
          <p:cNvPr id="33" name="ovl_s19_e0_0"/>
          <p:cNvSpPr/>
          <p:nvPr/>
        </p:nvSpPr>
        <p:spPr>
          <a:xfrm>
            <a:off x="1691640" y="2538984"/>
            <a:ext cx="960120" cy="914"/>
          </a:xfrm>
          <a:prstGeom prst="line">
            <a:avLst/>
          </a:prstGeom>
          <a:noFill/>
          <a:ln w="19050">
            <a:solidFill>
              <a:srgbClr val="1BA1A6"/>
            </a:solidFill>
            <a:prstDash val="solid"/>
            <a:tailEnd type="triangle"/>
          </a:ln>
        </p:spPr>
      </p:sp>
      <p:sp>
        <p:nvSpPr>
          <p:cNvPr id="34" name="ovl_s19_e1_0"/>
          <p:cNvSpPr/>
          <p:nvPr/>
        </p:nvSpPr>
        <p:spPr>
          <a:xfrm>
            <a:off x="1691640" y="3849624"/>
            <a:ext cx="960120" cy="914"/>
          </a:xfrm>
          <a:prstGeom prst="line">
            <a:avLst/>
          </a:prstGeom>
          <a:noFill/>
          <a:ln w="19050">
            <a:solidFill>
              <a:srgbClr val="1BA1A6"/>
            </a:solidFill>
            <a:prstDash val="solid"/>
            <a:tailEnd type="triangle"/>
          </a:ln>
        </p:spPr>
      </p:sp>
      <p:sp>
        <p:nvSpPr>
          <p:cNvPr id="35" name="ovl_s19_e2_0"/>
          <p:cNvSpPr/>
          <p:nvPr/>
        </p:nvSpPr>
        <p:spPr>
          <a:xfrm>
            <a:off x="1691640" y="5160264"/>
            <a:ext cx="960120" cy="914"/>
          </a:xfrm>
          <a:prstGeom prst="line">
            <a:avLst/>
          </a:prstGeom>
          <a:noFill/>
          <a:ln w="19050">
            <a:solidFill>
              <a:srgbClr val="1BA1A6"/>
            </a:solidFill>
            <a:prstDash val="solid"/>
            <a:tailEnd type="triangle"/>
          </a:ln>
        </p:spPr>
      </p:sp>
      <p:sp>
        <p:nvSpPr>
          <p:cNvPr id="36" name="ovl_s19_e3_0"/>
          <p:cNvSpPr/>
          <p:nvPr/>
        </p:nvSpPr>
        <p:spPr>
          <a:xfrm>
            <a:off x="3931920" y="2538984"/>
            <a:ext cx="960120" cy="914"/>
          </a:xfrm>
          <a:prstGeom prst="line">
            <a:avLst/>
          </a:prstGeom>
          <a:noFill/>
          <a:ln w="22225">
            <a:solidFill>
              <a:srgbClr val="0E4D33"/>
            </a:solidFill>
            <a:prstDash val="solid"/>
            <a:tailEnd type="triangle"/>
          </a:ln>
        </p:spPr>
      </p:sp>
      <p:sp>
        <p:nvSpPr>
          <p:cNvPr id="37" name="ovl_s19_e4_0"/>
          <p:cNvSpPr/>
          <p:nvPr/>
        </p:nvSpPr>
        <p:spPr>
          <a:xfrm>
            <a:off x="3931920" y="3849624"/>
            <a:ext cx="960120" cy="914"/>
          </a:xfrm>
          <a:prstGeom prst="line">
            <a:avLst/>
          </a:prstGeom>
          <a:noFill/>
          <a:ln w="22225">
            <a:solidFill>
              <a:srgbClr val="0E4D33"/>
            </a:solidFill>
            <a:prstDash val="solid"/>
            <a:tailEnd type="triangle"/>
          </a:ln>
        </p:spPr>
      </p:sp>
      <p:sp>
        <p:nvSpPr>
          <p:cNvPr id="38" name="ovl_s19_e5_0"/>
          <p:cNvSpPr/>
          <p:nvPr/>
        </p:nvSpPr>
        <p:spPr>
          <a:xfrm>
            <a:off x="3931920" y="5160264"/>
            <a:ext cx="960120" cy="914"/>
          </a:xfrm>
          <a:prstGeom prst="line">
            <a:avLst/>
          </a:prstGeom>
          <a:noFill/>
          <a:ln w="22225">
            <a:solidFill>
              <a:srgbClr val="0E4D33"/>
            </a:solidFill>
            <a:prstDash val="solid"/>
            <a:tailEnd type="triangle"/>
          </a:ln>
        </p:spPr>
      </p:sp>
      <p:sp>
        <p:nvSpPr>
          <p:cNvPr id="39" name="ovl_s19_e6_0"/>
          <p:cNvSpPr/>
          <p:nvPr/>
        </p:nvSpPr>
        <p:spPr>
          <a:xfrm flipH="1">
            <a:off x="6172200" y="2538984"/>
            <a:ext cx="960120" cy="914"/>
          </a:xfrm>
          <a:prstGeom prst="line">
            <a:avLst/>
          </a:prstGeom>
          <a:noFill/>
          <a:ln w="22225">
            <a:solidFill>
              <a:srgbClr val="0E4D33"/>
            </a:solidFill>
            <a:prstDash val="solid"/>
            <a:tailEnd type="triangle"/>
          </a:ln>
        </p:spPr>
      </p:sp>
      <p:sp>
        <p:nvSpPr>
          <p:cNvPr id="40" name="ovl_s19_e7_0"/>
          <p:cNvSpPr/>
          <p:nvPr/>
        </p:nvSpPr>
        <p:spPr>
          <a:xfrm flipH="1">
            <a:off x="6172200" y="3849624"/>
            <a:ext cx="960120" cy="914"/>
          </a:xfrm>
          <a:prstGeom prst="line">
            <a:avLst/>
          </a:prstGeom>
          <a:noFill/>
          <a:ln w="22225">
            <a:solidFill>
              <a:srgbClr val="0E4D33"/>
            </a:solidFill>
            <a:prstDash val="solid"/>
            <a:tailEnd type="triangle"/>
          </a:ln>
        </p:spPr>
      </p:sp>
      <p:sp>
        <p:nvSpPr>
          <p:cNvPr id="41" name="ovl_s19_e8_0"/>
          <p:cNvSpPr/>
          <p:nvPr/>
        </p:nvSpPr>
        <p:spPr>
          <a:xfrm flipH="1">
            <a:off x="6172200" y="5160264"/>
            <a:ext cx="960120" cy="914"/>
          </a:xfrm>
          <a:prstGeom prst="line">
            <a:avLst/>
          </a:prstGeom>
          <a:noFill/>
          <a:ln w="22225">
            <a:solidFill>
              <a:srgbClr val="0E4D33"/>
            </a:solidFill>
            <a:prstDash val="solid"/>
            <a:tailEnd type="triangle"/>
          </a:ln>
        </p:spPr>
      </p:sp>
      <p:sp>
        <p:nvSpPr>
          <p:cNvPr id="42" name="ovl_s19_n_dbt"/>
          <p:cNvSpPr/>
          <p:nvPr/>
        </p:nvSpPr>
        <p:spPr>
          <a:xfrm>
            <a:off x="457200" y="2136648"/>
            <a:ext cx="1234440" cy="804672"/>
          </a:xfrm>
          <a:prstGeom prst="roundRect">
            <a:avLst>
              <a:gd name="adj" fmla="val 6818"/>
            </a:avLst>
          </a:prstGeom>
          <a:solidFill>
            <a:srgbClr val="EAF4EE"/>
          </a:solidFill>
          <a:ln w="9525">
            <a:solidFill>
              <a:srgbClr val="86C99B"/>
            </a:solidFill>
            <a:prstDash val="solid"/>
          </a:ln>
        </p:spPr>
      </p:sp>
      <p:sp>
        <p:nvSpPr>
          <p:cNvPr id="43" name="ovl_s19_nt_dbt"/>
          <p:cNvSpPr txBox="1"/>
          <p:nvPr/>
        </p:nvSpPr>
        <p:spPr>
          <a:xfrm>
            <a:off x="493776" y="216408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Database</a:t>
            </a:r>
            <a:endParaRPr lang="en-US" sz="1000" dirty="0"/>
          </a:p>
        </p:txBody>
      </p:sp>
      <p:sp>
        <p:nvSpPr>
          <p:cNvPr id="44" name="ovl_s19_ns_dbt"/>
          <p:cNvSpPr txBox="1"/>
          <p:nvPr/>
        </p:nvSpPr>
        <p:spPr>
          <a:xfrm>
            <a:off x="502920" y="236982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Autonomous</a:t>
            </a:r>
            <a:endParaRPr lang="en-US" sz="850" dirty="0"/>
          </a:p>
        </p:txBody>
      </p:sp>
      <p:sp>
        <p:nvSpPr>
          <p:cNvPr id="45" name="ovl_s19_n_net"/>
          <p:cNvSpPr/>
          <p:nvPr/>
        </p:nvSpPr>
        <p:spPr>
          <a:xfrm>
            <a:off x="457200" y="3447288"/>
            <a:ext cx="1234440" cy="804672"/>
          </a:xfrm>
          <a:prstGeom prst="roundRect">
            <a:avLst>
              <a:gd name="adj" fmla="val 6818"/>
            </a:avLst>
          </a:prstGeom>
          <a:solidFill>
            <a:srgbClr val="EAF4EE"/>
          </a:solidFill>
          <a:ln w="9525">
            <a:solidFill>
              <a:srgbClr val="86C99B"/>
            </a:solidFill>
            <a:prstDash val="solid"/>
          </a:ln>
        </p:spPr>
      </p:sp>
      <p:sp>
        <p:nvSpPr>
          <p:cNvPr id="46" name="ovl_s19_nt_net"/>
          <p:cNvSpPr txBox="1"/>
          <p:nvPr/>
        </p:nvSpPr>
        <p:spPr>
          <a:xfrm>
            <a:off x="493776" y="3474720"/>
            <a:ext cx="116128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RDMA ネットワーク</a:t>
            </a:r>
            <a:endParaRPr lang="en-US" sz="900" dirty="0"/>
          </a:p>
        </p:txBody>
      </p:sp>
      <p:sp>
        <p:nvSpPr>
          <p:cNvPr id="47" name="ovl_s19_ns_net"/>
          <p:cNvSpPr txBox="1"/>
          <p:nvPr/>
        </p:nvSpPr>
        <p:spPr>
          <a:xfrm>
            <a:off x="502920" y="368046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Exadata 由来の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低遅延の網</a:t>
            </a:r>
            <a:endParaRPr lang="en-US" sz="850" dirty="0"/>
          </a:p>
        </p:txBody>
      </p:sp>
      <p:sp>
        <p:nvSpPr>
          <p:cNvPr id="48" name="ovl_s19_n_data"/>
          <p:cNvSpPr/>
          <p:nvPr/>
        </p:nvSpPr>
        <p:spPr>
          <a:xfrm>
            <a:off x="457200" y="4757928"/>
            <a:ext cx="1234440" cy="804672"/>
          </a:xfrm>
          <a:prstGeom prst="roundRect">
            <a:avLst>
              <a:gd name="adj" fmla="val 6818"/>
            </a:avLst>
          </a:prstGeom>
          <a:solidFill>
            <a:srgbClr val="EAF4EE"/>
          </a:solidFill>
          <a:ln w="9525">
            <a:solidFill>
              <a:srgbClr val="86C99B"/>
            </a:solidFill>
            <a:prstDash val="solid"/>
          </a:ln>
        </p:spPr>
      </p:sp>
      <p:sp>
        <p:nvSpPr>
          <p:cNvPr id="49" name="ovl_s19_nt_data"/>
          <p:cNvSpPr txBox="1"/>
          <p:nvPr/>
        </p:nvSpPr>
        <p:spPr>
          <a:xfrm>
            <a:off x="493776" y="4785360"/>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既存顧客のデータ</a:t>
            </a:r>
            <a:endParaRPr lang="en-US" sz="1000" dirty="0"/>
          </a:p>
        </p:txBody>
      </p:sp>
      <p:sp>
        <p:nvSpPr>
          <p:cNvPr id="50" name="ovl_s19_ns_data"/>
          <p:cNvSpPr txBox="1"/>
          <p:nvPr/>
        </p:nvSpPr>
        <p:spPr>
          <a:xfrm>
            <a:off x="502920" y="4991100"/>
            <a:ext cx="114300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内の基幹データ</a:t>
            </a:r>
            <a:endParaRPr lang="en-US" sz="850" dirty="0"/>
          </a:p>
        </p:txBody>
      </p:sp>
      <p:sp>
        <p:nvSpPr>
          <p:cNvPr id="51" name="ovl_s19_n_dbat"/>
          <p:cNvSpPr/>
          <p:nvPr/>
        </p:nvSpPr>
        <p:spPr>
          <a:xfrm>
            <a:off x="2651760" y="2136648"/>
            <a:ext cx="1280160" cy="804672"/>
          </a:xfrm>
          <a:prstGeom prst="roundRect">
            <a:avLst>
              <a:gd name="adj" fmla="val 6818"/>
            </a:avLst>
          </a:prstGeom>
          <a:solidFill>
            <a:srgbClr val="FFFFFF"/>
          </a:solidFill>
          <a:ln w="19050">
            <a:solidFill>
              <a:srgbClr val="197A56"/>
            </a:solidFill>
            <a:prstDash val="solid"/>
          </a:ln>
        </p:spPr>
      </p:sp>
      <p:sp>
        <p:nvSpPr>
          <p:cNvPr id="52" name="ovl_s19_nt_dbat"/>
          <p:cNvSpPr txBox="1"/>
          <p:nvPr/>
        </p:nvSpPr>
        <p:spPr>
          <a:xfrm>
            <a:off x="2688336" y="216408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a:t>
            </a:r>
            <a:endParaRPr lang="en-US" sz="1000" dirty="0"/>
          </a:p>
        </p:txBody>
      </p:sp>
      <p:sp>
        <p:nvSpPr>
          <p:cNvPr id="53" name="ovl_s19_ns_dbat"/>
          <p:cNvSpPr txBox="1"/>
          <p:nvPr/>
        </p:nvSpPr>
        <p:spPr>
          <a:xfrm>
            <a:off x="2697480" y="236982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他社の DC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Exadata を設置</a:t>
            </a:r>
            <a:endParaRPr lang="en-US" sz="850" dirty="0"/>
          </a:p>
        </p:txBody>
      </p:sp>
      <p:sp>
        <p:nvSpPr>
          <p:cNvPr id="54" name="ovl_s19_n_cluster"/>
          <p:cNvSpPr/>
          <p:nvPr/>
        </p:nvSpPr>
        <p:spPr>
          <a:xfrm>
            <a:off x="2651760" y="3447288"/>
            <a:ext cx="1280160" cy="804672"/>
          </a:xfrm>
          <a:prstGeom prst="roundRect">
            <a:avLst>
              <a:gd name="adj" fmla="val 6818"/>
            </a:avLst>
          </a:prstGeom>
          <a:solidFill>
            <a:srgbClr val="FFFFFF"/>
          </a:solidFill>
          <a:ln w="19050">
            <a:solidFill>
              <a:srgbClr val="197A56"/>
            </a:solidFill>
            <a:prstDash val="solid"/>
          </a:ln>
        </p:spPr>
      </p:sp>
      <p:sp>
        <p:nvSpPr>
          <p:cNvPr id="55" name="ovl_s19_nt_cluster"/>
          <p:cNvSpPr txBox="1"/>
          <p:nvPr/>
        </p:nvSpPr>
        <p:spPr>
          <a:xfrm>
            <a:off x="2688336" y="347472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56" name="ovl_s19_ns_cluster"/>
          <p:cNvSpPr txBox="1"/>
          <p:nvPr/>
        </p:nvSpPr>
        <p:spPr>
          <a:xfrm>
            <a:off x="2697480" y="368046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RDMA で GPU 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大規模につなぐ</a:t>
            </a:r>
            <a:endParaRPr lang="en-US" sz="850" dirty="0"/>
          </a:p>
        </p:txBody>
      </p:sp>
      <p:sp>
        <p:nvSpPr>
          <p:cNvPr id="57" name="ovl_s19_n_aidb"/>
          <p:cNvSpPr/>
          <p:nvPr/>
        </p:nvSpPr>
        <p:spPr>
          <a:xfrm>
            <a:off x="2651760" y="4757928"/>
            <a:ext cx="1280160" cy="804672"/>
          </a:xfrm>
          <a:prstGeom prst="roundRect">
            <a:avLst>
              <a:gd name="adj" fmla="val 6818"/>
            </a:avLst>
          </a:prstGeom>
          <a:solidFill>
            <a:srgbClr val="FFFFFF"/>
          </a:solidFill>
          <a:ln w="19050">
            <a:solidFill>
              <a:srgbClr val="197A56"/>
            </a:solidFill>
            <a:prstDash val="solid"/>
          </a:ln>
        </p:spPr>
      </p:sp>
      <p:sp>
        <p:nvSpPr>
          <p:cNvPr id="58" name="ovl_s19_nt_aidb"/>
          <p:cNvSpPr txBox="1"/>
          <p:nvPr/>
        </p:nvSpPr>
        <p:spPr>
          <a:xfrm>
            <a:off x="268833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Database 26ai</a:t>
            </a:r>
            <a:endParaRPr lang="en-US" sz="1000" dirty="0"/>
          </a:p>
        </p:txBody>
      </p:sp>
      <p:sp>
        <p:nvSpPr>
          <p:cNvPr id="59" name="ovl_s19_ns_aidb"/>
          <p:cNvSpPr txBox="1"/>
          <p:nvPr/>
        </p:nvSpPr>
        <p:spPr>
          <a:xfrm>
            <a:off x="269748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にベクトル検索・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エージェントを内蔵</a:t>
            </a:r>
            <a:endParaRPr lang="en-US" sz="850" dirty="0"/>
          </a:p>
        </p:txBody>
      </p:sp>
      <p:sp>
        <p:nvSpPr>
          <p:cNvPr id="60" name="ovl_s19_n_rev1"/>
          <p:cNvSpPr/>
          <p:nvPr/>
        </p:nvSpPr>
        <p:spPr>
          <a:xfrm>
            <a:off x="4892040" y="2136648"/>
            <a:ext cx="1280160" cy="804672"/>
          </a:xfrm>
          <a:prstGeom prst="roundRect">
            <a:avLst>
              <a:gd name="adj" fmla="val 6818"/>
            </a:avLst>
          </a:prstGeom>
          <a:solidFill>
            <a:srgbClr val="197A56"/>
          </a:solidFill>
          <a:ln w="9525">
            <a:solidFill>
              <a:srgbClr val="197A56"/>
            </a:solidFill>
            <a:prstDash val="solid"/>
          </a:ln>
        </p:spPr>
      </p:sp>
      <p:sp>
        <p:nvSpPr>
          <p:cNvPr id="61" name="ovl_s19_nt_rev1"/>
          <p:cNvSpPr txBox="1"/>
          <p:nvPr/>
        </p:nvSpPr>
        <p:spPr>
          <a:xfrm>
            <a:off x="4928616" y="21640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マルチクラウド DB</a:t>
            </a:r>
            <a:endParaRPr lang="en-US" sz="1000" dirty="0"/>
          </a:p>
        </p:txBody>
      </p:sp>
      <p:sp>
        <p:nvSpPr>
          <p:cNvPr id="62" name="ovl_s19_ns_rev1"/>
          <p:cNvSpPr txBox="1"/>
          <p:nvPr/>
        </p:nvSpPr>
        <p:spPr>
          <a:xfrm>
            <a:off x="4937760" y="236982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+353%</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 +180%</a:t>
            </a:r>
            <a:endParaRPr lang="en-US" sz="850" dirty="0"/>
          </a:p>
        </p:txBody>
      </p:sp>
      <p:sp>
        <p:nvSpPr>
          <p:cNvPr id="63" name="ovl_s19_n_rev2"/>
          <p:cNvSpPr/>
          <p:nvPr/>
        </p:nvSpPr>
        <p:spPr>
          <a:xfrm>
            <a:off x="4892040" y="3447288"/>
            <a:ext cx="1280160" cy="804672"/>
          </a:xfrm>
          <a:prstGeom prst="roundRect">
            <a:avLst>
              <a:gd name="adj" fmla="val 6818"/>
            </a:avLst>
          </a:prstGeom>
          <a:solidFill>
            <a:srgbClr val="197A56"/>
          </a:solidFill>
          <a:ln w="9525">
            <a:solidFill>
              <a:srgbClr val="197A56"/>
            </a:solidFill>
            <a:prstDash val="solid"/>
          </a:ln>
        </p:spPr>
      </p:sp>
      <p:sp>
        <p:nvSpPr>
          <p:cNvPr id="64" name="ovl_s19_nt_rev2"/>
          <p:cNvSpPr txBox="1"/>
          <p:nvPr/>
        </p:nvSpPr>
        <p:spPr>
          <a:xfrm>
            <a:off x="4928616" y="347472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t>
            </a:r>
            <a:endParaRPr lang="en-US" sz="1000" dirty="0"/>
          </a:p>
        </p:txBody>
      </p:sp>
      <p:sp>
        <p:nvSpPr>
          <p:cNvPr id="65" name="ovl_s19_ns_rev2"/>
          <p:cNvSpPr txBox="1"/>
          <p:nvPr/>
        </p:nvSpPr>
        <p:spPr>
          <a:xfrm>
            <a:off x="4937760" y="3680460"/>
            <a:ext cx="1188720" cy="54406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売上 74 億ドル</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(+121%)</a:t>
            </a:r>
            <a:endParaRPr lang="en-US" sz="850" dirty="0"/>
          </a:p>
        </p:txBody>
      </p:sp>
      <p:sp>
        <p:nvSpPr>
          <p:cNvPr id="66" name="ovl_s19_n_rev3"/>
          <p:cNvSpPr/>
          <p:nvPr/>
        </p:nvSpPr>
        <p:spPr>
          <a:xfrm>
            <a:off x="4892040" y="4757928"/>
            <a:ext cx="1280160" cy="804672"/>
          </a:xfrm>
          <a:prstGeom prst="roundRect">
            <a:avLst>
              <a:gd name="adj" fmla="val 6818"/>
            </a:avLst>
          </a:prstGeom>
          <a:solidFill>
            <a:srgbClr val="FFFFFF"/>
          </a:solidFill>
          <a:ln w="9525">
            <a:solidFill>
              <a:srgbClr val="767676"/>
            </a:solidFill>
            <a:prstDash val="solid"/>
          </a:ln>
        </p:spPr>
      </p:sp>
      <p:sp>
        <p:nvSpPr>
          <p:cNvPr id="67" name="ovl_s19_nt_rev3"/>
          <p:cNvSpPr txBox="1"/>
          <p:nvPr/>
        </p:nvSpPr>
        <p:spPr>
          <a:xfrm>
            <a:off x="4928616" y="478536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 AI 推論</a:t>
            </a:r>
            <a:endParaRPr lang="en-US" sz="1000" dirty="0"/>
          </a:p>
        </p:txBody>
      </p:sp>
      <p:sp>
        <p:nvSpPr>
          <p:cNvPr id="68" name="ovl_s19_ns_rev3"/>
          <p:cNvSpPr txBox="1"/>
          <p:nvPr/>
        </p:nvSpPr>
        <p:spPr>
          <a:xfrm>
            <a:off x="4937760" y="4991100"/>
            <a:ext cx="118872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売上は非開示</a:t>
            </a:r>
            <a:endParaRPr lang="en-US" sz="850" dirty="0"/>
          </a:p>
        </p:txBody>
      </p:sp>
      <p:sp>
        <p:nvSpPr>
          <p:cNvPr id="69" name="ovl_s19_n_hyper"/>
          <p:cNvSpPr/>
          <p:nvPr/>
        </p:nvSpPr>
        <p:spPr>
          <a:xfrm>
            <a:off x="7132320" y="2136648"/>
            <a:ext cx="1143000" cy="804672"/>
          </a:xfrm>
          <a:prstGeom prst="roundRect">
            <a:avLst>
              <a:gd name="adj" fmla="val 6818"/>
            </a:avLst>
          </a:prstGeom>
          <a:solidFill>
            <a:srgbClr val="FFFFFF"/>
          </a:solidFill>
          <a:ln w="9525">
            <a:solidFill>
              <a:srgbClr val="767676"/>
            </a:solidFill>
            <a:prstDash val="solid"/>
          </a:ln>
        </p:spPr>
      </p:sp>
      <p:sp>
        <p:nvSpPr>
          <p:cNvPr id="70" name="ovl_s19_nt_hyper"/>
          <p:cNvSpPr txBox="1"/>
          <p:nvPr/>
        </p:nvSpPr>
        <p:spPr>
          <a:xfrm>
            <a:off x="7168896" y="2164080"/>
            <a:ext cx="10698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AWS・Azure・</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Google</a:t>
            </a:r>
            <a:endParaRPr lang="en-US" sz="900" dirty="0"/>
          </a:p>
        </p:txBody>
      </p:sp>
      <p:sp>
        <p:nvSpPr>
          <p:cNvPr id="71" name="ovl_s19_ns_hyper"/>
          <p:cNvSpPr txBox="1"/>
          <p:nvPr/>
        </p:nvSpPr>
        <p:spPr>
          <a:xfrm>
            <a:off x="7178040" y="2520696"/>
            <a:ext cx="1051560" cy="39319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72" name="ovl_s19_n_lab"/>
          <p:cNvSpPr/>
          <p:nvPr/>
        </p:nvSpPr>
        <p:spPr>
          <a:xfrm>
            <a:off x="7132320" y="3447288"/>
            <a:ext cx="1143000" cy="804672"/>
          </a:xfrm>
          <a:prstGeom prst="roundRect">
            <a:avLst>
              <a:gd name="adj" fmla="val 6818"/>
            </a:avLst>
          </a:prstGeom>
          <a:solidFill>
            <a:srgbClr val="FFFFFF"/>
          </a:solidFill>
          <a:ln w="9525">
            <a:solidFill>
              <a:srgbClr val="767676"/>
            </a:solidFill>
            <a:prstDash val="solid"/>
          </a:ln>
        </p:spPr>
      </p:sp>
      <p:sp>
        <p:nvSpPr>
          <p:cNvPr id="73" name="ovl_s19_nt_lab"/>
          <p:cNvSpPr txBox="1"/>
          <p:nvPr/>
        </p:nvSpPr>
        <p:spPr>
          <a:xfrm>
            <a:off x="7168896" y="347472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74" name="ovl_s19_ns_lab"/>
          <p:cNvSpPr txBox="1"/>
          <p:nvPr/>
        </p:nvSpPr>
        <p:spPr>
          <a:xfrm>
            <a:off x="7178040" y="368046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学習・推論</a:t>
            </a:r>
            <a:endParaRPr lang="en-US" sz="850" dirty="0"/>
          </a:p>
        </p:txBody>
      </p:sp>
      <p:sp>
        <p:nvSpPr>
          <p:cNvPr id="75" name="ovl_s19_n_ent"/>
          <p:cNvSpPr/>
          <p:nvPr/>
        </p:nvSpPr>
        <p:spPr>
          <a:xfrm>
            <a:off x="7132320" y="4757928"/>
            <a:ext cx="1143000" cy="804672"/>
          </a:xfrm>
          <a:prstGeom prst="roundRect">
            <a:avLst>
              <a:gd name="adj" fmla="val 6818"/>
            </a:avLst>
          </a:prstGeom>
          <a:solidFill>
            <a:srgbClr val="FFFFFF"/>
          </a:solidFill>
          <a:ln w="9525">
            <a:solidFill>
              <a:srgbClr val="767676"/>
            </a:solidFill>
            <a:prstDash val="solid"/>
          </a:ln>
        </p:spPr>
      </p:sp>
      <p:sp>
        <p:nvSpPr>
          <p:cNvPr id="76" name="ovl_s19_nt_ent"/>
          <p:cNvSpPr txBox="1"/>
          <p:nvPr/>
        </p:nvSpPr>
        <p:spPr>
          <a:xfrm>
            <a:off x="7168896" y="4785360"/>
            <a:ext cx="10698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77" name="ovl_s19_ns_ent"/>
          <p:cNvSpPr txBox="1"/>
          <p:nvPr/>
        </p:nvSpPr>
        <p:spPr>
          <a:xfrm>
            <a:off x="7178040" y="4991100"/>
            <a:ext cx="1051560" cy="54406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自社データで推論</a:t>
            </a:r>
            <a:endParaRPr lang="en-US" sz="850" dirty="0"/>
          </a:p>
        </p:txBody>
      </p:sp>
      <p:sp>
        <p:nvSpPr>
          <p:cNvPr id="78" name="ovl_s19_lab0"/>
          <p:cNvSpPr txBox="1"/>
          <p:nvPr/>
        </p:nvSpPr>
        <p:spPr>
          <a:xfrm>
            <a:off x="1714500" y="216408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そのまま提供</a:t>
            </a:r>
            <a:endParaRPr lang="en-US" sz="850" dirty="0"/>
          </a:p>
        </p:txBody>
      </p:sp>
      <p:sp>
        <p:nvSpPr>
          <p:cNvPr id="79" name="ovl_s19_lab1"/>
          <p:cNvSpPr txBox="1"/>
          <p:nvPr/>
        </p:nvSpPr>
        <p:spPr>
          <a:xfrm>
            <a:off x="1714500" y="3474720"/>
            <a:ext cx="91440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② </a:t>
            </a:r>
            <a:r>
              <a:rPr lang="en-US" sz="850" dirty="0">
                <a:solidFill>
                  <a:srgbClr val="1BA1A6"/>
                </a:solidFill>
                <a:latin typeface="Meiryo UI" pitchFamily="34" charset="0"/>
                <a:ea typeface="Meiryo UI" pitchFamily="34" charset="-122"/>
                <a:cs typeface="Meiryo UI" pitchFamily="34" charset="-120"/>
              </a:rPr>
              <a:t>GPU 間の網に</a:t>
            </a:r>
            <a:endParaRPr lang="en-US" sz="850" dirty="0"/>
          </a:p>
        </p:txBody>
      </p:sp>
      <p:sp>
        <p:nvSpPr>
          <p:cNvPr id="80" name="ovl_s19_lab2"/>
          <p:cNvSpPr txBox="1"/>
          <p:nvPr/>
        </p:nvSpPr>
        <p:spPr>
          <a:xfrm>
            <a:off x="1784566" y="4927092"/>
            <a:ext cx="77426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③ </a:t>
            </a:r>
            <a:r>
              <a:rPr lang="en-US" sz="850" dirty="0">
                <a:solidFill>
                  <a:srgbClr val="1BA1A6"/>
                </a:solidFill>
                <a:latin typeface="Meiryo UI" pitchFamily="34" charset="0"/>
                <a:ea typeface="Meiryo UI" pitchFamily="34" charset="-122"/>
                <a:cs typeface="Meiryo UI" pitchFamily="34" charset="-120"/>
              </a:rPr>
              <a:t>AI を直結</a:t>
            </a:r>
            <a:endParaRPr lang="en-US" sz="850" dirty="0"/>
          </a:p>
        </p:txBody>
      </p:sp>
      <p:sp>
        <p:nvSpPr>
          <p:cNvPr id="81" name="ovl_s19_lab6"/>
          <p:cNvSpPr txBox="1"/>
          <p:nvPr/>
        </p:nvSpPr>
        <p:spPr>
          <a:xfrm>
            <a:off x="6247638" y="230581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契約枠で購入</a:t>
            </a:r>
            <a:endParaRPr lang="en-US" sz="850" dirty="0"/>
          </a:p>
        </p:txBody>
      </p:sp>
      <p:sp>
        <p:nvSpPr>
          <p:cNvPr id="82" name="ovl_s19_lab7"/>
          <p:cNvSpPr txBox="1"/>
          <p:nvPr/>
        </p:nvSpPr>
        <p:spPr>
          <a:xfrm>
            <a:off x="6346736" y="3616452"/>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0E4D33"/>
                </a:solidFill>
                <a:latin typeface="Meiryo UI" pitchFamily="34" charset="0"/>
                <a:ea typeface="Meiryo UI" pitchFamily="34" charset="-122"/>
                <a:cs typeface="Meiryo UI" pitchFamily="34" charset="-120"/>
              </a:rPr>
              <a:t>④ </a:t>
            </a:r>
            <a:r>
              <a:rPr lang="en-US" sz="850" dirty="0">
                <a:solidFill>
                  <a:srgbClr val="0E4D33"/>
                </a:solidFill>
                <a:latin typeface="Meiryo UI" pitchFamily="34" charset="0"/>
                <a:ea typeface="Meiryo UI" pitchFamily="34" charset="-122"/>
                <a:cs typeface="Meiryo UI" pitchFamily="34" charset="-120"/>
              </a:rPr>
              <a:t>容量料</a:t>
            </a:r>
            <a:endParaRPr lang="en-US" sz="850" dirty="0"/>
          </a:p>
        </p:txBody>
      </p:sp>
      <p:sp>
        <p:nvSpPr>
          <p:cNvPr id="83" name="ovl_s19_lab8"/>
          <p:cNvSpPr txBox="1"/>
          <p:nvPr/>
        </p:nvSpPr>
        <p:spPr>
          <a:xfrm>
            <a:off x="648081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利用</a:t>
            </a:r>
            <a:endParaRPr lang="en-US" sz="850" dirty="0"/>
          </a:p>
        </p:txBody>
      </p:sp>
      <p:sp>
        <p:nvSpPr>
          <p:cNvPr id="84" name="ovl_s19_glab0"/>
          <p:cNvSpPr txBox="1"/>
          <p:nvPr/>
        </p:nvSpPr>
        <p:spPr>
          <a:xfrm>
            <a:off x="267919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転用の経路</a:t>
            </a:r>
            <a:endParaRPr lang="en-US" sz="800" dirty="0"/>
          </a:p>
        </p:txBody>
      </p:sp>
      <p:sp>
        <p:nvSpPr>
          <p:cNvPr id="85" name="ovl_s19_glab1"/>
          <p:cNvSpPr txBox="1"/>
          <p:nvPr/>
        </p:nvSpPr>
        <p:spPr>
          <a:xfrm>
            <a:off x="4919472" y="1828800"/>
            <a:ext cx="654304" cy="164592"/>
          </a:xfrm>
          <a:prstGeom prst="rect">
            <a:avLst/>
          </a:prstGeom>
          <a:solidFill>
            <a:srgbClr val="FFFFFF"/>
          </a:solidFill>
          <a:ln/>
        </p:spPr>
        <p:txBody>
          <a:bodyPr wrap="square" lIns="0" tIns="0" rIns="0" bIns="0" rtlCol="0" anchor="ctr"/>
          <a:lstStyle/>
          <a:p>
            <a:pPr algn="ctr" indent="0" marL="0">
              <a:buNone/>
            </a:pPr>
            <a:r>
              <a:rPr lang="en-US" sz="800" b="1" dirty="0">
                <a:solidFill>
                  <a:srgbClr val="197A56"/>
                </a:solidFill>
                <a:latin typeface="Meiryo UI" pitchFamily="34" charset="0"/>
                <a:ea typeface="Meiryo UI" pitchFamily="34" charset="-122"/>
                <a:cs typeface="Meiryo UI" pitchFamily="34" charset="-120"/>
              </a:rPr>
              <a:t>新しい収益</a:t>
            </a:r>
            <a:endParaRPr lang="en-US" sz="800" dirty="0"/>
          </a:p>
        </p:txBody>
      </p:sp>
      <p:sp>
        <p:nvSpPr>
          <p:cNvPr id="86" name="ovl_s19_leg0"/>
          <p:cNvSpPr/>
          <p:nvPr/>
        </p:nvSpPr>
        <p:spPr>
          <a:xfrm>
            <a:off x="457200" y="5971032"/>
            <a:ext cx="365760" cy="914"/>
          </a:xfrm>
          <a:prstGeom prst="line">
            <a:avLst/>
          </a:prstGeom>
          <a:noFill/>
          <a:ln w="22225">
            <a:solidFill>
              <a:srgbClr val="0E4D33"/>
            </a:solidFill>
            <a:prstDash val="solid"/>
            <a:tailEnd type="triangle"/>
          </a:ln>
        </p:spPr>
      </p:sp>
      <p:sp>
        <p:nvSpPr>
          <p:cNvPr id="87" name="ovl_s19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88" name="ovl_s19_leg1"/>
          <p:cNvSpPr/>
          <p:nvPr/>
        </p:nvSpPr>
        <p:spPr>
          <a:xfrm>
            <a:off x="1874520" y="5971032"/>
            <a:ext cx="365760" cy="914"/>
          </a:xfrm>
          <a:prstGeom prst="line">
            <a:avLst/>
          </a:prstGeom>
          <a:noFill/>
          <a:ln w="19050">
            <a:solidFill>
              <a:srgbClr val="1BA1A6"/>
            </a:solidFill>
            <a:prstDash val="solid"/>
            <a:tailEnd type="triangle"/>
          </a:ln>
        </p:spPr>
      </p:sp>
      <p:sp>
        <p:nvSpPr>
          <p:cNvPr id="89" name="ovl_s19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0" name="ovl_s19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1"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2" name="mech"/>
          <p:cNvSpPr txBox="1"/>
          <p:nvPr/>
        </p:nvSpPr>
        <p:spPr>
          <a:xfrm>
            <a:off x="8458200" y="1810512"/>
            <a:ext cx="3276295" cy="166827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をそのまま他社の DC に置く(Database@)。追加の開発は小さく、売上 +353%</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Exadata 由来の RDMA 網で GPU を大規模につなぎ、OCI +121% の土台になった</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26ai は DB の中に AI 検索を内蔵し、企業データの AI 需要を DB に取り込む(売上は非開示)</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ただし OCI の伸びの主因は GPU の貸し出しで、DB の転用による収益が過半ではない</a:t>
            </a:r>
            <a:endParaRPr lang="en-US" sz="1100" dirty="0"/>
          </a:p>
        </p:txBody>
      </p:sp>
      <p:sp>
        <p:nvSpPr>
          <p:cNvPr id="93"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4"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転用先が全社の増収の主因になったため A。</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主因は GPU の貸し出しで、DB 転用の収益が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過半ではないため S ではない</a:t>
            </a:r>
            <a:endParaRPr lang="en-US" sz="1000" dirty="0"/>
          </a:p>
        </p:txBody>
      </p:sp>
      <p:sp>
        <p:nvSpPr>
          <p:cNvPr id="95"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AI 容量の顧客が DB やアプリも買う証拠</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(クロスセル)が出れば S</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Database@ の伸びが 100% を割り、OCI の伸びが AI 容量だけになれば B</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3-2 経営(条件5)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経営者の能力(条件5)</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巨額の投資を任せる経営陣が、その事業を築いた経験と資本配分の規律を持つかを経歴から確かめる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CEO は OCI を設計から築いた当事者、CFO は電力インフラ企業の財務出身で、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経歴は事業に合う。ただし CEO 在任 1 年で capex は見通しを超え続けた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経歴(どこで何を築いたか)→ 現職 → 担う事業 → 結果。①〜⑤ は右と対応。経歴は報道・会社発表の要約に基づく</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research4/T7_executives.md(Oracle 発表・8-K 2025-09-22・2026-04-06、Bloomberg・Reuters ほか)、DEF 14A(報酬)、会社開示(FY26〜27 のガイダンス)</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27</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条件5</a:t>
            </a:r>
            <a:endParaRPr lang="en-US" sz="800" dirty="0"/>
          </a:p>
        </p:txBody>
      </p:sp>
      <p:sp>
        <p:nvSpPr>
          <p:cNvPr id="22" name="bg_lane0"/>
          <p:cNvSpPr/>
          <p:nvPr/>
        </p:nvSpPr>
        <p:spPr>
          <a:xfrm>
            <a:off x="347472" y="1517904"/>
            <a:ext cx="159105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経歴</a:t>
            </a:r>
            <a:endParaRPr lang="en-US" sz="950" dirty="0"/>
          </a:p>
        </p:txBody>
      </p:sp>
      <p:sp>
        <p:nvSpPr>
          <p:cNvPr id="25" name="bg_lane1"/>
          <p:cNvSpPr/>
          <p:nvPr/>
        </p:nvSpPr>
        <p:spPr>
          <a:xfrm>
            <a:off x="2557272" y="1517904"/>
            <a:ext cx="3663696" cy="4315968"/>
          </a:xfrm>
          <a:prstGeom prst="rect">
            <a:avLst/>
          </a:prstGeom>
          <a:solidFill>
            <a:srgbClr val="EAF4EE"/>
          </a:solidFill>
          <a:ln w="12700">
            <a:solidFill>
              <a:srgbClr val="EAF4EE"/>
            </a:solidFill>
            <a:prstDash val="solid"/>
          </a:ln>
        </p:spPr>
      </p:sp>
      <p:sp>
        <p:nvSpPr>
          <p:cNvPr id="26" name="bg_laneh1"/>
          <p:cNvSpPr/>
          <p:nvPr/>
        </p:nvSpPr>
        <p:spPr>
          <a:xfrm>
            <a:off x="2557272" y="1517904"/>
            <a:ext cx="3663696" cy="274320"/>
          </a:xfrm>
          <a:prstGeom prst="rect">
            <a:avLst/>
          </a:prstGeom>
          <a:solidFill>
            <a:srgbClr val="197A56"/>
          </a:solidFill>
          <a:ln w="12700">
            <a:solidFill>
              <a:srgbClr val="197A56"/>
            </a:solidFill>
            <a:prstDash val="solid"/>
          </a:ln>
        </p:spPr>
      </p:sp>
      <p:sp>
        <p:nvSpPr>
          <p:cNvPr id="27" name="bg_lanet1"/>
          <p:cNvSpPr txBox="1"/>
          <p:nvPr/>
        </p:nvSpPr>
        <p:spPr>
          <a:xfrm>
            <a:off x="2557272" y="1517904"/>
            <a:ext cx="366369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経営陣と担う事業</a:t>
            </a:r>
            <a:endParaRPr lang="en-US" sz="950" dirty="0"/>
          </a:p>
        </p:txBody>
      </p:sp>
      <p:sp>
        <p:nvSpPr>
          <p:cNvPr id="28" name="bg_lane2"/>
          <p:cNvSpPr/>
          <p:nvPr/>
        </p:nvSpPr>
        <p:spPr>
          <a:xfrm>
            <a:off x="6839712" y="1517904"/>
            <a:ext cx="1545336" cy="4315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結果</a:t>
            </a:r>
            <a:endParaRPr lang="en-US" sz="950" dirty="0"/>
          </a:p>
        </p:txBody>
      </p:sp>
      <p:sp>
        <p:nvSpPr>
          <p:cNvPr id="31" name="ovl_s21_e0_0"/>
          <p:cNvSpPr/>
          <p:nvPr/>
        </p:nvSpPr>
        <p:spPr>
          <a:xfrm>
            <a:off x="1828800" y="2375154"/>
            <a:ext cx="838200" cy="914"/>
          </a:xfrm>
          <a:prstGeom prst="line">
            <a:avLst/>
          </a:prstGeom>
          <a:noFill/>
          <a:ln w="12700">
            <a:solidFill>
              <a:srgbClr val="767676"/>
            </a:solidFill>
            <a:prstDash val="sysDash"/>
            <a:tailEnd type="triangle"/>
          </a:ln>
        </p:spPr>
      </p:sp>
      <p:sp>
        <p:nvSpPr>
          <p:cNvPr id="32" name="ovl_s21_e1_0"/>
          <p:cNvSpPr/>
          <p:nvPr/>
        </p:nvSpPr>
        <p:spPr>
          <a:xfrm>
            <a:off x="1828800" y="3358134"/>
            <a:ext cx="838200" cy="914"/>
          </a:xfrm>
          <a:prstGeom prst="line">
            <a:avLst/>
          </a:prstGeom>
          <a:noFill/>
          <a:ln w="12700">
            <a:solidFill>
              <a:srgbClr val="767676"/>
            </a:solidFill>
            <a:prstDash val="sysDash"/>
            <a:tailEnd type="triangle"/>
          </a:ln>
        </p:spPr>
      </p:sp>
      <p:sp>
        <p:nvSpPr>
          <p:cNvPr id="33" name="ovl_s21_e2_0"/>
          <p:cNvSpPr/>
          <p:nvPr/>
        </p:nvSpPr>
        <p:spPr>
          <a:xfrm>
            <a:off x="1828800" y="4341114"/>
            <a:ext cx="838200" cy="914"/>
          </a:xfrm>
          <a:prstGeom prst="line">
            <a:avLst/>
          </a:prstGeom>
          <a:noFill/>
          <a:ln w="12700">
            <a:solidFill>
              <a:srgbClr val="767676"/>
            </a:solidFill>
            <a:prstDash val="sysDash"/>
            <a:tailEnd type="triangle"/>
          </a:ln>
        </p:spPr>
      </p:sp>
      <p:sp>
        <p:nvSpPr>
          <p:cNvPr id="34" name="ovl_s21_e3_0"/>
          <p:cNvSpPr/>
          <p:nvPr/>
        </p:nvSpPr>
        <p:spPr>
          <a:xfrm>
            <a:off x="1828800" y="5324094"/>
            <a:ext cx="838200" cy="914"/>
          </a:xfrm>
          <a:prstGeom prst="line">
            <a:avLst/>
          </a:prstGeom>
          <a:noFill/>
          <a:ln w="12700">
            <a:solidFill>
              <a:srgbClr val="767676"/>
            </a:solidFill>
            <a:prstDash val="sysDash"/>
            <a:tailEnd type="triangle"/>
          </a:ln>
        </p:spPr>
      </p:sp>
      <p:sp>
        <p:nvSpPr>
          <p:cNvPr id="35" name="ovl_s21_e4_0"/>
          <p:cNvSpPr/>
          <p:nvPr/>
        </p:nvSpPr>
        <p:spPr>
          <a:xfrm>
            <a:off x="3992880" y="2375154"/>
            <a:ext cx="838200" cy="914"/>
          </a:xfrm>
          <a:prstGeom prst="line">
            <a:avLst/>
          </a:prstGeom>
          <a:noFill/>
          <a:ln w="12700">
            <a:solidFill>
              <a:srgbClr val="767676"/>
            </a:solidFill>
            <a:prstDash val="sysDash"/>
            <a:tailEnd type="triangle"/>
          </a:ln>
        </p:spPr>
      </p:sp>
      <p:sp>
        <p:nvSpPr>
          <p:cNvPr id="36" name="ovl_s21_e5_0"/>
          <p:cNvSpPr/>
          <p:nvPr/>
        </p:nvSpPr>
        <p:spPr>
          <a:xfrm>
            <a:off x="3992880" y="3358134"/>
            <a:ext cx="838200" cy="914"/>
          </a:xfrm>
          <a:prstGeom prst="line">
            <a:avLst/>
          </a:prstGeom>
          <a:noFill/>
          <a:ln w="12700">
            <a:solidFill>
              <a:srgbClr val="767676"/>
            </a:solidFill>
            <a:prstDash val="sysDash"/>
            <a:tailEnd type="triangle"/>
          </a:ln>
        </p:spPr>
      </p:sp>
      <p:sp>
        <p:nvSpPr>
          <p:cNvPr id="37" name="ovl_s21_e6_0"/>
          <p:cNvSpPr/>
          <p:nvPr/>
        </p:nvSpPr>
        <p:spPr>
          <a:xfrm>
            <a:off x="3992880" y="4341114"/>
            <a:ext cx="838200" cy="914"/>
          </a:xfrm>
          <a:prstGeom prst="line">
            <a:avLst/>
          </a:prstGeom>
          <a:noFill/>
          <a:ln w="12700">
            <a:solidFill>
              <a:srgbClr val="767676"/>
            </a:solidFill>
            <a:prstDash val="sysDash"/>
            <a:tailEnd type="triangle"/>
          </a:ln>
        </p:spPr>
      </p:sp>
      <p:sp>
        <p:nvSpPr>
          <p:cNvPr id="38" name="ovl_s21_e7_0"/>
          <p:cNvSpPr/>
          <p:nvPr/>
        </p:nvSpPr>
        <p:spPr>
          <a:xfrm>
            <a:off x="3992880" y="5324094"/>
            <a:ext cx="838200" cy="914"/>
          </a:xfrm>
          <a:prstGeom prst="line">
            <a:avLst/>
          </a:prstGeom>
          <a:noFill/>
          <a:ln w="12700">
            <a:solidFill>
              <a:srgbClr val="767676"/>
            </a:solidFill>
            <a:prstDash val="sysDash"/>
            <a:tailEnd type="triangle"/>
          </a:ln>
        </p:spPr>
      </p:sp>
      <p:sp>
        <p:nvSpPr>
          <p:cNvPr id="39" name="ovl_s21_e8_0"/>
          <p:cNvSpPr/>
          <p:nvPr/>
        </p:nvSpPr>
        <p:spPr>
          <a:xfrm>
            <a:off x="6111240" y="2375154"/>
            <a:ext cx="838200" cy="914"/>
          </a:xfrm>
          <a:prstGeom prst="line">
            <a:avLst/>
          </a:prstGeom>
          <a:noFill/>
          <a:ln w="19050">
            <a:solidFill>
              <a:srgbClr val="1BA1A6"/>
            </a:solidFill>
            <a:prstDash val="solid"/>
            <a:tailEnd type="triangle"/>
          </a:ln>
        </p:spPr>
      </p:sp>
      <p:sp>
        <p:nvSpPr>
          <p:cNvPr id="40" name="ovl_s21_e9_0"/>
          <p:cNvSpPr/>
          <p:nvPr/>
        </p:nvSpPr>
        <p:spPr>
          <a:xfrm>
            <a:off x="6111240" y="3358134"/>
            <a:ext cx="838200" cy="914"/>
          </a:xfrm>
          <a:prstGeom prst="line">
            <a:avLst/>
          </a:prstGeom>
          <a:noFill/>
          <a:ln w="15875">
            <a:solidFill>
              <a:srgbClr val="C0392B"/>
            </a:solidFill>
            <a:prstDash val="dash"/>
            <a:tailEnd type="triangle"/>
          </a:ln>
        </p:spPr>
      </p:sp>
      <p:sp>
        <p:nvSpPr>
          <p:cNvPr id="41" name="ovl_s21_e10_0"/>
          <p:cNvSpPr/>
          <p:nvPr/>
        </p:nvSpPr>
        <p:spPr>
          <a:xfrm>
            <a:off x="6111240" y="4341114"/>
            <a:ext cx="838200" cy="914"/>
          </a:xfrm>
          <a:prstGeom prst="line">
            <a:avLst/>
          </a:prstGeom>
          <a:noFill/>
          <a:ln w="15875">
            <a:solidFill>
              <a:srgbClr val="C0392B"/>
            </a:solidFill>
            <a:prstDash val="dash"/>
            <a:tailEnd type="triangle"/>
          </a:ln>
        </p:spPr>
      </p:sp>
      <p:sp>
        <p:nvSpPr>
          <p:cNvPr id="42" name="ovl_s21_e11_0"/>
          <p:cNvSpPr/>
          <p:nvPr/>
        </p:nvSpPr>
        <p:spPr>
          <a:xfrm>
            <a:off x="6111240" y="5324094"/>
            <a:ext cx="838200" cy="914"/>
          </a:xfrm>
          <a:prstGeom prst="line">
            <a:avLst/>
          </a:prstGeom>
          <a:noFill/>
          <a:ln w="15875">
            <a:solidFill>
              <a:srgbClr val="C0392B"/>
            </a:solidFill>
            <a:prstDash val="dash"/>
            <a:tailEnd type="triangle"/>
          </a:ln>
        </p:spPr>
      </p:sp>
      <p:sp>
        <p:nvSpPr>
          <p:cNvPr id="43" name="ovl_s21_n_aws"/>
          <p:cNvSpPr/>
          <p:nvPr/>
        </p:nvSpPr>
        <p:spPr>
          <a:xfrm>
            <a:off x="457200" y="2000250"/>
            <a:ext cx="1371600" cy="749808"/>
          </a:xfrm>
          <a:prstGeom prst="roundRect">
            <a:avLst>
              <a:gd name="adj" fmla="val 7317"/>
            </a:avLst>
          </a:prstGeom>
          <a:solidFill>
            <a:srgbClr val="FFFFFF"/>
          </a:solidFill>
          <a:ln w="9525">
            <a:solidFill>
              <a:srgbClr val="767676"/>
            </a:solidFill>
            <a:prstDash val="solid"/>
          </a:ln>
        </p:spPr>
      </p:sp>
      <p:sp>
        <p:nvSpPr>
          <p:cNvPr id="44" name="ovl_s21_nt_aws"/>
          <p:cNvSpPr txBox="1"/>
          <p:nvPr/>
        </p:nvSpPr>
        <p:spPr>
          <a:xfrm>
            <a:off x="493776" y="202768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AWS(〜2014)</a:t>
            </a:r>
            <a:endParaRPr lang="en-US" sz="1000" dirty="0"/>
          </a:p>
        </p:txBody>
      </p:sp>
      <p:sp>
        <p:nvSpPr>
          <p:cNvPr id="45" name="ovl_s21_ns_aws"/>
          <p:cNvSpPr txBox="1"/>
          <p:nvPr/>
        </p:nvSpPr>
        <p:spPr>
          <a:xfrm>
            <a:off x="502920" y="223342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クラウド基盤の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技術者 約 6〜7 年</a:t>
            </a:r>
            <a:endParaRPr lang="en-US" sz="850" dirty="0"/>
          </a:p>
        </p:txBody>
      </p:sp>
      <p:sp>
        <p:nvSpPr>
          <p:cNvPr id="46" name="ovl_s21_n_prim"/>
          <p:cNvSpPr/>
          <p:nvPr/>
        </p:nvSpPr>
        <p:spPr>
          <a:xfrm>
            <a:off x="457200" y="2983230"/>
            <a:ext cx="1371600" cy="749808"/>
          </a:xfrm>
          <a:prstGeom prst="roundRect">
            <a:avLst>
              <a:gd name="adj" fmla="val 7317"/>
            </a:avLst>
          </a:prstGeom>
          <a:solidFill>
            <a:srgbClr val="FFFFFF"/>
          </a:solidFill>
          <a:ln w="9525">
            <a:solidFill>
              <a:srgbClr val="767676"/>
            </a:solidFill>
            <a:prstDash val="solid"/>
          </a:ln>
        </p:spPr>
      </p:sp>
      <p:sp>
        <p:nvSpPr>
          <p:cNvPr id="47" name="ovl_s21_nt_prim"/>
          <p:cNvSpPr txBox="1"/>
          <p:nvPr/>
        </p:nvSpPr>
        <p:spPr>
          <a:xfrm>
            <a:off x="49377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Primavera(1993〜)</a:t>
            </a:r>
            <a:endParaRPr lang="en-US" sz="900" dirty="0"/>
          </a:p>
        </p:txBody>
      </p:sp>
      <p:sp>
        <p:nvSpPr>
          <p:cNvPr id="48" name="ovl_s21_ns_prim"/>
          <p:cNvSpPr txBox="1"/>
          <p:nvPr/>
        </p:nvSpPr>
        <p:spPr>
          <a:xfrm>
            <a:off x="50292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技術者 → CTO</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2008 年に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が買収</a:t>
            </a:r>
            <a:endParaRPr lang="en-US" sz="850" dirty="0"/>
          </a:p>
        </p:txBody>
      </p:sp>
      <p:sp>
        <p:nvSpPr>
          <p:cNvPr id="49" name="ovl_s21_n_aes"/>
          <p:cNvSpPr/>
          <p:nvPr/>
        </p:nvSpPr>
        <p:spPr>
          <a:xfrm>
            <a:off x="457200" y="3966210"/>
            <a:ext cx="1371600" cy="749808"/>
          </a:xfrm>
          <a:prstGeom prst="roundRect">
            <a:avLst>
              <a:gd name="adj" fmla="val 7317"/>
            </a:avLst>
          </a:prstGeom>
          <a:solidFill>
            <a:srgbClr val="EAF4EE"/>
          </a:solidFill>
          <a:ln w="9525">
            <a:solidFill>
              <a:srgbClr val="86C99B"/>
            </a:solidFill>
            <a:prstDash val="solid"/>
          </a:ln>
        </p:spPr>
      </p:sp>
      <p:sp>
        <p:nvSpPr>
          <p:cNvPr id="50" name="ovl_s21_nt_aes"/>
          <p:cNvSpPr txBox="1"/>
          <p:nvPr/>
        </p:nvSpPr>
        <p:spPr>
          <a:xfrm>
            <a:off x="49377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AES・Schneider</a:t>
            </a:r>
            <a:endParaRPr lang="en-US" sz="1000" dirty="0"/>
          </a:p>
        </p:txBody>
      </p:sp>
      <p:sp>
        <p:nvSpPr>
          <p:cNvPr id="51" name="ovl_s21_ns_aes"/>
          <p:cNvSpPr txBox="1"/>
          <p:nvPr/>
        </p:nvSpPr>
        <p:spPr>
          <a:xfrm>
            <a:off x="50292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電力・インフラ企業の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財務 約 12 年・約 10 年</a:t>
            </a:r>
            <a:endParaRPr lang="en-US" sz="850" dirty="0"/>
          </a:p>
        </p:txBody>
      </p:sp>
      <p:sp>
        <p:nvSpPr>
          <p:cNvPr id="52" name="ovl_s21_n_found"/>
          <p:cNvSpPr/>
          <p:nvPr/>
        </p:nvSpPr>
        <p:spPr>
          <a:xfrm>
            <a:off x="457200" y="4949190"/>
            <a:ext cx="1371600" cy="749808"/>
          </a:xfrm>
          <a:prstGeom prst="roundRect">
            <a:avLst>
              <a:gd name="adj" fmla="val 7317"/>
            </a:avLst>
          </a:prstGeom>
          <a:solidFill>
            <a:srgbClr val="FFFFFF"/>
          </a:solidFill>
          <a:ln w="9525">
            <a:solidFill>
              <a:srgbClr val="767676"/>
            </a:solidFill>
            <a:prstDash val="solid"/>
          </a:ln>
        </p:spPr>
      </p:sp>
      <p:sp>
        <p:nvSpPr>
          <p:cNvPr id="53" name="ovl_s21_nt_found"/>
          <p:cNvSpPr txBox="1"/>
          <p:nvPr/>
        </p:nvSpPr>
        <p:spPr>
          <a:xfrm>
            <a:off x="493776" y="497662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創業(1977)</a:t>
            </a:r>
            <a:endParaRPr lang="en-US" sz="1000" dirty="0"/>
          </a:p>
        </p:txBody>
      </p:sp>
      <p:sp>
        <p:nvSpPr>
          <p:cNvPr id="54" name="ovl_s21_ns_found"/>
          <p:cNvSpPr txBox="1"/>
          <p:nvPr/>
        </p:nvSpPr>
        <p:spPr>
          <a:xfrm>
            <a:off x="50292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事業を起こす</a:t>
            </a:r>
            <a:endParaRPr lang="en-US" sz="850" dirty="0"/>
          </a:p>
        </p:txBody>
      </p:sp>
      <p:sp>
        <p:nvSpPr>
          <p:cNvPr id="55" name="ovl_s21_n_mag"/>
          <p:cNvSpPr/>
          <p:nvPr/>
        </p:nvSpPr>
        <p:spPr>
          <a:xfrm>
            <a:off x="2667000" y="2000250"/>
            <a:ext cx="1325880" cy="749808"/>
          </a:xfrm>
          <a:prstGeom prst="roundRect">
            <a:avLst>
              <a:gd name="adj" fmla="val 7317"/>
            </a:avLst>
          </a:prstGeom>
          <a:solidFill>
            <a:srgbClr val="197A56"/>
          </a:solidFill>
          <a:ln w="9525">
            <a:solidFill>
              <a:srgbClr val="197A56"/>
            </a:solidFill>
            <a:prstDash val="solid"/>
          </a:ln>
        </p:spPr>
      </p:sp>
      <p:sp>
        <p:nvSpPr>
          <p:cNvPr id="56" name="ovl_s21_nt_mag"/>
          <p:cNvSpPr txBox="1"/>
          <p:nvPr/>
        </p:nvSpPr>
        <p:spPr>
          <a:xfrm>
            <a:off x="2703576" y="202768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Magouyrk</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57" name="ovl_s21_ns_mag"/>
          <p:cNvSpPr txBox="1"/>
          <p:nvPr/>
        </p:nvSpPr>
        <p:spPr>
          <a:xfrm>
            <a:off x="2712720" y="238429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2014 年に OCI を創設</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Gen2 を設計・統括</a:t>
            </a:r>
            <a:endParaRPr lang="en-US" sz="850" dirty="0"/>
          </a:p>
        </p:txBody>
      </p:sp>
      <p:sp>
        <p:nvSpPr>
          <p:cNvPr id="58" name="ovl_s21_n_sic"/>
          <p:cNvSpPr/>
          <p:nvPr/>
        </p:nvSpPr>
        <p:spPr>
          <a:xfrm>
            <a:off x="2667000" y="2983230"/>
            <a:ext cx="1325880" cy="749808"/>
          </a:xfrm>
          <a:prstGeom prst="roundRect">
            <a:avLst>
              <a:gd name="adj" fmla="val 7317"/>
            </a:avLst>
          </a:prstGeom>
          <a:solidFill>
            <a:srgbClr val="197A56"/>
          </a:solidFill>
          <a:ln w="9525">
            <a:solidFill>
              <a:srgbClr val="197A56"/>
            </a:solidFill>
            <a:prstDash val="solid"/>
          </a:ln>
        </p:spPr>
      </p:sp>
      <p:sp>
        <p:nvSpPr>
          <p:cNvPr id="59" name="ovl_s21_nt_sic"/>
          <p:cNvSpPr txBox="1"/>
          <p:nvPr/>
        </p:nvSpPr>
        <p:spPr>
          <a:xfrm>
            <a:off x="2703576" y="301066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Sicilia</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(共同 CEO)</a:t>
            </a:r>
            <a:endParaRPr lang="en-US" sz="900" dirty="0"/>
          </a:p>
        </p:txBody>
      </p:sp>
      <p:sp>
        <p:nvSpPr>
          <p:cNvPr id="60" name="ovl_s21_ns_sic"/>
          <p:cNvSpPr txBox="1"/>
          <p:nvPr/>
        </p:nvSpPr>
        <p:spPr>
          <a:xfrm>
            <a:off x="2712720" y="336727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業種別事業を統括</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アプリを AI で再構築</a:t>
            </a:r>
            <a:endParaRPr lang="en-US" sz="850" dirty="0"/>
          </a:p>
        </p:txBody>
      </p:sp>
      <p:sp>
        <p:nvSpPr>
          <p:cNvPr id="61" name="ovl_s21_n_max"/>
          <p:cNvSpPr/>
          <p:nvPr/>
        </p:nvSpPr>
        <p:spPr>
          <a:xfrm>
            <a:off x="2667000" y="3966210"/>
            <a:ext cx="1325880" cy="749808"/>
          </a:xfrm>
          <a:prstGeom prst="roundRect">
            <a:avLst>
              <a:gd name="adj" fmla="val 7317"/>
            </a:avLst>
          </a:prstGeom>
          <a:solidFill>
            <a:srgbClr val="197A56"/>
          </a:solidFill>
          <a:ln w="9525">
            <a:solidFill>
              <a:srgbClr val="197A56"/>
            </a:solidFill>
            <a:prstDash val="solid"/>
          </a:ln>
        </p:spPr>
      </p:sp>
      <p:sp>
        <p:nvSpPr>
          <p:cNvPr id="62" name="ovl_s21_nt_max"/>
          <p:cNvSpPr txBox="1"/>
          <p:nvPr/>
        </p:nvSpPr>
        <p:spPr>
          <a:xfrm>
            <a:off x="2703576" y="3993642"/>
            <a:ext cx="1252728" cy="3566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Maxson</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(CFO)</a:t>
            </a:r>
            <a:endParaRPr lang="en-US" sz="900" dirty="0"/>
          </a:p>
        </p:txBody>
      </p:sp>
      <p:sp>
        <p:nvSpPr>
          <p:cNvPr id="63" name="ovl_s21_ns_max"/>
          <p:cNvSpPr txBox="1"/>
          <p:nvPr/>
        </p:nvSpPr>
        <p:spPr>
          <a:xfrm>
            <a:off x="2712720" y="4350258"/>
            <a:ext cx="1234440" cy="33832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2026-04 就任</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CEO に報告</a:t>
            </a:r>
            <a:endParaRPr lang="en-US" sz="850" dirty="0"/>
          </a:p>
        </p:txBody>
      </p:sp>
      <p:sp>
        <p:nvSpPr>
          <p:cNvPr id="64" name="ovl_s21_n_ell"/>
          <p:cNvSpPr/>
          <p:nvPr/>
        </p:nvSpPr>
        <p:spPr>
          <a:xfrm>
            <a:off x="2667000" y="4949190"/>
            <a:ext cx="1325880" cy="749808"/>
          </a:xfrm>
          <a:prstGeom prst="roundRect">
            <a:avLst>
              <a:gd name="adj" fmla="val 7317"/>
            </a:avLst>
          </a:prstGeom>
          <a:solidFill>
            <a:srgbClr val="FFFFFF"/>
          </a:solidFill>
          <a:ln w="9525">
            <a:solidFill>
              <a:srgbClr val="767676"/>
            </a:solidFill>
            <a:prstDash val="solid"/>
          </a:ln>
        </p:spPr>
      </p:sp>
      <p:sp>
        <p:nvSpPr>
          <p:cNvPr id="65" name="ovl_s21_nt_ell"/>
          <p:cNvSpPr txBox="1"/>
          <p:nvPr/>
        </p:nvSpPr>
        <p:spPr>
          <a:xfrm>
            <a:off x="270357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Ellison</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(会長・CTO)</a:t>
            </a:r>
            <a:endParaRPr lang="en-US" sz="900" dirty="0"/>
          </a:p>
        </p:txBody>
      </p:sp>
      <p:sp>
        <p:nvSpPr>
          <p:cNvPr id="66" name="ovl_s21_ns_ell"/>
          <p:cNvSpPr txBox="1"/>
          <p:nvPr/>
        </p:nvSpPr>
        <p:spPr>
          <a:xfrm>
            <a:off x="271272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株式 約 41%</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キーパーソン</a:t>
            </a:r>
            <a:endParaRPr lang="en-US" sz="850" dirty="0"/>
          </a:p>
        </p:txBody>
      </p:sp>
      <p:sp>
        <p:nvSpPr>
          <p:cNvPr id="67" name="ovl_s21_n_oci"/>
          <p:cNvSpPr/>
          <p:nvPr/>
        </p:nvSpPr>
        <p:spPr>
          <a:xfrm>
            <a:off x="4831080" y="2000250"/>
            <a:ext cx="1280160" cy="749808"/>
          </a:xfrm>
          <a:prstGeom prst="roundRect">
            <a:avLst>
              <a:gd name="adj" fmla="val 7317"/>
            </a:avLst>
          </a:prstGeom>
          <a:solidFill>
            <a:srgbClr val="FFFFFF"/>
          </a:solidFill>
          <a:ln w="19050">
            <a:solidFill>
              <a:srgbClr val="197A56"/>
            </a:solidFill>
            <a:prstDash val="solid"/>
          </a:ln>
        </p:spPr>
      </p:sp>
      <p:sp>
        <p:nvSpPr>
          <p:cNvPr id="68" name="ovl_s21_nt_oci"/>
          <p:cNvSpPr txBox="1"/>
          <p:nvPr/>
        </p:nvSpPr>
        <p:spPr>
          <a:xfrm>
            <a:off x="4867656" y="202768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OCI・AI 容量</a:t>
            </a:r>
            <a:endParaRPr lang="en-US" sz="1000" dirty="0"/>
          </a:p>
        </p:txBody>
      </p:sp>
      <p:sp>
        <p:nvSpPr>
          <p:cNvPr id="69" name="ovl_s21_ns_oci"/>
          <p:cNvSpPr txBox="1"/>
          <p:nvPr/>
        </p:nvSpPr>
        <p:spPr>
          <a:xfrm>
            <a:off x="4876800" y="223342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IaaS +121%</a:t>
            </a:r>
            <a:endParaRPr lang="en-US" sz="850" dirty="0"/>
          </a:p>
        </p:txBody>
      </p:sp>
      <p:sp>
        <p:nvSpPr>
          <p:cNvPr id="70" name="ovl_s21_n_app"/>
          <p:cNvSpPr/>
          <p:nvPr/>
        </p:nvSpPr>
        <p:spPr>
          <a:xfrm>
            <a:off x="4831080" y="2983230"/>
            <a:ext cx="1280160" cy="749808"/>
          </a:xfrm>
          <a:prstGeom prst="roundRect">
            <a:avLst>
              <a:gd name="adj" fmla="val 7317"/>
            </a:avLst>
          </a:prstGeom>
          <a:solidFill>
            <a:srgbClr val="FFFFFF"/>
          </a:solidFill>
          <a:ln w="19050">
            <a:solidFill>
              <a:srgbClr val="197A56"/>
            </a:solidFill>
            <a:prstDash val="solid"/>
          </a:ln>
        </p:spPr>
      </p:sp>
      <p:sp>
        <p:nvSpPr>
          <p:cNvPr id="71" name="ovl_s21_nt_app"/>
          <p:cNvSpPr txBox="1"/>
          <p:nvPr/>
        </p:nvSpPr>
        <p:spPr>
          <a:xfrm>
            <a:off x="4867656" y="301066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アプリ・業種別</a:t>
            </a:r>
            <a:endParaRPr lang="en-US" sz="1000" dirty="0"/>
          </a:p>
        </p:txBody>
      </p:sp>
      <p:sp>
        <p:nvSpPr>
          <p:cNvPr id="72" name="ovl_s21_ns_app"/>
          <p:cNvSpPr txBox="1"/>
          <p:nvPr/>
        </p:nvSpPr>
        <p:spPr>
          <a:xfrm>
            <a:off x="4876800" y="321640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SaaS +10%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Oracle Health</a:t>
            </a:r>
            <a:endParaRPr lang="en-US" sz="850" dirty="0"/>
          </a:p>
        </p:txBody>
      </p:sp>
      <p:sp>
        <p:nvSpPr>
          <p:cNvPr id="73" name="ovl_s21_n_cap"/>
          <p:cNvSpPr/>
          <p:nvPr/>
        </p:nvSpPr>
        <p:spPr>
          <a:xfrm>
            <a:off x="4831080" y="3966210"/>
            <a:ext cx="1280160" cy="749808"/>
          </a:xfrm>
          <a:prstGeom prst="roundRect">
            <a:avLst>
              <a:gd name="adj" fmla="val 7317"/>
            </a:avLst>
          </a:prstGeom>
          <a:solidFill>
            <a:srgbClr val="FFFFFF"/>
          </a:solidFill>
          <a:ln w="19050">
            <a:solidFill>
              <a:srgbClr val="197A56"/>
            </a:solidFill>
            <a:prstDash val="solid"/>
          </a:ln>
        </p:spPr>
      </p:sp>
      <p:sp>
        <p:nvSpPr>
          <p:cNvPr id="74" name="ovl_s21_nt_cap"/>
          <p:cNvSpPr txBox="1"/>
          <p:nvPr/>
        </p:nvSpPr>
        <p:spPr>
          <a:xfrm>
            <a:off x="4867656" y="399364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 と資金調達</a:t>
            </a:r>
            <a:endParaRPr lang="en-US" sz="1000" dirty="0"/>
          </a:p>
        </p:txBody>
      </p:sp>
      <p:sp>
        <p:nvSpPr>
          <p:cNvPr id="75" name="ovl_s21_ns_cap"/>
          <p:cNvSpPr txBox="1"/>
          <p:nvPr/>
        </p:nvSpPr>
        <p:spPr>
          <a:xfrm>
            <a:off x="4876800" y="4199382"/>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 総額</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76" name="ovl_s21_n_pay"/>
          <p:cNvSpPr/>
          <p:nvPr/>
        </p:nvSpPr>
        <p:spPr>
          <a:xfrm>
            <a:off x="4831080" y="4949190"/>
            <a:ext cx="1280160" cy="749808"/>
          </a:xfrm>
          <a:prstGeom prst="roundRect">
            <a:avLst>
              <a:gd name="adj" fmla="val 7317"/>
            </a:avLst>
          </a:prstGeom>
          <a:solidFill>
            <a:srgbClr val="FFFFFF"/>
          </a:solidFill>
          <a:ln w="19050">
            <a:solidFill>
              <a:srgbClr val="C0392B"/>
            </a:solidFill>
            <a:prstDash val="solid"/>
          </a:ln>
        </p:spPr>
      </p:sp>
      <p:sp>
        <p:nvSpPr>
          <p:cNvPr id="77" name="ovl_s21_nt_pay"/>
          <p:cNvSpPr txBox="1"/>
          <p:nvPr/>
        </p:nvSpPr>
        <p:spPr>
          <a:xfrm>
            <a:off x="4867656" y="4976622"/>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業績連動の報酬</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(PSO)</a:t>
            </a:r>
            <a:endParaRPr lang="en-US" sz="900" dirty="0"/>
          </a:p>
        </p:txBody>
      </p:sp>
      <p:sp>
        <p:nvSpPr>
          <p:cNvPr id="78" name="ovl_s21_ns_pay"/>
          <p:cNvSpPr txBox="1"/>
          <p:nvPr/>
        </p:nvSpPr>
        <p:spPr>
          <a:xfrm>
            <a:off x="4876800" y="5333238"/>
            <a:ext cx="118872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KPI は FY28 総売上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 株指標ではない)</a:t>
            </a:r>
            <a:endParaRPr lang="en-US" sz="850" dirty="0"/>
          </a:p>
        </p:txBody>
      </p:sp>
      <p:sp>
        <p:nvSpPr>
          <p:cNvPr id="79" name="ovl_s21_n_rpo"/>
          <p:cNvSpPr/>
          <p:nvPr/>
        </p:nvSpPr>
        <p:spPr>
          <a:xfrm>
            <a:off x="6949440" y="2000250"/>
            <a:ext cx="1325880" cy="749808"/>
          </a:xfrm>
          <a:prstGeom prst="roundRect">
            <a:avLst>
              <a:gd name="adj" fmla="val 7317"/>
            </a:avLst>
          </a:prstGeom>
          <a:solidFill>
            <a:srgbClr val="EAF4EE"/>
          </a:solidFill>
          <a:ln w="9525">
            <a:solidFill>
              <a:srgbClr val="86C99B"/>
            </a:solidFill>
            <a:prstDash val="solid"/>
          </a:ln>
        </p:spPr>
      </p:sp>
      <p:sp>
        <p:nvSpPr>
          <p:cNvPr id="80" name="ovl_s21_nt_rpo"/>
          <p:cNvSpPr txBox="1"/>
          <p:nvPr/>
        </p:nvSpPr>
        <p:spPr>
          <a:xfrm>
            <a:off x="6986016" y="202768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受注残</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6,640 億ドル</a:t>
            </a:r>
            <a:endParaRPr lang="en-US" sz="900" dirty="0"/>
          </a:p>
        </p:txBody>
      </p:sp>
      <p:sp>
        <p:nvSpPr>
          <p:cNvPr id="81" name="ovl_s21_ns_rpo"/>
          <p:cNvSpPr txBox="1"/>
          <p:nvPr/>
        </p:nvSpPr>
        <p:spPr>
          <a:xfrm>
            <a:off x="6995160" y="238429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GPU 更新 +20%</a:t>
            </a:r>
            <a:endParaRPr lang="en-US" sz="850" dirty="0"/>
          </a:p>
        </p:txBody>
      </p:sp>
      <p:sp>
        <p:nvSpPr>
          <p:cNvPr id="82" name="ovl_s21_n_va"/>
          <p:cNvSpPr/>
          <p:nvPr/>
        </p:nvSpPr>
        <p:spPr>
          <a:xfrm>
            <a:off x="6949440" y="2983230"/>
            <a:ext cx="1325880" cy="749808"/>
          </a:xfrm>
          <a:prstGeom prst="roundRect">
            <a:avLst>
              <a:gd name="adj" fmla="val 7317"/>
            </a:avLst>
          </a:prstGeom>
          <a:solidFill>
            <a:srgbClr val="FFFFFF"/>
          </a:solidFill>
          <a:ln w="19050">
            <a:solidFill>
              <a:srgbClr val="C0392B"/>
            </a:solidFill>
            <a:prstDash val="solid"/>
          </a:ln>
        </p:spPr>
      </p:sp>
      <p:sp>
        <p:nvSpPr>
          <p:cNvPr id="83" name="ovl_s21_nt_va"/>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VA の電子カルテ</a:t>
            </a:r>
            <a:endParaRPr lang="en-US" sz="1000" dirty="0"/>
          </a:p>
        </p:txBody>
      </p:sp>
      <p:sp>
        <p:nvSpPr>
          <p:cNvPr id="84" name="ovl_s21_ns_va"/>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2026-03 に全国障害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上限 100 億ドルを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早期消化</a:t>
            </a:r>
            <a:endParaRPr lang="en-US" sz="850" dirty="0"/>
          </a:p>
        </p:txBody>
      </p:sp>
      <p:sp>
        <p:nvSpPr>
          <p:cNvPr id="85" name="ovl_s21_n_over"/>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6" name="ovl_s21_nt_over"/>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capex の超過</a:t>
            </a:r>
            <a:endParaRPr lang="en-US" sz="1000" dirty="0"/>
          </a:p>
        </p:txBody>
      </p:sp>
      <p:sp>
        <p:nvSpPr>
          <p:cNvPr id="87" name="ovl_s21_ns_over"/>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FY26 見通し</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350 → 500 → 実績</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557 億ドル</a:t>
            </a:r>
            <a:endParaRPr lang="en-US" sz="850" dirty="0"/>
          </a:p>
        </p:txBody>
      </p:sp>
      <p:sp>
        <p:nvSpPr>
          <p:cNvPr id="88" name="ovl_s21_n_gap"/>
          <p:cNvSpPr/>
          <p:nvPr/>
        </p:nvSpPr>
        <p:spPr>
          <a:xfrm>
            <a:off x="6949440" y="4949190"/>
            <a:ext cx="1325880" cy="749808"/>
          </a:xfrm>
          <a:prstGeom prst="roundRect">
            <a:avLst>
              <a:gd name="adj" fmla="val 7317"/>
            </a:avLst>
          </a:prstGeom>
          <a:solidFill>
            <a:srgbClr val="FFFFFF"/>
          </a:solidFill>
          <a:ln w="19050">
            <a:solidFill>
              <a:srgbClr val="C0392B"/>
            </a:solidFill>
            <a:prstDash val="solid"/>
          </a:ln>
        </p:spPr>
      </p:sp>
      <p:sp>
        <p:nvSpPr>
          <p:cNvPr id="89" name="ovl_s21_nt_gap"/>
          <p:cNvSpPr txBox="1"/>
          <p:nvPr/>
        </p:nvSpPr>
        <p:spPr>
          <a:xfrm>
            <a:off x="6986016" y="4976622"/>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1 株価値とのずれ</a:t>
            </a:r>
            <a:endParaRPr lang="en-US" sz="1000" dirty="0"/>
          </a:p>
        </p:txBody>
      </p:sp>
      <p:sp>
        <p:nvSpPr>
          <p:cNvPr id="90" name="ovl_s21_ns_gap"/>
          <p:cNvSpPr txBox="1"/>
          <p:nvPr/>
        </p:nvSpPr>
        <p:spPr>
          <a:xfrm>
            <a:off x="699516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総額の拡大に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報酬が連動</a:t>
            </a:r>
            <a:endParaRPr lang="en-US" sz="850" dirty="0"/>
          </a:p>
        </p:txBody>
      </p:sp>
      <p:sp>
        <p:nvSpPr>
          <p:cNvPr id="91" name="ovl_s21_lab0"/>
          <p:cNvSpPr txBox="1"/>
          <p:nvPr/>
        </p:nvSpPr>
        <p:spPr>
          <a:xfrm>
            <a:off x="1825790" y="214198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基盤の技術</a:t>
            </a:r>
            <a:endParaRPr lang="en-US" sz="850" dirty="0"/>
          </a:p>
        </p:txBody>
      </p:sp>
      <p:sp>
        <p:nvSpPr>
          <p:cNvPr id="92" name="ovl_s21_lab1"/>
          <p:cNvSpPr txBox="1"/>
          <p:nvPr/>
        </p:nvSpPr>
        <p:spPr>
          <a:xfrm>
            <a:off x="1973580" y="2983230"/>
            <a:ext cx="5486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業種別ソフト</a:t>
            </a:r>
            <a:endParaRPr lang="en-US" sz="850" dirty="0"/>
          </a:p>
        </p:txBody>
      </p:sp>
      <p:sp>
        <p:nvSpPr>
          <p:cNvPr id="93" name="ovl_s21_lab2"/>
          <p:cNvSpPr txBox="1"/>
          <p:nvPr/>
        </p:nvSpPr>
        <p:spPr>
          <a:xfrm>
            <a:off x="1825790" y="410794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③ </a:t>
            </a:r>
            <a:r>
              <a:rPr lang="en-US" sz="850" dirty="0">
                <a:solidFill>
                  <a:srgbClr val="767676"/>
                </a:solidFill>
                <a:latin typeface="Meiryo UI" pitchFamily="34" charset="0"/>
                <a:ea typeface="Meiryo UI" pitchFamily="34" charset="-122"/>
                <a:cs typeface="Meiryo UI" pitchFamily="34" charset="-120"/>
              </a:rPr>
              <a:t>電力の財務</a:t>
            </a:r>
            <a:endParaRPr lang="en-US" sz="850" dirty="0"/>
          </a:p>
        </p:txBody>
      </p:sp>
      <p:sp>
        <p:nvSpPr>
          <p:cNvPr id="94" name="ovl_s21_lab7"/>
          <p:cNvSpPr txBox="1"/>
          <p:nvPr/>
        </p:nvSpPr>
        <p:spPr>
          <a:xfrm>
            <a:off x="412394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取締役会</a:t>
            </a:r>
            <a:endParaRPr lang="en-US" sz="850" dirty="0"/>
          </a:p>
        </p:txBody>
      </p:sp>
      <p:sp>
        <p:nvSpPr>
          <p:cNvPr id="95" name="ovl_s21_lab8"/>
          <p:cNvSpPr txBox="1"/>
          <p:nvPr/>
        </p:nvSpPr>
        <p:spPr>
          <a:xfrm>
            <a:off x="6184011" y="214198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受注と更新</a:t>
            </a:r>
            <a:endParaRPr lang="en-US" sz="850" dirty="0"/>
          </a:p>
        </p:txBody>
      </p:sp>
      <p:sp>
        <p:nvSpPr>
          <p:cNvPr id="96" name="ovl_s21_lab9"/>
          <p:cNvSpPr txBox="1"/>
          <p:nvPr/>
        </p:nvSpPr>
        <p:spPr>
          <a:xfrm>
            <a:off x="618401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導入の遅れ</a:t>
            </a:r>
            <a:endParaRPr lang="en-US" sz="850" dirty="0"/>
          </a:p>
        </p:txBody>
      </p:sp>
      <p:sp>
        <p:nvSpPr>
          <p:cNvPr id="97" name="ovl_s21_num10"/>
          <p:cNvSpPr/>
          <p:nvPr/>
        </p:nvSpPr>
        <p:spPr>
          <a:xfrm>
            <a:off x="6411468" y="4222242"/>
            <a:ext cx="237744" cy="237744"/>
          </a:xfrm>
          <a:prstGeom prst="ellipse">
            <a:avLst/>
          </a:prstGeom>
          <a:solidFill>
            <a:srgbClr val="C0392B"/>
          </a:solidFill>
          <a:ln w="12700">
            <a:solidFill>
              <a:srgbClr val="FFFFFF"/>
            </a:solidFill>
            <a:prstDash val="solid"/>
          </a:ln>
        </p:spPr>
      </p:sp>
      <p:sp>
        <p:nvSpPr>
          <p:cNvPr id="98" name="ovl_s21_numt10"/>
          <p:cNvSpPr txBox="1"/>
          <p:nvPr/>
        </p:nvSpPr>
        <p:spPr>
          <a:xfrm>
            <a:off x="641146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99" name="ovl_s21_num11"/>
          <p:cNvSpPr/>
          <p:nvPr/>
        </p:nvSpPr>
        <p:spPr>
          <a:xfrm>
            <a:off x="6411468" y="5205222"/>
            <a:ext cx="237744" cy="237744"/>
          </a:xfrm>
          <a:prstGeom prst="ellipse">
            <a:avLst/>
          </a:prstGeom>
          <a:solidFill>
            <a:srgbClr val="C0392B"/>
          </a:solidFill>
          <a:ln w="12700">
            <a:solidFill>
              <a:srgbClr val="FFFFFF"/>
            </a:solidFill>
            <a:prstDash val="solid"/>
          </a:ln>
        </p:spPr>
      </p:sp>
      <p:sp>
        <p:nvSpPr>
          <p:cNvPr id="100" name="ovl_s21_numt11"/>
          <p:cNvSpPr txBox="1"/>
          <p:nvPr/>
        </p:nvSpPr>
        <p:spPr>
          <a:xfrm>
            <a:off x="641146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101" name="ovl_s21_leg0"/>
          <p:cNvSpPr/>
          <p:nvPr/>
        </p:nvSpPr>
        <p:spPr>
          <a:xfrm>
            <a:off x="457200" y="5971032"/>
            <a:ext cx="365760" cy="914"/>
          </a:xfrm>
          <a:prstGeom prst="line">
            <a:avLst/>
          </a:prstGeom>
          <a:noFill/>
          <a:ln w="19050">
            <a:solidFill>
              <a:srgbClr val="1BA1A6"/>
            </a:solidFill>
            <a:prstDash val="solid"/>
            <a:tailEnd type="triangle"/>
          </a:ln>
        </p:spPr>
      </p:sp>
      <p:sp>
        <p:nvSpPr>
          <p:cNvPr id="102" name="ovl_s21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103" name="ovl_s21_leg1"/>
          <p:cNvSpPr/>
          <p:nvPr/>
        </p:nvSpPr>
        <p:spPr>
          <a:xfrm>
            <a:off x="1874520" y="5971032"/>
            <a:ext cx="365760" cy="914"/>
          </a:xfrm>
          <a:prstGeom prst="line">
            <a:avLst/>
          </a:prstGeom>
          <a:noFill/>
          <a:ln w="15875">
            <a:solidFill>
              <a:srgbClr val="C0392B"/>
            </a:solidFill>
            <a:prstDash val="dash"/>
            <a:tailEnd type="triangle"/>
          </a:ln>
        </p:spPr>
      </p:sp>
      <p:sp>
        <p:nvSpPr>
          <p:cNvPr id="104" name="ovl_s21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5" name="ovl_s21_leg2"/>
          <p:cNvSpPr/>
          <p:nvPr/>
        </p:nvSpPr>
        <p:spPr>
          <a:xfrm>
            <a:off x="3291840" y="5971032"/>
            <a:ext cx="365760" cy="914"/>
          </a:xfrm>
          <a:prstGeom prst="line">
            <a:avLst/>
          </a:prstGeom>
          <a:noFill/>
          <a:ln w="12700">
            <a:solidFill>
              <a:srgbClr val="767676"/>
            </a:solidFill>
            <a:prstDash val="sysDash"/>
            <a:tailEnd type="triangle"/>
          </a:ln>
        </p:spPr>
      </p:sp>
      <p:sp>
        <p:nvSpPr>
          <p:cNvPr id="106" name="ovl_s21_legt2"/>
          <p:cNvSpPr txBox="1"/>
          <p:nvPr/>
        </p:nvSpPr>
        <p:spPr>
          <a:xfrm>
            <a:off x="371246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7" name="ovl_s21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8"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9" name="mech"/>
          <p:cNvSpPr txBox="1"/>
          <p:nvPr/>
        </p:nvSpPr>
        <p:spPr>
          <a:xfrm>
            <a:off x="8458200" y="1810512"/>
            <a:ext cx="3276295" cy="27376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Magouyrk は AWS でクラウド基盤を担い、2014 年に OCI を創設。</a:t>
            </a:r>
            <a:br/>
            <a:r>
              <a:rPr lang="en-US" sz="1100" dirty="0">
                <a:solidFill>
                  <a:srgbClr val="333333"/>
                </a:solidFill>
                <a:latin typeface="Meiryo UI" pitchFamily="34" charset="0"/>
                <a:ea typeface="Meiryo UI" pitchFamily="34" charset="-122"/>
                <a:cs typeface="Meiryo UI" pitchFamily="34" charset="-120"/>
              </a:rPr>
              <a:t>今の成長エンジンを設計した当事者</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Sicilia は Primavera の技術者から CTO。</a:t>
            </a:r>
            <a:br/>
            <a:r>
              <a:rPr lang="en-US" sz="1100" dirty="0">
                <a:solidFill>
                  <a:srgbClr val="333333"/>
                </a:solidFill>
                <a:latin typeface="Meiryo UI" pitchFamily="34" charset="0"/>
                <a:ea typeface="Meiryo UI" pitchFamily="34" charset="-122"/>
                <a:cs typeface="Meiryo UI" pitchFamily="34" charset="-120"/>
              </a:rPr>
              <a:t>買収後は業種別アプリを統括。Oracle Health(VA)は障害と遅れが続く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CFO の Maxson は電力会社の AES と電機の Schneider で財務を約 22 年。</a:t>
            </a:r>
            <a:br/>
            <a:r>
              <a:rPr lang="en-US" sz="1100" dirty="0">
                <a:solidFill>
                  <a:srgbClr val="333333"/>
                </a:solidFill>
                <a:latin typeface="Meiryo UI" pitchFamily="34" charset="0"/>
                <a:ea typeface="Meiryo UI" pitchFamily="34" charset="-122"/>
                <a:cs typeface="Meiryo UI" pitchFamily="34" charset="-120"/>
              </a:rPr>
              <a:t>設備と電力の資金計画に合うが、就任 6 か月</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capex は FY26 に見通し 350 → 500 → 実績 557 億ドル。</a:t>
            </a:r>
            <a:br/>
            <a:r>
              <a:rPr lang="en-US" sz="1100" dirty="0">
                <a:solidFill>
                  <a:srgbClr val="333333"/>
                </a:solidFill>
                <a:latin typeface="Meiryo UI" pitchFamily="34" charset="0"/>
                <a:ea typeface="Meiryo UI" pitchFamily="34" charset="-122"/>
                <a:cs typeface="Meiryo UI" pitchFamily="34" charset="-120"/>
              </a:rPr>
              <a:t>共同 CEO の資本配分の実績はまだ 1 年</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業績連動の報酬の KPI は FY28 の総売上で、1 株当たりの指標ではない(80% は時間ベース)</a:t>
            </a:r>
            <a:endParaRPr lang="en-US" sz="1100" dirty="0"/>
          </a:p>
        </p:txBody>
      </p:sp>
      <p:sp>
        <p:nvSpPr>
          <p:cNvPr id="110" name="ovl_takeaway_bg"/>
          <p:cNvSpPr/>
          <p:nvPr/>
        </p:nvSpPr>
        <p:spPr>
          <a:xfrm>
            <a:off x="8458200" y="4621276"/>
            <a:ext cx="3276295" cy="804164"/>
          </a:xfrm>
          <a:prstGeom prst="rect">
            <a:avLst/>
          </a:prstGeom>
          <a:solidFill>
            <a:srgbClr val="EAF4EE"/>
          </a:solidFill>
          <a:ln w="12700">
            <a:solidFill>
              <a:srgbClr val="EAF4EE"/>
            </a:solidFill>
            <a:prstDash val="solid"/>
          </a:ln>
        </p:spPr>
      </p:sp>
      <p:sp>
        <p:nvSpPr>
          <p:cNvPr id="111" name="takeaway"/>
          <p:cNvSpPr txBox="1"/>
          <p:nvPr/>
        </p:nvSpPr>
        <p:spPr>
          <a:xfrm>
            <a:off x="8567928" y="4694428"/>
            <a:ext cx="3056839" cy="657860"/>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経歴と事業の適合は高い(A 相当)。ただし CEO としての資本配分の実績が 1 年と短く、capex の超過と総額 KPI の報酬が残るため B(A との境界)</a:t>
            </a:r>
            <a:endParaRPr lang="en-US" sz="1000" dirty="0"/>
          </a:p>
        </p:txBody>
      </p:sp>
      <p:sp>
        <p:nvSpPr>
          <p:cNvPr id="112"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FY27 の capex が見通しの範囲に収まり、FCF の黒字化の時期を示せば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capex が再び見通しを 10% 超上回るか、VA の契約で損失が出れば C</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88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88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成長と割安度(条件6)</a:t>
            </a:r>
            <a:endParaRPr lang="en-US" sz="1000" dirty="0"/>
          </a:p>
        </p:txBody>
      </p:sp>
      <p:sp>
        <p:nvSpPr>
          <p:cNvPr id="14" name="hdr_why"/>
          <p:cNvSpPr txBox="1"/>
          <p:nvPr/>
        </p:nvSpPr>
        <p:spPr>
          <a:xfrm>
            <a:off x="2592324" y="356616"/>
            <a:ext cx="9142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成長の割に安いか(PEG&lt;1)は、長期保有で超過リターンを得る前提になる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の 5 年成長率は 28.7〜30.3%、PEG は 0.67〜0.71。</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閾値 30% の前後で余裕はなく、30% を超えるのは会社の経路だけ</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条件6 5年後 EPS 成長率で PEG&lt;1(EPS CAGR 30% 以上)。事業実態 EPS = 非GAAP EPS − 株式報酬の税引後</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コンセンサス(Yahoo・FactSet・tickflow)、会社の FY30 目標(Investor Day 2026-10-28)、需給エンジン第4.4版(calc/out/m9_extra.json)。株価 139.56 ドル(2026-10-29 終値)</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28</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条件6</a:t>
            </a:r>
            <a:endParaRPr lang="en-US" sz="800" dirty="0"/>
          </a:p>
        </p:txBody>
      </p:sp>
      <p:graphicFrame>
        <p:nvGraphicFramePr>
          <p:cNvPr id="29" name="tbl"/>
          <p:cNvGraphicFramePr>
            <a:graphicFrameLocks noGrp="1"/>
          </p:cNvGraphicFramePr>
          <p:nvPr>
            <p:extLst>
              <p:ext uri="{D42A27DB-BD31-4B8C-83A1-F6EECF244321}">
                <p14:modId xmlns:p14="http://schemas.microsoft.com/office/powerpoint/2010/main" val="1579011935"/>
              </p:ext>
            </p:extLst>
          </p:nvPr>
        </p:nvGraphicFramePr>
        <p:xfrm>
          <a:off x="457200" y="1600200"/>
          <a:ext cx="7589520" cy="914400"/>
        </p:xfrm>
        <a:graphic>
          <a:graphicData uri="http://schemas.openxmlformats.org/drawingml/2006/table">
            <a:tbl>
              <a:tblPr/>
              <a:tblGrid>
                <a:gridCol w="2834640"/>
                <a:gridCol w="1554480"/>
                <a:gridCol w="1371600"/>
                <a:gridCol w="1828800"/>
              </a:tblGrid>
              <a:tr h="384048">
                <a:tc>
                  <a:txBody>
                    <a:bodyPr/>
                    <a:lstStyle/>
                    <a:p>
                      <a:pPr algn="l" indent="0" marL="0">
                        <a:buNone/>
                      </a:pPr>
                      <a:r>
                        <a:rPr lang="en-US" sz="1100" b="1" dirty="0">
                          <a:solidFill>
                            <a:srgbClr val="FFFFFF"/>
                          </a:solidFill>
                          <a:latin typeface="Meiryo UI" pitchFamily="34" charset="0"/>
                          <a:ea typeface="Meiryo UI" pitchFamily="34" charset="-122"/>
                          <a:cs typeface="Meiryo UI" pitchFamily="34" charset="-120"/>
                        </a:rPr>
                        <a:t>経路</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 年 CAGR</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PEG</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閾値 30% との差</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会社(FY30 目標 21 ドル)</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30.3%</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0.67</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+0.3pt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コンセンサス(説明会の前)</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29.5%</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0.68</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−0.5pt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100" dirty="0">
                          <a:solidFill>
                            <a:srgbClr val="333333"/>
                          </a:solidFill>
                          <a:latin typeface="Meiryo UI" pitchFamily="34" charset="0"/>
                          <a:ea typeface="Meiryo UI" pitchFamily="34" charset="-122"/>
                          <a:cs typeface="Meiryo UI" pitchFamily="34" charset="-120"/>
                        </a:rPr>
                        <a:t>需給エンジン</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28.7%</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0.71</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Meiryo UI" pitchFamily="34" charset="0"/>
                          <a:ea typeface="Meiryo UI" pitchFamily="34" charset="-122"/>
                          <a:cs typeface="Meiryo UI" pitchFamily="34" charset="-120"/>
                        </a:rPr>
                        <a:t>−1.3pt</a:t>
                      </a:r>
                      <a:endParaRPr lang="en-US" sz="11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3" name="bullets"/>
          <p:cNvSpPr txBox="1"/>
          <p:nvPr/>
        </p:nvSpPr>
        <p:spPr>
          <a:xfrm>
            <a:off x="457200" y="3383280"/>
            <a:ext cx="7589520" cy="9144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エンジン経路は 28.7% で閾値を 1.3pt 下回る。会社の経路だけが 30% を超える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条件7 が C(安い理由の一部は実在のリスク)のため、規則により S は無効</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FY27→FY30 の3年では全経路が 36% 超。減速は FY30〜32 の容量追加の減速による</a:t>
            </a:r>
            <a:endParaRPr lang="en-US" sz="1050" dirty="0"/>
          </a:p>
        </p:txBody>
      </p:sp>
      <p:graphicFrame>
        <p:nvGraphicFramePr>
          <p:cNvPr id="24" name="chart_cagr" descr=""/>
          <p:cNvGraphicFramePr/>
          <p:nvPr/>
        </p:nvGraphicFramePr>
        <p:xfrm>
          <a:off x="457200" y="4343400"/>
          <a:ext cx="7589520" cy="1783080"/>
        </p:xfrm>
        <a:graphic xmlns:a="http://schemas.openxmlformats.org/drawingml/2006/main">
          <a:graphicData uri="http://schemas.openxmlformats.org/drawingml/2006/chart">
            <c:chart xmlns:c="http://schemas.openxmlformats.org/drawingml/2006/chart" r:id="rId1"/>
          </a:graphicData>
        </a:graphic>
      </p:graphicFrame>
      <p:sp>
        <p:nvSpPr>
          <p:cNvPr id="25" name="ovl_thr"/>
          <p:cNvSpPr txBox="1"/>
          <p:nvPr/>
        </p:nvSpPr>
        <p:spPr>
          <a:xfrm>
            <a:off x="6309360" y="4663440"/>
            <a:ext cx="1737360" cy="256032"/>
          </a:xfrm>
          <a:prstGeom prst="rect">
            <a:avLst/>
          </a:prstGeom>
          <a:noFill/>
          <a:ln/>
        </p:spPr>
        <p:txBody>
          <a:bodyPr wrap="square" lIns="508" tIns="508" rIns="508" bIns="508" rtlCol="0" anchor="t"/>
          <a:lstStyle/>
          <a:p>
            <a:pPr algn="r" indent="0" marL="0">
              <a:buNone/>
            </a:pPr>
            <a:r>
              <a:rPr lang="en-US" sz="900" dirty="0">
                <a:solidFill>
                  <a:srgbClr val="D68910"/>
                </a:solidFill>
                <a:latin typeface="Meiryo UI" pitchFamily="34" charset="0"/>
                <a:ea typeface="Meiryo UI" pitchFamily="34" charset="-122"/>
                <a:cs typeface="Meiryo UI" pitchFamily="34" charset="-120"/>
              </a:rPr>
              <a:t>閾値 30%</a:t>
            </a:r>
            <a:endParaRPr lang="en-US" sz="900" dirty="0"/>
          </a:p>
        </p:txBody>
      </p:sp>
      <p:sp>
        <p:nvSpPr>
          <p:cNvPr id="26"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7"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8"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3 経路の CAGR は会社 30.3%・コンセンサス 29.5%・エンジン 28.7%。</a:t>
            </a:r>
            <a:br/>
            <a:r>
              <a:rPr lang="en-US" sz="950" dirty="0">
                <a:solidFill>
                  <a:srgbClr val="333333"/>
                </a:solidFill>
                <a:latin typeface="Meiryo UI" pitchFamily="34" charset="0"/>
                <a:ea typeface="Meiryo UI" pitchFamily="34" charset="-122"/>
                <a:cs typeface="Meiryo UI" pitchFamily="34" charset="-120"/>
              </a:rPr>
              <a:t>閾値 30% の前後で、PEG は 0.67〜0.71</a:t>
            </a:r>
            <a:endParaRPr lang="en-US" sz="950" dirty="0"/>
          </a:p>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5年 CAGR の閾値 30%: FY32 の事業実態 EPS</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25.6 ドル以上</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PER は 139.56 ÷ FY27 の事業実態 EPS(20.2 倍)</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第1版の評価は C(エンジン 22.1%)</a:t>
            </a:r>
            <a:endParaRPr lang="en-US" sz="950" dirty="0"/>
          </a:p>
        </p:txBody>
      </p:sp>
      <p:sp>
        <p:nvSpPr>
          <p:cNvPr id="29"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30"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数値は S の基準を満たすが、余裕が薄く条件7 と対で評価して B</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3-3 成長と割安度(条件6・7)(2/2)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安い理由の検証(条件7)</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安さが市場の見落としなら機会、実在のリスクなら罠。どちらかを見分ける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株価が安い主因は、OpenAI への集中(受注残の約 45%)と CDS 277bp の</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信用リスク。資金繰りの疑いには会社の数字の道筋が出た</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市場の疑い → 疑いの対象 → 証拠 → 判定。①〜④ は右と対応。株価は事業実態 EPS の 13.3 倍(弱気シナリオの値とほぼ同じ)</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2026-10-28、需給エンジン第4.4版(calc/out/m9_all.json)、research2/R5_credit.md、research4/T2_company_rpo_capacity.md、research3/W2_gpu_economic_life.md、Bloomberg(2026-10-08)、S&amp;P(2026-07)</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29</a:t>
            </a:r>
            <a:endParaRPr lang="en-US" sz="800" dirty="0"/>
          </a:p>
        </p:txBody>
      </p:sp>
      <p:sp>
        <p:nvSpPr>
          <p:cNvPr id="19" name="ovl_badge"/>
          <p:cNvSpPr/>
          <p:nvPr/>
        </p:nvSpPr>
        <p:spPr>
          <a:xfrm>
            <a:off x="10865815" y="649224"/>
            <a:ext cx="868680" cy="677570"/>
          </a:xfrm>
          <a:prstGeom prst="roundRect">
            <a:avLst>
              <a:gd name="adj" fmla="val 10796"/>
            </a:avLst>
          </a:prstGeom>
          <a:solidFill>
            <a:srgbClr val="D68910"/>
          </a:solidFill>
          <a:ln w="12700">
            <a:solidFill>
              <a:srgbClr val="D68910"/>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C</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条件7</a:t>
            </a:r>
            <a:endParaRPr lang="en-US" sz="800" dirty="0"/>
          </a:p>
        </p:txBody>
      </p:sp>
      <p:sp>
        <p:nvSpPr>
          <p:cNvPr id="22" name="bg_lane0"/>
          <p:cNvSpPr/>
          <p:nvPr/>
        </p:nvSpPr>
        <p:spPr>
          <a:xfrm>
            <a:off x="347472" y="1517904"/>
            <a:ext cx="159105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159105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市場の疑い</a:t>
            </a:r>
            <a:endParaRPr lang="en-US" sz="950" dirty="0"/>
          </a:p>
        </p:txBody>
      </p:sp>
      <p:sp>
        <p:nvSpPr>
          <p:cNvPr id="25" name="bg_lane1"/>
          <p:cNvSpPr/>
          <p:nvPr/>
        </p:nvSpPr>
        <p:spPr>
          <a:xfrm>
            <a:off x="2618232" y="1517904"/>
            <a:ext cx="1499616" cy="4005072"/>
          </a:xfrm>
          <a:prstGeom prst="rect">
            <a:avLst/>
          </a:prstGeom>
          <a:solidFill>
            <a:srgbClr val="EAF4EE"/>
          </a:solidFill>
          <a:ln w="12700">
            <a:solidFill>
              <a:srgbClr val="EAF4EE"/>
            </a:solidFill>
            <a:prstDash val="solid"/>
          </a:ln>
        </p:spPr>
      </p:sp>
      <p:sp>
        <p:nvSpPr>
          <p:cNvPr id="26" name="bg_laneh1"/>
          <p:cNvSpPr/>
          <p:nvPr/>
        </p:nvSpPr>
        <p:spPr>
          <a:xfrm>
            <a:off x="2618232" y="1517904"/>
            <a:ext cx="1499616" cy="274320"/>
          </a:xfrm>
          <a:prstGeom prst="rect">
            <a:avLst/>
          </a:prstGeom>
          <a:solidFill>
            <a:srgbClr val="197A56"/>
          </a:solidFill>
          <a:ln w="12700">
            <a:solidFill>
              <a:srgbClr val="197A56"/>
            </a:solidFill>
            <a:prstDash val="solid"/>
          </a:ln>
        </p:spPr>
      </p:sp>
      <p:sp>
        <p:nvSpPr>
          <p:cNvPr id="27" name="bg_lanet1"/>
          <p:cNvSpPr txBox="1"/>
          <p:nvPr/>
        </p:nvSpPr>
        <p:spPr>
          <a:xfrm>
            <a:off x="2618232" y="1517904"/>
            <a:ext cx="14996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Oracle(疑いの対象)</a:t>
            </a:r>
            <a:endParaRPr lang="en-US" sz="950" dirty="0"/>
          </a:p>
        </p:txBody>
      </p:sp>
      <p:sp>
        <p:nvSpPr>
          <p:cNvPr id="28" name="bg_lane2"/>
          <p:cNvSpPr/>
          <p:nvPr/>
        </p:nvSpPr>
        <p:spPr>
          <a:xfrm>
            <a:off x="4797552" y="1517904"/>
            <a:ext cx="1682496" cy="4005072"/>
          </a:xfrm>
          <a:prstGeom prst="rect">
            <a:avLst/>
          </a:prstGeom>
          <a:solidFill>
            <a:srgbClr val="F2F2F2"/>
          </a:solidFill>
          <a:ln w="12700">
            <a:solidFill>
              <a:srgbClr val="F2F2F2"/>
            </a:solidFill>
            <a:prstDash val="solid"/>
          </a:ln>
        </p:spPr>
      </p:sp>
      <p:sp>
        <p:nvSpPr>
          <p:cNvPr id="29" name="bg_laneh2"/>
          <p:cNvSpPr/>
          <p:nvPr/>
        </p:nvSpPr>
        <p:spPr>
          <a:xfrm>
            <a:off x="4797552" y="1517904"/>
            <a:ext cx="1682496" cy="274320"/>
          </a:xfrm>
          <a:prstGeom prst="rect">
            <a:avLst/>
          </a:prstGeom>
          <a:solidFill>
            <a:srgbClr val="D9D9D9"/>
          </a:solidFill>
          <a:ln w="12700">
            <a:solidFill>
              <a:srgbClr val="D9D9D9"/>
            </a:solidFill>
            <a:prstDash val="solid"/>
          </a:ln>
        </p:spPr>
      </p:sp>
      <p:sp>
        <p:nvSpPr>
          <p:cNvPr id="30" name="bg_lanet2"/>
          <p:cNvSpPr txBox="1"/>
          <p:nvPr/>
        </p:nvSpPr>
        <p:spPr>
          <a:xfrm>
            <a:off x="4797552" y="1517904"/>
            <a:ext cx="16824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証拠</a:t>
            </a:r>
            <a:endParaRPr lang="en-US" sz="950" dirty="0"/>
          </a:p>
        </p:txBody>
      </p:sp>
      <p:sp>
        <p:nvSpPr>
          <p:cNvPr id="31" name="bg_lane3"/>
          <p:cNvSpPr/>
          <p:nvPr/>
        </p:nvSpPr>
        <p:spPr>
          <a:xfrm>
            <a:off x="7159752" y="1517904"/>
            <a:ext cx="1225296" cy="4005072"/>
          </a:xfrm>
          <a:prstGeom prst="rect">
            <a:avLst/>
          </a:prstGeom>
          <a:solidFill>
            <a:srgbClr val="F2F2F2"/>
          </a:solidFill>
          <a:ln w="12700">
            <a:solidFill>
              <a:srgbClr val="F2F2F2"/>
            </a:solidFill>
            <a:prstDash val="solid"/>
          </a:ln>
        </p:spPr>
      </p:sp>
      <p:sp>
        <p:nvSpPr>
          <p:cNvPr id="32" name="bg_laneh3"/>
          <p:cNvSpPr/>
          <p:nvPr/>
        </p:nvSpPr>
        <p:spPr>
          <a:xfrm>
            <a:off x="7159752" y="1517904"/>
            <a:ext cx="1225296" cy="274320"/>
          </a:xfrm>
          <a:prstGeom prst="rect">
            <a:avLst/>
          </a:prstGeom>
          <a:solidFill>
            <a:srgbClr val="D9D9D9"/>
          </a:solidFill>
          <a:ln w="12700">
            <a:solidFill>
              <a:srgbClr val="D9D9D9"/>
            </a:solidFill>
            <a:prstDash val="solid"/>
          </a:ln>
        </p:spPr>
      </p:sp>
      <p:sp>
        <p:nvSpPr>
          <p:cNvPr id="33" name="bg_lanet3"/>
          <p:cNvSpPr txBox="1"/>
          <p:nvPr/>
        </p:nvSpPr>
        <p:spPr>
          <a:xfrm>
            <a:off x="7159752" y="1517904"/>
            <a:ext cx="12252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判定</a:t>
            </a:r>
            <a:endParaRPr lang="en-US" sz="950" dirty="0"/>
          </a:p>
        </p:txBody>
      </p:sp>
      <p:sp>
        <p:nvSpPr>
          <p:cNvPr id="34" name="ovl_s23_e0_0"/>
          <p:cNvSpPr/>
          <p:nvPr/>
        </p:nvSpPr>
        <p:spPr>
          <a:xfrm>
            <a:off x="1828800" y="2336292"/>
            <a:ext cx="899160" cy="914"/>
          </a:xfrm>
          <a:prstGeom prst="line">
            <a:avLst/>
          </a:prstGeom>
          <a:noFill/>
          <a:ln w="15875">
            <a:solidFill>
              <a:srgbClr val="C0392B"/>
            </a:solidFill>
            <a:prstDash val="dash"/>
            <a:tailEnd type="triangle"/>
          </a:ln>
        </p:spPr>
      </p:sp>
      <p:sp>
        <p:nvSpPr>
          <p:cNvPr id="35" name="ovl_s23_e1_0"/>
          <p:cNvSpPr/>
          <p:nvPr/>
        </p:nvSpPr>
        <p:spPr>
          <a:xfrm>
            <a:off x="4008120" y="2336292"/>
            <a:ext cx="899160" cy="914"/>
          </a:xfrm>
          <a:prstGeom prst="line">
            <a:avLst/>
          </a:prstGeom>
          <a:noFill/>
          <a:ln w="12700">
            <a:solidFill>
              <a:srgbClr val="767676"/>
            </a:solidFill>
            <a:prstDash val="sysDash"/>
            <a:tailEnd type="triangle"/>
          </a:ln>
        </p:spPr>
      </p:sp>
      <p:sp>
        <p:nvSpPr>
          <p:cNvPr id="36" name="ovl_s23_e2_0"/>
          <p:cNvSpPr/>
          <p:nvPr/>
        </p:nvSpPr>
        <p:spPr>
          <a:xfrm>
            <a:off x="6370320" y="2336292"/>
            <a:ext cx="899160" cy="914"/>
          </a:xfrm>
          <a:prstGeom prst="line">
            <a:avLst/>
          </a:prstGeom>
          <a:noFill/>
          <a:ln w="12700">
            <a:solidFill>
              <a:srgbClr val="767676"/>
            </a:solidFill>
            <a:prstDash val="sysDash"/>
            <a:tailEnd type="triangle"/>
          </a:ln>
        </p:spPr>
      </p:sp>
      <p:sp>
        <p:nvSpPr>
          <p:cNvPr id="37" name="ovl_s23_e3_0"/>
          <p:cNvSpPr/>
          <p:nvPr/>
        </p:nvSpPr>
        <p:spPr>
          <a:xfrm>
            <a:off x="1828800" y="3241548"/>
            <a:ext cx="899160" cy="914"/>
          </a:xfrm>
          <a:prstGeom prst="line">
            <a:avLst/>
          </a:prstGeom>
          <a:noFill/>
          <a:ln w="15875">
            <a:solidFill>
              <a:srgbClr val="C0392B"/>
            </a:solidFill>
            <a:prstDash val="dash"/>
            <a:tailEnd type="triangle"/>
          </a:ln>
        </p:spPr>
      </p:sp>
      <p:sp>
        <p:nvSpPr>
          <p:cNvPr id="38" name="ovl_s23_e4_0"/>
          <p:cNvSpPr/>
          <p:nvPr/>
        </p:nvSpPr>
        <p:spPr>
          <a:xfrm>
            <a:off x="4008120" y="3241548"/>
            <a:ext cx="899160" cy="914"/>
          </a:xfrm>
          <a:prstGeom prst="line">
            <a:avLst/>
          </a:prstGeom>
          <a:noFill/>
          <a:ln w="12700">
            <a:solidFill>
              <a:srgbClr val="767676"/>
            </a:solidFill>
            <a:prstDash val="sysDash"/>
            <a:tailEnd type="triangle"/>
          </a:ln>
        </p:spPr>
      </p:sp>
      <p:sp>
        <p:nvSpPr>
          <p:cNvPr id="39" name="ovl_s23_e5_0"/>
          <p:cNvSpPr/>
          <p:nvPr/>
        </p:nvSpPr>
        <p:spPr>
          <a:xfrm>
            <a:off x="6370320" y="3241548"/>
            <a:ext cx="899160" cy="914"/>
          </a:xfrm>
          <a:prstGeom prst="line">
            <a:avLst/>
          </a:prstGeom>
          <a:noFill/>
          <a:ln w="12700">
            <a:solidFill>
              <a:srgbClr val="767676"/>
            </a:solidFill>
            <a:prstDash val="sysDash"/>
            <a:tailEnd type="triangle"/>
          </a:ln>
        </p:spPr>
      </p:sp>
      <p:sp>
        <p:nvSpPr>
          <p:cNvPr id="40" name="ovl_s23_e6_0"/>
          <p:cNvSpPr/>
          <p:nvPr/>
        </p:nvSpPr>
        <p:spPr>
          <a:xfrm>
            <a:off x="1828800" y="4146804"/>
            <a:ext cx="899160" cy="914"/>
          </a:xfrm>
          <a:prstGeom prst="line">
            <a:avLst/>
          </a:prstGeom>
          <a:noFill/>
          <a:ln w="15875">
            <a:solidFill>
              <a:srgbClr val="C0392B"/>
            </a:solidFill>
            <a:prstDash val="dash"/>
            <a:tailEnd type="triangle"/>
          </a:ln>
        </p:spPr>
      </p:sp>
      <p:sp>
        <p:nvSpPr>
          <p:cNvPr id="41" name="ovl_s23_e7_0"/>
          <p:cNvSpPr/>
          <p:nvPr/>
        </p:nvSpPr>
        <p:spPr>
          <a:xfrm>
            <a:off x="4008120" y="4146804"/>
            <a:ext cx="899160" cy="914"/>
          </a:xfrm>
          <a:prstGeom prst="line">
            <a:avLst/>
          </a:prstGeom>
          <a:noFill/>
          <a:ln w="15875">
            <a:solidFill>
              <a:srgbClr val="C0392B"/>
            </a:solidFill>
            <a:prstDash val="dash"/>
            <a:tailEnd type="triangle"/>
          </a:ln>
        </p:spPr>
      </p:sp>
      <p:sp>
        <p:nvSpPr>
          <p:cNvPr id="42" name="ovl_s23_e8_0"/>
          <p:cNvSpPr/>
          <p:nvPr/>
        </p:nvSpPr>
        <p:spPr>
          <a:xfrm>
            <a:off x="6370320" y="4146804"/>
            <a:ext cx="899160" cy="914"/>
          </a:xfrm>
          <a:prstGeom prst="line">
            <a:avLst/>
          </a:prstGeom>
          <a:noFill/>
          <a:ln w="15875">
            <a:solidFill>
              <a:srgbClr val="C0392B"/>
            </a:solidFill>
            <a:prstDash val="dash"/>
            <a:tailEnd type="triangle"/>
          </a:ln>
        </p:spPr>
      </p:sp>
      <p:sp>
        <p:nvSpPr>
          <p:cNvPr id="43" name="ovl_s23_e9_0"/>
          <p:cNvSpPr/>
          <p:nvPr/>
        </p:nvSpPr>
        <p:spPr>
          <a:xfrm>
            <a:off x="1828800" y="5052060"/>
            <a:ext cx="899160" cy="914"/>
          </a:xfrm>
          <a:prstGeom prst="line">
            <a:avLst/>
          </a:prstGeom>
          <a:noFill/>
          <a:ln w="15875">
            <a:solidFill>
              <a:srgbClr val="C0392B"/>
            </a:solidFill>
            <a:prstDash val="dash"/>
            <a:tailEnd type="triangle"/>
          </a:ln>
        </p:spPr>
      </p:sp>
      <p:sp>
        <p:nvSpPr>
          <p:cNvPr id="44" name="ovl_s23_e10_0"/>
          <p:cNvSpPr/>
          <p:nvPr/>
        </p:nvSpPr>
        <p:spPr>
          <a:xfrm>
            <a:off x="4008120" y="5052060"/>
            <a:ext cx="899160" cy="914"/>
          </a:xfrm>
          <a:prstGeom prst="line">
            <a:avLst/>
          </a:prstGeom>
          <a:noFill/>
          <a:ln w="15875">
            <a:solidFill>
              <a:srgbClr val="C0392B"/>
            </a:solidFill>
            <a:prstDash val="dash"/>
            <a:tailEnd type="triangle"/>
          </a:ln>
        </p:spPr>
      </p:sp>
      <p:sp>
        <p:nvSpPr>
          <p:cNvPr id="45" name="ovl_s23_e11_0"/>
          <p:cNvSpPr/>
          <p:nvPr/>
        </p:nvSpPr>
        <p:spPr>
          <a:xfrm>
            <a:off x="6370320" y="5052060"/>
            <a:ext cx="899160" cy="914"/>
          </a:xfrm>
          <a:prstGeom prst="line">
            <a:avLst/>
          </a:prstGeom>
          <a:noFill/>
          <a:ln w="15875">
            <a:solidFill>
              <a:srgbClr val="C0392B"/>
            </a:solidFill>
            <a:prstDash val="dash"/>
            <a:tailEnd type="triangle"/>
          </a:ln>
        </p:spPr>
      </p:sp>
      <p:sp>
        <p:nvSpPr>
          <p:cNvPr id="46" name="ovl_s23_n_d1"/>
          <p:cNvSpPr/>
          <p:nvPr/>
        </p:nvSpPr>
        <p:spPr>
          <a:xfrm>
            <a:off x="457200" y="1984248"/>
            <a:ext cx="1371600" cy="704088"/>
          </a:xfrm>
          <a:prstGeom prst="roundRect">
            <a:avLst>
              <a:gd name="adj" fmla="val 7792"/>
            </a:avLst>
          </a:prstGeom>
          <a:solidFill>
            <a:srgbClr val="FFFFFF"/>
          </a:solidFill>
          <a:ln w="9525">
            <a:solidFill>
              <a:srgbClr val="767676"/>
            </a:solidFill>
            <a:prstDash val="solid"/>
          </a:ln>
        </p:spPr>
      </p:sp>
      <p:sp>
        <p:nvSpPr>
          <p:cNvPr id="47" name="ovl_s23_nt_d1"/>
          <p:cNvSpPr txBox="1"/>
          <p:nvPr/>
        </p:nvSpPr>
        <p:spPr>
          <a:xfrm>
            <a:off x="493776" y="2011680"/>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寿命の悲観</a:t>
            </a:r>
            <a:endParaRPr lang="en-US" sz="1000" dirty="0"/>
          </a:p>
        </p:txBody>
      </p:sp>
      <p:sp>
        <p:nvSpPr>
          <p:cNvPr id="48" name="ovl_s23_ns_d1"/>
          <p:cNvSpPr txBox="1"/>
          <p:nvPr/>
        </p:nvSpPr>
        <p:spPr>
          <a:xfrm>
            <a:off x="502920" y="2217420"/>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「2〜3 年で陳腐化」</a:t>
            </a:r>
            <a:endParaRPr lang="en-US" sz="850" dirty="0"/>
          </a:p>
        </p:txBody>
      </p:sp>
      <p:sp>
        <p:nvSpPr>
          <p:cNvPr id="49" name="ovl_s23_n_d2"/>
          <p:cNvSpPr/>
          <p:nvPr/>
        </p:nvSpPr>
        <p:spPr>
          <a:xfrm>
            <a:off x="457200" y="2889504"/>
            <a:ext cx="1371600" cy="704088"/>
          </a:xfrm>
          <a:prstGeom prst="roundRect">
            <a:avLst>
              <a:gd name="adj" fmla="val 7792"/>
            </a:avLst>
          </a:prstGeom>
          <a:solidFill>
            <a:srgbClr val="FFFFFF"/>
          </a:solidFill>
          <a:ln w="9525">
            <a:solidFill>
              <a:srgbClr val="767676"/>
            </a:solidFill>
            <a:prstDash val="solid"/>
          </a:ln>
        </p:spPr>
      </p:sp>
      <p:sp>
        <p:nvSpPr>
          <p:cNvPr id="50" name="ovl_s23_nt_d2"/>
          <p:cNvSpPr txBox="1"/>
          <p:nvPr/>
        </p:nvSpPr>
        <p:spPr>
          <a:xfrm>
            <a:off x="493776" y="2916936"/>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FCF の J カーブ</a:t>
            </a:r>
            <a:endParaRPr lang="en-US" sz="1000" dirty="0"/>
          </a:p>
        </p:txBody>
      </p:sp>
      <p:sp>
        <p:nvSpPr>
          <p:cNvPr id="51" name="ovl_s23_ns_d2"/>
          <p:cNvSpPr txBox="1"/>
          <p:nvPr/>
        </p:nvSpPr>
        <p:spPr>
          <a:xfrm>
            <a:off x="502920" y="3122676"/>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まで赤字</a:t>
            </a:r>
            <a:endParaRPr lang="en-US" sz="850" dirty="0"/>
          </a:p>
        </p:txBody>
      </p:sp>
      <p:sp>
        <p:nvSpPr>
          <p:cNvPr id="52" name="ovl_s23_n_d3"/>
          <p:cNvSpPr/>
          <p:nvPr/>
        </p:nvSpPr>
        <p:spPr>
          <a:xfrm>
            <a:off x="457200" y="3794760"/>
            <a:ext cx="1371600" cy="704088"/>
          </a:xfrm>
          <a:prstGeom prst="roundRect">
            <a:avLst>
              <a:gd name="adj" fmla="val 7792"/>
            </a:avLst>
          </a:prstGeom>
          <a:solidFill>
            <a:srgbClr val="FFFFFF"/>
          </a:solidFill>
          <a:ln w="19050">
            <a:solidFill>
              <a:srgbClr val="C0392B"/>
            </a:solidFill>
            <a:prstDash val="solid"/>
          </a:ln>
        </p:spPr>
      </p:sp>
      <p:sp>
        <p:nvSpPr>
          <p:cNvPr id="53" name="ovl_s23_nt_d3"/>
          <p:cNvSpPr txBox="1"/>
          <p:nvPr/>
        </p:nvSpPr>
        <p:spPr>
          <a:xfrm>
            <a:off x="493776" y="3822192"/>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への集中</a:t>
            </a:r>
            <a:endParaRPr lang="en-US" sz="1000" dirty="0"/>
          </a:p>
        </p:txBody>
      </p:sp>
      <p:sp>
        <p:nvSpPr>
          <p:cNvPr id="54" name="ovl_s23_ns_d3"/>
          <p:cNvSpPr txBox="1"/>
          <p:nvPr/>
        </p:nvSpPr>
        <p:spPr>
          <a:xfrm>
            <a:off x="502920" y="4027932"/>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受注残の約 45%</a:t>
            </a:r>
            <a:endParaRPr lang="en-US" sz="850" dirty="0"/>
          </a:p>
        </p:txBody>
      </p:sp>
      <p:sp>
        <p:nvSpPr>
          <p:cNvPr id="55" name="ovl_s23_n_d4"/>
          <p:cNvSpPr/>
          <p:nvPr/>
        </p:nvSpPr>
        <p:spPr>
          <a:xfrm>
            <a:off x="457200" y="4700016"/>
            <a:ext cx="1371600" cy="704088"/>
          </a:xfrm>
          <a:prstGeom prst="roundRect">
            <a:avLst>
              <a:gd name="adj" fmla="val 7792"/>
            </a:avLst>
          </a:prstGeom>
          <a:solidFill>
            <a:srgbClr val="FFFFFF"/>
          </a:solidFill>
          <a:ln w="19050">
            <a:solidFill>
              <a:srgbClr val="C0392B"/>
            </a:solidFill>
            <a:prstDash val="solid"/>
          </a:ln>
        </p:spPr>
      </p:sp>
      <p:sp>
        <p:nvSpPr>
          <p:cNvPr id="56" name="ovl_s23_nt_d4"/>
          <p:cNvSpPr txBox="1"/>
          <p:nvPr/>
        </p:nvSpPr>
        <p:spPr>
          <a:xfrm>
            <a:off x="493776" y="4727448"/>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信用リスク</a:t>
            </a:r>
            <a:endParaRPr lang="en-US" sz="1000" dirty="0"/>
          </a:p>
        </p:txBody>
      </p:sp>
      <p:sp>
        <p:nvSpPr>
          <p:cNvPr id="57" name="ovl_s23_ns_d4"/>
          <p:cNvSpPr txBox="1"/>
          <p:nvPr/>
        </p:nvSpPr>
        <p:spPr>
          <a:xfrm>
            <a:off x="502920" y="4933188"/>
            <a:ext cx="128016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CDS 277bp</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(10 月中旬 300bp 前後)</a:t>
            </a:r>
            <a:endParaRPr lang="en-US" sz="850" dirty="0"/>
          </a:p>
        </p:txBody>
      </p:sp>
      <p:sp>
        <p:nvSpPr>
          <p:cNvPr id="58" name="ovl_s23_n_o1"/>
          <p:cNvSpPr/>
          <p:nvPr/>
        </p:nvSpPr>
        <p:spPr>
          <a:xfrm>
            <a:off x="2727960" y="1984248"/>
            <a:ext cx="1280160" cy="704088"/>
          </a:xfrm>
          <a:prstGeom prst="roundRect">
            <a:avLst>
              <a:gd name="adj" fmla="val 7792"/>
            </a:avLst>
          </a:prstGeom>
          <a:solidFill>
            <a:srgbClr val="FFFFFF"/>
          </a:solidFill>
          <a:ln w="19050">
            <a:solidFill>
              <a:srgbClr val="197A56"/>
            </a:solidFill>
            <a:prstDash val="solid"/>
          </a:ln>
        </p:spPr>
      </p:sp>
      <p:sp>
        <p:nvSpPr>
          <p:cNvPr id="59" name="ovl_s23_nt_o1"/>
          <p:cNvSpPr txBox="1"/>
          <p:nvPr/>
        </p:nvSpPr>
        <p:spPr>
          <a:xfrm>
            <a:off x="2764536" y="2011680"/>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GPU(自社調達)</a:t>
            </a:r>
            <a:endParaRPr lang="en-US" sz="1000" dirty="0"/>
          </a:p>
        </p:txBody>
      </p:sp>
      <p:sp>
        <p:nvSpPr>
          <p:cNvPr id="60" name="ovl_s23_ns_o1"/>
          <p:cNvSpPr txBox="1"/>
          <p:nvPr/>
        </p:nvSpPr>
        <p:spPr>
          <a:xfrm>
            <a:off x="2773680" y="2217420"/>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p:txBody>
      </p:sp>
      <p:sp>
        <p:nvSpPr>
          <p:cNvPr id="61" name="ovl_s23_n_o2"/>
          <p:cNvSpPr/>
          <p:nvPr/>
        </p:nvSpPr>
        <p:spPr>
          <a:xfrm>
            <a:off x="2727960" y="2889504"/>
            <a:ext cx="1280160" cy="704088"/>
          </a:xfrm>
          <a:prstGeom prst="roundRect">
            <a:avLst>
              <a:gd name="adj" fmla="val 7792"/>
            </a:avLst>
          </a:prstGeom>
          <a:solidFill>
            <a:srgbClr val="FFFFFF"/>
          </a:solidFill>
          <a:ln w="19050">
            <a:solidFill>
              <a:srgbClr val="197A56"/>
            </a:solidFill>
            <a:prstDash val="solid"/>
          </a:ln>
        </p:spPr>
      </p:sp>
      <p:sp>
        <p:nvSpPr>
          <p:cNvPr id="62" name="ovl_s23_nt_o2"/>
          <p:cNvSpPr txBox="1"/>
          <p:nvPr/>
        </p:nvSpPr>
        <p:spPr>
          <a:xfrm>
            <a:off x="2764536" y="2916936"/>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capex</a:t>
            </a:r>
            <a:endParaRPr lang="en-US" sz="1000" dirty="0"/>
          </a:p>
        </p:txBody>
      </p:sp>
      <p:sp>
        <p:nvSpPr>
          <p:cNvPr id="63" name="ovl_s23_ns_o2"/>
          <p:cNvSpPr txBox="1"/>
          <p:nvPr/>
        </p:nvSpPr>
        <p:spPr>
          <a:xfrm>
            <a:off x="2773680" y="3122676"/>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FY27</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900〜950 億ドル</a:t>
            </a:r>
            <a:endParaRPr lang="en-US" sz="850" dirty="0"/>
          </a:p>
        </p:txBody>
      </p:sp>
      <p:sp>
        <p:nvSpPr>
          <p:cNvPr id="64" name="ovl_s23_n_o3"/>
          <p:cNvSpPr/>
          <p:nvPr/>
        </p:nvSpPr>
        <p:spPr>
          <a:xfrm>
            <a:off x="2727960" y="3794760"/>
            <a:ext cx="1280160" cy="704088"/>
          </a:xfrm>
          <a:prstGeom prst="roundRect">
            <a:avLst>
              <a:gd name="adj" fmla="val 7792"/>
            </a:avLst>
          </a:prstGeom>
          <a:solidFill>
            <a:srgbClr val="FFFFFF"/>
          </a:solidFill>
          <a:ln w="19050">
            <a:solidFill>
              <a:srgbClr val="197A56"/>
            </a:solidFill>
            <a:prstDash val="solid"/>
          </a:ln>
        </p:spPr>
      </p:sp>
      <p:sp>
        <p:nvSpPr>
          <p:cNvPr id="65" name="ovl_s23_nt_o3"/>
          <p:cNvSpPr txBox="1"/>
          <p:nvPr/>
        </p:nvSpPr>
        <p:spPr>
          <a:xfrm>
            <a:off x="2764536" y="3822192"/>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受注残</a:t>
            </a:r>
            <a:endParaRPr lang="en-US" sz="1000" dirty="0"/>
          </a:p>
        </p:txBody>
      </p:sp>
      <p:sp>
        <p:nvSpPr>
          <p:cNvPr id="66" name="ovl_s23_ns_o3"/>
          <p:cNvSpPr txBox="1"/>
          <p:nvPr/>
        </p:nvSpPr>
        <p:spPr>
          <a:xfrm>
            <a:off x="2773680" y="4027932"/>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6,640 億ドル</a:t>
            </a:r>
            <a:endParaRPr lang="en-US" sz="850" dirty="0"/>
          </a:p>
        </p:txBody>
      </p:sp>
      <p:sp>
        <p:nvSpPr>
          <p:cNvPr id="67" name="ovl_s23_n_o4"/>
          <p:cNvSpPr/>
          <p:nvPr/>
        </p:nvSpPr>
        <p:spPr>
          <a:xfrm>
            <a:off x="2727960" y="4700016"/>
            <a:ext cx="1280160" cy="704088"/>
          </a:xfrm>
          <a:prstGeom prst="roundRect">
            <a:avLst>
              <a:gd name="adj" fmla="val 7792"/>
            </a:avLst>
          </a:prstGeom>
          <a:solidFill>
            <a:srgbClr val="FFFFFF"/>
          </a:solidFill>
          <a:ln w="19050">
            <a:solidFill>
              <a:srgbClr val="197A56"/>
            </a:solidFill>
            <a:prstDash val="solid"/>
          </a:ln>
        </p:spPr>
      </p:sp>
      <p:sp>
        <p:nvSpPr>
          <p:cNvPr id="68" name="ovl_s23_nt_o4"/>
          <p:cNvSpPr txBox="1"/>
          <p:nvPr/>
        </p:nvSpPr>
        <p:spPr>
          <a:xfrm>
            <a:off x="2764536" y="4727448"/>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借入と格付け</a:t>
            </a:r>
            <a:endParaRPr lang="en-US" sz="1000" dirty="0"/>
          </a:p>
        </p:txBody>
      </p:sp>
      <p:sp>
        <p:nvSpPr>
          <p:cNvPr id="69" name="ovl_s23_ns_o4"/>
          <p:cNvSpPr txBox="1"/>
          <p:nvPr/>
        </p:nvSpPr>
        <p:spPr>
          <a:xfrm>
            <a:off x="2773680" y="4933188"/>
            <a:ext cx="118872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BBB−(S&amp;P)</a:t>
            </a:r>
            <a:endParaRPr lang="en-US" sz="850" dirty="0"/>
          </a:p>
        </p:txBody>
      </p:sp>
      <p:sp>
        <p:nvSpPr>
          <p:cNvPr id="70" name="ovl_s23_n_e1"/>
          <p:cNvSpPr/>
          <p:nvPr/>
        </p:nvSpPr>
        <p:spPr>
          <a:xfrm>
            <a:off x="4907280" y="1984248"/>
            <a:ext cx="1463040" cy="704088"/>
          </a:xfrm>
          <a:prstGeom prst="roundRect">
            <a:avLst>
              <a:gd name="adj" fmla="val 7792"/>
            </a:avLst>
          </a:prstGeom>
          <a:solidFill>
            <a:srgbClr val="EAF4EE"/>
          </a:solidFill>
          <a:ln w="9525">
            <a:solidFill>
              <a:srgbClr val="86C99B"/>
            </a:solidFill>
            <a:prstDash val="solid"/>
          </a:ln>
        </p:spPr>
      </p:sp>
      <p:sp>
        <p:nvSpPr>
          <p:cNvPr id="71" name="ovl_s23_nt_e1"/>
          <p:cNvSpPr txBox="1"/>
          <p:nvPr/>
        </p:nvSpPr>
        <p:spPr>
          <a:xfrm>
            <a:off x="4943856" y="2011680"/>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 +20%</a:t>
            </a:r>
            <a:endParaRPr lang="en-US" sz="1000" dirty="0"/>
          </a:p>
        </p:txBody>
      </p:sp>
      <p:sp>
        <p:nvSpPr>
          <p:cNvPr id="72" name="ovl_s23_ns_e1"/>
          <p:cNvSpPr txBox="1"/>
          <p:nvPr/>
        </p:nvSpPr>
        <p:spPr>
          <a:xfrm>
            <a:off x="4953000" y="2217420"/>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を元の 95% で</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再契約した例</a:t>
            </a:r>
            <a:endParaRPr lang="en-US" sz="850" dirty="0"/>
          </a:p>
        </p:txBody>
      </p:sp>
      <p:sp>
        <p:nvSpPr>
          <p:cNvPr id="73" name="ovl_s23_n_e2"/>
          <p:cNvSpPr/>
          <p:nvPr/>
        </p:nvSpPr>
        <p:spPr>
          <a:xfrm>
            <a:off x="4907280" y="2889504"/>
            <a:ext cx="1463040" cy="704088"/>
          </a:xfrm>
          <a:prstGeom prst="roundRect">
            <a:avLst>
              <a:gd name="adj" fmla="val 7792"/>
            </a:avLst>
          </a:prstGeom>
          <a:solidFill>
            <a:srgbClr val="FFFFFF"/>
          </a:solidFill>
          <a:ln w="9525">
            <a:solidFill>
              <a:srgbClr val="767676"/>
            </a:solidFill>
            <a:prstDash val="solid"/>
          </a:ln>
        </p:spPr>
      </p:sp>
      <p:sp>
        <p:nvSpPr>
          <p:cNvPr id="74" name="ovl_s23_nt_e2"/>
          <p:cNvSpPr txBox="1"/>
          <p:nvPr/>
        </p:nvSpPr>
        <p:spPr>
          <a:xfrm>
            <a:off x="4943856" y="2916936"/>
            <a:ext cx="13898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会社の資金計画</a:t>
            </a:r>
            <a:endParaRPr lang="en-US" sz="1000" dirty="0"/>
          </a:p>
        </p:txBody>
      </p:sp>
      <p:sp>
        <p:nvSpPr>
          <p:cNvPr id="75" name="ovl_s23_ns_e2"/>
          <p:cNvSpPr txBox="1"/>
          <p:nvPr/>
        </p:nvSpPr>
        <p:spPr>
          <a:xfrm>
            <a:off x="4953000" y="3122676"/>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FCF 300 億以上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追加調達 200 億が上限</a:t>
            </a:r>
            <a:endParaRPr lang="en-US" sz="850" dirty="0"/>
          </a:p>
        </p:txBody>
      </p:sp>
      <p:sp>
        <p:nvSpPr>
          <p:cNvPr id="76" name="ovl_s23_n_e3"/>
          <p:cNvSpPr/>
          <p:nvPr/>
        </p:nvSpPr>
        <p:spPr>
          <a:xfrm>
            <a:off x="4907280" y="3794760"/>
            <a:ext cx="1463040" cy="704088"/>
          </a:xfrm>
          <a:prstGeom prst="roundRect">
            <a:avLst>
              <a:gd name="adj" fmla="val 7792"/>
            </a:avLst>
          </a:prstGeom>
          <a:solidFill>
            <a:srgbClr val="FFFFFF"/>
          </a:solidFill>
          <a:ln w="19050">
            <a:solidFill>
              <a:srgbClr val="C0392B"/>
            </a:solidFill>
            <a:prstDash val="solid"/>
          </a:ln>
        </p:spPr>
      </p:sp>
      <p:sp>
        <p:nvSpPr>
          <p:cNvPr id="77" name="ovl_s23_nt_e3"/>
          <p:cNvSpPr txBox="1"/>
          <p:nvPr/>
        </p:nvSpPr>
        <p:spPr>
          <a:xfrm>
            <a:off x="4943856" y="3822192"/>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OpenAI の資金</a:t>
            </a:r>
            <a:endParaRPr lang="en-US" sz="1000" dirty="0"/>
          </a:p>
        </p:txBody>
      </p:sp>
      <p:sp>
        <p:nvSpPr>
          <p:cNvPr id="78" name="ovl_s23_ns_e3"/>
          <p:cNvSpPr txBox="1"/>
          <p:nvPr/>
        </p:nvSpPr>
        <p:spPr>
          <a:xfrm>
            <a:off x="4953000" y="4027932"/>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2026〜30 年の FCF</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累計 −2,780 億ドル</a:t>
            </a:r>
            <a:endParaRPr lang="en-US" sz="850" dirty="0"/>
          </a:p>
        </p:txBody>
      </p:sp>
      <p:sp>
        <p:nvSpPr>
          <p:cNvPr id="79" name="ovl_s23_n_e4"/>
          <p:cNvSpPr/>
          <p:nvPr/>
        </p:nvSpPr>
        <p:spPr>
          <a:xfrm>
            <a:off x="4907280" y="4700016"/>
            <a:ext cx="1463040" cy="704088"/>
          </a:xfrm>
          <a:prstGeom prst="roundRect">
            <a:avLst>
              <a:gd name="adj" fmla="val 7792"/>
            </a:avLst>
          </a:prstGeom>
          <a:solidFill>
            <a:srgbClr val="FFFFFF"/>
          </a:solidFill>
          <a:ln w="19050">
            <a:solidFill>
              <a:srgbClr val="C0392B"/>
            </a:solidFill>
            <a:prstDash val="solid"/>
          </a:ln>
        </p:spPr>
      </p:sp>
      <p:sp>
        <p:nvSpPr>
          <p:cNvPr id="80" name="ovl_s23_nt_e4"/>
          <p:cNvSpPr txBox="1"/>
          <p:nvPr/>
        </p:nvSpPr>
        <p:spPr>
          <a:xfrm>
            <a:off x="4943856" y="4727448"/>
            <a:ext cx="13898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S&amp;P の条件</a:t>
            </a:r>
            <a:endParaRPr lang="en-US" sz="1000" dirty="0"/>
          </a:p>
        </p:txBody>
      </p:sp>
      <p:sp>
        <p:nvSpPr>
          <p:cNvPr id="81" name="ovl_s23_ns_e4"/>
          <p:cNvSpPr txBox="1"/>
          <p:nvPr/>
        </p:nvSpPr>
        <p:spPr>
          <a:xfrm>
            <a:off x="4953000" y="4933188"/>
            <a:ext cx="13716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FY29 までに FOCF</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黒字でなければ</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再格下げ</a:t>
            </a:r>
            <a:endParaRPr lang="en-US" sz="850" dirty="0"/>
          </a:p>
        </p:txBody>
      </p:sp>
      <p:sp>
        <p:nvSpPr>
          <p:cNvPr id="82" name="ovl_s23_n_v1"/>
          <p:cNvSpPr/>
          <p:nvPr/>
        </p:nvSpPr>
        <p:spPr>
          <a:xfrm>
            <a:off x="7269480" y="1984248"/>
            <a:ext cx="1005840" cy="704088"/>
          </a:xfrm>
          <a:prstGeom prst="roundRect">
            <a:avLst>
              <a:gd name="adj" fmla="val 7792"/>
            </a:avLst>
          </a:prstGeom>
          <a:solidFill>
            <a:srgbClr val="EAF4EE"/>
          </a:solidFill>
          <a:ln w="9525">
            <a:solidFill>
              <a:srgbClr val="86C99B"/>
            </a:solidFill>
            <a:prstDash val="solid"/>
          </a:ln>
        </p:spPr>
      </p:sp>
      <p:sp>
        <p:nvSpPr>
          <p:cNvPr id="83" name="ovl_s23_nt_v1"/>
          <p:cNvSpPr txBox="1"/>
          <p:nvPr/>
        </p:nvSpPr>
        <p:spPr>
          <a:xfrm>
            <a:off x="7306056" y="2011680"/>
            <a:ext cx="9326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見落とし</a:t>
            </a:r>
            <a:endParaRPr lang="en-US" sz="1000" dirty="0"/>
          </a:p>
        </p:txBody>
      </p:sp>
      <p:sp>
        <p:nvSpPr>
          <p:cNvPr id="84" name="ovl_s23_ns_v1"/>
          <p:cNvSpPr txBox="1"/>
          <p:nvPr/>
        </p:nvSpPr>
        <p:spPr>
          <a:xfrm>
            <a:off x="7315200" y="2217420"/>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機会</a:t>
            </a:r>
            <a:endParaRPr lang="en-US" sz="850" dirty="0"/>
          </a:p>
        </p:txBody>
      </p:sp>
      <p:sp>
        <p:nvSpPr>
          <p:cNvPr id="85" name="ovl_s23_n_v2"/>
          <p:cNvSpPr/>
          <p:nvPr/>
        </p:nvSpPr>
        <p:spPr>
          <a:xfrm>
            <a:off x="7269480" y="2889504"/>
            <a:ext cx="1005840" cy="704088"/>
          </a:xfrm>
          <a:prstGeom prst="roundRect">
            <a:avLst>
              <a:gd name="adj" fmla="val 7792"/>
            </a:avLst>
          </a:prstGeom>
          <a:solidFill>
            <a:srgbClr val="FFFFFF"/>
          </a:solidFill>
          <a:ln w="9525">
            <a:solidFill>
              <a:srgbClr val="767676"/>
            </a:solidFill>
            <a:prstDash val="solid"/>
          </a:ln>
        </p:spPr>
      </p:sp>
      <p:sp>
        <p:nvSpPr>
          <p:cNvPr id="86" name="ovl_s23_nt_v2"/>
          <p:cNvSpPr txBox="1"/>
          <p:nvPr/>
        </p:nvSpPr>
        <p:spPr>
          <a:xfrm>
            <a:off x="7306056" y="2916936"/>
            <a:ext cx="9326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一部見落とし</a:t>
            </a:r>
            <a:endParaRPr lang="en-US" sz="1000" dirty="0"/>
          </a:p>
        </p:txBody>
      </p:sp>
      <p:sp>
        <p:nvSpPr>
          <p:cNvPr id="87" name="ovl_s23_ns_v2"/>
          <p:cNvSpPr txBox="1"/>
          <p:nvPr/>
        </p:nvSpPr>
        <p:spPr>
          <a:xfrm>
            <a:off x="7315200" y="3122676"/>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時期は不確か</a:t>
            </a:r>
            <a:endParaRPr lang="en-US" sz="850" dirty="0"/>
          </a:p>
        </p:txBody>
      </p:sp>
      <p:sp>
        <p:nvSpPr>
          <p:cNvPr id="88" name="ovl_s23_n_v3"/>
          <p:cNvSpPr/>
          <p:nvPr/>
        </p:nvSpPr>
        <p:spPr>
          <a:xfrm>
            <a:off x="7269480" y="3794760"/>
            <a:ext cx="1005840" cy="704088"/>
          </a:xfrm>
          <a:prstGeom prst="roundRect">
            <a:avLst>
              <a:gd name="adj" fmla="val 7792"/>
            </a:avLst>
          </a:prstGeom>
          <a:solidFill>
            <a:srgbClr val="FFFFFF"/>
          </a:solidFill>
          <a:ln w="19050">
            <a:solidFill>
              <a:srgbClr val="C0392B"/>
            </a:solidFill>
            <a:prstDash val="solid"/>
          </a:ln>
        </p:spPr>
      </p:sp>
      <p:sp>
        <p:nvSpPr>
          <p:cNvPr id="89" name="ovl_s23_nt_v3"/>
          <p:cNvSpPr txBox="1"/>
          <p:nvPr/>
        </p:nvSpPr>
        <p:spPr>
          <a:xfrm>
            <a:off x="7306056" y="3822192"/>
            <a:ext cx="9326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実在</a:t>
            </a:r>
            <a:endParaRPr lang="en-US" sz="1000" dirty="0"/>
          </a:p>
        </p:txBody>
      </p:sp>
      <p:sp>
        <p:nvSpPr>
          <p:cNvPr id="90" name="ovl_s23_ns_v3"/>
          <p:cNvSpPr txBox="1"/>
          <p:nvPr/>
        </p:nvSpPr>
        <p:spPr>
          <a:xfrm>
            <a:off x="7315200" y="4027932"/>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罠</a:t>
            </a:r>
            <a:endParaRPr lang="en-US" sz="850" dirty="0"/>
          </a:p>
        </p:txBody>
      </p:sp>
      <p:sp>
        <p:nvSpPr>
          <p:cNvPr id="91" name="ovl_s23_n_v4"/>
          <p:cNvSpPr/>
          <p:nvPr/>
        </p:nvSpPr>
        <p:spPr>
          <a:xfrm>
            <a:off x="7269480" y="4700016"/>
            <a:ext cx="1005840" cy="704088"/>
          </a:xfrm>
          <a:prstGeom prst="roundRect">
            <a:avLst>
              <a:gd name="adj" fmla="val 7792"/>
            </a:avLst>
          </a:prstGeom>
          <a:solidFill>
            <a:srgbClr val="FFFFFF"/>
          </a:solidFill>
          <a:ln w="19050">
            <a:solidFill>
              <a:srgbClr val="C0392B"/>
            </a:solidFill>
            <a:prstDash val="solid"/>
          </a:ln>
        </p:spPr>
      </p:sp>
      <p:sp>
        <p:nvSpPr>
          <p:cNvPr id="92" name="ovl_s23_nt_v4"/>
          <p:cNvSpPr txBox="1"/>
          <p:nvPr/>
        </p:nvSpPr>
        <p:spPr>
          <a:xfrm>
            <a:off x="7306056" y="4727448"/>
            <a:ext cx="9326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実在</a:t>
            </a:r>
            <a:endParaRPr lang="en-US" sz="1000" dirty="0"/>
          </a:p>
        </p:txBody>
      </p:sp>
      <p:sp>
        <p:nvSpPr>
          <p:cNvPr id="93" name="ovl_s23_ns_v4"/>
          <p:cNvSpPr txBox="1"/>
          <p:nvPr/>
        </p:nvSpPr>
        <p:spPr>
          <a:xfrm>
            <a:off x="7315200" y="4933188"/>
            <a:ext cx="914400" cy="44348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罠</a:t>
            </a:r>
            <a:endParaRPr lang="en-US" sz="850" dirty="0"/>
          </a:p>
        </p:txBody>
      </p:sp>
      <p:sp>
        <p:nvSpPr>
          <p:cNvPr id="94" name="ovl_s23_lab0"/>
          <p:cNvSpPr txBox="1"/>
          <p:nvPr/>
        </p:nvSpPr>
        <p:spPr>
          <a:xfrm>
            <a:off x="1932051" y="2103120"/>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寿命を疑う</a:t>
            </a:r>
            <a:endParaRPr lang="en-US" sz="850" dirty="0"/>
          </a:p>
        </p:txBody>
      </p:sp>
      <p:sp>
        <p:nvSpPr>
          <p:cNvPr id="95" name="ovl_s23_lab1"/>
          <p:cNvSpPr txBox="1"/>
          <p:nvPr/>
        </p:nvSpPr>
        <p:spPr>
          <a:xfrm>
            <a:off x="4210469" y="2103120"/>
            <a:ext cx="49446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① </a:t>
            </a:r>
            <a:r>
              <a:rPr lang="en-US" sz="850" dirty="0">
                <a:solidFill>
                  <a:srgbClr val="767676"/>
                </a:solidFill>
                <a:latin typeface="Meiryo UI" pitchFamily="34" charset="0"/>
                <a:ea typeface="Meiryo UI" pitchFamily="34" charset="-122"/>
                <a:cs typeface="Meiryo UI" pitchFamily="34" charset="-120"/>
              </a:rPr>
              <a:t>反証</a:t>
            </a:r>
            <a:endParaRPr lang="en-US" sz="850" dirty="0"/>
          </a:p>
        </p:txBody>
      </p:sp>
      <p:sp>
        <p:nvSpPr>
          <p:cNvPr id="96" name="ovl_s23_lab3"/>
          <p:cNvSpPr txBox="1"/>
          <p:nvPr/>
        </p:nvSpPr>
        <p:spPr>
          <a:xfrm>
            <a:off x="1932051" y="3008376"/>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赤字を疑う</a:t>
            </a:r>
            <a:endParaRPr lang="en-US" sz="850" dirty="0"/>
          </a:p>
        </p:txBody>
      </p:sp>
      <p:sp>
        <p:nvSpPr>
          <p:cNvPr id="97" name="ovl_s23_lab4"/>
          <p:cNvSpPr txBox="1"/>
          <p:nvPr/>
        </p:nvSpPr>
        <p:spPr>
          <a:xfrm>
            <a:off x="4152176" y="3008376"/>
            <a:ext cx="611048"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767676"/>
                </a:solidFill>
                <a:latin typeface="Meiryo UI" pitchFamily="34" charset="0"/>
                <a:ea typeface="Meiryo UI" pitchFamily="34" charset="-122"/>
                <a:cs typeface="Meiryo UI" pitchFamily="34" charset="-120"/>
              </a:rPr>
              <a:t>② </a:t>
            </a:r>
            <a:r>
              <a:rPr lang="en-US" sz="850" dirty="0">
                <a:solidFill>
                  <a:srgbClr val="767676"/>
                </a:solidFill>
                <a:latin typeface="Meiryo UI" pitchFamily="34" charset="0"/>
                <a:ea typeface="Meiryo UI" pitchFamily="34" charset="-122"/>
                <a:cs typeface="Meiryo UI" pitchFamily="34" charset="-120"/>
              </a:rPr>
              <a:t>裏付け</a:t>
            </a:r>
            <a:endParaRPr lang="en-US" sz="850" dirty="0"/>
          </a:p>
        </p:txBody>
      </p:sp>
      <p:sp>
        <p:nvSpPr>
          <p:cNvPr id="98" name="ovl_s23_lab6"/>
          <p:cNvSpPr txBox="1"/>
          <p:nvPr/>
        </p:nvSpPr>
        <p:spPr>
          <a:xfrm>
            <a:off x="1932051" y="391363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集中を疑う</a:t>
            </a:r>
            <a:endParaRPr lang="en-US" sz="850" dirty="0"/>
          </a:p>
        </p:txBody>
      </p:sp>
      <p:sp>
        <p:nvSpPr>
          <p:cNvPr id="99" name="ovl_s23_lab7"/>
          <p:cNvSpPr txBox="1"/>
          <p:nvPr/>
        </p:nvSpPr>
        <p:spPr>
          <a:xfrm>
            <a:off x="4069080" y="3771900"/>
            <a:ext cx="7772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③ </a:t>
            </a:r>
            <a:r>
              <a:rPr lang="en-US" sz="850" dirty="0">
                <a:solidFill>
                  <a:srgbClr val="C0392B"/>
                </a:solidFill>
                <a:latin typeface="Meiryo UI" pitchFamily="34" charset="0"/>
                <a:ea typeface="Meiryo UI" pitchFamily="34" charset="-122"/>
                <a:cs typeface="Meiryo UI" pitchFamily="34" charset="-120"/>
              </a:rPr>
              <a:t>支払いは</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調達頼み</a:t>
            </a:r>
            <a:endParaRPr lang="en-US" sz="850" dirty="0"/>
          </a:p>
        </p:txBody>
      </p:sp>
      <p:sp>
        <p:nvSpPr>
          <p:cNvPr id="100" name="ovl_s23_lab9"/>
          <p:cNvSpPr txBox="1"/>
          <p:nvPr/>
        </p:nvSpPr>
        <p:spPr>
          <a:xfrm>
            <a:off x="1932051" y="4818888"/>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信用を疑う</a:t>
            </a:r>
            <a:endParaRPr lang="en-US" sz="850" dirty="0"/>
          </a:p>
        </p:txBody>
      </p:sp>
      <p:sp>
        <p:nvSpPr>
          <p:cNvPr id="101" name="ovl_s23_lab10"/>
          <p:cNvSpPr txBox="1"/>
          <p:nvPr/>
        </p:nvSpPr>
        <p:spPr>
          <a:xfrm>
            <a:off x="4069080" y="4677156"/>
            <a:ext cx="77724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債券も</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同じ見方</a:t>
            </a:r>
            <a:endParaRPr lang="en-US" sz="850" dirty="0"/>
          </a:p>
        </p:txBody>
      </p:sp>
      <p:sp>
        <p:nvSpPr>
          <p:cNvPr id="102" name="ovl_s23_leg0"/>
          <p:cNvSpPr/>
          <p:nvPr/>
        </p:nvSpPr>
        <p:spPr>
          <a:xfrm>
            <a:off x="457200" y="5660136"/>
            <a:ext cx="365760" cy="914"/>
          </a:xfrm>
          <a:prstGeom prst="line">
            <a:avLst/>
          </a:prstGeom>
          <a:noFill/>
          <a:ln w="15875">
            <a:solidFill>
              <a:srgbClr val="C0392B"/>
            </a:solidFill>
            <a:prstDash val="dash"/>
            <a:tailEnd type="triangle"/>
          </a:ln>
        </p:spPr>
      </p:sp>
      <p:sp>
        <p:nvSpPr>
          <p:cNvPr id="103" name="ovl_s23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4" name="ovl_s23_leg1"/>
          <p:cNvSpPr/>
          <p:nvPr/>
        </p:nvSpPr>
        <p:spPr>
          <a:xfrm>
            <a:off x="1874520" y="5660136"/>
            <a:ext cx="365760" cy="914"/>
          </a:xfrm>
          <a:prstGeom prst="line">
            <a:avLst/>
          </a:prstGeom>
          <a:noFill/>
          <a:ln w="12700">
            <a:solidFill>
              <a:srgbClr val="767676"/>
            </a:solidFill>
            <a:prstDash val="sysDash"/>
            <a:tailEnd type="triangle"/>
          </a:ln>
        </p:spPr>
      </p:sp>
      <p:sp>
        <p:nvSpPr>
          <p:cNvPr id="105" name="ovl_s23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6" name="ovl_s23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7"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08" name="mech"/>
          <p:cNvSpPr txBox="1"/>
          <p:nvPr/>
        </p:nvSpPr>
        <p:spPr>
          <a:xfrm>
            <a:off x="8458200" y="1810512"/>
            <a:ext cx="3276295" cy="2308352"/>
          </a:xfrm>
          <a:prstGeom prst="rect">
            <a:avLst/>
          </a:prstGeom>
          <a:noFill/>
          <a:ln/>
        </p:spPr>
        <p:txBody>
          <a:bodyPr wrap="square" lIns="381" tIns="381" rIns="381" bIns="381" rtlCol="0" anchor="t"/>
          <a:lstStyle/>
          <a:p>
            <a:pPr indent="0" marL="0">
              <a:spcAft>
                <a:spcPts val="500"/>
              </a:spcAft>
              <a:buNone/>
            </a:pPr>
            <a:r>
              <a:rPr lang="en-US" sz="1000" b="1" dirty="0">
                <a:solidFill>
                  <a:srgbClr val="197A56"/>
                </a:solidFill>
                <a:latin typeface="Meiryo UI" pitchFamily="34" charset="0"/>
                <a:ea typeface="Meiryo UI" pitchFamily="34" charset="-122"/>
                <a:cs typeface="Meiryo UI" pitchFamily="34" charset="-120"/>
              </a:rPr>
              <a:t>① </a:t>
            </a:r>
            <a:r>
              <a:rPr lang="en-US" sz="1000" dirty="0">
                <a:solidFill>
                  <a:srgbClr val="333333"/>
                </a:solidFill>
                <a:latin typeface="Meiryo UI" pitchFamily="34" charset="0"/>
                <a:ea typeface="Meiryo UI" pitchFamily="34" charset="-122"/>
                <a:cs typeface="Meiryo UI" pitchFamily="34" charset="-120"/>
              </a:rPr>
              <a:t>GPU 寿命の悲観は、更新・再販 +20% と H100 の再契約(元の 95%)が反証する。</a:t>
            </a:r>
            <a:br/>
            <a:r>
              <a:rPr lang="en-US" sz="1000" dirty="0">
                <a:solidFill>
                  <a:srgbClr val="333333"/>
                </a:solidFill>
                <a:latin typeface="Meiryo UI" pitchFamily="34" charset="0"/>
                <a:ea typeface="Meiryo UI" pitchFamily="34" charset="-122"/>
                <a:cs typeface="Meiryo UI" pitchFamily="34" charset="-120"/>
              </a:rPr>
              <a:t>市場の見落とし</a:t>
            </a:r>
            <a:endParaRPr lang="en-US" sz="1000" dirty="0"/>
          </a:p>
          <a:p>
            <a:pPr indent="0" marL="0">
              <a:spcAft>
                <a:spcPts val="500"/>
              </a:spcAft>
              <a:buNone/>
            </a:pPr>
            <a:r>
              <a:rPr lang="en-US" sz="1000" b="1" dirty="0">
                <a:solidFill>
                  <a:srgbClr val="197A56"/>
                </a:solidFill>
                <a:latin typeface="Meiryo UI" pitchFamily="34" charset="0"/>
                <a:ea typeface="Meiryo UI" pitchFamily="34" charset="-122"/>
                <a:cs typeface="Meiryo UI" pitchFamily="34" charset="-120"/>
              </a:rPr>
              <a:t>② </a:t>
            </a:r>
            <a:r>
              <a:rPr lang="en-US" sz="1000" dirty="0">
                <a:solidFill>
                  <a:srgbClr val="333333"/>
                </a:solidFill>
                <a:latin typeface="Meiryo UI" pitchFamily="34" charset="0"/>
                <a:ea typeface="Meiryo UI" pitchFamily="34" charset="-122"/>
                <a:cs typeface="Meiryo UI" pitchFamily="34" charset="-120"/>
              </a:rPr>
              <a:t>FCF の赤字は契約済み需要への</a:t>
            </a:r>
            <a:br/>
            <a:r>
              <a:rPr lang="en-US" sz="1000" dirty="0">
                <a:solidFill>
                  <a:srgbClr val="333333"/>
                </a:solidFill>
                <a:latin typeface="Meiryo UI" pitchFamily="34" charset="0"/>
                <a:ea typeface="Meiryo UI" pitchFamily="34" charset="-122"/>
                <a:cs typeface="Meiryo UI" pitchFamily="34" charset="-120"/>
              </a:rPr>
              <a:t>先行投資(J カーブ)。会社は FY28 下期の黒字化と追加調達の上限を約束し、</a:t>
            </a:r>
            <a:br/>
            <a:r>
              <a:rPr lang="en-US" sz="1000" dirty="0">
                <a:solidFill>
                  <a:srgbClr val="333333"/>
                </a:solidFill>
                <a:latin typeface="Meiryo UI" pitchFamily="34" charset="0"/>
                <a:ea typeface="Meiryo UI" pitchFamily="34" charset="-122"/>
                <a:cs typeface="Meiryo UI" pitchFamily="34" charset="-120"/>
              </a:rPr>
              <a:t>エンジンでも成り立つ</a:t>
            </a:r>
            <a:endParaRPr lang="en-US" sz="1000" dirty="0"/>
          </a:p>
          <a:p>
            <a:pPr indent="0" marL="0">
              <a:spcAft>
                <a:spcPts val="500"/>
              </a:spcAft>
              <a:buNone/>
            </a:pPr>
            <a:r>
              <a:rPr lang="en-US" sz="1000" b="1" dirty="0">
                <a:solidFill>
                  <a:srgbClr val="197A56"/>
                </a:solidFill>
                <a:latin typeface="Meiryo UI" pitchFamily="34" charset="0"/>
                <a:ea typeface="Meiryo UI" pitchFamily="34" charset="-122"/>
                <a:cs typeface="Meiryo UI" pitchFamily="34" charset="-120"/>
              </a:rPr>
              <a:t>③ </a:t>
            </a:r>
            <a:r>
              <a:rPr lang="en-US" sz="1000" dirty="0">
                <a:solidFill>
                  <a:srgbClr val="333333"/>
                </a:solidFill>
                <a:latin typeface="Meiryo UI" pitchFamily="34" charset="0"/>
                <a:ea typeface="Meiryo UI" pitchFamily="34" charset="-122"/>
                <a:cs typeface="Meiryo UI" pitchFamily="34" charset="-120"/>
              </a:rPr>
              <a:t>受注残の約 45% は OpenAI。</a:t>
            </a:r>
            <a:br/>
            <a:r>
              <a:rPr lang="en-US" sz="1000" dirty="0">
                <a:solidFill>
                  <a:srgbClr val="333333"/>
                </a:solidFill>
                <a:latin typeface="Meiryo UI" pitchFamily="34" charset="0"/>
                <a:ea typeface="Meiryo UI" pitchFamily="34" charset="-122"/>
                <a:cs typeface="Meiryo UI" pitchFamily="34" charset="-120"/>
              </a:rPr>
              <a:t>OpenAI の FCF は 2026〜30 年累計 −2,780 億ドルで、支払いは資金調達頼み</a:t>
            </a:r>
            <a:endParaRPr lang="en-US" sz="1000" dirty="0"/>
          </a:p>
          <a:p>
            <a:pPr indent="0" marL="0">
              <a:spcAft>
                <a:spcPts val="500"/>
              </a:spcAft>
              <a:buNone/>
            </a:pPr>
            <a:r>
              <a:rPr lang="en-US" sz="1000" b="1" dirty="0">
                <a:solidFill>
                  <a:srgbClr val="197A56"/>
                </a:solidFill>
                <a:latin typeface="Meiryo UI" pitchFamily="34" charset="0"/>
                <a:ea typeface="Meiryo UI" pitchFamily="34" charset="-122"/>
                <a:cs typeface="Meiryo UI" pitchFamily="34" charset="-120"/>
              </a:rPr>
              <a:t>④ </a:t>
            </a:r>
            <a:r>
              <a:rPr lang="en-US" sz="1000" dirty="0">
                <a:solidFill>
                  <a:srgbClr val="333333"/>
                </a:solidFill>
                <a:latin typeface="Meiryo UI" pitchFamily="34" charset="0"/>
                <a:ea typeface="Meiryo UI" pitchFamily="34" charset="-122"/>
                <a:cs typeface="Meiryo UI" pitchFamily="34" charset="-120"/>
              </a:rPr>
              <a:t>CDS 277bp(5 年で 21% の倒産を織り込む)と</a:t>
            </a:r>
            <a:br/>
            <a:r>
              <a:rPr lang="en-US" sz="1000" dirty="0">
                <a:solidFill>
                  <a:srgbClr val="333333"/>
                </a:solidFill>
                <a:latin typeface="Meiryo UI" pitchFamily="34" charset="0"/>
                <a:ea typeface="Meiryo UI" pitchFamily="34" charset="-122"/>
                <a:cs typeface="Meiryo UI" pitchFamily="34" charset="-120"/>
              </a:rPr>
              <a:t>S&amp;P の条件は、債券市場がまだリスクを価格に入れている証拠</a:t>
            </a:r>
            <a:endParaRPr lang="en-US" sz="1000" dirty="0"/>
          </a:p>
        </p:txBody>
      </p:sp>
      <p:sp>
        <p:nvSpPr>
          <p:cNvPr id="109" name="ovl_takeaway_bg"/>
          <p:cNvSpPr/>
          <p:nvPr/>
        </p:nvSpPr>
        <p:spPr>
          <a:xfrm>
            <a:off x="8458200" y="4192016"/>
            <a:ext cx="3276295" cy="922528"/>
          </a:xfrm>
          <a:prstGeom prst="rect">
            <a:avLst/>
          </a:prstGeom>
          <a:solidFill>
            <a:srgbClr val="EAF4EE"/>
          </a:solidFill>
          <a:ln w="12700">
            <a:solidFill>
              <a:srgbClr val="EAF4EE"/>
            </a:solidFill>
            <a:prstDash val="solid"/>
          </a:ln>
        </p:spPr>
      </p:sp>
      <p:sp>
        <p:nvSpPr>
          <p:cNvPr id="110" name="takeaway"/>
          <p:cNvSpPr txBox="1"/>
          <p:nvPr/>
        </p:nvSpPr>
        <p:spPr>
          <a:xfrm>
            <a:off x="8567928" y="4265168"/>
            <a:ext cx="3056839" cy="776224"/>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資金繰りの疑いには会社の数字の道筋が出た</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(B に近づく)。ただし事前の条件(CDS 200bp 未満・OpenAI 比率 40% 未満)は未達で、OpenAI 集中は実在のため C</a:t>
            </a:r>
            <a:endParaRPr lang="en-US" sz="1000" dirty="0"/>
          </a:p>
        </p:txBody>
      </p:sp>
      <p:sp>
        <p:nvSpPr>
          <p:cNvPr id="111"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OpenAI の比率が 40% 未満に下がり、CDS が 200bp 未満に戻れば B</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CDS が 300bp を超えるか、FY29 より前に BB+ になれば D 候補</a:t>
            </a:r>
            <a:endParaRPr lang="en-US" sz="850" dirty="0"/>
          </a:p>
        </p:txBody>
      </p:sp>
      <p:sp>
        <p:nvSpPr>
          <p:cNvPr id="112"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113"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CDS 5年 200bp 未満で B(現在 277bp)、300bp 超で D 候補 / FY29 より前の BB+ で D 候補 / OpenAI の比率 40% 未満で確度を上げ、契約変更・支払遅延の報道で E 候補</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製品と設備の性格(条件8〜12)(1/5)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115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115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コモディティ性(条件8)</a:t>
            </a:r>
            <a:endParaRPr lang="en-US" sz="1000" dirty="0"/>
          </a:p>
        </p:txBody>
      </p:sp>
      <p:sp>
        <p:nvSpPr>
          <p:cNvPr id="14" name="hdr_why"/>
          <p:cNvSpPr txBox="1"/>
          <p:nvPr/>
        </p:nvSpPr>
        <p:spPr>
          <a:xfrm>
            <a:off x="2719324" y="356616"/>
            <a:ext cx="9015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商品になる部分は需給が緩むと利益が消える。価値のどれだけが商品かを測る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は代替の利かない製品だが、価値の 41% を占める AI 容量は、</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需給が緩むと限界供給者の損益分岐で値が決まる商品になる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供給者 → Oracle の事業(1 株価値の内訳)→ 買い手 ← 代替と価格の基準。①〜⑤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需給エンジン第4.4版(セグメント価値)、research3/W3_industry_structure.md、ICE・CME の発表(2026-05)、Epoch AI、SemiAnalysis ClusterMAX v3.0</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30</a:t>
            </a:r>
            <a:endParaRPr lang="en-US" sz="800" dirty="0"/>
          </a:p>
        </p:txBody>
      </p:sp>
      <p:sp>
        <p:nvSpPr>
          <p:cNvPr id="19" name="ovl_badge"/>
          <p:cNvSpPr/>
          <p:nvPr/>
        </p:nvSpPr>
        <p:spPr>
          <a:xfrm>
            <a:off x="10865815" y="649224"/>
            <a:ext cx="868680" cy="677570"/>
          </a:xfrm>
          <a:prstGeom prst="roundRect">
            <a:avLst>
              <a:gd name="adj" fmla="val 10796"/>
            </a:avLst>
          </a:prstGeom>
          <a:solidFill>
            <a:srgbClr val="D68910"/>
          </a:solidFill>
          <a:ln w="12700">
            <a:solidFill>
              <a:srgbClr val="D68910"/>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C</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条件8</a:t>
            </a:r>
            <a:endParaRPr lang="en-US" sz="800" dirty="0"/>
          </a:p>
        </p:txBody>
      </p:sp>
      <p:sp>
        <p:nvSpPr>
          <p:cNvPr id="22" name="bg_lane0"/>
          <p:cNvSpPr/>
          <p:nvPr/>
        </p:nvSpPr>
        <p:spPr>
          <a:xfrm>
            <a:off x="347472" y="1517904"/>
            <a:ext cx="1316736" cy="4005072"/>
          </a:xfrm>
          <a:prstGeom prst="rect">
            <a:avLst/>
          </a:prstGeom>
          <a:solidFill>
            <a:srgbClr val="F2F2F2"/>
          </a:solidFill>
          <a:ln w="12700">
            <a:solidFill>
              <a:srgbClr val="F2F2F2"/>
            </a:solidFill>
            <a:prstDash val="solid"/>
          </a:ln>
        </p:spPr>
      </p:sp>
      <p:sp>
        <p:nvSpPr>
          <p:cNvPr id="23" name="bg_laneh0"/>
          <p:cNvSpPr/>
          <p:nvPr/>
        </p:nvSpPr>
        <p:spPr>
          <a:xfrm>
            <a:off x="347472" y="1517904"/>
            <a:ext cx="13167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3167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供給者</a:t>
            </a:r>
            <a:endParaRPr lang="en-US" sz="950" dirty="0"/>
          </a:p>
        </p:txBody>
      </p:sp>
      <p:sp>
        <p:nvSpPr>
          <p:cNvPr id="25" name="bg_lane1"/>
          <p:cNvSpPr/>
          <p:nvPr/>
        </p:nvSpPr>
        <p:spPr>
          <a:xfrm>
            <a:off x="2404872" y="1517904"/>
            <a:ext cx="1545336" cy="4005072"/>
          </a:xfrm>
          <a:prstGeom prst="rect">
            <a:avLst/>
          </a:prstGeom>
          <a:solidFill>
            <a:srgbClr val="EAF4EE"/>
          </a:solidFill>
          <a:ln w="12700">
            <a:solidFill>
              <a:srgbClr val="EAF4EE"/>
            </a:solidFill>
            <a:prstDash val="solid"/>
          </a:ln>
        </p:spPr>
      </p:sp>
      <p:sp>
        <p:nvSpPr>
          <p:cNvPr id="26" name="bg_laneh1"/>
          <p:cNvSpPr/>
          <p:nvPr/>
        </p:nvSpPr>
        <p:spPr>
          <a:xfrm>
            <a:off x="2404872" y="1517904"/>
            <a:ext cx="1545336" cy="274320"/>
          </a:xfrm>
          <a:prstGeom prst="rect">
            <a:avLst/>
          </a:prstGeom>
          <a:solidFill>
            <a:srgbClr val="197A56"/>
          </a:solidFill>
          <a:ln w="12700">
            <a:solidFill>
              <a:srgbClr val="197A56"/>
            </a:solidFill>
            <a:prstDash val="solid"/>
          </a:ln>
        </p:spPr>
      </p:sp>
      <p:sp>
        <p:nvSpPr>
          <p:cNvPr id="27" name="bg_lanet1"/>
          <p:cNvSpPr txBox="1"/>
          <p:nvPr/>
        </p:nvSpPr>
        <p:spPr>
          <a:xfrm>
            <a:off x="2404872" y="1517904"/>
            <a:ext cx="1545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の事業</a:t>
            </a:r>
            <a:endParaRPr lang="en-US" sz="950" dirty="0"/>
          </a:p>
        </p:txBody>
      </p:sp>
      <p:sp>
        <p:nvSpPr>
          <p:cNvPr id="28" name="bg_lane2"/>
          <p:cNvSpPr/>
          <p:nvPr/>
        </p:nvSpPr>
        <p:spPr>
          <a:xfrm>
            <a:off x="4690872" y="1517904"/>
            <a:ext cx="1499616" cy="4005072"/>
          </a:xfrm>
          <a:prstGeom prst="rect">
            <a:avLst/>
          </a:prstGeom>
          <a:solidFill>
            <a:srgbClr val="F2F2F2"/>
          </a:solidFill>
          <a:ln w="12700">
            <a:solidFill>
              <a:srgbClr val="F2F2F2"/>
            </a:solidFill>
            <a:prstDash val="solid"/>
          </a:ln>
        </p:spPr>
      </p:sp>
      <p:sp>
        <p:nvSpPr>
          <p:cNvPr id="29" name="bg_laneh2"/>
          <p:cNvSpPr/>
          <p:nvPr/>
        </p:nvSpPr>
        <p:spPr>
          <a:xfrm>
            <a:off x="4690872" y="1517904"/>
            <a:ext cx="1499616" cy="274320"/>
          </a:xfrm>
          <a:prstGeom prst="rect">
            <a:avLst/>
          </a:prstGeom>
          <a:solidFill>
            <a:srgbClr val="D9D9D9"/>
          </a:solidFill>
          <a:ln w="12700">
            <a:solidFill>
              <a:srgbClr val="D9D9D9"/>
            </a:solidFill>
            <a:prstDash val="solid"/>
          </a:ln>
        </p:spPr>
      </p:sp>
      <p:sp>
        <p:nvSpPr>
          <p:cNvPr id="30" name="bg_lanet2"/>
          <p:cNvSpPr txBox="1"/>
          <p:nvPr/>
        </p:nvSpPr>
        <p:spPr>
          <a:xfrm>
            <a:off x="4690872" y="1517904"/>
            <a:ext cx="149961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買い手</a:t>
            </a:r>
            <a:endParaRPr lang="en-US" sz="950" dirty="0"/>
          </a:p>
        </p:txBody>
      </p:sp>
      <p:sp>
        <p:nvSpPr>
          <p:cNvPr id="31" name="bg_lane3"/>
          <p:cNvSpPr/>
          <p:nvPr/>
        </p:nvSpPr>
        <p:spPr>
          <a:xfrm>
            <a:off x="6931152" y="1517904"/>
            <a:ext cx="1453896" cy="4005072"/>
          </a:xfrm>
          <a:prstGeom prst="rect">
            <a:avLst/>
          </a:prstGeom>
          <a:solidFill>
            <a:srgbClr val="F2F2F2"/>
          </a:solidFill>
          <a:ln w="12700">
            <a:solidFill>
              <a:srgbClr val="F2F2F2"/>
            </a:solidFill>
            <a:prstDash val="solid"/>
          </a:ln>
        </p:spPr>
      </p:sp>
      <p:sp>
        <p:nvSpPr>
          <p:cNvPr id="32" name="bg_laneh3"/>
          <p:cNvSpPr/>
          <p:nvPr/>
        </p:nvSpPr>
        <p:spPr>
          <a:xfrm>
            <a:off x="6931152" y="1517904"/>
            <a:ext cx="1453896" cy="274320"/>
          </a:xfrm>
          <a:prstGeom prst="rect">
            <a:avLst/>
          </a:prstGeom>
          <a:solidFill>
            <a:srgbClr val="D9D9D9"/>
          </a:solidFill>
          <a:ln w="12700">
            <a:solidFill>
              <a:srgbClr val="D9D9D9"/>
            </a:solidFill>
            <a:prstDash val="solid"/>
          </a:ln>
        </p:spPr>
      </p:sp>
      <p:sp>
        <p:nvSpPr>
          <p:cNvPr id="33" name="bg_lanet3"/>
          <p:cNvSpPr txBox="1"/>
          <p:nvPr/>
        </p:nvSpPr>
        <p:spPr>
          <a:xfrm>
            <a:off x="693115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代替・価格の基準</a:t>
            </a:r>
            <a:endParaRPr lang="en-US" sz="950" dirty="0"/>
          </a:p>
        </p:txBody>
      </p:sp>
      <p:sp>
        <p:nvSpPr>
          <p:cNvPr id="34" name="ovl_s24_e0_0"/>
          <p:cNvSpPr/>
          <p:nvPr/>
        </p:nvSpPr>
        <p:spPr>
          <a:xfrm>
            <a:off x="1554480" y="2487168"/>
            <a:ext cx="960120" cy="914"/>
          </a:xfrm>
          <a:prstGeom prst="line">
            <a:avLst/>
          </a:prstGeom>
          <a:noFill/>
          <a:ln w="19050">
            <a:solidFill>
              <a:srgbClr val="1BA1A6"/>
            </a:solidFill>
            <a:prstDash val="solid"/>
            <a:tailEnd type="triangle"/>
          </a:ln>
        </p:spPr>
      </p:sp>
      <p:sp>
        <p:nvSpPr>
          <p:cNvPr id="35" name="ovl_s24_e1_0"/>
          <p:cNvSpPr/>
          <p:nvPr/>
        </p:nvSpPr>
        <p:spPr>
          <a:xfrm flipH="1">
            <a:off x="1554480" y="3694176"/>
            <a:ext cx="960120" cy="914"/>
          </a:xfrm>
          <a:prstGeom prst="line">
            <a:avLst/>
          </a:prstGeom>
          <a:noFill/>
          <a:ln w="22225">
            <a:solidFill>
              <a:srgbClr val="0E4D33"/>
            </a:solidFill>
            <a:prstDash val="solid"/>
            <a:tailEnd type="triangle"/>
          </a:ln>
        </p:spPr>
      </p:sp>
      <p:sp>
        <p:nvSpPr>
          <p:cNvPr id="36" name="ovl_s24_e2_0"/>
          <p:cNvSpPr/>
          <p:nvPr/>
        </p:nvSpPr>
        <p:spPr>
          <a:xfrm>
            <a:off x="1554480" y="4901184"/>
            <a:ext cx="960120" cy="914"/>
          </a:xfrm>
          <a:prstGeom prst="line">
            <a:avLst/>
          </a:prstGeom>
          <a:noFill/>
          <a:ln w="15875">
            <a:solidFill>
              <a:srgbClr val="C0392B"/>
            </a:solidFill>
            <a:prstDash val="dash"/>
            <a:tailEnd type="triangle"/>
          </a:ln>
        </p:spPr>
      </p:sp>
      <p:sp>
        <p:nvSpPr>
          <p:cNvPr id="37" name="ovl_s24_e3_0"/>
          <p:cNvSpPr/>
          <p:nvPr/>
        </p:nvSpPr>
        <p:spPr>
          <a:xfrm>
            <a:off x="3840480" y="2487168"/>
            <a:ext cx="960120" cy="914"/>
          </a:xfrm>
          <a:prstGeom prst="line">
            <a:avLst/>
          </a:prstGeom>
          <a:noFill/>
          <a:ln w="19050">
            <a:solidFill>
              <a:srgbClr val="1BA1A6"/>
            </a:solidFill>
            <a:prstDash val="solid"/>
            <a:tailEnd type="triangle"/>
          </a:ln>
        </p:spPr>
      </p:sp>
      <p:sp>
        <p:nvSpPr>
          <p:cNvPr id="38" name="ovl_s24_e4_0"/>
          <p:cNvSpPr/>
          <p:nvPr/>
        </p:nvSpPr>
        <p:spPr>
          <a:xfrm>
            <a:off x="3840480" y="3611880"/>
            <a:ext cx="960120" cy="914"/>
          </a:xfrm>
          <a:prstGeom prst="line">
            <a:avLst/>
          </a:prstGeom>
          <a:noFill/>
          <a:ln w="19050">
            <a:solidFill>
              <a:srgbClr val="1BA1A6"/>
            </a:solidFill>
            <a:prstDash val="solid"/>
            <a:tailEnd type="triangle"/>
          </a:ln>
        </p:spPr>
      </p:sp>
      <p:sp>
        <p:nvSpPr>
          <p:cNvPr id="39" name="ovl_s24_e5_0"/>
          <p:cNvSpPr/>
          <p:nvPr/>
        </p:nvSpPr>
        <p:spPr>
          <a:xfrm flipH="1">
            <a:off x="6080760" y="3694176"/>
            <a:ext cx="960120" cy="914"/>
          </a:xfrm>
          <a:prstGeom prst="line">
            <a:avLst/>
          </a:prstGeom>
          <a:noFill/>
          <a:ln w="15875">
            <a:solidFill>
              <a:srgbClr val="C0392B"/>
            </a:solidFill>
            <a:prstDash val="dash"/>
            <a:tailEnd type="triangle"/>
          </a:ln>
        </p:spPr>
      </p:sp>
      <p:sp>
        <p:nvSpPr>
          <p:cNvPr id="40" name="ovl_s24_e6_0"/>
          <p:cNvSpPr/>
          <p:nvPr/>
        </p:nvSpPr>
        <p:spPr>
          <a:xfrm flipH="1">
            <a:off x="6080760" y="2487168"/>
            <a:ext cx="960120" cy="914"/>
          </a:xfrm>
          <a:prstGeom prst="line">
            <a:avLst/>
          </a:prstGeom>
          <a:noFill/>
          <a:ln w="15875">
            <a:solidFill>
              <a:srgbClr val="C0392B"/>
            </a:solidFill>
            <a:prstDash val="dash"/>
            <a:tailEnd type="triangle"/>
          </a:ln>
        </p:spPr>
      </p:sp>
      <p:sp>
        <p:nvSpPr>
          <p:cNvPr id="41" name="ovl_s24_e7_0"/>
          <p:cNvSpPr/>
          <p:nvPr/>
        </p:nvSpPr>
        <p:spPr>
          <a:xfrm flipH="1">
            <a:off x="3840480" y="4901184"/>
            <a:ext cx="3200400" cy="914"/>
          </a:xfrm>
          <a:prstGeom prst="line">
            <a:avLst/>
          </a:prstGeom>
          <a:noFill/>
          <a:ln w="15875">
            <a:solidFill>
              <a:srgbClr val="C0392B"/>
            </a:solidFill>
            <a:prstDash val="dash"/>
            <a:tailEnd type="triangle"/>
          </a:ln>
        </p:spPr>
      </p:sp>
      <p:sp>
        <p:nvSpPr>
          <p:cNvPr id="42" name="ovl_s24_e8_0"/>
          <p:cNvSpPr/>
          <p:nvPr/>
        </p:nvSpPr>
        <p:spPr>
          <a:xfrm flipH="1">
            <a:off x="3840480" y="3776472"/>
            <a:ext cx="960120" cy="914"/>
          </a:xfrm>
          <a:prstGeom prst="line">
            <a:avLst/>
          </a:prstGeom>
          <a:noFill/>
          <a:ln w="15875">
            <a:solidFill>
              <a:srgbClr val="C0392B"/>
            </a:solidFill>
            <a:prstDash val="dash"/>
            <a:tailEnd type="triangle"/>
          </a:ln>
        </p:spPr>
      </p:sp>
      <p:sp>
        <p:nvSpPr>
          <p:cNvPr id="43" name="ovl_s24_n_dbtech"/>
          <p:cNvSpPr/>
          <p:nvPr/>
        </p:nvSpPr>
        <p:spPr>
          <a:xfrm>
            <a:off x="457200" y="2112264"/>
            <a:ext cx="1097280" cy="749808"/>
          </a:xfrm>
          <a:prstGeom prst="roundRect">
            <a:avLst>
              <a:gd name="adj" fmla="val 7317"/>
            </a:avLst>
          </a:prstGeom>
          <a:solidFill>
            <a:srgbClr val="EAF4EE"/>
          </a:solidFill>
          <a:ln w="9525">
            <a:solidFill>
              <a:srgbClr val="86C99B"/>
            </a:solidFill>
            <a:prstDash val="solid"/>
          </a:ln>
        </p:spPr>
      </p:sp>
      <p:sp>
        <p:nvSpPr>
          <p:cNvPr id="44" name="ovl_s24_nt_dbtech"/>
          <p:cNvSpPr txBox="1"/>
          <p:nvPr/>
        </p:nvSpPr>
        <p:spPr>
          <a:xfrm>
            <a:off x="493776" y="2139696"/>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の技術</a:t>
            </a:r>
            <a:endParaRPr lang="en-US" sz="1000" dirty="0"/>
          </a:p>
        </p:txBody>
      </p:sp>
      <p:sp>
        <p:nvSpPr>
          <p:cNvPr id="45" name="ovl_s24_ns_dbtech"/>
          <p:cNvSpPr txBox="1"/>
          <p:nvPr/>
        </p:nvSpPr>
        <p:spPr>
          <a:xfrm>
            <a:off x="502920" y="2345436"/>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代替なし</a:t>
            </a:r>
            <a:endParaRPr lang="en-US" sz="850" dirty="0"/>
          </a:p>
        </p:txBody>
      </p:sp>
      <p:sp>
        <p:nvSpPr>
          <p:cNvPr id="46" name="ovl_s24_n_nv"/>
          <p:cNvSpPr/>
          <p:nvPr/>
        </p:nvSpPr>
        <p:spPr>
          <a:xfrm>
            <a:off x="457200" y="3319272"/>
            <a:ext cx="1097280" cy="749808"/>
          </a:xfrm>
          <a:prstGeom prst="roundRect">
            <a:avLst>
              <a:gd name="adj" fmla="val 7317"/>
            </a:avLst>
          </a:prstGeom>
          <a:solidFill>
            <a:srgbClr val="FFFFFF"/>
          </a:solidFill>
          <a:ln w="9525">
            <a:solidFill>
              <a:srgbClr val="767676"/>
            </a:solidFill>
            <a:prstDash val="solid"/>
          </a:ln>
        </p:spPr>
      </p:sp>
      <p:sp>
        <p:nvSpPr>
          <p:cNvPr id="47" name="ovl_s24_nt_nv"/>
          <p:cNvSpPr txBox="1"/>
          <p:nvPr/>
        </p:nvSpPr>
        <p:spPr>
          <a:xfrm>
            <a:off x="493776" y="3346704"/>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NVIDIA</a:t>
            </a:r>
            <a:endParaRPr lang="en-US" sz="1000" dirty="0"/>
          </a:p>
        </p:txBody>
      </p:sp>
      <p:sp>
        <p:nvSpPr>
          <p:cNvPr id="48" name="ovl_s24_ns_nv"/>
          <p:cNvSpPr txBox="1"/>
          <p:nvPr/>
        </p:nvSpPr>
        <p:spPr>
          <a:xfrm>
            <a:off x="502920" y="3552444"/>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AI 計算の約 8 割</a:t>
            </a:r>
            <a:endParaRPr lang="en-US" sz="850" dirty="0"/>
          </a:p>
        </p:txBody>
      </p:sp>
      <p:sp>
        <p:nvSpPr>
          <p:cNvPr id="49" name="ovl_s24_n_mem"/>
          <p:cNvSpPr/>
          <p:nvPr/>
        </p:nvSpPr>
        <p:spPr>
          <a:xfrm>
            <a:off x="457200" y="4526280"/>
            <a:ext cx="1097280" cy="749808"/>
          </a:xfrm>
          <a:prstGeom prst="roundRect">
            <a:avLst>
              <a:gd name="adj" fmla="val 7317"/>
            </a:avLst>
          </a:prstGeom>
          <a:solidFill>
            <a:srgbClr val="FFFFFF"/>
          </a:solidFill>
          <a:ln w="19050">
            <a:solidFill>
              <a:srgbClr val="C0392B"/>
            </a:solidFill>
            <a:prstDash val="solid"/>
          </a:ln>
        </p:spPr>
      </p:sp>
      <p:sp>
        <p:nvSpPr>
          <p:cNvPr id="50" name="ovl_s24_nt_mem"/>
          <p:cNvSpPr txBox="1"/>
          <p:nvPr/>
        </p:nvSpPr>
        <p:spPr>
          <a:xfrm>
            <a:off x="493776" y="455371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メモリ・電力</a:t>
            </a:r>
            <a:endParaRPr lang="en-US" sz="1000" dirty="0"/>
          </a:p>
        </p:txBody>
      </p:sp>
      <p:sp>
        <p:nvSpPr>
          <p:cNvPr id="51" name="ovl_s24_ns_mem"/>
          <p:cNvSpPr txBox="1"/>
          <p:nvPr/>
        </p:nvSpPr>
        <p:spPr>
          <a:xfrm>
            <a:off x="502920" y="475945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逼迫は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2028 年まで</a:t>
            </a:r>
            <a:endParaRPr lang="en-US" sz="850" dirty="0"/>
          </a:p>
        </p:txBody>
      </p:sp>
      <p:sp>
        <p:nvSpPr>
          <p:cNvPr id="52" name="ovl_s24_n_diff"/>
          <p:cNvSpPr/>
          <p:nvPr/>
        </p:nvSpPr>
        <p:spPr>
          <a:xfrm>
            <a:off x="2514600" y="2112264"/>
            <a:ext cx="1325880" cy="749808"/>
          </a:xfrm>
          <a:prstGeom prst="roundRect">
            <a:avLst>
              <a:gd name="adj" fmla="val 7317"/>
            </a:avLst>
          </a:prstGeom>
          <a:solidFill>
            <a:srgbClr val="FFFFFF"/>
          </a:solidFill>
          <a:ln w="19050">
            <a:solidFill>
              <a:srgbClr val="197A56"/>
            </a:solidFill>
            <a:prstDash val="solid"/>
          </a:ln>
        </p:spPr>
      </p:sp>
      <p:sp>
        <p:nvSpPr>
          <p:cNvPr id="53" name="ovl_s24_nt_diff"/>
          <p:cNvSpPr txBox="1"/>
          <p:nvPr/>
        </p:nvSpPr>
        <p:spPr>
          <a:xfrm>
            <a:off x="2551176" y="2139696"/>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保守・SaaS・</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OCI 一般</a:t>
            </a:r>
            <a:endParaRPr lang="en-US" sz="900" dirty="0"/>
          </a:p>
        </p:txBody>
      </p:sp>
      <p:sp>
        <p:nvSpPr>
          <p:cNvPr id="54" name="ovl_s24_ns_diff"/>
          <p:cNvSpPr txBox="1"/>
          <p:nvPr/>
        </p:nvSpPr>
        <p:spPr>
          <a:xfrm>
            <a:off x="2560320" y="2496312"/>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 株 120 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(45 + 44 + 31)</a:t>
            </a:r>
            <a:endParaRPr lang="en-US" sz="850" dirty="0"/>
          </a:p>
        </p:txBody>
      </p:sp>
      <p:sp>
        <p:nvSpPr>
          <p:cNvPr id="55" name="ovl_s24_n_ai"/>
          <p:cNvSpPr/>
          <p:nvPr/>
        </p:nvSpPr>
        <p:spPr>
          <a:xfrm>
            <a:off x="2514600" y="3191256"/>
            <a:ext cx="1325880" cy="2212848"/>
          </a:xfrm>
          <a:prstGeom prst="roundRect">
            <a:avLst>
              <a:gd name="adj" fmla="val 4138"/>
            </a:avLst>
          </a:prstGeom>
          <a:solidFill>
            <a:srgbClr val="FFFFFF"/>
          </a:solidFill>
          <a:ln w="19050">
            <a:solidFill>
              <a:srgbClr val="197A56"/>
            </a:solidFill>
            <a:prstDash val="solid"/>
          </a:ln>
        </p:spPr>
      </p:sp>
      <p:sp>
        <p:nvSpPr>
          <p:cNvPr id="56" name="ovl_s24_nt_ai"/>
          <p:cNvSpPr txBox="1"/>
          <p:nvPr/>
        </p:nvSpPr>
        <p:spPr>
          <a:xfrm>
            <a:off x="2551176" y="321868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7" name="ovl_s24_ns_ai"/>
          <p:cNvSpPr txBox="1"/>
          <p:nvPr/>
        </p:nvSpPr>
        <p:spPr>
          <a:xfrm>
            <a:off x="2560320" y="3424428"/>
            <a:ext cx="1234440" cy="195224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 株 97 ドル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(価値の 41%)</a:t>
            </a:r>
            <a:endParaRPr lang="en-US" sz="850" dirty="0"/>
          </a:p>
          <a:p>
            <a:pPr algn="ctr" indent="0" marL="0">
              <a:buNone/>
            </a:pP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差: 電力の確保・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RDMA 網・品質 Gold</a:t>
            </a:r>
            <a:endParaRPr lang="en-US" sz="850" dirty="0"/>
          </a:p>
        </p:txBody>
      </p:sp>
      <p:sp>
        <p:nvSpPr>
          <p:cNvPr id="58" name="ovl_s24_n_ent"/>
          <p:cNvSpPr/>
          <p:nvPr/>
        </p:nvSpPr>
        <p:spPr>
          <a:xfrm>
            <a:off x="4800600" y="2112264"/>
            <a:ext cx="1280160" cy="749808"/>
          </a:xfrm>
          <a:prstGeom prst="roundRect">
            <a:avLst>
              <a:gd name="adj" fmla="val 7317"/>
            </a:avLst>
          </a:prstGeom>
          <a:solidFill>
            <a:srgbClr val="FFFFFF"/>
          </a:solidFill>
          <a:ln w="9525">
            <a:solidFill>
              <a:srgbClr val="767676"/>
            </a:solidFill>
            <a:prstDash val="solid"/>
          </a:ln>
        </p:spPr>
      </p:sp>
      <p:sp>
        <p:nvSpPr>
          <p:cNvPr id="59" name="ovl_s24_nt_ent"/>
          <p:cNvSpPr txBox="1"/>
          <p:nvPr/>
        </p:nvSpPr>
        <p:spPr>
          <a:xfrm>
            <a:off x="4837176" y="2139696"/>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a:t>
            </a:r>
            <a:endParaRPr lang="en-US" sz="1000" dirty="0"/>
          </a:p>
        </p:txBody>
      </p:sp>
      <p:sp>
        <p:nvSpPr>
          <p:cNvPr id="60" name="ovl_s24_ns_ent"/>
          <p:cNvSpPr txBox="1"/>
          <p:nvPr/>
        </p:nvSpPr>
        <p:spPr>
          <a:xfrm>
            <a:off x="4846320" y="2345436"/>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データの近くで推論</a:t>
            </a:r>
            <a:endParaRPr lang="en-US" sz="850" dirty="0"/>
          </a:p>
        </p:txBody>
      </p:sp>
      <p:sp>
        <p:nvSpPr>
          <p:cNvPr id="61" name="ovl_s24_n_lab"/>
          <p:cNvSpPr/>
          <p:nvPr/>
        </p:nvSpPr>
        <p:spPr>
          <a:xfrm>
            <a:off x="4800600" y="3319272"/>
            <a:ext cx="1280160" cy="749808"/>
          </a:xfrm>
          <a:prstGeom prst="roundRect">
            <a:avLst>
              <a:gd name="adj" fmla="val 7317"/>
            </a:avLst>
          </a:prstGeom>
          <a:solidFill>
            <a:srgbClr val="FFFFFF"/>
          </a:solidFill>
          <a:ln w="9525">
            <a:solidFill>
              <a:srgbClr val="767676"/>
            </a:solidFill>
            <a:prstDash val="solid"/>
          </a:ln>
        </p:spPr>
      </p:sp>
      <p:sp>
        <p:nvSpPr>
          <p:cNvPr id="62" name="ovl_s24_nt_lab"/>
          <p:cNvSpPr txBox="1"/>
          <p:nvPr/>
        </p:nvSpPr>
        <p:spPr>
          <a:xfrm>
            <a:off x="4837176" y="3346704"/>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a:t>
            </a:r>
            <a:endParaRPr lang="en-US" sz="1000" dirty="0"/>
          </a:p>
        </p:txBody>
      </p:sp>
      <p:sp>
        <p:nvSpPr>
          <p:cNvPr id="63" name="ovl_s24_ns_lab"/>
          <p:cNvSpPr txBox="1"/>
          <p:nvPr/>
        </p:nvSpPr>
        <p:spPr>
          <a:xfrm>
            <a:off x="4846320" y="3552444"/>
            <a:ext cx="118872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最も安い容量を選ぶ</a:t>
            </a:r>
            <a:endParaRPr lang="en-US" sz="850" dirty="0"/>
          </a:p>
        </p:txBody>
      </p:sp>
      <p:sp>
        <p:nvSpPr>
          <p:cNvPr id="64" name="ovl_s24_n_hyper"/>
          <p:cNvSpPr/>
          <p:nvPr/>
        </p:nvSpPr>
        <p:spPr>
          <a:xfrm>
            <a:off x="7040880" y="2112264"/>
            <a:ext cx="1234440" cy="749808"/>
          </a:xfrm>
          <a:prstGeom prst="roundRect">
            <a:avLst>
              <a:gd name="adj" fmla="val 7317"/>
            </a:avLst>
          </a:prstGeom>
          <a:solidFill>
            <a:srgbClr val="FFFFFF"/>
          </a:solidFill>
          <a:ln w="9525">
            <a:solidFill>
              <a:srgbClr val="767676"/>
            </a:solidFill>
            <a:prstDash val="solid"/>
          </a:ln>
        </p:spPr>
      </p:sp>
      <p:sp>
        <p:nvSpPr>
          <p:cNvPr id="65" name="ovl_s24_nt_hyper"/>
          <p:cNvSpPr txBox="1"/>
          <p:nvPr/>
        </p:nvSpPr>
        <p:spPr>
          <a:xfrm>
            <a:off x="7077456" y="2139696"/>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66" name="ovl_s24_ns_hyper"/>
          <p:cNvSpPr txBox="1"/>
          <p:nvPr/>
        </p:nvSpPr>
        <p:spPr>
          <a:xfrm>
            <a:off x="7086600" y="2345436"/>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7.19 ドル/時</a:t>
            </a:r>
            <a:endParaRPr lang="en-US" sz="850" dirty="0"/>
          </a:p>
        </p:txBody>
      </p:sp>
      <p:sp>
        <p:nvSpPr>
          <p:cNvPr id="67" name="ovl_s24_n_neo"/>
          <p:cNvSpPr/>
          <p:nvPr/>
        </p:nvSpPr>
        <p:spPr>
          <a:xfrm>
            <a:off x="7040880" y="3319272"/>
            <a:ext cx="1234440" cy="749808"/>
          </a:xfrm>
          <a:prstGeom prst="roundRect">
            <a:avLst>
              <a:gd name="adj" fmla="val 7317"/>
            </a:avLst>
          </a:prstGeom>
          <a:solidFill>
            <a:srgbClr val="FFFFFF"/>
          </a:solidFill>
          <a:ln w="19050">
            <a:solidFill>
              <a:srgbClr val="C0392B"/>
            </a:solidFill>
            <a:prstDash val="solid"/>
          </a:ln>
        </p:spPr>
      </p:sp>
      <p:sp>
        <p:nvSpPr>
          <p:cNvPr id="68" name="ovl_s24_nt_neo"/>
          <p:cNvSpPr txBox="1"/>
          <p:nvPr/>
        </p:nvSpPr>
        <p:spPr>
          <a:xfrm>
            <a:off x="7077456" y="3346704"/>
            <a:ext cx="11612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ネオクラウド</a:t>
            </a:r>
            <a:endParaRPr lang="en-US" sz="1000" dirty="0"/>
          </a:p>
        </p:txBody>
      </p:sp>
      <p:sp>
        <p:nvSpPr>
          <p:cNvPr id="69" name="ovl_s24_ns_neo"/>
          <p:cNvSpPr txBox="1"/>
          <p:nvPr/>
        </p:nvSpPr>
        <p:spPr>
          <a:xfrm>
            <a:off x="7086600" y="3552444"/>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H100 実勢</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2.80 ドル/時</a:t>
            </a:r>
            <a:endParaRPr lang="en-US" sz="850" dirty="0"/>
          </a:p>
        </p:txBody>
      </p:sp>
      <p:sp>
        <p:nvSpPr>
          <p:cNvPr id="70" name="ovl_s24_n_fut"/>
          <p:cNvSpPr/>
          <p:nvPr/>
        </p:nvSpPr>
        <p:spPr>
          <a:xfrm>
            <a:off x="7040880" y="4526280"/>
            <a:ext cx="1234440" cy="749808"/>
          </a:xfrm>
          <a:prstGeom prst="roundRect">
            <a:avLst>
              <a:gd name="adj" fmla="val 7317"/>
            </a:avLst>
          </a:prstGeom>
          <a:solidFill>
            <a:srgbClr val="FFFFFF"/>
          </a:solidFill>
          <a:ln w="19050">
            <a:solidFill>
              <a:srgbClr val="C0392B"/>
            </a:solidFill>
            <a:prstDash val="solid"/>
          </a:ln>
        </p:spPr>
      </p:sp>
      <p:sp>
        <p:nvSpPr>
          <p:cNvPr id="71" name="ovl_s24_nt_fut"/>
          <p:cNvSpPr txBox="1"/>
          <p:nvPr/>
        </p:nvSpPr>
        <p:spPr>
          <a:xfrm>
            <a:off x="7077456" y="4553712"/>
            <a:ext cx="116128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価格指数・先物</a:t>
            </a:r>
            <a:endParaRPr lang="en-US" sz="1000" dirty="0"/>
          </a:p>
        </p:txBody>
      </p:sp>
      <p:sp>
        <p:nvSpPr>
          <p:cNvPr id="72" name="ovl_s24_ns_fut"/>
          <p:cNvSpPr txBox="1"/>
          <p:nvPr/>
        </p:nvSpPr>
        <p:spPr>
          <a:xfrm>
            <a:off x="7086600" y="4759452"/>
            <a:ext cx="114300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Silicon Data・Ornn</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ICE・CME が準備</a:t>
            </a:r>
            <a:endParaRPr lang="en-US" sz="850" dirty="0"/>
          </a:p>
        </p:txBody>
      </p:sp>
      <p:sp>
        <p:nvSpPr>
          <p:cNvPr id="73" name="ovl_s24_tag_diff"/>
          <p:cNvSpPr/>
          <p:nvPr/>
        </p:nvSpPr>
        <p:spPr>
          <a:xfrm>
            <a:off x="2933700" y="1901952"/>
            <a:ext cx="487680" cy="182880"/>
          </a:xfrm>
          <a:prstGeom prst="roundRect">
            <a:avLst>
              <a:gd name="adj" fmla="val 20000"/>
            </a:avLst>
          </a:prstGeom>
          <a:solidFill>
            <a:srgbClr val="197A56"/>
          </a:solidFill>
          <a:ln w="12700">
            <a:solidFill>
              <a:srgbClr val="197A56"/>
            </a:solidFill>
            <a:prstDash val="solid"/>
          </a:ln>
        </p:spPr>
      </p:sp>
      <p:sp>
        <p:nvSpPr>
          <p:cNvPr id="74" name="ovl_s24_tagt_diff"/>
          <p:cNvSpPr txBox="1"/>
          <p:nvPr/>
        </p:nvSpPr>
        <p:spPr>
          <a:xfrm>
            <a:off x="2933700" y="1901952"/>
            <a:ext cx="4876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差別化</a:t>
            </a:r>
            <a:endParaRPr lang="en-US" sz="800" dirty="0"/>
          </a:p>
        </p:txBody>
      </p:sp>
      <p:sp>
        <p:nvSpPr>
          <p:cNvPr id="75" name="ovl_s24_tag_ai"/>
          <p:cNvSpPr/>
          <p:nvPr/>
        </p:nvSpPr>
        <p:spPr>
          <a:xfrm>
            <a:off x="2781300" y="2980944"/>
            <a:ext cx="792480" cy="182880"/>
          </a:xfrm>
          <a:prstGeom prst="roundRect">
            <a:avLst>
              <a:gd name="adj" fmla="val 20000"/>
            </a:avLst>
          </a:prstGeom>
          <a:solidFill>
            <a:srgbClr val="C0392B"/>
          </a:solidFill>
          <a:ln w="12700">
            <a:solidFill>
              <a:srgbClr val="C0392B"/>
            </a:solidFill>
            <a:prstDash val="solid"/>
          </a:ln>
        </p:spPr>
      </p:sp>
      <p:sp>
        <p:nvSpPr>
          <p:cNvPr id="76" name="ovl_s24_tagt_ai"/>
          <p:cNvSpPr txBox="1"/>
          <p:nvPr/>
        </p:nvSpPr>
        <p:spPr>
          <a:xfrm>
            <a:off x="2781300" y="2980944"/>
            <a:ext cx="79248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緩和後は商品</a:t>
            </a:r>
            <a:endParaRPr lang="en-US" sz="800" dirty="0"/>
          </a:p>
        </p:txBody>
      </p:sp>
      <p:sp>
        <p:nvSpPr>
          <p:cNvPr id="77" name="ovl_s24_lab1"/>
          <p:cNvSpPr txBox="1"/>
          <p:nvPr/>
        </p:nvSpPr>
        <p:spPr>
          <a:xfrm>
            <a:off x="1807712" y="3461004"/>
            <a:ext cx="453657"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GPU 代</a:t>
            </a:r>
            <a:endParaRPr lang="en-US" sz="850" dirty="0"/>
          </a:p>
        </p:txBody>
      </p:sp>
      <p:sp>
        <p:nvSpPr>
          <p:cNvPr id="78" name="ovl_s24_lab2"/>
          <p:cNvSpPr txBox="1"/>
          <p:nvPr/>
        </p:nvSpPr>
        <p:spPr>
          <a:xfrm>
            <a:off x="1688211" y="466801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原価の上昇</a:t>
            </a:r>
            <a:endParaRPr lang="en-US" sz="850" dirty="0"/>
          </a:p>
        </p:txBody>
      </p:sp>
      <p:sp>
        <p:nvSpPr>
          <p:cNvPr id="79" name="ovl_s24_lab3"/>
          <p:cNvSpPr txBox="1"/>
          <p:nvPr/>
        </p:nvSpPr>
        <p:spPr>
          <a:xfrm>
            <a:off x="3956723" y="2253996"/>
            <a:ext cx="727634"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代替なし</a:t>
            </a:r>
            <a:endParaRPr lang="en-US" sz="850" dirty="0"/>
          </a:p>
        </p:txBody>
      </p:sp>
      <p:sp>
        <p:nvSpPr>
          <p:cNvPr id="80" name="ovl_s24_lab4"/>
          <p:cNvSpPr txBox="1"/>
          <p:nvPr/>
        </p:nvSpPr>
        <p:spPr>
          <a:xfrm>
            <a:off x="3959638" y="3378708"/>
            <a:ext cx="721805"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② </a:t>
            </a:r>
            <a:r>
              <a:rPr lang="en-US" sz="850" dirty="0">
                <a:solidFill>
                  <a:srgbClr val="1BA1A6"/>
                </a:solidFill>
                <a:latin typeface="Meiryo UI" pitchFamily="34" charset="0"/>
                <a:ea typeface="Meiryo UI" pitchFamily="34" charset="-122"/>
                <a:cs typeface="Meiryo UI" pitchFamily="34" charset="-120"/>
              </a:rPr>
              <a:t>GPU 時間</a:t>
            </a:r>
            <a:endParaRPr lang="en-US" sz="850" dirty="0"/>
          </a:p>
        </p:txBody>
      </p:sp>
      <p:sp>
        <p:nvSpPr>
          <p:cNvPr id="81" name="ovl_s24_lab5"/>
          <p:cNvSpPr txBox="1"/>
          <p:nvPr/>
        </p:nvSpPr>
        <p:spPr>
          <a:xfrm>
            <a:off x="6195060" y="3319272"/>
            <a:ext cx="731520" cy="347472"/>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③ </a:t>
            </a:r>
            <a:r>
              <a:rPr lang="en-US" sz="850" dirty="0">
                <a:solidFill>
                  <a:srgbClr val="C0392B"/>
                </a:solidFill>
                <a:latin typeface="Meiryo UI" pitchFamily="34" charset="0"/>
                <a:ea typeface="Meiryo UI" pitchFamily="34" charset="-122"/>
                <a:cs typeface="Meiryo UI" pitchFamily="34" charset="-120"/>
              </a:rPr>
              <a:t>約 2.6 倍</a:t>
            </a:r>
            <a:endParaRPr lang="en-US" sz="850" dirty="0"/>
          </a:p>
          <a:p>
            <a:pPr algn="ctr" indent="0" marL="0">
              <a:buNone/>
            </a:pPr>
            <a:r>
              <a:rPr lang="en-US" sz="850" dirty="0">
                <a:solidFill>
                  <a:srgbClr val="C0392B"/>
                </a:solidFill>
                <a:latin typeface="Meiryo UI" pitchFamily="34" charset="0"/>
                <a:ea typeface="Meiryo UI" pitchFamily="34" charset="-122"/>
                <a:cs typeface="Meiryo UI" pitchFamily="34" charset="-120"/>
              </a:rPr>
              <a:t>安い</a:t>
            </a:r>
            <a:endParaRPr lang="en-US" sz="850" dirty="0"/>
          </a:p>
        </p:txBody>
      </p:sp>
      <p:sp>
        <p:nvSpPr>
          <p:cNvPr id="82" name="ovl_s24_lab6"/>
          <p:cNvSpPr txBox="1"/>
          <p:nvPr/>
        </p:nvSpPr>
        <p:spPr>
          <a:xfrm>
            <a:off x="6249467" y="2253996"/>
            <a:ext cx="62270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DB の移行</a:t>
            </a:r>
            <a:endParaRPr lang="en-US" sz="850" dirty="0"/>
          </a:p>
        </p:txBody>
      </p:sp>
      <p:sp>
        <p:nvSpPr>
          <p:cNvPr id="83" name="ovl_s24_lab7"/>
          <p:cNvSpPr txBox="1"/>
          <p:nvPr/>
        </p:nvSpPr>
        <p:spPr>
          <a:xfrm>
            <a:off x="4960277" y="4668012"/>
            <a:ext cx="960806"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価格の標準化</a:t>
            </a:r>
            <a:endParaRPr lang="en-US" sz="850" dirty="0"/>
          </a:p>
        </p:txBody>
      </p:sp>
      <p:sp>
        <p:nvSpPr>
          <p:cNvPr id="84" name="ovl_s24_num8"/>
          <p:cNvSpPr/>
          <p:nvPr/>
        </p:nvSpPr>
        <p:spPr>
          <a:xfrm>
            <a:off x="4201668" y="3657600"/>
            <a:ext cx="237744" cy="237744"/>
          </a:xfrm>
          <a:prstGeom prst="ellipse">
            <a:avLst/>
          </a:prstGeom>
          <a:solidFill>
            <a:srgbClr val="C0392B"/>
          </a:solidFill>
          <a:ln w="12700">
            <a:solidFill>
              <a:srgbClr val="FFFFFF"/>
            </a:solidFill>
            <a:prstDash val="solid"/>
          </a:ln>
        </p:spPr>
      </p:sp>
      <p:sp>
        <p:nvSpPr>
          <p:cNvPr id="85" name="ovl_s24_numt8"/>
          <p:cNvSpPr txBox="1"/>
          <p:nvPr/>
        </p:nvSpPr>
        <p:spPr>
          <a:xfrm>
            <a:off x="4201668" y="36576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5</a:t>
            </a:r>
            <a:endParaRPr lang="en-US" sz="900" dirty="0"/>
          </a:p>
        </p:txBody>
      </p:sp>
      <p:sp>
        <p:nvSpPr>
          <p:cNvPr id="86" name="ovl_s24_leg0"/>
          <p:cNvSpPr/>
          <p:nvPr/>
        </p:nvSpPr>
        <p:spPr>
          <a:xfrm>
            <a:off x="457200" y="5660136"/>
            <a:ext cx="365760" cy="914"/>
          </a:xfrm>
          <a:prstGeom prst="line">
            <a:avLst/>
          </a:prstGeom>
          <a:noFill/>
          <a:ln w="22225">
            <a:solidFill>
              <a:srgbClr val="0E4D33"/>
            </a:solidFill>
            <a:prstDash val="solid"/>
            <a:tailEnd type="triangle"/>
          </a:ln>
        </p:spPr>
      </p:sp>
      <p:sp>
        <p:nvSpPr>
          <p:cNvPr id="87" name="ovl_s24_legt0"/>
          <p:cNvSpPr txBox="1"/>
          <p:nvPr/>
        </p:nvSpPr>
        <p:spPr>
          <a:xfrm>
            <a:off x="87782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88" name="ovl_s24_leg1"/>
          <p:cNvSpPr/>
          <p:nvPr/>
        </p:nvSpPr>
        <p:spPr>
          <a:xfrm>
            <a:off x="1874520" y="5660136"/>
            <a:ext cx="365760" cy="914"/>
          </a:xfrm>
          <a:prstGeom prst="line">
            <a:avLst/>
          </a:prstGeom>
          <a:noFill/>
          <a:ln w="19050">
            <a:solidFill>
              <a:srgbClr val="1BA1A6"/>
            </a:solidFill>
            <a:prstDash val="solid"/>
            <a:tailEnd type="triangle"/>
          </a:ln>
        </p:spPr>
      </p:sp>
      <p:sp>
        <p:nvSpPr>
          <p:cNvPr id="89" name="ovl_s24_legt1"/>
          <p:cNvSpPr txBox="1"/>
          <p:nvPr/>
        </p:nvSpPr>
        <p:spPr>
          <a:xfrm>
            <a:off x="229514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0" name="ovl_s24_leg2"/>
          <p:cNvSpPr/>
          <p:nvPr/>
        </p:nvSpPr>
        <p:spPr>
          <a:xfrm>
            <a:off x="3291840" y="5660136"/>
            <a:ext cx="365760" cy="914"/>
          </a:xfrm>
          <a:prstGeom prst="line">
            <a:avLst/>
          </a:prstGeom>
          <a:noFill/>
          <a:ln w="15875">
            <a:solidFill>
              <a:srgbClr val="C0392B"/>
            </a:solidFill>
            <a:prstDash val="dash"/>
            <a:tailEnd type="triangle"/>
          </a:ln>
        </p:spPr>
      </p:sp>
      <p:sp>
        <p:nvSpPr>
          <p:cNvPr id="91" name="ovl_s24_legt2"/>
          <p:cNvSpPr txBox="1"/>
          <p:nvPr/>
        </p:nvSpPr>
        <p:spPr>
          <a:xfrm>
            <a:off x="3712464" y="5559552"/>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2" name="ovl_s24_legn"/>
          <p:cNvSpPr txBox="1"/>
          <p:nvPr/>
        </p:nvSpPr>
        <p:spPr>
          <a:xfrm>
            <a:off x="6126480" y="5559552"/>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93"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4" name="mech"/>
          <p:cNvSpPr txBox="1"/>
          <p:nvPr/>
        </p:nvSpPr>
        <p:spPr>
          <a:xfrm>
            <a:off x="8458200" y="1810512"/>
            <a:ext cx="3276295" cy="240233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DB・Database@ はデータのある場所で動く。代替がなく、価格は Oracle が決める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AI 容量の買い手は最も安い容量を選ぶ。</a:t>
            </a:r>
            <a:br/>
            <a:r>
              <a:rPr lang="en-US" sz="1100" dirty="0">
                <a:solidFill>
                  <a:srgbClr val="333333"/>
                </a:solidFill>
                <a:latin typeface="Meiryo UI" pitchFamily="34" charset="0"/>
                <a:ea typeface="Meiryo UI" pitchFamily="34" charset="-122"/>
                <a:cs typeface="Meiryo UI" pitchFamily="34" charset="-120"/>
              </a:rPr>
              <a:t>Oracle の差は電力の確保・RDMA 網・品質(ClusterMAX Gold)</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ネオクラウドの H100 実勢は大手の約 2.6 倍安い。需給が緩むと、限界供給者の損益分岐が価格になる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価格指数と現金決済の先物(ICE・CME)が整い、GPU 時間の価格が標準化しつつある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推論トークンの価格は、同じ性能で</a:t>
            </a:r>
            <a:br/>
            <a:r>
              <a:rPr lang="en-US" sz="1100" dirty="0">
                <a:solidFill>
                  <a:srgbClr val="333333"/>
                </a:solidFill>
                <a:latin typeface="Meiryo UI" pitchFamily="34" charset="0"/>
                <a:ea typeface="Meiryo UI" pitchFamily="34" charset="-122"/>
                <a:cs typeface="Meiryo UI" pitchFamily="34" charset="-120"/>
              </a:rPr>
              <a:t>年 9〜900 倍の速さで下がっている(Epoch)</a:t>
            </a:r>
            <a:endParaRPr lang="en-US" sz="1100" dirty="0"/>
          </a:p>
        </p:txBody>
      </p:sp>
      <p:sp>
        <p:nvSpPr>
          <p:cNvPr id="95" name="ovl_takeaway_bg"/>
          <p:cNvSpPr/>
          <p:nvPr/>
        </p:nvSpPr>
        <p:spPr>
          <a:xfrm>
            <a:off x="8458200" y="4285996"/>
            <a:ext cx="3276295" cy="828548"/>
          </a:xfrm>
          <a:prstGeom prst="rect">
            <a:avLst/>
          </a:prstGeom>
          <a:solidFill>
            <a:srgbClr val="EAF4EE"/>
          </a:solidFill>
          <a:ln w="12700">
            <a:solidFill>
              <a:srgbClr val="EAF4EE"/>
            </a:solidFill>
            <a:prstDash val="solid"/>
          </a:ln>
        </p:spPr>
      </p:sp>
      <p:sp>
        <p:nvSpPr>
          <p:cNvPr id="96" name="takeaway"/>
          <p:cNvSpPr txBox="1"/>
          <p:nvPr/>
        </p:nvSpPr>
        <p:spPr>
          <a:xfrm>
            <a:off x="8567928" y="4359148"/>
            <a:ext cx="3056839" cy="682244"/>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価値の 41% を占める AI 容量が、逼迫の緩和後に商品として値決めされる層にあるため C</a:t>
            </a:r>
            <a:endParaRPr lang="en-US" sz="1000" dirty="0"/>
          </a:p>
        </p:txBody>
      </p:sp>
      <p:sp>
        <p:nvSpPr>
          <p:cNvPr id="97" name="updown"/>
          <p:cNvSpPr txBox="1"/>
          <p:nvPr/>
        </p:nvSpPr>
        <p:spPr>
          <a:xfrm>
            <a:off x="8458200" y="5187696"/>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AI 粗利率 35% 以上が続き、緩和期に入っても更新プレミアムが正なら B</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AI 粗利率が 25% 未満か、更新プレミアムが 0% 以下なら D 候補</a:t>
            </a:r>
            <a:endParaRPr lang="en-US" sz="850" dirty="0"/>
          </a:p>
        </p:txBody>
      </p:sp>
      <p:sp>
        <p:nvSpPr>
          <p:cNvPr id="98" name="ovl_kpibox"/>
          <p:cNvSpPr/>
          <p:nvPr/>
        </p:nvSpPr>
        <p:spPr>
          <a:xfrm>
            <a:off x="457200" y="5870448"/>
            <a:ext cx="11277295" cy="384048"/>
          </a:xfrm>
          <a:prstGeom prst="rect">
            <a:avLst/>
          </a:prstGeom>
          <a:solidFill>
            <a:srgbClr val="F2F2F2"/>
          </a:solidFill>
          <a:ln w="9525">
            <a:solidFill>
              <a:srgbClr val="D68910"/>
            </a:solidFill>
            <a:prstDash val="solid"/>
          </a:ln>
        </p:spPr>
      </p:sp>
      <p:sp>
        <p:nvSpPr>
          <p:cNvPr id="99" name="kpi"/>
          <p:cNvSpPr txBox="1"/>
          <p:nvPr/>
        </p:nvSpPr>
        <p:spPr>
          <a:xfrm>
            <a:off x="548640" y="5888736"/>
            <a:ext cx="11094415" cy="347472"/>
          </a:xfrm>
          <a:prstGeom prst="rect">
            <a:avLst/>
          </a:prstGeom>
          <a:noFill/>
          <a:ln/>
        </p:spPr>
        <p:txBody>
          <a:bodyPr wrap="square" lIns="0" tIns="0" rIns="0" bIns="0" rtlCol="0" anchor="ctr"/>
          <a:lstStyle/>
          <a:p>
            <a:pPr indent="0" marL="0">
              <a:buNone/>
            </a:pPr>
            <a:r>
              <a:rPr lang="en-US" sz="900" dirty="0">
                <a:solidFill>
                  <a:srgbClr val="333333"/>
                </a:solidFill>
                <a:latin typeface="Meiryo UI" pitchFamily="34" charset="0"/>
                <a:ea typeface="Meiryo UI" pitchFamily="34" charset="-122"/>
                <a:cs typeface="Meiryo UI" pitchFamily="34" charset="-120"/>
              </a:rPr>
              <a:t>監視 KPI とトリガー: AI 粗利率(最終開示 32%)が 25% 未満で D 候補・35% 以上で B 候補 / 更新プレミアム(+20%)が 0% 以下で D 候補 / H100 1 年契約の指数(2.65 ドル)が 2.00 ドル未満</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製品と設備の性格(条件8〜12)(2/5)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24282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2428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運用上の不可欠性(条件9)</a:t>
            </a:r>
            <a:endParaRPr lang="en-US" sz="1000" dirty="0"/>
          </a:p>
        </p:txBody>
      </p:sp>
      <p:sp>
        <p:nvSpPr>
          <p:cNvPr id="14" name="hdr_why"/>
          <p:cNvSpPr txBox="1"/>
          <p:nvPr/>
        </p:nvSpPr>
        <p:spPr>
          <a:xfrm>
            <a:off x="2846324" y="356616"/>
            <a:ext cx="888817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顧客が止められない運用に組み込まれていれば、景気後退でも解約されにくい</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止まれば顧客の AI 事業が止まる電力付きの容量で更新率は高いが、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代替のクラウドもあり、不可欠とまでは言えない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供給の基盤 → Oracle → 顧客の運用 ← 代替。①〜④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会社開示(Q4 FY26・Q1 FY27 説明会)、research4/T4_ai_demand.md(McKinsey)、report/r3_sections_5w1h_f20.md §3-4</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31</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条件9</a:t>
            </a:r>
            <a:endParaRPr lang="en-US" sz="800" dirty="0"/>
          </a:p>
        </p:txBody>
      </p:sp>
      <p:sp>
        <p:nvSpPr>
          <p:cNvPr id="22" name="bg_lane0"/>
          <p:cNvSpPr/>
          <p:nvPr/>
        </p:nvSpPr>
        <p:spPr>
          <a:xfrm>
            <a:off x="347472" y="1517904"/>
            <a:ext cx="1453896" cy="4315968"/>
          </a:xfrm>
          <a:prstGeom prst="rect">
            <a:avLst/>
          </a:prstGeom>
          <a:solidFill>
            <a:srgbClr val="F2F2F2"/>
          </a:solidFill>
          <a:ln w="12700">
            <a:solidFill>
              <a:srgbClr val="F2F2F2"/>
            </a:solidFill>
            <a:prstDash val="solid"/>
          </a:ln>
        </p:spPr>
      </p:sp>
      <p:sp>
        <p:nvSpPr>
          <p:cNvPr id="23" name="bg_laneh0"/>
          <p:cNvSpPr/>
          <p:nvPr/>
        </p:nvSpPr>
        <p:spPr>
          <a:xfrm>
            <a:off x="347472" y="1517904"/>
            <a:ext cx="145389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45389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供給の基盤</a:t>
            </a:r>
            <a:endParaRPr lang="en-US" sz="950" dirty="0"/>
          </a:p>
        </p:txBody>
      </p:sp>
      <p:sp>
        <p:nvSpPr>
          <p:cNvPr id="25" name="bg_lane1"/>
          <p:cNvSpPr/>
          <p:nvPr/>
        </p:nvSpPr>
        <p:spPr>
          <a:xfrm>
            <a:off x="2450592" y="1517904"/>
            <a:ext cx="1499616" cy="4315968"/>
          </a:xfrm>
          <a:prstGeom prst="rect">
            <a:avLst/>
          </a:prstGeom>
          <a:solidFill>
            <a:srgbClr val="EAF4EE"/>
          </a:solidFill>
          <a:ln w="12700">
            <a:solidFill>
              <a:srgbClr val="EAF4EE"/>
            </a:solidFill>
            <a:prstDash val="solid"/>
          </a:ln>
        </p:spPr>
      </p:sp>
      <p:sp>
        <p:nvSpPr>
          <p:cNvPr id="26" name="bg_laneh1"/>
          <p:cNvSpPr/>
          <p:nvPr/>
        </p:nvSpPr>
        <p:spPr>
          <a:xfrm>
            <a:off x="2450592" y="1517904"/>
            <a:ext cx="1499616" cy="274320"/>
          </a:xfrm>
          <a:prstGeom prst="rect">
            <a:avLst/>
          </a:prstGeom>
          <a:solidFill>
            <a:srgbClr val="197A56"/>
          </a:solidFill>
          <a:ln w="12700">
            <a:solidFill>
              <a:srgbClr val="197A56"/>
            </a:solidFill>
            <a:prstDash val="solid"/>
          </a:ln>
        </p:spPr>
      </p:sp>
      <p:sp>
        <p:nvSpPr>
          <p:cNvPr id="27" name="bg_lanet1"/>
          <p:cNvSpPr txBox="1"/>
          <p:nvPr/>
        </p:nvSpPr>
        <p:spPr>
          <a:xfrm>
            <a:off x="2450592" y="1517904"/>
            <a:ext cx="14996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a:t>
            </a:r>
            <a:endParaRPr lang="en-US" sz="950" dirty="0"/>
          </a:p>
        </p:txBody>
      </p:sp>
      <p:sp>
        <p:nvSpPr>
          <p:cNvPr id="28" name="bg_lane2"/>
          <p:cNvSpPr/>
          <p:nvPr/>
        </p:nvSpPr>
        <p:spPr>
          <a:xfrm>
            <a:off x="4599432" y="1517904"/>
            <a:ext cx="1636776" cy="4315968"/>
          </a:xfrm>
          <a:prstGeom prst="rect">
            <a:avLst/>
          </a:prstGeom>
          <a:solidFill>
            <a:srgbClr val="F2F2F2"/>
          </a:solidFill>
          <a:ln w="12700">
            <a:solidFill>
              <a:srgbClr val="F2F2F2"/>
            </a:solidFill>
            <a:prstDash val="solid"/>
          </a:ln>
        </p:spPr>
      </p:sp>
      <p:sp>
        <p:nvSpPr>
          <p:cNvPr id="29" name="bg_laneh2"/>
          <p:cNvSpPr/>
          <p:nvPr/>
        </p:nvSpPr>
        <p:spPr>
          <a:xfrm>
            <a:off x="4599432" y="1517904"/>
            <a:ext cx="1636776" cy="274320"/>
          </a:xfrm>
          <a:prstGeom prst="rect">
            <a:avLst/>
          </a:prstGeom>
          <a:solidFill>
            <a:srgbClr val="D9D9D9"/>
          </a:solidFill>
          <a:ln w="12700">
            <a:solidFill>
              <a:srgbClr val="D9D9D9"/>
            </a:solidFill>
            <a:prstDash val="solid"/>
          </a:ln>
        </p:spPr>
      </p:sp>
      <p:sp>
        <p:nvSpPr>
          <p:cNvPr id="30" name="bg_lanet2"/>
          <p:cNvSpPr txBox="1"/>
          <p:nvPr/>
        </p:nvSpPr>
        <p:spPr>
          <a:xfrm>
            <a:off x="4599432" y="1517904"/>
            <a:ext cx="163677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顧客の運用</a:t>
            </a:r>
            <a:endParaRPr lang="en-US" sz="950" dirty="0"/>
          </a:p>
        </p:txBody>
      </p:sp>
      <p:sp>
        <p:nvSpPr>
          <p:cNvPr id="31" name="bg_lane3"/>
          <p:cNvSpPr/>
          <p:nvPr/>
        </p:nvSpPr>
        <p:spPr>
          <a:xfrm>
            <a:off x="6885432" y="1517904"/>
            <a:ext cx="1499616" cy="4315968"/>
          </a:xfrm>
          <a:prstGeom prst="rect">
            <a:avLst/>
          </a:prstGeom>
          <a:solidFill>
            <a:srgbClr val="F2F2F2"/>
          </a:solidFill>
          <a:ln w="12700">
            <a:solidFill>
              <a:srgbClr val="F2F2F2"/>
            </a:solidFill>
            <a:prstDash val="solid"/>
          </a:ln>
        </p:spPr>
      </p:sp>
      <p:sp>
        <p:nvSpPr>
          <p:cNvPr id="32" name="bg_laneh3"/>
          <p:cNvSpPr/>
          <p:nvPr/>
        </p:nvSpPr>
        <p:spPr>
          <a:xfrm>
            <a:off x="6885432" y="1517904"/>
            <a:ext cx="1499616" cy="274320"/>
          </a:xfrm>
          <a:prstGeom prst="rect">
            <a:avLst/>
          </a:prstGeom>
          <a:solidFill>
            <a:srgbClr val="D9D9D9"/>
          </a:solidFill>
          <a:ln w="12700">
            <a:solidFill>
              <a:srgbClr val="D9D9D9"/>
            </a:solidFill>
            <a:prstDash val="solid"/>
          </a:ln>
        </p:spPr>
      </p:sp>
      <p:sp>
        <p:nvSpPr>
          <p:cNvPr id="33" name="bg_lanet3"/>
          <p:cNvSpPr txBox="1"/>
          <p:nvPr/>
        </p:nvSpPr>
        <p:spPr>
          <a:xfrm>
            <a:off x="6885432" y="1517904"/>
            <a:ext cx="149961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代替</a:t>
            </a:r>
            <a:endParaRPr lang="en-US" sz="950" dirty="0"/>
          </a:p>
        </p:txBody>
      </p:sp>
      <p:sp>
        <p:nvSpPr>
          <p:cNvPr id="34" name="ovl_s25_e0_0"/>
          <p:cNvSpPr/>
          <p:nvPr/>
        </p:nvSpPr>
        <p:spPr>
          <a:xfrm>
            <a:off x="1691640" y="2538984"/>
            <a:ext cx="868680" cy="914"/>
          </a:xfrm>
          <a:prstGeom prst="line">
            <a:avLst/>
          </a:prstGeom>
          <a:noFill/>
          <a:ln w="19050">
            <a:solidFill>
              <a:srgbClr val="1BA1A6"/>
            </a:solidFill>
            <a:prstDash val="solid"/>
            <a:tailEnd type="triangle"/>
          </a:ln>
        </p:spPr>
      </p:sp>
      <p:sp>
        <p:nvSpPr>
          <p:cNvPr id="35" name="ovl_s25_e1_0"/>
          <p:cNvSpPr/>
          <p:nvPr/>
        </p:nvSpPr>
        <p:spPr>
          <a:xfrm>
            <a:off x="1691640" y="3849624"/>
            <a:ext cx="868680" cy="914"/>
          </a:xfrm>
          <a:prstGeom prst="line">
            <a:avLst/>
          </a:prstGeom>
          <a:noFill/>
          <a:ln w="19050">
            <a:solidFill>
              <a:srgbClr val="1BA1A6"/>
            </a:solidFill>
            <a:prstDash val="solid"/>
            <a:tailEnd type="triangle"/>
          </a:ln>
        </p:spPr>
      </p:sp>
      <p:sp>
        <p:nvSpPr>
          <p:cNvPr id="36" name="ovl_s25_e2_0"/>
          <p:cNvSpPr/>
          <p:nvPr/>
        </p:nvSpPr>
        <p:spPr>
          <a:xfrm>
            <a:off x="1691640" y="5160264"/>
            <a:ext cx="868680" cy="914"/>
          </a:xfrm>
          <a:prstGeom prst="line">
            <a:avLst/>
          </a:prstGeom>
          <a:noFill/>
          <a:ln w="19050">
            <a:solidFill>
              <a:srgbClr val="1BA1A6"/>
            </a:solidFill>
            <a:prstDash val="solid"/>
            <a:tailEnd type="triangle"/>
          </a:ln>
        </p:spPr>
      </p:sp>
      <p:sp>
        <p:nvSpPr>
          <p:cNvPr id="37" name="ovl_s25_e3_0"/>
          <p:cNvSpPr/>
          <p:nvPr/>
        </p:nvSpPr>
        <p:spPr>
          <a:xfrm>
            <a:off x="3840480" y="2538984"/>
            <a:ext cx="868680" cy="914"/>
          </a:xfrm>
          <a:prstGeom prst="line">
            <a:avLst/>
          </a:prstGeom>
          <a:noFill/>
          <a:ln w="19050">
            <a:solidFill>
              <a:srgbClr val="1BA1A6"/>
            </a:solidFill>
            <a:prstDash val="solid"/>
            <a:tailEnd type="triangle"/>
          </a:ln>
        </p:spPr>
      </p:sp>
      <p:sp>
        <p:nvSpPr>
          <p:cNvPr id="38" name="ovl_s25_e4_0"/>
          <p:cNvSpPr/>
          <p:nvPr/>
        </p:nvSpPr>
        <p:spPr>
          <a:xfrm>
            <a:off x="3840480" y="3849624"/>
            <a:ext cx="868680" cy="914"/>
          </a:xfrm>
          <a:prstGeom prst="line">
            <a:avLst/>
          </a:prstGeom>
          <a:noFill/>
          <a:ln w="19050">
            <a:solidFill>
              <a:srgbClr val="1BA1A6"/>
            </a:solidFill>
            <a:prstDash val="solid"/>
            <a:tailEnd type="triangle"/>
          </a:ln>
        </p:spPr>
      </p:sp>
      <p:sp>
        <p:nvSpPr>
          <p:cNvPr id="39" name="ovl_s25_e5_0"/>
          <p:cNvSpPr/>
          <p:nvPr/>
        </p:nvSpPr>
        <p:spPr>
          <a:xfrm>
            <a:off x="3840480" y="5160264"/>
            <a:ext cx="868680" cy="914"/>
          </a:xfrm>
          <a:prstGeom prst="line">
            <a:avLst/>
          </a:prstGeom>
          <a:noFill/>
          <a:ln w="19050">
            <a:solidFill>
              <a:srgbClr val="1BA1A6"/>
            </a:solidFill>
            <a:prstDash val="solid"/>
            <a:tailEnd type="triangle"/>
          </a:ln>
        </p:spPr>
      </p:sp>
      <p:sp>
        <p:nvSpPr>
          <p:cNvPr id="40" name="ovl_s25_e6_0"/>
          <p:cNvSpPr/>
          <p:nvPr/>
        </p:nvSpPr>
        <p:spPr>
          <a:xfrm flipH="1">
            <a:off x="6126480" y="2538984"/>
            <a:ext cx="868680" cy="914"/>
          </a:xfrm>
          <a:prstGeom prst="line">
            <a:avLst/>
          </a:prstGeom>
          <a:noFill/>
          <a:ln w="15875">
            <a:solidFill>
              <a:srgbClr val="C0392B"/>
            </a:solidFill>
            <a:prstDash val="dash"/>
            <a:tailEnd type="triangle"/>
          </a:ln>
        </p:spPr>
      </p:sp>
      <p:sp>
        <p:nvSpPr>
          <p:cNvPr id="41" name="ovl_s25_e7_0"/>
          <p:cNvSpPr/>
          <p:nvPr/>
        </p:nvSpPr>
        <p:spPr>
          <a:xfrm flipH="1">
            <a:off x="6126480" y="3849624"/>
            <a:ext cx="868680" cy="914"/>
          </a:xfrm>
          <a:prstGeom prst="line">
            <a:avLst/>
          </a:prstGeom>
          <a:noFill/>
          <a:ln w="15875">
            <a:solidFill>
              <a:srgbClr val="C0392B"/>
            </a:solidFill>
            <a:prstDash val="dash"/>
            <a:tailEnd type="triangle"/>
          </a:ln>
        </p:spPr>
      </p:sp>
      <p:sp>
        <p:nvSpPr>
          <p:cNvPr id="42" name="ovl_s25_e8_0"/>
          <p:cNvSpPr/>
          <p:nvPr/>
        </p:nvSpPr>
        <p:spPr>
          <a:xfrm flipH="1">
            <a:off x="6126480" y="5160264"/>
            <a:ext cx="868680" cy="914"/>
          </a:xfrm>
          <a:prstGeom prst="line">
            <a:avLst/>
          </a:prstGeom>
          <a:noFill/>
          <a:ln w="15875">
            <a:solidFill>
              <a:srgbClr val="C0392B"/>
            </a:solidFill>
            <a:prstDash val="dash"/>
            <a:tailEnd type="triangle"/>
          </a:ln>
        </p:spPr>
      </p:sp>
      <p:sp>
        <p:nvSpPr>
          <p:cNvPr id="43" name="ovl_s25_n_power"/>
          <p:cNvSpPr/>
          <p:nvPr/>
        </p:nvSpPr>
        <p:spPr>
          <a:xfrm>
            <a:off x="457200" y="2145792"/>
            <a:ext cx="1234440" cy="786384"/>
          </a:xfrm>
          <a:prstGeom prst="roundRect">
            <a:avLst>
              <a:gd name="adj" fmla="val 6977"/>
            </a:avLst>
          </a:prstGeom>
          <a:solidFill>
            <a:srgbClr val="EAF4EE"/>
          </a:solidFill>
          <a:ln w="9525">
            <a:solidFill>
              <a:srgbClr val="86C99B"/>
            </a:solidFill>
            <a:prstDash val="solid"/>
          </a:ln>
        </p:spPr>
      </p:sp>
      <p:sp>
        <p:nvSpPr>
          <p:cNvPr id="44" name="ovl_s25_nt_power"/>
          <p:cNvSpPr txBox="1"/>
          <p:nvPr/>
        </p:nvSpPr>
        <p:spPr>
          <a:xfrm>
            <a:off x="493776" y="217322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45" name="ovl_s25_ns_power"/>
          <p:cNvSpPr txBox="1"/>
          <p:nvPr/>
        </p:nvSpPr>
        <p:spPr>
          <a:xfrm>
            <a:off x="502920" y="237896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Q1 FY27 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850MW を納入</a:t>
            </a:r>
            <a:endParaRPr lang="en-US" sz="850" dirty="0"/>
          </a:p>
        </p:txBody>
      </p:sp>
      <p:sp>
        <p:nvSpPr>
          <p:cNvPr id="46" name="ovl_s25_n_gpu"/>
          <p:cNvSpPr/>
          <p:nvPr/>
        </p:nvSpPr>
        <p:spPr>
          <a:xfrm>
            <a:off x="457200" y="3456432"/>
            <a:ext cx="1234440" cy="786384"/>
          </a:xfrm>
          <a:prstGeom prst="roundRect">
            <a:avLst>
              <a:gd name="adj" fmla="val 6977"/>
            </a:avLst>
          </a:prstGeom>
          <a:solidFill>
            <a:srgbClr val="FFFFFF"/>
          </a:solidFill>
          <a:ln w="9525">
            <a:solidFill>
              <a:srgbClr val="767676"/>
            </a:solidFill>
            <a:prstDash val="solid"/>
          </a:ln>
        </p:spPr>
      </p:sp>
      <p:sp>
        <p:nvSpPr>
          <p:cNvPr id="47" name="ovl_s25_nt_gpu"/>
          <p:cNvSpPr txBox="1"/>
          <p:nvPr/>
        </p:nvSpPr>
        <p:spPr>
          <a:xfrm>
            <a:off x="493776" y="348386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GPU クラスタ</a:t>
            </a:r>
            <a:endParaRPr lang="en-US" sz="1000" dirty="0"/>
          </a:p>
        </p:txBody>
      </p:sp>
      <p:sp>
        <p:nvSpPr>
          <p:cNvPr id="48" name="ovl_s25_ns_gpu"/>
          <p:cNvSpPr txBox="1"/>
          <p:nvPr/>
        </p:nvSpPr>
        <p:spPr>
          <a:xfrm>
            <a:off x="502920" y="368960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稼働率 97.9%</a:t>
            </a:r>
            <a:endParaRPr lang="en-US" sz="850" dirty="0"/>
          </a:p>
        </p:txBody>
      </p:sp>
      <p:sp>
        <p:nvSpPr>
          <p:cNvPr id="49" name="ovl_s25_n_db"/>
          <p:cNvSpPr/>
          <p:nvPr/>
        </p:nvSpPr>
        <p:spPr>
          <a:xfrm>
            <a:off x="457200" y="4767072"/>
            <a:ext cx="1234440" cy="786384"/>
          </a:xfrm>
          <a:prstGeom prst="roundRect">
            <a:avLst>
              <a:gd name="adj" fmla="val 6977"/>
            </a:avLst>
          </a:prstGeom>
          <a:solidFill>
            <a:srgbClr val="EAF4EE"/>
          </a:solidFill>
          <a:ln w="9525">
            <a:solidFill>
              <a:srgbClr val="86C99B"/>
            </a:solidFill>
            <a:prstDash val="solid"/>
          </a:ln>
        </p:spPr>
      </p:sp>
      <p:sp>
        <p:nvSpPr>
          <p:cNvPr id="50" name="ovl_s25_nt_db"/>
          <p:cNvSpPr txBox="1"/>
          <p:nvPr/>
        </p:nvSpPr>
        <p:spPr>
          <a:xfrm>
            <a:off x="493776" y="4794504"/>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Oracle DB</a:t>
            </a:r>
            <a:endParaRPr lang="en-US" sz="1000" dirty="0"/>
          </a:p>
        </p:txBody>
      </p:sp>
      <p:sp>
        <p:nvSpPr>
          <p:cNvPr id="51" name="ovl_s25_ns_db"/>
          <p:cNvSpPr txBox="1"/>
          <p:nvPr/>
        </p:nvSpPr>
        <p:spPr>
          <a:xfrm>
            <a:off x="502920" y="5000244"/>
            <a:ext cx="114300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基幹データ</a:t>
            </a:r>
            <a:endParaRPr lang="en-US" sz="850" dirty="0"/>
          </a:p>
        </p:txBody>
      </p:sp>
      <p:sp>
        <p:nvSpPr>
          <p:cNvPr id="52" name="ovl_s25_n_oci"/>
          <p:cNvSpPr/>
          <p:nvPr/>
        </p:nvSpPr>
        <p:spPr>
          <a:xfrm>
            <a:off x="2560320" y="1984248"/>
            <a:ext cx="1280160" cy="2420112"/>
          </a:xfrm>
          <a:prstGeom prst="roundRect">
            <a:avLst>
              <a:gd name="adj" fmla="val 4286"/>
            </a:avLst>
          </a:prstGeom>
          <a:solidFill>
            <a:srgbClr val="197A56"/>
          </a:solidFill>
          <a:ln w="9525">
            <a:solidFill>
              <a:srgbClr val="197A56"/>
            </a:solidFill>
            <a:prstDash val="solid"/>
          </a:ln>
        </p:spPr>
      </p:sp>
      <p:sp>
        <p:nvSpPr>
          <p:cNvPr id="53" name="ovl_s25_nt_oci"/>
          <p:cNvSpPr txBox="1"/>
          <p:nvPr/>
        </p:nvSpPr>
        <p:spPr>
          <a:xfrm>
            <a:off x="2596896" y="2011680"/>
            <a:ext cx="1207008" cy="20574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OCI(AI 容量)</a:t>
            </a:r>
            <a:endParaRPr lang="en-US" sz="1000" dirty="0"/>
          </a:p>
        </p:txBody>
      </p:sp>
      <p:sp>
        <p:nvSpPr>
          <p:cNvPr id="54" name="ovl_s25_ns_oci"/>
          <p:cNvSpPr txBox="1"/>
          <p:nvPr/>
        </p:nvSpPr>
        <p:spPr>
          <a:xfrm>
            <a:off x="2606040" y="2217420"/>
            <a:ext cx="1188720" cy="2159508"/>
          </a:xfrm>
          <a:prstGeom prst="rect">
            <a:avLst/>
          </a:prstGeom>
          <a:noFill/>
          <a:ln/>
        </p:spPr>
        <p:txBody>
          <a:bodyPr wrap="square" lIns="0" tIns="0" rIns="0" bIns="0" rtlCol="0" anchor="t"/>
          <a:lstStyle/>
          <a:p>
            <a:pPr algn="ctr" indent="0" marL="0">
              <a:buNone/>
            </a:pPr>
            <a:r>
              <a:rPr lang="en-US" sz="850" dirty="0">
                <a:solidFill>
                  <a:srgbClr val="FFFFFF"/>
                </a:solidFill>
                <a:latin typeface="Meiryo UI" pitchFamily="34" charset="0"/>
                <a:ea typeface="Meiryo UI" pitchFamily="34" charset="-122"/>
                <a:cs typeface="Meiryo UI" pitchFamily="34" charset="-120"/>
              </a:rPr>
              <a:t>学習・推論の容量</a:t>
            </a:r>
            <a:endParaRPr lang="en-US" sz="850" dirty="0"/>
          </a:p>
          <a:p>
            <a:pPr algn="ctr" indent="0" marL="0">
              <a:buNone/>
            </a:pP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Q4 FY26:</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顧客の 49% が</a:t>
            </a:r>
            <a:endParaRPr lang="en-US" sz="850" dirty="0"/>
          </a:p>
          <a:p>
            <a:pPr algn="ctr" indent="0" marL="0">
              <a:buNone/>
            </a:pPr>
            <a:r>
              <a:rPr lang="en-US" sz="850" dirty="0">
                <a:solidFill>
                  <a:srgbClr val="FFFFFF"/>
                </a:solidFill>
                <a:latin typeface="Meiryo UI" pitchFamily="34" charset="0"/>
                <a:ea typeface="Meiryo UI" pitchFamily="34" charset="-122"/>
                <a:cs typeface="Meiryo UI" pitchFamily="34" charset="-120"/>
              </a:rPr>
              <a:t>GPU の 92% を更新</a:t>
            </a:r>
            <a:endParaRPr lang="en-US" sz="850" dirty="0"/>
          </a:p>
        </p:txBody>
      </p:sp>
      <p:sp>
        <p:nvSpPr>
          <p:cNvPr id="55" name="ovl_s25_n_dbs"/>
          <p:cNvSpPr/>
          <p:nvPr/>
        </p:nvSpPr>
        <p:spPr>
          <a:xfrm>
            <a:off x="2560320" y="4767072"/>
            <a:ext cx="1280160" cy="786384"/>
          </a:xfrm>
          <a:prstGeom prst="roundRect">
            <a:avLst>
              <a:gd name="adj" fmla="val 6977"/>
            </a:avLst>
          </a:prstGeom>
          <a:solidFill>
            <a:srgbClr val="FFFFFF"/>
          </a:solidFill>
          <a:ln w="19050">
            <a:solidFill>
              <a:srgbClr val="197A56"/>
            </a:solidFill>
            <a:prstDash val="solid"/>
          </a:ln>
        </p:spPr>
      </p:sp>
      <p:sp>
        <p:nvSpPr>
          <p:cNvPr id="56" name="ovl_s25_nt_dbs"/>
          <p:cNvSpPr txBox="1"/>
          <p:nvPr/>
        </p:nvSpPr>
        <p:spPr>
          <a:xfrm>
            <a:off x="2596896" y="4794504"/>
            <a:ext cx="120700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DB・Database@</a:t>
            </a:r>
            <a:endParaRPr lang="en-US" sz="1000" dirty="0"/>
          </a:p>
        </p:txBody>
      </p:sp>
      <p:sp>
        <p:nvSpPr>
          <p:cNvPr id="57" name="ovl_s25_ns_dbs"/>
          <p:cNvSpPr txBox="1"/>
          <p:nvPr/>
        </p:nvSpPr>
        <p:spPr>
          <a:xfrm>
            <a:off x="260604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基幹業務の DB</a:t>
            </a:r>
            <a:endParaRPr lang="en-US" sz="850" dirty="0"/>
          </a:p>
        </p:txBody>
      </p:sp>
      <p:sp>
        <p:nvSpPr>
          <p:cNvPr id="58" name="ovl_s25_n_train"/>
          <p:cNvSpPr/>
          <p:nvPr/>
        </p:nvSpPr>
        <p:spPr>
          <a:xfrm>
            <a:off x="4709160" y="2145792"/>
            <a:ext cx="1417320" cy="786384"/>
          </a:xfrm>
          <a:prstGeom prst="roundRect">
            <a:avLst>
              <a:gd name="adj" fmla="val 6977"/>
            </a:avLst>
          </a:prstGeom>
          <a:solidFill>
            <a:srgbClr val="FFFFFF"/>
          </a:solidFill>
          <a:ln w="9525">
            <a:solidFill>
              <a:srgbClr val="767676"/>
            </a:solidFill>
            <a:prstDash val="solid"/>
          </a:ln>
        </p:spPr>
      </p:sp>
      <p:sp>
        <p:nvSpPr>
          <p:cNvPr id="59" name="ovl_s25_nt_train"/>
          <p:cNvSpPr txBox="1"/>
          <p:nvPr/>
        </p:nvSpPr>
        <p:spPr>
          <a:xfrm>
            <a:off x="4745736" y="217322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研究所の学習</a:t>
            </a:r>
            <a:endParaRPr lang="en-US" sz="1000" dirty="0"/>
          </a:p>
        </p:txBody>
      </p:sp>
      <p:sp>
        <p:nvSpPr>
          <p:cNvPr id="60" name="ovl_s25_ns_train"/>
          <p:cNvSpPr txBox="1"/>
          <p:nvPr/>
        </p:nvSpPr>
        <p:spPr>
          <a:xfrm>
            <a:off x="4754880" y="237896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止まると開発が遅れる</a:t>
            </a:r>
            <a:endParaRPr lang="en-US" sz="850" dirty="0"/>
          </a:p>
        </p:txBody>
      </p:sp>
      <p:sp>
        <p:nvSpPr>
          <p:cNvPr id="61" name="ovl_s25_n_inf"/>
          <p:cNvSpPr/>
          <p:nvPr/>
        </p:nvSpPr>
        <p:spPr>
          <a:xfrm>
            <a:off x="4709160" y="3456432"/>
            <a:ext cx="1417320" cy="786384"/>
          </a:xfrm>
          <a:prstGeom prst="roundRect">
            <a:avLst>
              <a:gd name="adj" fmla="val 6977"/>
            </a:avLst>
          </a:prstGeom>
          <a:solidFill>
            <a:srgbClr val="FFFFFF"/>
          </a:solidFill>
          <a:ln w="9525">
            <a:solidFill>
              <a:srgbClr val="767676"/>
            </a:solidFill>
            <a:prstDash val="solid"/>
          </a:ln>
        </p:spPr>
      </p:sp>
      <p:sp>
        <p:nvSpPr>
          <p:cNvPr id="62" name="ovl_s25_nt_inf"/>
          <p:cNvSpPr txBox="1"/>
          <p:nvPr/>
        </p:nvSpPr>
        <p:spPr>
          <a:xfrm>
            <a:off x="4745736" y="3483864"/>
            <a:ext cx="134416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AI 研究所の推論(本番)</a:t>
            </a:r>
            <a:endParaRPr lang="en-US" sz="900" dirty="0"/>
          </a:p>
        </p:txBody>
      </p:sp>
      <p:sp>
        <p:nvSpPr>
          <p:cNvPr id="63" name="ovl_s25_ns_inf"/>
          <p:cNvSpPr txBox="1"/>
          <p:nvPr/>
        </p:nvSpPr>
        <p:spPr>
          <a:xfrm>
            <a:off x="4754880" y="368960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止まると売上が止まる</a:t>
            </a:r>
            <a:endParaRPr lang="en-US" sz="850" dirty="0"/>
          </a:p>
        </p:txBody>
      </p:sp>
      <p:sp>
        <p:nvSpPr>
          <p:cNvPr id="64" name="ovl_s25_n_ent"/>
          <p:cNvSpPr/>
          <p:nvPr/>
        </p:nvSpPr>
        <p:spPr>
          <a:xfrm>
            <a:off x="4709160" y="4767072"/>
            <a:ext cx="1417320" cy="786384"/>
          </a:xfrm>
          <a:prstGeom prst="roundRect">
            <a:avLst>
              <a:gd name="adj" fmla="val 6977"/>
            </a:avLst>
          </a:prstGeom>
          <a:solidFill>
            <a:srgbClr val="FFFFFF"/>
          </a:solidFill>
          <a:ln w="9525">
            <a:solidFill>
              <a:srgbClr val="767676"/>
            </a:solidFill>
            <a:prstDash val="solid"/>
          </a:ln>
        </p:spPr>
      </p:sp>
      <p:sp>
        <p:nvSpPr>
          <p:cNvPr id="65" name="ovl_s25_nt_ent"/>
          <p:cNvSpPr txBox="1"/>
          <p:nvPr/>
        </p:nvSpPr>
        <p:spPr>
          <a:xfrm>
            <a:off x="4745736" y="4794504"/>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企業の基幹業務と AI</a:t>
            </a:r>
            <a:endParaRPr lang="en-US" sz="1000" dirty="0"/>
          </a:p>
        </p:txBody>
      </p:sp>
      <p:sp>
        <p:nvSpPr>
          <p:cNvPr id="66" name="ovl_s25_ns_ent"/>
          <p:cNvSpPr txBox="1"/>
          <p:nvPr/>
        </p:nvSpPr>
        <p:spPr>
          <a:xfrm>
            <a:off x="4754880" y="5000244"/>
            <a:ext cx="132588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DB 内のデータで推論</a:t>
            </a:r>
            <a:endParaRPr lang="en-US" sz="850" dirty="0"/>
          </a:p>
        </p:txBody>
      </p:sp>
      <p:sp>
        <p:nvSpPr>
          <p:cNvPr id="67" name="ovl_s25_n_alt1"/>
          <p:cNvSpPr/>
          <p:nvPr/>
        </p:nvSpPr>
        <p:spPr>
          <a:xfrm>
            <a:off x="6995160" y="2145792"/>
            <a:ext cx="1280160" cy="786384"/>
          </a:xfrm>
          <a:prstGeom prst="roundRect">
            <a:avLst>
              <a:gd name="adj" fmla="val 6977"/>
            </a:avLst>
          </a:prstGeom>
          <a:solidFill>
            <a:srgbClr val="FFFFFF"/>
          </a:solidFill>
          <a:ln w="19050">
            <a:solidFill>
              <a:srgbClr val="C0392B"/>
            </a:solidFill>
            <a:prstDash val="solid"/>
          </a:ln>
        </p:spPr>
      </p:sp>
      <p:sp>
        <p:nvSpPr>
          <p:cNvPr id="68" name="ovl_s25_nt_alt1"/>
          <p:cNvSpPr txBox="1"/>
          <p:nvPr/>
        </p:nvSpPr>
        <p:spPr>
          <a:xfrm>
            <a:off x="7031736" y="2173224"/>
            <a:ext cx="1207008" cy="356616"/>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他社クラウド・</a:t>
            </a:r>
            <a:endParaRPr lang="en-US" sz="900" dirty="0"/>
          </a:p>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a:t>
            </a:r>
            <a:endParaRPr lang="en-US" sz="900" dirty="0"/>
          </a:p>
        </p:txBody>
      </p:sp>
      <p:sp>
        <p:nvSpPr>
          <p:cNvPr id="69" name="ovl_s25_ns_alt1"/>
          <p:cNvSpPr txBox="1"/>
          <p:nvPr/>
        </p:nvSpPr>
        <p:spPr>
          <a:xfrm>
            <a:off x="7040880" y="2529840"/>
            <a:ext cx="1188720" cy="3749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乗り換えに</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数か月〜数年</a:t>
            </a:r>
            <a:endParaRPr lang="en-US" sz="850" dirty="0"/>
          </a:p>
        </p:txBody>
      </p:sp>
      <p:sp>
        <p:nvSpPr>
          <p:cNvPr id="70" name="ovl_s25_n_alt2"/>
          <p:cNvSpPr/>
          <p:nvPr/>
        </p:nvSpPr>
        <p:spPr>
          <a:xfrm>
            <a:off x="6995160" y="3456432"/>
            <a:ext cx="1280160" cy="786384"/>
          </a:xfrm>
          <a:prstGeom prst="roundRect">
            <a:avLst>
              <a:gd name="adj" fmla="val 6977"/>
            </a:avLst>
          </a:prstGeom>
          <a:solidFill>
            <a:srgbClr val="FFFFFF"/>
          </a:solidFill>
          <a:ln w="19050">
            <a:solidFill>
              <a:srgbClr val="C0392B"/>
            </a:solidFill>
            <a:prstDash val="solid"/>
          </a:ln>
        </p:spPr>
      </p:sp>
      <p:sp>
        <p:nvSpPr>
          <p:cNvPr id="71" name="ovl_s25_nt_alt2"/>
          <p:cNvSpPr txBox="1"/>
          <p:nvPr/>
        </p:nvSpPr>
        <p:spPr>
          <a:xfrm>
            <a:off x="7031736" y="348386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TPU・自社チップ</a:t>
            </a:r>
            <a:endParaRPr lang="en-US" sz="1000" dirty="0"/>
          </a:p>
        </p:txBody>
      </p:sp>
      <p:sp>
        <p:nvSpPr>
          <p:cNvPr id="72" name="ovl_s25_ns_alt2"/>
          <p:cNvSpPr txBox="1"/>
          <p:nvPr/>
        </p:nvSpPr>
        <p:spPr>
          <a:xfrm>
            <a:off x="7040880" y="368960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Anthropic は TPU</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3.5GW(2027〜)</a:t>
            </a:r>
            <a:endParaRPr lang="en-US" sz="850" dirty="0"/>
          </a:p>
        </p:txBody>
      </p:sp>
      <p:sp>
        <p:nvSpPr>
          <p:cNvPr id="73" name="ovl_s25_n_alt3"/>
          <p:cNvSpPr/>
          <p:nvPr/>
        </p:nvSpPr>
        <p:spPr>
          <a:xfrm>
            <a:off x="6995160" y="4767072"/>
            <a:ext cx="1280160" cy="786384"/>
          </a:xfrm>
          <a:prstGeom prst="roundRect">
            <a:avLst>
              <a:gd name="adj" fmla="val 6977"/>
            </a:avLst>
          </a:prstGeom>
          <a:solidFill>
            <a:srgbClr val="FFFFFF"/>
          </a:solidFill>
          <a:ln w="19050">
            <a:solidFill>
              <a:srgbClr val="C0392B"/>
            </a:solidFill>
            <a:prstDash val="solid"/>
          </a:ln>
        </p:spPr>
      </p:sp>
      <p:sp>
        <p:nvSpPr>
          <p:cNvPr id="74" name="ovl_s25_nt_alt3"/>
          <p:cNvSpPr txBox="1"/>
          <p:nvPr/>
        </p:nvSpPr>
        <p:spPr>
          <a:xfrm>
            <a:off x="7031736" y="4794504"/>
            <a:ext cx="120700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DB の移行</a:t>
            </a:r>
            <a:endParaRPr lang="en-US" sz="1000" dirty="0"/>
          </a:p>
        </p:txBody>
      </p:sp>
      <p:sp>
        <p:nvSpPr>
          <p:cNvPr id="75" name="ovl_s25_ns_alt3"/>
          <p:cNvSpPr txBox="1"/>
          <p:nvPr/>
        </p:nvSpPr>
        <p:spPr>
          <a:xfrm>
            <a:off x="7040880" y="5000244"/>
            <a:ext cx="1188720" cy="525780"/>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数年がかり</a:t>
            </a:r>
            <a:endParaRPr lang="en-US" sz="850" dirty="0"/>
          </a:p>
        </p:txBody>
      </p:sp>
      <p:sp>
        <p:nvSpPr>
          <p:cNvPr id="76" name="ovl_s25_lab0"/>
          <p:cNvSpPr txBox="1"/>
          <p:nvPr/>
        </p:nvSpPr>
        <p:spPr>
          <a:xfrm>
            <a:off x="1954530" y="230581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容量</a:t>
            </a:r>
            <a:endParaRPr lang="en-US" sz="850" dirty="0"/>
          </a:p>
        </p:txBody>
      </p:sp>
      <p:sp>
        <p:nvSpPr>
          <p:cNvPr id="77" name="ovl_s25_lab3"/>
          <p:cNvSpPr txBox="1"/>
          <p:nvPr/>
        </p:nvSpPr>
        <p:spPr>
          <a:xfrm>
            <a:off x="3986784" y="230581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1BA1A6"/>
                </a:solidFill>
                <a:latin typeface="Meiryo UI" pitchFamily="34" charset="0"/>
                <a:ea typeface="Meiryo UI" pitchFamily="34" charset="-122"/>
                <a:cs typeface="Meiryo UI" pitchFamily="34" charset="-120"/>
              </a:rPr>
              <a:t>計算容量</a:t>
            </a:r>
            <a:endParaRPr lang="en-US" sz="850" dirty="0"/>
          </a:p>
        </p:txBody>
      </p:sp>
      <p:sp>
        <p:nvSpPr>
          <p:cNvPr id="78" name="ovl_s25_lab4"/>
          <p:cNvSpPr txBox="1"/>
          <p:nvPr/>
        </p:nvSpPr>
        <p:spPr>
          <a:xfrm>
            <a:off x="3852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1BA1A6"/>
                </a:solidFill>
                <a:latin typeface="Meiryo UI" pitchFamily="34" charset="0"/>
                <a:ea typeface="Meiryo UI" pitchFamily="34" charset="-122"/>
                <a:cs typeface="Meiryo UI" pitchFamily="34" charset="-120"/>
              </a:rPr>
              <a:t>① </a:t>
            </a:r>
            <a:r>
              <a:rPr lang="en-US" sz="850" dirty="0">
                <a:solidFill>
                  <a:srgbClr val="1BA1A6"/>
                </a:solidFill>
                <a:latin typeface="Meiryo UI" pitchFamily="34" charset="0"/>
                <a:ea typeface="Meiryo UI" pitchFamily="34" charset="-122"/>
                <a:cs typeface="Meiryo UI" pitchFamily="34" charset="-120"/>
              </a:rPr>
              <a:t>本番の推論</a:t>
            </a:r>
            <a:endParaRPr lang="en-US" sz="850" dirty="0"/>
          </a:p>
        </p:txBody>
      </p:sp>
      <p:sp>
        <p:nvSpPr>
          <p:cNvPr id="79" name="ovl_s25_num5"/>
          <p:cNvSpPr/>
          <p:nvPr/>
        </p:nvSpPr>
        <p:spPr>
          <a:xfrm>
            <a:off x="4155948" y="5041392"/>
            <a:ext cx="237744" cy="237744"/>
          </a:xfrm>
          <a:prstGeom prst="ellipse">
            <a:avLst/>
          </a:prstGeom>
          <a:solidFill>
            <a:srgbClr val="1BA1A6"/>
          </a:solidFill>
          <a:ln w="12700">
            <a:solidFill>
              <a:srgbClr val="FFFFFF"/>
            </a:solidFill>
            <a:prstDash val="solid"/>
          </a:ln>
        </p:spPr>
      </p:sp>
      <p:sp>
        <p:nvSpPr>
          <p:cNvPr id="80" name="ovl_s25_numt5"/>
          <p:cNvSpPr txBox="1"/>
          <p:nvPr/>
        </p:nvSpPr>
        <p:spPr>
          <a:xfrm>
            <a:off x="4155948" y="50413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1" name="ovl_s25_lab6"/>
          <p:cNvSpPr txBox="1"/>
          <p:nvPr/>
        </p:nvSpPr>
        <p:spPr>
          <a:xfrm>
            <a:off x="6197003" y="2305812"/>
            <a:ext cx="727634"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② </a:t>
            </a:r>
            <a:r>
              <a:rPr lang="en-US" sz="850" dirty="0">
                <a:solidFill>
                  <a:srgbClr val="C0392B"/>
                </a:solidFill>
                <a:latin typeface="Meiryo UI" pitchFamily="34" charset="0"/>
                <a:ea typeface="Meiryo UI" pitchFamily="34" charset="-122"/>
                <a:cs typeface="Meiryo UI" pitchFamily="34" charset="-120"/>
              </a:rPr>
              <a:t>乗り換え</a:t>
            </a:r>
            <a:endParaRPr lang="en-US" sz="850" dirty="0"/>
          </a:p>
        </p:txBody>
      </p:sp>
      <p:sp>
        <p:nvSpPr>
          <p:cNvPr id="82" name="ovl_s25_lab7"/>
          <p:cNvSpPr txBox="1"/>
          <p:nvPr/>
        </p:nvSpPr>
        <p:spPr>
          <a:xfrm>
            <a:off x="6138710" y="3616452"/>
            <a:ext cx="844220"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代替の計算</a:t>
            </a:r>
            <a:endParaRPr lang="en-US" sz="850" dirty="0"/>
          </a:p>
        </p:txBody>
      </p:sp>
      <p:sp>
        <p:nvSpPr>
          <p:cNvPr id="83" name="ovl_s25_lab8"/>
          <p:cNvSpPr txBox="1"/>
          <p:nvPr/>
        </p:nvSpPr>
        <p:spPr>
          <a:xfrm>
            <a:off x="6389370" y="492709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移行</a:t>
            </a:r>
            <a:endParaRPr lang="en-US" sz="850" dirty="0"/>
          </a:p>
        </p:txBody>
      </p:sp>
      <p:sp>
        <p:nvSpPr>
          <p:cNvPr id="84" name="ovl_s25_leg0"/>
          <p:cNvSpPr/>
          <p:nvPr/>
        </p:nvSpPr>
        <p:spPr>
          <a:xfrm>
            <a:off x="457200" y="5971032"/>
            <a:ext cx="365760" cy="914"/>
          </a:xfrm>
          <a:prstGeom prst="line">
            <a:avLst/>
          </a:prstGeom>
          <a:noFill/>
          <a:ln w="19050">
            <a:solidFill>
              <a:srgbClr val="1BA1A6"/>
            </a:solidFill>
            <a:prstDash val="solid"/>
            <a:tailEnd type="triangle"/>
          </a:ln>
        </p:spPr>
      </p:sp>
      <p:sp>
        <p:nvSpPr>
          <p:cNvPr id="85" name="ovl_s25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86" name="ovl_s25_leg1"/>
          <p:cNvSpPr/>
          <p:nvPr/>
        </p:nvSpPr>
        <p:spPr>
          <a:xfrm>
            <a:off x="1874520" y="5971032"/>
            <a:ext cx="365760" cy="914"/>
          </a:xfrm>
          <a:prstGeom prst="line">
            <a:avLst/>
          </a:prstGeom>
          <a:noFill/>
          <a:ln w="15875">
            <a:solidFill>
              <a:srgbClr val="C0392B"/>
            </a:solidFill>
            <a:prstDash val="dash"/>
            <a:tailEnd type="triangle"/>
          </a:ln>
        </p:spPr>
      </p:sp>
      <p:sp>
        <p:nvSpPr>
          <p:cNvPr id="87" name="ovl_s25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88" name="ovl_s25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89"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90" name="mech"/>
          <p:cNvSpPr txBox="1"/>
          <p:nvPr/>
        </p:nvSpPr>
        <p:spPr>
          <a:xfrm>
            <a:off x="8458200" y="1810512"/>
            <a:ext cx="3276295" cy="1835912"/>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推論は本番の稼働で、止まると顧客の売上が止まる。推論の電力比率は 2025 年 47.5% → 2030 年 60%</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乗り換えには電力付きの容量の確保が要り、数か月〜数年かかる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企業の AI は Oracle DB 内のデータで動く。DB の移行には数年かかる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Q4 FY26 は顧客の 49% が GPU の 92% を更新。ただし他社クラウドや TPU という代替がある</a:t>
            </a:r>
            <a:endParaRPr lang="en-US" sz="1100" dirty="0"/>
          </a:p>
        </p:txBody>
      </p:sp>
      <p:sp>
        <p:nvSpPr>
          <p:cNvPr id="91"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92"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電力付きの容量と DB は止められない</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運用を支え更新率も高いが、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代替のクラウドが存在するため B</a:t>
            </a:r>
            <a:endParaRPr lang="en-US" sz="1000" dirty="0"/>
          </a:p>
        </p:txBody>
      </p:sp>
      <p:sp>
        <p:nvSpPr>
          <p:cNvPr id="93"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大型顧客の更新率が 90% を超え、</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乗り換えの事例が出なければ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大型顧客が TPU や自社チップへ</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移る事例が出れば C</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製品と設備の性格(条件8〜12)(3/5)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陳腐化リスク(条件10)</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設備と技術が陳腐化する速さが、償却と実際の価値のずれを生む</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の技術と顧客関係は長寿命で、GPU の 6 年償却は更新・再販の実績と</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整合する。ただし GPU の世代交代は速い</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資産 → 回収の経路 ← 価値を下げる力。下: 資産ごとの寿命と契約の長さ。①〜⑤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research3/W2_gpu_economic_life.md、会社開示(耐用年数の変更、Q1 FY27 説明会)、JPMorgan AM の試算、Amazon 10-K</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32</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条件10</a:t>
            </a:r>
            <a:endParaRPr lang="en-US" sz="800" dirty="0"/>
          </a:p>
        </p:txBody>
      </p:sp>
      <p:sp>
        <p:nvSpPr>
          <p:cNvPr id="22" name="bg_lane0"/>
          <p:cNvSpPr/>
          <p:nvPr/>
        </p:nvSpPr>
        <p:spPr>
          <a:xfrm>
            <a:off x="347472" y="1517904"/>
            <a:ext cx="1545336" cy="3172968"/>
          </a:xfrm>
          <a:prstGeom prst="rect">
            <a:avLst/>
          </a:prstGeom>
          <a:solidFill>
            <a:srgbClr val="F2F2F2"/>
          </a:solidFill>
          <a:ln w="12700">
            <a:solidFill>
              <a:srgbClr val="F2F2F2"/>
            </a:solidFill>
            <a:prstDash val="solid"/>
          </a:ln>
        </p:spPr>
      </p:sp>
      <p:sp>
        <p:nvSpPr>
          <p:cNvPr id="23" name="bg_laneh0"/>
          <p:cNvSpPr/>
          <p:nvPr/>
        </p:nvSpPr>
        <p:spPr>
          <a:xfrm>
            <a:off x="347472" y="1517904"/>
            <a:ext cx="1545336" cy="274320"/>
          </a:xfrm>
          <a:prstGeom prst="rect">
            <a:avLst/>
          </a:prstGeom>
          <a:solidFill>
            <a:srgbClr val="D9D9D9"/>
          </a:solidFill>
          <a:ln w="12700">
            <a:solidFill>
              <a:srgbClr val="D9D9D9"/>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資産</a:t>
            </a:r>
            <a:endParaRPr lang="en-US" sz="950" dirty="0"/>
          </a:p>
        </p:txBody>
      </p:sp>
      <p:sp>
        <p:nvSpPr>
          <p:cNvPr id="25" name="bg_lane1"/>
          <p:cNvSpPr/>
          <p:nvPr/>
        </p:nvSpPr>
        <p:spPr>
          <a:xfrm>
            <a:off x="2511552" y="1517904"/>
            <a:ext cx="3709416" cy="3172968"/>
          </a:xfrm>
          <a:prstGeom prst="rect">
            <a:avLst/>
          </a:prstGeom>
          <a:solidFill>
            <a:srgbClr val="EAF4EE"/>
          </a:solidFill>
          <a:ln w="12700">
            <a:solidFill>
              <a:srgbClr val="EAF4EE"/>
            </a:solidFill>
            <a:prstDash val="solid"/>
          </a:ln>
        </p:spPr>
      </p:sp>
      <p:sp>
        <p:nvSpPr>
          <p:cNvPr id="26" name="bg_laneh1"/>
          <p:cNvSpPr/>
          <p:nvPr/>
        </p:nvSpPr>
        <p:spPr>
          <a:xfrm>
            <a:off x="2511552" y="1517904"/>
            <a:ext cx="3709416" cy="274320"/>
          </a:xfrm>
          <a:prstGeom prst="rect">
            <a:avLst/>
          </a:prstGeom>
          <a:solidFill>
            <a:srgbClr val="197A56"/>
          </a:solidFill>
          <a:ln w="12700">
            <a:solidFill>
              <a:srgbClr val="197A56"/>
            </a:solidFill>
            <a:prstDash val="solid"/>
          </a:ln>
        </p:spPr>
      </p:sp>
      <p:sp>
        <p:nvSpPr>
          <p:cNvPr id="27" name="bg_lanet1"/>
          <p:cNvSpPr txBox="1"/>
          <p:nvPr/>
        </p:nvSpPr>
        <p:spPr>
          <a:xfrm>
            <a:off x="2511552" y="1517904"/>
            <a:ext cx="370941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の回収</a:t>
            </a:r>
            <a:endParaRPr lang="en-US" sz="950" dirty="0"/>
          </a:p>
        </p:txBody>
      </p:sp>
      <p:sp>
        <p:nvSpPr>
          <p:cNvPr id="28" name="bg_lane2"/>
          <p:cNvSpPr/>
          <p:nvPr/>
        </p:nvSpPr>
        <p:spPr>
          <a:xfrm>
            <a:off x="6839712" y="1517904"/>
            <a:ext cx="1545336" cy="3172968"/>
          </a:xfrm>
          <a:prstGeom prst="rect">
            <a:avLst/>
          </a:prstGeom>
          <a:solidFill>
            <a:srgbClr val="F2F2F2"/>
          </a:solidFill>
          <a:ln w="12700">
            <a:solidFill>
              <a:srgbClr val="F2F2F2"/>
            </a:solidFill>
            <a:prstDash val="solid"/>
          </a:ln>
        </p:spPr>
      </p:sp>
      <p:sp>
        <p:nvSpPr>
          <p:cNvPr id="29" name="bg_laneh2"/>
          <p:cNvSpPr/>
          <p:nvPr/>
        </p:nvSpPr>
        <p:spPr>
          <a:xfrm>
            <a:off x="6839712" y="1517904"/>
            <a:ext cx="1545336" cy="274320"/>
          </a:xfrm>
          <a:prstGeom prst="rect">
            <a:avLst/>
          </a:prstGeom>
          <a:solidFill>
            <a:srgbClr val="D9D9D9"/>
          </a:solidFill>
          <a:ln w="12700">
            <a:solidFill>
              <a:srgbClr val="D9D9D9"/>
            </a:solidFill>
            <a:prstDash val="solid"/>
          </a:ln>
        </p:spPr>
      </p:sp>
      <p:sp>
        <p:nvSpPr>
          <p:cNvPr id="30" name="bg_lanet2"/>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価値を下げる力</a:t>
            </a:r>
            <a:endParaRPr lang="en-US" sz="950" dirty="0"/>
          </a:p>
        </p:txBody>
      </p:sp>
      <p:sp>
        <p:nvSpPr>
          <p:cNvPr id="31" name="ovl_s26_e0_0"/>
          <p:cNvSpPr/>
          <p:nvPr/>
        </p:nvSpPr>
        <p:spPr>
          <a:xfrm>
            <a:off x="1783080" y="2348484"/>
            <a:ext cx="838200" cy="914"/>
          </a:xfrm>
          <a:prstGeom prst="line">
            <a:avLst/>
          </a:prstGeom>
          <a:noFill/>
          <a:ln w="19050">
            <a:solidFill>
              <a:srgbClr val="1BA1A6"/>
            </a:solidFill>
            <a:prstDash val="solid"/>
            <a:tailEnd type="triangle"/>
          </a:ln>
        </p:spPr>
      </p:sp>
      <p:sp>
        <p:nvSpPr>
          <p:cNvPr id="32" name="ovl_s26_e1_0"/>
          <p:cNvSpPr/>
          <p:nvPr/>
        </p:nvSpPr>
        <p:spPr>
          <a:xfrm>
            <a:off x="1783080" y="3278124"/>
            <a:ext cx="838200" cy="914"/>
          </a:xfrm>
          <a:prstGeom prst="line">
            <a:avLst/>
          </a:prstGeom>
          <a:noFill/>
          <a:ln w="19050">
            <a:solidFill>
              <a:srgbClr val="1BA1A6"/>
            </a:solidFill>
            <a:prstDash val="solid"/>
            <a:tailEnd type="triangle"/>
          </a:ln>
        </p:spPr>
      </p:sp>
      <p:sp>
        <p:nvSpPr>
          <p:cNvPr id="33" name="ovl_s26_e2_0"/>
          <p:cNvSpPr/>
          <p:nvPr/>
        </p:nvSpPr>
        <p:spPr>
          <a:xfrm>
            <a:off x="1783080" y="3387852"/>
            <a:ext cx="419100" cy="914"/>
          </a:xfrm>
          <a:prstGeom prst="line">
            <a:avLst/>
          </a:prstGeom>
          <a:noFill/>
          <a:ln w="19050">
            <a:solidFill>
              <a:srgbClr val="1BA1A6"/>
            </a:solidFill>
            <a:prstDash val="solid"/>
          </a:ln>
        </p:spPr>
      </p:sp>
      <p:sp>
        <p:nvSpPr>
          <p:cNvPr id="34" name="ovl_s26_e2_1"/>
          <p:cNvSpPr/>
          <p:nvPr/>
        </p:nvSpPr>
        <p:spPr>
          <a:xfrm>
            <a:off x="2202180" y="3387852"/>
            <a:ext cx="914" cy="819912"/>
          </a:xfrm>
          <a:prstGeom prst="line">
            <a:avLst/>
          </a:prstGeom>
          <a:noFill/>
          <a:ln w="19050">
            <a:solidFill>
              <a:srgbClr val="1BA1A6"/>
            </a:solidFill>
            <a:prstDash val="solid"/>
          </a:ln>
        </p:spPr>
      </p:sp>
      <p:sp>
        <p:nvSpPr>
          <p:cNvPr id="35" name="ovl_s26_e2_2"/>
          <p:cNvSpPr/>
          <p:nvPr/>
        </p:nvSpPr>
        <p:spPr>
          <a:xfrm>
            <a:off x="2202180" y="4207764"/>
            <a:ext cx="419100" cy="914"/>
          </a:xfrm>
          <a:prstGeom prst="line">
            <a:avLst/>
          </a:prstGeom>
          <a:noFill/>
          <a:ln w="19050">
            <a:solidFill>
              <a:srgbClr val="1BA1A6"/>
            </a:solidFill>
            <a:prstDash val="solid"/>
            <a:tailEnd type="triangle"/>
          </a:ln>
        </p:spPr>
      </p:sp>
      <p:sp>
        <p:nvSpPr>
          <p:cNvPr id="36" name="ovl_s26_e3_0"/>
          <p:cNvSpPr/>
          <p:nvPr/>
        </p:nvSpPr>
        <p:spPr>
          <a:xfrm flipH="1">
            <a:off x="4038600" y="2348484"/>
            <a:ext cx="838200" cy="914"/>
          </a:xfrm>
          <a:prstGeom prst="line">
            <a:avLst/>
          </a:prstGeom>
          <a:noFill/>
          <a:ln w="22225">
            <a:solidFill>
              <a:srgbClr val="0E4D33"/>
            </a:solidFill>
            <a:prstDash val="solid"/>
            <a:tailEnd type="triangle"/>
          </a:ln>
        </p:spPr>
      </p:sp>
      <p:sp>
        <p:nvSpPr>
          <p:cNvPr id="37" name="ovl_s26_e4_0"/>
          <p:cNvSpPr/>
          <p:nvPr/>
        </p:nvSpPr>
        <p:spPr>
          <a:xfrm flipH="1">
            <a:off x="4038600" y="3278124"/>
            <a:ext cx="838200" cy="914"/>
          </a:xfrm>
          <a:prstGeom prst="line">
            <a:avLst/>
          </a:prstGeom>
          <a:noFill/>
          <a:ln w="22225">
            <a:solidFill>
              <a:srgbClr val="0E4D33"/>
            </a:solidFill>
            <a:prstDash val="solid"/>
            <a:tailEnd type="triangle"/>
          </a:ln>
        </p:spPr>
      </p:sp>
      <p:sp>
        <p:nvSpPr>
          <p:cNvPr id="38" name="ovl_s26_e5_0"/>
          <p:cNvSpPr/>
          <p:nvPr/>
        </p:nvSpPr>
        <p:spPr>
          <a:xfrm flipH="1">
            <a:off x="4457700" y="3387852"/>
            <a:ext cx="419100" cy="914"/>
          </a:xfrm>
          <a:prstGeom prst="line">
            <a:avLst/>
          </a:prstGeom>
          <a:noFill/>
          <a:ln w="22225">
            <a:solidFill>
              <a:srgbClr val="0E4D33"/>
            </a:solidFill>
            <a:prstDash val="solid"/>
          </a:ln>
        </p:spPr>
      </p:sp>
      <p:sp>
        <p:nvSpPr>
          <p:cNvPr id="39" name="ovl_s26_e5_1"/>
          <p:cNvSpPr/>
          <p:nvPr/>
        </p:nvSpPr>
        <p:spPr>
          <a:xfrm>
            <a:off x="4457700" y="3387852"/>
            <a:ext cx="914" cy="710184"/>
          </a:xfrm>
          <a:prstGeom prst="line">
            <a:avLst/>
          </a:prstGeom>
          <a:noFill/>
          <a:ln w="22225">
            <a:solidFill>
              <a:srgbClr val="0E4D33"/>
            </a:solidFill>
            <a:prstDash val="solid"/>
          </a:ln>
        </p:spPr>
      </p:sp>
      <p:sp>
        <p:nvSpPr>
          <p:cNvPr id="40" name="ovl_s26_e5_2"/>
          <p:cNvSpPr/>
          <p:nvPr/>
        </p:nvSpPr>
        <p:spPr>
          <a:xfrm flipH="1">
            <a:off x="4038600" y="4098036"/>
            <a:ext cx="419100" cy="914"/>
          </a:xfrm>
          <a:prstGeom prst="line">
            <a:avLst/>
          </a:prstGeom>
          <a:noFill/>
          <a:ln w="22225">
            <a:solidFill>
              <a:srgbClr val="0E4D33"/>
            </a:solidFill>
            <a:prstDash val="solid"/>
            <a:tailEnd type="triangle"/>
          </a:ln>
        </p:spPr>
      </p:sp>
      <p:sp>
        <p:nvSpPr>
          <p:cNvPr id="41" name="ovl_s26_e6_0"/>
          <p:cNvSpPr/>
          <p:nvPr/>
        </p:nvSpPr>
        <p:spPr>
          <a:xfrm>
            <a:off x="7612380" y="2686812"/>
            <a:ext cx="914" cy="126492"/>
          </a:xfrm>
          <a:prstGeom prst="line">
            <a:avLst/>
          </a:prstGeom>
          <a:noFill/>
          <a:ln w="15875">
            <a:solidFill>
              <a:srgbClr val="C0392B"/>
            </a:solidFill>
            <a:prstDash val="dash"/>
          </a:ln>
        </p:spPr>
      </p:sp>
      <p:sp>
        <p:nvSpPr>
          <p:cNvPr id="42" name="ovl_s26_e6_1"/>
          <p:cNvSpPr/>
          <p:nvPr/>
        </p:nvSpPr>
        <p:spPr>
          <a:xfrm flipH="1">
            <a:off x="1120140" y="2813304"/>
            <a:ext cx="6492240" cy="914"/>
          </a:xfrm>
          <a:prstGeom prst="line">
            <a:avLst/>
          </a:prstGeom>
          <a:noFill/>
          <a:ln w="15875">
            <a:solidFill>
              <a:srgbClr val="C0392B"/>
            </a:solidFill>
            <a:prstDash val="dash"/>
          </a:ln>
        </p:spPr>
      </p:sp>
      <p:sp>
        <p:nvSpPr>
          <p:cNvPr id="43" name="ovl_s26_e6_2"/>
          <p:cNvSpPr/>
          <p:nvPr/>
        </p:nvSpPr>
        <p:spPr>
          <a:xfrm>
            <a:off x="1120140" y="2813304"/>
            <a:ext cx="914" cy="126492"/>
          </a:xfrm>
          <a:prstGeom prst="line">
            <a:avLst/>
          </a:prstGeom>
          <a:noFill/>
          <a:ln w="15875">
            <a:solidFill>
              <a:srgbClr val="C0392B"/>
            </a:solidFill>
            <a:prstDash val="dash"/>
            <a:tailEnd type="triangle"/>
          </a:ln>
        </p:spPr>
      </p:sp>
      <p:sp>
        <p:nvSpPr>
          <p:cNvPr id="44" name="ovl_s26_e7_0"/>
          <p:cNvSpPr/>
          <p:nvPr/>
        </p:nvSpPr>
        <p:spPr>
          <a:xfrm>
            <a:off x="7612380" y="3616452"/>
            <a:ext cx="914" cy="126492"/>
          </a:xfrm>
          <a:prstGeom prst="line">
            <a:avLst/>
          </a:prstGeom>
          <a:noFill/>
          <a:ln w="15875">
            <a:solidFill>
              <a:srgbClr val="C0392B"/>
            </a:solidFill>
            <a:prstDash val="dash"/>
          </a:ln>
        </p:spPr>
      </p:sp>
      <p:sp>
        <p:nvSpPr>
          <p:cNvPr id="45" name="ovl_s26_e7_1"/>
          <p:cNvSpPr/>
          <p:nvPr/>
        </p:nvSpPr>
        <p:spPr>
          <a:xfrm flipH="1">
            <a:off x="1120140" y="3742944"/>
            <a:ext cx="6492240" cy="914"/>
          </a:xfrm>
          <a:prstGeom prst="line">
            <a:avLst/>
          </a:prstGeom>
          <a:noFill/>
          <a:ln w="15875">
            <a:solidFill>
              <a:srgbClr val="C0392B"/>
            </a:solidFill>
            <a:prstDash val="dash"/>
          </a:ln>
        </p:spPr>
      </p:sp>
      <p:sp>
        <p:nvSpPr>
          <p:cNvPr id="46" name="ovl_s26_e7_2"/>
          <p:cNvSpPr/>
          <p:nvPr/>
        </p:nvSpPr>
        <p:spPr>
          <a:xfrm flipV="1">
            <a:off x="1120140" y="3616452"/>
            <a:ext cx="914" cy="126492"/>
          </a:xfrm>
          <a:prstGeom prst="line">
            <a:avLst/>
          </a:prstGeom>
          <a:noFill/>
          <a:ln w="15875">
            <a:solidFill>
              <a:srgbClr val="C0392B"/>
            </a:solidFill>
            <a:prstDash val="dash"/>
            <a:tailEnd type="triangle"/>
          </a:ln>
        </p:spPr>
      </p:sp>
      <p:sp>
        <p:nvSpPr>
          <p:cNvPr id="47" name="ovl_s26_e8_0"/>
          <p:cNvSpPr/>
          <p:nvPr/>
        </p:nvSpPr>
        <p:spPr>
          <a:xfrm flipH="1">
            <a:off x="4038600" y="4207764"/>
            <a:ext cx="2910840" cy="914"/>
          </a:xfrm>
          <a:prstGeom prst="line">
            <a:avLst/>
          </a:prstGeom>
          <a:noFill/>
          <a:ln w="12700">
            <a:solidFill>
              <a:srgbClr val="767676"/>
            </a:solidFill>
            <a:prstDash val="sysDash"/>
            <a:tailEnd type="triangle"/>
          </a:ln>
        </p:spPr>
      </p:sp>
      <p:sp>
        <p:nvSpPr>
          <p:cNvPr id="48" name="ovl_s26_n_intang"/>
          <p:cNvSpPr/>
          <p:nvPr/>
        </p:nvSpPr>
        <p:spPr>
          <a:xfrm>
            <a:off x="457200" y="2010156"/>
            <a:ext cx="1325880" cy="676656"/>
          </a:xfrm>
          <a:prstGeom prst="roundRect">
            <a:avLst>
              <a:gd name="adj" fmla="val 8108"/>
            </a:avLst>
          </a:prstGeom>
          <a:solidFill>
            <a:srgbClr val="EAF4EE"/>
          </a:solidFill>
          <a:ln w="9525">
            <a:solidFill>
              <a:srgbClr val="86C99B"/>
            </a:solidFill>
            <a:prstDash val="solid"/>
          </a:ln>
        </p:spPr>
      </p:sp>
      <p:sp>
        <p:nvSpPr>
          <p:cNvPr id="49" name="ovl_s26_nt_intang"/>
          <p:cNvSpPr txBox="1"/>
          <p:nvPr/>
        </p:nvSpPr>
        <p:spPr>
          <a:xfrm>
            <a:off x="493776" y="2037588"/>
            <a:ext cx="125272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DB の技術・顧客関係</a:t>
            </a:r>
            <a:endParaRPr lang="en-US" sz="900" dirty="0"/>
          </a:p>
        </p:txBody>
      </p:sp>
      <p:sp>
        <p:nvSpPr>
          <p:cNvPr id="50" name="ovl_s26_ns_intang"/>
          <p:cNvSpPr txBox="1"/>
          <p:nvPr/>
        </p:nvSpPr>
        <p:spPr>
          <a:xfrm>
            <a:off x="50292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寿命は数十年</a:t>
            </a:r>
            <a:endParaRPr lang="en-US" sz="850" dirty="0"/>
          </a:p>
        </p:txBody>
      </p:sp>
      <p:sp>
        <p:nvSpPr>
          <p:cNvPr id="51" name="ovl_s26_n_gpu"/>
          <p:cNvSpPr/>
          <p:nvPr/>
        </p:nvSpPr>
        <p:spPr>
          <a:xfrm>
            <a:off x="457200" y="2939796"/>
            <a:ext cx="1325880" cy="676656"/>
          </a:xfrm>
          <a:prstGeom prst="roundRect">
            <a:avLst>
              <a:gd name="adj" fmla="val 8108"/>
            </a:avLst>
          </a:prstGeom>
          <a:solidFill>
            <a:srgbClr val="FFFFFF"/>
          </a:solidFill>
          <a:ln w="19050">
            <a:solidFill>
              <a:srgbClr val="C0392B"/>
            </a:solidFill>
            <a:prstDash val="solid"/>
          </a:ln>
        </p:spPr>
      </p:sp>
      <p:sp>
        <p:nvSpPr>
          <p:cNvPr id="52" name="ovl_s26_nt_gpu"/>
          <p:cNvSpPr txBox="1"/>
          <p:nvPr/>
        </p:nvSpPr>
        <p:spPr>
          <a:xfrm>
            <a:off x="49377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GPU(自社調達)</a:t>
            </a:r>
            <a:endParaRPr lang="en-US" sz="1000" dirty="0"/>
          </a:p>
        </p:txBody>
      </p:sp>
      <p:sp>
        <p:nvSpPr>
          <p:cNvPr id="53" name="ovl_s26_ns_gpu"/>
          <p:cNvSpPr txBox="1"/>
          <p:nvPr/>
        </p:nvSpPr>
        <p:spPr>
          <a:xfrm>
            <a:off x="50292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6 年償却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(5 → 6 年に延長)</a:t>
            </a:r>
            <a:endParaRPr lang="en-US" sz="850" dirty="0"/>
          </a:p>
        </p:txBody>
      </p:sp>
      <p:sp>
        <p:nvSpPr>
          <p:cNvPr id="54" name="ovl_s26_n_soft"/>
          <p:cNvSpPr/>
          <p:nvPr/>
        </p:nvSpPr>
        <p:spPr>
          <a:xfrm>
            <a:off x="457200" y="3869436"/>
            <a:ext cx="1325880" cy="676656"/>
          </a:xfrm>
          <a:prstGeom prst="roundRect">
            <a:avLst>
              <a:gd name="adj" fmla="val 8108"/>
            </a:avLst>
          </a:prstGeom>
          <a:solidFill>
            <a:srgbClr val="FFFFFF"/>
          </a:solidFill>
          <a:ln w="9525">
            <a:solidFill>
              <a:srgbClr val="767676"/>
            </a:solidFill>
            <a:prstDash val="solid"/>
          </a:ln>
        </p:spPr>
      </p:sp>
      <p:sp>
        <p:nvSpPr>
          <p:cNvPr id="55" name="ovl_s26_nt_soft"/>
          <p:cNvSpPr txBox="1"/>
          <p:nvPr/>
        </p:nvSpPr>
        <p:spPr>
          <a:xfrm>
            <a:off x="49377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OCI のソフト</a:t>
            </a:r>
            <a:endParaRPr lang="en-US" sz="1000" dirty="0"/>
          </a:p>
        </p:txBody>
      </p:sp>
      <p:sp>
        <p:nvSpPr>
          <p:cNvPr id="56" name="ovl_s26_ns_soft"/>
          <p:cNvSpPr txBox="1"/>
          <p:nvPr/>
        </p:nvSpPr>
        <p:spPr>
          <a:xfrm>
            <a:off x="50292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世代交代が速い</a:t>
            </a:r>
            <a:endParaRPr lang="en-US" sz="850" dirty="0"/>
          </a:p>
        </p:txBody>
      </p:sp>
      <p:sp>
        <p:nvSpPr>
          <p:cNvPr id="57" name="ovl_s26_n_maint"/>
          <p:cNvSpPr/>
          <p:nvPr/>
        </p:nvSpPr>
        <p:spPr>
          <a:xfrm>
            <a:off x="2621280" y="2010156"/>
            <a:ext cx="1417320" cy="676656"/>
          </a:xfrm>
          <a:prstGeom prst="roundRect">
            <a:avLst>
              <a:gd name="adj" fmla="val 8108"/>
            </a:avLst>
          </a:prstGeom>
          <a:solidFill>
            <a:srgbClr val="FFFFFF"/>
          </a:solidFill>
          <a:ln w="19050">
            <a:solidFill>
              <a:srgbClr val="197A56"/>
            </a:solidFill>
            <a:prstDash val="solid"/>
          </a:ln>
        </p:spPr>
      </p:sp>
      <p:sp>
        <p:nvSpPr>
          <p:cNvPr id="58" name="ovl_s26_nt_maint"/>
          <p:cNvSpPr txBox="1"/>
          <p:nvPr/>
        </p:nvSpPr>
        <p:spPr>
          <a:xfrm>
            <a:off x="2657856" y="203758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保守・SaaS</a:t>
            </a:r>
            <a:endParaRPr lang="en-US" sz="1000" dirty="0"/>
          </a:p>
        </p:txBody>
      </p:sp>
      <p:sp>
        <p:nvSpPr>
          <p:cNvPr id="59" name="ovl_s26_ns_maint"/>
          <p:cNvSpPr txBox="1"/>
          <p:nvPr/>
        </p:nvSpPr>
        <p:spPr>
          <a:xfrm>
            <a:off x="2667000" y="224332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継続課金</a:t>
            </a:r>
            <a:endParaRPr lang="en-US" sz="850" dirty="0"/>
          </a:p>
        </p:txBody>
      </p:sp>
      <p:sp>
        <p:nvSpPr>
          <p:cNvPr id="60" name="ovl_s26_n_first"/>
          <p:cNvSpPr/>
          <p:nvPr/>
        </p:nvSpPr>
        <p:spPr>
          <a:xfrm>
            <a:off x="2621280" y="2939796"/>
            <a:ext cx="1417320" cy="676656"/>
          </a:xfrm>
          <a:prstGeom prst="roundRect">
            <a:avLst>
              <a:gd name="adj" fmla="val 8108"/>
            </a:avLst>
          </a:prstGeom>
          <a:solidFill>
            <a:srgbClr val="FFFFFF"/>
          </a:solidFill>
          <a:ln w="19050">
            <a:solidFill>
              <a:srgbClr val="197A56"/>
            </a:solidFill>
            <a:prstDash val="solid"/>
          </a:ln>
        </p:spPr>
      </p:sp>
      <p:sp>
        <p:nvSpPr>
          <p:cNvPr id="61" name="ovl_s26_nt_first"/>
          <p:cNvSpPr txBox="1"/>
          <p:nvPr/>
        </p:nvSpPr>
        <p:spPr>
          <a:xfrm>
            <a:off x="2657856" y="296722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最初の契約</a:t>
            </a:r>
            <a:endParaRPr lang="en-US" sz="1000" dirty="0"/>
          </a:p>
        </p:txBody>
      </p:sp>
      <p:sp>
        <p:nvSpPr>
          <p:cNvPr id="62" name="ovl_s26_ns_first"/>
          <p:cNvSpPr txBox="1"/>
          <p:nvPr/>
        </p:nvSpPr>
        <p:spPr>
          <a:xfrm>
            <a:off x="2667000" y="317296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5〜6 年</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契約 ≒ 償却期間</a:t>
            </a:r>
            <a:endParaRPr lang="en-US" sz="850" dirty="0"/>
          </a:p>
        </p:txBody>
      </p:sp>
      <p:sp>
        <p:nvSpPr>
          <p:cNvPr id="63" name="ovl_s26_n_renew"/>
          <p:cNvSpPr/>
          <p:nvPr/>
        </p:nvSpPr>
        <p:spPr>
          <a:xfrm>
            <a:off x="2621280" y="3869436"/>
            <a:ext cx="1417320" cy="676656"/>
          </a:xfrm>
          <a:prstGeom prst="roundRect">
            <a:avLst>
              <a:gd name="adj" fmla="val 8108"/>
            </a:avLst>
          </a:prstGeom>
          <a:solidFill>
            <a:srgbClr val="FFFFFF"/>
          </a:solidFill>
          <a:ln w="19050">
            <a:solidFill>
              <a:srgbClr val="197A56"/>
            </a:solidFill>
            <a:prstDash val="solid"/>
          </a:ln>
        </p:spPr>
      </p:sp>
      <p:sp>
        <p:nvSpPr>
          <p:cNvPr id="64" name="ovl_s26_nt_renew"/>
          <p:cNvSpPr txBox="1"/>
          <p:nvPr/>
        </p:nvSpPr>
        <p:spPr>
          <a:xfrm>
            <a:off x="2657856" y="3896868"/>
            <a:ext cx="134416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更新・再販</a:t>
            </a:r>
            <a:endParaRPr lang="en-US" sz="1000" dirty="0"/>
          </a:p>
        </p:txBody>
      </p:sp>
      <p:sp>
        <p:nvSpPr>
          <p:cNvPr id="65" name="ovl_s26_ns_renew"/>
          <p:cNvSpPr txBox="1"/>
          <p:nvPr/>
        </p:nvSpPr>
        <p:spPr>
          <a:xfrm>
            <a:off x="2667000" y="4102608"/>
            <a:ext cx="132588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従来比 +20%</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(Q1 FY27)</a:t>
            </a:r>
            <a:endParaRPr lang="en-US" sz="850" dirty="0"/>
          </a:p>
        </p:txBody>
      </p:sp>
      <p:sp>
        <p:nvSpPr>
          <p:cNvPr id="66" name="ovl_s26_n_cust"/>
          <p:cNvSpPr/>
          <p:nvPr/>
        </p:nvSpPr>
        <p:spPr>
          <a:xfrm>
            <a:off x="4876800" y="2010156"/>
            <a:ext cx="1234440" cy="676656"/>
          </a:xfrm>
          <a:prstGeom prst="roundRect">
            <a:avLst>
              <a:gd name="adj" fmla="val 8108"/>
            </a:avLst>
          </a:prstGeom>
          <a:solidFill>
            <a:srgbClr val="FFFFFF"/>
          </a:solidFill>
          <a:ln w="9525">
            <a:solidFill>
              <a:srgbClr val="767676"/>
            </a:solidFill>
            <a:prstDash val="solid"/>
          </a:ln>
        </p:spPr>
      </p:sp>
      <p:sp>
        <p:nvSpPr>
          <p:cNvPr id="67" name="ovl_s26_nt_cust"/>
          <p:cNvSpPr txBox="1"/>
          <p:nvPr/>
        </p:nvSpPr>
        <p:spPr>
          <a:xfrm>
            <a:off x="4913376" y="203758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DB・SaaS の顧客</a:t>
            </a:r>
            <a:endParaRPr lang="en-US" sz="1000" dirty="0"/>
          </a:p>
        </p:txBody>
      </p:sp>
      <p:sp>
        <p:nvSpPr>
          <p:cNvPr id="68" name="ovl_s26_ns_cust"/>
          <p:cNvSpPr txBox="1"/>
          <p:nvPr/>
        </p:nvSpPr>
        <p:spPr>
          <a:xfrm>
            <a:off x="4922520" y="224332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保守料</a:t>
            </a:r>
            <a:endParaRPr lang="en-US" sz="850" dirty="0"/>
          </a:p>
        </p:txBody>
      </p:sp>
      <p:sp>
        <p:nvSpPr>
          <p:cNvPr id="69" name="ovl_s26_n_lab"/>
          <p:cNvSpPr/>
          <p:nvPr/>
        </p:nvSpPr>
        <p:spPr>
          <a:xfrm>
            <a:off x="4876800" y="2939796"/>
            <a:ext cx="1234440" cy="676656"/>
          </a:xfrm>
          <a:prstGeom prst="roundRect">
            <a:avLst>
              <a:gd name="adj" fmla="val 8108"/>
            </a:avLst>
          </a:prstGeom>
          <a:solidFill>
            <a:srgbClr val="FFFFFF"/>
          </a:solidFill>
          <a:ln w="9525">
            <a:solidFill>
              <a:srgbClr val="767676"/>
            </a:solidFill>
            <a:prstDash val="solid"/>
          </a:ln>
        </p:spPr>
      </p:sp>
      <p:sp>
        <p:nvSpPr>
          <p:cNvPr id="70" name="ovl_s26_nt_lab"/>
          <p:cNvSpPr txBox="1"/>
          <p:nvPr/>
        </p:nvSpPr>
        <p:spPr>
          <a:xfrm>
            <a:off x="4913376" y="2967228"/>
            <a:ext cx="116128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研究所・企業</a:t>
            </a:r>
            <a:endParaRPr lang="en-US" sz="1000" dirty="0"/>
          </a:p>
        </p:txBody>
      </p:sp>
      <p:sp>
        <p:nvSpPr>
          <p:cNvPr id="71" name="ovl_s26_ns_lab"/>
          <p:cNvSpPr txBox="1"/>
          <p:nvPr/>
        </p:nvSpPr>
        <p:spPr>
          <a:xfrm>
            <a:off x="4922520" y="3172968"/>
            <a:ext cx="114300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初回の契約料</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更新料</a:t>
            </a:r>
            <a:endParaRPr lang="en-US" sz="850" dirty="0"/>
          </a:p>
        </p:txBody>
      </p:sp>
      <p:sp>
        <p:nvSpPr>
          <p:cNvPr id="72" name="ovl_s26_n_nv"/>
          <p:cNvSpPr/>
          <p:nvPr/>
        </p:nvSpPr>
        <p:spPr>
          <a:xfrm>
            <a:off x="6949440" y="2010156"/>
            <a:ext cx="1325880" cy="676656"/>
          </a:xfrm>
          <a:prstGeom prst="roundRect">
            <a:avLst>
              <a:gd name="adj" fmla="val 8108"/>
            </a:avLst>
          </a:prstGeom>
          <a:solidFill>
            <a:srgbClr val="FFFFFF"/>
          </a:solidFill>
          <a:ln w="19050">
            <a:solidFill>
              <a:srgbClr val="C0392B"/>
            </a:solidFill>
            <a:prstDash val="solid"/>
          </a:ln>
        </p:spPr>
      </p:sp>
      <p:sp>
        <p:nvSpPr>
          <p:cNvPr id="73" name="ovl_s26_nt_nv"/>
          <p:cNvSpPr txBox="1"/>
          <p:nvPr/>
        </p:nvSpPr>
        <p:spPr>
          <a:xfrm>
            <a:off x="6986016" y="203758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NVIDIA の新世代</a:t>
            </a:r>
            <a:endParaRPr lang="en-US" sz="1000" dirty="0"/>
          </a:p>
        </p:txBody>
      </p:sp>
      <p:sp>
        <p:nvSpPr>
          <p:cNvPr id="74" name="ovl_s26_ns_nv"/>
          <p:cNvSpPr txBox="1"/>
          <p:nvPr/>
        </p:nvSpPr>
        <p:spPr>
          <a:xfrm>
            <a:off x="6995160" y="224332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Rubin は電力あたり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約 10 倍</a:t>
            </a:r>
            <a:endParaRPr lang="en-US" sz="850" dirty="0"/>
          </a:p>
        </p:txBody>
      </p:sp>
      <p:sp>
        <p:nvSpPr>
          <p:cNvPr id="75" name="ovl_s26_n_amzn"/>
          <p:cNvSpPr/>
          <p:nvPr/>
        </p:nvSpPr>
        <p:spPr>
          <a:xfrm>
            <a:off x="6949440" y="2939796"/>
            <a:ext cx="1325880" cy="676656"/>
          </a:xfrm>
          <a:prstGeom prst="roundRect">
            <a:avLst>
              <a:gd name="adj" fmla="val 8108"/>
            </a:avLst>
          </a:prstGeom>
          <a:solidFill>
            <a:srgbClr val="FFFFFF"/>
          </a:solidFill>
          <a:ln w="19050">
            <a:solidFill>
              <a:srgbClr val="C0392B"/>
            </a:solidFill>
            <a:prstDash val="solid"/>
          </a:ln>
        </p:spPr>
      </p:sp>
      <p:sp>
        <p:nvSpPr>
          <p:cNvPr id="76" name="ovl_s26_nt_amzn"/>
          <p:cNvSpPr txBox="1"/>
          <p:nvPr/>
        </p:nvSpPr>
        <p:spPr>
          <a:xfrm>
            <a:off x="6986016" y="2967228"/>
            <a:ext cx="12527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Amazon の判断</a:t>
            </a:r>
            <a:endParaRPr lang="en-US" sz="1000" dirty="0"/>
          </a:p>
        </p:txBody>
      </p:sp>
      <p:sp>
        <p:nvSpPr>
          <p:cNvPr id="77" name="ovl_s26_ns_amzn"/>
          <p:cNvSpPr txBox="1"/>
          <p:nvPr/>
        </p:nvSpPr>
        <p:spPr>
          <a:xfrm>
            <a:off x="6995160" y="317296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サーバーの耐用年数を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 → 5 年に短縮</a:t>
            </a:r>
            <a:endParaRPr lang="en-US" sz="850" dirty="0"/>
          </a:p>
        </p:txBody>
      </p:sp>
      <p:sp>
        <p:nvSpPr>
          <p:cNvPr id="78" name="ovl_s26_n_used"/>
          <p:cNvSpPr/>
          <p:nvPr/>
        </p:nvSpPr>
        <p:spPr>
          <a:xfrm>
            <a:off x="6949440" y="3869436"/>
            <a:ext cx="1325880" cy="676656"/>
          </a:xfrm>
          <a:prstGeom prst="roundRect">
            <a:avLst>
              <a:gd name="adj" fmla="val 8108"/>
            </a:avLst>
          </a:prstGeom>
          <a:solidFill>
            <a:srgbClr val="FFFFFF"/>
          </a:solidFill>
          <a:ln w="9525">
            <a:solidFill>
              <a:srgbClr val="767676"/>
            </a:solidFill>
            <a:prstDash val="solid"/>
          </a:ln>
        </p:spPr>
      </p:sp>
      <p:sp>
        <p:nvSpPr>
          <p:cNvPr id="79" name="ovl_s26_nt_used"/>
          <p:cNvSpPr txBox="1"/>
          <p:nvPr/>
        </p:nvSpPr>
        <p:spPr>
          <a:xfrm>
            <a:off x="6986016" y="3896868"/>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中古 GPU 市場</a:t>
            </a:r>
            <a:endParaRPr lang="en-US" sz="1000" dirty="0"/>
          </a:p>
        </p:txBody>
      </p:sp>
      <p:sp>
        <p:nvSpPr>
          <p:cNvPr id="80" name="ovl_s26_ns_used"/>
          <p:cNvSpPr txBox="1"/>
          <p:nvPr/>
        </p:nvSpPr>
        <p:spPr>
          <a:xfrm>
            <a:off x="6995160" y="4102608"/>
            <a:ext cx="1234440" cy="416052"/>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中古 H100 は新品の</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61% → 69%</a:t>
            </a:r>
            <a:endParaRPr lang="en-US" sz="850" dirty="0"/>
          </a:p>
        </p:txBody>
      </p:sp>
      <p:sp>
        <p:nvSpPr>
          <p:cNvPr id="81" name="ovl_s26_num0"/>
          <p:cNvSpPr/>
          <p:nvPr/>
        </p:nvSpPr>
        <p:spPr>
          <a:xfrm>
            <a:off x="2083308" y="2229612"/>
            <a:ext cx="237744" cy="237744"/>
          </a:xfrm>
          <a:prstGeom prst="ellipse">
            <a:avLst/>
          </a:prstGeom>
          <a:solidFill>
            <a:srgbClr val="1BA1A6"/>
          </a:solidFill>
          <a:ln w="12700">
            <a:solidFill>
              <a:srgbClr val="FFFFFF"/>
            </a:solidFill>
            <a:prstDash val="solid"/>
          </a:ln>
        </p:spPr>
      </p:sp>
      <p:sp>
        <p:nvSpPr>
          <p:cNvPr id="82" name="ovl_s26_numt0"/>
          <p:cNvSpPr txBox="1"/>
          <p:nvPr/>
        </p:nvSpPr>
        <p:spPr>
          <a:xfrm>
            <a:off x="2083308" y="22296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83" name="ovl_s26_num1"/>
          <p:cNvSpPr/>
          <p:nvPr/>
        </p:nvSpPr>
        <p:spPr>
          <a:xfrm>
            <a:off x="1900428" y="3159252"/>
            <a:ext cx="237744" cy="237744"/>
          </a:xfrm>
          <a:prstGeom prst="ellipse">
            <a:avLst/>
          </a:prstGeom>
          <a:solidFill>
            <a:srgbClr val="1BA1A6"/>
          </a:solidFill>
          <a:ln w="12700">
            <a:solidFill>
              <a:srgbClr val="FFFFFF"/>
            </a:solidFill>
            <a:prstDash val="solid"/>
          </a:ln>
        </p:spPr>
      </p:sp>
      <p:sp>
        <p:nvSpPr>
          <p:cNvPr id="84" name="ovl_s26_numt1"/>
          <p:cNvSpPr txBox="1"/>
          <p:nvPr/>
        </p:nvSpPr>
        <p:spPr>
          <a:xfrm>
            <a:off x="1900428" y="31592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85" name="ovl_s26_lab3"/>
          <p:cNvSpPr txBox="1"/>
          <p:nvPr/>
        </p:nvSpPr>
        <p:spPr>
          <a:xfrm>
            <a:off x="4227957" y="2115312"/>
            <a:ext cx="459486"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0E4D33"/>
                </a:solidFill>
                <a:latin typeface="Meiryo UI" pitchFamily="34" charset="0"/>
                <a:ea typeface="Meiryo UI" pitchFamily="34" charset="-122"/>
                <a:cs typeface="Meiryo UI" pitchFamily="34" charset="-120"/>
              </a:rPr>
              <a:t>保守料</a:t>
            </a:r>
            <a:endParaRPr lang="en-US" sz="850" dirty="0"/>
          </a:p>
        </p:txBody>
      </p:sp>
      <p:sp>
        <p:nvSpPr>
          <p:cNvPr id="86" name="ovl_s26_num5"/>
          <p:cNvSpPr/>
          <p:nvPr/>
        </p:nvSpPr>
        <p:spPr>
          <a:xfrm>
            <a:off x="4338828" y="3441192"/>
            <a:ext cx="237744" cy="237744"/>
          </a:xfrm>
          <a:prstGeom prst="ellipse">
            <a:avLst/>
          </a:prstGeom>
          <a:solidFill>
            <a:srgbClr val="0E4D33"/>
          </a:solidFill>
          <a:ln w="12700">
            <a:solidFill>
              <a:srgbClr val="FFFFFF"/>
            </a:solidFill>
            <a:prstDash val="solid"/>
          </a:ln>
        </p:spPr>
      </p:sp>
      <p:sp>
        <p:nvSpPr>
          <p:cNvPr id="87" name="ovl_s26_numt5"/>
          <p:cNvSpPr txBox="1"/>
          <p:nvPr/>
        </p:nvSpPr>
        <p:spPr>
          <a:xfrm>
            <a:off x="4338828" y="34411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88" name="ovl_s26_lab6"/>
          <p:cNvSpPr txBox="1"/>
          <p:nvPr/>
        </p:nvSpPr>
        <p:spPr>
          <a:xfrm>
            <a:off x="3827564" y="2710434"/>
            <a:ext cx="1077392" cy="205740"/>
          </a:xfrm>
          <a:prstGeom prst="rect">
            <a:avLst/>
          </a:prstGeom>
          <a:solidFill>
            <a:srgbClr val="FFFFFF"/>
          </a:solidFill>
          <a:ln/>
        </p:spPr>
        <p:txBody>
          <a:bodyPr wrap="square" lIns="254" tIns="254" rIns="254" bIns="254" rtlCol="0" anchor="ctr"/>
          <a:lstStyle/>
          <a:p>
            <a:pPr algn="ctr" indent="0" marL="0">
              <a:buNone/>
            </a:pPr>
            <a:r>
              <a:rPr lang="en-US" sz="850" b="1" dirty="0">
                <a:solidFill>
                  <a:srgbClr val="C0392B"/>
                </a:solidFill>
                <a:latin typeface="Meiryo UI" pitchFamily="34" charset="0"/>
                <a:ea typeface="Meiryo UI" pitchFamily="34" charset="-122"/>
                <a:cs typeface="Meiryo UI" pitchFamily="34" charset="-120"/>
              </a:rPr>
              <a:t>④ </a:t>
            </a:r>
            <a:r>
              <a:rPr lang="en-US" sz="850" dirty="0">
                <a:solidFill>
                  <a:srgbClr val="C0392B"/>
                </a:solidFill>
                <a:latin typeface="Meiryo UI" pitchFamily="34" charset="0"/>
                <a:ea typeface="Meiryo UI" pitchFamily="34" charset="-122"/>
                <a:cs typeface="Meiryo UI" pitchFamily="34" charset="-120"/>
              </a:rPr>
              <a:t>置き換えを迫る</a:t>
            </a:r>
            <a:endParaRPr lang="en-US" sz="850" dirty="0"/>
          </a:p>
        </p:txBody>
      </p:sp>
      <p:sp>
        <p:nvSpPr>
          <p:cNvPr id="89" name="ovl_s26_lab7"/>
          <p:cNvSpPr txBox="1"/>
          <p:nvPr/>
        </p:nvSpPr>
        <p:spPr>
          <a:xfrm>
            <a:off x="5117211" y="3640074"/>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寿命の見方</a:t>
            </a:r>
            <a:endParaRPr lang="en-US" sz="850" dirty="0"/>
          </a:p>
        </p:txBody>
      </p:sp>
      <p:sp>
        <p:nvSpPr>
          <p:cNvPr id="90" name="ovl_s26_lab8"/>
          <p:cNvSpPr txBox="1"/>
          <p:nvPr/>
        </p:nvSpPr>
        <p:spPr>
          <a:xfrm>
            <a:off x="5205984" y="397459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767676"/>
                </a:solidFill>
                <a:latin typeface="Meiryo UI" pitchFamily="34" charset="0"/>
                <a:ea typeface="Meiryo UI" pitchFamily="34" charset="-122"/>
                <a:cs typeface="Meiryo UI" pitchFamily="34" charset="-120"/>
              </a:rPr>
              <a:t>再販の値</a:t>
            </a:r>
            <a:endParaRPr lang="en-US" sz="850" dirty="0"/>
          </a:p>
        </p:txBody>
      </p:sp>
      <p:sp>
        <p:nvSpPr>
          <p:cNvPr id="91" name="ovl_s26_leg0"/>
          <p:cNvSpPr/>
          <p:nvPr/>
        </p:nvSpPr>
        <p:spPr>
          <a:xfrm>
            <a:off x="457200" y="4828032"/>
            <a:ext cx="365760" cy="914"/>
          </a:xfrm>
          <a:prstGeom prst="line">
            <a:avLst/>
          </a:prstGeom>
          <a:noFill/>
          <a:ln w="22225">
            <a:solidFill>
              <a:srgbClr val="0E4D33"/>
            </a:solidFill>
            <a:prstDash val="solid"/>
            <a:tailEnd type="triangle"/>
          </a:ln>
        </p:spPr>
      </p:sp>
      <p:sp>
        <p:nvSpPr>
          <p:cNvPr id="92" name="ovl_s26_legt0"/>
          <p:cNvSpPr txBox="1"/>
          <p:nvPr/>
        </p:nvSpPr>
        <p:spPr>
          <a:xfrm>
            <a:off x="87782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カネ</a:t>
            </a:r>
            <a:endParaRPr lang="en-US" sz="800" dirty="0"/>
          </a:p>
        </p:txBody>
      </p:sp>
      <p:sp>
        <p:nvSpPr>
          <p:cNvPr id="93" name="ovl_s26_leg1"/>
          <p:cNvSpPr/>
          <p:nvPr/>
        </p:nvSpPr>
        <p:spPr>
          <a:xfrm>
            <a:off x="1874520" y="4828032"/>
            <a:ext cx="365760" cy="914"/>
          </a:xfrm>
          <a:prstGeom prst="line">
            <a:avLst/>
          </a:prstGeom>
          <a:noFill/>
          <a:ln w="19050">
            <a:solidFill>
              <a:srgbClr val="1BA1A6"/>
            </a:solidFill>
            <a:prstDash val="solid"/>
            <a:tailEnd type="triangle"/>
          </a:ln>
        </p:spPr>
      </p:sp>
      <p:sp>
        <p:nvSpPr>
          <p:cNvPr id="94" name="ovl_s26_legt1"/>
          <p:cNvSpPr txBox="1"/>
          <p:nvPr/>
        </p:nvSpPr>
        <p:spPr>
          <a:xfrm>
            <a:off x="229514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モノ・サービス</a:t>
            </a:r>
            <a:endParaRPr lang="en-US" sz="800" dirty="0"/>
          </a:p>
        </p:txBody>
      </p:sp>
      <p:sp>
        <p:nvSpPr>
          <p:cNvPr id="95" name="ovl_s26_leg2"/>
          <p:cNvSpPr/>
          <p:nvPr/>
        </p:nvSpPr>
        <p:spPr>
          <a:xfrm>
            <a:off x="3291840" y="4828032"/>
            <a:ext cx="365760" cy="914"/>
          </a:xfrm>
          <a:prstGeom prst="line">
            <a:avLst/>
          </a:prstGeom>
          <a:noFill/>
          <a:ln w="15875">
            <a:solidFill>
              <a:srgbClr val="C0392B"/>
            </a:solidFill>
            <a:prstDash val="dash"/>
            <a:tailEnd type="triangle"/>
          </a:ln>
        </p:spPr>
      </p:sp>
      <p:sp>
        <p:nvSpPr>
          <p:cNvPr id="96" name="ovl_s26_legt2"/>
          <p:cNvSpPr txBox="1"/>
          <p:nvPr/>
        </p:nvSpPr>
        <p:spPr>
          <a:xfrm>
            <a:off x="371246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97" name="ovl_s26_leg3"/>
          <p:cNvSpPr/>
          <p:nvPr/>
        </p:nvSpPr>
        <p:spPr>
          <a:xfrm>
            <a:off x="4709160" y="4828032"/>
            <a:ext cx="365760" cy="914"/>
          </a:xfrm>
          <a:prstGeom prst="line">
            <a:avLst/>
          </a:prstGeom>
          <a:noFill/>
          <a:ln w="12700">
            <a:solidFill>
              <a:srgbClr val="767676"/>
            </a:solidFill>
            <a:prstDash val="sysDash"/>
            <a:tailEnd type="triangle"/>
          </a:ln>
        </p:spPr>
      </p:sp>
      <p:sp>
        <p:nvSpPr>
          <p:cNvPr id="98" name="ovl_s26_legt3"/>
          <p:cNvSpPr txBox="1"/>
          <p:nvPr/>
        </p:nvSpPr>
        <p:spPr>
          <a:xfrm>
            <a:off x="5129784" y="4727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99" name="ovl_s26_legn"/>
          <p:cNvSpPr txBox="1"/>
          <p:nvPr/>
        </p:nvSpPr>
        <p:spPr>
          <a:xfrm>
            <a:off x="6126480" y="4727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00" name="ovl_s26tb_tk2027"/>
          <p:cNvSpPr txBox="1"/>
          <p:nvPr/>
        </p:nvSpPr>
        <p:spPr>
          <a:xfrm>
            <a:off x="16002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FY27</a:t>
            </a:r>
            <a:endParaRPr lang="en-US" sz="800" dirty="0"/>
          </a:p>
        </p:txBody>
      </p:sp>
      <p:sp>
        <p:nvSpPr>
          <p:cNvPr id="101" name="ovl_s26tb_gl2027"/>
          <p:cNvSpPr/>
          <p:nvPr/>
        </p:nvSpPr>
        <p:spPr>
          <a:xfrm>
            <a:off x="1874520" y="5212080"/>
            <a:ext cx="914" cy="822960"/>
          </a:xfrm>
          <a:prstGeom prst="line">
            <a:avLst/>
          </a:prstGeom>
          <a:noFill/>
          <a:ln w="6350">
            <a:solidFill>
              <a:srgbClr val="D9D9D9"/>
            </a:solidFill>
            <a:prstDash val="dash"/>
          </a:ln>
        </p:spPr>
      </p:sp>
      <p:sp>
        <p:nvSpPr>
          <p:cNvPr id="102" name="ovl_s26tb_tk2032"/>
          <p:cNvSpPr txBox="1"/>
          <p:nvPr/>
        </p:nvSpPr>
        <p:spPr>
          <a:xfrm>
            <a:off x="32004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FY32</a:t>
            </a:r>
            <a:endParaRPr lang="en-US" sz="800" dirty="0"/>
          </a:p>
        </p:txBody>
      </p:sp>
      <p:sp>
        <p:nvSpPr>
          <p:cNvPr id="103" name="ovl_s26tb_gl2032"/>
          <p:cNvSpPr/>
          <p:nvPr/>
        </p:nvSpPr>
        <p:spPr>
          <a:xfrm>
            <a:off x="3474720" y="5212080"/>
            <a:ext cx="914" cy="822960"/>
          </a:xfrm>
          <a:prstGeom prst="line">
            <a:avLst/>
          </a:prstGeom>
          <a:noFill/>
          <a:ln w="6350">
            <a:solidFill>
              <a:srgbClr val="D9D9D9"/>
            </a:solidFill>
            <a:prstDash val="dash"/>
          </a:ln>
        </p:spPr>
      </p:sp>
      <p:sp>
        <p:nvSpPr>
          <p:cNvPr id="104" name="ovl_s26tb_tk2037"/>
          <p:cNvSpPr txBox="1"/>
          <p:nvPr/>
        </p:nvSpPr>
        <p:spPr>
          <a:xfrm>
            <a:off x="48006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FY37</a:t>
            </a:r>
            <a:endParaRPr lang="en-US" sz="800" dirty="0"/>
          </a:p>
        </p:txBody>
      </p:sp>
      <p:sp>
        <p:nvSpPr>
          <p:cNvPr id="105" name="ovl_s26tb_gl2037"/>
          <p:cNvSpPr/>
          <p:nvPr/>
        </p:nvSpPr>
        <p:spPr>
          <a:xfrm>
            <a:off x="5074920" y="5212080"/>
            <a:ext cx="914" cy="822960"/>
          </a:xfrm>
          <a:prstGeom prst="line">
            <a:avLst/>
          </a:prstGeom>
          <a:noFill/>
          <a:ln w="6350">
            <a:solidFill>
              <a:srgbClr val="D9D9D9"/>
            </a:solidFill>
            <a:prstDash val="dash"/>
          </a:ln>
        </p:spPr>
      </p:sp>
      <p:sp>
        <p:nvSpPr>
          <p:cNvPr id="106" name="ovl_s26tb_tk2042"/>
          <p:cNvSpPr txBox="1"/>
          <p:nvPr/>
        </p:nvSpPr>
        <p:spPr>
          <a:xfrm>
            <a:off x="64008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FY42</a:t>
            </a:r>
            <a:endParaRPr lang="en-US" sz="800" dirty="0"/>
          </a:p>
        </p:txBody>
      </p:sp>
      <p:sp>
        <p:nvSpPr>
          <p:cNvPr id="107" name="ovl_s26tb_gl2042"/>
          <p:cNvSpPr/>
          <p:nvPr/>
        </p:nvSpPr>
        <p:spPr>
          <a:xfrm>
            <a:off x="6675120" y="5212080"/>
            <a:ext cx="914" cy="822960"/>
          </a:xfrm>
          <a:prstGeom prst="line">
            <a:avLst/>
          </a:prstGeom>
          <a:noFill/>
          <a:ln w="6350">
            <a:solidFill>
              <a:srgbClr val="D9D9D9"/>
            </a:solidFill>
            <a:prstDash val="dash"/>
          </a:ln>
        </p:spPr>
      </p:sp>
      <p:sp>
        <p:nvSpPr>
          <p:cNvPr id="108" name="ovl_s26tb_tk2047"/>
          <p:cNvSpPr txBox="1"/>
          <p:nvPr/>
        </p:nvSpPr>
        <p:spPr>
          <a:xfrm>
            <a:off x="8001000" y="5029200"/>
            <a:ext cx="548640" cy="182880"/>
          </a:xfrm>
          <a:prstGeom prst="rect">
            <a:avLst/>
          </a:prstGeom>
          <a:noFill/>
          <a:ln/>
        </p:spPr>
        <p:txBody>
          <a:bodyPr wrap="square" lIns="0" tIns="0" rIns="0" bIns="0" rtlCol="0" anchor="t"/>
          <a:lstStyle/>
          <a:p>
            <a:pPr algn="ctr" indent="0" marL="0">
              <a:buNone/>
            </a:pPr>
            <a:r>
              <a:rPr lang="en-US" sz="800" dirty="0">
                <a:solidFill>
                  <a:srgbClr val="767676"/>
                </a:solidFill>
                <a:latin typeface="Meiryo UI" pitchFamily="34" charset="0"/>
                <a:ea typeface="Meiryo UI" pitchFamily="34" charset="-122"/>
                <a:cs typeface="Meiryo UI" pitchFamily="34" charset="-120"/>
              </a:rPr>
              <a:t>FY47</a:t>
            </a:r>
            <a:endParaRPr lang="en-US" sz="800" dirty="0"/>
          </a:p>
        </p:txBody>
      </p:sp>
      <p:sp>
        <p:nvSpPr>
          <p:cNvPr id="109" name="ovl_s26tb_gl2047"/>
          <p:cNvSpPr/>
          <p:nvPr/>
        </p:nvSpPr>
        <p:spPr>
          <a:xfrm>
            <a:off x="8275320" y="5212080"/>
            <a:ext cx="914" cy="822960"/>
          </a:xfrm>
          <a:prstGeom prst="line">
            <a:avLst/>
          </a:prstGeom>
          <a:noFill/>
          <a:ln w="6350">
            <a:solidFill>
              <a:srgbClr val="D9D9D9"/>
            </a:solidFill>
            <a:prstDash val="dash"/>
          </a:ln>
        </p:spPr>
      </p:sp>
      <p:sp>
        <p:nvSpPr>
          <p:cNvPr id="110" name="ovl_s26tb_l0"/>
          <p:cNvSpPr txBox="1"/>
          <p:nvPr/>
        </p:nvSpPr>
        <p:spPr>
          <a:xfrm>
            <a:off x="457200" y="5248656"/>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の最初の契約</a:t>
            </a:r>
            <a:endParaRPr lang="en-US" sz="850" dirty="0"/>
          </a:p>
        </p:txBody>
      </p:sp>
      <p:sp>
        <p:nvSpPr>
          <p:cNvPr id="111" name="ovl_s26tb_b0"/>
          <p:cNvSpPr/>
          <p:nvPr/>
        </p:nvSpPr>
        <p:spPr>
          <a:xfrm>
            <a:off x="1874520" y="5276179"/>
            <a:ext cx="1600200" cy="141549"/>
          </a:xfrm>
          <a:prstGeom prst="rect">
            <a:avLst/>
          </a:prstGeom>
          <a:solidFill>
            <a:srgbClr val="197A56"/>
          </a:solidFill>
          <a:ln w="12700">
            <a:solidFill>
              <a:srgbClr val="197A56"/>
            </a:solidFill>
            <a:prstDash val="solid"/>
          </a:ln>
        </p:spPr>
      </p:sp>
      <p:sp>
        <p:nvSpPr>
          <p:cNvPr id="112" name="ovl_s26tb_t0"/>
          <p:cNvSpPr txBox="1"/>
          <p:nvPr/>
        </p:nvSpPr>
        <p:spPr>
          <a:xfrm>
            <a:off x="1874520" y="5276179"/>
            <a:ext cx="16002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5〜6 年</a:t>
            </a:r>
            <a:endParaRPr lang="en-US" sz="800" dirty="0"/>
          </a:p>
        </p:txBody>
      </p:sp>
      <p:sp>
        <p:nvSpPr>
          <p:cNvPr id="113" name="ovl_s26tb_l1"/>
          <p:cNvSpPr txBox="1"/>
          <p:nvPr/>
        </p:nvSpPr>
        <p:spPr>
          <a:xfrm>
            <a:off x="457200" y="5445252"/>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GPU の償却</a:t>
            </a:r>
            <a:endParaRPr lang="en-US" sz="850" dirty="0"/>
          </a:p>
        </p:txBody>
      </p:sp>
      <p:sp>
        <p:nvSpPr>
          <p:cNvPr id="114" name="ovl_s26tb_b1"/>
          <p:cNvSpPr/>
          <p:nvPr/>
        </p:nvSpPr>
        <p:spPr>
          <a:xfrm>
            <a:off x="1874520" y="5472775"/>
            <a:ext cx="1920240" cy="141549"/>
          </a:xfrm>
          <a:prstGeom prst="rect">
            <a:avLst/>
          </a:prstGeom>
          <a:solidFill>
            <a:srgbClr val="D68910"/>
          </a:solidFill>
          <a:ln w="12700">
            <a:solidFill>
              <a:srgbClr val="D68910"/>
            </a:solidFill>
            <a:prstDash val="solid"/>
          </a:ln>
        </p:spPr>
      </p:sp>
      <p:sp>
        <p:nvSpPr>
          <p:cNvPr id="115" name="ovl_s26tb_t1"/>
          <p:cNvSpPr txBox="1"/>
          <p:nvPr/>
        </p:nvSpPr>
        <p:spPr>
          <a:xfrm>
            <a:off x="1874520" y="5472775"/>
            <a:ext cx="192024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6 年</a:t>
            </a:r>
            <a:endParaRPr lang="en-US" sz="800" dirty="0"/>
          </a:p>
        </p:txBody>
      </p:sp>
      <p:sp>
        <p:nvSpPr>
          <p:cNvPr id="116" name="ovl_s26tb_l2"/>
          <p:cNvSpPr txBox="1"/>
          <p:nvPr/>
        </p:nvSpPr>
        <p:spPr>
          <a:xfrm>
            <a:off x="457200" y="5641848"/>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⑤ 建屋のリース</a:t>
            </a:r>
            <a:endParaRPr lang="en-US" sz="850" dirty="0"/>
          </a:p>
        </p:txBody>
      </p:sp>
      <p:sp>
        <p:nvSpPr>
          <p:cNvPr id="117" name="ovl_s26tb_b2"/>
          <p:cNvSpPr/>
          <p:nvPr/>
        </p:nvSpPr>
        <p:spPr>
          <a:xfrm>
            <a:off x="1874520" y="5669371"/>
            <a:ext cx="5760720" cy="141549"/>
          </a:xfrm>
          <a:prstGeom prst="rect">
            <a:avLst/>
          </a:prstGeom>
          <a:solidFill>
            <a:srgbClr val="86C99B"/>
          </a:solidFill>
          <a:ln w="12700">
            <a:solidFill>
              <a:srgbClr val="86C99B"/>
            </a:solidFill>
            <a:prstDash val="solid"/>
          </a:ln>
        </p:spPr>
      </p:sp>
      <p:sp>
        <p:nvSpPr>
          <p:cNvPr id="118" name="ovl_s26tb_t2"/>
          <p:cNvSpPr txBox="1"/>
          <p:nvPr/>
        </p:nvSpPr>
        <p:spPr>
          <a:xfrm>
            <a:off x="1874520" y="5669371"/>
            <a:ext cx="5760720" cy="141549"/>
          </a:xfrm>
          <a:prstGeom prst="rect">
            <a:avLst/>
          </a:prstGeom>
          <a:noFill/>
          <a:ln/>
        </p:spPr>
        <p:txBody>
          <a:bodyPr wrap="square" lIns="0" tIns="0" rIns="0" bIns="0" rtlCol="0" anchor="ctr"/>
          <a:lstStyle/>
          <a:p>
            <a:pPr algn="ctr" indent="0" marL="0">
              <a:buNone/>
            </a:pPr>
            <a:r>
              <a:rPr lang="en-US" sz="800" b="1" dirty="0">
                <a:solidFill>
                  <a:srgbClr val="0E4D33"/>
                </a:solidFill>
                <a:latin typeface="Meiryo UI" pitchFamily="34" charset="0"/>
                <a:ea typeface="Meiryo UI" pitchFamily="34" charset="-122"/>
                <a:cs typeface="Meiryo UI" pitchFamily="34" charset="-120"/>
              </a:rPr>
              <a:t>15〜19 年(GPU の 2〜3 世代分)</a:t>
            </a:r>
            <a:endParaRPr lang="en-US" sz="800" dirty="0"/>
          </a:p>
        </p:txBody>
      </p:sp>
      <p:sp>
        <p:nvSpPr>
          <p:cNvPr id="119" name="ovl_s26tb_l3"/>
          <p:cNvSpPr txBox="1"/>
          <p:nvPr/>
        </p:nvSpPr>
        <p:spPr>
          <a:xfrm>
            <a:off x="457200" y="5838444"/>
            <a:ext cx="1344168" cy="196596"/>
          </a:xfrm>
          <a:prstGeom prst="rect">
            <a:avLst/>
          </a:prstGeom>
          <a:noFill/>
          <a:ln/>
        </p:spPr>
        <p:txBody>
          <a:bodyPr wrap="square" lIns="0" tIns="0" rIns="0" bIns="0" rtlCol="0" anchor="ctr"/>
          <a:lstStyle/>
          <a:p>
            <a:pPr indent="0" marL="0">
              <a:buNone/>
            </a:pPr>
            <a:r>
              <a:rPr lang="en-US" sz="850" b="1" dirty="0">
                <a:solidFill>
                  <a:srgbClr val="0E4D33"/>
                </a:solidFill>
                <a:latin typeface="Meiryo UI" pitchFamily="34" charset="0"/>
                <a:ea typeface="Meiryo UI" pitchFamily="34" charset="-122"/>
                <a:cs typeface="Meiryo UI" pitchFamily="34" charset="-120"/>
              </a:rPr>
              <a:t>DB の技術・顧客関係</a:t>
            </a:r>
            <a:endParaRPr lang="en-US" sz="850" dirty="0"/>
          </a:p>
        </p:txBody>
      </p:sp>
      <p:sp>
        <p:nvSpPr>
          <p:cNvPr id="120" name="ovl_s26tb_b3"/>
          <p:cNvSpPr/>
          <p:nvPr/>
        </p:nvSpPr>
        <p:spPr>
          <a:xfrm>
            <a:off x="1874520" y="5865967"/>
            <a:ext cx="6400800" cy="141549"/>
          </a:xfrm>
          <a:prstGeom prst="rect">
            <a:avLst/>
          </a:prstGeom>
          <a:solidFill>
            <a:srgbClr val="0E4D33"/>
          </a:solidFill>
          <a:ln w="12700">
            <a:solidFill>
              <a:srgbClr val="0E4D33"/>
            </a:solidFill>
            <a:prstDash val="solid"/>
          </a:ln>
        </p:spPr>
      </p:sp>
      <p:sp>
        <p:nvSpPr>
          <p:cNvPr id="121" name="ovl_s26tb_t3"/>
          <p:cNvSpPr txBox="1"/>
          <p:nvPr/>
        </p:nvSpPr>
        <p:spPr>
          <a:xfrm>
            <a:off x="1874520" y="5865967"/>
            <a:ext cx="6400800" cy="141549"/>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数十年</a:t>
            </a:r>
            <a:endParaRPr lang="en-US" sz="800" dirty="0"/>
          </a:p>
        </p:txBody>
      </p:sp>
      <p:sp>
        <p:nvSpPr>
          <p:cNvPr id="122"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23" name="mech"/>
          <p:cNvSpPr txBox="1"/>
          <p:nvPr/>
        </p:nvSpPr>
        <p:spPr>
          <a:xfrm>
            <a:off x="8458200" y="1810512"/>
            <a:ext cx="3276295" cy="224028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の技術と顧客関係は数十年使われ、保守料で回収が続く</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GPU は最初の 5〜6 年の契約で償却の大半を回収する(契約期間 ≒ 償却期間)</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更新期の GPU は従来比 +20% で更新・再販。CoreWeave も H100 を元の 95% で再契約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新世代(Rubin は電力あたり約 10 倍)が出ると、電力が限られる中で旧世代の置き換えを迫られる</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⑤ </a:t>
            </a:r>
            <a:r>
              <a:rPr lang="en-US" sz="1100" dirty="0">
                <a:solidFill>
                  <a:srgbClr val="333333"/>
                </a:solidFill>
                <a:latin typeface="Meiryo UI" pitchFamily="34" charset="0"/>
                <a:ea typeface="Meiryo UI" pitchFamily="34" charset="-122"/>
                <a:cs typeface="Meiryo UI" pitchFamily="34" charset="-120"/>
              </a:rPr>
              <a:t>建屋のリースは 15〜19 年で GPU の 2〜3 世代分。需要が鈍れば固定費として残る</a:t>
            </a:r>
            <a:endParaRPr lang="en-US" sz="1100" dirty="0"/>
          </a:p>
        </p:txBody>
      </p:sp>
      <p:sp>
        <p:nvSpPr>
          <p:cNvPr id="124"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25"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経済的寿命が会計の耐用年数以上であることを</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示す証拠が優勢。ただし電力制約の下での</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世代交代の速さが残るため B</a:t>
            </a:r>
            <a:endParaRPr lang="en-US" sz="1000" dirty="0"/>
          </a:p>
        </p:txBody>
      </p:sp>
      <p:sp>
        <p:nvSpPr>
          <p:cNvPr id="126"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大型契約の更新(2031 年〜)で元の単価の</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6 割以上が確認できれば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更新プレミアムが 0% 以下に落ちれば C</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(3 年耐用なら EPS −17%、JPMorgan AM の試算)</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製品と設備の性格(条件8〜12)(4/5)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模倣困難性(条件11)</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真似できない資産があれば超過利益が長く続く。何が再現困難かを分けて見る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DB の顧客基盤と他社クラウド内の配置は再現が難しいが、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AI 容量は資本と電力があれば 2〜4 年で再現できる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左から: Oracle の資産 → 再現に要るもの → 再現にかかる時間 ← 競合。①〜④ は右と対応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research3/W3_industry_structure.md、research4/T5_supply_components.md、research4/T2_company_rpo_capacity.md、GE Vernova・PJM の開示</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33</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条件11</a:t>
            </a:r>
            <a:endParaRPr lang="en-US" sz="800" dirty="0"/>
          </a:p>
        </p:txBody>
      </p:sp>
      <p:sp>
        <p:nvSpPr>
          <p:cNvPr id="22" name="bg_lane0"/>
          <p:cNvSpPr/>
          <p:nvPr/>
        </p:nvSpPr>
        <p:spPr>
          <a:xfrm>
            <a:off x="347472" y="1517904"/>
            <a:ext cx="1545336" cy="4315968"/>
          </a:xfrm>
          <a:prstGeom prst="rect">
            <a:avLst/>
          </a:prstGeom>
          <a:solidFill>
            <a:srgbClr val="EAF4EE"/>
          </a:solidFill>
          <a:ln w="12700">
            <a:solidFill>
              <a:srgbClr val="EAF4EE"/>
            </a:solidFill>
            <a:prstDash val="solid"/>
          </a:ln>
        </p:spPr>
      </p:sp>
      <p:sp>
        <p:nvSpPr>
          <p:cNvPr id="23" name="bg_laneh0"/>
          <p:cNvSpPr/>
          <p:nvPr/>
        </p:nvSpPr>
        <p:spPr>
          <a:xfrm>
            <a:off x="347472" y="1517904"/>
            <a:ext cx="1545336" cy="274320"/>
          </a:xfrm>
          <a:prstGeom prst="rect">
            <a:avLst/>
          </a:prstGeom>
          <a:solidFill>
            <a:srgbClr val="197A56"/>
          </a:solidFill>
          <a:ln w="12700">
            <a:solidFill>
              <a:srgbClr val="197A56"/>
            </a:solidFill>
            <a:prstDash val="solid"/>
          </a:ln>
        </p:spPr>
      </p:sp>
      <p:sp>
        <p:nvSpPr>
          <p:cNvPr id="24" name="bg_lanet0"/>
          <p:cNvSpPr txBox="1"/>
          <p:nvPr/>
        </p:nvSpPr>
        <p:spPr>
          <a:xfrm>
            <a:off x="347472" y="1517904"/>
            <a:ext cx="1545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Oracle の資産</a:t>
            </a:r>
            <a:endParaRPr lang="en-US" sz="950" dirty="0"/>
          </a:p>
        </p:txBody>
      </p:sp>
      <p:sp>
        <p:nvSpPr>
          <p:cNvPr id="25" name="bg_lane1"/>
          <p:cNvSpPr/>
          <p:nvPr/>
        </p:nvSpPr>
        <p:spPr>
          <a:xfrm>
            <a:off x="2572512" y="1517904"/>
            <a:ext cx="1591056" cy="4315968"/>
          </a:xfrm>
          <a:prstGeom prst="rect">
            <a:avLst/>
          </a:prstGeom>
          <a:solidFill>
            <a:srgbClr val="F2F2F2"/>
          </a:solidFill>
          <a:ln w="12700">
            <a:solidFill>
              <a:srgbClr val="F2F2F2"/>
            </a:solidFill>
            <a:prstDash val="solid"/>
          </a:ln>
        </p:spPr>
      </p:sp>
      <p:sp>
        <p:nvSpPr>
          <p:cNvPr id="26" name="bg_laneh1"/>
          <p:cNvSpPr/>
          <p:nvPr/>
        </p:nvSpPr>
        <p:spPr>
          <a:xfrm>
            <a:off x="2572512" y="1517904"/>
            <a:ext cx="1591056" cy="274320"/>
          </a:xfrm>
          <a:prstGeom prst="rect">
            <a:avLst/>
          </a:prstGeom>
          <a:solidFill>
            <a:srgbClr val="D9D9D9"/>
          </a:solidFill>
          <a:ln w="12700">
            <a:solidFill>
              <a:srgbClr val="D9D9D9"/>
            </a:solidFill>
            <a:prstDash val="solid"/>
          </a:ln>
        </p:spPr>
      </p:sp>
      <p:sp>
        <p:nvSpPr>
          <p:cNvPr id="27" name="bg_lanet1"/>
          <p:cNvSpPr txBox="1"/>
          <p:nvPr/>
        </p:nvSpPr>
        <p:spPr>
          <a:xfrm>
            <a:off x="2572512" y="1517904"/>
            <a:ext cx="159105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再現に要るもの</a:t>
            </a:r>
            <a:endParaRPr lang="en-US" sz="950" dirty="0"/>
          </a:p>
        </p:txBody>
      </p:sp>
      <p:sp>
        <p:nvSpPr>
          <p:cNvPr id="28" name="bg_lane2"/>
          <p:cNvSpPr/>
          <p:nvPr/>
        </p:nvSpPr>
        <p:spPr>
          <a:xfrm>
            <a:off x="4843272" y="1517904"/>
            <a:ext cx="1316736" cy="4315968"/>
          </a:xfrm>
          <a:prstGeom prst="rect">
            <a:avLst/>
          </a:prstGeom>
          <a:solidFill>
            <a:srgbClr val="F2F2F2"/>
          </a:solidFill>
          <a:ln w="12700">
            <a:solidFill>
              <a:srgbClr val="F2F2F2"/>
            </a:solidFill>
            <a:prstDash val="solid"/>
          </a:ln>
        </p:spPr>
      </p:sp>
      <p:sp>
        <p:nvSpPr>
          <p:cNvPr id="29" name="bg_laneh2"/>
          <p:cNvSpPr/>
          <p:nvPr/>
        </p:nvSpPr>
        <p:spPr>
          <a:xfrm>
            <a:off x="4843272" y="1517904"/>
            <a:ext cx="1316736" cy="274320"/>
          </a:xfrm>
          <a:prstGeom prst="rect">
            <a:avLst/>
          </a:prstGeom>
          <a:solidFill>
            <a:srgbClr val="D9D9D9"/>
          </a:solidFill>
          <a:ln w="12700">
            <a:solidFill>
              <a:srgbClr val="D9D9D9"/>
            </a:solidFill>
            <a:prstDash val="solid"/>
          </a:ln>
        </p:spPr>
      </p:sp>
      <p:sp>
        <p:nvSpPr>
          <p:cNvPr id="30" name="bg_lanet2"/>
          <p:cNvSpPr txBox="1"/>
          <p:nvPr/>
        </p:nvSpPr>
        <p:spPr>
          <a:xfrm>
            <a:off x="4843272" y="1517904"/>
            <a:ext cx="13167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時間</a:t>
            </a:r>
            <a:endParaRPr lang="en-US" sz="950" dirty="0"/>
          </a:p>
        </p:txBody>
      </p:sp>
      <p:sp>
        <p:nvSpPr>
          <p:cNvPr id="31" name="bg_lane3"/>
          <p:cNvSpPr/>
          <p:nvPr/>
        </p:nvSpPr>
        <p:spPr>
          <a:xfrm>
            <a:off x="6839712" y="1517904"/>
            <a:ext cx="1545336" cy="4315968"/>
          </a:xfrm>
          <a:prstGeom prst="rect">
            <a:avLst/>
          </a:prstGeom>
          <a:solidFill>
            <a:srgbClr val="F2F2F2"/>
          </a:solidFill>
          <a:ln w="12700">
            <a:solidFill>
              <a:srgbClr val="F2F2F2"/>
            </a:solidFill>
            <a:prstDash val="solid"/>
          </a:ln>
        </p:spPr>
      </p:sp>
      <p:sp>
        <p:nvSpPr>
          <p:cNvPr id="32" name="bg_laneh3"/>
          <p:cNvSpPr/>
          <p:nvPr/>
        </p:nvSpPr>
        <p:spPr>
          <a:xfrm>
            <a:off x="6839712" y="1517904"/>
            <a:ext cx="1545336" cy="274320"/>
          </a:xfrm>
          <a:prstGeom prst="rect">
            <a:avLst/>
          </a:prstGeom>
          <a:solidFill>
            <a:srgbClr val="D9D9D9"/>
          </a:solidFill>
          <a:ln w="12700">
            <a:solidFill>
              <a:srgbClr val="D9D9D9"/>
            </a:solidFill>
            <a:prstDash val="solid"/>
          </a:ln>
        </p:spPr>
      </p:sp>
      <p:sp>
        <p:nvSpPr>
          <p:cNvPr id="33" name="bg_lanet3"/>
          <p:cNvSpPr txBox="1"/>
          <p:nvPr/>
        </p:nvSpPr>
        <p:spPr>
          <a:xfrm>
            <a:off x="6839712" y="1517904"/>
            <a:ext cx="1545336" cy="274320"/>
          </a:xfrm>
          <a:prstGeom prst="rect">
            <a:avLst/>
          </a:prstGeom>
          <a:noFill/>
          <a:ln/>
        </p:spPr>
        <p:txBody>
          <a:bodyPr wrap="square" lIns="0" tIns="0" rIns="0" bIns="0" rtlCol="0" anchor="ctr"/>
          <a:lstStyle/>
          <a:p>
            <a:pPr algn="ctr" indent="0" marL="0">
              <a:buNone/>
            </a:pPr>
            <a:r>
              <a:rPr lang="en-US" sz="950" b="1" dirty="0">
                <a:solidFill>
                  <a:srgbClr val="0E4D33"/>
                </a:solidFill>
                <a:latin typeface="Meiryo UI" pitchFamily="34" charset="0"/>
                <a:ea typeface="Meiryo UI" pitchFamily="34" charset="-122"/>
                <a:cs typeface="Meiryo UI" pitchFamily="34" charset="-120"/>
              </a:rPr>
              <a:t>競合</a:t>
            </a:r>
            <a:endParaRPr lang="en-US" sz="950" dirty="0"/>
          </a:p>
        </p:txBody>
      </p:sp>
      <p:sp>
        <p:nvSpPr>
          <p:cNvPr id="34" name="ovl_s27_e0_0"/>
          <p:cNvSpPr/>
          <p:nvPr/>
        </p:nvSpPr>
        <p:spPr>
          <a:xfrm>
            <a:off x="1783080" y="2375154"/>
            <a:ext cx="899160" cy="914"/>
          </a:xfrm>
          <a:prstGeom prst="line">
            <a:avLst/>
          </a:prstGeom>
          <a:noFill/>
          <a:ln w="12700">
            <a:solidFill>
              <a:srgbClr val="767676"/>
            </a:solidFill>
            <a:prstDash val="sysDash"/>
            <a:tailEnd type="triangle"/>
          </a:ln>
        </p:spPr>
      </p:sp>
      <p:sp>
        <p:nvSpPr>
          <p:cNvPr id="35" name="ovl_s27_e1_0"/>
          <p:cNvSpPr/>
          <p:nvPr/>
        </p:nvSpPr>
        <p:spPr>
          <a:xfrm>
            <a:off x="4053840" y="2375154"/>
            <a:ext cx="899160" cy="914"/>
          </a:xfrm>
          <a:prstGeom prst="line">
            <a:avLst/>
          </a:prstGeom>
          <a:noFill/>
          <a:ln w="12700">
            <a:solidFill>
              <a:srgbClr val="767676"/>
            </a:solidFill>
            <a:prstDash val="sysDash"/>
            <a:tailEnd type="triangle"/>
          </a:ln>
        </p:spPr>
      </p:sp>
      <p:sp>
        <p:nvSpPr>
          <p:cNvPr id="36" name="ovl_s27_e2_0"/>
          <p:cNvSpPr/>
          <p:nvPr/>
        </p:nvSpPr>
        <p:spPr>
          <a:xfrm flipH="1">
            <a:off x="6050280" y="2375154"/>
            <a:ext cx="899160" cy="914"/>
          </a:xfrm>
          <a:prstGeom prst="line">
            <a:avLst/>
          </a:prstGeom>
          <a:noFill/>
          <a:ln w="15875">
            <a:solidFill>
              <a:srgbClr val="C0392B"/>
            </a:solidFill>
            <a:prstDash val="dash"/>
            <a:tailEnd type="triangle"/>
          </a:ln>
        </p:spPr>
      </p:sp>
      <p:sp>
        <p:nvSpPr>
          <p:cNvPr id="37" name="ovl_s27_e3_0"/>
          <p:cNvSpPr/>
          <p:nvPr/>
        </p:nvSpPr>
        <p:spPr>
          <a:xfrm>
            <a:off x="1783080" y="3358134"/>
            <a:ext cx="899160" cy="914"/>
          </a:xfrm>
          <a:prstGeom prst="line">
            <a:avLst/>
          </a:prstGeom>
          <a:noFill/>
          <a:ln w="12700">
            <a:solidFill>
              <a:srgbClr val="767676"/>
            </a:solidFill>
            <a:prstDash val="sysDash"/>
            <a:tailEnd type="triangle"/>
          </a:ln>
        </p:spPr>
      </p:sp>
      <p:sp>
        <p:nvSpPr>
          <p:cNvPr id="38" name="ovl_s27_e4_0"/>
          <p:cNvSpPr/>
          <p:nvPr/>
        </p:nvSpPr>
        <p:spPr>
          <a:xfrm>
            <a:off x="4053840" y="3358134"/>
            <a:ext cx="899160" cy="914"/>
          </a:xfrm>
          <a:prstGeom prst="line">
            <a:avLst/>
          </a:prstGeom>
          <a:noFill/>
          <a:ln w="12700">
            <a:solidFill>
              <a:srgbClr val="767676"/>
            </a:solidFill>
            <a:prstDash val="sysDash"/>
            <a:tailEnd type="triangle"/>
          </a:ln>
        </p:spPr>
      </p:sp>
      <p:sp>
        <p:nvSpPr>
          <p:cNvPr id="39" name="ovl_s27_e5_0"/>
          <p:cNvSpPr/>
          <p:nvPr/>
        </p:nvSpPr>
        <p:spPr>
          <a:xfrm flipH="1">
            <a:off x="6050280" y="3358134"/>
            <a:ext cx="899160" cy="914"/>
          </a:xfrm>
          <a:prstGeom prst="line">
            <a:avLst/>
          </a:prstGeom>
          <a:noFill/>
          <a:ln w="15875">
            <a:solidFill>
              <a:srgbClr val="C0392B"/>
            </a:solidFill>
            <a:prstDash val="dash"/>
            <a:tailEnd type="triangle"/>
          </a:ln>
        </p:spPr>
      </p:sp>
      <p:sp>
        <p:nvSpPr>
          <p:cNvPr id="40" name="ovl_s27_e6_0"/>
          <p:cNvSpPr/>
          <p:nvPr/>
        </p:nvSpPr>
        <p:spPr>
          <a:xfrm>
            <a:off x="1783080" y="4341114"/>
            <a:ext cx="899160" cy="914"/>
          </a:xfrm>
          <a:prstGeom prst="line">
            <a:avLst/>
          </a:prstGeom>
          <a:noFill/>
          <a:ln w="12700">
            <a:solidFill>
              <a:srgbClr val="767676"/>
            </a:solidFill>
            <a:prstDash val="sysDash"/>
            <a:tailEnd type="triangle"/>
          </a:ln>
        </p:spPr>
      </p:sp>
      <p:sp>
        <p:nvSpPr>
          <p:cNvPr id="41" name="ovl_s27_e7_0"/>
          <p:cNvSpPr/>
          <p:nvPr/>
        </p:nvSpPr>
        <p:spPr>
          <a:xfrm>
            <a:off x="4053840" y="4341114"/>
            <a:ext cx="899160" cy="914"/>
          </a:xfrm>
          <a:prstGeom prst="line">
            <a:avLst/>
          </a:prstGeom>
          <a:noFill/>
          <a:ln w="12700">
            <a:solidFill>
              <a:srgbClr val="767676"/>
            </a:solidFill>
            <a:prstDash val="sysDash"/>
            <a:tailEnd type="triangle"/>
          </a:ln>
        </p:spPr>
      </p:sp>
      <p:sp>
        <p:nvSpPr>
          <p:cNvPr id="42" name="ovl_s27_e8_0"/>
          <p:cNvSpPr/>
          <p:nvPr/>
        </p:nvSpPr>
        <p:spPr>
          <a:xfrm flipH="1">
            <a:off x="6050280" y="4341114"/>
            <a:ext cx="899160" cy="914"/>
          </a:xfrm>
          <a:prstGeom prst="line">
            <a:avLst/>
          </a:prstGeom>
          <a:noFill/>
          <a:ln w="15875">
            <a:solidFill>
              <a:srgbClr val="C0392B"/>
            </a:solidFill>
            <a:prstDash val="dash"/>
            <a:tailEnd type="triangle"/>
          </a:ln>
        </p:spPr>
      </p:sp>
      <p:sp>
        <p:nvSpPr>
          <p:cNvPr id="43" name="ovl_s27_e9_0"/>
          <p:cNvSpPr/>
          <p:nvPr/>
        </p:nvSpPr>
        <p:spPr>
          <a:xfrm>
            <a:off x="1783080" y="5324094"/>
            <a:ext cx="899160" cy="914"/>
          </a:xfrm>
          <a:prstGeom prst="line">
            <a:avLst/>
          </a:prstGeom>
          <a:noFill/>
          <a:ln w="12700">
            <a:solidFill>
              <a:srgbClr val="767676"/>
            </a:solidFill>
            <a:prstDash val="sysDash"/>
            <a:tailEnd type="triangle"/>
          </a:ln>
        </p:spPr>
      </p:sp>
      <p:sp>
        <p:nvSpPr>
          <p:cNvPr id="44" name="ovl_s27_e10_0"/>
          <p:cNvSpPr/>
          <p:nvPr/>
        </p:nvSpPr>
        <p:spPr>
          <a:xfrm>
            <a:off x="4053840" y="5324094"/>
            <a:ext cx="899160" cy="914"/>
          </a:xfrm>
          <a:prstGeom prst="line">
            <a:avLst/>
          </a:prstGeom>
          <a:noFill/>
          <a:ln w="12700">
            <a:solidFill>
              <a:srgbClr val="767676"/>
            </a:solidFill>
            <a:prstDash val="sysDash"/>
            <a:tailEnd type="triangle"/>
          </a:ln>
        </p:spPr>
      </p:sp>
      <p:sp>
        <p:nvSpPr>
          <p:cNvPr id="45" name="ovl_s27_e11_0"/>
          <p:cNvSpPr/>
          <p:nvPr/>
        </p:nvSpPr>
        <p:spPr>
          <a:xfrm flipH="1">
            <a:off x="6050280" y="5324094"/>
            <a:ext cx="899160" cy="914"/>
          </a:xfrm>
          <a:prstGeom prst="line">
            <a:avLst/>
          </a:prstGeom>
          <a:noFill/>
          <a:ln w="15875">
            <a:solidFill>
              <a:srgbClr val="C0392B"/>
            </a:solidFill>
            <a:prstDash val="dash"/>
            <a:tailEnd type="triangle"/>
          </a:ln>
        </p:spPr>
      </p:sp>
      <p:sp>
        <p:nvSpPr>
          <p:cNvPr id="46" name="ovl_s27_n_base"/>
          <p:cNvSpPr/>
          <p:nvPr/>
        </p:nvSpPr>
        <p:spPr>
          <a:xfrm>
            <a:off x="457200" y="2000250"/>
            <a:ext cx="1325880" cy="749808"/>
          </a:xfrm>
          <a:prstGeom prst="roundRect">
            <a:avLst>
              <a:gd name="adj" fmla="val 7317"/>
            </a:avLst>
          </a:prstGeom>
          <a:solidFill>
            <a:srgbClr val="EAF4EE"/>
          </a:solidFill>
          <a:ln w="9525">
            <a:solidFill>
              <a:srgbClr val="86C99B"/>
            </a:solidFill>
            <a:prstDash val="solid"/>
          </a:ln>
        </p:spPr>
      </p:sp>
      <p:sp>
        <p:nvSpPr>
          <p:cNvPr id="47" name="ovl_s27_nt_base"/>
          <p:cNvSpPr txBox="1"/>
          <p:nvPr/>
        </p:nvSpPr>
        <p:spPr>
          <a:xfrm>
            <a:off x="49377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DB の顧客基盤</a:t>
            </a:r>
            <a:endParaRPr lang="en-US" sz="1000" dirty="0"/>
          </a:p>
        </p:txBody>
      </p:sp>
      <p:sp>
        <p:nvSpPr>
          <p:cNvPr id="48" name="ovl_s27_ns_base"/>
          <p:cNvSpPr txBox="1"/>
          <p:nvPr/>
        </p:nvSpPr>
        <p:spPr>
          <a:xfrm>
            <a:off x="50292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数十年の導入実績</a:t>
            </a:r>
            <a:endParaRPr lang="en-US" sz="850" dirty="0"/>
          </a:p>
        </p:txBody>
      </p:sp>
      <p:sp>
        <p:nvSpPr>
          <p:cNvPr id="49" name="ovl_s27_n_place"/>
          <p:cNvSpPr/>
          <p:nvPr/>
        </p:nvSpPr>
        <p:spPr>
          <a:xfrm>
            <a:off x="457200" y="2983230"/>
            <a:ext cx="1325880" cy="749808"/>
          </a:xfrm>
          <a:prstGeom prst="roundRect">
            <a:avLst>
              <a:gd name="adj" fmla="val 7317"/>
            </a:avLst>
          </a:prstGeom>
          <a:solidFill>
            <a:srgbClr val="EAF4EE"/>
          </a:solidFill>
          <a:ln w="9525">
            <a:solidFill>
              <a:srgbClr val="86C99B"/>
            </a:solidFill>
            <a:prstDash val="solid"/>
          </a:ln>
        </p:spPr>
      </p:sp>
      <p:sp>
        <p:nvSpPr>
          <p:cNvPr id="50" name="ovl_s27_nt_place"/>
          <p:cNvSpPr txBox="1"/>
          <p:nvPr/>
        </p:nvSpPr>
        <p:spPr>
          <a:xfrm>
            <a:off x="49377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Database@ の配置</a:t>
            </a:r>
            <a:endParaRPr lang="en-US" sz="1000" dirty="0"/>
          </a:p>
        </p:txBody>
      </p:sp>
      <p:sp>
        <p:nvSpPr>
          <p:cNvPr id="51" name="ovl_s27_ns_place"/>
          <p:cNvSpPr txBox="1"/>
          <p:nvPr/>
        </p:nvSpPr>
        <p:spPr>
          <a:xfrm>
            <a:off x="50292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70 リージョン</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119 AZ</a:t>
            </a:r>
            <a:endParaRPr lang="en-US" sz="850" dirty="0"/>
          </a:p>
        </p:txBody>
      </p:sp>
      <p:sp>
        <p:nvSpPr>
          <p:cNvPr id="52" name="ovl_s27_n_cap"/>
          <p:cNvSpPr/>
          <p:nvPr/>
        </p:nvSpPr>
        <p:spPr>
          <a:xfrm>
            <a:off x="457200" y="3966210"/>
            <a:ext cx="1325880" cy="749808"/>
          </a:xfrm>
          <a:prstGeom prst="roundRect">
            <a:avLst>
              <a:gd name="adj" fmla="val 7317"/>
            </a:avLst>
          </a:prstGeom>
          <a:solidFill>
            <a:srgbClr val="FFFFFF"/>
          </a:solidFill>
          <a:ln w="19050">
            <a:solidFill>
              <a:srgbClr val="197A56"/>
            </a:solidFill>
            <a:prstDash val="solid"/>
          </a:ln>
        </p:spPr>
      </p:sp>
      <p:sp>
        <p:nvSpPr>
          <p:cNvPr id="53" name="ovl_s27_nt_cap"/>
          <p:cNvSpPr txBox="1"/>
          <p:nvPr/>
        </p:nvSpPr>
        <p:spPr>
          <a:xfrm>
            <a:off x="493776" y="399364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AI 容量</a:t>
            </a:r>
            <a:endParaRPr lang="en-US" sz="1000" dirty="0"/>
          </a:p>
        </p:txBody>
      </p:sp>
      <p:sp>
        <p:nvSpPr>
          <p:cNvPr id="54" name="ovl_s27_ns_cap"/>
          <p:cNvSpPr txBox="1"/>
          <p:nvPr/>
        </p:nvSpPr>
        <p:spPr>
          <a:xfrm>
            <a:off x="50292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10GW 超を確保</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(FY29 まで)</a:t>
            </a:r>
            <a:endParaRPr lang="en-US" sz="850" dirty="0"/>
          </a:p>
        </p:txBody>
      </p:sp>
      <p:sp>
        <p:nvSpPr>
          <p:cNvPr id="55" name="ovl_s27_n_bld"/>
          <p:cNvSpPr/>
          <p:nvPr/>
        </p:nvSpPr>
        <p:spPr>
          <a:xfrm>
            <a:off x="457200" y="4949190"/>
            <a:ext cx="1325880" cy="749808"/>
          </a:xfrm>
          <a:prstGeom prst="roundRect">
            <a:avLst>
              <a:gd name="adj" fmla="val 7317"/>
            </a:avLst>
          </a:prstGeom>
          <a:solidFill>
            <a:srgbClr val="FFFFFF"/>
          </a:solidFill>
          <a:ln w="19050">
            <a:solidFill>
              <a:srgbClr val="197A56"/>
            </a:solidFill>
            <a:prstDash val="solid"/>
          </a:ln>
        </p:spPr>
      </p:sp>
      <p:sp>
        <p:nvSpPr>
          <p:cNvPr id="56" name="ovl_s27_nt_bld"/>
          <p:cNvSpPr txBox="1"/>
          <p:nvPr/>
        </p:nvSpPr>
        <p:spPr>
          <a:xfrm>
            <a:off x="493776" y="497662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電力付きの建屋</a:t>
            </a:r>
            <a:endParaRPr lang="en-US" sz="1000" dirty="0"/>
          </a:p>
        </p:txBody>
      </p:sp>
      <p:sp>
        <p:nvSpPr>
          <p:cNvPr id="57" name="ovl_s27_ns_bld"/>
          <p:cNvSpPr txBox="1"/>
          <p:nvPr/>
        </p:nvSpPr>
        <p:spPr>
          <a:xfrm>
            <a:off x="502920" y="518236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90% 超を</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パートナーが負担</a:t>
            </a:r>
            <a:endParaRPr lang="en-US" sz="850" dirty="0"/>
          </a:p>
        </p:txBody>
      </p:sp>
      <p:sp>
        <p:nvSpPr>
          <p:cNvPr id="58" name="ovl_s27_n_mig"/>
          <p:cNvSpPr/>
          <p:nvPr/>
        </p:nvSpPr>
        <p:spPr>
          <a:xfrm>
            <a:off x="2682240" y="2000250"/>
            <a:ext cx="1371600" cy="749808"/>
          </a:xfrm>
          <a:prstGeom prst="roundRect">
            <a:avLst>
              <a:gd name="adj" fmla="val 7317"/>
            </a:avLst>
          </a:prstGeom>
          <a:solidFill>
            <a:srgbClr val="FFFFFF"/>
          </a:solidFill>
          <a:ln w="9525">
            <a:solidFill>
              <a:srgbClr val="767676"/>
            </a:solidFill>
            <a:prstDash val="solid"/>
          </a:ln>
        </p:spPr>
      </p:sp>
      <p:sp>
        <p:nvSpPr>
          <p:cNvPr id="59" name="ovl_s27_nt_mig"/>
          <p:cNvSpPr txBox="1"/>
          <p:nvPr/>
        </p:nvSpPr>
        <p:spPr>
          <a:xfrm>
            <a:off x="2718816" y="2027682"/>
            <a:ext cx="129844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データ移行・</a:t>
            </a:r>
            <a:endParaRPr lang="en-US" sz="900" dirty="0"/>
          </a:p>
          <a:p>
            <a:pPr algn="ctr" indent="0" marL="0">
              <a:buNone/>
            </a:pPr>
            <a:r>
              <a:rPr lang="en-US" sz="900" b="1" dirty="0">
                <a:solidFill>
                  <a:srgbClr val="0E4D33"/>
                </a:solidFill>
                <a:latin typeface="Meiryo UI" pitchFamily="34" charset="0"/>
                <a:ea typeface="Meiryo UI" pitchFamily="34" charset="-122"/>
                <a:cs typeface="Meiryo UI" pitchFamily="34" charset="-120"/>
              </a:rPr>
              <a:t>アプリ改修</a:t>
            </a:r>
            <a:endParaRPr lang="en-US" sz="900" dirty="0"/>
          </a:p>
        </p:txBody>
      </p:sp>
      <p:sp>
        <p:nvSpPr>
          <p:cNvPr id="60" name="ovl_s27_ns_mig"/>
          <p:cNvSpPr txBox="1"/>
          <p:nvPr/>
        </p:nvSpPr>
        <p:spPr>
          <a:xfrm>
            <a:off x="2727960" y="2384298"/>
            <a:ext cx="128016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顧客側に数年</a:t>
            </a:r>
            <a:endParaRPr lang="en-US" sz="850" dirty="0"/>
          </a:p>
        </p:txBody>
      </p:sp>
      <p:sp>
        <p:nvSpPr>
          <p:cNvPr id="61" name="ovl_s27_n_part"/>
          <p:cNvSpPr/>
          <p:nvPr/>
        </p:nvSpPr>
        <p:spPr>
          <a:xfrm>
            <a:off x="2682240" y="2983230"/>
            <a:ext cx="1371600" cy="749808"/>
          </a:xfrm>
          <a:prstGeom prst="roundRect">
            <a:avLst>
              <a:gd name="adj" fmla="val 7317"/>
            </a:avLst>
          </a:prstGeom>
          <a:solidFill>
            <a:srgbClr val="FFFFFF"/>
          </a:solidFill>
          <a:ln w="9525">
            <a:solidFill>
              <a:srgbClr val="767676"/>
            </a:solidFill>
            <a:prstDash val="solid"/>
          </a:ln>
        </p:spPr>
      </p:sp>
      <p:sp>
        <p:nvSpPr>
          <p:cNvPr id="62" name="ovl_s27_nt_part"/>
          <p:cNvSpPr txBox="1"/>
          <p:nvPr/>
        </p:nvSpPr>
        <p:spPr>
          <a:xfrm>
            <a:off x="2718816" y="3010662"/>
            <a:ext cx="1298448" cy="205740"/>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競合クラウドとの提携</a:t>
            </a:r>
            <a:endParaRPr lang="en-US" sz="900" dirty="0"/>
          </a:p>
        </p:txBody>
      </p:sp>
      <p:sp>
        <p:nvSpPr>
          <p:cNvPr id="63" name="ovl_s27_ns_part"/>
          <p:cNvSpPr txBox="1"/>
          <p:nvPr/>
        </p:nvSpPr>
        <p:spPr>
          <a:xfrm>
            <a:off x="2727960" y="321640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AWS・Azure・Google</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の合意</a:t>
            </a:r>
            <a:endParaRPr lang="en-US" sz="850" dirty="0"/>
          </a:p>
        </p:txBody>
      </p:sp>
      <p:sp>
        <p:nvSpPr>
          <p:cNvPr id="64" name="ovl_s27_n_money"/>
          <p:cNvSpPr/>
          <p:nvPr/>
        </p:nvSpPr>
        <p:spPr>
          <a:xfrm>
            <a:off x="2682240" y="3966210"/>
            <a:ext cx="1371600" cy="749808"/>
          </a:xfrm>
          <a:prstGeom prst="roundRect">
            <a:avLst>
              <a:gd name="adj" fmla="val 7317"/>
            </a:avLst>
          </a:prstGeom>
          <a:solidFill>
            <a:srgbClr val="FFFFFF"/>
          </a:solidFill>
          <a:ln w="9525">
            <a:solidFill>
              <a:srgbClr val="767676"/>
            </a:solidFill>
            <a:prstDash val="solid"/>
          </a:ln>
        </p:spPr>
      </p:sp>
      <p:sp>
        <p:nvSpPr>
          <p:cNvPr id="65" name="ovl_s27_nt_money"/>
          <p:cNvSpPr txBox="1"/>
          <p:nvPr/>
        </p:nvSpPr>
        <p:spPr>
          <a:xfrm>
            <a:off x="2718816" y="3993642"/>
            <a:ext cx="129844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資本</a:t>
            </a:r>
            <a:endParaRPr lang="en-US" sz="1000" dirty="0"/>
          </a:p>
        </p:txBody>
      </p:sp>
      <p:sp>
        <p:nvSpPr>
          <p:cNvPr id="66" name="ovl_s27_ns_money"/>
          <p:cNvSpPr txBox="1"/>
          <p:nvPr/>
        </p:nvSpPr>
        <p:spPr>
          <a:xfrm>
            <a:off x="2727960" y="419938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1GW あたり</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数百億ドル</a:t>
            </a:r>
            <a:endParaRPr lang="en-US" sz="850" dirty="0"/>
          </a:p>
        </p:txBody>
      </p:sp>
      <p:sp>
        <p:nvSpPr>
          <p:cNvPr id="67" name="ovl_s27_n_grid"/>
          <p:cNvSpPr/>
          <p:nvPr/>
        </p:nvSpPr>
        <p:spPr>
          <a:xfrm>
            <a:off x="2682240" y="4949190"/>
            <a:ext cx="1371600" cy="749808"/>
          </a:xfrm>
          <a:prstGeom prst="roundRect">
            <a:avLst>
              <a:gd name="adj" fmla="val 7317"/>
            </a:avLst>
          </a:prstGeom>
          <a:solidFill>
            <a:srgbClr val="FFFFFF"/>
          </a:solidFill>
          <a:ln w="19050">
            <a:solidFill>
              <a:srgbClr val="C0392B"/>
            </a:solidFill>
            <a:prstDash val="solid"/>
          </a:ln>
        </p:spPr>
      </p:sp>
      <p:sp>
        <p:nvSpPr>
          <p:cNvPr id="68" name="ovl_s27_nt_grid"/>
          <p:cNvSpPr txBox="1"/>
          <p:nvPr/>
        </p:nvSpPr>
        <p:spPr>
          <a:xfrm>
            <a:off x="2718816" y="4976622"/>
            <a:ext cx="129844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電力・系統</a:t>
            </a:r>
            <a:endParaRPr lang="en-US" sz="1000" dirty="0"/>
          </a:p>
        </p:txBody>
      </p:sp>
      <p:sp>
        <p:nvSpPr>
          <p:cNvPr id="69" name="ovl_s27_ns_grid"/>
          <p:cNvSpPr txBox="1"/>
          <p:nvPr/>
        </p:nvSpPr>
        <p:spPr>
          <a:xfrm>
            <a:off x="2727960" y="5182362"/>
            <a:ext cx="128016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連系 約 40 か月</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タービンは</a:t>
            </a:r>
            <a:endParaRPr lang="en-US" sz="850" dirty="0"/>
          </a:p>
          <a:p>
            <a:pPr algn="ctr" indent="0" marL="0">
              <a:buNone/>
            </a:pPr>
            <a:r>
              <a:rPr lang="en-US" sz="850" dirty="0">
                <a:solidFill>
                  <a:srgbClr val="333333"/>
                </a:solidFill>
                <a:latin typeface="Meiryo UI" pitchFamily="34" charset="0"/>
                <a:ea typeface="Meiryo UI" pitchFamily="34" charset="-122"/>
                <a:cs typeface="Meiryo UI" pitchFamily="34" charset="-120"/>
              </a:rPr>
              <a:t>2031 年分を販売中</a:t>
            </a:r>
            <a:endParaRPr lang="en-US" sz="850" dirty="0"/>
          </a:p>
        </p:txBody>
      </p:sp>
      <p:sp>
        <p:nvSpPr>
          <p:cNvPr id="70" name="ovl_s27_n_t1"/>
          <p:cNvSpPr/>
          <p:nvPr/>
        </p:nvSpPr>
        <p:spPr>
          <a:xfrm>
            <a:off x="4953000" y="2000250"/>
            <a:ext cx="1097280" cy="749808"/>
          </a:xfrm>
          <a:prstGeom prst="roundRect">
            <a:avLst>
              <a:gd name="adj" fmla="val 7317"/>
            </a:avLst>
          </a:prstGeom>
          <a:solidFill>
            <a:srgbClr val="EAF4EE"/>
          </a:solidFill>
          <a:ln w="9525">
            <a:solidFill>
              <a:srgbClr val="86C99B"/>
            </a:solidFill>
            <a:prstDash val="solid"/>
          </a:ln>
        </p:spPr>
      </p:sp>
      <p:sp>
        <p:nvSpPr>
          <p:cNvPr id="71" name="ovl_s27_nt_t1"/>
          <p:cNvSpPr txBox="1"/>
          <p:nvPr/>
        </p:nvSpPr>
        <p:spPr>
          <a:xfrm>
            <a:off x="4989576" y="2027682"/>
            <a:ext cx="10241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10 年超</a:t>
            </a:r>
            <a:endParaRPr lang="en-US" sz="1000" dirty="0"/>
          </a:p>
        </p:txBody>
      </p:sp>
      <p:sp>
        <p:nvSpPr>
          <p:cNvPr id="72" name="ovl_s27_ns_t1"/>
          <p:cNvSpPr txBox="1"/>
          <p:nvPr/>
        </p:nvSpPr>
        <p:spPr>
          <a:xfrm>
            <a:off x="4998720" y="223342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実質再現できない</a:t>
            </a:r>
            <a:endParaRPr lang="en-US" sz="850" dirty="0"/>
          </a:p>
        </p:txBody>
      </p:sp>
      <p:sp>
        <p:nvSpPr>
          <p:cNvPr id="73" name="ovl_s27_n_t2"/>
          <p:cNvSpPr/>
          <p:nvPr/>
        </p:nvSpPr>
        <p:spPr>
          <a:xfrm>
            <a:off x="4953000" y="2983230"/>
            <a:ext cx="1097280" cy="749808"/>
          </a:xfrm>
          <a:prstGeom prst="roundRect">
            <a:avLst>
              <a:gd name="adj" fmla="val 7317"/>
            </a:avLst>
          </a:prstGeom>
          <a:solidFill>
            <a:srgbClr val="EAF4EE"/>
          </a:solidFill>
          <a:ln w="9525">
            <a:solidFill>
              <a:srgbClr val="86C99B"/>
            </a:solidFill>
            <a:prstDash val="solid"/>
          </a:ln>
        </p:spPr>
      </p:sp>
      <p:sp>
        <p:nvSpPr>
          <p:cNvPr id="74" name="ovl_s27_nt_t2"/>
          <p:cNvSpPr txBox="1"/>
          <p:nvPr/>
        </p:nvSpPr>
        <p:spPr>
          <a:xfrm>
            <a:off x="4989576" y="3010662"/>
            <a:ext cx="1024128" cy="694944"/>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提携先次第</a:t>
            </a:r>
            <a:endParaRPr lang="en-US" sz="1000" dirty="0"/>
          </a:p>
        </p:txBody>
      </p:sp>
      <p:sp>
        <p:nvSpPr>
          <p:cNvPr id="75" name="ovl_s27_n_t3"/>
          <p:cNvSpPr/>
          <p:nvPr/>
        </p:nvSpPr>
        <p:spPr>
          <a:xfrm>
            <a:off x="4953000" y="3966210"/>
            <a:ext cx="1097280" cy="749808"/>
          </a:xfrm>
          <a:prstGeom prst="roundRect">
            <a:avLst>
              <a:gd name="adj" fmla="val 7317"/>
            </a:avLst>
          </a:prstGeom>
          <a:solidFill>
            <a:srgbClr val="FFFFFF"/>
          </a:solidFill>
          <a:ln w="19050">
            <a:solidFill>
              <a:srgbClr val="C0392B"/>
            </a:solidFill>
            <a:prstDash val="solid"/>
          </a:ln>
        </p:spPr>
      </p:sp>
      <p:sp>
        <p:nvSpPr>
          <p:cNvPr id="76" name="ovl_s27_nt_t3"/>
          <p:cNvSpPr txBox="1"/>
          <p:nvPr/>
        </p:nvSpPr>
        <p:spPr>
          <a:xfrm>
            <a:off x="4989576" y="399364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2〜4 年</a:t>
            </a:r>
            <a:endParaRPr lang="en-US" sz="1000" dirty="0"/>
          </a:p>
        </p:txBody>
      </p:sp>
      <p:sp>
        <p:nvSpPr>
          <p:cNvPr id="77" name="ovl_s27_ns_t3"/>
          <p:cNvSpPr txBox="1"/>
          <p:nvPr/>
        </p:nvSpPr>
        <p:spPr>
          <a:xfrm>
            <a:off x="4998720" y="419938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資本があれば</a:t>
            </a:r>
            <a:endParaRPr lang="en-US" sz="850" dirty="0"/>
          </a:p>
        </p:txBody>
      </p:sp>
      <p:sp>
        <p:nvSpPr>
          <p:cNvPr id="78" name="ovl_s27_n_t4"/>
          <p:cNvSpPr/>
          <p:nvPr/>
        </p:nvSpPr>
        <p:spPr>
          <a:xfrm>
            <a:off x="4953000" y="4949190"/>
            <a:ext cx="1097280" cy="749808"/>
          </a:xfrm>
          <a:prstGeom prst="roundRect">
            <a:avLst>
              <a:gd name="adj" fmla="val 7317"/>
            </a:avLst>
          </a:prstGeom>
          <a:solidFill>
            <a:srgbClr val="FFFFFF"/>
          </a:solidFill>
          <a:ln w="19050">
            <a:solidFill>
              <a:srgbClr val="C0392B"/>
            </a:solidFill>
            <a:prstDash val="solid"/>
          </a:ln>
        </p:spPr>
      </p:sp>
      <p:sp>
        <p:nvSpPr>
          <p:cNvPr id="79" name="ovl_s27_nt_t4"/>
          <p:cNvSpPr txBox="1"/>
          <p:nvPr/>
        </p:nvSpPr>
        <p:spPr>
          <a:xfrm>
            <a:off x="4989576" y="4976622"/>
            <a:ext cx="1024128" cy="205740"/>
          </a:xfrm>
          <a:prstGeom prst="rect">
            <a:avLst/>
          </a:prstGeom>
          <a:noFill/>
          <a:ln/>
        </p:spPr>
        <p:txBody>
          <a:bodyPr wrap="square" lIns="0" tIns="0" rIns="0" bIns="0" rtlCol="0" anchor="ctr"/>
          <a:lstStyle/>
          <a:p>
            <a:pPr algn="ctr" indent="0" marL="0">
              <a:buNone/>
            </a:pPr>
            <a:r>
              <a:rPr lang="en-US" sz="1000" b="1" dirty="0">
                <a:solidFill>
                  <a:srgbClr val="C0392B"/>
                </a:solidFill>
                <a:latin typeface="Meiryo UI" pitchFamily="34" charset="0"/>
                <a:ea typeface="Meiryo UI" pitchFamily="34" charset="-122"/>
                <a:cs typeface="Meiryo UI" pitchFamily="34" charset="-120"/>
              </a:rPr>
              <a:t>3〜4 年</a:t>
            </a:r>
            <a:endParaRPr lang="en-US" sz="1000" dirty="0"/>
          </a:p>
        </p:txBody>
      </p:sp>
      <p:sp>
        <p:nvSpPr>
          <p:cNvPr id="80" name="ovl_s27_ns_t4"/>
          <p:cNvSpPr txBox="1"/>
          <p:nvPr/>
        </p:nvSpPr>
        <p:spPr>
          <a:xfrm>
            <a:off x="4998720" y="5182362"/>
            <a:ext cx="10058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電力の確保</a:t>
            </a:r>
            <a:endParaRPr lang="en-US" sz="850" dirty="0"/>
          </a:p>
        </p:txBody>
      </p:sp>
      <p:sp>
        <p:nvSpPr>
          <p:cNvPr id="81" name="ovl_s27_n_pg"/>
          <p:cNvSpPr/>
          <p:nvPr/>
        </p:nvSpPr>
        <p:spPr>
          <a:xfrm>
            <a:off x="6949440" y="2000250"/>
            <a:ext cx="1325880" cy="749808"/>
          </a:xfrm>
          <a:prstGeom prst="roundRect">
            <a:avLst>
              <a:gd name="adj" fmla="val 7317"/>
            </a:avLst>
          </a:prstGeom>
          <a:solidFill>
            <a:srgbClr val="FFFFFF"/>
          </a:solidFill>
          <a:ln w="9525">
            <a:solidFill>
              <a:srgbClr val="767676"/>
            </a:solidFill>
            <a:prstDash val="solid"/>
          </a:ln>
        </p:spPr>
      </p:sp>
      <p:sp>
        <p:nvSpPr>
          <p:cNvPr id="82" name="ovl_s27_nt_pg"/>
          <p:cNvSpPr txBox="1"/>
          <p:nvPr/>
        </p:nvSpPr>
        <p:spPr>
          <a:xfrm>
            <a:off x="6986016" y="202768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他社 DB</a:t>
            </a:r>
            <a:endParaRPr lang="en-US" sz="1000" dirty="0"/>
          </a:p>
        </p:txBody>
      </p:sp>
      <p:sp>
        <p:nvSpPr>
          <p:cNvPr id="83" name="ovl_s27_ns_pg"/>
          <p:cNvSpPr txBox="1"/>
          <p:nvPr/>
        </p:nvSpPr>
        <p:spPr>
          <a:xfrm>
            <a:off x="6995160" y="223342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PostgreSQL ほか</a:t>
            </a:r>
            <a:endParaRPr lang="en-US" sz="850" dirty="0"/>
          </a:p>
        </p:txBody>
      </p:sp>
      <p:sp>
        <p:nvSpPr>
          <p:cNvPr id="84" name="ovl_s27_n_hyp"/>
          <p:cNvSpPr/>
          <p:nvPr/>
        </p:nvSpPr>
        <p:spPr>
          <a:xfrm>
            <a:off x="6949440" y="2983230"/>
            <a:ext cx="1325880" cy="749808"/>
          </a:xfrm>
          <a:prstGeom prst="roundRect">
            <a:avLst>
              <a:gd name="adj" fmla="val 7317"/>
            </a:avLst>
          </a:prstGeom>
          <a:solidFill>
            <a:srgbClr val="FFFFFF"/>
          </a:solidFill>
          <a:ln w="9525">
            <a:solidFill>
              <a:srgbClr val="767676"/>
            </a:solidFill>
            <a:prstDash val="solid"/>
          </a:ln>
        </p:spPr>
      </p:sp>
      <p:sp>
        <p:nvSpPr>
          <p:cNvPr id="85" name="ovl_s27_nt_hyp"/>
          <p:cNvSpPr txBox="1"/>
          <p:nvPr/>
        </p:nvSpPr>
        <p:spPr>
          <a:xfrm>
            <a:off x="6986016" y="3010662"/>
            <a:ext cx="1252728" cy="205740"/>
          </a:xfrm>
          <a:prstGeom prst="rect">
            <a:avLst/>
          </a:prstGeom>
          <a:noFill/>
          <a:ln/>
        </p:spPr>
        <p:txBody>
          <a:bodyPr wrap="square" lIns="0" tIns="0" rIns="0" bIns="0" rtlCol="0" anchor="ctr"/>
          <a:lstStyle/>
          <a:p>
            <a:pPr algn="ctr" indent="0" marL="0">
              <a:buNone/>
            </a:pPr>
            <a:r>
              <a:rPr lang="en-US" sz="1000" b="1" dirty="0">
                <a:solidFill>
                  <a:srgbClr val="0E4D33"/>
                </a:solidFill>
                <a:latin typeface="Meiryo UI" pitchFamily="34" charset="0"/>
                <a:ea typeface="Meiryo UI" pitchFamily="34" charset="-122"/>
                <a:cs typeface="Meiryo UI" pitchFamily="34" charset="-120"/>
              </a:rPr>
              <a:t>大手クラウド</a:t>
            </a:r>
            <a:endParaRPr lang="en-US" sz="1000" dirty="0"/>
          </a:p>
        </p:txBody>
      </p:sp>
      <p:sp>
        <p:nvSpPr>
          <p:cNvPr id="86" name="ovl_s27_ns_hyp"/>
          <p:cNvSpPr txBox="1"/>
          <p:nvPr/>
        </p:nvSpPr>
        <p:spPr>
          <a:xfrm>
            <a:off x="6995160" y="321640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自社 DB を推す</a:t>
            </a:r>
            <a:endParaRPr lang="en-US" sz="850" dirty="0"/>
          </a:p>
        </p:txBody>
      </p:sp>
      <p:sp>
        <p:nvSpPr>
          <p:cNvPr id="87" name="ovl_s27_n_neo"/>
          <p:cNvSpPr/>
          <p:nvPr/>
        </p:nvSpPr>
        <p:spPr>
          <a:xfrm>
            <a:off x="6949440" y="3966210"/>
            <a:ext cx="1325880" cy="749808"/>
          </a:xfrm>
          <a:prstGeom prst="roundRect">
            <a:avLst>
              <a:gd name="adj" fmla="val 7317"/>
            </a:avLst>
          </a:prstGeom>
          <a:solidFill>
            <a:srgbClr val="FFFFFF"/>
          </a:solidFill>
          <a:ln w="19050">
            <a:solidFill>
              <a:srgbClr val="C0392B"/>
            </a:solidFill>
            <a:prstDash val="solid"/>
          </a:ln>
        </p:spPr>
      </p:sp>
      <p:sp>
        <p:nvSpPr>
          <p:cNvPr id="88" name="ovl_s27_nt_neo"/>
          <p:cNvSpPr txBox="1"/>
          <p:nvPr/>
        </p:nvSpPr>
        <p:spPr>
          <a:xfrm>
            <a:off x="6986016" y="3993642"/>
            <a:ext cx="1252728" cy="205740"/>
          </a:xfrm>
          <a:prstGeom prst="rect">
            <a:avLst/>
          </a:prstGeom>
          <a:no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ネオクラウド・大手</a:t>
            </a:r>
            <a:endParaRPr lang="en-US" sz="900" dirty="0"/>
          </a:p>
        </p:txBody>
      </p:sp>
      <p:sp>
        <p:nvSpPr>
          <p:cNvPr id="89" name="ovl_s27_ns_neo"/>
          <p:cNvSpPr txBox="1"/>
          <p:nvPr/>
        </p:nvSpPr>
        <p:spPr>
          <a:xfrm>
            <a:off x="6995160" y="4199382"/>
            <a:ext cx="1234440" cy="489204"/>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実際に建設中</a:t>
            </a:r>
            <a:endParaRPr lang="en-US" sz="850" dirty="0"/>
          </a:p>
        </p:txBody>
      </p:sp>
      <p:sp>
        <p:nvSpPr>
          <p:cNvPr id="90" name="ovl_s27_n_util"/>
          <p:cNvSpPr/>
          <p:nvPr/>
        </p:nvSpPr>
        <p:spPr>
          <a:xfrm>
            <a:off x="6949440" y="4949190"/>
            <a:ext cx="1325880" cy="749808"/>
          </a:xfrm>
          <a:prstGeom prst="roundRect">
            <a:avLst>
              <a:gd name="adj" fmla="val 7317"/>
            </a:avLst>
          </a:prstGeom>
          <a:solidFill>
            <a:srgbClr val="FFFFFF"/>
          </a:solidFill>
          <a:ln w="9525">
            <a:solidFill>
              <a:srgbClr val="767676"/>
            </a:solidFill>
            <a:prstDash val="solid"/>
          </a:ln>
        </p:spPr>
      </p:sp>
      <p:sp>
        <p:nvSpPr>
          <p:cNvPr id="91" name="ovl_s27_nt_util"/>
          <p:cNvSpPr txBox="1"/>
          <p:nvPr/>
        </p:nvSpPr>
        <p:spPr>
          <a:xfrm>
            <a:off x="6986016" y="4976622"/>
            <a:ext cx="1252728" cy="356616"/>
          </a:xfrm>
          <a:prstGeom prst="rect">
            <a:avLst/>
          </a:prstGeom>
          <a:noFill/>
          <a:ln/>
        </p:spPr>
        <p:txBody>
          <a:bodyPr wrap="square" lIns="0" tIns="0" rIns="0" bIns="0" rtlCol="0" anchor="ctr"/>
          <a:lstStyle/>
          <a:p>
            <a:pPr algn="ctr" indent="0" marL="0">
              <a:buNone/>
            </a:pPr>
            <a:r>
              <a:rPr lang="en-US" sz="900" b="1" dirty="0">
                <a:solidFill>
                  <a:srgbClr val="0E4D33"/>
                </a:solidFill>
                <a:latin typeface="Meiryo UI" pitchFamily="34" charset="0"/>
                <a:ea typeface="Meiryo UI" pitchFamily="34" charset="-122"/>
                <a:cs typeface="Meiryo UI" pitchFamily="34" charset="-120"/>
              </a:rPr>
              <a:t>電力会社・開発事業者</a:t>
            </a:r>
            <a:endParaRPr lang="en-US" sz="900" dirty="0"/>
          </a:p>
        </p:txBody>
      </p:sp>
      <p:sp>
        <p:nvSpPr>
          <p:cNvPr id="92" name="ovl_s27_ns_util"/>
          <p:cNvSpPr txBox="1"/>
          <p:nvPr/>
        </p:nvSpPr>
        <p:spPr>
          <a:xfrm>
            <a:off x="6995160" y="5333238"/>
            <a:ext cx="1234440" cy="338328"/>
          </a:xfrm>
          <a:prstGeom prst="rect">
            <a:avLst/>
          </a:prstGeom>
          <a:noFill/>
          <a:ln/>
        </p:spPr>
        <p:txBody>
          <a:bodyPr wrap="square" lIns="0" tIns="0" rIns="0" bIns="0" rtlCol="0" anchor="t"/>
          <a:lstStyle/>
          <a:p>
            <a:pPr algn="ctr" indent="0" marL="0">
              <a:buNone/>
            </a:pPr>
            <a:r>
              <a:rPr lang="en-US" sz="850" dirty="0">
                <a:solidFill>
                  <a:srgbClr val="333333"/>
                </a:solidFill>
                <a:latin typeface="Meiryo UI" pitchFamily="34" charset="0"/>
                <a:ea typeface="Meiryo UI" pitchFamily="34" charset="-122"/>
                <a:cs typeface="Meiryo UI" pitchFamily="34" charset="-120"/>
              </a:rPr>
              <a:t>ほかの顧客にも供給</a:t>
            </a:r>
            <a:endParaRPr lang="en-US" sz="850" dirty="0"/>
          </a:p>
        </p:txBody>
      </p:sp>
      <p:sp>
        <p:nvSpPr>
          <p:cNvPr id="93" name="ovl_s27_num0"/>
          <p:cNvSpPr/>
          <p:nvPr/>
        </p:nvSpPr>
        <p:spPr>
          <a:xfrm>
            <a:off x="2113788" y="2256282"/>
            <a:ext cx="237744" cy="237744"/>
          </a:xfrm>
          <a:prstGeom prst="ellipse">
            <a:avLst/>
          </a:prstGeom>
          <a:solidFill>
            <a:srgbClr val="767676"/>
          </a:solidFill>
          <a:ln w="12700">
            <a:solidFill>
              <a:srgbClr val="FFFFFF"/>
            </a:solidFill>
            <a:prstDash val="solid"/>
          </a:ln>
        </p:spPr>
      </p:sp>
      <p:sp>
        <p:nvSpPr>
          <p:cNvPr id="94" name="ovl_s27_numt0"/>
          <p:cNvSpPr txBox="1"/>
          <p:nvPr/>
        </p:nvSpPr>
        <p:spPr>
          <a:xfrm>
            <a:off x="2113788" y="225628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1</a:t>
            </a:r>
            <a:endParaRPr lang="en-US" sz="900" dirty="0"/>
          </a:p>
        </p:txBody>
      </p:sp>
      <p:sp>
        <p:nvSpPr>
          <p:cNvPr id="95" name="ovl_s27_lab2"/>
          <p:cNvSpPr txBox="1"/>
          <p:nvPr/>
        </p:nvSpPr>
        <p:spPr>
          <a:xfrm>
            <a:off x="6095238" y="2141982"/>
            <a:ext cx="809244"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追随できない</a:t>
            </a:r>
            <a:endParaRPr lang="en-US" sz="850" dirty="0"/>
          </a:p>
        </p:txBody>
      </p:sp>
      <p:sp>
        <p:nvSpPr>
          <p:cNvPr id="96" name="ovl_s27_num3"/>
          <p:cNvSpPr/>
          <p:nvPr/>
        </p:nvSpPr>
        <p:spPr>
          <a:xfrm>
            <a:off x="2113788" y="3239262"/>
            <a:ext cx="237744" cy="237744"/>
          </a:xfrm>
          <a:prstGeom prst="ellipse">
            <a:avLst/>
          </a:prstGeom>
          <a:solidFill>
            <a:srgbClr val="767676"/>
          </a:solidFill>
          <a:ln w="12700">
            <a:solidFill>
              <a:srgbClr val="FFFFFF"/>
            </a:solidFill>
            <a:prstDash val="solid"/>
          </a:ln>
        </p:spPr>
      </p:sp>
      <p:sp>
        <p:nvSpPr>
          <p:cNvPr id="97" name="ovl_s27_numt3"/>
          <p:cNvSpPr txBox="1"/>
          <p:nvPr/>
        </p:nvSpPr>
        <p:spPr>
          <a:xfrm>
            <a:off x="2113788" y="323926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2</a:t>
            </a:r>
            <a:endParaRPr lang="en-US" sz="900" dirty="0"/>
          </a:p>
        </p:txBody>
      </p:sp>
      <p:sp>
        <p:nvSpPr>
          <p:cNvPr id="98" name="ovl_s27_lab5"/>
          <p:cNvSpPr txBox="1"/>
          <p:nvPr/>
        </p:nvSpPr>
        <p:spPr>
          <a:xfrm>
            <a:off x="6153531" y="3124962"/>
            <a:ext cx="692658"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提携が要る</a:t>
            </a:r>
            <a:endParaRPr lang="en-US" sz="850" dirty="0"/>
          </a:p>
        </p:txBody>
      </p:sp>
      <p:sp>
        <p:nvSpPr>
          <p:cNvPr id="99" name="ovl_s27_num6"/>
          <p:cNvSpPr/>
          <p:nvPr/>
        </p:nvSpPr>
        <p:spPr>
          <a:xfrm>
            <a:off x="2113788" y="4222242"/>
            <a:ext cx="237744" cy="237744"/>
          </a:xfrm>
          <a:prstGeom prst="ellipse">
            <a:avLst/>
          </a:prstGeom>
          <a:solidFill>
            <a:srgbClr val="767676"/>
          </a:solidFill>
          <a:ln w="12700">
            <a:solidFill>
              <a:srgbClr val="FFFFFF"/>
            </a:solidFill>
            <a:prstDash val="solid"/>
          </a:ln>
        </p:spPr>
      </p:sp>
      <p:sp>
        <p:nvSpPr>
          <p:cNvPr id="100" name="ovl_s27_numt6"/>
          <p:cNvSpPr txBox="1"/>
          <p:nvPr/>
        </p:nvSpPr>
        <p:spPr>
          <a:xfrm>
            <a:off x="2113788" y="422224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3</a:t>
            </a:r>
            <a:endParaRPr lang="en-US" sz="900" dirty="0"/>
          </a:p>
        </p:txBody>
      </p:sp>
      <p:sp>
        <p:nvSpPr>
          <p:cNvPr id="101" name="ovl_s27_lab8"/>
          <p:cNvSpPr txBox="1"/>
          <p:nvPr/>
        </p:nvSpPr>
        <p:spPr>
          <a:xfrm>
            <a:off x="6328410" y="4107942"/>
            <a:ext cx="342900"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追随</a:t>
            </a:r>
            <a:endParaRPr lang="en-US" sz="850" dirty="0"/>
          </a:p>
        </p:txBody>
      </p:sp>
      <p:sp>
        <p:nvSpPr>
          <p:cNvPr id="102" name="ovl_s27_num9"/>
          <p:cNvSpPr/>
          <p:nvPr/>
        </p:nvSpPr>
        <p:spPr>
          <a:xfrm>
            <a:off x="2113788" y="5205222"/>
            <a:ext cx="237744" cy="237744"/>
          </a:xfrm>
          <a:prstGeom prst="ellipse">
            <a:avLst/>
          </a:prstGeom>
          <a:solidFill>
            <a:srgbClr val="767676"/>
          </a:solidFill>
          <a:ln w="12700">
            <a:solidFill>
              <a:srgbClr val="FFFFFF"/>
            </a:solidFill>
            <a:prstDash val="solid"/>
          </a:ln>
        </p:spPr>
      </p:sp>
      <p:sp>
        <p:nvSpPr>
          <p:cNvPr id="103" name="ovl_s27_numt9"/>
          <p:cNvSpPr txBox="1"/>
          <p:nvPr/>
        </p:nvSpPr>
        <p:spPr>
          <a:xfrm>
            <a:off x="2113788" y="520522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4</a:t>
            </a:r>
            <a:endParaRPr lang="en-US" sz="900" dirty="0"/>
          </a:p>
        </p:txBody>
      </p:sp>
      <p:sp>
        <p:nvSpPr>
          <p:cNvPr id="104" name="ovl_s27_lab11"/>
          <p:cNvSpPr txBox="1"/>
          <p:nvPr/>
        </p:nvSpPr>
        <p:spPr>
          <a:xfrm>
            <a:off x="6211824" y="5090922"/>
            <a:ext cx="576072" cy="205740"/>
          </a:xfrm>
          <a:prstGeom prst="rect">
            <a:avLst/>
          </a:prstGeom>
          <a:solidFill>
            <a:srgbClr val="FFFFFF"/>
          </a:solidFill>
          <a:ln/>
        </p:spPr>
        <p:txBody>
          <a:bodyPr wrap="square" lIns="254" tIns="254" rIns="254" bIns="254" rtlCol="0" anchor="ctr"/>
          <a:lstStyle/>
          <a:p>
            <a:pPr algn="ctr" indent="0" marL="0">
              <a:buNone/>
            </a:pPr>
            <a:r>
              <a:rPr lang="en-US" sz="850" dirty="0">
                <a:solidFill>
                  <a:srgbClr val="C0392B"/>
                </a:solidFill>
                <a:latin typeface="Meiryo UI" pitchFamily="34" charset="0"/>
                <a:ea typeface="Meiryo UI" pitchFamily="34" charset="-122"/>
                <a:cs typeface="Meiryo UI" pitchFamily="34" charset="-120"/>
              </a:rPr>
              <a:t>奪い合い</a:t>
            </a:r>
            <a:endParaRPr lang="en-US" sz="850" dirty="0"/>
          </a:p>
        </p:txBody>
      </p:sp>
      <p:sp>
        <p:nvSpPr>
          <p:cNvPr id="105" name="ovl_s27_leg0"/>
          <p:cNvSpPr/>
          <p:nvPr/>
        </p:nvSpPr>
        <p:spPr>
          <a:xfrm>
            <a:off x="457200" y="5971032"/>
            <a:ext cx="365760" cy="914"/>
          </a:xfrm>
          <a:prstGeom prst="line">
            <a:avLst/>
          </a:prstGeom>
          <a:noFill/>
          <a:ln w="15875">
            <a:solidFill>
              <a:srgbClr val="C0392B"/>
            </a:solidFill>
            <a:prstDash val="dash"/>
            <a:tailEnd type="triangle"/>
          </a:ln>
        </p:spPr>
      </p:sp>
      <p:sp>
        <p:nvSpPr>
          <p:cNvPr id="106" name="ovl_s27_legt0"/>
          <p:cNvSpPr txBox="1"/>
          <p:nvPr/>
        </p:nvSpPr>
        <p:spPr>
          <a:xfrm>
            <a:off x="87782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リスク</a:t>
            </a:r>
            <a:endParaRPr lang="en-US" sz="800" dirty="0"/>
          </a:p>
        </p:txBody>
      </p:sp>
      <p:sp>
        <p:nvSpPr>
          <p:cNvPr id="107" name="ovl_s27_leg1"/>
          <p:cNvSpPr/>
          <p:nvPr/>
        </p:nvSpPr>
        <p:spPr>
          <a:xfrm>
            <a:off x="1874520" y="5971032"/>
            <a:ext cx="365760" cy="914"/>
          </a:xfrm>
          <a:prstGeom prst="line">
            <a:avLst/>
          </a:prstGeom>
          <a:noFill/>
          <a:ln w="12700">
            <a:solidFill>
              <a:srgbClr val="767676"/>
            </a:solidFill>
            <a:prstDash val="sysDash"/>
            <a:tailEnd type="triangle"/>
          </a:ln>
        </p:spPr>
      </p:sp>
      <p:sp>
        <p:nvSpPr>
          <p:cNvPr id="108" name="ovl_s27_legt1"/>
          <p:cNvSpPr txBox="1"/>
          <p:nvPr/>
        </p:nvSpPr>
        <p:spPr>
          <a:xfrm>
            <a:off x="2295144" y="5870448"/>
            <a:ext cx="960120" cy="201168"/>
          </a:xfrm>
          <a:prstGeom prst="rect">
            <a:avLst/>
          </a:prstGeom>
          <a:noFill/>
          <a:ln/>
        </p:spPr>
        <p:txBody>
          <a:bodyPr wrap="square" lIns="0" tIns="0" rIns="0" bIns="0" rtlCol="0" anchor="ctr"/>
          <a:lstStyle/>
          <a:p>
            <a:pPr indent="0" marL="0">
              <a:buNone/>
            </a:pPr>
            <a:r>
              <a:rPr lang="en-US" sz="800" dirty="0">
                <a:solidFill>
                  <a:srgbClr val="767676"/>
                </a:solidFill>
                <a:latin typeface="Meiryo UI" pitchFamily="34" charset="0"/>
                <a:ea typeface="Meiryo UI" pitchFamily="34" charset="-122"/>
                <a:cs typeface="Meiryo UI" pitchFamily="34" charset="-120"/>
              </a:rPr>
              <a:t>契約・統治</a:t>
            </a:r>
            <a:endParaRPr lang="en-US" sz="800" dirty="0"/>
          </a:p>
        </p:txBody>
      </p:sp>
      <p:sp>
        <p:nvSpPr>
          <p:cNvPr id="109" name="ovl_s27_legn"/>
          <p:cNvSpPr txBox="1"/>
          <p:nvPr/>
        </p:nvSpPr>
        <p:spPr>
          <a:xfrm>
            <a:off x="6126480" y="5870448"/>
            <a:ext cx="2148840" cy="201168"/>
          </a:xfrm>
          <a:prstGeom prst="rect">
            <a:avLst/>
          </a:prstGeom>
          <a:noFill/>
          <a:ln/>
        </p:spPr>
        <p:txBody>
          <a:bodyPr wrap="square" lIns="0" tIns="0" rIns="0" bIns="0" rtlCol="0" anchor="ctr"/>
          <a:lstStyle/>
          <a:p>
            <a:pPr algn="r" indent="0" marL="0">
              <a:buNone/>
            </a:pPr>
            <a:r>
              <a:rPr lang="en-US" sz="800" dirty="0">
                <a:solidFill>
                  <a:srgbClr val="767676"/>
                </a:solidFill>
                <a:latin typeface="Meiryo UI" pitchFamily="34" charset="0"/>
                <a:ea typeface="Meiryo UI" pitchFamily="34" charset="-122"/>
                <a:cs typeface="Meiryo UI" pitchFamily="34" charset="-120"/>
              </a:rPr>
              <a:t>①② … は右の「仕組み」の番号</a:t>
            </a:r>
            <a:endParaRPr lang="en-US" sz="800" dirty="0"/>
          </a:p>
        </p:txBody>
      </p:sp>
      <p:sp>
        <p:nvSpPr>
          <p:cNvPr id="110" name="mech_head"/>
          <p:cNvSpPr txBox="1"/>
          <p:nvPr/>
        </p:nvSpPr>
        <p:spPr>
          <a:xfrm>
            <a:off x="8458200" y="1481328"/>
            <a:ext cx="3276295"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仕組み(図の ①② … と対応)</a:t>
            </a:r>
            <a:endParaRPr lang="en-US" sz="1200" dirty="0"/>
          </a:p>
        </p:txBody>
      </p:sp>
      <p:sp>
        <p:nvSpPr>
          <p:cNvPr id="111" name="mech"/>
          <p:cNvSpPr txBox="1"/>
          <p:nvPr/>
        </p:nvSpPr>
        <p:spPr>
          <a:xfrm>
            <a:off x="8458200" y="1810512"/>
            <a:ext cx="3276295" cy="1920240"/>
          </a:xfrm>
          <a:prstGeom prst="rect">
            <a:avLst/>
          </a:prstGeom>
          <a:noFill/>
          <a:ln/>
        </p:spPr>
        <p:txBody>
          <a:bodyPr wrap="square" lIns="381" tIns="381" rIns="381" bIns="381" rtlCol="0" anchor="t"/>
          <a:lstStyle/>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① </a:t>
            </a:r>
            <a:r>
              <a:rPr lang="en-US" sz="1100" dirty="0">
                <a:solidFill>
                  <a:srgbClr val="333333"/>
                </a:solidFill>
                <a:latin typeface="Meiryo UI" pitchFamily="34" charset="0"/>
                <a:ea typeface="Meiryo UI" pitchFamily="34" charset="-122"/>
                <a:cs typeface="Meiryo UI" pitchFamily="34" charset="-120"/>
              </a:rPr>
              <a:t>DB の顧客基盤は数十年の導入とデータ移行の重さで、資本があっても再現できない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② </a:t>
            </a:r>
            <a:r>
              <a:rPr lang="en-US" sz="1100" dirty="0">
                <a:solidFill>
                  <a:srgbClr val="333333"/>
                </a:solidFill>
                <a:latin typeface="Meiryo UI" pitchFamily="34" charset="0"/>
                <a:ea typeface="Meiryo UI" pitchFamily="34" charset="-122"/>
                <a:cs typeface="Meiryo UI" pitchFamily="34" charset="-120"/>
              </a:rPr>
              <a:t>Database@ は競合クラウドの DC 内に置く提携で、他社が同じ配置を得るのは難しい</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③ </a:t>
            </a:r>
            <a:r>
              <a:rPr lang="en-US" sz="1100" dirty="0">
                <a:solidFill>
                  <a:srgbClr val="333333"/>
                </a:solidFill>
                <a:latin typeface="Meiryo UI" pitchFamily="34" charset="0"/>
                <a:ea typeface="Meiryo UI" pitchFamily="34" charset="-122"/>
                <a:cs typeface="Meiryo UI" pitchFamily="34" charset="-120"/>
              </a:rPr>
              <a:t>AI 容量は資本と電力があれば 2〜4 年で再現できる。大手・ネオクラウドが実際に建設中</a:t>
            </a:r>
            <a:endParaRPr lang="en-US" sz="1100" dirty="0"/>
          </a:p>
          <a:p>
            <a:pPr indent="0" marL="0">
              <a:spcAft>
                <a:spcPts val="500"/>
              </a:spcAft>
              <a:buNone/>
            </a:pPr>
            <a:r>
              <a:rPr lang="en-US" sz="1100" b="1" dirty="0">
                <a:solidFill>
                  <a:srgbClr val="197A56"/>
                </a:solidFill>
                <a:latin typeface="Meiryo UI" pitchFamily="34" charset="0"/>
                <a:ea typeface="Meiryo UI" pitchFamily="34" charset="-122"/>
                <a:cs typeface="Meiryo UI" pitchFamily="34" charset="-120"/>
              </a:rPr>
              <a:t>④ </a:t>
            </a:r>
            <a:r>
              <a:rPr lang="en-US" sz="1100" dirty="0">
                <a:solidFill>
                  <a:srgbClr val="333333"/>
                </a:solidFill>
                <a:latin typeface="Meiryo UI" pitchFamily="34" charset="0"/>
                <a:ea typeface="Meiryo UI" pitchFamily="34" charset="-122"/>
                <a:cs typeface="Meiryo UI" pitchFamily="34" charset="-120"/>
              </a:rPr>
              <a:t>障壁として効くのは電力。</a:t>
            </a:r>
            <a:br/>
            <a:r>
              <a:rPr lang="en-US" sz="1100" dirty="0">
                <a:solidFill>
                  <a:srgbClr val="333333"/>
                </a:solidFill>
                <a:latin typeface="Meiryo UI" pitchFamily="34" charset="0"/>
                <a:ea typeface="Meiryo UI" pitchFamily="34" charset="-122"/>
                <a:cs typeface="Meiryo UI" pitchFamily="34" charset="-120"/>
              </a:rPr>
              <a:t>系統連系に約 40 か月、ガスタービンは 2031 年分を販売中</a:t>
            </a:r>
            <a:endParaRPr lang="en-US" sz="1100" dirty="0"/>
          </a:p>
        </p:txBody>
      </p:sp>
      <p:sp>
        <p:nvSpPr>
          <p:cNvPr id="112" name="ovl_takeaway_bg"/>
          <p:cNvSpPr/>
          <p:nvPr/>
        </p:nvSpPr>
        <p:spPr>
          <a:xfrm>
            <a:off x="8458200" y="4419600"/>
            <a:ext cx="3276295" cy="1005840"/>
          </a:xfrm>
          <a:prstGeom prst="rect">
            <a:avLst/>
          </a:prstGeom>
          <a:solidFill>
            <a:srgbClr val="EAF4EE"/>
          </a:solidFill>
          <a:ln w="12700">
            <a:solidFill>
              <a:srgbClr val="EAF4EE"/>
            </a:solidFill>
            <a:prstDash val="solid"/>
          </a:ln>
        </p:spPr>
      </p:sp>
      <p:sp>
        <p:nvSpPr>
          <p:cNvPr id="113" name="takeaway"/>
          <p:cNvSpPr txBox="1"/>
          <p:nvPr/>
        </p:nvSpPr>
        <p:spPr>
          <a:xfrm>
            <a:off x="8567928" y="4492752"/>
            <a:ext cx="3056839" cy="859536"/>
          </a:xfrm>
          <a:prstGeom prst="rect">
            <a:avLst/>
          </a:prstGeom>
          <a:noFill/>
          <a:ln/>
        </p:spPr>
        <p:txBody>
          <a:bodyPr wrap="square" lIns="508" tIns="508" rIns="508" bIns="508" rtlCol="0" anchor="ctr"/>
          <a:lstStyle/>
          <a:p>
            <a:pPr indent="0" marL="0">
              <a:buNone/>
            </a:pPr>
            <a:r>
              <a:rPr lang="en-US" sz="1000" b="1" dirty="0">
                <a:solidFill>
                  <a:srgbClr val="0E4D33"/>
                </a:solidFill>
                <a:latin typeface="Meiryo UI" pitchFamily="34" charset="0"/>
                <a:ea typeface="Meiryo UI" pitchFamily="34" charset="-122"/>
                <a:cs typeface="Meiryo UI" pitchFamily="34" charset="-120"/>
              </a:rPr>
              <a:t>DB と配置は模倣が難しいが、</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AI 容量の障壁は時間にすぎず、</a:t>
            </a:r>
            <a:endParaRPr lang="en-US" sz="1000" dirty="0"/>
          </a:p>
          <a:p>
            <a:pPr indent="0" marL="0">
              <a:buNone/>
            </a:pPr>
            <a:r>
              <a:rPr lang="en-US" sz="1000" b="1" dirty="0">
                <a:solidFill>
                  <a:srgbClr val="0E4D33"/>
                </a:solidFill>
                <a:latin typeface="Meiryo UI" pitchFamily="34" charset="0"/>
                <a:ea typeface="Meiryo UI" pitchFamily="34" charset="-122"/>
                <a:cs typeface="Meiryo UI" pitchFamily="34" charset="-120"/>
              </a:rPr>
              <a:t>資本のある競合には破られるため B</a:t>
            </a:r>
            <a:endParaRPr lang="en-US" sz="1000" dirty="0"/>
          </a:p>
        </p:txBody>
      </p:sp>
      <p:sp>
        <p:nvSpPr>
          <p:cNvPr id="114" name="updown"/>
          <p:cNvSpPr txBox="1"/>
          <p:nvPr/>
        </p:nvSpPr>
        <p:spPr>
          <a:xfrm>
            <a:off x="8458200" y="5498592"/>
            <a:ext cx="3276295" cy="591312"/>
          </a:xfrm>
          <a:prstGeom prst="rect">
            <a:avLst/>
          </a:prstGeom>
          <a:noFill/>
          <a:ln/>
        </p:spPr>
        <p:txBody>
          <a:bodyPr wrap="square" lIns="381" tIns="381" rIns="381" bIns="381" rtlCol="0" anchor="t"/>
          <a:lstStyle/>
          <a:p>
            <a:pPr indent="0" marL="0">
              <a:buNone/>
            </a:pPr>
            <a:r>
              <a:rPr lang="en-US" sz="850" b="1" dirty="0">
                <a:solidFill>
                  <a:srgbClr val="197A56"/>
                </a:solidFill>
                <a:latin typeface="Meiryo UI" pitchFamily="34" charset="0"/>
                <a:ea typeface="Meiryo UI" pitchFamily="34" charset="-122"/>
                <a:cs typeface="Meiryo UI" pitchFamily="34" charset="-120"/>
              </a:rPr>
              <a:t>上がる条件  </a:t>
            </a:r>
            <a:r>
              <a:rPr lang="en-US" sz="850" dirty="0">
                <a:solidFill>
                  <a:srgbClr val="333333"/>
                </a:solidFill>
                <a:latin typeface="Meiryo UI" pitchFamily="34" charset="0"/>
                <a:ea typeface="Meiryo UI" pitchFamily="34" charset="-122"/>
                <a:cs typeface="Meiryo UI" pitchFamily="34" charset="-120"/>
              </a:rPr>
              <a:t>FY30〜32 分の電力を確保し、</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競合に 3 年以上先行できれば A</a:t>
            </a:r>
            <a:endParaRPr lang="en-US" sz="850" dirty="0"/>
          </a:p>
          <a:p>
            <a:pPr indent="0" marL="0">
              <a:buNone/>
            </a:pPr>
            <a:r>
              <a:rPr lang="en-US" sz="850" b="1" dirty="0">
                <a:solidFill>
                  <a:srgbClr val="C0392B"/>
                </a:solidFill>
                <a:latin typeface="Meiryo UI" pitchFamily="34" charset="0"/>
                <a:ea typeface="Meiryo UI" pitchFamily="34" charset="-122"/>
                <a:cs typeface="Meiryo UI" pitchFamily="34" charset="-120"/>
              </a:rPr>
              <a:t>下がる条件  </a:t>
            </a:r>
            <a:r>
              <a:rPr lang="en-US" sz="850" dirty="0">
                <a:solidFill>
                  <a:srgbClr val="333333"/>
                </a:solidFill>
                <a:latin typeface="Meiryo UI" pitchFamily="34" charset="0"/>
                <a:ea typeface="Meiryo UI" pitchFamily="34" charset="-122"/>
                <a:cs typeface="Meiryo UI" pitchFamily="34" charset="-120"/>
              </a:rPr>
              <a:t>競合の大型容量が 2027〜28 年に</a:t>
            </a:r>
            <a:endParaRPr lang="en-US" sz="850" dirty="0"/>
          </a:p>
          <a:p>
            <a:pPr indent="0" marL="0">
              <a:buNone/>
            </a:pPr>
            <a:r>
              <a:rPr lang="en-US" sz="850" dirty="0">
                <a:solidFill>
                  <a:srgbClr val="333333"/>
                </a:solidFill>
                <a:latin typeface="Meiryo UI" pitchFamily="34" charset="0"/>
                <a:ea typeface="Meiryo UI" pitchFamily="34" charset="-122"/>
                <a:cs typeface="Meiryo UI" pitchFamily="34" charset="-120"/>
              </a:rPr>
              <a:t>相次いで稼働し、AI 容量の単価が下がれば C</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3-4 製品と設備の性格(条件8〜12)(5/5)</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931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931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収益の性格(条件12)</a:t>
            </a:r>
            <a:endParaRPr lang="en-US" sz="1000" dirty="0"/>
          </a:p>
        </p:txBody>
      </p:sp>
      <p:sp>
        <p:nvSpPr>
          <p:cNvPr id="14" name="hdr_why"/>
          <p:cNvSpPr txBox="1"/>
          <p:nvPr/>
        </p:nvSpPr>
        <p:spPr>
          <a:xfrm>
            <a:off x="2535174" y="356616"/>
            <a:ext cx="9199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継続課金・従量のストック型なら売上の見通しが立ち、評価倍率を高くできる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OCI は従量・確約、保守・SaaS は継続課金で、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受注残 6,640 億ドルが積み上がるストック型の収益である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条件12 従量課金型の収益性格(ORCL IaaS 型)であり売り切り・供給過多型(VRT 型)でない</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会社開示(10-Q、RPO の期間別)、research4/T1_consensus.csv、research3/W5_oracle_ai_economics.md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34</a:t>
            </a:r>
            <a:endParaRPr lang="en-US" sz="800" dirty="0"/>
          </a:p>
        </p:txBody>
      </p:sp>
      <p:sp>
        <p:nvSpPr>
          <p:cNvPr id="19" name="ovl_badge"/>
          <p:cNvSpPr/>
          <p:nvPr/>
        </p:nvSpPr>
        <p:spPr>
          <a:xfrm>
            <a:off x="10865815" y="649224"/>
            <a:ext cx="868680" cy="677570"/>
          </a:xfrm>
          <a:prstGeom prst="roundRect">
            <a:avLst>
              <a:gd name="adj" fmla="val 10796"/>
            </a:avLst>
          </a:prstGeom>
          <a:solidFill>
            <a:srgbClr val="197A56"/>
          </a:solidFill>
          <a:ln w="12700">
            <a:solidFill>
              <a:srgbClr val="197A56"/>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FFFFFF"/>
                </a:solidFill>
                <a:latin typeface="Meiryo UI" pitchFamily="34" charset="0"/>
                <a:ea typeface="Meiryo UI" pitchFamily="34" charset="-122"/>
                <a:cs typeface="Meiryo UI" pitchFamily="34" charset="-120"/>
              </a:rPr>
              <a:t>A</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FFFFFF"/>
                </a:solidFill>
                <a:latin typeface="Meiryo UI" pitchFamily="34" charset="0"/>
                <a:ea typeface="Meiryo UI" pitchFamily="34" charset="-122"/>
                <a:cs typeface="Meiryo UI" pitchFamily="34" charset="-120"/>
              </a:rPr>
              <a:t>条件12</a:t>
            </a:r>
            <a:endParaRPr lang="en-US" sz="800" dirty="0"/>
          </a:p>
        </p:txBody>
      </p:sp>
      <p:graphicFrame>
        <p:nvGraphicFramePr>
          <p:cNvPr id="22" name="chart" descr=""/>
          <p:cNvGraphicFramePr/>
          <p:nvPr/>
        </p:nvGraphicFramePr>
        <p:xfrm>
          <a:off x="457200" y="1600200"/>
          <a:ext cx="7589520" cy="2011680"/>
        </p:xfrm>
        <a:graphic xmlns:a="http://schemas.openxmlformats.org/drawingml/2006/main">
          <a:graphicData uri="http://schemas.openxmlformats.org/drawingml/2006/chart">
            <c:chart xmlns:c="http://schemas.openxmlformats.org/drawingml/2006/chart" r:id="rId1"/>
          </a:graphicData>
        </a:graphic>
      </p:graphicFrame>
      <p:sp>
        <p:nvSpPr>
          <p:cNvPr id="23" name="bullets"/>
          <p:cNvSpPr txBox="1"/>
          <p:nvPr/>
        </p:nvSpPr>
        <p:spPr>
          <a:xfrm>
            <a:off x="457200" y="3794760"/>
            <a:ext cx="7589520" cy="182880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36 か月以内の 3,320 億ドルが、コンセンサス売上(FY28 1,315 億、FY29 1,820 億ドル)の大半を裏付ける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前払い・持ち込み 750 億ドル分は陳腐化リスクを顧客に移している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take-or-pay・解約条項・価格改定条項は公開情報で確認できない</a:t>
            </a:r>
            <a:endParaRPr lang="en-US" sz="1050" dirty="0"/>
          </a:p>
        </p:txBody>
      </p:sp>
      <p:sp>
        <p:nvSpPr>
          <p:cNvPr id="24"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25"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26"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RPO 6,640 億ドル(前年比 +2,090 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36 か月以内 50%(前期 46%)</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OCI は従量・確約、保守・SaaS は継続課金</a:t>
            </a:r>
            <a:endParaRPr lang="en-US" sz="950" dirty="0"/>
          </a:p>
        </p:txBody>
      </p:sp>
      <p:sp>
        <p:nvSpPr>
          <p:cNvPr id="27"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28"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継続課金と長期の確約が積み上がるストック型。</a:t>
            </a:r>
            <a:endParaRPr lang="en-US" sz="1050" dirty="0"/>
          </a:p>
          <a:p>
            <a:pPr indent="0" marL="0">
              <a:buNone/>
            </a:pPr>
            <a:r>
              <a:rPr lang="en-US" sz="1050" b="1" dirty="0">
                <a:solidFill>
                  <a:srgbClr val="0E4D33"/>
                </a:solidFill>
                <a:latin typeface="Meiryo UI" pitchFamily="34" charset="0"/>
                <a:ea typeface="Meiryo UI" pitchFamily="34" charset="-122"/>
                <a:cs typeface="Meiryo UI" pitchFamily="34" charset="-120"/>
              </a:rPr>
              <a:t>解約条件が見えないため S でなく A</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第3章 13条件の構造分析</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3-5 総合(条件13)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197A56"/>
          </a:solidFill>
          <a:ln w="9525">
            <a:solidFill>
              <a:srgbClr val="197A56"/>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FFFFFF"/>
          </a:solidFill>
          <a:ln w="9525">
            <a:solidFill>
              <a:srgbClr val="D9D9D9"/>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20586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20586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アーキタイプ(条件13)</a:t>
            </a:r>
            <a:endParaRPr lang="en-US" sz="1000" dirty="0"/>
          </a:p>
        </p:txBody>
      </p:sp>
      <p:sp>
        <p:nvSpPr>
          <p:cNvPr id="14" name="hdr_why"/>
          <p:cNvSpPr txBox="1"/>
          <p:nvPr/>
        </p:nvSpPr>
        <p:spPr>
          <a:xfrm>
            <a:off x="2662174" y="356616"/>
            <a:ext cx="90723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各条件を束ね、目指す型(ORCL 型)と避けたい型(MU・VRT・AVGO 型)のどちらに近いかを判定する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保守・SaaS・Database@ は ORCL 型だが、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自社で GPU を買う大型 AI 契約の部分が MU 型に寄る</a:t>
            </a:r>
            <a:endParaRPr lang="en-US" sz="1900" dirty="0"/>
          </a:p>
        </p:txBody>
      </p:sp>
      <p:sp>
        <p:nvSpPr>
          <p:cNvPr id="16" name="kicker"/>
          <p:cNvSpPr txBox="1"/>
          <p:nvPr/>
        </p:nvSpPr>
        <p:spPr>
          <a:xfrm>
            <a:off x="457200" y="1280160"/>
            <a:ext cx="10241280"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条件13(総合)アーキタイプ照合: ORCL 型か MU/VRT/AVGO 型か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需給エンジン第4.4版、会社開示(FY27 capex ガイダンス)、research4/T2_company_rpo_capacity.md</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35</a:t>
            </a:r>
            <a:endParaRPr lang="en-US" sz="800" dirty="0"/>
          </a:p>
        </p:txBody>
      </p:sp>
      <p:sp>
        <p:nvSpPr>
          <p:cNvPr id="19" name="ovl_badge"/>
          <p:cNvSpPr/>
          <p:nvPr/>
        </p:nvSpPr>
        <p:spPr>
          <a:xfrm>
            <a:off x="10865815" y="649224"/>
            <a:ext cx="868680" cy="677570"/>
          </a:xfrm>
          <a:prstGeom prst="roundRect">
            <a:avLst>
              <a:gd name="adj" fmla="val 10796"/>
            </a:avLst>
          </a:prstGeom>
          <a:solidFill>
            <a:srgbClr val="86C99B"/>
          </a:solidFill>
          <a:ln w="12700">
            <a:solidFill>
              <a:srgbClr val="86C99B"/>
            </a:solidFill>
            <a:prstDash val="solid"/>
          </a:ln>
        </p:spPr>
      </p:sp>
      <p:sp>
        <p:nvSpPr>
          <p:cNvPr id="20" name="ovl_badge_t"/>
          <p:cNvSpPr txBox="1"/>
          <p:nvPr/>
        </p:nvSpPr>
        <p:spPr>
          <a:xfrm>
            <a:off x="10865815" y="649224"/>
            <a:ext cx="868680" cy="477774"/>
          </a:xfrm>
          <a:prstGeom prst="rect">
            <a:avLst/>
          </a:prstGeom>
          <a:noFill/>
          <a:ln/>
        </p:spPr>
        <p:txBody>
          <a:bodyPr wrap="square" lIns="0" tIns="0" rIns="0" bIns="0" rtlCol="0" anchor="ctr"/>
          <a:lstStyle/>
          <a:p>
            <a:pPr algn="ctr" indent="0" marL="0">
              <a:buNone/>
            </a:pPr>
            <a:r>
              <a:rPr lang="en-US" sz="2900" b="1" dirty="0">
                <a:solidFill>
                  <a:srgbClr val="0E4D33"/>
                </a:solidFill>
                <a:latin typeface="Meiryo UI" pitchFamily="34" charset="0"/>
                <a:ea typeface="Meiryo UI" pitchFamily="34" charset="-122"/>
                <a:cs typeface="Meiryo UI" pitchFamily="34" charset="-120"/>
              </a:rPr>
              <a:t>B</a:t>
            </a:r>
            <a:endParaRPr lang="en-US" sz="2900" dirty="0"/>
          </a:p>
        </p:txBody>
      </p:sp>
      <p:sp>
        <p:nvSpPr>
          <p:cNvPr id="21" name="ovl_badge_l"/>
          <p:cNvSpPr txBox="1"/>
          <p:nvPr/>
        </p:nvSpPr>
        <p:spPr>
          <a:xfrm>
            <a:off x="10865815" y="1083564"/>
            <a:ext cx="868680" cy="225857"/>
          </a:xfrm>
          <a:prstGeom prst="rect">
            <a:avLst/>
          </a:prstGeom>
          <a:noFill/>
          <a:ln/>
        </p:spPr>
        <p:txBody>
          <a:bodyPr wrap="square" lIns="0" tIns="0" rIns="0" bIns="0" rtlCol="0" anchor="ctr"/>
          <a:lstStyle/>
          <a:p>
            <a:pPr algn="ctr" indent="0" marL="0">
              <a:buNone/>
            </a:pPr>
            <a:r>
              <a:rPr lang="en-US" sz="800" dirty="0">
                <a:solidFill>
                  <a:srgbClr val="0E4D33"/>
                </a:solidFill>
                <a:latin typeface="Meiryo UI" pitchFamily="34" charset="0"/>
                <a:ea typeface="Meiryo UI" pitchFamily="34" charset="-122"/>
                <a:cs typeface="Meiryo UI" pitchFamily="34" charset="-120"/>
              </a:rPr>
              <a:t>条件13</a:t>
            </a:r>
            <a:endParaRPr lang="en-US" sz="800" dirty="0"/>
          </a:p>
        </p:txBody>
      </p:sp>
      <p:sp>
        <p:nvSpPr>
          <p:cNvPr id="22" name="flow_h0"/>
          <p:cNvSpPr txBox="1"/>
          <p:nvPr/>
        </p:nvSpPr>
        <p:spPr>
          <a:xfrm>
            <a:off x="457200"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原型</a:t>
            </a:r>
            <a:endParaRPr lang="en-US" sz="1100" dirty="0"/>
          </a:p>
        </p:txBody>
      </p:sp>
      <p:sp>
        <p:nvSpPr>
          <p:cNvPr id="23" name="ovl_fbox0_0"/>
          <p:cNvSpPr/>
          <p:nvPr/>
        </p:nvSpPr>
        <p:spPr>
          <a:xfrm>
            <a:off x="457200" y="2066544"/>
            <a:ext cx="1408176" cy="822960"/>
          </a:xfrm>
          <a:prstGeom prst="roundRect">
            <a:avLst>
              <a:gd name="adj" fmla="val 6667"/>
            </a:avLst>
          </a:prstGeom>
          <a:solidFill>
            <a:srgbClr val="0E4D33"/>
          </a:solidFill>
          <a:ln w="9525">
            <a:solidFill>
              <a:srgbClr val="0E4D33"/>
            </a:solidFill>
            <a:prstDash val="solid"/>
          </a:ln>
        </p:spPr>
      </p:sp>
      <p:sp>
        <p:nvSpPr>
          <p:cNvPr id="24" name="flow_t0_0"/>
          <p:cNvSpPr txBox="1"/>
          <p:nvPr/>
        </p:nvSpPr>
        <p:spPr>
          <a:xfrm>
            <a:off x="530352"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ORCL 型</a:t>
            </a:r>
            <a:endParaRPr lang="en-US" sz="1000" dirty="0"/>
          </a:p>
        </p:txBody>
      </p:sp>
      <p:sp>
        <p:nvSpPr>
          <p:cNvPr id="25" name="ovl_farrow0"/>
          <p:cNvSpPr/>
          <p:nvPr/>
        </p:nvSpPr>
        <p:spPr>
          <a:xfrm>
            <a:off x="1885950" y="2295144"/>
            <a:ext cx="109728" cy="365760"/>
          </a:xfrm>
          <a:prstGeom prst="rightArrow">
            <a:avLst/>
          </a:prstGeom>
          <a:solidFill>
            <a:srgbClr val="86C99B"/>
          </a:solidFill>
          <a:ln w="12700">
            <a:solidFill>
              <a:srgbClr val="86C99B"/>
            </a:solidFill>
            <a:prstDash val="solid"/>
          </a:ln>
        </p:spPr>
      </p:sp>
      <p:sp>
        <p:nvSpPr>
          <p:cNvPr id="26" name="flow_h1"/>
          <p:cNvSpPr txBox="1"/>
          <p:nvPr/>
        </p:nvSpPr>
        <p:spPr>
          <a:xfrm>
            <a:off x="2002536"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27" name="ovl_fbox1_0"/>
          <p:cNvSpPr/>
          <p:nvPr/>
        </p:nvSpPr>
        <p:spPr>
          <a:xfrm>
            <a:off x="2002536" y="2066544"/>
            <a:ext cx="1408176" cy="822960"/>
          </a:xfrm>
          <a:prstGeom prst="roundRect">
            <a:avLst>
              <a:gd name="adj" fmla="val 6667"/>
            </a:avLst>
          </a:prstGeom>
          <a:solidFill>
            <a:srgbClr val="197A56"/>
          </a:solidFill>
          <a:ln w="9525">
            <a:solidFill>
              <a:srgbClr val="197A56"/>
            </a:solidFill>
            <a:prstDash val="solid"/>
          </a:ln>
        </p:spPr>
      </p:sp>
      <p:sp>
        <p:nvSpPr>
          <p:cNvPr id="28" name="flow_t1_0"/>
          <p:cNvSpPr txBox="1"/>
          <p:nvPr/>
        </p:nvSpPr>
        <p:spPr>
          <a:xfrm>
            <a:off x="2075688"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保守・SaaS</a:t>
            </a:r>
            <a:endParaRPr lang="en-US" sz="1000" dirty="0"/>
          </a:p>
        </p:txBody>
      </p:sp>
      <p:sp>
        <p:nvSpPr>
          <p:cNvPr id="29" name="ovl_farrow1"/>
          <p:cNvSpPr/>
          <p:nvPr/>
        </p:nvSpPr>
        <p:spPr>
          <a:xfrm>
            <a:off x="3431286" y="2295144"/>
            <a:ext cx="109728" cy="365760"/>
          </a:xfrm>
          <a:prstGeom prst="rightArrow">
            <a:avLst/>
          </a:prstGeom>
          <a:solidFill>
            <a:srgbClr val="86C99B"/>
          </a:solidFill>
          <a:ln w="12700">
            <a:solidFill>
              <a:srgbClr val="86C99B"/>
            </a:solidFill>
            <a:prstDash val="solid"/>
          </a:ln>
        </p:spPr>
      </p:sp>
      <p:sp>
        <p:nvSpPr>
          <p:cNvPr id="30" name="flow_h2"/>
          <p:cNvSpPr txBox="1"/>
          <p:nvPr/>
        </p:nvSpPr>
        <p:spPr>
          <a:xfrm>
            <a:off x="3547872"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A</a:t>
            </a:r>
            <a:endParaRPr lang="en-US" sz="1100" dirty="0"/>
          </a:p>
        </p:txBody>
      </p:sp>
      <p:sp>
        <p:nvSpPr>
          <p:cNvPr id="31" name="ovl_fbox2_0"/>
          <p:cNvSpPr/>
          <p:nvPr/>
        </p:nvSpPr>
        <p:spPr>
          <a:xfrm>
            <a:off x="3547872" y="2066544"/>
            <a:ext cx="1408176" cy="822960"/>
          </a:xfrm>
          <a:prstGeom prst="roundRect">
            <a:avLst>
              <a:gd name="adj" fmla="val 6667"/>
            </a:avLst>
          </a:prstGeom>
          <a:solidFill>
            <a:srgbClr val="197A56"/>
          </a:solidFill>
          <a:ln w="9525">
            <a:solidFill>
              <a:srgbClr val="197A56"/>
            </a:solidFill>
            <a:prstDash val="solid"/>
          </a:ln>
        </p:spPr>
      </p:sp>
      <p:sp>
        <p:nvSpPr>
          <p:cNvPr id="32" name="flow_t2_0"/>
          <p:cNvSpPr txBox="1"/>
          <p:nvPr/>
        </p:nvSpPr>
        <p:spPr>
          <a:xfrm>
            <a:off x="3621024" y="2103120"/>
            <a:ext cx="1261872" cy="749808"/>
          </a:xfrm>
          <a:prstGeom prst="rect">
            <a:avLst/>
          </a:prstGeom>
          <a:noFill/>
          <a:ln/>
        </p:spPr>
        <p:txBody>
          <a:bodyPr wrap="square" lIns="0" tIns="0" rIns="0" bIns="0" rtlCol="0" anchor="ctr"/>
          <a:lstStyle/>
          <a:p>
            <a:pPr algn="ctr" indent="0" marL="0">
              <a:buNone/>
            </a:pPr>
            <a:r>
              <a:rPr lang="en-US" sz="1000" dirty="0">
                <a:solidFill>
                  <a:srgbClr val="FFFFFF"/>
                </a:solidFill>
                <a:latin typeface="Meiryo UI" pitchFamily="34" charset="0"/>
                <a:ea typeface="Meiryo UI" pitchFamily="34" charset="-122"/>
                <a:cs typeface="Meiryo UI" pitchFamily="34" charset="-120"/>
              </a:rPr>
              <a:t>Database@・</a:t>
            </a:r>
            <a:endParaRPr lang="en-US" sz="1000" dirty="0"/>
          </a:p>
          <a:p>
            <a:pPr algn="ctr" indent="0" marL="0">
              <a:buNone/>
            </a:pPr>
            <a:r>
              <a:rPr lang="en-US" sz="1000" dirty="0">
                <a:solidFill>
                  <a:srgbClr val="FFFFFF"/>
                </a:solidFill>
                <a:latin typeface="Meiryo UI" pitchFamily="34" charset="0"/>
                <a:ea typeface="Meiryo UI" pitchFamily="34" charset="-122"/>
                <a:cs typeface="Meiryo UI" pitchFamily="34" charset="-120"/>
              </a:rPr>
              <a:t>OCI 一般</a:t>
            </a:r>
            <a:endParaRPr lang="en-US" sz="1000" dirty="0"/>
          </a:p>
        </p:txBody>
      </p:sp>
      <p:sp>
        <p:nvSpPr>
          <p:cNvPr id="33" name="ovl_farrow2"/>
          <p:cNvSpPr/>
          <p:nvPr/>
        </p:nvSpPr>
        <p:spPr>
          <a:xfrm>
            <a:off x="4976622" y="2295144"/>
            <a:ext cx="109728" cy="365760"/>
          </a:xfrm>
          <a:prstGeom prst="rightArrow">
            <a:avLst/>
          </a:prstGeom>
          <a:solidFill>
            <a:srgbClr val="86C99B"/>
          </a:solidFill>
          <a:ln w="12700">
            <a:solidFill>
              <a:srgbClr val="86C99B"/>
            </a:solidFill>
            <a:prstDash val="solid"/>
          </a:ln>
        </p:spPr>
      </p:sp>
      <p:sp>
        <p:nvSpPr>
          <p:cNvPr id="34" name="flow_h3"/>
          <p:cNvSpPr txBox="1"/>
          <p:nvPr/>
        </p:nvSpPr>
        <p:spPr>
          <a:xfrm>
            <a:off x="5093208"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B</a:t>
            </a:r>
            <a:endParaRPr lang="en-US" sz="1100" dirty="0"/>
          </a:p>
        </p:txBody>
      </p:sp>
      <p:sp>
        <p:nvSpPr>
          <p:cNvPr id="35" name="ovl_fbox3_0"/>
          <p:cNvSpPr/>
          <p:nvPr/>
        </p:nvSpPr>
        <p:spPr>
          <a:xfrm>
            <a:off x="5093208" y="2066544"/>
            <a:ext cx="1408176" cy="822960"/>
          </a:xfrm>
          <a:prstGeom prst="roundRect">
            <a:avLst>
              <a:gd name="adj" fmla="val 6667"/>
            </a:avLst>
          </a:prstGeom>
          <a:solidFill>
            <a:srgbClr val="EAF4EE"/>
          </a:solidFill>
          <a:ln w="9525">
            <a:solidFill>
              <a:srgbClr val="EAF4EE"/>
            </a:solidFill>
            <a:prstDash val="solid"/>
          </a:ln>
        </p:spPr>
      </p:sp>
      <p:sp>
        <p:nvSpPr>
          <p:cNvPr id="36" name="flow_t3_0"/>
          <p:cNvSpPr txBox="1"/>
          <p:nvPr/>
        </p:nvSpPr>
        <p:spPr>
          <a:xfrm>
            <a:off x="5166360" y="2103120"/>
            <a:ext cx="1261872" cy="7498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AI 容量(前払い・</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持ち込み)</a:t>
            </a:r>
            <a:endParaRPr lang="en-US" sz="1000" dirty="0"/>
          </a:p>
        </p:txBody>
      </p:sp>
      <p:sp>
        <p:nvSpPr>
          <p:cNvPr id="37" name="ovl_farrow3"/>
          <p:cNvSpPr/>
          <p:nvPr/>
        </p:nvSpPr>
        <p:spPr>
          <a:xfrm>
            <a:off x="6521958" y="2295144"/>
            <a:ext cx="109728" cy="365760"/>
          </a:xfrm>
          <a:prstGeom prst="rightArrow">
            <a:avLst/>
          </a:prstGeom>
          <a:solidFill>
            <a:srgbClr val="86C99B"/>
          </a:solidFill>
          <a:ln w="12700">
            <a:solidFill>
              <a:srgbClr val="86C99B"/>
            </a:solidFill>
            <a:prstDash val="solid"/>
          </a:ln>
        </p:spPr>
      </p:sp>
      <p:sp>
        <p:nvSpPr>
          <p:cNvPr id="38" name="flow_h4"/>
          <p:cNvSpPr txBox="1"/>
          <p:nvPr/>
        </p:nvSpPr>
        <p:spPr>
          <a:xfrm>
            <a:off x="6638544" y="1600200"/>
            <a:ext cx="1408176"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C〜G</a:t>
            </a:r>
            <a:endParaRPr lang="en-US" sz="1100" dirty="0"/>
          </a:p>
        </p:txBody>
      </p:sp>
      <p:sp>
        <p:nvSpPr>
          <p:cNvPr id="39" name="ovl_fbox4_0"/>
          <p:cNvSpPr/>
          <p:nvPr/>
        </p:nvSpPr>
        <p:spPr>
          <a:xfrm>
            <a:off x="6638544" y="2066544"/>
            <a:ext cx="1408176" cy="822960"/>
          </a:xfrm>
          <a:prstGeom prst="roundRect">
            <a:avLst>
              <a:gd name="adj" fmla="val 6667"/>
            </a:avLst>
          </a:prstGeom>
          <a:solidFill>
            <a:srgbClr val="F2F2F2"/>
          </a:solidFill>
          <a:ln w="9525">
            <a:solidFill>
              <a:srgbClr val="F2F2F2"/>
            </a:solidFill>
            <a:prstDash val="solid"/>
          </a:ln>
        </p:spPr>
      </p:sp>
      <p:sp>
        <p:nvSpPr>
          <p:cNvPr id="40" name="flow_t4_0"/>
          <p:cNvSpPr txBox="1"/>
          <p:nvPr/>
        </p:nvSpPr>
        <p:spPr>
          <a:xfrm>
            <a:off x="6711696" y="2103120"/>
            <a:ext cx="1261872" cy="749808"/>
          </a:xfrm>
          <a:prstGeom prst="rect">
            <a:avLst/>
          </a:prstGeom>
          <a:noFill/>
          <a:ln/>
        </p:spPr>
        <p:txBody>
          <a:bodyPr wrap="square" lIns="0" tIns="0" rIns="0" bIns="0" rtlCol="0" anchor="ctr"/>
          <a:lstStyle/>
          <a:p>
            <a:pPr algn="ctr" indent="0" marL="0">
              <a:buNone/>
            </a:pPr>
            <a:r>
              <a:rPr lang="en-US" sz="1000" dirty="0">
                <a:solidFill>
                  <a:srgbClr val="767676"/>
                </a:solidFill>
                <a:latin typeface="Meiryo UI" pitchFamily="34" charset="0"/>
                <a:ea typeface="Meiryo UI" pitchFamily="34" charset="-122"/>
                <a:cs typeface="Meiryo UI" pitchFamily="34" charset="-120"/>
              </a:rPr>
              <a:t>AI 容量(自社調達 GPU)</a:t>
            </a:r>
            <a:endParaRPr lang="en-US" sz="1000" dirty="0"/>
          </a:p>
        </p:txBody>
      </p:sp>
      <p:graphicFrame>
        <p:nvGraphicFramePr>
          <p:cNvPr id="36" name="tbl"/>
          <p:cNvGraphicFramePr>
            <a:graphicFrameLocks noGrp="1"/>
          </p:cNvGraphicFramePr>
          <p:nvPr>
            <p:extLst>
              <p:ext uri="{D42A27DB-BD31-4B8C-83A1-F6EECF244321}">
                <p14:modId xmlns:p14="http://schemas.microsoft.com/office/powerpoint/2010/main" val="1579011935"/>
              </p:ext>
            </p:extLst>
          </p:nvPr>
        </p:nvGraphicFramePr>
        <p:xfrm>
          <a:off x="457200" y="3246120"/>
          <a:ext cx="7589520" cy="914400"/>
        </p:xfrm>
        <a:graphic>
          <a:graphicData uri="http://schemas.openxmlformats.org/drawingml/2006/table">
            <a:tbl>
              <a:tblPr/>
              <a:tblGrid>
                <a:gridCol w="2103120"/>
                <a:gridCol w="2743200"/>
                <a:gridCol w="2743200"/>
              </a:tblGrid>
              <a:tr h="365760">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観点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ORCL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MU 型の要素</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課金</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継続課金・従量・確約</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陳腐化リスク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前払い・持ち込みで顧客へ移す</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自社調達 GPU は Oracle が負う</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capex(FY27)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純現金 capex 700 億ドル以下(ガイダンス)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エンジン 942 億ドル・純現金 733 億ドル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価値の比率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保守・SaaS・OCI 一般 約 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AI 容量 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42" name="ovl_evbox"/>
          <p:cNvSpPr/>
          <p:nvPr/>
        </p:nvSpPr>
        <p:spPr>
          <a:xfrm>
            <a:off x="8275320" y="1481328"/>
            <a:ext cx="3456432" cy="2788920"/>
          </a:xfrm>
          <a:prstGeom prst="rect">
            <a:avLst/>
          </a:prstGeom>
          <a:solidFill>
            <a:srgbClr val="FFFFFF"/>
          </a:solidFill>
          <a:ln w="9525">
            <a:solidFill>
              <a:srgbClr val="D9D9D9"/>
            </a:solidFill>
            <a:prstDash val="solid"/>
          </a:ln>
        </p:spPr>
      </p:sp>
      <p:sp>
        <p:nvSpPr>
          <p:cNvPr id="43" name="ev_head"/>
          <p:cNvSpPr txBox="1"/>
          <p:nvPr/>
        </p:nvSpPr>
        <p:spPr>
          <a:xfrm>
            <a:off x="8385048" y="1536192"/>
            <a:ext cx="320040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根拠</a:t>
            </a:r>
            <a:endParaRPr lang="en-US" sz="1200" dirty="0"/>
          </a:p>
        </p:txBody>
      </p:sp>
      <p:sp>
        <p:nvSpPr>
          <p:cNvPr id="44" name="evidence"/>
          <p:cNvSpPr txBox="1"/>
          <p:nvPr/>
        </p:nvSpPr>
        <p:spPr>
          <a:xfrm>
            <a:off x="8385048" y="1847088"/>
            <a:ext cx="3255264" cy="2377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前払い・持ち込み累計 750 億ドル</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10GW の 90% 超はパートナーが資金負担</a:t>
            </a:r>
            <a:endParaRPr lang="en-US" sz="950" dirty="0"/>
          </a:p>
          <a:p>
            <a:pPr marL="152400" indent="-152400">
              <a:buSzPct val="100000"/>
              <a:buChar char="•"/>
            </a:pPr>
            <a:r>
              <a:rPr lang="en-US" sz="950" dirty="0">
                <a:solidFill>
                  <a:srgbClr val="333333"/>
                </a:solidFill>
                <a:latin typeface="Meiryo UI" pitchFamily="34" charset="0"/>
                <a:ea typeface="Meiryo UI" pitchFamily="34" charset="-122"/>
                <a:cs typeface="Meiryo UI" pitchFamily="34" charset="-120"/>
              </a:rPr>
              <a:t>FY27 の総 capex 900〜950 億ドルのうち、</a:t>
            </a:r>
            <a:endParaRPr lang="en-US" sz="950" dirty="0"/>
          </a:p>
          <a:p>
            <a:pPr marL="152400" indent="-152400">
              <a:spcAft>
                <a:spcPts val="400"/>
              </a:spcAft>
              <a:buSzPct val="100000"/>
              <a:buChar char=" "/>
            </a:pPr>
            <a:r>
              <a:rPr lang="en-US" sz="950" dirty="0">
                <a:solidFill>
                  <a:srgbClr val="333333"/>
                </a:solidFill>
                <a:latin typeface="Meiryo UI" pitchFamily="34" charset="0"/>
                <a:ea typeface="Meiryo UI" pitchFamily="34" charset="-122"/>
                <a:cs typeface="Meiryo UI" pitchFamily="34" charset="-120"/>
              </a:rPr>
              <a:t>顧客の前払いが約 24%</a:t>
            </a:r>
            <a:endParaRPr lang="en-US" sz="950" dirty="0"/>
          </a:p>
        </p:txBody>
      </p:sp>
      <p:sp>
        <p:nvSpPr>
          <p:cNvPr id="45" name="ovl_takeaway_bg"/>
          <p:cNvSpPr/>
          <p:nvPr/>
        </p:nvSpPr>
        <p:spPr>
          <a:xfrm>
            <a:off x="8275320" y="4389120"/>
            <a:ext cx="3456432" cy="1143000"/>
          </a:xfrm>
          <a:prstGeom prst="rect">
            <a:avLst/>
          </a:prstGeom>
          <a:solidFill>
            <a:srgbClr val="EAF4EE"/>
          </a:solidFill>
          <a:ln w="12700">
            <a:solidFill>
              <a:srgbClr val="EAF4EE"/>
            </a:solidFill>
            <a:prstDash val="solid"/>
          </a:ln>
        </p:spPr>
      </p:sp>
      <p:sp>
        <p:nvSpPr>
          <p:cNvPr id="46" name="takeaway"/>
          <p:cNvSpPr txBox="1"/>
          <p:nvPr/>
        </p:nvSpPr>
        <p:spPr>
          <a:xfrm>
            <a:off x="8385048" y="4462272"/>
            <a:ext cx="3236976" cy="996696"/>
          </a:xfrm>
          <a:prstGeom prst="rect">
            <a:avLst/>
          </a:prstGeom>
          <a:noFill/>
          <a:ln/>
        </p:spPr>
        <p:txBody>
          <a:bodyPr wrap="square" lIns="508" tIns="508" rIns="508" bIns="508" rtlCol="0" anchor="ctr"/>
          <a:lstStyle/>
          <a:p>
            <a:pPr indent="0" marL="0">
              <a:buNone/>
            </a:pPr>
            <a:r>
              <a:rPr lang="en-US" sz="1050" b="1" dirty="0">
                <a:solidFill>
                  <a:srgbClr val="0E4D33"/>
                </a:solidFill>
                <a:latin typeface="Meiryo UI" pitchFamily="34" charset="0"/>
                <a:ea typeface="Meiryo UI" pitchFamily="34" charset="-122"/>
                <a:cs typeface="Meiryo UI" pitchFamily="34" charset="-120"/>
              </a:rPr>
              <a:t>原型は ORCL 型のまま。自社調達の GPU が増えると MU 型に寄るため B</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4D33"/>
        </a:solidFill>
      </p:bgPr>
    </p:bg>
    <p:spTree>
      <p:nvGrpSpPr>
        <p:cNvPr id="1" name=""/>
        <p:cNvGrpSpPr/>
        <p:nvPr/>
      </p:nvGrpSpPr>
      <p:grpSpPr>
        <a:xfrm>
          <a:off x="0" y="0"/>
          <a:ext cx="0" cy="0"/>
          <a:chOff x="0" y="0"/>
          <a:chExt cx="0" cy="0"/>
        </a:xfrm>
      </p:grpSpPr>
      <p:sp>
        <p:nvSpPr>
          <p:cNvPr id="2" name="bg_agenda"/>
          <p:cNvSpPr/>
          <p:nvPr/>
        </p:nvSpPr>
        <p:spPr>
          <a:xfrm>
            <a:off x="0" y="0"/>
            <a:ext cx="12191695" cy="6858000"/>
          </a:xfrm>
          <a:prstGeom prst="rect">
            <a:avLst/>
          </a:prstGeom>
          <a:solidFill>
            <a:srgbClr val="0E4D33"/>
          </a:solidFill>
          <a:ln w="12700">
            <a:solidFill>
              <a:srgbClr val="0E4D33"/>
            </a:solidFill>
            <a:prstDash val="solid"/>
          </a:ln>
        </p:spPr>
      </p:sp>
      <p:sp>
        <p:nvSpPr>
          <p:cNvPr id="3" name="bg_agenda_lbl"/>
          <p:cNvSpPr txBox="1"/>
          <p:nvPr/>
        </p:nvSpPr>
        <p:spPr>
          <a:xfrm>
            <a:off x="731520" y="502920"/>
            <a:ext cx="2743200" cy="64008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目次</a:t>
            </a:r>
            <a:endParaRPr lang="en-US" sz="2600" dirty="0"/>
          </a:p>
        </p:txBody>
      </p:sp>
      <p:sp>
        <p:nvSpPr>
          <p:cNvPr id="4" name="bg_agenda_n0"/>
          <p:cNvSpPr/>
          <p:nvPr/>
        </p:nvSpPr>
        <p:spPr>
          <a:xfrm>
            <a:off x="777240" y="1463040"/>
            <a:ext cx="457200" cy="457200"/>
          </a:xfrm>
          <a:prstGeom prst="ellipse">
            <a:avLst/>
          </a:prstGeom>
          <a:solidFill>
            <a:srgbClr val="0E4D33"/>
          </a:solidFill>
          <a:ln w="12700">
            <a:solidFill>
              <a:srgbClr val="FFFFFF"/>
            </a:solidFill>
            <a:prstDash val="solid"/>
          </a:ln>
        </p:spPr>
      </p:sp>
      <p:sp>
        <p:nvSpPr>
          <p:cNvPr id="5" name="bg_agenda_nt0"/>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1</a:t>
            </a:r>
            <a:endParaRPr lang="en-US" sz="1400" dirty="0"/>
          </a:p>
        </p:txBody>
      </p:sp>
      <p:sp>
        <p:nvSpPr>
          <p:cNvPr id="6" name="bg_agenda_ch0"/>
          <p:cNvSpPr txBox="1"/>
          <p:nvPr/>
        </p:nvSpPr>
        <p:spPr>
          <a:xfrm>
            <a:off x="1417320" y="1444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評価総括</a:t>
            </a:r>
            <a:endParaRPr lang="en-US" sz="1800" dirty="0"/>
          </a:p>
        </p:txBody>
      </p:sp>
      <p:sp>
        <p:nvSpPr>
          <p:cNvPr id="7" name="bg_agenda_n1"/>
          <p:cNvSpPr/>
          <p:nvPr/>
        </p:nvSpPr>
        <p:spPr>
          <a:xfrm>
            <a:off x="777240" y="2606040"/>
            <a:ext cx="457200" cy="457200"/>
          </a:xfrm>
          <a:prstGeom prst="ellipse">
            <a:avLst/>
          </a:prstGeom>
          <a:solidFill>
            <a:srgbClr val="0E4D33"/>
          </a:solidFill>
          <a:ln w="12700">
            <a:solidFill>
              <a:srgbClr val="FFFFFF"/>
            </a:solidFill>
            <a:prstDash val="solid"/>
          </a:ln>
        </p:spPr>
      </p:sp>
      <p:sp>
        <p:nvSpPr>
          <p:cNvPr id="8" name="bg_agenda_nt1"/>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2</a:t>
            </a:r>
            <a:endParaRPr lang="en-US" sz="1400" dirty="0"/>
          </a:p>
        </p:txBody>
      </p:sp>
      <p:sp>
        <p:nvSpPr>
          <p:cNvPr id="9" name="bg_agenda_ch1"/>
          <p:cNvSpPr txBox="1"/>
          <p:nvPr/>
        </p:nvSpPr>
        <p:spPr>
          <a:xfrm>
            <a:off x="1417320" y="2587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事業・需給・成長</a:t>
            </a:r>
            <a:endParaRPr lang="en-US" sz="1800" dirty="0"/>
          </a:p>
        </p:txBody>
      </p:sp>
      <p:sp>
        <p:nvSpPr>
          <p:cNvPr id="10" name="bg_agenda_n2"/>
          <p:cNvSpPr/>
          <p:nvPr/>
        </p:nvSpPr>
        <p:spPr>
          <a:xfrm>
            <a:off x="777240" y="3749040"/>
            <a:ext cx="457200" cy="457200"/>
          </a:xfrm>
          <a:prstGeom prst="ellipse">
            <a:avLst/>
          </a:prstGeom>
          <a:solidFill>
            <a:srgbClr val="0E4D33"/>
          </a:solidFill>
          <a:ln w="12700">
            <a:solidFill>
              <a:srgbClr val="FFFFFF"/>
            </a:solidFill>
            <a:prstDash val="solid"/>
          </a:ln>
        </p:spPr>
      </p:sp>
      <p:sp>
        <p:nvSpPr>
          <p:cNvPr id="11" name="bg_agenda_nt2"/>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400" b="1" dirty="0">
                <a:solidFill>
                  <a:srgbClr val="FFFFFF">
                    <a:alpha val="50000"/>
                  </a:srgbClr>
                </a:solidFill>
                <a:latin typeface="Meiryo UI" pitchFamily="34" charset="0"/>
                <a:ea typeface="Meiryo UI" pitchFamily="34" charset="-122"/>
                <a:cs typeface="Meiryo UI" pitchFamily="34" charset="-120"/>
              </a:rPr>
              <a:t>3</a:t>
            </a:r>
            <a:endParaRPr lang="en-US" sz="1400" dirty="0"/>
          </a:p>
        </p:txBody>
      </p:sp>
      <p:sp>
        <p:nvSpPr>
          <p:cNvPr id="12" name="bg_agenda_ch2"/>
          <p:cNvSpPr txBox="1"/>
          <p:nvPr/>
        </p:nvSpPr>
        <p:spPr>
          <a:xfrm>
            <a:off x="1417320" y="3730752"/>
            <a:ext cx="5669280" cy="493776"/>
          </a:xfrm>
          <a:prstGeom prst="rect">
            <a:avLst/>
          </a:prstGeom>
          <a:noFill/>
          <a:ln/>
        </p:spPr>
        <p:txBody>
          <a:bodyPr wrap="square" lIns="0" tIns="0" rIns="0" bIns="0" rtlCol="0" anchor="ctr"/>
          <a:lstStyle/>
          <a:p>
            <a:pPr indent="0" marL="0">
              <a:buNone/>
            </a:pPr>
            <a:r>
              <a:rPr lang="en-US" sz="1800" dirty="0">
                <a:solidFill>
                  <a:srgbClr val="FFFFFF">
                    <a:alpha val="50000"/>
                  </a:srgbClr>
                </a:solidFill>
                <a:latin typeface="Meiryo UI" pitchFamily="34" charset="0"/>
                <a:ea typeface="Meiryo UI" pitchFamily="34" charset="-122"/>
                <a:cs typeface="Meiryo UI" pitchFamily="34" charset="-120"/>
              </a:rPr>
              <a:t>13条件の構造分析</a:t>
            </a:r>
            <a:endParaRPr lang="en-US" sz="1800" dirty="0"/>
          </a:p>
        </p:txBody>
      </p:sp>
      <p:sp>
        <p:nvSpPr>
          <p:cNvPr id="13" name="bg_agenda_n3"/>
          <p:cNvSpPr/>
          <p:nvPr/>
        </p:nvSpPr>
        <p:spPr>
          <a:xfrm>
            <a:off x="777240" y="4892040"/>
            <a:ext cx="457200" cy="457200"/>
          </a:xfrm>
          <a:prstGeom prst="ellipse">
            <a:avLst/>
          </a:prstGeom>
          <a:solidFill>
            <a:srgbClr val="197A56"/>
          </a:solidFill>
          <a:ln w="12700">
            <a:solidFill>
              <a:srgbClr val="FFFFFF"/>
            </a:solidFill>
            <a:prstDash val="solid"/>
          </a:ln>
        </p:spPr>
      </p:sp>
      <p:sp>
        <p:nvSpPr>
          <p:cNvPr id="14" name="bg_agenda_nt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4</a:t>
            </a:r>
            <a:endParaRPr lang="en-US" sz="1400" dirty="0"/>
          </a:p>
        </p:txBody>
      </p:sp>
      <p:sp>
        <p:nvSpPr>
          <p:cNvPr id="15" name="bg_agenda_ch3"/>
          <p:cNvSpPr txBox="1"/>
          <p:nvPr/>
        </p:nvSpPr>
        <p:spPr>
          <a:xfrm>
            <a:off x="1417320" y="4873752"/>
            <a:ext cx="5669280" cy="493776"/>
          </a:xfrm>
          <a:prstGeom prst="rect">
            <a:avLst/>
          </a:prstGeom>
          <a:noFill/>
          <a:ln/>
        </p:spPr>
        <p:txBody>
          <a:bodyPr wrap="square" lIns="0" tIns="0" rIns="0" bIns="0" rtlCol="0" anchor="ctr"/>
          <a:lstStyle/>
          <a:p>
            <a:pPr indent="0" marL="0">
              <a:buNone/>
            </a:pPr>
            <a:r>
              <a:rPr lang="en-US" sz="1800" b="1" dirty="0">
                <a:solidFill>
                  <a:srgbClr val="FFFFFF"/>
                </a:solidFill>
                <a:latin typeface="Meiryo UI" pitchFamily="34" charset="0"/>
                <a:ea typeface="Meiryo UI" pitchFamily="34" charset="-122"/>
                <a:cs typeface="Meiryo UI" pitchFamily="34" charset="-120"/>
              </a:rPr>
              <a:t>バリュエーション・リスク・投資アクション</a:t>
            </a:r>
            <a:endParaRPr lang="en-US" sz="1800" dirty="0"/>
          </a:p>
        </p:txBody>
      </p:sp>
      <p:sp>
        <p:nvSpPr>
          <p:cNvPr id="16" name="bg_agenda_why3"/>
          <p:cNvSpPr txBox="1"/>
          <p:nvPr/>
        </p:nvSpPr>
        <p:spPr>
          <a:xfrm>
            <a:off x="1417320" y="5367528"/>
            <a:ext cx="5669280" cy="566928"/>
          </a:xfrm>
          <a:prstGeom prst="rect">
            <a:avLst/>
          </a:prstGeom>
          <a:noFill/>
          <a:ln/>
        </p:spPr>
        <p:txBody>
          <a:bodyPr wrap="square" lIns="0" tIns="0" rIns="0" bIns="0" rtlCol="0" anchor="t"/>
          <a:lstStyle/>
          <a:p>
            <a:pPr indent="0" marL="0">
              <a:buNone/>
            </a:pPr>
            <a:r>
              <a:rPr lang="en-US" sz="1050" dirty="0">
                <a:solidFill>
                  <a:srgbClr val="86C99B"/>
                </a:solidFill>
                <a:latin typeface="Meiryo UI" pitchFamily="34" charset="0"/>
                <a:ea typeface="Meiryo UI" pitchFamily="34" charset="-122"/>
                <a:cs typeface="Meiryo UI" pitchFamily="34" charset="-120"/>
              </a:rPr>
              <a:t>構造評価を倍率に変えて理論株価を出し、</a:t>
            </a:r>
            <a:endParaRPr lang="en-US" sz="1050" dirty="0"/>
          </a:p>
          <a:p>
            <a:pPr indent="0" marL="0">
              <a:buNone/>
            </a:pPr>
            <a:r>
              <a:rPr lang="en-US" sz="1050" dirty="0">
                <a:solidFill>
                  <a:srgbClr val="86C99B"/>
                </a:solidFill>
                <a:latin typeface="Meiryo UI" pitchFamily="34" charset="0"/>
                <a:ea typeface="Meiryo UI" pitchFamily="34" charset="-122"/>
                <a:cs typeface="Meiryo UI" pitchFamily="34" charset="-120"/>
              </a:rPr>
              <a:t>リスクを踏まえて建て方と撤退条件を決める</a:t>
            </a:r>
            <a:endParaRPr lang="en-US" sz="1050" dirty="0"/>
          </a:p>
        </p:txBody>
      </p:sp>
      <p:sp>
        <p:nvSpPr>
          <p:cNvPr id="17" name="bg_agenda_rule"/>
          <p:cNvSpPr/>
          <p:nvPr/>
        </p:nvSpPr>
        <p:spPr>
          <a:xfrm>
            <a:off x="7543800" y="1463040"/>
            <a:ext cx="0" cy="4389120"/>
          </a:xfrm>
          <a:prstGeom prst="line">
            <a:avLst/>
          </a:prstGeom>
          <a:noFill/>
          <a:ln w="9525">
            <a:solidFill>
              <a:srgbClr val="86C99B"/>
            </a:solidFill>
            <a:prstDash val="solid"/>
          </a:ln>
        </p:spPr>
      </p:sp>
      <p:sp>
        <p:nvSpPr>
          <p:cNvPr id="18" name="bg_agenda_sh"/>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300" b="1" dirty="0">
                <a:solidFill>
                  <a:srgbClr val="86C99B"/>
                </a:solidFill>
                <a:latin typeface="Meiryo UI" pitchFamily="34" charset="0"/>
                <a:ea typeface="Meiryo UI" pitchFamily="34" charset="-122"/>
                <a:cs typeface="Meiryo UI" pitchFamily="34" charset="-120"/>
              </a:rPr>
              <a:t>第4章の構成</a:t>
            </a:r>
            <a:endParaRPr lang="en-US" sz="1300" dirty="0"/>
          </a:p>
        </p:txBody>
      </p:sp>
      <p:sp>
        <p:nvSpPr>
          <p:cNvPr id="19" name="bg_agenda_s0"/>
          <p:cNvSpPr txBox="1"/>
          <p:nvPr/>
        </p:nvSpPr>
        <p:spPr>
          <a:xfrm>
            <a:off x="7818120" y="1920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4-1  市場との差分</a:t>
            </a:r>
            <a:endParaRPr lang="en-US" sz="1250" dirty="0"/>
          </a:p>
        </p:txBody>
      </p:sp>
      <p:sp>
        <p:nvSpPr>
          <p:cNvPr id="20" name="bg_agenda_p0"/>
          <p:cNvSpPr txBox="1"/>
          <p:nvPr/>
        </p:nvSpPr>
        <p:spPr>
          <a:xfrm>
            <a:off x="10881360" y="1920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p.37</a:t>
            </a:r>
            <a:endParaRPr lang="en-US" sz="1050" dirty="0"/>
          </a:p>
        </p:txBody>
      </p:sp>
      <p:sp>
        <p:nvSpPr>
          <p:cNvPr id="21" name="bg_agenda_s1"/>
          <p:cNvSpPr txBox="1"/>
          <p:nvPr/>
        </p:nvSpPr>
        <p:spPr>
          <a:xfrm>
            <a:off x="7818120" y="23774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4-2  価値評価</a:t>
            </a:r>
            <a:endParaRPr lang="en-US" sz="1250" dirty="0"/>
          </a:p>
        </p:txBody>
      </p:sp>
      <p:sp>
        <p:nvSpPr>
          <p:cNvPr id="22" name="bg_agenda_p1"/>
          <p:cNvSpPr txBox="1"/>
          <p:nvPr/>
        </p:nvSpPr>
        <p:spPr>
          <a:xfrm>
            <a:off x="10881360" y="23774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p.38–40</a:t>
            </a:r>
            <a:endParaRPr lang="en-US" sz="1050" dirty="0"/>
          </a:p>
        </p:txBody>
      </p:sp>
      <p:sp>
        <p:nvSpPr>
          <p:cNvPr id="23" name="bg_agenda_s2"/>
          <p:cNvSpPr txBox="1"/>
          <p:nvPr/>
        </p:nvSpPr>
        <p:spPr>
          <a:xfrm>
            <a:off x="7818120" y="28346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4-3  最終判断</a:t>
            </a:r>
            <a:endParaRPr lang="en-US" sz="1250" dirty="0"/>
          </a:p>
        </p:txBody>
      </p:sp>
      <p:sp>
        <p:nvSpPr>
          <p:cNvPr id="24" name="bg_agenda_p2"/>
          <p:cNvSpPr txBox="1"/>
          <p:nvPr/>
        </p:nvSpPr>
        <p:spPr>
          <a:xfrm>
            <a:off x="10881360" y="28346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p.41</a:t>
            </a:r>
            <a:endParaRPr lang="en-US" sz="1050" dirty="0"/>
          </a:p>
        </p:txBody>
      </p:sp>
      <p:sp>
        <p:nvSpPr>
          <p:cNvPr id="25" name="bg_agenda_s3"/>
          <p:cNvSpPr txBox="1"/>
          <p:nvPr/>
        </p:nvSpPr>
        <p:spPr>
          <a:xfrm>
            <a:off x="7818120" y="32918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4-4  リスク</a:t>
            </a:r>
            <a:endParaRPr lang="en-US" sz="1250" dirty="0"/>
          </a:p>
        </p:txBody>
      </p:sp>
      <p:sp>
        <p:nvSpPr>
          <p:cNvPr id="26" name="bg_agenda_p3"/>
          <p:cNvSpPr txBox="1"/>
          <p:nvPr/>
        </p:nvSpPr>
        <p:spPr>
          <a:xfrm>
            <a:off x="10881360" y="32918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p.42</a:t>
            </a:r>
            <a:endParaRPr lang="en-US" sz="1050" dirty="0"/>
          </a:p>
        </p:txBody>
      </p:sp>
      <p:sp>
        <p:nvSpPr>
          <p:cNvPr id="27" name="bg_agenda_s4"/>
          <p:cNvSpPr txBox="1"/>
          <p:nvPr/>
        </p:nvSpPr>
        <p:spPr>
          <a:xfrm>
            <a:off x="7818120" y="37490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4-5  投資行動</a:t>
            </a:r>
            <a:endParaRPr lang="en-US" sz="1250" dirty="0"/>
          </a:p>
        </p:txBody>
      </p:sp>
      <p:sp>
        <p:nvSpPr>
          <p:cNvPr id="28" name="bg_agenda_p4"/>
          <p:cNvSpPr txBox="1"/>
          <p:nvPr/>
        </p:nvSpPr>
        <p:spPr>
          <a:xfrm>
            <a:off x="10881360" y="37490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p.43–44</a:t>
            </a:r>
            <a:endParaRPr lang="en-US" sz="1050" dirty="0"/>
          </a:p>
        </p:txBody>
      </p:sp>
      <p:sp>
        <p:nvSpPr>
          <p:cNvPr id="29" name="bg_agenda_s5"/>
          <p:cNvSpPr txBox="1"/>
          <p:nvPr/>
        </p:nvSpPr>
        <p:spPr>
          <a:xfrm>
            <a:off x="7818120" y="4206240"/>
            <a:ext cx="3063240" cy="365760"/>
          </a:xfrm>
          <a:prstGeom prst="rect">
            <a:avLst/>
          </a:prstGeom>
          <a:noFill/>
          <a:ln/>
        </p:spPr>
        <p:txBody>
          <a:bodyPr wrap="square" lIns="0" tIns="0" rIns="0" bIns="0" rtlCol="0" anchor="ctr"/>
          <a:lstStyle/>
          <a:p>
            <a:pPr indent="0" marL="0">
              <a:buNone/>
            </a:pPr>
            <a:r>
              <a:rPr lang="en-US" sz="1250" dirty="0">
                <a:solidFill>
                  <a:srgbClr val="FFFFFF"/>
                </a:solidFill>
                <a:latin typeface="Meiryo UI" pitchFamily="34" charset="0"/>
                <a:ea typeface="Meiryo UI" pitchFamily="34" charset="-122"/>
                <a:cs typeface="Meiryo UI" pitchFamily="34" charset="-120"/>
              </a:rPr>
              <a:t>付録  前提と履歴</a:t>
            </a:r>
            <a:endParaRPr lang="en-US" sz="1250" dirty="0"/>
          </a:p>
        </p:txBody>
      </p:sp>
      <p:sp>
        <p:nvSpPr>
          <p:cNvPr id="30" name="bg_agenda_p5"/>
          <p:cNvSpPr txBox="1"/>
          <p:nvPr/>
        </p:nvSpPr>
        <p:spPr>
          <a:xfrm>
            <a:off x="10881360" y="4206240"/>
            <a:ext cx="850392" cy="365760"/>
          </a:xfrm>
          <a:prstGeom prst="rect">
            <a:avLst/>
          </a:prstGeom>
          <a:noFill/>
          <a:ln/>
        </p:spPr>
        <p:txBody>
          <a:bodyPr wrap="square" lIns="0" tIns="0" rIns="0" bIns="0" rtlCol="0" anchor="ctr"/>
          <a:lstStyle/>
          <a:p>
            <a:pPr algn="r" indent="0" marL="0">
              <a:buNone/>
            </a:pPr>
            <a:r>
              <a:rPr lang="en-US" sz="1050" dirty="0">
                <a:solidFill>
                  <a:srgbClr val="86C99B"/>
                </a:solidFill>
                <a:latin typeface="Meiryo UI" pitchFamily="34" charset="0"/>
                <a:ea typeface="Meiryo UI" pitchFamily="34" charset="-122"/>
                <a:cs typeface="Meiryo UI" pitchFamily="34" charset="-120"/>
              </a:rPr>
              <a:t>p.45–46</a:t>
            </a:r>
            <a:endParaRPr lang="en-US" sz="1050" dirty="0"/>
          </a:p>
        </p:txBody>
      </p:sp>
      <p:sp>
        <p:nvSpPr>
          <p:cNvPr id="31"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36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4-1 市場との差分</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525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525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市場との差分</a:t>
            </a:r>
            <a:endParaRPr lang="en-US" sz="1000" dirty="0"/>
          </a:p>
        </p:txBody>
      </p:sp>
      <p:sp>
        <p:nvSpPr>
          <p:cNvPr id="14" name="hdr_why"/>
          <p:cNvSpPr txBox="1"/>
          <p:nvPr/>
        </p:nvSpPr>
        <p:spPr>
          <a:xfrm>
            <a:off x="2128774" y="356616"/>
            <a:ext cx="9605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市場が何を疑っているか、どの開示でその疑いが晴れるかを確かめる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株価は事業実態 EPS の 13.3 倍で、説明会の後も弱気シナリオの値に近い。</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市場は EPS ではなく現金化を疑い、次の試金石は 12 月の Q2 決算</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市場が付ける倍率と、株価が示す弱気の確率。右: 構造の変化が数字に及ぶ道筋と、カタリストの日程</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需給エンジン第4.4版(calc/out/m9_fair.json)、Investor Day 2026-10-28、会社開示、report/ORCL_report.md §11</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37</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市場の倍率(FY27 末、翌年度の事業実態 EPS 比)</a:t>
            </a:r>
            <a:endParaRPr lang="en-US" sz="1200" dirty="0"/>
          </a:p>
        </p:txBody>
      </p:sp>
      <p:graphicFrame>
        <p:nvGraphicFramePr>
          <p:cNvPr id="20" name="chart" descr=""/>
          <p:cNvGraphicFramePr/>
          <p:nvPr/>
        </p:nvGraphicFramePr>
        <p:xfrm>
          <a:off x="457200" y="1810512"/>
          <a:ext cx="5532120" cy="1920240"/>
        </p:xfrm>
        <a:graphic xmlns:a="http://schemas.openxmlformats.org/drawingml/2006/main">
          <a:graphicData uri="http://schemas.openxmlformats.org/drawingml/2006/chart">
            <c:chart xmlns:c="http://schemas.openxmlformats.org/drawingml/2006/chart" r:id="rId1"/>
          </a:graphicData>
        </a:graphic>
      </p:graphicFrame>
      <p:graphicFrame>
        <p:nvGraphicFramePr>
          <p:cNvPr id="38" name="tbl"/>
          <p:cNvGraphicFramePr>
            <a:graphicFrameLocks noGrp="1"/>
          </p:cNvGraphicFramePr>
          <p:nvPr>
            <p:extLst>
              <p:ext uri="{D42A27DB-BD31-4B8C-83A1-F6EECF244321}">
                <p14:modId xmlns:p14="http://schemas.microsoft.com/office/powerpoint/2010/main" val="1579011935"/>
              </p:ext>
            </p:extLst>
          </p:nvPr>
        </p:nvGraphicFramePr>
        <p:xfrm>
          <a:off x="457200" y="3886200"/>
          <a:ext cx="5532120" cy="914400"/>
        </p:xfrm>
        <a:graphic>
          <a:graphicData uri="http://schemas.openxmlformats.org/drawingml/2006/table">
            <a:tbl>
              <a:tblPr/>
              <a:tblGrid>
                <a:gridCol w="3886200"/>
                <a:gridCol w="1645920"/>
              </a:tblGrid>
              <a:tr h="329184">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株価が示す弱気の確率(定義)</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株価 139.56</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強気:ベース = 1:2 を固定して弱気の確率を逆算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ベースと弱気の 2 点</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98%</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DCF の値で定義1 と同じ計算</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71%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2" name="note"/>
          <p:cNvSpPr txBox="1"/>
          <p:nvPr/>
        </p:nvSpPr>
        <p:spPr>
          <a:xfrm>
            <a:off x="457200" y="5257800"/>
            <a:ext cx="5532120" cy="822960"/>
          </a:xfrm>
          <a:prstGeom prst="rect">
            <a:avLst/>
          </a:prstGeom>
          <a:noFill/>
          <a:ln/>
        </p:spPr>
        <p:txBody>
          <a:bodyPr wrap="square" lIns="508" tIns="508" rIns="508" bIns="508" rtlCol="0" anchor="t"/>
          <a:lstStyle/>
          <a:p>
            <a:pPr indent="0" marL="0">
              <a:buNone/>
            </a:pPr>
            <a:r>
              <a:rPr lang="en-US" sz="950" dirty="0">
                <a:solidFill>
                  <a:srgbClr val="333333"/>
                </a:solidFill>
                <a:latin typeface="Meiryo UI" pitchFamily="34" charset="0"/>
                <a:ea typeface="Meiryo UI" pitchFamily="34" charset="-122"/>
                <a:cs typeface="Meiryo UI" pitchFamily="34" charset="-120"/>
              </a:rPr>
              <a:t>市場は説明会の後も、株価を弱気シナリオの値(138 ドル)に置く。</a:t>
            </a:r>
            <a:endParaRPr lang="en-US" sz="950" dirty="0"/>
          </a:p>
          <a:p>
            <a:pPr indent="0" marL="0">
              <a:buNone/>
            </a:pPr>
            <a:r>
              <a:rPr lang="en-US" sz="950" dirty="0">
                <a:solidFill>
                  <a:srgbClr val="333333"/>
                </a:solidFill>
                <a:latin typeface="Meiryo UI" pitchFamily="34" charset="0"/>
                <a:ea typeface="Meiryo UI" pitchFamily="34" charset="-122"/>
                <a:cs typeface="Meiryo UI" pitchFamily="34" charset="-120"/>
              </a:rPr>
              <a:t>疑っているのは EPS ではなく、EPS が現金になるか(更新の山・格付け・OpenAI)</a:t>
            </a:r>
            <a:endParaRPr lang="en-US" sz="950" dirty="0"/>
          </a:p>
        </p:txBody>
      </p:sp>
      <p:sp>
        <p:nvSpPr>
          <p:cNvPr id="23"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構造の変化 → 数字への波及</a:t>
            </a:r>
            <a:endParaRPr lang="en-US" sz="1200" dirty="0"/>
          </a:p>
        </p:txBody>
      </p:sp>
      <p:graphicFrame>
        <p:nvGraphicFramePr>
          <p:cNvPr id="75" name="tbl_ripple"/>
          <p:cNvGraphicFramePr>
            <a:graphicFrameLocks noGrp="1"/>
          </p:cNvGraphicFramePr>
          <p:nvPr>
            <p:extLst>
              <p:ext uri="{D42A27DB-BD31-4B8C-83A1-F6EECF244321}">
                <p14:modId xmlns:p14="http://schemas.microsoft.com/office/powerpoint/2010/main" val="1579011935"/>
              </p:ext>
            </p:extLst>
          </p:nvPr>
        </p:nvGraphicFramePr>
        <p:xfrm>
          <a:off x="6199632" y="1810512"/>
          <a:ext cx="5532120" cy="914400"/>
        </p:xfrm>
        <a:graphic>
          <a:graphicData uri="http://schemas.openxmlformats.org/drawingml/2006/table">
            <a:tbl>
              <a:tblPr/>
              <a:tblGrid>
                <a:gridCol w="1965960"/>
                <a:gridCol w="1188720"/>
                <a:gridCol w="1188720"/>
                <a:gridCol w="118872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構造の変化</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ROIC</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需要の長さ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底堅さ</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前払い・持ち込み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進行中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逼迫前の長期リース</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FY47 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需要鈍化時は</a:t>
                      </a:r>
                      <a:endParaRPr lang="en-US" sz="900" dirty="0">
                        <a:latin typeface="Meiryo UI" charset="0"/>
                        <a:ea typeface="Meiryo UI" charset="0"/>
                        <a:cs typeface="Meiryo UI" charset="0"/>
                      </a:endParaRPr>
                    </a:p>
                    <a:p>
                      <a:pPr algn="ctr" indent="0" marL="0">
                        <a:buNone/>
                      </a:pPr>
                      <a:r>
                        <a:rPr lang="en-US" sz="900" dirty="0">
                          <a:solidFill>
                            <a:srgbClr val="C0392B"/>
                          </a:solidFill>
                          <a:latin typeface="Meiryo UI" pitchFamily="34" charset="0"/>
                          <a:ea typeface="Meiryo UI" pitchFamily="34" charset="-122"/>
                          <a:cs typeface="Meiryo UI" pitchFamily="34" charset="-120"/>
                        </a:rPr>
                        <a:t>固定費</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OpenAI への集中</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 2032 年まで</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392B"/>
                          </a:solidFill>
                          <a:latin typeface="Meiryo UI" pitchFamily="34" charset="0"/>
                          <a:ea typeface="Meiryo UI" pitchFamily="34" charset="-122"/>
                          <a:cs typeface="Meiryo UI" pitchFamily="34" charset="-120"/>
                        </a:rPr>
                        <a:t>↓ 2027〜</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SaaS へのエージェント組込み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Database@ の配置</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97A56"/>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5" name="pane_head"/>
          <p:cNvSpPr txBox="1"/>
          <p:nvPr/>
        </p:nvSpPr>
        <p:spPr>
          <a:xfrm>
            <a:off x="6199632" y="3840480"/>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カタリストの日程</a:t>
            </a:r>
            <a:endParaRPr lang="en-US" sz="1200" dirty="0"/>
          </a:p>
        </p:txBody>
      </p:sp>
      <p:graphicFrame>
        <p:nvGraphicFramePr>
          <p:cNvPr id="112" name="tbl_catalyst"/>
          <p:cNvGraphicFramePr>
            <a:graphicFrameLocks noGrp="1"/>
          </p:cNvGraphicFramePr>
          <p:nvPr>
            <p:extLst>
              <p:ext uri="{D42A27DB-BD31-4B8C-83A1-F6EECF244321}">
                <p14:modId xmlns:p14="http://schemas.microsoft.com/office/powerpoint/2010/main" val="1579011935"/>
              </p:ext>
            </p:extLst>
          </p:nvPr>
        </p:nvGraphicFramePr>
        <p:xfrm>
          <a:off x="6199632" y="4160520"/>
          <a:ext cx="5532120" cy="914400"/>
        </p:xfrm>
        <a:graphic>
          <a:graphicData uri="http://schemas.openxmlformats.org/drawingml/2006/table">
            <a:tbl>
              <a:tblPr/>
              <a:tblGrid>
                <a:gridCol w="1234440"/>
                <a:gridCol w="1828800"/>
                <a:gridCol w="2468880"/>
              </a:tblGrid>
              <a:tr h="310896">
                <a:tc>
                  <a:txBody>
                    <a:bodyPr/>
                    <a:lstStyle/>
                    <a:p>
                      <a:pPr algn="l" indent="0" marL="0">
                        <a:buNone/>
                      </a:pPr>
                      <a:r>
                        <a:rPr lang="en-US" sz="900" b="1" dirty="0">
                          <a:solidFill>
                            <a:srgbClr val="FFFFFF"/>
                          </a:solidFill>
                          <a:latin typeface="Meiryo UI" pitchFamily="34" charset="0"/>
                          <a:ea typeface="Meiryo UI" pitchFamily="34" charset="-122"/>
                          <a:cs typeface="Meiryo UI" pitchFamily="34" charset="-120"/>
                        </a:rPr>
                        <a:t>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カタリスト</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何が分かるか</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10/25〜28</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AI World 2026(日程は</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出典で 1 日ずれあり)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済み(10/28 Investor Day: FCF の時期と資金の上限を開示)</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12 月中旬</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Q2 FY27 決算</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capex の進み・営業 CF・前払い、</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納入 MW、AI 粗利率</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2027-02</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NM のガス管の稼働予定</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Jupiter(2.45GW)の時期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2027 前半</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OpenAI の大型資金調達</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支払能力</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900" dirty="0">
                          <a:solidFill>
                            <a:srgbClr val="333333"/>
                          </a:solidFill>
                          <a:latin typeface="Meiryo UI" pitchFamily="34" charset="0"/>
                          <a:ea typeface="Meiryo UI" pitchFamily="34" charset="-122"/>
                          <a:cs typeface="Meiryo UI" pitchFamily="34" charset="-120"/>
                        </a:rPr>
                        <a:t>FY29</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FCF 300 億ドル以上</a:t>
                      </a:r>
                      <a:endParaRPr lang="en-US" sz="900" dirty="0">
                        <a:latin typeface="Meiryo UI" charset="0"/>
                        <a:ea typeface="Meiryo UI" charset="0"/>
                        <a:cs typeface="Meiryo UI" charset="0"/>
                      </a:endParaRPr>
                    </a:p>
                    <a:p>
                      <a:pPr algn="ctr" indent="0" marL="0">
                        <a:buNone/>
                      </a:pPr>
                      <a:r>
                        <a:rPr lang="en-US" sz="900" dirty="0">
                          <a:solidFill>
                            <a:srgbClr val="333333"/>
                          </a:solidFill>
                          <a:latin typeface="Meiryo UI" pitchFamily="34" charset="0"/>
                          <a:ea typeface="Meiryo UI" pitchFamily="34" charset="-122"/>
                          <a:cs typeface="Meiryo UI" pitchFamily="34" charset="-120"/>
                        </a:rPr>
                        <a:t>(会社の約束)</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33"/>
                          </a:solidFill>
                          <a:latin typeface="Meiryo UI" pitchFamily="34" charset="0"/>
                          <a:ea typeface="Meiryo UI" pitchFamily="34" charset="-122"/>
                          <a:cs typeface="Meiryo UI" pitchFamily="34" charset="-120"/>
                        </a:rPr>
                        <a:t>格下げの回避</a:t>
                      </a:r>
                      <a:endParaRPr lang="en-US" sz="9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価値評価(1/3)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理論株価の土台になる将来 EPS の経路を、シナリオ別に示す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事業実態 EPS は会社の見通しの経路で 6.9 ドルから FY32 に 26 ドルへ</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年 30% 伸びる。弱気は FY31 に OpenAI の再販で落ち込む</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事業実態 EPS(非GAAP EPS − 株式報酬の税引後)、ドル。FY27〜30 は会社の見通し(FY27 8.10・FY30 21)× シナリオ比、FY31〜32 は需給エンジンの伸びで延長</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Investor Day 2026-10-28、コンセンサス(research5/U2)、需給エンジン第4.4版(calc/out/m9_fair.json)。過去の成長率は使っていない</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38</a:t>
            </a:r>
            <a:endParaRPr lang="en-US" sz="800" dirty="0"/>
          </a:p>
        </p:txBody>
      </p:sp>
      <p:graphicFrame>
        <p:nvGraphicFramePr>
          <p:cNvPr id="19" name="chart" descr=""/>
          <p:cNvGraphicFramePr/>
          <p:nvPr/>
        </p:nvGraphicFramePr>
        <p:xfrm>
          <a:off x="457200" y="1508760"/>
          <a:ext cx="7635240" cy="4572000"/>
        </p:xfrm>
        <a:graphic xmlns:a="http://schemas.openxmlformats.org/drawingml/2006/main">
          <a:graphicData uri="http://schemas.openxmlformats.org/drawingml/2006/chart">
            <c:chart xmlns:c="http://schemas.openxmlformats.org/drawingml/2006/chart" r:id="rId1"/>
          </a:graphicData>
        </a:graphic>
      </p:graphicFrame>
      <p:sp>
        <p:nvSpPr>
          <p:cNvPr id="20" name="ovl_takeaway_bg"/>
          <p:cNvSpPr/>
          <p:nvPr/>
        </p:nvSpPr>
        <p:spPr>
          <a:xfrm>
            <a:off x="8275320" y="1554480"/>
            <a:ext cx="3456432" cy="1234440"/>
          </a:xfrm>
          <a:prstGeom prst="rect">
            <a:avLst/>
          </a:prstGeom>
          <a:solidFill>
            <a:srgbClr val="EAF4EE"/>
          </a:solidFill>
          <a:ln w="12700">
            <a:solidFill>
              <a:srgbClr val="EAF4EE"/>
            </a:solidFill>
            <a:prstDash val="solid"/>
          </a:ln>
        </p:spPr>
      </p:sp>
      <p:sp>
        <p:nvSpPr>
          <p:cNvPr id="21" name="takeaway"/>
          <p:cNvSpPr txBox="1"/>
          <p:nvPr/>
        </p:nvSpPr>
        <p:spPr>
          <a:xfrm>
            <a:off x="8385048" y="1627632"/>
            <a:ext cx="3236976" cy="108813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ベースの 5 年 CAGR は 30.3%(PEG 0.67)。</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説明会前のコンセンサス(FY28 10.99・</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FY29 15.77)は会社の経路より 11〜18% 低い</a:t>
            </a:r>
            <a:endParaRPr lang="en-US" sz="1100" dirty="0"/>
          </a:p>
        </p:txBody>
      </p:sp>
      <p:sp>
        <p:nvSpPr>
          <p:cNvPr id="22" name="points"/>
          <p:cNvSpPr txBox="1"/>
          <p:nvPr/>
        </p:nvSpPr>
        <p:spPr>
          <a:xfrm>
            <a:off x="8275320" y="2926080"/>
            <a:ext cx="3456432" cy="3154680"/>
          </a:xfrm>
          <a:prstGeom prst="rect">
            <a:avLst/>
          </a:prstGeom>
          <a:noFill/>
          <a:ln/>
        </p:spPr>
        <p:txBody>
          <a:bodyPr wrap="square" lIns="508" tIns="508" rIns="508" bIns="508" rtlCol="0" anchor="t"/>
          <a:lstStyle/>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FY27→FY30 は会社の見通しを起点に置いた。</a:t>
            </a:r>
            <a:br/>
            <a:r>
              <a:rPr lang="en-US" sz="1050" dirty="0">
                <a:solidFill>
                  <a:srgbClr val="333333"/>
                </a:solidFill>
                <a:latin typeface="Meiryo UI" pitchFamily="34" charset="0"/>
                <a:ea typeface="Meiryo UI" pitchFamily="34" charset="-122"/>
                <a:cs typeface="Meiryo UI" pitchFamily="34" charset="-120"/>
              </a:rPr>
              <a:t>コンセンサスは説明会の前の値で遅れている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弱気の FY31: OpenAI 向けとみなす容量の 6 割を、需給緩和後の相場で再販して 7.4 ドルへ下がる</a:t>
            </a:r>
            <a:endParaRPr lang="en-US" sz="1050" dirty="0"/>
          </a:p>
          <a:p>
            <a:pPr marL="152400" indent="-152400">
              <a:spcAft>
                <a:spcPts val="400"/>
              </a:spcAft>
              <a:buSzPct val="100000"/>
              <a:buChar char="•"/>
            </a:pPr>
            <a:r>
              <a:rPr lang="en-US" sz="1050" dirty="0">
                <a:solidFill>
                  <a:srgbClr val="333333"/>
                </a:solidFill>
                <a:latin typeface="Meiryo UI" pitchFamily="34" charset="0"/>
                <a:ea typeface="Meiryo UI" pitchFamily="34" charset="-122"/>
                <a:cs typeface="Meiryo UI" pitchFamily="34" charset="-120"/>
              </a:rPr>
              <a:t>FY31・32 は延長部分で、</a:t>
            </a:r>
            <a:br/>
            <a:r>
              <a:rPr lang="en-US" sz="1050" dirty="0">
                <a:solidFill>
                  <a:srgbClr val="333333"/>
                </a:solidFill>
                <a:latin typeface="Meiryo UI" pitchFamily="34" charset="0"/>
                <a:ea typeface="Meiryo UI" pitchFamily="34" charset="-122"/>
                <a:cs typeface="Meiryo UI" pitchFamily="34" charset="-120"/>
              </a:rPr>
              <a:t>確度は FY27〜30 より低い</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価値評価(2/3)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構造評価から許容倍率を決め、年度別に当てて理論株価を出す手順を示す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構造評価 B は許容 PEG 1.0 に当たる。3 経路の妥当 PER を年度別に当て、</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近い年度を重くするとベース 233 ドル</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年度別理論株価 = Σ 重み × [ 妥当 PER × 翌年度の事業実態 EPS × 生存確率 を株主資本コスト 10.59% で今日へ割引 + 配当 ]</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需給エンジン第4.4版(calc/m9_fair.py、out/m9_fair.json)、銘柄分析メソッド valuation-model §3-3(構造評価 B の出発 PEG 1.0〜1.3)</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39</a:t>
            </a:r>
            <a:endParaRPr lang="en-US" sz="800" dirty="0"/>
          </a:p>
        </p:txBody>
      </p:sp>
      <p:sp>
        <p:nvSpPr>
          <p:cNvPr id="19" name="flow_h0"/>
          <p:cNvSpPr txBox="1"/>
          <p:nvPr/>
        </p:nvSpPr>
        <p:spPr>
          <a:xfrm>
            <a:off x="457200"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構造評価</a:t>
            </a:r>
            <a:endParaRPr lang="en-US" sz="1100" dirty="0"/>
          </a:p>
        </p:txBody>
      </p:sp>
      <p:sp>
        <p:nvSpPr>
          <p:cNvPr id="20" name="ovl_fbox0_0"/>
          <p:cNvSpPr/>
          <p:nvPr/>
        </p:nvSpPr>
        <p:spPr>
          <a:xfrm>
            <a:off x="457200" y="1865376"/>
            <a:ext cx="2036003" cy="731520"/>
          </a:xfrm>
          <a:prstGeom prst="roundRect">
            <a:avLst>
              <a:gd name="adj" fmla="val 7500"/>
            </a:avLst>
          </a:prstGeom>
          <a:solidFill>
            <a:srgbClr val="0E4D33"/>
          </a:solidFill>
          <a:ln w="9525">
            <a:solidFill>
              <a:srgbClr val="0E4D33"/>
            </a:solidFill>
            <a:prstDash val="solid"/>
          </a:ln>
        </p:spPr>
      </p:sp>
      <p:sp>
        <p:nvSpPr>
          <p:cNvPr id="21" name="flow_t0_0"/>
          <p:cNvSpPr txBox="1"/>
          <p:nvPr/>
        </p:nvSpPr>
        <p:spPr>
          <a:xfrm>
            <a:off x="530352"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B</a:t>
            </a:r>
            <a:endParaRPr lang="en-US" sz="2800" dirty="0"/>
          </a:p>
        </p:txBody>
      </p:sp>
      <p:sp>
        <p:nvSpPr>
          <p:cNvPr id="22" name="ovl_fbox0_1"/>
          <p:cNvSpPr/>
          <p:nvPr/>
        </p:nvSpPr>
        <p:spPr>
          <a:xfrm>
            <a:off x="457200" y="2706624"/>
            <a:ext cx="2036003" cy="502920"/>
          </a:xfrm>
          <a:prstGeom prst="roundRect">
            <a:avLst>
              <a:gd name="adj" fmla="val 10909"/>
            </a:avLst>
          </a:prstGeom>
          <a:solidFill>
            <a:srgbClr val="EAF4EE"/>
          </a:solidFill>
          <a:ln w="9525">
            <a:solidFill>
              <a:srgbClr val="EAF4EE"/>
            </a:solidFill>
            <a:prstDash val="solid"/>
          </a:ln>
        </p:spPr>
      </p:sp>
      <p:sp>
        <p:nvSpPr>
          <p:cNvPr id="23" name="flow_t0_1"/>
          <p:cNvSpPr txBox="1"/>
          <p:nvPr/>
        </p:nvSpPr>
        <p:spPr>
          <a:xfrm>
            <a:off x="530352"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出発 PEG 1.0〜1.3</a:t>
            </a:r>
            <a:endParaRPr lang="en-US" sz="1000" dirty="0"/>
          </a:p>
        </p:txBody>
      </p:sp>
      <p:sp>
        <p:nvSpPr>
          <p:cNvPr id="24" name="ovl_farrow0"/>
          <p:cNvSpPr/>
          <p:nvPr/>
        </p:nvSpPr>
        <p:spPr>
          <a:xfrm>
            <a:off x="2534351" y="2221992"/>
            <a:ext cx="192024" cy="365760"/>
          </a:xfrm>
          <a:prstGeom prst="rightArrow">
            <a:avLst/>
          </a:prstGeom>
          <a:solidFill>
            <a:srgbClr val="86C99B"/>
          </a:solidFill>
          <a:ln w="12700">
            <a:solidFill>
              <a:srgbClr val="86C99B"/>
            </a:solidFill>
            <a:prstDash val="solid"/>
          </a:ln>
        </p:spPr>
      </p:sp>
      <p:sp>
        <p:nvSpPr>
          <p:cNvPr id="25" name="flow_h1"/>
          <p:cNvSpPr txBox="1"/>
          <p:nvPr/>
        </p:nvSpPr>
        <p:spPr>
          <a:xfrm>
            <a:off x="2767523"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許容 PEG</a:t>
            </a:r>
            <a:endParaRPr lang="en-US" sz="1100" dirty="0"/>
          </a:p>
        </p:txBody>
      </p:sp>
      <p:sp>
        <p:nvSpPr>
          <p:cNvPr id="26" name="ovl_fbox1_0"/>
          <p:cNvSpPr/>
          <p:nvPr/>
        </p:nvSpPr>
        <p:spPr>
          <a:xfrm>
            <a:off x="2767523" y="1865376"/>
            <a:ext cx="2036003" cy="731520"/>
          </a:xfrm>
          <a:prstGeom prst="roundRect">
            <a:avLst>
              <a:gd name="adj" fmla="val 7500"/>
            </a:avLst>
          </a:prstGeom>
          <a:solidFill>
            <a:srgbClr val="197A56"/>
          </a:solidFill>
          <a:ln w="9525">
            <a:solidFill>
              <a:srgbClr val="197A56"/>
            </a:solidFill>
            <a:prstDash val="solid"/>
          </a:ln>
        </p:spPr>
      </p:sp>
      <p:sp>
        <p:nvSpPr>
          <p:cNvPr id="27" name="flow_t1_0"/>
          <p:cNvSpPr txBox="1"/>
          <p:nvPr/>
        </p:nvSpPr>
        <p:spPr>
          <a:xfrm>
            <a:off x="2840675" y="1901952"/>
            <a:ext cx="1889699" cy="658368"/>
          </a:xfrm>
          <a:prstGeom prst="rect">
            <a:avLst/>
          </a:prstGeom>
          <a:noFill/>
          <a:ln/>
        </p:spPr>
        <p:txBody>
          <a:bodyPr wrap="square" lIns="0" tIns="0" rIns="0" bIns="0" rtlCol="0" anchor="ctr"/>
          <a:lstStyle/>
          <a:p>
            <a:pPr algn="ctr" indent="0" marL="0">
              <a:buNone/>
            </a:pPr>
            <a:r>
              <a:rPr lang="en-US" sz="2800" b="1" dirty="0">
                <a:solidFill>
                  <a:srgbClr val="FFFFFF"/>
                </a:solidFill>
                <a:latin typeface="Meiryo UI" pitchFamily="34" charset="0"/>
                <a:ea typeface="Meiryo UI" pitchFamily="34" charset="-122"/>
                <a:cs typeface="Meiryo UI" pitchFamily="34" charset="-120"/>
              </a:rPr>
              <a:t>1.0</a:t>
            </a:r>
            <a:endParaRPr lang="en-US" sz="2800" dirty="0"/>
          </a:p>
        </p:txBody>
      </p:sp>
      <p:sp>
        <p:nvSpPr>
          <p:cNvPr id="28" name="ovl_fbox1_1"/>
          <p:cNvSpPr/>
          <p:nvPr/>
        </p:nvSpPr>
        <p:spPr>
          <a:xfrm>
            <a:off x="2767523" y="2706624"/>
            <a:ext cx="2036003" cy="502920"/>
          </a:xfrm>
          <a:prstGeom prst="roundRect">
            <a:avLst>
              <a:gd name="adj" fmla="val 10909"/>
            </a:avLst>
          </a:prstGeom>
          <a:solidFill>
            <a:srgbClr val="EAF4EE"/>
          </a:solidFill>
          <a:ln w="9525">
            <a:solidFill>
              <a:srgbClr val="EAF4EE"/>
            </a:solidFill>
            <a:prstDash val="solid"/>
          </a:ln>
        </p:spPr>
      </p:sp>
      <p:sp>
        <p:nvSpPr>
          <p:cNvPr id="29" name="flow_t1_1"/>
          <p:cNvSpPr txBox="1"/>
          <p:nvPr/>
        </p:nvSpPr>
        <p:spPr>
          <a:xfrm>
            <a:off x="2840675"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下限を採用</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(倍率は全シナリオ共通)</a:t>
            </a:r>
            <a:endParaRPr lang="en-US" sz="1000" dirty="0"/>
          </a:p>
        </p:txBody>
      </p:sp>
      <p:sp>
        <p:nvSpPr>
          <p:cNvPr id="30" name="ovl_farrow1"/>
          <p:cNvSpPr/>
          <p:nvPr/>
        </p:nvSpPr>
        <p:spPr>
          <a:xfrm>
            <a:off x="4844674" y="2221992"/>
            <a:ext cx="192024" cy="365760"/>
          </a:xfrm>
          <a:prstGeom prst="rightArrow">
            <a:avLst/>
          </a:prstGeom>
          <a:solidFill>
            <a:srgbClr val="86C99B"/>
          </a:solidFill>
          <a:ln w="12700">
            <a:solidFill>
              <a:srgbClr val="86C99B"/>
            </a:solidFill>
            <a:prstDash val="solid"/>
          </a:ln>
        </p:spPr>
      </p:sp>
      <p:sp>
        <p:nvSpPr>
          <p:cNvPr id="31" name="flow_h2"/>
          <p:cNvSpPr txBox="1"/>
          <p:nvPr/>
        </p:nvSpPr>
        <p:spPr>
          <a:xfrm>
            <a:off x="5077846"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妥当 PER(3 経路の平均)</a:t>
            </a:r>
            <a:endParaRPr lang="en-US" sz="1100" dirty="0"/>
          </a:p>
        </p:txBody>
      </p:sp>
      <p:sp>
        <p:nvSpPr>
          <p:cNvPr id="32" name="ovl_fbox2_0"/>
          <p:cNvSpPr/>
          <p:nvPr/>
        </p:nvSpPr>
        <p:spPr>
          <a:xfrm>
            <a:off x="5077846" y="1865376"/>
            <a:ext cx="2036003" cy="1280160"/>
          </a:xfrm>
          <a:prstGeom prst="roundRect">
            <a:avLst>
              <a:gd name="adj" fmla="val 4286"/>
            </a:avLst>
          </a:prstGeom>
          <a:solidFill>
            <a:srgbClr val="EAF4EE"/>
          </a:solidFill>
          <a:ln w="9525">
            <a:solidFill>
              <a:srgbClr val="EAF4EE"/>
            </a:solidFill>
            <a:prstDash val="solid"/>
          </a:ln>
        </p:spPr>
      </p:sp>
      <p:sp>
        <p:nvSpPr>
          <p:cNvPr id="33" name="flow_t2_0"/>
          <p:cNvSpPr txBox="1"/>
          <p:nvPr/>
        </p:nvSpPr>
        <p:spPr>
          <a:xfrm>
            <a:off x="5150998"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a 同業 23 倍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b PEG × 3 年成長率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c 需給エンジンの価値</a:t>
            </a:r>
            <a:endParaRPr lang="en-US" sz="1000" dirty="0"/>
          </a:p>
        </p:txBody>
      </p:sp>
      <p:sp>
        <p:nvSpPr>
          <p:cNvPr id="34" name="ovl_farrow2"/>
          <p:cNvSpPr/>
          <p:nvPr/>
        </p:nvSpPr>
        <p:spPr>
          <a:xfrm>
            <a:off x="7154997" y="2221992"/>
            <a:ext cx="192024" cy="365760"/>
          </a:xfrm>
          <a:prstGeom prst="rightArrow">
            <a:avLst/>
          </a:prstGeom>
          <a:solidFill>
            <a:srgbClr val="86C99B"/>
          </a:solidFill>
          <a:ln w="12700">
            <a:solidFill>
              <a:srgbClr val="86C99B"/>
            </a:solidFill>
            <a:prstDash val="solid"/>
          </a:ln>
        </p:spPr>
      </p:sp>
      <p:sp>
        <p:nvSpPr>
          <p:cNvPr id="35" name="flow_h3"/>
          <p:cNvSpPr txBox="1"/>
          <p:nvPr/>
        </p:nvSpPr>
        <p:spPr>
          <a:xfrm>
            <a:off x="7388169"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年度末の目標</a:t>
            </a:r>
            <a:endParaRPr lang="en-US" sz="1100" dirty="0"/>
          </a:p>
        </p:txBody>
      </p:sp>
      <p:sp>
        <p:nvSpPr>
          <p:cNvPr id="36" name="ovl_fbox3_0"/>
          <p:cNvSpPr/>
          <p:nvPr/>
        </p:nvSpPr>
        <p:spPr>
          <a:xfrm>
            <a:off x="7388169" y="1865376"/>
            <a:ext cx="2036003" cy="1280160"/>
          </a:xfrm>
          <a:prstGeom prst="roundRect">
            <a:avLst>
              <a:gd name="adj" fmla="val 4286"/>
            </a:avLst>
          </a:prstGeom>
          <a:solidFill>
            <a:srgbClr val="EAF4EE"/>
          </a:solidFill>
          <a:ln w="9525">
            <a:solidFill>
              <a:srgbClr val="EAF4EE"/>
            </a:solidFill>
            <a:prstDash val="solid"/>
          </a:ln>
        </p:spPr>
      </p:sp>
      <p:sp>
        <p:nvSpPr>
          <p:cNvPr id="37" name="flow_t3_0"/>
          <p:cNvSpPr txBox="1"/>
          <p:nvPr/>
        </p:nvSpPr>
        <p:spPr>
          <a:xfrm>
            <a:off x="7461321" y="1901952"/>
            <a:ext cx="1889699" cy="120700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PER × 翌年度 EPS ×</a:t>
            </a:r>
            <a:endParaRPr lang="en-US" sz="1000" dirty="0"/>
          </a:p>
          <a:p>
            <a:pPr algn="ctr" indent="0" marL="0">
              <a:buNone/>
            </a:pPr>
            <a:r>
              <a:rPr lang="en-US" sz="1000" dirty="0">
                <a:solidFill>
                  <a:srgbClr val="0E4D33"/>
                </a:solidFill>
                <a:latin typeface="Meiryo UI" pitchFamily="34" charset="0"/>
                <a:ea typeface="Meiryo UI" pitchFamily="34" charset="-122"/>
                <a:cs typeface="Meiryo UI" pitchFamily="34" charset="-120"/>
              </a:rPr>
              <a:t>生存確率</a:t>
            </a:r>
            <a:endParaRPr lang="en-US" sz="1000" dirty="0"/>
          </a:p>
        </p:txBody>
      </p:sp>
      <p:sp>
        <p:nvSpPr>
          <p:cNvPr id="38" name="ovl_farrow3"/>
          <p:cNvSpPr/>
          <p:nvPr/>
        </p:nvSpPr>
        <p:spPr>
          <a:xfrm>
            <a:off x="9465320" y="2221992"/>
            <a:ext cx="192024" cy="365760"/>
          </a:xfrm>
          <a:prstGeom prst="rightArrow">
            <a:avLst/>
          </a:prstGeom>
          <a:solidFill>
            <a:srgbClr val="86C99B"/>
          </a:solidFill>
          <a:ln w="12700">
            <a:solidFill>
              <a:srgbClr val="86C99B"/>
            </a:solidFill>
            <a:prstDash val="solid"/>
          </a:ln>
        </p:spPr>
      </p:sp>
      <p:sp>
        <p:nvSpPr>
          <p:cNvPr id="39" name="flow_h4"/>
          <p:cNvSpPr txBox="1"/>
          <p:nvPr/>
        </p:nvSpPr>
        <p:spPr>
          <a:xfrm>
            <a:off x="9698492" y="1481328"/>
            <a:ext cx="2036003" cy="292608"/>
          </a:xfrm>
          <a:prstGeom prst="rect">
            <a:avLst/>
          </a:prstGeom>
          <a:noFill/>
          <a:ln/>
        </p:spPr>
        <p:txBody>
          <a:bodyPr wrap="square" lIns="0" tIns="0" rIns="0" bIns="0" rtlCol="0" anchor="t"/>
          <a:lstStyle/>
          <a:p>
            <a:pPr algn="ctr" indent="0" marL="0">
              <a:buNone/>
            </a:pPr>
            <a:r>
              <a:rPr lang="en-US" sz="1100" b="1" dirty="0">
                <a:solidFill>
                  <a:srgbClr val="0E4D33"/>
                </a:solidFill>
                <a:latin typeface="Meiryo UI" pitchFamily="34" charset="0"/>
                <a:ea typeface="Meiryo UI" pitchFamily="34" charset="-122"/>
                <a:cs typeface="Meiryo UI" pitchFamily="34" charset="-120"/>
              </a:rPr>
              <a:t>理論株価</a:t>
            </a:r>
            <a:endParaRPr lang="en-US" sz="1100" dirty="0"/>
          </a:p>
        </p:txBody>
      </p:sp>
      <p:sp>
        <p:nvSpPr>
          <p:cNvPr id="40" name="ovl_fbox4_0"/>
          <p:cNvSpPr/>
          <p:nvPr/>
        </p:nvSpPr>
        <p:spPr>
          <a:xfrm>
            <a:off x="9698492" y="1865376"/>
            <a:ext cx="2036003" cy="731520"/>
          </a:xfrm>
          <a:prstGeom prst="roundRect">
            <a:avLst>
              <a:gd name="adj" fmla="val 7500"/>
            </a:avLst>
          </a:prstGeom>
          <a:solidFill>
            <a:srgbClr val="0E4D33"/>
          </a:solidFill>
          <a:ln w="9525">
            <a:solidFill>
              <a:srgbClr val="0E4D33"/>
            </a:solidFill>
            <a:prstDash val="solid"/>
          </a:ln>
        </p:spPr>
      </p:sp>
      <p:sp>
        <p:nvSpPr>
          <p:cNvPr id="41" name="flow_t4_0"/>
          <p:cNvSpPr txBox="1"/>
          <p:nvPr/>
        </p:nvSpPr>
        <p:spPr>
          <a:xfrm>
            <a:off x="9771644" y="1901952"/>
            <a:ext cx="1889699"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UI" pitchFamily="34" charset="0"/>
                <a:ea typeface="Meiryo UI" pitchFamily="34" charset="-122"/>
                <a:cs typeface="Meiryo UI" pitchFamily="34" charset="-120"/>
              </a:rPr>
              <a:t>233 ドル</a:t>
            </a:r>
            <a:endParaRPr lang="en-US" sz="2600" dirty="0"/>
          </a:p>
        </p:txBody>
      </p:sp>
      <p:sp>
        <p:nvSpPr>
          <p:cNvPr id="42" name="ovl_fbox4_1"/>
          <p:cNvSpPr/>
          <p:nvPr/>
        </p:nvSpPr>
        <p:spPr>
          <a:xfrm>
            <a:off x="9698492" y="2706624"/>
            <a:ext cx="2036003" cy="502920"/>
          </a:xfrm>
          <a:prstGeom prst="roundRect">
            <a:avLst>
              <a:gd name="adj" fmla="val 10909"/>
            </a:avLst>
          </a:prstGeom>
          <a:solidFill>
            <a:srgbClr val="EAF4EE"/>
          </a:solidFill>
          <a:ln w="9525">
            <a:solidFill>
              <a:srgbClr val="EAF4EE"/>
            </a:solidFill>
            <a:prstDash val="solid"/>
          </a:ln>
        </p:spPr>
      </p:sp>
      <p:sp>
        <p:nvSpPr>
          <p:cNvPr id="43" name="flow_t4_1"/>
          <p:cNvSpPr txBox="1"/>
          <p:nvPr/>
        </p:nvSpPr>
        <p:spPr>
          <a:xfrm>
            <a:off x="9771644" y="2743200"/>
            <a:ext cx="1889699" cy="429768"/>
          </a:xfrm>
          <a:prstGeom prst="rect">
            <a:avLst/>
          </a:prstGeom>
          <a:noFill/>
          <a:ln/>
        </p:spPr>
        <p:txBody>
          <a:bodyPr wrap="square" lIns="0" tIns="0" rIns="0" bIns="0" rtlCol="0" anchor="ctr"/>
          <a:lstStyle/>
          <a:p>
            <a:pPr algn="ctr" indent="0" marL="0">
              <a:buNone/>
            </a:pPr>
            <a:r>
              <a:rPr lang="en-US" sz="1000" dirty="0">
                <a:solidFill>
                  <a:srgbClr val="0E4D33"/>
                </a:solidFill>
                <a:latin typeface="Meiryo UI" pitchFamily="34" charset="0"/>
                <a:ea typeface="Meiryo UI" pitchFamily="34" charset="-122"/>
                <a:cs typeface="Meiryo UI" pitchFamily="34" charset="-120"/>
              </a:rPr>
              <a:t>加重 236・株価 139.56</a:t>
            </a:r>
            <a:endParaRPr lang="en-US" sz="1000" dirty="0"/>
          </a:p>
        </p:txBody>
      </p:sp>
      <p:graphicFrame>
        <p:nvGraphicFramePr>
          <p:cNvPr id="40" name="tbl"/>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371600"/>
                <a:gridCol w="1463040"/>
                <a:gridCol w="1280160"/>
                <a:gridCol w="1371600"/>
                <a:gridCol w="1371600"/>
                <a:gridCol w="1371600"/>
                <a:gridCol w="1463040"/>
                <a:gridCol w="1581912"/>
              </a:tblGrid>
              <a:tr h="329184">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年度末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翌年度 EPS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3年成長率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 同業 23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 PEG × 成長(PER)</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 エンジン</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目標(平均)</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今日の価値(重み)</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FY27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11.05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269(25.3)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229(40%)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FY28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17.81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396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228(13.2)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245(30%)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FY29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19.60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438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180(9.4)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257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292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226(20%)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FY30 末</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21.76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488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200(9.4)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281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323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227(10%)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29184">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ベース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33333"/>
                          </a:solidFill>
                          <a:latin typeface="Meiryo UI" pitchFamily="34" charset="0"/>
                          <a:ea typeface="Meiryo UI" pitchFamily="34" charset="-122"/>
                          <a:cs typeface="Meiryo UI" pitchFamily="34" charset="-120"/>
                        </a:rPr>
                        <a:t>233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45" name="bullets"/>
          <p:cNvSpPr txBox="1"/>
          <p:nvPr/>
        </p:nvSpPr>
        <p:spPr>
          <a:xfrm>
            <a:off x="457200" y="5349240"/>
            <a:ext cx="11274552" cy="7772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a・b は生存確率(倒産確率を反映)を掛けた後の値。b の成長率の上限 35%、下限は無成長の PER(1/株主資本コスト)</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c は需給エンジンの年度末の1株価値そのもの(エンジンの倍率をコンセンサス EPS に掛けない)</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株主資本コスト 10.59% = 5.02% + 株主β 1.32 × 4.23%(資産β 1.00、D/E 0.41)</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FY29・30 末は 3 年成長が 7% 前後に落ち、経路 b は下限の 9.4 倍(1 ÷ 株主資本コスト)。</a:t>
            </a:r>
            <a:br/>
            <a:r>
              <a:rPr lang="en-US" sz="950" dirty="0">
                <a:solidFill>
                  <a:srgbClr val="333333"/>
                </a:solidFill>
                <a:latin typeface="Meiryo UI" pitchFamily="34" charset="0"/>
                <a:ea typeface="Meiryo UI" pitchFamily="34" charset="-122"/>
                <a:cs typeface="Meiryo UI" pitchFamily="34" charset="-120"/>
              </a:rPr>
              <a:t>容量の頭打ちと FY33 の更新の山のため</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4-2 価値評価(3/3)</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価値評価</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前提がずれたとき理論株価がどれだけ動くか(頑健さ)を確かめる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確率加重の理論株価は 236 ドル。弱気の確率を 50% に上げても</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203 ドルで、株価を 46% 上回る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弱気シナリオの確率と理論株価(強気:ベース = 1:2 を固定)。右: 単独の前提を動かしたときの理論株価(加重)の変化</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需給エンジン第4.4版(calc/out/m9_fair.json・m9_extra.json・m9_more.json)</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40</a:t>
            </a:r>
            <a:endParaRPr lang="en-US" sz="800" dirty="0"/>
          </a:p>
        </p:txBody>
      </p:sp>
      <p:graphicFrame>
        <p:nvGraphicFramePr>
          <p:cNvPr id="19" name="chart" descr=""/>
          <p:cNvGraphicFramePr/>
          <p:nvPr/>
        </p:nvGraphicFramePr>
        <p:xfrm>
          <a:off x="457200" y="150876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20" name="ovl_price_line"/>
          <p:cNvSpPr/>
          <p:nvPr/>
        </p:nvSpPr>
        <p:spPr>
          <a:xfrm>
            <a:off x="918058" y="3605722"/>
            <a:ext cx="5184648" cy="914"/>
          </a:xfrm>
          <a:prstGeom prst="line">
            <a:avLst/>
          </a:prstGeom>
          <a:noFill/>
          <a:ln w="15875">
            <a:solidFill>
              <a:srgbClr val="C0392B"/>
            </a:solidFill>
            <a:prstDash val="dash"/>
          </a:ln>
        </p:spPr>
      </p:sp>
      <p:sp>
        <p:nvSpPr>
          <p:cNvPr id="21" name="ovl_price_t"/>
          <p:cNvSpPr txBox="1"/>
          <p:nvPr/>
        </p:nvSpPr>
        <p:spPr>
          <a:xfrm>
            <a:off x="4913986" y="3505138"/>
            <a:ext cx="1188720" cy="201168"/>
          </a:xfrm>
          <a:prstGeom prst="rect">
            <a:avLst/>
          </a:prstGeom>
          <a:solidFill>
            <a:srgbClr val="FFFFFF"/>
          </a:solidFill>
          <a:ln w="9525">
            <a:solidFill>
              <a:srgbClr val="C0392B"/>
            </a:solidFill>
          </a:ln>
        </p:spPr>
        <p:txBody>
          <a:bodyPr wrap="square" lIns="0" tIns="0" rIns="0" bIns="0" rtlCol="0" anchor="ctr"/>
          <a:lstStyle/>
          <a:p>
            <a:pPr algn="ctr" indent="0" marL="0">
              <a:buNone/>
            </a:pPr>
            <a:r>
              <a:rPr lang="en-US" sz="900" b="1" dirty="0">
                <a:solidFill>
                  <a:srgbClr val="C0392B"/>
                </a:solidFill>
                <a:latin typeface="Meiryo UI" pitchFamily="34" charset="0"/>
                <a:ea typeface="Meiryo UI" pitchFamily="34" charset="-122"/>
                <a:cs typeface="Meiryo UI" pitchFamily="34" charset="-120"/>
              </a:rPr>
              <a:t>株価 139.56 ドル</a:t>
            </a:r>
            <a:endParaRPr lang="en-US" sz="900" dirty="0"/>
          </a:p>
        </p:txBody>
      </p:sp>
      <p:sp>
        <p:nvSpPr>
          <p:cNvPr id="22" name="note"/>
          <p:cNvSpPr txBox="1"/>
          <p:nvPr/>
        </p:nvSpPr>
        <p:spPr>
          <a:xfrm>
            <a:off x="457200" y="5760720"/>
            <a:ext cx="5760720" cy="365760"/>
          </a:xfrm>
          <a:prstGeom prst="rect">
            <a:avLst/>
          </a:prstGeom>
          <a:noFill/>
          <a:ln/>
        </p:spPr>
        <p:txBody>
          <a:bodyPr wrap="square" lIns="508" tIns="508" rIns="508" bIns="508" rtlCol="0" anchor="t"/>
          <a:lstStyle/>
          <a:p>
            <a:pPr indent="0" marL="0">
              <a:buNone/>
            </a:pPr>
            <a:r>
              <a:rPr lang="en-US" sz="950" dirty="0">
                <a:solidFill>
                  <a:srgbClr val="767676"/>
                </a:solidFill>
                <a:latin typeface="Meiryo UI" pitchFamily="34" charset="0"/>
                <a:ea typeface="Meiryo UI" pitchFamily="34" charset="-122"/>
                <a:cs typeface="Meiryo UI" pitchFamily="34" charset="-120"/>
              </a:rPr>
              <a:t>株価 139.56 ドルに一致する弱気の確率は 71〜98%(定義により異なる)</a:t>
            </a:r>
            <a:endParaRPr lang="en-US" sz="950" dirty="0"/>
          </a:p>
        </p:txBody>
      </p:sp>
      <p:graphicFrame>
        <p:nvGraphicFramePr>
          <p:cNvPr id="41" name="tbl"/>
          <p:cNvGraphicFramePr>
            <a:graphicFrameLocks noGrp="1"/>
          </p:cNvGraphicFramePr>
          <p:nvPr>
            <p:extLst>
              <p:ext uri="{D42A27DB-BD31-4B8C-83A1-F6EECF244321}">
                <p14:modId xmlns:p14="http://schemas.microsoft.com/office/powerpoint/2010/main" val="1579011935"/>
              </p:ext>
            </p:extLst>
          </p:nvPr>
        </p:nvGraphicFramePr>
        <p:xfrm>
          <a:off x="6446520" y="1554480"/>
          <a:ext cx="5285232" cy="914400"/>
        </p:xfrm>
        <a:graphic>
          <a:graphicData uri="http://schemas.openxmlformats.org/drawingml/2006/table">
            <a:tbl>
              <a:tblPr/>
              <a:tblGrid>
                <a:gridCol w="3017520"/>
                <a:gridCol w="1133856"/>
                <a:gridCol w="1133856"/>
              </a:tblGrid>
              <a:tr h="384048">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前提(ベース → 変化)</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下側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上側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契約後の更新単価 ±20%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−10.0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逼迫の終わり −2 / +2 年</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同業 PER 20 / 26 倍</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PEG 0.8 / 1.2</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+11.3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EPS −10% / +10%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+16.4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重み FY27 末のみ / 均等</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84048">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金利 6% 高止まり / 予測どおり低下</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−8.4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24" name="ovl_takeaway_bg"/>
          <p:cNvSpPr/>
          <p:nvPr/>
        </p:nvSpPr>
        <p:spPr>
          <a:xfrm>
            <a:off x="6446520" y="4846320"/>
            <a:ext cx="5285232" cy="914400"/>
          </a:xfrm>
          <a:prstGeom prst="rect">
            <a:avLst/>
          </a:prstGeom>
          <a:solidFill>
            <a:srgbClr val="EAF4EE"/>
          </a:solidFill>
          <a:ln w="12700">
            <a:solidFill>
              <a:srgbClr val="EAF4EE"/>
            </a:solidFill>
            <a:prstDash val="solid"/>
          </a:ln>
        </p:spPr>
      </p:sp>
      <p:sp>
        <p:nvSpPr>
          <p:cNvPr id="25" name="takeaway"/>
          <p:cNvSpPr txBox="1"/>
          <p:nvPr/>
        </p:nvSpPr>
        <p:spPr>
          <a:xfrm>
            <a:off x="6556248" y="4919472"/>
            <a:ext cx="5065776" cy="76809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最も効くのは EPS・逼迫の長さ・同業 PER。</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どれを単独で動かしても理論株価は株価を 57% 以上上回る</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4-3 最終判断</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最終判断</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構造評価と価格の乖離を合わせ、投資判断とエントリー価格帯を決める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3 経路の乖離は +50〜+69% で表上「買い」だが、事前の引き上げ条件が</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未達のため「買い検討」を維持。株価は Z1(155 ドル)を下回る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構造評価 × 価格乖離の 2 軸マトリクス(valuation-model §4-1)、3 経路の乖離、非対称性、エントリー価格帯(scenario-strategy §6)</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需給エンジン第4.4版(calc/out/m9_fair.json・m9_extra.json)、銘柄分析メソッド</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41</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構造評価</a:t>
            </a:r>
            <a:endParaRPr lang="en-US" sz="900" dirty="0"/>
          </a:p>
        </p:txBody>
      </p:sp>
      <p:sp>
        <p:nvSpPr>
          <p:cNvPr id="20" name="mx_x0"/>
          <p:cNvSpPr txBox="1"/>
          <p:nvPr/>
        </p:nvSpPr>
        <p:spPr>
          <a:xfrm>
            <a:off x="14630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+30% 以上</a:t>
            </a:r>
            <a:endParaRPr lang="en-US" sz="950" dirty="0"/>
          </a:p>
        </p:txBody>
      </p:sp>
      <p:sp>
        <p:nvSpPr>
          <p:cNvPr id="21" name="mx_x1"/>
          <p:cNvSpPr txBox="1"/>
          <p:nvPr/>
        </p:nvSpPr>
        <p:spPr>
          <a:xfrm>
            <a:off x="27203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+10〜30%</a:t>
            </a:r>
            <a:endParaRPr lang="en-US" sz="950" dirty="0"/>
          </a:p>
        </p:txBody>
      </p:sp>
      <p:sp>
        <p:nvSpPr>
          <p:cNvPr id="22" name="mx_x2"/>
          <p:cNvSpPr txBox="1"/>
          <p:nvPr/>
        </p:nvSpPr>
        <p:spPr>
          <a:xfrm>
            <a:off x="39776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−10〜+10%</a:t>
            </a:r>
            <a:endParaRPr lang="en-US" sz="950" dirty="0"/>
          </a:p>
        </p:txBody>
      </p:sp>
      <p:sp>
        <p:nvSpPr>
          <p:cNvPr id="23" name="mx_x3"/>
          <p:cNvSpPr txBox="1"/>
          <p:nvPr/>
        </p:nvSpPr>
        <p:spPr>
          <a:xfrm>
            <a:off x="5234940" y="1554480"/>
            <a:ext cx="125730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−10% 未満</a:t>
            </a:r>
            <a:endParaRPr lang="en-US" sz="950" dirty="0"/>
          </a:p>
        </p:txBody>
      </p:sp>
      <p:sp>
        <p:nvSpPr>
          <p:cNvPr id="24" name="mx_y0"/>
          <p:cNvSpPr txBox="1"/>
          <p:nvPr/>
        </p:nvSpPr>
        <p:spPr>
          <a:xfrm>
            <a:off x="457200" y="19202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S・A</a:t>
            </a:r>
            <a:endParaRPr lang="en-US" sz="950" dirty="0"/>
          </a:p>
        </p:txBody>
      </p:sp>
      <p:sp>
        <p:nvSpPr>
          <p:cNvPr id="25" name="ovl_mx0_0"/>
          <p:cNvSpPr/>
          <p:nvPr/>
        </p:nvSpPr>
        <p:spPr>
          <a:xfrm>
            <a:off x="1463040" y="1920240"/>
            <a:ext cx="1220724" cy="649224"/>
          </a:xfrm>
          <a:prstGeom prst="rect">
            <a:avLst/>
          </a:prstGeom>
          <a:solidFill>
            <a:srgbClr val="FFFFFF"/>
          </a:solidFill>
          <a:ln w="9525">
            <a:solidFill>
              <a:srgbClr val="D9D9D9"/>
            </a:solidFill>
            <a:prstDash val="solid"/>
          </a:ln>
        </p:spPr>
      </p:sp>
      <p:sp>
        <p:nvSpPr>
          <p:cNvPr id="26" name="mx_t0_0"/>
          <p:cNvSpPr txBox="1"/>
          <p:nvPr/>
        </p:nvSpPr>
        <p:spPr>
          <a:xfrm>
            <a:off x="15087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7" name="ovl_mx1_0"/>
          <p:cNvSpPr/>
          <p:nvPr/>
        </p:nvSpPr>
        <p:spPr>
          <a:xfrm>
            <a:off x="2720340" y="1920240"/>
            <a:ext cx="1220724" cy="649224"/>
          </a:xfrm>
          <a:prstGeom prst="rect">
            <a:avLst/>
          </a:prstGeom>
          <a:solidFill>
            <a:srgbClr val="FFFFFF"/>
          </a:solidFill>
          <a:ln w="9525">
            <a:solidFill>
              <a:srgbClr val="D9D9D9"/>
            </a:solidFill>
            <a:prstDash val="solid"/>
          </a:ln>
        </p:spPr>
      </p:sp>
      <p:sp>
        <p:nvSpPr>
          <p:cNvPr id="28" name="mx_t1_0"/>
          <p:cNvSpPr txBox="1"/>
          <p:nvPr/>
        </p:nvSpPr>
        <p:spPr>
          <a:xfrm>
            <a:off x="27660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a:t>
            </a:r>
            <a:endParaRPr lang="en-US" sz="950" dirty="0"/>
          </a:p>
        </p:txBody>
      </p:sp>
      <p:sp>
        <p:nvSpPr>
          <p:cNvPr id="29" name="ovl_mx2_0"/>
          <p:cNvSpPr/>
          <p:nvPr/>
        </p:nvSpPr>
        <p:spPr>
          <a:xfrm>
            <a:off x="3977640" y="1920240"/>
            <a:ext cx="1220724" cy="649224"/>
          </a:xfrm>
          <a:prstGeom prst="rect">
            <a:avLst/>
          </a:prstGeom>
          <a:solidFill>
            <a:srgbClr val="FFFFFF"/>
          </a:solidFill>
          <a:ln w="9525">
            <a:solidFill>
              <a:srgbClr val="D9D9D9"/>
            </a:solidFill>
            <a:prstDash val="solid"/>
          </a:ln>
        </p:spPr>
      </p:sp>
      <p:sp>
        <p:nvSpPr>
          <p:cNvPr id="30" name="mx_t2_0"/>
          <p:cNvSpPr txBox="1"/>
          <p:nvPr/>
        </p:nvSpPr>
        <p:spPr>
          <a:xfrm>
            <a:off x="40233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1" name="ovl_mx3_0"/>
          <p:cNvSpPr/>
          <p:nvPr/>
        </p:nvSpPr>
        <p:spPr>
          <a:xfrm>
            <a:off x="5234940" y="1920240"/>
            <a:ext cx="1220724" cy="649224"/>
          </a:xfrm>
          <a:prstGeom prst="rect">
            <a:avLst/>
          </a:prstGeom>
          <a:solidFill>
            <a:srgbClr val="FFFFFF"/>
          </a:solidFill>
          <a:ln w="9525">
            <a:solidFill>
              <a:srgbClr val="D9D9D9"/>
            </a:solidFill>
            <a:prstDash val="solid"/>
          </a:ln>
        </p:spPr>
      </p:sp>
      <p:sp>
        <p:nvSpPr>
          <p:cNvPr id="32" name="mx_t3_0"/>
          <p:cNvSpPr txBox="1"/>
          <p:nvPr/>
        </p:nvSpPr>
        <p:spPr>
          <a:xfrm>
            <a:off x="5280660" y="19476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33" name="mx_y1"/>
          <p:cNvSpPr txBox="1"/>
          <p:nvPr/>
        </p:nvSpPr>
        <p:spPr>
          <a:xfrm>
            <a:off x="457200" y="26060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B</a:t>
            </a:r>
            <a:endParaRPr lang="en-US" sz="950" dirty="0"/>
          </a:p>
        </p:txBody>
      </p:sp>
      <p:sp>
        <p:nvSpPr>
          <p:cNvPr id="34" name="ovl_mx0_1"/>
          <p:cNvSpPr/>
          <p:nvPr/>
        </p:nvSpPr>
        <p:spPr>
          <a:xfrm>
            <a:off x="1463040" y="2606040"/>
            <a:ext cx="1220724" cy="649224"/>
          </a:xfrm>
          <a:prstGeom prst="rect">
            <a:avLst/>
          </a:prstGeom>
          <a:solidFill>
            <a:srgbClr val="197A56"/>
          </a:solidFill>
          <a:ln w="9525">
            <a:solidFill>
              <a:srgbClr val="D9D9D9"/>
            </a:solidFill>
            <a:prstDash val="solid"/>
          </a:ln>
        </p:spPr>
      </p:sp>
      <p:sp>
        <p:nvSpPr>
          <p:cNvPr id="35" name="mx_t0_1"/>
          <p:cNvSpPr txBox="1"/>
          <p:nvPr/>
        </p:nvSpPr>
        <p:spPr>
          <a:xfrm>
            <a:off x="1508760" y="2633472"/>
            <a:ext cx="1129284" cy="59436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買い</a:t>
            </a:r>
            <a:endParaRPr lang="en-US" sz="950" dirty="0"/>
          </a:p>
        </p:txBody>
      </p:sp>
      <p:sp>
        <p:nvSpPr>
          <p:cNvPr id="36" name="ovl_mx1_1"/>
          <p:cNvSpPr/>
          <p:nvPr/>
        </p:nvSpPr>
        <p:spPr>
          <a:xfrm>
            <a:off x="2720340" y="2606040"/>
            <a:ext cx="1220724" cy="649224"/>
          </a:xfrm>
          <a:prstGeom prst="rect">
            <a:avLst/>
          </a:prstGeom>
          <a:solidFill>
            <a:srgbClr val="FFFFFF"/>
          </a:solidFill>
          <a:ln w="9525">
            <a:solidFill>
              <a:srgbClr val="D9D9D9"/>
            </a:solidFill>
            <a:prstDash val="solid"/>
          </a:ln>
        </p:spPr>
      </p:sp>
      <p:sp>
        <p:nvSpPr>
          <p:cNvPr id="37" name="mx_t1_1"/>
          <p:cNvSpPr txBox="1"/>
          <p:nvPr/>
        </p:nvSpPr>
        <p:spPr>
          <a:xfrm>
            <a:off x="27660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38" name="ovl_mx2_1"/>
          <p:cNvSpPr/>
          <p:nvPr/>
        </p:nvSpPr>
        <p:spPr>
          <a:xfrm>
            <a:off x="3977640" y="2606040"/>
            <a:ext cx="1220724" cy="649224"/>
          </a:xfrm>
          <a:prstGeom prst="rect">
            <a:avLst/>
          </a:prstGeom>
          <a:solidFill>
            <a:srgbClr val="FFFFFF"/>
          </a:solidFill>
          <a:ln w="9525">
            <a:solidFill>
              <a:srgbClr val="D9D9D9"/>
            </a:solidFill>
            <a:prstDash val="solid"/>
          </a:ln>
        </p:spPr>
      </p:sp>
      <p:sp>
        <p:nvSpPr>
          <p:cNvPr id="39" name="mx_t2_1"/>
          <p:cNvSpPr txBox="1"/>
          <p:nvPr/>
        </p:nvSpPr>
        <p:spPr>
          <a:xfrm>
            <a:off x="40233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0" name="ovl_mx3_1"/>
          <p:cNvSpPr/>
          <p:nvPr/>
        </p:nvSpPr>
        <p:spPr>
          <a:xfrm>
            <a:off x="5234940" y="2606040"/>
            <a:ext cx="1220724" cy="649224"/>
          </a:xfrm>
          <a:prstGeom prst="rect">
            <a:avLst/>
          </a:prstGeom>
          <a:solidFill>
            <a:srgbClr val="FFFFFF"/>
          </a:solidFill>
          <a:ln w="9525">
            <a:solidFill>
              <a:srgbClr val="D9D9D9"/>
            </a:solidFill>
            <a:prstDash val="solid"/>
          </a:ln>
        </p:spPr>
      </p:sp>
      <p:sp>
        <p:nvSpPr>
          <p:cNvPr id="41" name="mx_t3_1"/>
          <p:cNvSpPr txBox="1"/>
          <p:nvPr/>
        </p:nvSpPr>
        <p:spPr>
          <a:xfrm>
            <a:off x="5280660" y="26334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42" name="mx_y2"/>
          <p:cNvSpPr txBox="1"/>
          <p:nvPr/>
        </p:nvSpPr>
        <p:spPr>
          <a:xfrm>
            <a:off x="457200" y="32918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C</a:t>
            </a:r>
            <a:endParaRPr lang="en-US" sz="950" dirty="0"/>
          </a:p>
        </p:txBody>
      </p:sp>
      <p:sp>
        <p:nvSpPr>
          <p:cNvPr id="43" name="ovl_mx0_2"/>
          <p:cNvSpPr/>
          <p:nvPr/>
        </p:nvSpPr>
        <p:spPr>
          <a:xfrm>
            <a:off x="1463040" y="3291840"/>
            <a:ext cx="1220724" cy="649224"/>
          </a:xfrm>
          <a:prstGeom prst="rect">
            <a:avLst/>
          </a:prstGeom>
          <a:solidFill>
            <a:srgbClr val="FFFFFF"/>
          </a:solidFill>
          <a:ln w="9525">
            <a:solidFill>
              <a:srgbClr val="D9D9D9"/>
            </a:solidFill>
            <a:prstDash val="solid"/>
          </a:ln>
        </p:spPr>
      </p:sp>
      <p:sp>
        <p:nvSpPr>
          <p:cNvPr id="44" name="mx_t0_2"/>
          <p:cNvSpPr txBox="1"/>
          <p:nvPr/>
        </p:nvSpPr>
        <p:spPr>
          <a:xfrm>
            <a:off x="15087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買い検討</a:t>
            </a:r>
            <a:endParaRPr lang="en-US" sz="950" dirty="0"/>
          </a:p>
        </p:txBody>
      </p:sp>
      <p:sp>
        <p:nvSpPr>
          <p:cNvPr id="45" name="ovl_mx1_2"/>
          <p:cNvSpPr/>
          <p:nvPr/>
        </p:nvSpPr>
        <p:spPr>
          <a:xfrm>
            <a:off x="2720340" y="3291840"/>
            <a:ext cx="1220724" cy="649224"/>
          </a:xfrm>
          <a:prstGeom prst="rect">
            <a:avLst/>
          </a:prstGeom>
          <a:solidFill>
            <a:srgbClr val="FFFFFF"/>
          </a:solidFill>
          <a:ln w="9525">
            <a:solidFill>
              <a:srgbClr val="D9D9D9"/>
            </a:solidFill>
            <a:prstDash val="solid"/>
          </a:ln>
        </p:spPr>
      </p:sp>
      <p:sp>
        <p:nvSpPr>
          <p:cNvPr id="46" name="mx_t1_2"/>
          <p:cNvSpPr txBox="1"/>
          <p:nvPr/>
        </p:nvSpPr>
        <p:spPr>
          <a:xfrm>
            <a:off x="27660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7" name="ovl_mx2_2"/>
          <p:cNvSpPr/>
          <p:nvPr/>
        </p:nvSpPr>
        <p:spPr>
          <a:xfrm>
            <a:off x="3977640" y="3291840"/>
            <a:ext cx="1220724" cy="649224"/>
          </a:xfrm>
          <a:prstGeom prst="rect">
            <a:avLst/>
          </a:prstGeom>
          <a:solidFill>
            <a:srgbClr val="FFFFFF"/>
          </a:solidFill>
          <a:ln w="9525">
            <a:solidFill>
              <a:srgbClr val="D9D9D9"/>
            </a:solidFill>
            <a:prstDash val="solid"/>
          </a:ln>
        </p:spPr>
      </p:sp>
      <p:sp>
        <p:nvSpPr>
          <p:cNvPr id="48" name="mx_t2_2"/>
          <p:cNvSpPr txBox="1"/>
          <p:nvPr/>
        </p:nvSpPr>
        <p:spPr>
          <a:xfrm>
            <a:off x="40233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監視</a:t>
            </a:r>
            <a:endParaRPr lang="en-US" sz="950" dirty="0"/>
          </a:p>
        </p:txBody>
      </p:sp>
      <p:sp>
        <p:nvSpPr>
          <p:cNvPr id="49" name="ovl_mx3_2"/>
          <p:cNvSpPr/>
          <p:nvPr/>
        </p:nvSpPr>
        <p:spPr>
          <a:xfrm>
            <a:off x="5234940" y="3291840"/>
            <a:ext cx="1220724" cy="649224"/>
          </a:xfrm>
          <a:prstGeom prst="rect">
            <a:avLst/>
          </a:prstGeom>
          <a:solidFill>
            <a:srgbClr val="FFFFFF"/>
          </a:solidFill>
          <a:ln w="9525">
            <a:solidFill>
              <a:srgbClr val="D9D9D9"/>
            </a:solidFill>
            <a:prstDash val="solid"/>
          </a:ln>
        </p:spPr>
      </p:sp>
      <p:sp>
        <p:nvSpPr>
          <p:cNvPr id="50" name="mx_t3_2"/>
          <p:cNvSpPr txBox="1"/>
          <p:nvPr/>
        </p:nvSpPr>
        <p:spPr>
          <a:xfrm>
            <a:off x="5280660" y="33192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1" name="mx_y3"/>
          <p:cNvSpPr txBox="1"/>
          <p:nvPr/>
        </p:nvSpPr>
        <p:spPr>
          <a:xfrm>
            <a:off x="457200" y="3977640"/>
            <a:ext cx="960120" cy="68580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D 以下</a:t>
            </a:r>
            <a:endParaRPr lang="en-US" sz="950" dirty="0"/>
          </a:p>
        </p:txBody>
      </p:sp>
      <p:sp>
        <p:nvSpPr>
          <p:cNvPr id="52" name="ovl_mx0_3"/>
          <p:cNvSpPr/>
          <p:nvPr/>
        </p:nvSpPr>
        <p:spPr>
          <a:xfrm>
            <a:off x="1463040" y="3977640"/>
            <a:ext cx="1220724" cy="649224"/>
          </a:xfrm>
          <a:prstGeom prst="rect">
            <a:avLst/>
          </a:prstGeom>
          <a:solidFill>
            <a:srgbClr val="FFFFFF"/>
          </a:solidFill>
          <a:ln w="9525">
            <a:solidFill>
              <a:srgbClr val="D9D9D9"/>
            </a:solidFill>
            <a:prstDash val="solid"/>
          </a:ln>
        </p:spPr>
      </p:sp>
      <p:sp>
        <p:nvSpPr>
          <p:cNvPr id="53" name="mx_t0_3"/>
          <p:cNvSpPr txBox="1"/>
          <p:nvPr/>
        </p:nvSpPr>
        <p:spPr>
          <a:xfrm>
            <a:off x="15087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4" name="ovl_mx1_3"/>
          <p:cNvSpPr/>
          <p:nvPr/>
        </p:nvSpPr>
        <p:spPr>
          <a:xfrm>
            <a:off x="2720340" y="3977640"/>
            <a:ext cx="1220724" cy="649224"/>
          </a:xfrm>
          <a:prstGeom prst="rect">
            <a:avLst/>
          </a:prstGeom>
          <a:solidFill>
            <a:srgbClr val="FFFFFF"/>
          </a:solidFill>
          <a:ln w="9525">
            <a:solidFill>
              <a:srgbClr val="D9D9D9"/>
            </a:solidFill>
            <a:prstDash val="solid"/>
          </a:ln>
        </p:spPr>
      </p:sp>
      <p:sp>
        <p:nvSpPr>
          <p:cNvPr id="55" name="mx_t1_3"/>
          <p:cNvSpPr txBox="1"/>
          <p:nvPr/>
        </p:nvSpPr>
        <p:spPr>
          <a:xfrm>
            <a:off x="27660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6" name="ovl_mx2_3"/>
          <p:cNvSpPr/>
          <p:nvPr/>
        </p:nvSpPr>
        <p:spPr>
          <a:xfrm>
            <a:off x="3977640" y="3977640"/>
            <a:ext cx="1220724" cy="649224"/>
          </a:xfrm>
          <a:prstGeom prst="rect">
            <a:avLst/>
          </a:prstGeom>
          <a:solidFill>
            <a:srgbClr val="FFFFFF"/>
          </a:solidFill>
          <a:ln w="9525">
            <a:solidFill>
              <a:srgbClr val="D9D9D9"/>
            </a:solidFill>
            <a:prstDash val="solid"/>
          </a:ln>
        </p:spPr>
      </p:sp>
      <p:sp>
        <p:nvSpPr>
          <p:cNvPr id="57" name="mx_t2_3"/>
          <p:cNvSpPr txBox="1"/>
          <p:nvPr/>
        </p:nvSpPr>
        <p:spPr>
          <a:xfrm>
            <a:off x="40233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58" name="ovl_mx3_3"/>
          <p:cNvSpPr/>
          <p:nvPr/>
        </p:nvSpPr>
        <p:spPr>
          <a:xfrm>
            <a:off x="5234940" y="3977640"/>
            <a:ext cx="1220724" cy="649224"/>
          </a:xfrm>
          <a:prstGeom prst="rect">
            <a:avLst/>
          </a:prstGeom>
          <a:solidFill>
            <a:srgbClr val="FFFFFF"/>
          </a:solidFill>
          <a:ln w="9525">
            <a:solidFill>
              <a:srgbClr val="D9D9D9"/>
            </a:solidFill>
            <a:prstDash val="solid"/>
          </a:ln>
        </p:spPr>
      </p:sp>
      <p:sp>
        <p:nvSpPr>
          <p:cNvPr id="59" name="mx_t3_3"/>
          <p:cNvSpPr txBox="1"/>
          <p:nvPr/>
        </p:nvSpPr>
        <p:spPr>
          <a:xfrm>
            <a:off x="5280660" y="4005072"/>
            <a:ext cx="1129284" cy="59436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見送り</a:t>
            </a:r>
            <a:endParaRPr lang="en-US" sz="950" dirty="0"/>
          </a:p>
        </p:txBody>
      </p:sp>
      <p:sp>
        <p:nvSpPr>
          <p:cNvPr id="60" name="mx_xt"/>
          <p:cNvSpPr txBox="1"/>
          <p:nvPr/>
        </p:nvSpPr>
        <p:spPr>
          <a:xfrm>
            <a:off x="1463040" y="4681728"/>
            <a:ext cx="502920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価格乖離(採用経路の理論株価 ÷ 株価 − 1)</a:t>
            </a:r>
            <a:endParaRPr lang="en-US" sz="900" dirty="0"/>
          </a:p>
        </p:txBody>
      </p:sp>
      <p:sp>
        <p:nvSpPr>
          <p:cNvPr id="61" name="ovl_takeaway_bg"/>
          <p:cNvSpPr/>
          <p:nvPr/>
        </p:nvSpPr>
        <p:spPr>
          <a:xfrm>
            <a:off x="457200" y="5010912"/>
            <a:ext cx="6035040" cy="731520"/>
          </a:xfrm>
          <a:prstGeom prst="rect">
            <a:avLst/>
          </a:prstGeom>
          <a:solidFill>
            <a:srgbClr val="EAF4EE"/>
          </a:solidFill>
          <a:ln w="12700">
            <a:solidFill>
              <a:srgbClr val="EAF4EE"/>
            </a:solidFill>
            <a:prstDash val="solid"/>
          </a:ln>
        </p:spPr>
      </p:sp>
      <p:sp>
        <p:nvSpPr>
          <p:cNvPr id="62" name="takeaway"/>
          <p:cNvSpPr txBox="1"/>
          <p:nvPr/>
        </p:nvSpPr>
        <p:spPr>
          <a:xfrm>
            <a:off x="566928" y="5084064"/>
            <a:ext cx="5815584" cy="5852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表上は「買い」。事前に決めた引き上げ条件(判別 KPI 2 つ以上)が</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未達のため「買い検討」を維持。株価は Z1 を下回り、分割の 2 回目までを実行する</a:t>
            </a:r>
            <a:endParaRPr lang="en-US" sz="1100" dirty="0"/>
          </a:p>
        </p:txBody>
      </p:sp>
      <p:graphicFrame>
        <p:nvGraphicFramePr>
          <p:cNvPr id="42" name="tbl"/>
          <p:cNvGraphicFramePr>
            <a:graphicFrameLocks noGrp="1"/>
          </p:cNvGraphicFramePr>
          <p:nvPr>
            <p:extLst>
              <p:ext uri="{D42A27DB-BD31-4B8C-83A1-F6EECF244321}">
                <p14:modId xmlns:p14="http://schemas.microsoft.com/office/powerpoint/2010/main" val="1579011935"/>
              </p:ext>
            </p:extLst>
          </p:nvPr>
        </p:nvGraphicFramePr>
        <p:xfrm>
          <a:off x="6720840" y="155448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経路</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乖離</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会社(FY30 EPS 21・採用)</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236</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+69%</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コンセンサス</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228</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需給エンジンの EPS</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227</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+63%</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DCF(照合)</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210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+50%</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83" name="tbl"/>
          <p:cNvGraphicFramePr>
            <a:graphicFrameLocks noGrp="1"/>
          </p:cNvGraphicFramePr>
          <p:nvPr>
            <p:extLst>
              <p:ext uri="{D42A27DB-BD31-4B8C-83A1-F6EECF244321}">
                <p14:modId xmlns:p14="http://schemas.microsoft.com/office/powerpoint/2010/main" val="1579011935"/>
              </p:ext>
            </p:extLst>
          </p:nvPr>
        </p:nvGraphicFramePr>
        <p:xfrm>
          <a:off x="6720840" y="3291840"/>
          <a:ext cx="5010912" cy="914400"/>
        </p:xfrm>
        <a:graphic>
          <a:graphicData uri="http://schemas.openxmlformats.org/drawingml/2006/table">
            <a:tbl>
              <a:tblPr/>
              <a:tblGrid>
                <a:gridCol w="2194560"/>
                <a:gridCol w="1371600"/>
                <a:gridCol w="1444752"/>
              </a:tblGrid>
              <a:tr h="310896">
                <a:tc>
                  <a:txBody>
                    <a:bodyPr/>
                    <a:lstStyle/>
                    <a:p>
                      <a:pPr algn="l" indent="0" marL="0">
                        <a:buNone/>
                      </a:pPr>
                      <a:r>
                        <a:rPr lang="en-US" sz="1000" b="1" dirty="0">
                          <a:solidFill>
                            <a:srgbClr val="FFFFFF"/>
                          </a:solidFill>
                          <a:latin typeface="Meiryo UI" pitchFamily="34" charset="0"/>
                          <a:ea typeface="Meiryo UI" pitchFamily="34" charset="-122"/>
                          <a:cs typeface="Meiryo UI" pitchFamily="34" charset="-120"/>
                        </a:rPr>
                        <a:t>非対称性</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理論株価</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DCF</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下値(弱気)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138(−1%)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96(−31%)</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333333"/>
                          </a:solidFill>
                          <a:latin typeface="Meiryo UI" pitchFamily="34" charset="0"/>
                          <a:ea typeface="Meiryo UI" pitchFamily="34" charset="-122"/>
                          <a:cs typeface="Meiryo UI" pitchFamily="34" charset="-120"/>
                        </a:rPr>
                        <a:t>上値(強気)</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340(+144%)</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000" dirty="0">
                          <a:solidFill>
                            <a:srgbClr val="333333"/>
                          </a:solidFill>
                          <a:latin typeface="Meiryo UI" pitchFamily="34" charset="0"/>
                          <a:ea typeface="Meiryo UI" pitchFamily="34" charset="-122"/>
                          <a:cs typeface="Meiryo UI" pitchFamily="34" charset="-120"/>
                        </a:rPr>
                        <a:t>343(+145%)</a:t>
                      </a:r>
                      <a:endParaRPr lang="en-US" sz="100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65" name="bullets"/>
          <p:cNvSpPr txBox="1"/>
          <p:nvPr/>
        </p:nvSpPr>
        <p:spPr>
          <a:xfrm>
            <a:off x="6720840" y="4343400"/>
            <a:ext cx="5010912" cy="1371600"/>
          </a:xfrm>
          <a:prstGeom prst="rect">
            <a:avLst/>
          </a:prstGeom>
          <a:noFill/>
          <a:ln/>
        </p:spPr>
        <p:txBody>
          <a:bodyPr wrap="square" lIns="508" tIns="508" rIns="508" bIns="508" rtlCol="0" anchor="t"/>
          <a:lstStyle/>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α 25%(構造 B の上端。争点が未解決のため)</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即エントリー上限 Z1 = min(233×0.75, 138×1.125)= 155</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分割エントリー上限 Z2 = 233×0.875 = 204 → 株価 139.56 は Z1 を下回る</a:t>
            </a:r>
            <a:endParaRPr lang="en-US" sz="1000" dirty="0"/>
          </a:p>
          <a:p>
            <a:pPr marL="152400" indent="-152400">
              <a:spcAft>
                <a:spcPts val="400"/>
              </a:spcAft>
              <a:buSzPct val="100000"/>
              <a:buChar char="•"/>
            </a:pPr>
            <a:r>
              <a:rPr lang="en-US" sz="1000" dirty="0">
                <a:solidFill>
                  <a:srgbClr val="333333"/>
                </a:solidFill>
                <a:latin typeface="Meiryo UI" pitchFamily="34" charset="0"/>
                <a:ea typeface="Meiryo UI" pitchFamily="34" charset="-122"/>
                <a:cs typeface="Meiryo UI" pitchFamily="34" charset="-120"/>
              </a:rPr>
              <a:t>差分が確立するまで即エントリー圏は設けない</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4-4 リスク</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リスク</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判断を覆しうる事象と、その兆候を先に決めておく</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最大のリスクは OpenAI の支払能力と FY33 の更新の山で、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兆候は 12 月の Q2 決算と契約後の更新単価に出る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発生確率 × 影響(本体評価に組み込んだリスクとテールリスク)。右: 兆候とトリガー</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report/ORCL_report.md §12-2(テールリスクの確率は 3 年)、本資料 第3章の監視 KPI</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42</a:t>
            </a:r>
            <a:endParaRPr lang="en-US" sz="800" dirty="0"/>
          </a:p>
        </p:txBody>
      </p:sp>
      <p:sp>
        <p:nvSpPr>
          <p:cNvPr id="19" name="mx_yt"/>
          <p:cNvSpPr txBox="1"/>
          <p:nvPr/>
        </p:nvSpPr>
        <p:spPr>
          <a:xfrm>
            <a:off x="457200" y="1554480"/>
            <a:ext cx="1005840" cy="365760"/>
          </a:xfrm>
          <a:prstGeom prst="rect">
            <a:avLst/>
          </a:prstGeom>
          <a:noFill/>
          <a:ln/>
        </p:spPr>
        <p:txBody>
          <a:bodyPr wrap="square" lIns="0" tIns="0" rIns="0" bIns="0" rtlCol="0" anchor="b"/>
          <a:lstStyle/>
          <a:p>
            <a:pPr indent="0" marL="0">
              <a:buNone/>
            </a:pPr>
            <a:r>
              <a:rPr lang="en-US" sz="900" dirty="0">
                <a:solidFill>
                  <a:srgbClr val="767676"/>
                </a:solidFill>
                <a:latin typeface="Meiryo UI" pitchFamily="34" charset="0"/>
                <a:ea typeface="Meiryo UI" pitchFamily="34" charset="-122"/>
                <a:cs typeface="Meiryo UI" pitchFamily="34" charset="-120"/>
              </a:rPr>
              <a:t>発生確率</a:t>
            </a:r>
            <a:endParaRPr lang="en-US" sz="900" dirty="0"/>
          </a:p>
        </p:txBody>
      </p:sp>
      <p:sp>
        <p:nvSpPr>
          <p:cNvPr id="20" name="mx_x0"/>
          <p:cNvSpPr txBox="1"/>
          <p:nvPr/>
        </p:nvSpPr>
        <p:spPr>
          <a:xfrm>
            <a:off x="146304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中</a:t>
            </a:r>
            <a:endParaRPr lang="en-US" sz="950" dirty="0"/>
          </a:p>
        </p:txBody>
      </p:sp>
      <p:sp>
        <p:nvSpPr>
          <p:cNvPr id="21" name="mx_x1"/>
          <p:cNvSpPr txBox="1"/>
          <p:nvPr/>
        </p:nvSpPr>
        <p:spPr>
          <a:xfrm>
            <a:off x="307848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大</a:t>
            </a:r>
            <a:endParaRPr lang="en-US" sz="950" dirty="0"/>
          </a:p>
        </p:txBody>
      </p:sp>
      <p:sp>
        <p:nvSpPr>
          <p:cNvPr id="22" name="mx_x2"/>
          <p:cNvSpPr txBox="1"/>
          <p:nvPr/>
        </p:nvSpPr>
        <p:spPr>
          <a:xfrm>
            <a:off x="4693920" y="1554480"/>
            <a:ext cx="1615440" cy="365760"/>
          </a:xfrm>
          <a:prstGeom prst="rect">
            <a:avLst/>
          </a:prstGeom>
          <a:noFill/>
          <a:ln/>
        </p:spPr>
        <p:txBody>
          <a:bodyPr wrap="square" lIns="0" tIns="0" rIns="0" bIns="0" rtlCol="0" anchor="b"/>
          <a:lstStyle/>
          <a:p>
            <a:pPr algn="ctr" indent="0" marL="0">
              <a:buNone/>
            </a:pPr>
            <a:r>
              <a:rPr lang="en-US" sz="950" b="1" dirty="0">
                <a:solidFill>
                  <a:srgbClr val="0E4D33"/>
                </a:solidFill>
                <a:latin typeface="Meiryo UI" pitchFamily="34" charset="0"/>
                <a:ea typeface="Meiryo UI" pitchFamily="34" charset="-122"/>
                <a:cs typeface="Meiryo UI" pitchFamily="34" charset="-120"/>
              </a:rPr>
              <a:t>影響 極大</a:t>
            </a:r>
            <a:endParaRPr lang="en-US" sz="950" dirty="0"/>
          </a:p>
        </p:txBody>
      </p:sp>
      <p:sp>
        <p:nvSpPr>
          <p:cNvPr id="23" name="mx_y0"/>
          <p:cNvSpPr txBox="1"/>
          <p:nvPr/>
        </p:nvSpPr>
        <p:spPr>
          <a:xfrm>
            <a:off x="457200" y="192024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中</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(本体に</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組込み)</a:t>
            </a:r>
            <a:endParaRPr lang="en-US" sz="950" dirty="0"/>
          </a:p>
        </p:txBody>
      </p:sp>
      <p:sp>
        <p:nvSpPr>
          <p:cNvPr id="24" name="ovl_mx0_0"/>
          <p:cNvSpPr/>
          <p:nvPr/>
        </p:nvSpPr>
        <p:spPr>
          <a:xfrm>
            <a:off x="1463040" y="1920240"/>
            <a:ext cx="1578864" cy="1426464"/>
          </a:xfrm>
          <a:prstGeom prst="rect">
            <a:avLst/>
          </a:prstGeom>
          <a:solidFill>
            <a:srgbClr val="FFFFFF"/>
          </a:solidFill>
          <a:ln w="9525">
            <a:solidFill>
              <a:srgbClr val="D9D9D9"/>
            </a:solidFill>
            <a:prstDash val="solid"/>
          </a:ln>
        </p:spPr>
      </p:sp>
      <p:sp>
        <p:nvSpPr>
          <p:cNvPr id="25" name="mx_t0_0"/>
          <p:cNvSpPr txBox="1"/>
          <p:nvPr/>
        </p:nvSpPr>
        <p:spPr>
          <a:xfrm>
            <a:off x="150876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電力と拠点の遅延・</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資金調達と希薄化</a:t>
            </a:r>
            <a:endParaRPr lang="en-US" sz="950" dirty="0"/>
          </a:p>
        </p:txBody>
      </p:sp>
      <p:sp>
        <p:nvSpPr>
          <p:cNvPr id="26" name="ovl_mx1_0"/>
          <p:cNvSpPr/>
          <p:nvPr/>
        </p:nvSpPr>
        <p:spPr>
          <a:xfrm>
            <a:off x="3078480" y="1920240"/>
            <a:ext cx="1578864" cy="1426464"/>
          </a:xfrm>
          <a:prstGeom prst="rect">
            <a:avLst/>
          </a:prstGeom>
          <a:solidFill>
            <a:srgbClr val="197A56"/>
          </a:solidFill>
          <a:ln w="9525">
            <a:solidFill>
              <a:srgbClr val="D9D9D9"/>
            </a:solidFill>
            <a:prstDash val="solid"/>
          </a:ln>
        </p:spPr>
      </p:sp>
      <p:sp>
        <p:nvSpPr>
          <p:cNvPr id="27" name="mx_t1_0"/>
          <p:cNvSpPr txBox="1"/>
          <p:nvPr/>
        </p:nvSpPr>
        <p:spPr>
          <a:xfrm>
            <a:off x="3124200" y="1947672"/>
            <a:ext cx="1487424" cy="1371600"/>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OpenAI の支払能力・GPU の陳腐化と単価下落</a:t>
            </a:r>
            <a:endParaRPr lang="en-US" sz="950" dirty="0"/>
          </a:p>
        </p:txBody>
      </p:sp>
      <p:sp>
        <p:nvSpPr>
          <p:cNvPr id="28" name="ovl_mx2_0"/>
          <p:cNvSpPr/>
          <p:nvPr/>
        </p:nvSpPr>
        <p:spPr>
          <a:xfrm>
            <a:off x="4693920" y="1920240"/>
            <a:ext cx="1578864" cy="1426464"/>
          </a:xfrm>
          <a:prstGeom prst="rect">
            <a:avLst/>
          </a:prstGeom>
          <a:solidFill>
            <a:srgbClr val="FFFFFF"/>
          </a:solidFill>
          <a:ln w="9525">
            <a:solidFill>
              <a:srgbClr val="D9D9D9"/>
            </a:solidFill>
            <a:prstDash val="solid"/>
          </a:ln>
        </p:spPr>
      </p:sp>
      <p:sp>
        <p:nvSpPr>
          <p:cNvPr id="29" name="mx_t2_0"/>
          <p:cNvSpPr txBox="1"/>
          <p:nvPr/>
        </p:nvSpPr>
        <p:spPr>
          <a:xfrm>
            <a:off x="4739640" y="194767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t>
            </a:r>
            <a:endParaRPr lang="en-US" sz="950" dirty="0"/>
          </a:p>
        </p:txBody>
      </p:sp>
      <p:sp>
        <p:nvSpPr>
          <p:cNvPr id="30" name="mx_y1"/>
          <p:cNvSpPr txBox="1"/>
          <p:nvPr/>
        </p:nvSpPr>
        <p:spPr>
          <a:xfrm>
            <a:off x="457200" y="3383280"/>
            <a:ext cx="960120" cy="1463040"/>
          </a:xfrm>
          <a:prstGeom prst="rect">
            <a:avLst/>
          </a:prstGeom>
          <a:noFill/>
          <a:ln/>
        </p:spPr>
        <p:txBody>
          <a:bodyPr wrap="square" lIns="0" tIns="0" rIns="0" bIns="0" rtlCol="0" anchor="ctr"/>
          <a:lstStyle/>
          <a:p>
            <a:pPr indent="0" marL="0">
              <a:buNone/>
            </a:pPr>
            <a:r>
              <a:rPr lang="en-US" sz="950" b="1" dirty="0">
                <a:solidFill>
                  <a:srgbClr val="0E4D33"/>
                </a:solidFill>
                <a:latin typeface="Meiryo UI" pitchFamily="34" charset="0"/>
                <a:ea typeface="Meiryo UI" pitchFamily="34" charset="-122"/>
                <a:cs typeface="Meiryo UI" pitchFamily="34" charset="-120"/>
              </a:rPr>
              <a:t>確率 低</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(テール 3 年で</a:t>
            </a:r>
            <a:endParaRPr lang="en-US" sz="950" dirty="0"/>
          </a:p>
          <a:p>
            <a:pPr indent="0" marL="0">
              <a:buNone/>
            </a:pPr>
            <a:r>
              <a:rPr lang="en-US" sz="950" b="1" dirty="0">
                <a:solidFill>
                  <a:srgbClr val="0E4D33"/>
                </a:solidFill>
                <a:latin typeface="Meiryo UI" pitchFamily="34" charset="0"/>
                <a:ea typeface="Meiryo UI" pitchFamily="34" charset="-122"/>
                <a:cs typeface="Meiryo UI" pitchFamily="34" charset="-120"/>
              </a:rPr>
              <a:t>5〜10%)</a:t>
            </a:r>
            <a:endParaRPr lang="en-US" sz="950" dirty="0"/>
          </a:p>
        </p:txBody>
      </p:sp>
      <p:sp>
        <p:nvSpPr>
          <p:cNvPr id="31" name="ovl_mx0_1"/>
          <p:cNvSpPr/>
          <p:nvPr/>
        </p:nvSpPr>
        <p:spPr>
          <a:xfrm>
            <a:off x="1463040" y="3383280"/>
            <a:ext cx="1578864" cy="1426464"/>
          </a:xfrm>
          <a:prstGeom prst="rect">
            <a:avLst/>
          </a:prstGeom>
          <a:solidFill>
            <a:srgbClr val="FFFFFF"/>
          </a:solidFill>
          <a:ln w="9525">
            <a:solidFill>
              <a:srgbClr val="D9D9D9"/>
            </a:solidFill>
            <a:prstDash val="solid"/>
          </a:ln>
        </p:spPr>
      </p:sp>
      <p:sp>
        <p:nvSpPr>
          <p:cNvPr id="32" name="mx_t0_1"/>
          <p:cNvSpPr txBox="1"/>
          <p:nvPr/>
        </p:nvSpPr>
        <p:spPr>
          <a:xfrm>
            <a:off x="150876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キーパーソン(5%)</a:t>
            </a:r>
            <a:endParaRPr lang="en-US" sz="950" dirty="0"/>
          </a:p>
        </p:txBody>
      </p:sp>
      <p:sp>
        <p:nvSpPr>
          <p:cNvPr id="33" name="ovl_mx1_1"/>
          <p:cNvSpPr/>
          <p:nvPr/>
        </p:nvSpPr>
        <p:spPr>
          <a:xfrm>
            <a:off x="3078480" y="3383280"/>
            <a:ext cx="1578864" cy="1426464"/>
          </a:xfrm>
          <a:prstGeom prst="rect">
            <a:avLst/>
          </a:prstGeom>
          <a:solidFill>
            <a:srgbClr val="FFFFFF"/>
          </a:solidFill>
          <a:ln w="9525">
            <a:solidFill>
              <a:srgbClr val="D9D9D9"/>
            </a:solidFill>
            <a:prstDash val="solid"/>
          </a:ln>
        </p:spPr>
      </p:sp>
      <p:sp>
        <p:nvSpPr>
          <p:cNvPr id="34" name="mx_t1_1"/>
          <p:cNvSpPr txBox="1"/>
          <p:nvPr/>
        </p:nvSpPr>
        <p:spPr>
          <a:xfrm>
            <a:off x="312420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電力規制(5〜10%)・</a:t>
            </a:r>
            <a:endParaRPr lang="en-US" sz="950" dirty="0"/>
          </a:p>
          <a:p>
            <a:pPr algn="ctr" indent="0" marL="0">
              <a:buNone/>
            </a:pPr>
            <a:r>
              <a:rPr lang="en-US" sz="950" dirty="0">
                <a:solidFill>
                  <a:srgbClr val="333333"/>
                </a:solidFill>
                <a:latin typeface="Meiryo UI" pitchFamily="34" charset="0"/>
                <a:ea typeface="Meiryo UI" pitchFamily="34" charset="-122"/>
                <a:cs typeface="Meiryo UI" pitchFamily="34" charset="-120"/>
              </a:rPr>
              <a:t>地政学(5%)</a:t>
            </a:r>
            <a:endParaRPr lang="en-US" sz="950" dirty="0"/>
          </a:p>
        </p:txBody>
      </p:sp>
      <p:sp>
        <p:nvSpPr>
          <p:cNvPr id="35" name="ovl_mx2_1"/>
          <p:cNvSpPr/>
          <p:nvPr/>
        </p:nvSpPr>
        <p:spPr>
          <a:xfrm>
            <a:off x="4693920" y="3383280"/>
            <a:ext cx="1578864" cy="1426464"/>
          </a:xfrm>
          <a:prstGeom prst="rect">
            <a:avLst/>
          </a:prstGeom>
          <a:solidFill>
            <a:srgbClr val="FFFFFF"/>
          </a:solidFill>
          <a:ln w="9525">
            <a:solidFill>
              <a:srgbClr val="D9D9D9"/>
            </a:solidFill>
            <a:prstDash val="solid"/>
          </a:ln>
        </p:spPr>
      </p:sp>
      <p:sp>
        <p:nvSpPr>
          <p:cNvPr id="36" name="mx_t2_1"/>
          <p:cNvSpPr txBox="1"/>
          <p:nvPr/>
        </p:nvSpPr>
        <p:spPr>
          <a:xfrm>
            <a:off x="4739640" y="3410712"/>
            <a:ext cx="1487424" cy="1371600"/>
          </a:xfrm>
          <a:prstGeom prst="rect">
            <a:avLst/>
          </a:prstGeom>
          <a:noFill/>
          <a:ln/>
        </p:spPr>
        <p:txBody>
          <a:bodyPr wrap="square" lIns="0" tIns="0" rIns="0" bIns="0" rtlCol="0" anchor="ctr"/>
          <a:lstStyle/>
          <a:p>
            <a:pPr algn="ctr" indent="0" marL="0">
              <a:buNone/>
            </a:pPr>
            <a:r>
              <a:rPr lang="en-US" sz="950" dirty="0">
                <a:solidFill>
                  <a:srgbClr val="333333"/>
                </a:solidFill>
                <a:latin typeface="Meiryo UI" pitchFamily="34" charset="0"/>
                <a:ea typeface="Meiryo UI" pitchFamily="34" charset="-122"/>
                <a:cs typeface="Meiryo UI" pitchFamily="34" charset="-120"/>
              </a:rPr>
              <a:t>AI 投資の全面的な逆回転(10%)</a:t>
            </a:r>
            <a:endParaRPr lang="en-US" sz="950" dirty="0"/>
          </a:p>
        </p:txBody>
      </p:sp>
      <p:sp>
        <p:nvSpPr>
          <p:cNvPr id="37" name="mx_xt"/>
          <p:cNvSpPr txBox="1"/>
          <p:nvPr/>
        </p:nvSpPr>
        <p:spPr>
          <a:xfrm>
            <a:off x="1463040" y="4864608"/>
            <a:ext cx="4846320" cy="237744"/>
          </a:xfrm>
          <a:prstGeom prst="rect">
            <a:avLst/>
          </a:prstGeom>
          <a:noFill/>
          <a:ln/>
        </p:spPr>
        <p:txBody>
          <a:bodyPr wrap="square" lIns="0" tIns="0" rIns="0" bIns="0" rtlCol="0" anchor="t"/>
          <a:lstStyle/>
          <a:p>
            <a:pPr algn="ctr" indent="0" marL="0">
              <a:buNone/>
            </a:pPr>
            <a:r>
              <a:rPr lang="en-US" sz="900" dirty="0">
                <a:solidFill>
                  <a:srgbClr val="767676"/>
                </a:solidFill>
                <a:latin typeface="Meiryo UI" pitchFamily="34" charset="0"/>
                <a:ea typeface="Meiryo UI" pitchFamily="34" charset="-122"/>
                <a:cs typeface="Meiryo UI" pitchFamily="34" charset="-120"/>
              </a:rPr>
              <a:t>1 株価値への影響</a:t>
            </a:r>
            <a:endParaRPr lang="en-US" sz="900" dirty="0"/>
          </a:p>
        </p:txBody>
      </p:sp>
      <p:sp>
        <p:nvSpPr>
          <p:cNvPr id="38" name="ovl_takeaway_bg"/>
          <p:cNvSpPr/>
          <p:nvPr/>
        </p:nvSpPr>
        <p:spPr>
          <a:xfrm>
            <a:off x="457200" y="5120640"/>
            <a:ext cx="5852160" cy="960120"/>
          </a:xfrm>
          <a:prstGeom prst="rect">
            <a:avLst/>
          </a:prstGeom>
          <a:solidFill>
            <a:srgbClr val="EAF4EE"/>
          </a:solidFill>
          <a:ln w="12700">
            <a:solidFill>
              <a:srgbClr val="EAF4EE"/>
            </a:solidFill>
            <a:prstDash val="solid"/>
          </a:ln>
        </p:spPr>
      </p:sp>
      <p:sp>
        <p:nvSpPr>
          <p:cNvPr id="39" name="takeaway"/>
          <p:cNvSpPr txBox="1"/>
          <p:nvPr/>
        </p:nvSpPr>
        <p:spPr>
          <a:xfrm>
            <a:off x="566928" y="5193792"/>
            <a:ext cx="5632704" cy="81381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テールは本体評価から分けたが無視しない。</a:t>
            </a:r>
            <a:endParaRPr lang="en-US" sz="1100" dirty="0"/>
          </a:p>
          <a:p>
            <a:pPr indent="0" marL="0">
              <a:buNone/>
            </a:pPr>
            <a:r>
              <a:rPr lang="en-US" sz="1100" b="1" dirty="0">
                <a:solidFill>
                  <a:srgbClr val="0E4D33"/>
                </a:solidFill>
                <a:latin typeface="Meiryo UI" pitchFamily="34" charset="0"/>
                <a:ea typeface="Meiryo UI" pitchFamily="34" charset="-122"/>
                <a:cs typeface="Meiryo UI" pitchFamily="34" charset="-120"/>
              </a:rPr>
              <a:t>AI 投資の逆回転で −50% になっても許容できる大きさに建玉を抑える</a:t>
            </a:r>
            <a:endParaRPr lang="en-US" sz="1100" dirty="0"/>
          </a:p>
        </p:txBody>
      </p:sp>
      <p:graphicFrame>
        <p:nvGraphicFramePr>
          <p:cNvPr id="43" name="tbl"/>
          <p:cNvGraphicFramePr>
            <a:graphicFrameLocks noGrp="1"/>
          </p:cNvGraphicFramePr>
          <p:nvPr>
            <p:extLst>
              <p:ext uri="{D42A27DB-BD31-4B8C-83A1-F6EECF244321}">
                <p14:modId xmlns:p14="http://schemas.microsoft.com/office/powerpoint/2010/main" val="1579011935"/>
              </p:ext>
            </p:extLst>
          </p:nvPr>
        </p:nvGraphicFramePr>
        <p:xfrm>
          <a:off x="6537960" y="1554480"/>
          <a:ext cx="5193792" cy="914400"/>
        </p:xfrm>
        <a:graphic>
          <a:graphicData uri="http://schemas.openxmlformats.org/drawingml/2006/table">
            <a:tbl>
              <a:tblPr/>
              <a:tblGrid>
                <a:gridCol w="1508760"/>
                <a:gridCol w="2468880"/>
                <a:gridCol w="1216152"/>
              </a:tblGrid>
              <a:tr h="502920">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リスク</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兆候・トリガー</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確認の時期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の支払能力</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契約変更・支払遅延の報道、受注残の OpenAI 比率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12 月・2027 前半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の格下げ</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四半期 FCF(会社: FY28 下期に黒字)、S&amp;P の見通し、</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CDS 300bp 超(現在 277bp)</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GPU の陳腐化</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更新プレミアム 0% 以下、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1 年契約 2.00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電力・拠点の遅延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納入 0.8GW/四半期 未満が</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2 期、NM のガス管(2027-02)</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毎四半期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AI 投資の逆回転</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のダウンラウンド、</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大手の capex 引き下げ、</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H100 指数 1.5 ドル未満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随時</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FY33 の更新の山</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契約後の更新単価(会社: 4 年前の GPU +20%)、</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更新・置き換えの capex</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950" dirty="0">
                          <a:solidFill>
                            <a:srgbClr val="333333"/>
                          </a:solidFill>
                          <a:latin typeface="Meiryo UI" pitchFamily="34" charset="0"/>
                          <a:ea typeface="Meiryo UI" pitchFamily="34" charset="-122"/>
                          <a:cs typeface="Meiryo UI" pitchFamily="34" charset="-120"/>
                        </a:rPr>
                        <a:t>FY31〜</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271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271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投資行動</a:t>
            </a:r>
            <a:endParaRPr lang="en-US" sz="1000" dirty="0"/>
          </a:p>
        </p:txBody>
      </p:sp>
      <p:sp>
        <p:nvSpPr>
          <p:cNvPr id="14" name="hdr_why"/>
          <p:cNvSpPr txBox="1"/>
          <p:nvPr/>
        </p:nvSpPr>
        <p:spPr>
          <a:xfrm>
            <a:off x="1874774" y="356616"/>
            <a:ext cx="9859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判断を、いつ・どれだけ・何を確かめて建てるかの手順に落とす</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株価は Z1 を下回るので、3 回のうち 2 回を今の水準で建てる。</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3 回目は 12 月の Q2 決算で capex と営業 CF を確かめてから</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時系列投資戦略(4 フェーズ)。判別 KPI は第3章の監視 KPI と共通</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銘柄分析メソッド scenario-strategy §7、本資料 第3章・最終判断</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43</a:t>
            </a:r>
            <a:endParaRPr lang="en-US" sz="800" dirty="0"/>
          </a:p>
        </p:txBody>
      </p:sp>
      <p:sp>
        <p:nvSpPr>
          <p:cNvPr id="19" name="ovl_chev0"/>
          <p:cNvSpPr/>
          <p:nvPr/>
        </p:nvSpPr>
        <p:spPr>
          <a:xfrm>
            <a:off x="457200" y="1554480"/>
            <a:ext cx="2743200" cy="640080"/>
          </a:xfrm>
          <a:prstGeom prst="chevron">
            <a:avLst/>
          </a:prstGeom>
          <a:solidFill>
            <a:srgbClr val="0E4D33"/>
          </a:solidFill>
          <a:ln w="12700">
            <a:solidFill>
              <a:srgbClr val="0E4D33"/>
            </a:solidFill>
            <a:prstDash val="solid"/>
          </a:ln>
        </p:spPr>
      </p:sp>
      <p:sp>
        <p:nvSpPr>
          <p:cNvPr id="20" name="ovl_chev_t0"/>
          <p:cNvSpPr txBox="1"/>
          <p:nvPr/>
        </p:nvSpPr>
        <p:spPr>
          <a:xfrm>
            <a:off x="45720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 エントリー期</a:t>
            </a:r>
            <a:endParaRPr lang="en-US" sz="1200" dirty="0"/>
          </a:p>
        </p:txBody>
      </p:sp>
      <p:sp>
        <p:nvSpPr>
          <p:cNvPr id="21" name="ovl_chev1"/>
          <p:cNvSpPr/>
          <p:nvPr/>
        </p:nvSpPr>
        <p:spPr>
          <a:xfrm>
            <a:off x="3108960" y="1554480"/>
            <a:ext cx="2743200" cy="640080"/>
          </a:xfrm>
          <a:prstGeom prst="chevron">
            <a:avLst/>
          </a:prstGeom>
          <a:solidFill>
            <a:srgbClr val="197A56"/>
          </a:solidFill>
          <a:ln w="12700">
            <a:solidFill>
              <a:srgbClr val="197A56"/>
            </a:solidFill>
            <a:prstDash val="solid"/>
          </a:ln>
        </p:spPr>
      </p:sp>
      <p:sp>
        <p:nvSpPr>
          <p:cNvPr id="22" name="ovl_chev_t1"/>
          <p:cNvSpPr txBox="1"/>
          <p:nvPr/>
        </p:nvSpPr>
        <p:spPr>
          <a:xfrm>
            <a:off x="310896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 検証期</a:t>
            </a:r>
            <a:endParaRPr lang="en-US" sz="1200" dirty="0"/>
          </a:p>
        </p:txBody>
      </p:sp>
      <p:sp>
        <p:nvSpPr>
          <p:cNvPr id="23" name="ovl_chev2"/>
          <p:cNvSpPr/>
          <p:nvPr/>
        </p:nvSpPr>
        <p:spPr>
          <a:xfrm>
            <a:off x="5760720" y="1554480"/>
            <a:ext cx="2743200" cy="640080"/>
          </a:xfrm>
          <a:prstGeom prst="chevron">
            <a:avLst/>
          </a:prstGeom>
          <a:solidFill>
            <a:srgbClr val="86C99B"/>
          </a:solidFill>
          <a:ln w="12700">
            <a:solidFill>
              <a:srgbClr val="86C99B"/>
            </a:solidFill>
            <a:prstDash val="solid"/>
          </a:ln>
        </p:spPr>
      </p:sp>
      <p:sp>
        <p:nvSpPr>
          <p:cNvPr id="24" name="ovl_chev_t2"/>
          <p:cNvSpPr txBox="1"/>
          <p:nvPr/>
        </p:nvSpPr>
        <p:spPr>
          <a:xfrm>
            <a:off x="5760720" y="1554480"/>
            <a:ext cx="2743200" cy="640080"/>
          </a:xfrm>
          <a:prstGeom prst="rect">
            <a:avLst/>
          </a:prstGeom>
          <a:noFill/>
          <a:ln/>
        </p:spPr>
        <p:txBody>
          <a:bodyPr wrap="square" lIns="0" tIns="0" rIns="0" bIns="0" rtlCol="0" anchor="ctr"/>
          <a:lstStyle/>
          <a:p>
            <a:pPr algn="ctr" indent="0" marL="0">
              <a:buNone/>
            </a:pPr>
            <a:r>
              <a:rPr lang="en-US" sz="1200" b="1" dirty="0">
                <a:solidFill>
                  <a:srgbClr val="0E4D33"/>
                </a:solidFill>
                <a:latin typeface="Meiryo UI" pitchFamily="34" charset="0"/>
                <a:ea typeface="Meiryo UI" pitchFamily="34" charset="-122"/>
                <a:cs typeface="Meiryo UI" pitchFamily="34" charset="-120"/>
              </a:rPr>
              <a:t>3 本格保有期</a:t>
            </a:r>
            <a:endParaRPr lang="en-US" sz="1200" dirty="0"/>
          </a:p>
        </p:txBody>
      </p:sp>
      <p:sp>
        <p:nvSpPr>
          <p:cNvPr id="25" name="ovl_chev3"/>
          <p:cNvSpPr/>
          <p:nvPr/>
        </p:nvSpPr>
        <p:spPr>
          <a:xfrm>
            <a:off x="8412480" y="1554480"/>
            <a:ext cx="2743200" cy="640080"/>
          </a:xfrm>
          <a:prstGeom prst="chevron">
            <a:avLst/>
          </a:prstGeom>
          <a:solidFill>
            <a:srgbClr val="1BA1A6"/>
          </a:solidFill>
          <a:ln w="12700">
            <a:solidFill>
              <a:srgbClr val="1BA1A6"/>
            </a:solidFill>
            <a:prstDash val="solid"/>
          </a:ln>
        </p:spPr>
      </p:sp>
      <p:sp>
        <p:nvSpPr>
          <p:cNvPr id="26" name="ovl_chev_t3"/>
          <p:cNvSpPr txBox="1"/>
          <p:nvPr/>
        </p:nvSpPr>
        <p:spPr>
          <a:xfrm>
            <a:off x="8412480" y="1554480"/>
            <a:ext cx="2743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 再評価期</a:t>
            </a:r>
            <a:endParaRPr lang="en-US" sz="1200" dirty="0"/>
          </a:p>
        </p:txBody>
      </p:sp>
      <p:graphicFrame>
        <p:nvGraphicFramePr>
          <p:cNvPr id="44" name="tbl"/>
          <p:cNvGraphicFramePr>
            <a:graphicFrameLocks noGrp="1"/>
          </p:cNvGraphicFramePr>
          <p:nvPr>
            <p:extLst>
              <p:ext uri="{D42A27DB-BD31-4B8C-83A1-F6EECF244321}">
                <p14:modId xmlns:p14="http://schemas.microsoft.com/office/powerpoint/2010/main" val="1579011935"/>
              </p:ext>
            </p:extLst>
          </p:nvPr>
        </p:nvGraphicFramePr>
        <p:xfrm>
          <a:off x="457200" y="2331720"/>
          <a:ext cx="11274552" cy="914400"/>
        </p:xfrm>
        <a:graphic>
          <a:graphicData uri="http://schemas.openxmlformats.org/drawingml/2006/table">
            <a:tbl>
              <a:tblPr/>
              <a:tblGrid>
                <a:gridCol w="1325880"/>
                <a:gridCol w="2487168"/>
                <a:gridCol w="2487168"/>
                <a:gridCol w="2487168"/>
                <a:gridCol w="2487168"/>
              </a:tblGrid>
              <a:tr h="603504">
                <a:tc>
                  <a:txBody>
                    <a:bodyPr/>
                    <a:lstStyle/>
                    <a:p>
                      <a:pPr algn="l" indent="0" marL="0">
                        <a:buNone/>
                      </a:pP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エントリー期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検証期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本格保有期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再評価期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期間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今から 1〜2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2〜4 四半期</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FY29 の格付け通過と</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FY30 の FCF 反転の後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株価が理論株価に近づいた後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やること</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株価は Z1(155 ドル)を下回る。</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3 回のうち 2 回を今の水準で、3 回目は 12 月の Q2 決算の後</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判別 KPI を四半期ごとに確かめる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確度に応じて増やす</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新しい差分を探し、なければ縮小する</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確認 KPI</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Q2 FY27 の capex の進み・営業 CF・前払い・納入 MW</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納入 1GW/四半期以上、36 か月比率</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50% 以上、CDS 200bp 未満、</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OpenAI 比率 40% 未満</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FCF 黒字の継続</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(会社: FY29 300 億以上)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AI 粗利率 35% 以上</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PEG 1.0 以上、コンセンサスとの差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603504">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撤退条件</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の契約変更、</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より前の BB+</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合格ラインを 2 四半期続けて下回り、</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一時要因で説明できない</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OpenAI の支払いの破綻</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差分の消失</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28" name="ovl_takeaway_bg"/>
          <p:cNvSpPr/>
          <p:nvPr/>
        </p:nvSpPr>
        <p:spPr>
          <a:xfrm>
            <a:off x="457200" y="5440680"/>
            <a:ext cx="11274552" cy="640080"/>
          </a:xfrm>
          <a:prstGeom prst="rect">
            <a:avLst/>
          </a:prstGeom>
          <a:solidFill>
            <a:srgbClr val="EAF4EE"/>
          </a:solidFill>
          <a:ln w="12700">
            <a:solidFill>
              <a:srgbClr val="EAF4EE"/>
            </a:solidFill>
            <a:prstDash val="solid"/>
          </a:ln>
        </p:spPr>
      </p:sp>
      <p:sp>
        <p:nvSpPr>
          <p:cNvPr id="29" name="takeaway"/>
          <p:cNvSpPr txBox="1"/>
          <p:nvPr/>
        </p:nvSpPr>
        <p:spPr>
          <a:xfrm>
            <a:off x="566928" y="5513832"/>
            <a:ext cx="11055096" cy="493776"/>
          </a:xfrm>
          <a:prstGeom prst="rect">
            <a:avLst/>
          </a:prstGeom>
          <a:noFill/>
          <a:ln/>
        </p:spPr>
        <p:txBody>
          <a:bodyPr wrap="square" lIns="508" tIns="508" rIns="508" bIns="508" rtlCol="0" anchor="ctr"/>
          <a:lstStyle/>
          <a:p>
            <a:pPr indent="0" marL="0">
              <a:buNone/>
            </a:pPr>
            <a:r>
              <a:rPr lang="en-US" sz="1100" b="1" dirty="0">
                <a:solidFill>
                  <a:srgbClr val="0E4D33"/>
                </a:solidFill>
                <a:latin typeface="Meiryo UI" pitchFamily="34" charset="0"/>
                <a:ea typeface="Meiryo UI" pitchFamily="34" charset="-122"/>
                <a:cs typeface="Meiryo UI" pitchFamily="34" charset="-120"/>
              </a:rPr>
              <a:t>判別 KPI のうち 2 つ以上を満たしたら差分が確立したとみなし、「買い」に引き上げて即エントリー圏(155 ドル以下)を有効にする</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4-5 投資行動(2/2)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144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144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まとめ</a:t>
            </a:r>
            <a:endParaRPr lang="en-US" sz="1000" dirty="0"/>
          </a:p>
        </p:txBody>
      </p:sp>
      <p:sp>
        <p:nvSpPr>
          <p:cNvPr id="14" name="hdr_why"/>
          <p:cNvSpPr txBox="1"/>
          <p:nvPr/>
        </p:nvSpPr>
        <p:spPr>
          <a:xfrm>
            <a:off x="1747774" y="356616"/>
            <a:ext cx="9986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事実と行動を 1 枚で対応づけ、次に確かめることをはっきりさせる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評価の事実は「構造 B・価格 1.69 倍・差分は確立の途中」で、</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行動は「2 回目まで建て、KPI で差分を確かめる」</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左: 分析結果のサマリ(事実)。右: 示唆とネクストアクション(左の行と対応)</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本資料の各章</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44</a:t>
            </a:r>
            <a:endParaRPr lang="en-US" sz="800" dirty="0"/>
          </a:p>
        </p:txBody>
      </p:sp>
      <p:sp>
        <p:nvSpPr>
          <p:cNvPr id="19" name="pane_head"/>
          <p:cNvSpPr txBox="1"/>
          <p:nvPr/>
        </p:nvSpPr>
        <p:spPr>
          <a:xfrm>
            <a:off x="457200"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分析結果のサマリ</a:t>
            </a:r>
            <a:endParaRPr lang="en-US" sz="1200" dirty="0"/>
          </a:p>
        </p:txBody>
      </p:sp>
      <p:sp>
        <p:nvSpPr>
          <p:cNvPr id="20" name="pane_head"/>
          <p:cNvSpPr txBox="1"/>
          <p:nvPr/>
        </p:nvSpPr>
        <p:spPr>
          <a:xfrm>
            <a:off x="6199632" y="1481328"/>
            <a:ext cx="5532120" cy="292608"/>
          </a:xfrm>
          <a:prstGeom prst="rect">
            <a:avLst/>
          </a:prstGeom>
          <a:noFill/>
          <a:ln/>
        </p:spPr>
        <p:txBody>
          <a:bodyPr wrap="square" lIns="0" tIns="0" rIns="0" bIns="0" rtlCol="0" anchor="ctr"/>
          <a:lstStyle/>
          <a:p>
            <a:pPr indent="0" marL="0">
              <a:buNone/>
            </a:pPr>
            <a:r>
              <a:rPr lang="en-US" sz="1200" b="1" dirty="0">
                <a:solidFill>
                  <a:srgbClr val="0E4D33"/>
                </a:solidFill>
                <a:latin typeface="Meiryo UI" pitchFamily="34" charset="0"/>
                <a:ea typeface="Meiryo UI" pitchFamily="34" charset="-122"/>
                <a:cs typeface="Meiryo UI" pitchFamily="34" charset="-120"/>
              </a:rPr>
              <a:t>示唆・ネクストアクション</a:t>
            </a:r>
            <a:endParaRPr lang="en-US" sz="1200" dirty="0"/>
          </a:p>
        </p:txBody>
      </p:sp>
      <p:sp>
        <p:nvSpPr>
          <p:cNvPr id="21" name="ovl_sum0"/>
          <p:cNvSpPr/>
          <p:nvPr/>
        </p:nvSpPr>
        <p:spPr>
          <a:xfrm>
            <a:off x="457200" y="1874520"/>
            <a:ext cx="5532120" cy="749808"/>
          </a:xfrm>
          <a:prstGeom prst="rect">
            <a:avLst/>
          </a:prstGeom>
          <a:solidFill>
            <a:srgbClr val="FFFFFF"/>
          </a:solidFill>
          <a:ln w="9525">
            <a:solidFill>
              <a:srgbClr val="D9D9D9"/>
            </a:solidFill>
            <a:prstDash val="solid"/>
          </a:ln>
        </p:spPr>
      </p:sp>
      <p:sp>
        <p:nvSpPr>
          <p:cNvPr id="22" name="sum_t0"/>
          <p:cNvSpPr txBox="1"/>
          <p:nvPr/>
        </p:nvSpPr>
        <p:spPr>
          <a:xfrm>
            <a:off x="566928" y="1947672"/>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構造評価 B(S1・A2・B8・C2)。弱点は条件7・8</a:t>
            </a:r>
            <a:endParaRPr lang="en-US" sz="1050" dirty="0"/>
          </a:p>
        </p:txBody>
      </p:sp>
      <p:sp>
        <p:nvSpPr>
          <p:cNvPr id="23" name="ovl_imp0"/>
          <p:cNvSpPr/>
          <p:nvPr/>
        </p:nvSpPr>
        <p:spPr>
          <a:xfrm>
            <a:off x="6199632" y="1874520"/>
            <a:ext cx="5532120" cy="749808"/>
          </a:xfrm>
          <a:prstGeom prst="rect">
            <a:avLst/>
          </a:prstGeom>
          <a:solidFill>
            <a:srgbClr val="EAF4EE"/>
          </a:solidFill>
          <a:ln w="9525">
            <a:solidFill>
              <a:srgbClr val="EAF4EE"/>
            </a:solidFill>
            <a:prstDash val="solid"/>
          </a:ln>
        </p:spPr>
      </p:sp>
      <p:sp>
        <p:nvSpPr>
          <p:cNvPr id="24" name="imp_t0"/>
          <p:cNvSpPr txBox="1"/>
          <p:nvPr/>
        </p:nvSpPr>
        <p:spPr>
          <a:xfrm>
            <a:off x="6309360" y="1947672"/>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判断は「買い検討」。株価 139.56 ドルは Z1(155 ドル)を下回る</a:t>
            </a:r>
            <a:endParaRPr lang="en-US" sz="1050" dirty="0"/>
          </a:p>
        </p:txBody>
      </p:sp>
      <p:sp>
        <p:nvSpPr>
          <p:cNvPr id="25" name="ovl_sum1"/>
          <p:cNvSpPr/>
          <p:nvPr/>
        </p:nvSpPr>
        <p:spPr>
          <a:xfrm>
            <a:off x="457200" y="2715768"/>
            <a:ext cx="5532120" cy="749808"/>
          </a:xfrm>
          <a:prstGeom prst="rect">
            <a:avLst/>
          </a:prstGeom>
          <a:solidFill>
            <a:srgbClr val="FFFFFF"/>
          </a:solidFill>
          <a:ln w="9525">
            <a:solidFill>
              <a:srgbClr val="D9D9D9"/>
            </a:solidFill>
            <a:prstDash val="solid"/>
          </a:ln>
        </p:spPr>
      </p:sp>
      <p:sp>
        <p:nvSpPr>
          <p:cNvPr id="26" name="sum_t1"/>
          <p:cNvSpPr txBox="1"/>
          <p:nvPr/>
        </p:nvSpPr>
        <p:spPr>
          <a:xfrm>
            <a:off x="566928" y="2788920"/>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理論株価 236 ドル(株価の 1.69 倍)。3 経路の乖離は +50〜+69%</a:t>
            </a:r>
            <a:endParaRPr lang="en-US" sz="1050" dirty="0"/>
          </a:p>
        </p:txBody>
      </p:sp>
      <p:sp>
        <p:nvSpPr>
          <p:cNvPr id="27" name="ovl_imp1"/>
          <p:cNvSpPr/>
          <p:nvPr/>
        </p:nvSpPr>
        <p:spPr>
          <a:xfrm>
            <a:off x="6199632" y="2715768"/>
            <a:ext cx="5532120" cy="749808"/>
          </a:xfrm>
          <a:prstGeom prst="rect">
            <a:avLst/>
          </a:prstGeom>
          <a:solidFill>
            <a:srgbClr val="EAF4EE"/>
          </a:solidFill>
          <a:ln w="9525">
            <a:solidFill>
              <a:srgbClr val="EAF4EE"/>
            </a:solidFill>
            <a:prstDash val="solid"/>
          </a:ln>
        </p:spPr>
      </p:sp>
      <p:sp>
        <p:nvSpPr>
          <p:cNvPr id="28" name="imp_t1"/>
          <p:cNvSpPr txBox="1"/>
          <p:nvPr/>
        </p:nvSpPr>
        <p:spPr>
          <a:xfrm>
            <a:off x="6309360" y="2788920"/>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3 回に分けて建て、2 回目までを今の水準で。AI 投資の逆回転で −50% でも許容できる大きさに抑える</a:t>
            </a:r>
            <a:endParaRPr lang="en-US" sz="1050" dirty="0"/>
          </a:p>
        </p:txBody>
      </p:sp>
      <p:sp>
        <p:nvSpPr>
          <p:cNvPr id="29" name="ovl_sum2"/>
          <p:cNvSpPr/>
          <p:nvPr/>
        </p:nvSpPr>
        <p:spPr>
          <a:xfrm>
            <a:off x="457200" y="3557016"/>
            <a:ext cx="5532120" cy="749808"/>
          </a:xfrm>
          <a:prstGeom prst="rect">
            <a:avLst/>
          </a:prstGeom>
          <a:solidFill>
            <a:srgbClr val="FFFFFF"/>
          </a:solidFill>
          <a:ln w="9525">
            <a:solidFill>
              <a:srgbClr val="D9D9D9"/>
            </a:solidFill>
            <a:prstDash val="solid"/>
          </a:ln>
        </p:spPr>
      </p:sp>
      <p:sp>
        <p:nvSpPr>
          <p:cNvPr id="30" name="sum_t2"/>
          <p:cNvSpPr txBox="1"/>
          <p:nvPr/>
        </p:nvSpPr>
        <p:spPr>
          <a:xfrm>
            <a:off x="566928" y="3630168"/>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下値 −1%(DCF では −31%)、上値 +144%</a:t>
            </a:r>
            <a:endParaRPr lang="en-US" sz="1050" dirty="0"/>
          </a:p>
        </p:txBody>
      </p:sp>
      <p:sp>
        <p:nvSpPr>
          <p:cNvPr id="31" name="ovl_imp2"/>
          <p:cNvSpPr/>
          <p:nvPr/>
        </p:nvSpPr>
        <p:spPr>
          <a:xfrm>
            <a:off x="6199632" y="3557016"/>
            <a:ext cx="5532120" cy="749808"/>
          </a:xfrm>
          <a:prstGeom prst="rect">
            <a:avLst/>
          </a:prstGeom>
          <a:solidFill>
            <a:srgbClr val="EAF4EE"/>
          </a:solidFill>
          <a:ln w="9525">
            <a:solidFill>
              <a:srgbClr val="EAF4EE"/>
            </a:solidFill>
            <a:prstDash val="solid"/>
          </a:ln>
        </p:spPr>
      </p:sp>
      <p:sp>
        <p:nvSpPr>
          <p:cNvPr id="32" name="imp_t2"/>
          <p:cNvSpPr txBox="1"/>
          <p:nvPr/>
        </p:nvSpPr>
        <p:spPr>
          <a:xfrm>
            <a:off x="6309360" y="3630168"/>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下値は DCF の −31% を前提に建玉を決める</a:t>
            </a:r>
            <a:endParaRPr lang="en-US" sz="1050" dirty="0"/>
          </a:p>
        </p:txBody>
      </p:sp>
      <p:sp>
        <p:nvSpPr>
          <p:cNvPr id="33" name="ovl_sum3"/>
          <p:cNvSpPr/>
          <p:nvPr/>
        </p:nvSpPr>
        <p:spPr>
          <a:xfrm>
            <a:off x="457200" y="4398264"/>
            <a:ext cx="5532120" cy="749808"/>
          </a:xfrm>
          <a:prstGeom prst="rect">
            <a:avLst/>
          </a:prstGeom>
          <a:solidFill>
            <a:srgbClr val="FFFFFF"/>
          </a:solidFill>
          <a:ln w="9525">
            <a:solidFill>
              <a:srgbClr val="D9D9D9"/>
            </a:solidFill>
            <a:prstDash val="solid"/>
          </a:ln>
        </p:spPr>
      </p:sp>
      <p:sp>
        <p:nvSpPr>
          <p:cNvPr id="34" name="sum_t3"/>
          <p:cNvSpPr txBox="1"/>
          <p:nvPr/>
        </p:nvSpPr>
        <p:spPr>
          <a:xfrm>
            <a:off x="566928" y="4471416"/>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市場は説明会の後も、株価を弱気の値(138 ドル)に置く</a:t>
            </a:r>
            <a:endParaRPr lang="en-US" sz="1050" dirty="0"/>
          </a:p>
        </p:txBody>
      </p:sp>
      <p:sp>
        <p:nvSpPr>
          <p:cNvPr id="35" name="ovl_imp3"/>
          <p:cNvSpPr/>
          <p:nvPr/>
        </p:nvSpPr>
        <p:spPr>
          <a:xfrm>
            <a:off x="6199632" y="4398264"/>
            <a:ext cx="5532120" cy="749808"/>
          </a:xfrm>
          <a:prstGeom prst="rect">
            <a:avLst/>
          </a:prstGeom>
          <a:solidFill>
            <a:srgbClr val="EAF4EE"/>
          </a:solidFill>
          <a:ln w="9525">
            <a:solidFill>
              <a:srgbClr val="EAF4EE"/>
            </a:solidFill>
            <a:prstDash val="solid"/>
          </a:ln>
        </p:spPr>
      </p:sp>
      <p:sp>
        <p:nvSpPr>
          <p:cNvPr id="36" name="imp_t3"/>
          <p:cNvSpPr txBox="1"/>
          <p:nvPr/>
        </p:nvSpPr>
        <p:spPr>
          <a:xfrm>
            <a:off x="6309360" y="4471416"/>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引き上げ条件: 納入 1GW/四半期・OpenAI 比率 40% 未満・CDS 200bp 未満・FY31 以降の電力確保のうち 2 つ以上</a:t>
            </a:r>
            <a:endParaRPr lang="en-US" sz="1050" dirty="0"/>
          </a:p>
        </p:txBody>
      </p:sp>
      <p:sp>
        <p:nvSpPr>
          <p:cNvPr id="37" name="ovl_sum4"/>
          <p:cNvSpPr/>
          <p:nvPr/>
        </p:nvSpPr>
        <p:spPr>
          <a:xfrm>
            <a:off x="457200" y="5239512"/>
            <a:ext cx="5532120" cy="749808"/>
          </a:xfrm>
          <a:prstGeom prst="rect">
            <a:avLst/>
          </a:prstGeom>
          <a:solidFill>
            <a:srgbClr val="FFFFFF"/>
          </a:solidFill>
          <a:ln w="9525">
            <a:solidFill>
              <a:srgbClr val="D9D9D9"/>
            </a:solidFill>
            <a:prstDash val="solid"/>
          </a:ln>
        </p:spPr>
      </p:sp>
      <p:sp>
        <p:nvSpPr>
          <p:cNvPr id="38" name="sum_t4"/>
          <p:cNvSpPr txBox="1"/>
          <p:nvPr/>
        </p:nvSpPr>
        <p:spPr>
          <a:xfrm>
            <a:off x="566928" y="5312664"/>
            <a:ext cx="5312664" cy="603504"/>
          </a:xfrm>
          <a:prstGeom prst="rect">
            <a:avLst/>
          </a:prstGeom>
          <a:noFill/>
          <a:ln/>
        </p:spPr>
        <p:txBody>
          <a:bodyPr wrap="square" lIns="508" tIns="508" rIns="508" bIns="508" rtlCol="0" anchor="ctr"/>
          <a:lstStyle/>
          <a:p>
            <a:pPr indent="0" marL="0">
              <a:buNone/>
            </a:pPr>
            <a:r>
              <a:rPr lang="en-US" sz="1050" dirty="0">
                <a:solidFill>
                  <a:srgbClr val="333333"/>
                </a:solidFill>
                <a:latin typeface="Meiryo UI" pitchFamily="34" charset="0"/>
                <a:ea typeface="Meiryo UI" pitchFamily="34" charset="-122"/>
                <a:cs typeface="Meiryo UI" pitchFamily="34" charset="-120"/>
              </a:rPr>
              <a:t>争点は FY33 の更新の山(契約後の更新単価)と OpenAI の支払能力</a:t>
            </a:r>
            <a:endParaRPr lang="en-US" sz="1050" dirty="0"/>
          </a:p>
        </p:txBody>
      </p:sp>
      <p:sp>
        <p:nvSpPr>
          <p:cNvPr id="39" name="ovl_imp4"/>
          <p:cNvSpPr/>
          <p:nvPr/>
        </p:nvSpPr>
        <p:spPr>
          <a:xfrm>
            <a:off x="6199632" y="5239512"/>
            <a:ext cx="5532120" cy="749808"/>
          </a:xfrm>
          <a:prstGeom prst="rect">
            <a:avLst/>
          </a:prstGeom>
          <a:solidFill>
            <a:srgbClr val="EAF4EE"/>
          </a:solidFill>
          <a:ln w="9525">
            <a:solidFill>
              <a:srgbClr val="EAF4EE"/>
            </a:solidFill>
            <a:prstDash val="solid"/>
          </a:ln>
        </p:spPr>
      </p:sp>
      <p:sp>
        <p:nvSpPr>
          <p:cNvPr id="40" name="imp_t4"/>
          <p:cNvSpPr txBox="1"/>
          <p:nvPr/>
        </p:nvSpPr>
        <p:spPr>
          <a:xfrm>
            <a:off x="6309360" y="5312664"/>
            <a:ext cx="5312664" cy="603504"/>
          </a:xfrm>
          <a:prstGeom prst="rect">
            <a:avLst/>
          </a:prstGeom>
          <a:noFill/>
          <a:ln/>
        </p:spPr>
        <p:txBody>
          <a:bodyPr wrap="square" lIns="508" tIns="508" rIns="508" bIns="508" rtlCol="0" anchor="ctr"/>
          <a:lstStyle/>
          <a:p>
            <a:pPr indent="0" marL="0">
              <a:buNone/>
            </a:pPr>
            <a:r>
              <a:rPr lang="en-US" sz="1050" dirty="0">
                <a:solidFill>
                  <a:srgbClr val="0E4D33"/>
                </a:solidFill>
                <a:latin typeface="Meiryo UI" pitchFamily="34" charset="0"/>
                <a:ea typeface="Meiryo UI" pitchFamily="34" charset="-122"/>
                <a:cs typeface="Meiryo UI" pitchFamily="34" charset="-120"/>
              </a:rPr>
              <a:t>撤退: OpenAI の契約変更・支払遅延、FY29 より前の BB+、</a:t>
            </a:r>
            <a:endParaRPr lang="en-US" sz="1050" dirty="0"/>
          </a:p>
          <a:p>
            <a:pPr indent="0" marL="0">
              <a:buNone/>
            </a:pPr>
            <a:r>
              <a:rPr lang="en-US" sz="1050" dirty="0">
                <a:solidFill>
                  <a:srgbClr val="0E4D33"/>
                </a:solidFill>
                <a:latin typeface="Meiryo UI" pitchFamily="34" charset="0"/>
                <a:ea typeface="Meiryo UI" pitchFamily="34" charset="-122"/>
                <a:cs typeface="Meiryo UI" pitchFamily="34" charset="-120"/>
              </a:rPr>
              <a:t>CDS 300bp 超。次の確認は 12 月の Q2 決算</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bg_hdr"/>
          <p:cNvSpPr/>
          <p:nvPr/>
        </p:nvSpPr>
        <p:spPr>
          <a:xfrm>
            <a:off x="0" y="0"/>
            <a:ext cx="12191695" cy="310896"/>
          </a:xfrm>
          <a:prstGeom prst="rect">
            <a:avLst/>
          </a:prstGeom>
          <a:solidFill>
            <a:srgbClr val="F2F2F2"/>
          </a:solidFill>
          <a:ln w="12700">
            <a:solidFill>
              <a:srgbClr val="F2F2F2"/>
            </a:solidFill>
            <a:prstDash val="solid"/>
          </a:ln>
        </p:spPr>
      </p:sp>
      <p:sp>
        <p:nvSpPr>
          <p:cNvPr id="3" name="hdr_crumb"/>
          <p:cNvSpPr txBox="1"/>
          <p:nvPr/>
        </p:nvSpPr>
        <p:spPr>
          <a:xfrm>
            <a:off x="457200" y="54864"/>
            <a:ext cx="7680960" cy="201168"/>
          </a:xfrm>
          <a:prstGeom prst="rect">
            <a:avLst/>
          </a:prstGeom>
          <a:noFill/>
          <a:ln/>
        </p:spPr>
        <p:txBody>
          <a:bodyPr wrap="square" lIns="0" tIns="0" rIns="0" bIns="0" rtlCol="0" anchor="ctr"/>
          <a:lstStyle/>
          <a:p>
            <a:pPr indent="0" marL="0">
              <a:buNone/>
            </a:pPr>
            <a:r>
              <a:rPr lang="en-US" sz="900" dirty="0">
                <a:solidFill>
                  <a:srgbClr val="767676"/>
                </a:solidFill>
                <a:latin typeface="Meiryo UI" pitchFamily="34" charset="0"/>
                <a:ea typeface="Meiryo UI" pitchFamily="34" charset="-122"/>
                <a:cs typeface="Meiryo UI" pitchFamily="34" charset="-120"/>
              </a:rPr>
              <a:t>第4章 バリュエーション・リスク・投資アクション</a:t>
            </a:r>
            <a:r>
              <a:rPr lang="en-US" sz="900" dirty="0">
                <a:solidFill>
                  <a:srgbClr val="767676"/>
                </a:solidFill>
                <a:latin typeface="Meiryo UI" pitchFamily="34" charset="0"/>
                <a:ea typeface="Meiryo UI" pitchFamily="34" charset="-122"/>
                <a:cs typeface="Meiryo UI" pitchFamily="34" charset="-120"/>
              </a:rPr>
              <a:t>   ›   </a:t>
            </a:r>
            <a:r>
              <a:rPr lang="en-US" sz="900" b="1" dirty="0">
                <a:solidFill>
                  <a:srgbClr val="0E4D33"/>
                </a:solidFill>
                <a:latin typeface="Meiryo UI" pitchFamily="34" charset="0"/>
                <a:ea typeface="Meiryo UI" pitchFamily="34" charset="-122"/>
                <a:cs typeface="Meiryo UI" pitchFamily="34" charset="-120"/>
              </a:rPr>
              <a:t>付録 前提と履歴(1/2)</a:t>
            </a:r>
            <a:endParaRPr lang="en-US" sz="900" dirty="0"/>
          </a:p>
        </p:txBody>
      </p:sp>
      <p:sp>
        <p:nvSpPr>
          <p:cNvPr id="4" name="bg_hdr_pill0"/>
          <p:cNvSpPr/>
          <p:nvPr/>
        </p:nvSpPr>
        <p:spPr>
          <a:xfrm>
            <a:off x="8479231" y="64008"/>
            <a:ext cx="786384" cy="182880"/>
          </a:xfrm>
          <a:prstGeom prst="roundRect">
            <a:avLst>
              <a:gd name="adj" fmla="val 20000"/>
            </a:avLst>
          </a:prstGeom>
          <a:solidFill>
            <a:srgbClr val="FFFFFF"/>
          </a:solidFill>
          <a:ln w="9525">
            <a:solidFill>
              <a:srgbClr val="D9D9D9"/>
            </a:solidFill>
            <a:prstDash val="solid"/>
          </a:ln>
        </p:spPr>
      </p:sp>
      <p:sp>
        <p:nvSpPr>
          <p:cNvPr id="5" name="bg_hdr_pt0"/>
          <p:cNvSpPr txBox="1"/>
          <p:nvPr/>
        </p:nvSpPr>
        <p:spPr>
          <a:xfrm>
            <a:off x="847923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1 総括</a:t>
            </a:r>
            <a:endParaRPr lang="en-US" sz="800" dirty="0"/>
          </a:p>
        </p:txBody>
      </p:sp>
      <p:sp>
        <p:nvSpPr>
          <p:cNvPr id="6" name="bg_hdr_pill1"/>
          <p:cNvSpPr/>
          <p:nvPr/>
        </p:nvSpPr>
        <p:spPr>
          <a:xfrm>
            <a:off x="9302191" y="64008"/>
            <a:ext cx="786384" cy="182880"/>
          </a:xfrm>
          <a:prstGeom prst="roundRect">
            <a:avLst>
              <a:gd name="adj" fmla="val 20000"/>
            </a:avLst>
          </a:prstGeom>
          <a:solidFill>
            <a:srgbClr val="FFFFFF"/>
          </a:solidFill>
          <a:ln w="9525">
            <a:solidFill>
              <a:srgbClr val="D9D9D9"/>
            </a:solidFill>
            <a:prstDash val="solid"/>
          </a:ln>
        </p:spPr>
      </p:sp>
      <p:sp>
        <p:nvSpPr>
          <p:cNvPr id="7" name="bg_hdr_pt1"/>
          <p:cNvSpPr txBox="1"/>
          <p:nvPr/>
        </p:nvSpPr>
        <p:spPr>
          <a:xfrm>
            <a:off x="930219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2 事業・需給</a:t>
            </a:r>
            <a:endParaRPr lang="en-US" sz="800" dirty="0"/>
          </a:p>
        </p:txBody>
      </p:sp>
      <p:sp>
        <p:nvSpPr>
          <p:cNvPr id="8" name="bg_hdr_pill2"/>
          <p:cNvSpPr/>
          <p:nvPr/>
        </p:nvSpPr>
        <p:spPr>
          <a:xfrm>
            <a:off x="10125151" y="64008"/>
            <a:ext cx="786384" cy="182880"/>
          </a:xfrm>
          <a:prstGeom prst="roundRect">
            <a:avLst>
              <a:gd name="adj" fmla="val 20000"/>
            </a:avLst>
          </a:prstGeom>
          <a:solidFill>
            <a:srgbClr val="FFFFFF"/>
          </a:solidFill>
          <a:ln w="9525">
            <a:solidFill>
              <a:srgbClr val="D9D9D9"/>
            </a:solidFill>
            <a:prstDash val="solid"/>
          </a:ln>
        </p:spPr>
      </p:sp>
      <p:sp>
        <p:nvSpPr>
          <p:cNvPr id="9" name="bg_hdr_pt2"/>
          <p:cNvSpPr txBox="1"/>
          <p:nvPr/>
        </p:nvSpPr>
        <p:spPr>
          <a:xfrm>
            <a:off x="10125151" y="64008"/>
            <a:ext cx="786384" cy="182880"/>
          </a:xfrm>
          <a:prstGeom prst="rect">
            <a:avLst/>
          </a:prstGeom>
          <a:noFill/>
          <a:ln/>
        </p:spPr>
        <p:txBody>
          <a:bodyPr wrap="square" lIns="0" tIns="0" rIns="0" bIns="0" rtlCol="0" anchor="ctr"/>
          <a:lstStyle/>
          <a:p>
            <a:pPr algn="ctr" indent="0" marL="0">
              <a:buNone/>
            </a:pPr>
            <a:r>
              <a:rPr lang="en-US" sz="800" dirty="0">
                <a:solidFill>
                  <a:srgbClr val="767676"/>
                </a:solidFill>
                <a:latin typeface="Meiryo UI" pitchFamily="34" charset="0"/>
                <a:ea typeface="Meiryo UI" pitchFamily="34" charset="-122"/>
                <a:cs typeface="Meiryo UI" pitchFamily="34" charset="-120"/>
              </a:rPr>
              <a:t>3 13条件</a:t>
            </a:r>
            <a:endParaRPr lang="en-US" sz="800" dirty="0"/>
          </a:p>
        </p:txBody>
      </p:sp>
      <p:sp>
        <p:nvSpPr>
          <p:cNvPr id="10" name="bg_hdr_pill3"/>
          <p:cNvSpPr/>
          <p:nvPr/>
        </p:nvSpPr>
        <p:spPr>
          <a:xfrm>
            <a:off x="10948111" y="64008"/>
            <a:ext cx="786384" cy="182880"/>
          </a:xfrm>
          <a:prstGeom prst="roundRect">
            <a:avLst>
              <a:gd name="adj" fmla="val 20000"/>
            </a:avLst>
          </a:prstGeom>
          <a:solidFill>
            <a:srgbClr val="197A56"/>
          </a:solidFill>
          <a:ln w="9525">
            <a:solidFill>
              <a:srgbClr val="197A56"/>
            </a:solidFill>
            <a:prstDash val="solid"/>
          </a:ln>
        </p:spPr>
      </p:sp>
      <p:sp>
        <p:nvSpPr>
          <p:cNvPr id="11" name="bg_hdr_pt3"/>
          <p:cNvSpPr txBox="1"/>
          <p:nvPr/>
        </p:nvSpPr>
        <p:spPr>
          <a:xfrm>
            <a:off x="10948111" y="64008"/>
            <a:ext cx="786384"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4 価値・行動</a:t>
            </a:r>
            <a:endParaRPr lang="en-US" sz="800" dirty="0"/>
          </a:p>
        </p:txBody>
      </p:sp>
      <p:sp>
        <p:nvSpPr>
          <p:cNvPr id="12" name="ovl_theme_bg"/>
          <p:cNvSpPr/>
          <p:nvPr/>
        </p:nvSpPr>
        <p:spPr>
          <a:xfrm>
            <a:off x="457200" y="356616"/>
            <a:ext cx="1398270" cy="237744"/>
          </a:xfrm>
          <a:prstGeom prst="roundRect">
            <a:avLst>
              <a:gd name="adj" fmla="val 19231"/>
            </a:avLst>
          </a:prstGeom>
          <a:solidFill>
            <a:srgbClr val="0E4D33"/>
          </a:solidFill>
          <a:ln w="12700">
            <a:solidFill>
              <a:srgbClr val="0E4D33"/>
            </a:solidFill>
            <a:prstDash val="solid"/>
          </a:ln>
        </p:spPr>
      </p:sp>
      <p:sp>
        <p:nvSpPr>
          <p:cNvPr id="13" name="hdr_theme"/>
          <p:cNvSpPr txBox="1"/>
          <p:nvPr/>
        </p:nvSpPr>
        <p:spPr>
          <a:xfrm>
            <a:off x="457200" y="356616"/>
            <a:ext cx="139827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テーマ: 前提と履歴</a:t>
            </a:r>
            <a:endParaRPr lang="en-US" sz="1000" dirty="0"/>
          </a:p>
        </p:txBody>
      </p:sp>
      <p:sp>
        <p:nvSpPr>
          <p:cNvPr id="14" name="hdr_why"/>
          <p:cNvSpPr txBox="1"/>
          <p:nvPr/>
        </p:nvSpPr>
        <p:spPr>
          <a:xfrm>
            <a:off x="2001774" y="356616"/>
            <a:ext cx="9732721" cy="237744"/>
          </a:xfrm>
          <a:prstGeom prst="rect">
            <a:avLst/>
          </a:prstGeom>
          <a:noFill/>
          <a:ln/>
        </p:spPr>
        <p:txBody>
          <a:bodyPr wrap="square" lIns="0" tIns="0" rIns="0" bIns="0" rtlCol="0" anchor="ctr"/>
          <a:lstStyle/>
          <a:p>
            <a:pPr indent="0" marL="0">
              <a:buNone/>
            </a:pPr>
            <a:r>
              <a:rPr lang="en-US" sz="1000" b="1" dirty="0">
                <a:solidFill>
                  <a:srgbClr val="1BA1A6"/>
                </a:solidFill>
                <a:latin typeface="Meiryo UI" pitchFamily="34" charset="0"/>
                <a:ea typeface="Meiryo UI" pitchFamily="34" charset="-122"/>
                <a:cs typeface="Meiryo UI" pitchFamily="34" charset="-120"/>
              </a:rPr>
              <a:t>なぜ見るか   </a:t>
            </a:r>
            <a:r>
              <a:rPr lang="en-US" sz="1000" dirty="0">
                <a:solidFill>
                  <a:srgbClr val="333333"/>
                </a:solidFill>
                <a:latin typeface="Meiryo UI" pitchFamily="34" charset="0"/>
                <a:ea typeface="Meiryo UI" pitchFamily="34" charset="-122"/>
                <a:cs typeface="Meiryo UI" pitchFamily="34" charset="-120"/>
              </a:rPr>
              <a:t>計算の前提と版ごとの修正を残し、後から検証できるようにする</a:t>
            </a:r>
            <a:endParaRPr lang="en-US" sz="1000" dirty="0"/>
          </a:p>
        </p:txBody>
      </p:sp>
      <p:sp>
        <p:nvSpPr>
          <p:cNvPr id="15" name="title"/>
          <p:cNvSpPr txBox="1"/>
          <p:nvPr/>
        </p:nvSpPr>
        <p:spPr>
          <a:xfrm>
            <a:off x="457200" y="649224"/>
            <a:ext cx="10180015" cy="585216"/>
          </a:xfrm>
          <a:prstGeom prst="rect">
            <a:avLst/>
          </a:prstGeom>
          <a:noFill/>
          <a:ln/>
        </p:spPr>
        <p:txBody>
          <a:bodyPr wrap="square" lIns="0" tIns="0" rIns="0" bIns="0" rtlCol="0" anchor="ctr"/>
          <a:lstStyle/>
          <a:p>
            <a:pPr indent="0" marL="0">
              <a:buNone/>
            </a:pPr>
            <a:r>
              <a:rPr lang="en-US" sz="1900" b="1" dirty="0">
                <a:solidFill>
                  <a:srgbClr val="197A56"/>
                </a:solidFill>
                <a:latin typeface="Meiryo UI" pitchFamily="34" charset="0"/>
                <a:ea typeface="Meiryo UI" pitchFamily="34" charset="-122"/>
                <a:cs typeface="Meiryo UI" pitchFamily="34" charset="-120"/>
              </a:rPr>
              <a:t>計算の前提と修正の履歴: 理論株価は第 1 版 134 ドルから</a:t>
            </a:r>
            <a:endParaRPr lang="en-US" sz="1900" dirty="0"/>
          </a:p>
          <a:p>
            <a:pPr indent="0" marL="0">
              <a:buNone/>
            </a:pPr>
            <a:r>
              <a:rPr lang="en-US" sz="1900" b="1" dirty="0">
                <a:solidFill>
                  <a:srgbClr val="197A56"/>
                </a:solidFill>
                <a:latin typeface="Meiryo UI" pitchFamily="34" charset="0"/>
                <a:ea typeface="Meiryo UI" pitchFamily="34" charset="-122"/>
                <a:cs typeface="Meiryo UI" pitchFamily="34" charset="-120"/>
              </a:rPr>
              <a:t>第 4.4 版 236 ドルへ。各段の理由を記録した</a:t>
            </a:r>
            <a:endParaRPr lang="en-US" sz="1900" dirty="0"/>
          </a:p>
        </p:txBody>
      </p:sp>
      <p:sp>
        <p:nvSpPr>
          <p:cNvPr id="16" name="kicker"/>
          <p:cNvSpPr txBox="1"/>
          <p:nvPr/>
        </p:nvSpPr>
        <p:spPr>
          <a:xfrm>
            <a:off x="457200" y="1280160"/>
            <a:ext cx="11277295" cy="182880"/>
          </a:xfrm>
          <a:prstGeom prst="rect">
            <a:avLst/>
          </a:prstGeom>
          <a:noFill/>
          <a:ln/>
        </p:spPr>
        <p:txBody>
          <a:bodyPr wrap="square" lIns="0" tIns="0" rIns="0" bIns="0" rtlCol="0" anchor="ctr"/>
          <a:lstStyle/>
          <a:p>
            <a:pPr indent="0" marL="0">
              <a:buNone/>
            </a:pPr>
            <a:r>
              <a:rPr lang="en-US" sz="950" dirty="0">
                <a:solidFill>
                  <a:srgbClr val="767676"/>
                </a:solidFill>
                <a:latin typeface="Meiryo UI" pitchFamily="34" charset="0"/>
                <a:ea typeface="Meiryo UI" pitchFamily="34" charset="-122"/>
                <a:cs typeface="Meiryo UI" pitchFamily="34" charset="-120"/>
              </a:rPr>
              <a:t>Appendix</a:t>
            </a:r>
            <a:endParaRPr lang="en-US" sz="950" dirty="0"/>
          </a:p>
        </p:txBody>
      </p:sp>
      <p:sp>
        <p:nvSpPr>
          <p:cNvPr id="17" name="src"/>
          <p:cNvSpPr txBox="1"/>
          <p:nvPr/>
        </p:nvSpPr>
        <p:spPr>
          <a:xfrm>
            <a:off x="457200" y="6291072"/>
            <a:ext cx="9875520" cy="384048"/>
          </a:xfrm>
          <a:prstGeom prst="rect">
            <a:avLst/>
          </a:prstGeom>
          <a:noFill/>
          <a:ln/>
        </p:spPr>
        <p:txBody>
          <a:bodyPr wrap="square" lIns="0" tIns="0" rIns="0" bIns="0" rtlCol="0" anchor="b"/>
          <a:lstStyle/>
          <a:p>
            <a:pPr indent="0" marL="0">
              <a:buNone/>
            </a:pPr>
            <a:r>
              <a:rPr lang="en-US" sz="800" dirty="0">
                <a:solidFill>
                  <a:srgbClr val="767676"/>
                </a:solidFill>
                <a:latin typeface="Meiryo UI" pitchFamily="34" charset="0"/>
                <a:ea typeface="Meiryo UI" pitchFamily="34" charset="-122"/>
                <a:cs typeface="Meiryo UI" pitchFamily="34" charset="-120"/>
              </a:rPr>
              <a:t>出所: calc/prereg.md・prereg2.md §9(すべての変更と「結果を見た後か」の記録)</a:t>
            </a:r>
            <a:endParaRPr lang="en-US" sz="800" dirty="0"/>
          </a:p>
        </p:txBody>
      </p:sp>
      <p:sp>
        <p:nvSpPr>
          <p:cNvPr id="18"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767676"/>
                </a:solidFill>
                <a:latin typeface="Meiryo UI" pitchFamily="34" charset="0"/>
                <a:ea typeface="Meiryo UI" pitchFamily="34" charset="-122"/>
                <a:cs typeface="Meiryo UI" pitchFamily="34" charset="-120"/>
              </a:rPr>
              <a:t>45</a:t>
            </a:r>
            <a:endParaRPr lang="en-US" sz="800" dirty="0"/>
          </a:p>
        </p:txBody>
      </p:sp>
      <p:graphicFrame>
        <p:nvGraphicFramePr>
          <p:cNvPr id="46" name="tbl"/>
          <p:cNvGraphicFramePr>
            <a:graphicFrameLocks noGrp="1"/>
          </p:cNvGraphicFramePr>
          <p:nvPr>
            <p:extLst>
              <p:ext uri="{D42A27DB-BD31-4B8C-83A1-F6EECF244321}">
                <p14:modId xmlns:p14="http://schemas.microsoft.com/office/powerpoint/2010/main" val="1579011935"/>
              </p:ext>
            </p:extLst>
          </p:nvPr>
        </p:nvGraphicFramePr>
        <p:xfrm>
          <a:off x="457200" y="1481328"/>
          <a:ext cx="5669280" cy="914400"/>
        </p:xfrm>
        <a:graphic>
          <a:graphicData uri="http://schemas.openxmlformats.org/drawingml/2006/table">
            <a:tbl>
              <a:tblPr/>
              <a:tblGrid>
                <a:gridCol w="1828800"/>
                <a:gridCol w="3840480"/>
              </a:tblGrid>
              <a:tr h="301752">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項目</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c>
                  <a:txBody>
                    <a:bodyPr/>
                    <a:lstStyle/>
                    <a:p>
                      <a:pPr algn="l" indent="0" marL="0">
                        <a:buNone/>
                      </a:pPr>
                      <a:r>
                        <a:rPr lang="en-US" sz="950" b="1" dirty="0">
                          <a:solidFill>
                            <a:srgbClr val="FFFFFF"/>
                          </a:solidFill>
                          <a:latin typeface="Meiryo UI" pitchFamily="34" charset="0"/>
                          <a:ea typeface="Meiryo UI" pitchFamily="34" charset="-122"/>
                          <a:cs typeface="Meiryo UI" pitchFamily="34" charset="-120"/>
                        </a:rPr>
                        <a:t>第4.4版の前提</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0E4D33"/>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EPS</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事業実態 EPS。FY27〜30 は会社の見通し、</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FY31 以降は需給エンジンの伸び</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妥当 PER</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同業 23 倍・PEG 1.0 × 3 年成長率・エンジンの価値の平均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重み</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FY27 末 40%・FY28 末 30%・</a:t>
                      </a:r>
                      <a:endParaRPr lang="en-US" sz="950" dirty="0">
                        <a:latin typeface="Meiryo UI" charset="0"/>
                        <a:ea typeface="Meiryo UI" charset="0"/>
                        <a:cs typeface="Meiryo UI" charset="0"/>
                      </a:endParaRPr>
                    </a:p>
                    <a:p>
                      <a:pPr algn="l" indent="0" marL="0">
                        <a:buNone/>
                      </a:pPr>
                      <a:r>
                        <a:rPr lang="en-US" sz="950" dirty="0">
                          <a:solidFill>
                            <a:srgbClr val="333333"/>
                          </a:solidFill>
                          <a:latin typeface="Meiryo UI" pitchFamily="34" charset="0"/>
                          <a:ea typeface="Meiryo UI" pitchFamily="34" charset="-122"/>
                          <a:cs typeface="Meiryo UI" pitchFamily="34" charset="-120"/>
                        </a:rPr>
                        <a:t>FY29 末 20%・FY30 末 10%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株主資本コスト</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10.59%(5.02% + 1.32 × 4.23%)</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シナリオ</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強気 25%・ベース 50%・弱気 25%(対称)</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倒産確率</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S&amp;P の条件で格付けを機械判定し、全経路に反映</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配当</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年 2.00 ドル(FY27 は残り 1.00)</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株価</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c>
                  <a:txBody>
                    <a:bodyPr/>
                    <a:lstStyle/>
                    <a:p>
                      <a:pPr algn="l" indent="0" marL="0">
                        <a:buNone/>
                      </a:pPr>
                      <a:r>
                        <a:rPr lang="en-US" sz="950" dirty="0">
                          <a:solidFill>
                            <a:srgbClr val="333333"/>
                          </a:solidFill>
                          <a:latin typeface="Meiryo UI" pitchFamily="34" charset="0"/>
                          <a:ea typeface="Meiryo UI" pitchFamily="34" charset="-122"/>
                          <a:cs typeface="Meiryo UI" pitchFamily="34" charset="-120"/>
                        </a:rPr>
                        <a:t>139.56 ドル(2026-10-29 終値)</a:t>
                      </a:r>
                      <a:endParaRPr lang="en-US" sz="950" dirty="0">
                        <a:latin typeface="Meiryo UI" charset="0"/>
                        <a:ea typeface="Meiryo UI" charset="0"/>
                        <a:cs typeface="Meiryo UI" charset="0"/>
                      </a:endParaRPr>
                    </a:p>
                  </a:txBody>
                  <a:tcPr marL="54864" marR="54864" marT="27432" marB="27432"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solidFill>
                      <a:srgbClr val="F2F2F2"/>
                    </a:solidFill>
                  </a:tcPr>
                </a:tc>
              </a:tr>
            </a:tbl>
          </a:graphicData>
        </a:graphic>
      </p:graphicFrame>
      <p:graphicFrame>
        <p:nvGraphicFramePr>
          <p:cNvPr id="20" name="chart" descr=""/>
          <p:cNvGraphicFramePr/>
          <p:nvPr/>
        </p:nvGraphicFramePr>
        <p:xfrm>
          <a:off x="6355080" y="1508760"/>
          <a:ext cx="5376672" cy="3291840"/>
        </p:xfrm>
        <a:graphic xmlns:a="http://schemas.openxmlformats.org/drawingml/2006/main">
          <a:graphicData uri="http://schemas.openxmlformats.org/drawingml/2006/chart">
            <c:chart xmlns:c="http://schemas.openxmlformats.org/drawingml/2006/chart" r:id="rId1"/>
          </a:graphicData>
        </a:graphic>
      </p:graphicFrame>
      <p:sp>
        <p:nvSpPr>
          <p:cNvPr id="21" name="bullets"/>
          <p:cNvSpPr txBox="1"/>
          <p:nvPr/>
        </p:nvSpPr>
        <p:spPr>
          <a:xfrm>
            <a:off x="6355080" y="4892040"/>
            <a:ext cx="5376672" cy="1234440"/>
          </a:xfrm>
          <a:prstGeom prst="rect">
            <a:avLst/>
          </a:prstGeom>
          <a:noFill/>
          <a:ln/>
        </p:spPr>
        <p:txBody>
          <a:bodyPr wrap="square" lIns="508" tIns="508" rIns="508" bIns="508" rtlCol="0" anchor="t"/>
          <a:lstStyle/>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第3.1版→第4.0版: 方法の変更(利用者の指示: コンセンサス起点・年度別・対称)と</a:t>
            </a:r>
            <a:br/>
            <a:r>
              <a:rPr lang="en-US" sz="950" dirty="0">
                <a:solidFill>
                  <a:srgbClr val="333333"/>
                </a:solidFill>
                <a:latin typeface="Meiryo UI" pitchFamily="34" charset="0"/>
                <a:ea typeface="Meiryo UI" pitchFamily="34" charset="-122"/>
                <a:cs typeface="Meiryo UI" pitchFamily="34" charset="-120"/>
              </a:rPr>
              <a:t>容量計画の引き上げ</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第4.1版→第4.3版: 品質確認で −27</a:t>
            </a:r>
            <a:br/>
            <a:r>
              <a:rPr lang="en-US" sz="950" dirty="0">
                <a:solidFill>
                  <a:srgbClr val="333333"/>
                </a:solidFill>
                <a:latin typeface="Meiryo UI" pitchFamily="34" charset="0"/>
                <a:ea typeface="Meiryo UI" pitchFamily="34" charset="-122"/>
                <a:cs typeface="Meiryo UI" pitchFamily="34" charset="-120"/>
              </a:rPr>
              <a:t>(EPS の基準・倒産確率・自社株買い・ガイダンス較正など)</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第4.3版→第4.4版: 説明会の会社資料で −15</a:t>
            </a:r>
            <a:br/>
            <a:r>
              <a:rPr lang="en-US" sz="950" dirty="0">
                <a:solidFill>
                  <a:srgbClr val="333333"/>
                </a:solidFill>
                <a:latin typeface="Meiryo UI" pitchFamily="34" charset="0"/>
                <a:ea typeface="Meiryo UI" pitchFamily="34" charset="-122"/>
                <a:cs typeface="Meiryo UI" pitchFamily="34" charset="-120"/>
              </a:rPr>
              <a:t>(1GW の粗利率 35% −19、容量 −13、会社の EPS +8、1GW の単価 +7、市場の値 +3)</a:t>
            </a:r>
            <a:endParaRPr lang="en-US" sz="950" dirty="0"/>
          </a:p>
          <a:p>
            <a:pPr marL="152400" indent="-152400">
              <a:spcAft>
                <a:spcPts val="400"/>
              </a:spcAft>
              <a:buSzPct val="100000"/>
              <a:buChar char="•"/>
            </a:pPr>
            <a:r>
              <a:rPr lang="en-US" sz="950" dirty="0">
                <a:solidFill>
                  <a:srgbClr val="333333"/>
                </a:solidFill>
                <a:latin typeface="Meiryo UI" pitchFamily="34" charset="0"/>
                <a:ea typeface="Meiryo UI" pitchFamily="34" charset="-122"/>
                <a:cs typeface="Meiryo UI" pitchFamily="34" charset="-120"/>
              </a:rPr>
              <a:t>どの変更も「結果を見た後」と記録している</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4D33"/>
        </a:solidFill>
      </p:bgPr>
    </p:bg>
    <p:spTree>
      <p:nvGrpSpPr>
        <p:cNvPr id="1" name=""/>
        <p:cNvGrpSpPr/>
        <p:nvPr/>
      </p:nvGrpSpPr>
      <p:grpSpPr>
        <a:xfrm>
          <a:off x="0" y="0"/>
          <a:ext cx="0" cy="0"/>
          <a:chOff x="0" y="0"/>
          <a:chExt cx="0" cy="0"/>
        </a:xfrm>
      </p:grpSpPr>
      <p:sp>
        <p:nvSpPr>
          <p:cNvPr id="2" name="bg_divider"/>
          <p:cNvSpPr/>
          <p:nvPr/>
        </p:nvSpPr>
        <p:spPr>
          <a:xfrm>
            <a:off x="0" y="0"/>
            <a:ext cx="12191695" cy="6858000"/>
          </a:xfrm>
          <a:prstGeom prst="rect">
            <a:avLst/>
          </a:prstGeom>
          <a:solidFill>
            <a:srgbClr val="0E4D33"/>
          </a:solidFill>
          <a:ln w="12700">
            <a:solidFill>
              <a:srgbClr val="0E4D33"/>
            </a:solidFill>
            <a:prstDash val="solid"/>
          </a:ln>
        </p:spPr>
      </p:sp>
      <p:sp>
        <p:nvSpPr>
          <p:cNvPr id="3" name="bg_close_crumb"/>
          <p:cNvSpPr txBox="1"/>
          <p:nvPr/>
        </p:nvSpPr>
        <p:spPr>
          <a:xfrm>
            <a:off x="822960" y="457200"/>
            <a:ext cx="10515600" cy="274320"/>
          </a:xfrm>
          <a:prstGeom prst="rect">
            <a:avLst/>
          </a:prstGeom>
          <a:noFill/>
          <a:ln/>
        </p:spPr>
        <p:txBody>
          <a:bodyPr wrap="square" lIns="0" tIns="0" rIns="0" bIns="0" rtlCol="0" anchor="t"/>
          <a:lstStyle/>
          <a:p>
            <a:pPr indent="0" marL="0">
              <a:buNone/>
            </a:pPr>
            <a:r>
              <a:rPr lang="en-US" sz="950" dirty="0">
                <a:solidFill>
                  <a:srgbClr val="86C99B"/>
                </a:solidFill>
                <a:latin typeface="Meiryo UI" pitchFamily="34" charset="0"/>
                <a:ea typeface="Meiryo UI" pitchFamily="34" charset="-122"/>
                <a:cs typeface="Meiryo UI" pitchFamily="34" charset="-120"/>
              </a:rPr>
              <a:t>付録 前提と履歴(2/2)   ›   テーマ: 免責と制約(数値の出所と限界を明示する)</a:t>
            </a:r>
            <a:endParaRPr lang="en-US" sz="950" dirty="0"/>
          </a:p>
        </p:txBody>
      </p:sp>
      <p:sp>
        <p:nvSpPr>
          <p:cNvPr id="4" name="bg_close_t"/>
          <p:cNvSpPr txBox="1"/>
          <p:nvPr/>
        </p:nvSpPr>
        <p:spPr>
          <a:xfrm>
            <a:off x="822960" y="2377440"/>
            <a:ext cx="10515600" cy="822960"/>
          </a:xfrm>
          <a:prstGeom prst="rect">
            <a:avLst/>
          </a:prstGeom>
          <a:noFill/>
          <a:ln/>
        </p:spPr>
        <p:txBody>
          <a:bodyPr wrap="square" lIns="508" tIns="508" rIns="508" bIns="508" rtlCol="0" anchor="t"/>
          <a:lstStyle/>
          <a:p>
            <a:pPr indent="0" marL="0">
              <a:buNone/>
            </a:pPr>
            <a:r>
              <a:rPr lang="en-US" sz="2600" b="1" dirty="0">
                <a:solidFill>
                  <a:srgbClr val="FFFFFF"/>
                </a:solidFill>
                <a:latin typeface="Meiryo UI" pitchFamily="34" charset="0"/>
                <a:ea typeface="Meiryo UI" pitchFamily="34" charset="-122"/>
                <a:cs typeface="Meiryo UI" pitchFamily="34" charset="-120"/>
              </a:rPr>
              <a:t>免責と既知の制約</a:t>
            </a:r>
            <a:endParaRPr lang="en-US" sz="2600" dirty="0"/>
          </a:p>
        </p:txBody>
      </p:sp>
      <p:sp>
        <p:nvSpPr>
          <p:cNvPr id="5" name="bg_close_n"/>
          <p:cNvSpPr txBox="1"/>
          <p:nvPr/>
        </p:nvSpPr>
        <p:spPr>
          <a:xfrm>
            <a:off x="822960" y="3383280"/>
            <a:ext cx="10515600" cy="2011680"/>
          </a:xfrm>
          <a:prstGeom prst="rect">
            <a:avLst/>
          </a:prstGeom>
          <a:noFill/>
          <a:ln/>
        </p:spPr>
        <p:txBody>
          <a:bodyPr wrap="square" lIns="508" tIns="508" rIns="508" bIns="508" rtlCol="0" anchor="t"/>
          <a:lstStyle/>
          <a:p>
            <a:pPr indent="0" marL="0">
              <a:buNone/>
            </a:pPr>
            <a:r>
              <a:rPr lang="en-US" sz="1100" dirty="0">
                <a:solidFill>
                  <a:srgbClr val="FFFFFF"/>
                </a:solidFill>
                <a:latin typeface="Meiryo UI" pitchFamily="34" charset="0"/>
                <a:ea typeface="Meiryo UI" pitchFamily="34" charset="-122"/>
                <a:cs typeface="Meiryo UI" pitchFamily="34" charset="-120"/>
              </a:rPr>
              <a:t>本資料は情報の整理を目的とし、投資助言ではない。投資判断は自己の責任で行うこと。</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数値の多くは検索要約経由で、一次資料の原本は未開封のものがある。TradingView の年度別予想は取得できず、他の集計サイトで代えた。</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S&amp;P の格付けの判定は記載をもとにした機械判定で、格付会社の判断そのものではない。Jupiter の不可抗力通知は単一系統の報道で未確認。</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需給エンジンの EPS は FY30 に会社の目標より 5% 低い(AI 粗利率 35% の前提)。理論株価は会社の見通しの EPS を採用し、コンセンサスは比較に使う。</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説明会の数字は Investor Day 2026-10-28(8-K Ex.99.1・CFO 資料)による。</a:t>
            </a:r>
            <a:endParaRPr lang="en-US" sz="1100" dirty="0"/>
          </a:p>
          <a:p>
            <a:pPr indent="0" marL="0">
              <a:buNone/>
            </a:pPr>
            <a:r>
              <a:rPr lang="en-US" sz="1100" dirty="0">
                <a:solidFill>
                  <a:srgbClr val="FFFFFF"/>
                </a:solidFill>
                <a:latin typeface="Meiryo UI" pitchFamily="34" charset="0"/>
                <a:ea typeface="Meiryo UI" pitchFamily="34" charset="-122"/>
                <a:cs typeface="Meiryo UI" pitchFamily="34" charset="-120"/>
              </a:rPr>
              <a:t>株価は 2026-10-29 終値(139.56 ドル)、コンセンサスは説明会の前(2026-10-13〜15)時点。Q2 FY27 決算(12 月)で更新が必要になる。</a:t>
            </a:r>
            <a:endParaRPr lang="en-US" sz="1100" dirty="0"/>
          </a:p>
        </p:txBody>
      </p:sp>
      <p:sp>
        <p:nvSpPr>
          <p:cNvPr id="6" name="pg"/>
          <p:cNvSpPr txBox="1"/>
          <p:nvPr/>
        </p:nvSpPr>
        <p:spPr>
          <a:xfrm>
            <a:off x="11185855" y="6400800"/>
            <a:ext cx="548640" cy="228600"/>
          </a:xfrm>
          <a:prstGeom prst="rect">
            <a:avLst/>
          </a:prstGeom>
          <a:noFill/>
          <a:ln/>
        </p:spPr>
        <p:txBody>
          <a:bodyPr wrap="square" lIns="0" tIns="0" rIns="0" bIns="0" rtlCol="0" anchor="t"/>
          <a:lstStyle/>
          <a:p>
            <a:pPr algn="r" indent="0" marL="0">
              <a:buNone/>
            </a:pPr>
            <a:r>
              <a:rPr lang="en-US" sz="800" dirty="0">
                <a:solidFill>
                  <a:srgbClr val="86C99B"/>
                </a:solidFill>
                <a:latin typeface="Meiryo UI" pitchFamily="34" charset="0"/>
                <a:ea typeface="Meiryo UI" pitchFamily="34" charset="-122"/>
                <a:cs typeface="Meiryo UI" pitchFamily="34" charset="-120"/>
              </a:rPr>
              <a:t>46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Oracle(ORCL)長期保有適格性審査</dc:title>
  <dc:subject>PptxGenJS Presentation</dc:subject>
  <dc:creator>Oracle 長期保有適格性審査</dc:creator>
  <cp:lastModifiedBy>Oracle 長期保有適格性審査</cp:lastModifiedBy>
  <cp:revision>1</cp:revision>
  <dcterms:created xsi:type="dcterms:W3CDTF">2026-10-30T10:36:08Z</dcterms:created>
  <dcterms:modified xsi:type="dcterms:W3CDTF">2026-10-30T10:36:08Z</dcterms:modified>
</cp:coreProperties>
</file>