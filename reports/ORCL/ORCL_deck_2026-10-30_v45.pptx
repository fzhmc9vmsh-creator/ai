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4.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5.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6.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7.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8.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11.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charts/chart12.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charts/chart13.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charts/chart14.xml" ContentType="application/vnd.openxmlformats-officedocument.drawingml.chart+xml"/>
  <Override PartName="/ppt/slideMasters/slideMaster40.xml" ContentType="application/vnd.openxmlformats-officedocument.presentationml.slideMaster+xml"/>
  <Override PartName="/ppt/slides/slide40.xml" ContentType="application/vnd.openxmlformats-officedocument.presentationml.slide+xml"/>
  <Override PartName="/ppt/charts/chart15.xml" ContentType="application/vnd.openxmlformats-officedocument.drawingml.chart+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charts/chart16.xml" ContentType="application/vnd.openxmlformats-officedocument.drawingml.chart+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charts/chart17.xml" ContentType="application/vnd.openxmlformats-officedocument.drawingml.chart+xml"/>
  <Override PartName="/ppt/slideMasters/slideMaster48.xml" ContentType="application/vnd.openxmlformats-officedocument.presentationml.slideMaster+xml"/>
  <Override PartName="/ppt/slides/slide48.xml" ContentType="application/vnd.openxmlformats-officedocument.presentationml.slide+xml"/>
  <Override PartName="/ppt/charts/chart18.xml" ContentType="application/vnd.openxmlformats-officedocument.drawingml.chart+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作動している +</c:v>
                </c:pt>
              </c:strCache>
            </c:strRef>
          </c:tx>
          <c:spPr>
            <a:solidFill>
              <a:srgbClr val="197A56"/>
            </a:solidFill>
            <a:effectLst/>
          </c:spPr>
          <c:invertIfNegative val="0"/>
          <c:dLbls>
            <c:numFmt formatCode="[&gt;=2]0&quot;%&quot;;&quot;&quot;" sourceLinked="0"/>
            <c:txPr>
              <a:bodyPr/>
              <a:lstStyle/>
              <a:p>
                <a:pPr>
                  <a:defRPr b="0" i="0" strike="noStrike" sz="900" u="none">
                    <a:solidFill>
                      <a:srgbClr val="FFFFFF"/>
                    </a:solidFill>
                    <a:latin typeface="Meiryo UI"/>
                  </a:defRPr>
                </a:pPr>
              </a:p>
            </c:txPr>
            <c:dLblPos val="ctr"/>
            <c:showLegendKey val="0"/>
            <c:showVal val="1"/>
            <c:showCatName val="0"/>
            <c:showSerName val="0"/>
            <c:showPercent val="0"/>
            <c:showBubbleSize val="0"/>
            <c:showLeaderLines val="0"/>
          </c:dLbls>
          <c:cat>
            <c:multiLvlStrRef>
              <c:f>Sheet1!$A$2:$A$2</c:f>
              <c:multiLvlStrCache>
                <c:ptCount val="1"/>
                <c:lvl>
                  <c:pt idx="0">
                    <c:v>重み</c:v>
                  </c:pt>
                </c:lvl>
              </c:multiLvlStrCache>
            </c:multiLvlStrRef>
          </c:cat>
          <c:val>
            <c:numRef>
              <c:f>Sheet1!$B$2:$B$2</c:f>
              <c:numCache>
                <c:formatCode>General</c:formatCode>
                <c:ptCount val="1"/>
                <c:pt idx="0">
                  <c:v>60</c:v>
                </c:pt>
              </c:numCache>
            </c:numRef>
          </c:val>
        </c:ser>
        <c:ser>
          <c:idx val="1"/>
          <c:order val="1"/>
          <c:tx>
            <c:strRef>
              <c:f>Sheet1!$C$1</c:f>
              <c:strCache>
                <c:ptCount val="1"/>
                <c:pt idx="0">
                  <c:v>両面・遅延・コスト</c:v>
                </c:pt>
              </c:strCache>
            </c:strRef>
          </c:tx>
          <c:spPr>
            <a:solidFill>
              <a:srgbClr val="D68910"/>
            </a:solidFill>
            <a:effectLst/>
          </c:spPr>
          <c:invertIfNegative val="0"/>
          <c:dLbls>
            <c:numFmt formatCode="[&gt;=2]0&quot;%&quot;;&quot;&quot;" sourceLinked="0"/>
            <c:txPr>
              <a:bodyPr/>
              <a:lstStyle/>
              <a:p>
                <a:pPr>
                  <a:defRPr b="0" i="0" strike="noStrike" sz="900" u="none">
                    <a:solidFill>
                      <a:srgbClr val="FFFFFF"/>
                    </a:solidFill>
                    <a:latin typeface="Meiryo UI"/>
                  </a:defRPr>
                </a:pPr>
              </a:p>
            </c:txPr>
            <c:dLblPos val="ctr"/>
            <c:showLegendKey val="0"/>
            <c:showVal val="1"/>
            <c:showCatName val="0"/>
            <c:showSerName val="0"/>
            <c:showPercent val="0"/>
            <c:showBubbleSize val="0"/>
            <c:showLeaderLines val="0"/>
          </c:dLbls>
          <c:cat>
            <c:multiLvlStrRef>
              <c:f>Sheet1!$A$2:$A$2</c:f>
              <c:multiLvlStrCache>
                <c:ptCount val="1"/>
                <c:lvl>
                  <c:pt idx="0">
                    <c:v>重み</c:v>
                  </c:pt>
                </c:lvl>
              </c:multiLvlStrCache>
            </c:multiLvlStrRef>
          </c:cat>
          <c:val>
            <c:numRef>
              <c:f>Sheet1!$C$2:$C$2</c:f>
              <c:numCache>
                <c:formatCode>General</c:formatCode>
                <c:ptCount val="1"/>
                <c:pt idx="0">
                  <c:v>39</c:v>
                </c:pt>
              </c:numCache>
            </c:numRef>
          </c:val>
        </c:ser>
        <c:ser>
          <c:idx val="2"/>
          <c:order val="2"/>
          <c:tx>
            <c:strRef>
              <c:f>Sheet1!$D$1</c:f>
              <c:strCache>
                <c:ptCount val="1"/>
                <c:pt idx="0">
                  <c:v>保留</c:v>
                </c:pt>
              </c:strCache>
            </c:strRef>
          </c:tx>
          <c:spPr>
            <a:solidFill>
              <a:srgbClr val="767676"/>
            </a:solidFill>
            <a:effectLst/>
          </c:spPr>
          <c:invertIfNegative val="0"/>
          <c:dLbls>
            <c:numFmt formatCode="[&gt;=2]0&quot;%&quot;;&quot;&quot;" sourceLinked="0"/>
            <c:txPr>
              <a:bodyPr/>
              <a:lstStyle/>
              <a:p>
                <a:pPr>
                  <a:defRPr b="0" i="0" strike="noStrike" sz="900" u="none">
                    <a:solidFill>
                      <a:srgbClr val="FFFFFF"/>
                    </a:solidFill>
                    <a:latin typeface="Meiryo UI"/>
                  </a:defRPr>
                </a:pPr>
              </a:p>
            </c:txPr>
            <c:dLblPos val="ctr"/>
            <c:showLegendKey val="0"/>
            <c:showVal val="1"/>
            <c:showCatName val="0"/>
            <c:showSerName val="0"/>
            <c:showPercent val="0"/>
            <c:showBubbleSize val="0"/>
            <c:showLeaderLines val="0"/>
          </c:dLbls>
          <c:cat>
            <c:multiLvlStrRef>
              <c:f>Sheet1!$A$2:$A$2</c:f>
              <c:multiLvlStrCache>
                <c:ptCount val="1"/>
                <c:lvl>
                  <c:pt idx="0">
                    <c:v>重み</c:v>
                  </c:pt>
                </c:lvl>
              </c:multiLvlStrCache>
            </c:multiLvlStrRef>
          </c:cat>
          <c:val>
            <c:numRef>
              <c:f>Sheet1!$D$2:$D$2</c:f>
              <c:numCache>
                <c:formatCode>General</c:formatCode>
                <c:ptCount val="1"/>
                <c:pt idx="0">
                  <c:v>1</c:v>
                </c:pt>
              </c:numCache>
            </c:numRef>
          </c:val>
        </c:ser>
        <c:dLbls>
          <c:numFmt formatCode="[&gt;=2]0&quot;%&quot;;&quot;&quot;" sourceLinked="0"/>
          <c:txPr>
            <a:bodyPr/>
            <a:lstStyle/>
            <a:p>
              <a:pPr>
                <a:defRPr b="0" i="0" strike="noStrike" sz="900" u="none">
                  <a:solidFill>
                    <a:srgbClr val="FFFFFF"/>
                  </a:solidFill>
                  <a:latin typeface="Meiryo UI"/>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valAx>
      <c:spPr>
        <a:noFill/>
        <a:ln>
          <a:noFill/>
        </a:ln>
        <a:effectLst/>
      </c:spPr>
    </c:plotArea>
    <c:legend>
      <c:legendPos val="b"/>
      <c:overlay val="0"/>
      <c:txPr>
        <a:bodyPr/>
        <a:lstStyle/>
        <a:p>
          <a:pPr>
            <a:defRPr sz="900">
              <a:latin typeface="Meiryo UI"/>
              <a:cs typeface="Meiryo U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
          <c:y val="0.06"/>
          <c:w val="0.88"/>
          <c:h val="0.74"/>
        </c:manualLayout>
      </c:layout>
      <c:barChart>
        <c:barDir val="col"/>
        <c:grouping val="stacked"/>
        <c:varyColors val="0"/>
        <c:ser>
          <c:idx val="0"/>
          <c:order val="0"/>
          <c:tx>
            <c:strRef>
              <c:f>Sheet1!$B$1</c:f>
              <c:strCache>
                <c:ptCount val="1"/>
                <c:pt idx="0">
                  <c:v>土台</c:v>
                </c:pt>
              </c:strCache>
            </c:strRef>
          </c:tx>
          <c:spPr>
            <a:noFill/>
            <a:effectLst/>
          </c:spPr>
          <c:invertIfNegative val="0"/>
          <c:dLbls>
            <c:numFmt formatCode="#,##0" sourceLinked="0"/>
            <c:txPr>
              <a:bodyPr/>
              <a:lstStyle/>
              <a:p>
                <a:pPr>
                  <a:defRPr b="0" i="0" strike="noStrike" sz="900" u="none">
                    <a:solidFill>
                      <a:srgbClr val="333333"/>
                    </a:solidFill>
                    <a:latin typeface="Meiryo UI"/>
                  </a:defRPr>
                </a:pPr>
              </a:p>
            </c:txPr>
            <c:dLblPos val="outEnd"/>
            <c:showLegendKey val="0"/>
            <c:showVal val="0"/>
            <c:showCatName val="0"/>
            <c:showSerName val="0"/>
            <c:showPercent val="0"/>
            <c:showBubbleSize val="0"/>
            <c:showLeaderLines val="0"/>
          </c:dLbls>
          <c:cat>
            <c:multiLvlStrRef>
              <c:f>Sheet1!$A$2:$A$8</c:f>
              <c:multiLvlStrCache>
                <c:ptCount val="7"/>
                <c:lvl>
                  <c:pt idx="0">
                    <c:v>第4.3版</c:v>
                  </c:pt>
                  <c:pt idx="1">
                    <c:v>説明会の資料</c:v>
                  </c:pt>
                  <c:pt idx="2">
                    <c:v>第4.4版</c:v>
                  </c:pt>
                  <c:pt idx="3">
                    <c:v>立ち上げ</c:v>
                  </c:pt>
                  <c:pt idx="4">
                    <c:v>ERP移行</c:v>
                  </c:pt>
                  <c:pt idx="5">
                    <c:v>推論の需要</c:v>
                  </c:pt>
                  <c:pt idx="6">
                    <c:v>第4.5版</c:v>
                  </c:pt>
                </c:lvl>
              </c:multiLvlStrCache>
            </c:multiLvlStrRef>
          </c:cat>
          <c:val>
            <c:numRef>
              <c:f>Sheet1!$B$2:$B$8</c:f>
              <c:numCache>
                <c:formatCode>General</c:formatCode>
                <c:ptCount val="7"/>
                <c:pt idx="0">
                  <c:v>0</c:v>
                </c:pt>
                <c:pt idx="1">
                  <c:v>235.9</c:v>
                </c:pt>
                <c:pt idx="2">
                  <c:v>0</c:v>
                </c:pt>
                <c:pt idx="3">
                  <c:v>235.1</c:v>
                </c:pt>
                <c:pt idx="4">
                  <c:v>235.1</c:v>
                </c:pt>
                <c:pt idx="5">
                  <c:v>237.4</c:v>
                </c:pt>
                <c:pt idx="6">
                  <c:v>0</c:v>
                </c:pt>
              </c:numCache>
            </c:numRef>
          </c:val>
        </c:ser>
        <c:ser>
          <c:idx val="1"/>
          <c:order val="1"/>
          <c:tx>
            <c:strRef>
              <c:f>Sheet1!$C$1</c:f>
              <c:strCache>
                <c:ptCount val="1"/>
                <c:pt idx="0">
                  <c:v>増加</c:v>
                </c:pt>
              </c:strCache>
            </c:strRef>
          </c:tx>
          <c:spPr>
            <a:solidFill>
              <a:srgbClr val="197A56"/>
            </a:solidFill>
            <a:effectLst/>
          </c:spPr>
          <c:invertIfNegative val="0"/>
          <c:dLbls>
            <c:numFmt formatCode="#,##0" sourceLinked="0"/>
            <c:txPr>
              <a:bodyPr/>
              <a:lstStyle/>
              <a:p>
                <a:pPr>
                  <a:defRPr b="0" i="0" strike="noStrike" sz="900" u="none">
                    <a:solidFill>
                      <a:srgbClr val="333333"/>
                    </a:solidFill>
                    <a:latin typeface="Meiryo UI"/>
                  </a:defRPr>
                </a:pPr>
              </a:p>
            </c:txPr>
            <c:dLblPos val="outEnd"/>
            <c:showLegendKey val="0"/>
            <c:showVal val="0"/>
            <c:showCatName val="0"/>
            <c:showSerName val="0"/>
            <c:showPercent val="0"/>
            <c:showBubbleSize val="0"/>
            <c:showLeaderLines val="0"/>
          </c:dLbls>
          <c:cat>
            <c:multiLvlStrRef>
              <c:f>Sheet1!$A$2:$A$8</c:f>
              <c:multiLvlStrCache>
                <c:ptCount val="7"/>
                <c:lvl>
                  <c:pt idx="0">
                    <c:v>第4.3版</c:v>
                  </c:pt>
                  <c:pt idx="1">
                    <c:v>説明会の資料</c:v>
                  </c:pt>
                  <c:pt idx="2">
                    <c:v>第4.4版</c:v>
                  </c:pt>
                  <c:pt idx="3">
                    <c:v>立ち上げ</c:v>
                  </c:pt>
                  <c:pt idx="4">
                    <c:v>ERP移行</c:v>
                  </c:pt>
                  <c:pt idx="5">
                    <c:v>推論の需要</c:v>
                  </c:pt>
                  <c:pt idx="6">
                    <c:v>第4.5版</c:v>
                  </c:pt>
                </c:lvl>
              </c:multiLvlStrCache>
            </c:multiLvlStrRef>
          </c:cat>
          <c:val>
            <c:numRef>
              <c:f>Sheet1!$C$2:$C$8</c:f>
              <c:numCache>
                <c:formatCode>General</c:formatCode>
                <c:ptCount val="7"/>
                <c:pt idx="0">
                  <c:v>0</c:v>
                </c:pt>
                <c:pt idx="1">
                  <c:v>0</c:v>
                </c:pt>
                <c:pt idx="2">
                  <c:v>0</c:v>
                </c:pt>
                <c:pt idx="3">
                  <c:v>0</c:v>
                </c:pt>
                <c:pt idx="4">
                  <c:v>2.3</c:v>
                </c:pt>
                <c:pt idx="5">
                  <c:v>7.5</c:v>
                </c:pt>
                <c:pt idx="6">
                  <c:v>0</c:v>
                </c:pt>
              </c:numCache>
            </c:numRef>
          </c:val>
        </c:ser>
        <c:ser>
          <c:idx val="2"/>
          <c:order val="2"/>
          <c:tx>
            <c:strRef>
              <c:f>Sheet1!$D$1</c:f>
              <c:strCache>
                <c:ptCount val="1"/>
                <c:pt idx="0">
                  <c:v>減少</c:v>
                </c:pt>
              </c:strCache>
            </c:strRef>
          </c:tx>
          <c:spPr>
            <a:solidFill>
              <a:srgbClr val="C0392B"/>
            </a:solidFill>
            <a:effectLst/>
          </c:spPr>
          <c:invertIfNegative val="0"/>
          <c:dLbls>
            <c:numFmt formatCode="#,##0" sourceLinked="0"/>
            <c:txPr>
              <a:bodyPr/>
              <a:lstStyle/>
              <a:p>
                <a:pPr>
                  <a:defRPr b="0" i="0" strike="noStrike" sz="900" u="none">
                    <a:solidFill>
                      <a:srgbClr val="333333"/>
                    </a:solidFill>
                    <a:latin typeface="Meiryo UI"/>
                  </a:defRPr>
                </a:pPr>
              </a:p>
            </c:txPr>
            <c:dLblPos val="outEnd"/>
            <c:showLegendKey val="0"/>
            <c:showVal val="0"/>
            <c:showCatName val="0"/>
            <c:showSerName val="0"/>
            <c:showPercent val="0"/>
            <c:showBubbleSize val="0"/>
            <c:showLeaderLines val="0"/>
          </c:dLbls>
          <c:cat>
            <c:multiLvlStrRef>
              <c:f>Sheet1!$A$2:$A$8</c:f>
              <c:multiLvlStrCache>
                <c:ptCount val="7"/>
                <c:lvl>
                  <c:pt idx="0">
                    <c:v>第4.3版</c:v>
                  </c:pt>
                  <c:pt idx="1">
                    <c:v>説明会の資料</c:v>
                  </c:pt>
                  <c:pt idx="2">
                    <c:v>第4.4版</c:v>
                  </c:pt>
                  <c:pt idx="3">
                    <c:v>立ち上げ</c:v>
                  </c:pt>
                  <c:pt idx="4">
                    <c:v>ERP移行</c:v>
                  </c:pt>
                  <c:pt idx="5">
                    <c:v>推論の需要</c:v>
                  </c:pt>
                  <c:pt idx="6">
                    <c:v>第4.5版</c:v>
                  </c:pt>
                </c:lvl>
              </c:multiLvlStrCache>
            </c:multiLvlStrRef>
          </c:cat>
          <c:val>
            <c:numRef>
              <c:f>Sheet1!$D$2:$D$8</c:f>
              <c:numCache>
                <c:formatCode>General</c:formatCode>
                <c:ptCount val="7"/>
                <c:pt idx="0">
                  <c:v>0</c:v>
                </c:pt>
                <c:pt idx="1">
                  <c:v>14.6</c:v>
                </c:pt>
                <c:pt idx="2">
                  <c:v>0</c:v>
                </c:pt>
                <c:pt idx="3">
                  <c:v>0.8</c:v>
                </c:pt>
                <c:pt idx="4">
                  <c:v>0</c:v>
                </c:pt>
                <c:pt idx="5">
                  <c:v>0</c:v>
                </c:pt>
                <c:pt idx="6">
                  <c:v>0</c:v>
                </c:pt>
              </c:numCache>
            </c:numRef>
          </c:val>
        </c:ser>
        <c:ser>
          <c:idx val="3"/>
          <c:order val="3"/>
          <c:tx>
            <c:strRef>
              <c:f>Sheet1!$E$1</c:f>
              <c:strCache>
                <c:ptCount val="1"/>
                <c:pt idx="0">
                  <c:v>合計</c:v>
                </c:pt>
              </c:strCache>
            </c:strRef>
          </c:tx>
          <c:spPr>
            <a:solidFill>
              <a:srgbClr val="0E4D33"/>
            </a:solidFill>
            <a:effectLst/>
          </c:spPr>
          <c:invertIfNegative val="0"/>
          <c:dLbls>
            <c:numFmt formatCode="#,##0" sourceLinked="0"/>
            <c:txPr>
              <a:bodyPr/>
              <a:lstStyle/>
              <a:p>
                <a:pPr>
                  <a:defRPr b="0" i="0" strike="noStrike" sz="900" u="none">
                    <a:solidFill>
                      <a:srgbClr val="333333"/>
                    </a:solidFill>
                    <a:latin typeface="Meiryo UI"/>
                  </a:defRPr>
                </a:pPr>
              </a:p>
            </c:txPr>
            <c:dLblPos val="outEnd"/>
            <c:showLegendKey val="0"/>
            <c:showVal val="0"/>
            <c:showCatName val="0"/>
            <c:showSerName val="0"/>
            <c:showPercent val="0"/>
            <c:showBubbleSize val="0"/>
            <c:showLeaderLines val="0"/>
          </c:dLbls>
          <c:cat>
            <c:multiLvlStrRef>
              <c:f>Sheet1!$A$2:$A$8</c:f>
              <c:multiLvlStrCache>
                <c:ptCount val="7"/>
                <c:lvl>
                  <c:pt idx="0">
                    <c:v>第4.3版</c:v>
                  </c:pt>
                  <c:pt idx="1">
                    <c:v>説明会の資料</c:v>
                  </c:pt>
                  <c:pt idx="2">
                    <c:v>第4.4版</c:v>
                  </c:pt>
                  <c:pt idx="3">
                    <c:v>立ち上げ</c:v>
                  </c:pt>
                  <c:pt idx="4">
                    <c:v>ERP移行</c:v>
                  </c:pt>
                  <c:pt idx="5">
                    <c:v>推論の需要</c:v>
                  </c:pt>
                  <c:pt idx="6">
                    <c:v>第4.5版</c:v>
                  </c:pt>
                </c:lvl>
              </c:multiLvlStrCache>
            </c:multiLvlStrRef>
          </c:cat>
          <c:val>
            <c:numRef>
              <c:f>Sheet1!$E$2:$E$8</c:f>
              <c:numCache>
                <c:formatCode>General</c:formatCode>
                <c:ptCount val="7"/>
                <c:pt idx="0">
                  <c:v>250.5</c:v>
                </c:pt>
                <c:pt idx="1">
                  <c:v>0</c:v>
                </c:pt>
                <c:pt idx="2">
                  <c:v>235.9</c:v>
                </c:pt>
                <c:pt idx="3">
                  <c:v>0</c:v>
                </c:pt>
                <c:pt idx="4">
                  <c:v>0</c:v>
                </c:pt>
                <c:pt idx="5">
                  <c:v>0</c:v>
                </c:pt>
                <c:pt idx="6">
                  <c:v>245.2</c:v>
                </c:pt>
              </c:numCache>
            </c:numRef>
          </c:val>
        </c:ser>
        <c:dLbls>
          <c:numFmt formatCode="#,##0" sourceLinked="0"/>
          <c:txPr>
            <a:bodyPr/>
            <a:lstStyle/>
            <a:p>
              <a:pPr>
                <a:defRPr b="0" i="0" strike="noStrike" sz="900" u="none">
                  <a:solidFill>
                    <a:srgbClr val="333333"/>
                  </a:solidFill>
                  <a:latin typeface="Meiryo UI"/>
                </a:defRPr>
              </a:pPr>
            </a:p>
          </c:txPr>
          <c:dLblPos val="outEnd"/>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none"/>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max val="255"/>
          <c:min val="225"/>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全社の営業利益率(GAAP 相当)</c:v>
                </c:pt>
              </c:strCache>
            </c:strRef>
          </c:tx>
          <c:spPr>
            <a:solidFill>
              <a:srgbClr val="0E4D33"/>
            </a:solidFill>
            <a:ln w="25400" cap="flat">
              <a:solidFill>
                <a:srgbClr val="0E4D33"/>
              </a:solidFill>
              <a:prstDash val="solid"/>
              <a:round/>
            </a:ln>
            <a:effectLst/>
          </c:spPr>
          <c:invertIfNegative val="0"/>
          <c:dLbls>
            <c:numFmt formatCode="0.0" sourceLinked="0"/>
            <c:txPr>
              <a:bodyPr/>
              <a:lstStyle/>
              <a:p>
                <a:pPr>
                  <a:defRPr b="0" i="0" strike="noStrike" sz="900" u="none">
                    <a:solidFill>
                      <a:srgbClr val="333333"/>
                    </a:solidFill>
                    <a:latin typeface="Meiryo UI"/>
                  </a:defRPr>
                </a:pPr>
              </a:p>
            </c:txPr>
            <c:dLblPos val="t"/>
            <c:showLegendKey val="0"/>
            <c:showVal val="1"/>
            <c:showCatName val="0"/>
            <c:showSerName val="0"/>
            <c:showPercent val="0"/>
            <c:showBubbleSize val="0"/>
            <c:showLeaderLines val="0"/>
          </c:dLbls>
          <c:marker>
            <c:symbol val="circle"/>
            <c:size val="6"/>
            <c:spPr>
              <a:solidFill>
                <a:srgbClr val="0E4D33"/>
              </a:solidFill>
              <a:ln w="9525" cap="flat">
                <a:solidFill>
                  <a:srgbClr val="0E4D33"/>
                </a:solidFill>
                <a:prstDash val="solid"/>
                <a:round/>
              </a:ln>
              <a:effectLst/>
            </c:spPr>
          </c:marker>
          <c:cat>
            <c:multiLvlStrRef>
              <c:f>Sheet1!$A$2:$A$7</c:f>
              <c:multiLvlStrCache>
                <c:ptCount val="6"/>
                <c:lvl>
                  <c:pt idx="0">
                    <c:v>FY27</c:v>
                  </c:pt>
                  <c:pt idx="1">
                    <c:v>FY28</c:v>
                  </c:pt>
                  <c:pt idx="2">
                    <c:v>FY29</c:v>
                  </c:pt>
                  <c:pt idx="3">
                    <c:v>FY30</c:v>
                  </c:pt>
                  <c:pt idx="4">
                    <c:v>FY31</c:v>
                  </c:pt>
                  <c:pt idx="5">
                    <c:v>FY32</c:v>
                  </c:pt>
                </c:lvl>
              </c:multiLvlStrCache>
            </c:multiLvlStrRef>
          </c:cat>
          <c:val>
            <c:numRef>
              <c:f>Sheet1!$B$2:$B$7</c:f>
              <c:numCache>
                <c:formatCode>General</c:formatCode>
                <c:ptCount val="6"/>
                <c:pt idx="0">
                  <c:v>34.2</c:v>
                </c:pt>
                <c:pt idx="1">
                  <c:v>33.3</c:v>
                </c:pt>
                <c:pt idx="2">
                  <c:v>34.7</c:v>
                </c:pt>
                <c:pt idx="3">
                  <c:v>34.8</c:v>
                </c:pt>
                <c:pt idx="4">
                  <c:v>34.1</c:v>
                </c:pt>
                <c:pt idx="5">
                  <c:v>33.3</c:v>
                </c:pt>
              </c:numCache>
            </c:numRef>
          </c:val>
          <c:smooth val="0"/>
        </c:ser>
        <c:ser>
          <c:idx val="1"/>
          <c:order val="1"/>
          <c:tx>
            <c:strRef>
              <c:f>Sheet1!$C$1</c:f>
              <c:strCache>
                <c:ptCount val="1"/>
                <c:pt idx="0">
                  <c:v>AI 事業の営業利益率</c:v>
                </c:pt>
              </c:strCache>
            </c:strRef>
          </c:tx>
          <c:spPr>
            <a:solidFill>
              <a:srgbClr val="86C99B"/>
            </a:solidFill>
            <a:ln w="25400" cap="flat">
              <a:solidFill>
                <a:srgbClr val="86C99B"/>
              </a:solidFill>
              <a:prstDash val="solid"/>
              <a:round/>
            </a:ln>
            <a:effectLst/>
          </c:spPr>
          <c:invertIfNegative val="0"/>
          <c:dLbls>
            <c:numFmt formatCode="0.0" sourceLinked="0"/>
            <c:txPr>
              <a:bodyPr/>
              <a:lstStyle/>
              <a:p>
                <a:pPr>
                  <a:defRPr b="0" i="0" strike="noStrike" sz="900" u="none">
                    <a:solidFill>
                      <a:srgbClr val="333333"/>
                    </a:solidFill>
                    <a:latin typeface="Meiryo UI"/>
                  </a:defRPr>
                </a:pPr>
              </a:p>
            </c:txPr>
            <c:dLblPos val="t"/>
            <c:showLegendKey val="0"/>
            <c:showVal val="1"/>
            <c:showCatName val="0"/>
            <c:showSerName val="0"/>
            <c:showPercent val="0"/>
            <c:showBubbleSize val="0"/>
            <c:showLeaderLines val="0"/>
          </c:dLbls>
          <c:marker>
            <c:symbol val="circle"/>
            <c:size val="6"/>
            <c:spPr>
              <a:solidFill>
                <a:srgbClr val="86C99B"/>
              </a:solidFill>
              <a:ln w="9525" cap="flat">
                <a:solidFill>
                  <a:srgbClr val="86C99B"/>
                </a:solidFill>
                <a:prstDash val="solid"/>
                <a:round/>
              </a:ln>
              <a:effectLst/>
            </c:spPr>
          </c:marker>
          <c:cat>
            <c:multiLvlStrRef>
              <c:f>Sheet1!$A$2:$A$7</c:f>
              <c:multiLvlStrCache>
                <c:ptCount val="6"/>
                <c:lvl>
                  <c:pt idx="0">
                    <c:v>FY27</c:v>
                  </c:pt>
                  <c:pt idx="1">
                    <c:v>FY28</c:v>
                  </c:pt>
                  <c:pt idx="2">
                    <c:v>FY29</c:v>
                  </c:pt>
                  <c:pt idx="3">
                    <c:v>FY30</c:v>
                  </c:pt>
                  <c:pt idx="4">
                    <c:v>FY31</c:v>
                  </c:pt>
                  <c:pt idx="5">
                    <c:v>FY32</c:v>
                  </c:pt>
                </c:lvl>
              </c:multiLvlStrCache>
            </c:multiLvlStrRef>
          </c:cat>
          <c:val>
            <c:numRef>
              <c:f>Sheet1!$C$2:$C$7</c:f>
              <c:numCache>
                <c:formatCode>General</c:formatCode>
                <c:ptCount val="6"/>
                <c:pt idx="0">
                  <c:v>18</c:v>
                </c:pt>
                <c:pt idx="1">
                  <c:v>26.4</c:v>
                </c:pt>
                <c:pt idx="2">
                  <c:v>31.3</c:v>
                </c:pt>
                <c:pt idx="3">
                  <c:v>31.9</c:v>
                </c:pt>
                <c:pt idx="4">
                  <c:v>30.8</c:v>
                </c:pt>
                <c:pt idx="5">
                  <c:v>29.7</c:v>
                </c:pt>
              </c:numCache>
            </c:numRef>
          </c:val>
          <c:smooth val="0"/>
        </c:ser>
        <c:dLbls>
          <c:numFmt formatCode="0.0" sourceLinked="0"/>
          <c:txPr>
            <a:bodyPr/>
            <a:lstStyle/>
            <a:p>
              <a:pPr>
                <a:defRPr b="0" i="0" strike="noStrike" sz="900" u="none">
                  <a:solidFill>
                    <a:srgbClr val="333333"/>
                  </a:solidFill>
                  <a:latin typeface="Meiryo U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valAx>
      <c:spPr>
        <a:noFill/>
        <a:ln>
          <a:noFill/>
        </a:ln>
        <a:effectLst/>
      </c:spPr>
    </c:plotArea>
    <c:legend>
      <c:legendPos val="b"/>
      <c:overlay val="0"/>
      <c:txPr>
        <a:bodyPr/>
        <a:lstStyle/>
        <a:p>
          <a:pPr>
            <a:defRPr sz="900">
              <a:latin typeface="Meiryo UI"/>
              <a:cs typeface="Meiryo U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34"/>
          <c:y val="0.15"/>
          <c:w val="0.62"/>
          <c:h val="0.72"/>
        </c:manualLayout>
      </c:layout>
      <c:barChart>
        <c:barDir val="bar"/>
        <c:grouping val="clustered"/>
        <c:varyColors val="0"/>
        <c:ser>
          <c:idx val="0"/>
          <c:order val="0"/>
          <c:tx>
            <c:strRef>
              <c:f>Sheet1!$B$1</c:f>
              <c:strCache>
                <c:ptCount val="1"/>
                <c:pt idx="0">
                  <c:v>IRR(%)</c:v>
                </c:pt>
              </c:strCache>
            </c:strRef>
          </c:tx>
          <c:spPr>
            <a:solidFill>
              <a:srgbClr val="197A56"/>
            </a:solidFill>
            <a:effectLst/>
          </c:spPr>
          <c:invertIfNegative val="0"/>
          <c:dLbls>
            <c:numFmt formatCode="0.0&quot;%&quot;" sourceLinked="0"/>
            <c:txPr>
              <a:bodyPr/>
              <a:lstStyle/>
              <a:p>
                <a:pPr>
                  <a:defRPr b="1" i="0" strike="noStrike" sz="900" u="none">
                    <a:solidFill>
                      <a:srgbClr val="333333"/>
                    </a:solidFill>
                    <a:latin typeface="Meiryo UI"/>
                  </a:defRPr>
                </a:pPr>
              </a:p>
            </c:txPr>
            <c:showLegendKey val="0"/>
            <c:showVal val="1"/>
            <c:showCatName val="0"/>
            <c:showSerName val="0"/>
            <c:showPercent val="0"/>
            <c:showBubbleSize val="0"/>
            <c:showLeaderLines val="0"/>
          </c:dLbls>
          <c:cat>
            <c:multiLvlStrRef>
              <c:f>Sheet1!$A$2:$A$5</c:f>
              <c:multiLvlStrCache>
                <c:ptCount val="4"/>
                <c:lvl>
                  <c:pt idx="0">
                    <c:v>capex +10%・更新なし</c:v>
                  </c:pt>
                  <c:pt idx="1">
                    <c:v>2 年更新・単価 120%(会社の更新 +20%)</c:v>
                  </c:pt>
                  <c:pt idx="2">
                    <c:v>2 年更新・単価 60%</c:v>
                  </c:pt>
                  <c:pt idx="3">
                    <c:v>更新なし(5 年で終わる)</c:v>
                  </c:pt>
                </c:lvl>
              </c:multiLvlStrCache>
            </c:multiLvlStrRef>
          </c:cat>
          <c:val>
            <c:numRef>
              <c:f>Sheet1!$B$2:$B$5</c:f>
              <c:numCache>
                <c:formatCode>General</c:formatCode>
                <c:ptCount val="4"/>
                <c:pt idx="0">
                  <c:v>15.7</c:v>
                </c:pt>
                <c:pt idx="1">
                  <c:v>26.6</c:v>
                </c:pt>
                <c:pt idx="2">
                  <c:v>21.5</c:v>
                </c:pt>
                <c:pt idx="3">
                  <c:v>17.6</c:v>
                </c:pt>
              </c:numCache>
            </c:numRef>
          </c:val>
        </c:ser>
        <c:dLbls>
          <c:numFmt formatCode="0.0&quot;%&quot;" sourceLinked="0"/>
          <c:txPr>
            <a:bodyPr/>
            <a:lstStyle/>
            <a:p>
              <a:pPr>
                <a:defRPr b="1" i="0" strike="noStrike" sz="900" u="none">
                  <a:solidFill>
                    <a:srgbClr val="333333"/>
                  </a:solidFill>
                  <a:latin typeface="Meiryo U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max val="30"/>
          <c:min val="0"/>
        </c:scaling>
        <c:delete val="0"/>
        <c:axPos val="b"/>
        <c:majorGridlines>
          <c:spPr>
            <a:ln w="6350" cap="flat">
              <a:solidFill>
                <a:srgbClr val="E6E6E6"/>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値上げ率(%)</c:v>
                </c:pt>
              </c:strCache>
            </c:strRef>
          </c:tx>
          <c:spPr>
            <a:solidFill>
              <a:srgbClr val="197A56"/>
            </a:solidFill>
            <a:effectLst/>
          </c:spPr>
          <c:invertIfNegative val="0"/>
          <c:dLbls>
            <c:numFmt formatCode="&quot;+&quot;0&quot;%&quot;" sourceLinked="0"/>
            <c:txPr>
              <a:bodyPr/>
              <a:lstStyle/>
              <a:p>
                <a:pPr>
                  <a:defRPr b="0" i="0" strike="noStrike" sz="900" u="none">
                    <a:solidFill>
                      <a:srgbClr val="333333"/>
                    </a:solidFill>
                    <a:latin typeface="Meiryo UI"/>
                  </a:defRPr>
                </a:pPr>
              </a:p>
            </c:txPr>
            <c:showLegendKey val="0"/>
            <c:showVal val="1"/>
            <c:showCatName val="0"/>
            <c:showSerName val="0"/>
            <c:showPercent val="0"/>
            <c:showBubbleSize val="0"/>
            <c:showLeaderLines val="0"/>
          </c:dLbls>
          <c:cat>
            <c:multiLvlStrRef>
              <c:f>Sheet1!$A$2:$A$7</c:f>
              <c:multiLvlStrCache>
                <c:ptCount val="6"/>
                <c:lvl>
                  <c:pt idx="0">
                    <c:v>H100 1年契約の指数</c:v>
                  </c:pt>
                  <c:pt idx="1">
                    <c:v>CoreWeave(全品目)</c:v>
                  </c:pt>
                  <c:pt idx="2">
                    <c:v>AWS Capacity Blocks</c:v>
                  </c:pt>
                  <c:pt idx="3">
                    <c:v>Oracle(GPU の更新)</c:v>
                  </c:pt>
                  <c:pt idx="4">
                    <c:v>Dell(全製品の定価)</c:v>
                  </c:pt>
                  <c:pt idx="5">
                    <c:v>Nebius(H100)</c:v>
                  </c:pt>
                </c:lvl>
              </c:multiLvlStrCache>
            </c:multiLvlStrRef>
          </c:cat>
          <c:val>
            <c:numRef>
              <c:f>Sheet1!$B$2:$B$7</c:f>
              <c:numCache>
                <c:formatCode>General</c:formatCode>
                <c:ptCount val="6"/>
                <c:pt idx="0">
                  <c:v>56</c:v>
                </c:pt>
                <c:pt idx="1">
                  <c:v>25</c:v>
                </c:pt>
                <c:pt idx="2">
                  <c:v>20</c:v>
                </c:pt>
                <c:pt idx="3">
                  <c:v>20</c:v>
                </c:pt>
                <c:pt idx="4">
                  <c:v>17</c:v>
                </c:pt>
                <c:pt idx="5">
                  <c:v>17</c:v>
                </c:pt>
              </c:numCache>
            </c:numRef>
          </c:val>
        </c:ser>
        <c:dLbls>
          <c:numFmt formatCode="&quot;+&quot;0&quot;%&quot;" sourceLinked="0"/>
          <c:txPr>
            <a:bodyPr/>
            <a:lstStyle/>
            <a:p>
              <a:pPr>
                <a:defRPr b="0" i="0" strike="noStrike" sz="900" u="none">
                  <a:solidFill>
                    <a:srgbClr val="333333"/>
                  </a:solidFill>
                  <a:latin typeface="Meiryo U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max val="60"/>
        </c:scaling>
        <c:delete val="0"/>
        <c:axPos val="b"/>
        <c:majorGridlines>
          <c:spPr>
            <a:ln w="6350" cap="flat">
              <a:solidFill>
                <a:srgbClr val="E6E6E6"/>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推論の比率</c:v>
                </c:pt>
              </c:strCache>
            </c:strRef>
          </c:tx>
          <c:spPr>
            <a:solidFill>
              <a:srgbClr val="197A56"/>
            </a:solidFill>
            <a:effectLst/>
          </c:spPr>
          <c:invertIfNegative val="0"/>
          <c:dLbls>
            <c:numFmt formatCode="0&quot;%&quot;" sourceLinked="0"/>
            <c:txPr>
              <a:bodyPr/>
              <a:lstStyle/>
              <a:p>
                <a:pPr>
                  <a:defRPr b="1" i="0" strike="noStrike" sz="900" u="none">
                    <a:solidFill>
                      <a:srgbClr val="333333"/>
                    </a:solidFill>
                    <a:latin typeface="Meiryo UI"/>
                  </a:defRPr>
                </a:pPr>
              </a:p>
            </c:txPr>
            <c:showLegendKey val="0"/>
            <c:showVal val="1"/>
            <c:showCatName val="0"/>
            <c:showSerName val="0"/>
            <c:showPercent val="0"/>
            <c:showBubbleSize val="0"/>
            <c:showLeaderLines val="0"/>
          </c:dLbls>
          <c:cat>
            <c:multiLvlStrRef>
              <c:f>Sheet1!$A$2:$A$4</c:f>
              <c:multiLvlStrCache>
                <c:ptCount val="3"/>
                <c:lvl>
                  <c:pt idx="0">
                    <c:v>2023</c:v>
                  </c:pt>
                  <c:pt idx="1">
                    <c:v>2025</c:v>
                  </c:pt>
                  <c:pt idx="2">
                    <c:v>2026</c:v>
                  </c:pt>
                </c:lvl>
              </c:multiLvlStrCache>
            </c:multiLvlStrRef>
          </c:cat>
          <c:val>
            <c:numRef>
              <c:f>Sheet1!$B$2:$B$4</c:f>
              <c:numCache>
                <c:formatCode>General</c:formatCode>
                <c:ptCount val="3"/>
                <c:pt idx="0">
                  <c:v>33</c:v>
                </c:pt>
                <c:pt idx="1">
                  <c:v>50</c:v>
                </c:pt>
                <c:pt idx="2">
                  <c:v>67</c:v>
                </c:pt>
              </c:numCache>
            </c:numRef>
          </c:val>
        </c:ser>
        <c:dLbls>
          <c:numFmt formatCode="0&quot;%&quot;" sourceLinked="0"/>
          <c:txPr>
            <a:bodyPr/>
            <a:lstStyle/>
            <a:p>
              <a:pPr>
                <a:defRPr b="1" i="0" strike="noStrike" sz="900" u="none">
                  <a:solidFill>
                    <a:srgbClr val="333333"/>
                  </a:solidFill>
                  <a:latin typeface="Meiryo UI"/>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Database@ 前年同期比(%)</c:v>
                </c:pt>
              </c:strCache>
            </c:strRef>
          </c:tx>
          <c:spPr>
            <a:solidFill>
              <a:srgbClr val="1BA1A6"/>
            </a:solidFill>
            <a:effectLst/>
          </c:spPr>
          <c:invertIfNegative val="0"/>
          <c:dLbls>
            <c:numFmt formatCode="0&quot;%&quot;" sourceLinked="0"/>
            <c:txPr>
              <a:bodyPr/>
              <a:lstStyle/>
              <a:p>
                <a:pPr>
                  <a:defRPr b="0" i="0" strike="noStrike" sz="900" u="none">
                    <a:solidFill>
                      <a:srgbClr val="333333"/>
                    </a:solidFill>
                    <a:latin typeface="Meiryo UI"/>
                  </a:defRPr>
                </a:pPr>
              </a:p>
            </c:txPr>
            <c:showLegendKey val="0"/>
            <c:showVal val="1"/>
            <c:showCatName val="0"/>
            <c:showSerName val="0"/>
            <c:showPercent val="0"/>
            <c:showBubbleSize val="0"/>
            <c:showLeaderLines val="0"/>
          </c:dLbls>
          <c:cat>
            <c:multiLvlStrRef>
              <c:f>Sheet1!$A$2:$A$6</c:f>
              <c:multiLvlStrCache>
                <c:ptCount val="5"/>
                <c:lvl>
                  <c:pt idx="0">
                    <c:v>Q1 FY26</c:v>
                  </c:pt>
                  <c:pt idx="1">
                    <c:v>Q2</c:v>
                  </c:pt>
                  <c:pt idx="2">
                    <c:v>Q3</c:v>
                  </c:pt>
                  <c:pt idx="3">
                    <c:v>Q4</c:v>
                  </c:pt>
                  <c:pt idx="4">
                    <c:v>Q1 FY27</c:v>
                  </c:pt>
                </c:lvl>
              </c:multiLvlStrCache>
            </c:multiLvlStrRef>
          </c:cat>
          <c:val>
            <c:numRef>
              <c:f>Sheet1!$B$2:$B$6</c:f>
              <c:numCache>
                <c:formatCode>General</c:formatCode>
                <c:ptCount val="5"/>
                <c:pt idx="0">
                  <c:v>1529</c:v>
                </c:pt>
                <c:pt idx="1">
                  <c:v>817</c:v>
                </c:pt>
                <c:pt idx="2">
                  <c:v>531</c:v>
                </c:pt>
                <c:pt idx="3">
                  <c:v>404</c:v>
                </c:pt>
                <c:pt idx="4">
                  <c:v>353</c:v>
                </c:pt>
              </c:numCache>
            </c:numRef>
          </c:val>
        </c:ser>
        <c:dLbls>
          <c:numFmt formatCode="0&quot;%&quot;" sourceLinked="0"/>
          <c:txPr>
            <a:bodyPr/>
            <a:lstStyle/>
            <a:p>
              <a:pPr>
                <a:defRPr b="0" i="0" strike="noStrike" sz="900" u="none">
                  <a:solidFill>
                    <a:srgbClr val="333333"/>
                  </a:solidFill>
                  <a:latin typeface="Meiryo U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max val="180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赤字</c:v>
                </c:pt>
              </c:strCache>
            </c:strRef>
          </c:tx>
          <c:spPr>
            <a:solidFill>
              <a:srgbClr val="C0392B"/>
            </a:solidFill>
            <a:effectLst/>
          </c:spPr>
          <c:invertIfNegative val="0"/>
          <c:dLbls>
            <c:numFmt formatCode="0.0;-0.0;;" sourceLinked="0"/>
            <c:txPr>
              <a:bodyPr/>
              <a:lstStyle/>
              <a:p>
                <a:pPr>
                  <a:defRPr b="0" i="0" strike="noStrike" sz="900" u="none">
                    <a:solidFill>
                      <a:srgbClr val="FFFFFF"/>
                    </a:solidFill>
                    <a:latin typeface="Meiryo UI"/>
                  </a:defRPr>
                </a:pPr>
              </a:p>
            </c:txPr>
            <c:dLblPos val="inEnd"/>
            <c:showLegendKey val="0"/>
            <c:showVal val="1"/>
            <c:showCatName val="0"/>
            <c:showSerName val="0"/>
            <c:showPercent val="0"/>
            <c:showBubbleSize val="0"/>
            <c:showLeaderLines val="0"/>
          </c:dLbls>
          <c:cat>
            <c:multiLvlStrRef>
              <c:f>Sheet1!$A$2:$A$7</c:f>
              <c:multiLvlStrCache>
                <c:ptCount val="6"/>
                <c:lvl>
                  <c:pt idx="0">
                    <c:v>FY27</c:v>
                  </c:pt>
                  <c:pt idx="1">
                    <c:v>FY28</c:v>
                  </c:pt>
                  <c:pt idx="2">
                    <c:v>FY29</c:v>
                  </c:pt>
                  <c:pt idx="3">
                    <c:v>FY30</c:v>
                  </c:pt>
                  <c:pt idx="4">
                    <c:v>FY31</c:v>
                  </c:pt>
                  <c:pt idx="5">
                    <c:v>FY32</c:v>
                  </c:pt>
                </c:lvl>
              </c:multiLvlStrCache>
            </c:multiLvlStrRef>
          </c:cat>
          <c:val>
            <c:numRef>
              <c:f>Sheet1!$B$2:$B$7</c:f>
              <c:numCache>
                <c:formatCode>General</c:formatCode>
                <c:ptCount val="6"/>
                <c:pt idx="0">
                  <c:v>-48.4</c:v>
                </c:pt>
                <c:pt idx="1">
                  <c:v>-16.6</c:v>
                </c:pt>
                <c:pt idx="2">
                  <c:v>0</c:v>
                </c:pt>
                <c:pt idx="3">
                  <c:v>0</c:v>
                </c:pt>
                <c:pt idx="4">
                  <c:v>0</c:v>
                </c:pt>
                <c:pt idx="5">
                  <c:v>0</c:v>
                </c:pt>
              </c:numCache>
            </c:numRef>
          </c:val>
        </c:ser>
        <c:ser>
          <c:idx val="1"/>
          <c:order val="1"/>
          <c:tx>
            <c:strRef>
              <c:f>Sheet1!$C$1</c:f>
              <c:strCache>
                <c:ptCount val="1"/>
                <c:pt idx="0">
                  <c:v>黒字</c:v>
                </c:pt>
              </c:strCache>
            </c:strRef>
          </c:tx>
          <c:spPr>
            <a:solidFill>
              <a:srgbClr val="197A56"/>
            </a:solidFill>
            <a:effectLst/>
          </c:spPr>
          <c:invertIfNegative val="0"/>
          <c:dLbls>
            <c:numFmt formatCode="0.0;-0.0;;" sourceLinked="0"/>
            <c:txPr>
              <a:bodyPr/>
              <a:lstStyle/>
              <a:p>
                <a:pPr>
                  <a:defRPr b="0" i="0" strike="noStrike" sz="900" u="none">
                    <a:solidFill>
                      <a:srgbClr val="FFFFFF"/>
                    </a:solidFill>
                    <a:latin typeface="Meiryo UI"/>
                  </a:defRPr>
                </a:pPr>
              </a:p>
            </c:txPr>
            <c:dLblPos val="inEnd"/>
            <c:showLegendKey val="0"/>
            <c:showVal val="1"/>
            <c:showCatName val="0"/>
            <c:showSerName val="0"/>
            <c:showPercent val="0"/>
            <c:showBubbleSize val="0"/>
            <c:showLeaderLines val="0"/>
          </c:dLbls>
          <c:cat>
            <c:multiLvlStrRef>
              <c:f>Sheet1!$A$2:$A$7</c:f>
              <c:multiLvlStrCache>
                <c:ptCount val="6"/>
                <c:lvl>
                  <c:pt idx="0">
                    <c:v>FY27</c:v>
                  </c:pt>
                  <c:pt idx="1">
                    <c:v>FY28</c:v>
                  </c:pt>
                  <c:pt idx="2">
                    <c:v>FY29</c:v>
                  </c:pt>
                  <c:pt idx="3">
                    <c:v>FY30</c:v>
                  </c:pt>
                  <c:pt idx="4">
                    <c:v>FY31</c:v>
                  </c:pt>
                  <c:pt idx="5">
                    <c:v>FY32</c:v>
                  </c:pt>
                </c:lvl>
              </c:multiLvlStrCache>
            </c:multiLvlStrRef>
          </c:cat>
          <c:val>
            <c:numRef>
              <c:f>Sheet1!$C$2:$C$7</c:f>
              <c:numCache>
                <c:formatCode>General</c:formatCode>
                <c:ptCount val="6"/>
                <c:pt idx="0">
                  <c:v>0</c:v>
                </c:pt>
                <c:pt idx="1">
                  <c:v>0</c:v>
                </c:pt>
                <c:pt idx="2">
                  <c:v>39.9</c:v>
                </c:pt>
                <c:pt idx="3">
                  <c:v>47.1</c:v>
                </c:pt>
                <c:pt idx="4">
                  <c:v>44.6</c:v>
                </c:pt>
                <c:pt idx="5">
                  <c:v>67.6</c:v>
                </c:pt>
              </c:numCache>
            </c:numRef>
          </c:val>
        </c:ser>
        <c:dLbls>
          <c:numFmt formatCode="0.0;-0.0;;" sourceLinked="0"/>
          <c:txPr>
            <a:bodyPr/>
            <a:lstStyle/>
            <a:p>
              <a:pPr>
                <a:defRPr b="0" i="0" strike="noStrike" sz="900" u="none">
                  <a:solidFill>
                    <a:srgbClr val="FFFFFF"/>
                  </a:solidFill>
                  <a:latin typeface="Meiryo UI"/>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max val="80"/>
          <c:min val="-6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majorUnit val="20"/>
      </c:valAx>
      <c:spPr>
        <a:noFill/>
        <a:ln>
          <a:noFill/>
        </a:ln>
        <a:effectLst/>
      </c:spPr>
    </c:plotArea>
    <c:legend>
      <c:legendPos val="b"/>
      <c:overlay val="0"/>
      <c:txPr>
        <a:bodyPr/>
        <a:lstStyle/>
        <a:p>
          <a:pPr>
            <a:defRPr sz="900">
              <a:latin typeface="Meiryo UI"/>
              <a:cs typeface="Meiryo UI"/>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4"/>
          <c:y val="0.1"/>
          <c:w val="0.92"/>
          <c:h val="0.7"/>
        </c:manualLayout>
      </c:layout>
      <c:barChart>
        <c:barDir val="col"/>
        <c:grouping val="stacked"/>
        <c:varyColors val="0"/>
        <c:ser>
          <c:idx val="0"/>
          <c:order val="0"/>
          <c:tx>
            <c:strRef>
              <c:f>Sheet1!$B$1</c:f>
              <c:strCache>
                <c:ptCount val="1"/>
                <c:pt idx="0">
                  <c:v>土台</c:v>
                </c:pt>
              </c:strCache>
            </c:strRef>
          </c:tx>
          <c:spPr>
            <a:noFill/>
            <a:effectLst/>
          </c:spPr>
          <c:invertIfNegative val="0"/>
          <c:dLbls>
            <c:numFmt formatCode="#,##0" sourceLinked="0"/>
            <c:txPr>
              <a:bodyPr/>
              <a:lstStyle/>
              <a:p>
                <a:pPr>
                  <a:defRPr b="0" i="0" strike="noStrike" sz="900" u="none">
                    <a:solidFill>
                      <a:srgbClr val="333333"/>
                    </a:solidFill>
                    <a:latin typeface="Meiryo UI"/>
                  </a:defRPr>
                </a:pPr>
              </a:p>
            </c:txPr>
            <c:dLblPos val="outEnd"/>
            <c:showLegendKey val="0"/>
            <c:showVal val="0"/>
            <c:showCatName val="0"/>
            <c:showSerName val="0"/>
            <c:showPercent val="0"/>
            <c:showBubbleSize val="0"/>
            <c:showLeaderLines val="0"/>
          </c:dLbls>
          <c:cat>
            <c:multiLvlStrRef>
              <c:f>Sheet1!$A$2:$A$7</c:f>
              <c:multiLvlStrCache>
                <c:ptCount val="6"/>
                <c:lvl>
                  <c:pt idx="0">
                    <c:v>約 6GW の建設</c:v>
                  </c:pt>
                  <c:pt idx="1">
                    <c:v>ベンダー金融</c:v>
                  </c:pt>
                  <c:pt idx="2">
                    <c:v>BYOH</c:v>
                  </c:pt>
                  <c:pt idx="3">
                    <c:v>前払い</c:v>
                  </c:pt>
                  <c:pt idx="4">
                    <c:v>その他の営業 CF</c:v>
                  </c:pt>
                  <c:pt idx="5">
                    <c:v>最後の調達</c:v>
                  </c:pt>
                </c:lvl>
              </c:multiLvlStrCache>
            </c:multiLvlStrRef>
          </c:cat>
          <c:val>
            <c:numRef>
              <c:f>Sheet1!$B$2:$B$7</c:f>
              <c:numCache>
                <c:formatCode>General</c:formatCode>
                <c:ptCount val="6"/>
                <c:pt idx="0">
                  <c:v>0</c:v>
                </c:pt>
                <c:pt idx="1">
                  <c:v>1820</c:v>
                </c:pt>
                <c:pt idx="2">
                  <c:v>1440</c:v>
                </c:pt>
                <c:pt idx="3">
                  <c:v>1060</c:v>
                </c:pt>
                <c:pt idx="4">
                  <c:v>200</c:v>
                </c:pt>
                <c:pt idx="5">
                  <c:v>0</c:v>
                </c:pt>
              </c:numCache>
            </c:numRef>
          </c:val>
        </c:ser>
        <c:ser>
          <c:idx val="1"/>
          <c:order val="1"/>
          <c:tx>
            <c:strRef>
              <c:f>Sheet1!$C$1</c:f>
              <c:strCache>
                <c:ptCount val="1"/>
                <c:pt idx="0">
                  <c:v>増加</c:v>
                </c:pt>
              </c:strCache>
            </c:strRef>
          </c:tx>
          <c:spPr>
            <a:solidFill>
              <a:srgbClr val="197A56"/>
            </a:solidFill>
            <a:effectLst/>
          </c:spPr>
          <c:invertIfNegative val="0"/>
          <c:dLbls>
            <c:numFmt formatCode="#,##0" sourceLinked="0"/>
            <c:txPr>
              <a:bodyPr/>
              <a:lstStyle/>
              <a:p>
                <a:pPr>
                  <a:defRPr b="0" i="0" strike="noStrike" sz="900" u="none">
                    <a:solidFill>
                      <a:srgbClr val="333333"/>
                    </a:solidFill>
                    <a:latin typeface="Meiryo UI"/>
                  </a:defRPr>
                </a:pPr>
              </a:p>
            </c:txPr>
            <c:dLblPos val="outEnd"/>
            <c:showLegendKey val="0"/>
            <c:showVal val="0"/>
            <c:showCatName val="0"/>
            <c:showSerName val="0"/>
            <c:showPercent val="0"/>
            <c:showBubbleSize val="0"/>
            <c:showLeaderLines val="0"/>
          </c:dLbls>
          <c:cat>
            <c:multiLvlStrRef>
              <c:f>Sheet1!$A$2:$A$7</c:f>
              <c:multiLvlStrCache>
                <c:ptCount val="6"/>
                <c:lvl>
                  <c:pt idx="0">
                    <c:v>約 6GW の建設</c:v>
                  </c:pt>
                  <c:pt idx="1">
                    <c:v>ベンダー金融</c:v>
                  </c:pt>
                  <c:pt idx="2">
                    <c:v>BYOH</c:v>
                  </c:pt>
                  <c:pt idx="3">
                    <c:v>前払い</c:v>
                  </c:pt>
                  <c:pt idx="4">
                    <c:v>その他の営業 CF</c:v>
                  </c:pt>
                  <c:pt idx="5">
                    <c:v>最後の調達</c:v>
                  </c:pt>
                </c:lvl>
              </c:multiLvlStrCache>
            </c:multiLvlStrRef>
          </c:cat>
          <c:val>
            <c:numRef>
              <c:f>Sheet1!$C$2:$C$7</c:f>
              <c:numCache>
                <c:formatCode>General</c:formatCode>
                <c:ptCount val="6"/>
                <c:pt idx="0">
                  <c:v>0</c:v>
                </c:pt>
                <c:pt idx="1">
                  <c:v>0</c:v>
                </c:pt>
                <c:pt idx="2">
                  <c:v>0</c:v>
                </c:pt>
                <c:pt idx="3">
                  <c:v>0</c:v>
                </c:pt>
                <c:pt idx="4">
                  <c:v>0</c:v>
                </c:pt>
                <c:pt idx="5">
                  <c:v>0</c:v>
                </c:pt>
              </c:numCache>
            </c:numRef>
          </c:val>
        </c:ser>
        <c:ser>
          <c:idx val="2"/>
          <c:order val="2"/>
          <c:tx>
            <c:strRef>
              <c:f>Sheet1!$D$1</c:f>
              <c:strCache>
                <c:ptCount val="1"/>
                <c:pt idx="0">
                  <c:v>減少</c:v>
                </c:pt>
              </c:strCache>
            </c:strRef>
          </c:tx>
          <c:spPr>
            <a:solidFill>
              <a:srgbClr val="86C99B"/>
            </a:solidFill>
            <a:effectLst/>
          </c:spPr>
          <c:invertIfNegative val="0"/>
          <c:dLbls>
            <c:numFmt formatCode="#,##0" sourceLinked="0"/>
            <c:txPr>
              <a:bodyPr/>
              <a:lstStyle/>
              <a:p>
                <a:pPr>
                  <a:defRPr b="0" i="0" strike="noStrike" sz="900" u="none">
                    <a:solidFill>
                      <a:srgbClr val="333333"/>
                    </a:solidFill>
                    <a:latin typeface="Meiryo UI"/>
                  </a:defRPr>
                </a:pPr>
              </a:p>
            </c:txPr>
            <c:dLblPos val="outEnd"/>
            <c:showLegendKey val="0"/>
            <c:showVal val="0"/>
            <c:showCatName val="0"/>
            <c:showSerName val="0"/>
            <c:showPercent val="0"/>
            <c:showBubbleSize val="0"/>
            <c:showLeaderLines val="0"/>
          </c:dLbls>
          <c:cat>
            <c:multiLvlStrRef>
              <c:f>Sheet1!$A$2:$A$7</c:f>
              <c:multiLvlStrCache>
                <c:ptCount val="6"/>
                <c:lvl>
                  <c:pt idx="0">
                    <c:v>約 6GW の建設</c:v>
                  </c:pt>
                  <c:pt idx="1">
                    <c:v>ベンダー金融</c:v>
                  </c:pt>
                  <c:pt idx="2">
                    <c:v>BYOH</c:v>
                  </c:pt>
                  <c:pt idx="3">
                    <c:v>前払い</c:v>
                  </c:pt>
                  <c:pt idx="4">
                    <c:v>その他の営業 CF</c:v>
                  </c:pt>
                  <c:pt idx="5">
                    <c:v>最後の調達</c:v>
                  </c:pt>
                </c:lvl>
              </c:multiLvlStrCache>
            </c:multiLvlStrRef>
          </c:cat>
          <c:val>
            <c:numRef>
              <c:f>Sheet1!$D$2:$D$7</c:f>
              <c:numCache>
                <c:formatCode>General</c:formatCode>
                <c:ptCount val="6"/>
                <c:pt idx="0">
                  <c:v>0</c:v>
                </c:pt>
                <c:pt idx="1">
                  <c:v>380</c:v>
                </c:pt>
                <c:pt idx="2">
                  <c:v>380</c:v>
                </c:pt>
                <c:pt idx="3">
                  <c:v>380</c:v>
                </c:pt>
                <c:pt idx="4">
                  <c:v>860</c:v>
                </c:pt>
                <c:pt idx="5">
                  <c:v>0</c:v>
                </c:pt>
              </c:numCache>
            </c:numRef>
          </c:val>
        </c:ser>
        <c:ser>
          <c:idx val="3"/>
          <c:order val="3"/>
          <c:tx>
            <c:strRef>
              <c:f>Sheet1!$E$1</c:f>
              <c:strCache>
                <c:ptCount val="1"/>
                <c:pt idx="0">
                  <c:v>合計</c:v>
                </c:pt>
              </c:strCache>
            </c:strRef>
          </c:tx>
          <c:spPr>
            <a:solidFill>
              <a:srgbClr val="0E4D33"/>
            </a:solidFill>
            <a:effectLst/>
          </c:spPr>
          <c:invertIfNegative val="0"/>
          <c:dLbls>
            <c:numFmt formatCode="#,##0" sourceLinked="0"/>
            <c:txPr>
              <a:bodyPr/>
              <a:lstStyle/>
              <a:p>
                <a:pPr>
                  <a:defRPr b="0" i="0" strike="noStrike" sz="900" u="none">
                    <a:solidFill>
                      <a:srgbClr val="333333"/>
                    </a:solidFill>
                    <a:latin typeface="Meiryo UI"/>
                  </a:defRPr>
                </a:pPr>
              </a:p>
            </c:txPr>
            <c:dLblPos val="outEnd"/>
            <c:showLegendKey val="0"/>
            <c:showVal val="0"/>
            <c:showCatName val="0"/>
            <c:showSerName val="0"/>
            <c:showPercent val="0"/>
            <c:showBubbleSize val="0"/>
            <c:showLeaderLines val="0"/>
          </c:dLbls>
          <c:cat>
            <c:multiLvlStrRef>
              <c:f>Sheet1!$A$2:$A$7</c:f>
              <c:multiLvlStrCache>
                <c:ptCount val="6"/>
                <c:lvl>
                  <c:pt idx="0">
                    <c:v>約 6GW の建設</c:v>
                  </c:pt>
                  <c:pt idx="1">
                    <c:v>ベンダー金融</c:v>
                  </c:pt>
                  <c:pt idx="2">
                    <c:v>BYOH</c:v>
                  </c:pt>
                  <c:pt idx="3">
                    <c:v>前払い</c:v>
                  </c:pt>
                  <c:pt idx="4">
                    <c:v>その他の営業 CF</c:v>
                  </c:pt>
                  <c:pt idx="5">
                    <c:v>最後の調達</c:v>
                  </c:pt>
                </c:lvl>
              </c:multiLvlStrCache>
            </c:multiLvlStrRef>
          </c:cat>
          <c:val>
            <c:numRef>
              <c:f>Sheet1!$E$2:$E$7</c:f>
              <c:numCache>
                <c:formatCode>General</c:formatCode>
                <c:ptCount val="6"/>
                <c:pt idx="0">
                  <c:v>2200</c:v>
                </c:pt>
                <c:pt idx="1">
                  <c:v>0</c:v>
                </c:pt>
                <c:pt idx="2">
                  <c:v>0</c:v>
                </c:pt>
                <c:pt idx="3">
                  <c:v>0</c:v>
                </c:pt>
                <c:pt idx="4">
                  <c:v>0</c:v>
                </c:pt>
                <c:pt idx="5">
                  <c:v>200</c:v>
                </c:pt>
              </c:numCache>
            </c:numRef>
          </c:val>
        </c:ser>
        <c:dLbls>
          <c:numFmt formatCode="#,##0" sourceLinked="0"/>
          <c:txPr>
            <a:bodyPr/>
            <a:lstStyle/>
            <a:p>
              <a:pPr>
                <a:defRPr b="0" i="0" strike="noStrike" sz="900" u="none">
                  <a:solidFill>
                    <a:srgbClr val="333333"/>
                  </a:solidFill>
                  <a:latin typeface="Meiryo UI"/>
                </a:defRPr>
              </a:pPr>
            </a:p>
          </c:txPr>
          <c:dLblPos val="outEnd"/>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none"/>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max val="2400"/>
          <c:min val="0"/>
        </c:scaling>
        <c:delete val="1"/>
        <c:axPos val="l"/>
        <c:numFmt formatCode="General" sourceLinked="0"/>
        <c:majorTickMark val="out"/>
        <c:minorTickMark val="none"/>
        <c:tickLblPos val="nextTo"/>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4"/>
          <c:y val="0.15"/>
          <c:w val="0.94"/>
          <c:h val="0.62"/>
        </c:manualLayout>
      </c:layout>
      <c:barChart>
        <c:barDir val="col"/>
        <c:grouping val="clustered"/>
        <c:varyColors val="0"/>
        <c:ser>
          <c:idx val="0"/>
          <c:order val="0"/>
          <c:tx>
            <c:strRef>
              <c:f>Sheet1!$B$1</c:f>
              <c:strCache>
                <c:ptCount val="1"/>
                <c:pt idx="0">
                  <c:v>FCF</c:v>
                </c:pt>
              </c:strCache>
            </c:strRef>
          </c:tx>
          <c:spPr>
            <a:solidFill>
              <a:srgbClr val="197A56"/>
            </a:solidFill>
            <a:effectLst/>
          </c:spPr>
          <c:invertIfNegative val="0"/>
          <c:dLbls>
            <c:numFmt formatCode="#,##0" sourceLinked="0"/>
            <c:txPr>
              <a:bodyPr/>
              <a:lstStyle/>
              <a:p>
                <a:pPr>
                  <a:defRPr b="0" i="0" strike="noStrike" sz="900" u="none">
                    <a:solidFill>
                      <a:srgbClr val="333333"/>
                    </a:solidFill>
                    <a:latin typeface="Meiryo UI"/>
                  </a:defRPr>
                </a:pPr>
              </a:p>
            </c:txPr>
            <c:showLegendKey val="0"/>
            <c:showVal val="0"/>
            <c:showCatName val="0"/>
            <c:showSerName val="0"/>
            <c:showPercent val="0"/>
            <c:showBubbleSize val="0"/>
            <c:showLeaderLines val="0"/>
          </c:dLbls>
          <c:cat>
            <c:multiLvlStrRef>
              <c:f>Sheet1!$A$2:$A$10</c:f>
              <c:multiLvlStrCache>
                <c:ptCount val="9"/>
                <c:lvl>
                  <c:pt idx="0">
                    <c:v>FY27</c:v>
                  </c:pt>
                  <c:pt idx="1">
                    <c:v>FY28</c:v>
                  </c:pt>
                  <c:pt idx="2">
                    <c:v>FY29</c:v>
                  </c:pt>
                  <c:pt idx="3">
                    <c:v>FY30</c:v>
                  </c:pt>
                  <c:pt idx="4">
                    <c:v>FY31</c:v>
                  </c:pt>
                  <c:pt idx="5">
                    <c:v>FY32</c:v>
                  </c:pt>
                  <c:pt idx="6">
                    <c:v>FY33</c:v>
                  </c:pt>
                  <c:pt idx="7">
                    <c:v>FY34</c:v>
                  </c:pt>
                  <c:pt idx="8">
                    <c:v>FY37</c:v>
                  </c:pt>
                </c:lvl>
              </c:multiLvlStrCache>
            </c:multiLvlStrRef>
          </c:cat>
          <c:val>
            <c:numRef>
              <c:f>Sheet1!$B$2:$B$10</c:f>
              <c:numCache>
                <c:formatCode>General</c:formatCode>
                <c:ptCount val="9"/>
                <c:pt idx="0">
                  <c:v>-484</c:v>
                </c:pt>
                <c:pt idx="1">
                  <c:v>-166</c:v>
                </c:pt>
                <c:pt idx="2">
                  <c:v>399</c:v>
                </c:pt>
                <c:pt idx="3">
                  <c:v>471</c:v>
                </c:pt>
                <c:pt idx="4">
                  <c:v>446</c:v>
                </c:pt>
                <c:pt idx="5">
                  <c:v>676</c:v>
                </c:pt>
                <c:pt idx="6">
                  <c:v>887</c:v>
                </c:pt>
                <c:pt idx="7">
                  <c:v>689</c:v>
                </c:pt>
                <c:pt idx="8">
                  <c:v>-434</c:v>
                </c:pt>
              </c:numCache>
            </c:numRef>
          </c:val>
        </c:ser>
        <c:ser>
          <c:idx val="1"/>
          <c:order val="1"/>
          <c:tx>
            <c:strRef>
              <c:f>Sheet1!$C$1</c:f>
              <c:strCache>
                <c:ptCount val="1"/>
                <c:pt idx="0">
                  <c:v>capex</c:v>
                </c:pt>
              </c:strCache>
            </c:strRef>
          </c:tx>
          <c:spPr>
            <a:solidFill>
              <a:srgbClr val="BFBFBF"/>
            </a:solidFill>
            <a:effectLst/>
          </c:spPr>
          <c:invertIfNegative val="0"/>
          <c:dLbls>
            <c:numFmt formatCode="#,##0" sourceLinked="0"/>
            <c:txPr>
              <a:bodyPr/>
              <a:lstStyle/>
              <a:p>
                <a:pPr>
                  <a:defRPr b="0" i="0" strike="noStrike" sz="900" u="none">
                    <a:solidFill>
                      <a:srgbClr val="333333"/>
                    </a:solidFill>
                    <a:latin typeface="Meiryo UI"/>
                  </a:defRPr>
                </a:pPr>
              </a:p>
            </c:txPr>
            <c:showLegendKey val="0"/>
            <c:showVal val="0"/>
            <c:showCatName val="0"/>
            <c:showSerName val="0"/>
            <c:showPercent val="0"/>
            <c:showBubbleSize val="0"/>
            <c:showLeaderLines val="0"/>
          </c:dLbls>
          <c:cat>
            <c:multiLvlStrRef>
              <c:f>Sheet1!$A$2:$A$10</c:f>
              <c:multiLvlStrCache>
                <c:ptCount val="9"/>
                <c:lvl>
                  <c:pt idx="0">
                    <c:v>FY27</c:v>
                  </c:pt>
                  <c:pt idx="1">
                    <c:v>FY28</c:v>
                  </c:pt>
                  <c:pt idx="2">
                    <c:v>FY29</c:v>
                  </c:pt>
                  <c:pt idx="3">
                    <c:v>FY30</c:v>
                  </c:pt>
                  <c:pt idx="4">
                    <c:v>FY31</c:v>
                  </c:pt>
                  <c:pt idx="5">
                    <c:v>FY32</c:v>
                  </c:pt>
                  <c:pt idx="6">
                    <c:v>FY33</c:v>
                  </c:pt>
                  <c:pt idx="7">
                    <c:v>FY34</c:v>
                  </c:pt>
                  <c:pt idx="8">
                    <c:v>FY37</c:v>
                  </c:pt>
                </c:lvl>
              </c:multiLvlStrCache>
            </c:multiLvlStrRef>
          </c:cat>
          <c:val>
            <c:numRef>
              <c:f>Sheet1!$C$2:$C$10</c:f>
              <c:numCache>
                <c:formatCode>General</c:formatCode>
                <c:ptCount val="9"/>
                <c:pt idx="0">
                  <c:v>1072</c:v>
                </c:pt>
                <c:pt idx="1">
                  <c:v>844</c:v>
                </c:pt>
                <c:pt idx="2">
                  <c:v>474</c:v>
                </c:pt>
                <c:pt idx="3">
                  <c:v>599</c:v>
                </c:pt>
                <c:pt idx="4">
                  <c:v>791</c:v>
                </c:pt>
                <c:pt idx="5">
                  <c:v>671</c:v>
                </c:pt>
                <c:pt idx="6">
                  <c:v>553</c:v>
                </c:pt>
                <c:pt idx="7">
                  <c:v>695</c:v>
                </c:pt>
                <c:pt idx="8">
                  <c:v>2033</c:v>
                </c:pt>
              </c:numCache>
            </c:numRef>
          </c:val>
        </c:ser>
        <c:dLbls>
          <c:numFmt formatCode="#,##0" sourceLinked="0"/>
          <c:txPr>
            <a:bodyPr/>
            <a:lstStyle/>
            <a:p>
              <a:pPr>
                <a:defRPr b="0" i="0" strike="noStrike" sz="900" u="none">
                  <a:solidFill>
                    <a:srgbClr val="333333"/>
                  </a:solidFill>
                  <a:latin typeface="Meiryo UI"/>
                </a:defRPr>
              </a:pPr>
            </a:p>
          </c:txPr>
          <c:showLegendKey val="0"/>
          <c:showVal val="0"/>
          <c:showCatName val="0"/>
          <c:showSerName val="0"/>
          <c:showPercent val="0"/>
          <c:showBubbleSize val="0"/>
          <c:showLeaderLines val="0"/>
        </c:dLbls>
        <c:gapWidth val="1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max val="2500"/>
          <c:min val="-1000"/>
        </c:scaling>
        <c:delete val="1"/>
        <c:axPos val="l"/>
        <c:numFmt formatCode="General" sourceLinked="0"/>
        <c:majorTickMark val="out"/>
        <c:minorTickMark val="none"/>
        <c:tickLblPos val="nextTo"/>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majorUnit val="500"/>
      </c:valAx>
      <c:spPr>
        <a:noFill/>
        <a:ln>
          <a:noFill/>
        </a:ln>
        <a:effectLst/>
      </c:spPr>
    </c:plotArea>
    <c:legend>
      <c:legendPos val="b"/>
      <c:overlay val="0"/>
      <c:txPr>
        <a:bodyPr/>
        <a:lstStyle/>
        <a:p>
          <a:pPr>
            <a:defRPr sz="900">
              <a:latin typeface="Meiryo UI"/>
              <a:cs typeface="Meiryo UI"/>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5 年 CAGR</c:v>
                </c:pt>
              </c:strCache>
            </c:strRef>
          </c:tx>
          <c:spPr>
            <a:solidFill>
              <a:srgbClr val="197A56"/>
            </a:solidFill>
            <a:effectLst/>
          </c:spPr>
          <c:invertIfNegative val="0"/>
          <c:dLbls>
            <c:numFmt formatCode="0.0&quot;%&quot;" sourceLinked="0"/>
            <c:txPr>
              <a:bodyPr/>
              <a:lstStyle/>
              <a:p>
                <a:pPr>
                  <a:defRPr b="0" i="0" strike="noStrike" sz="900" u="none">
                    <a:solidFill>
                      <a:srgbClr val="333333"/>
                    </a:solidFill>
                    <a:latin typeface="Meiryo UI"/>
                  </a:defRPr>
                </a:pPr>
              </a:p>
            </c:txPr>
            <c:showLegendKey val="0"/>
            <c:showVal val="1"/>
            <c:showCatName val="0"/>
            <c:showSerName val="0"/>
            <c:showPercent val="0"/>
            <c:showBubbleSize val="0"/>
            <c:showLeaderLines val="0"/>
          </c:dLbls>
          <c:cat>
            <c:multiLvlStrRef>
              <c:f>Sheet1!$A$2:$A$4</c:f>
              <c:multiLvlStrCache>
                <c:ptCount val="3"/>
                <c:lvl>
                  <c:pt idx="0">
                    <c:v>会社(FY30 目標)</c:v>
                  </c:pt>
                  <c:pt idx="1">
                    <c:v>コンセンサス</c:v>
                  </c:pt>
                  <c:pt idx="2">
                    <c:v>需給エンジン</c:v>
                  </c:pt>
                </c:lvl>
              </c:multiLvlStrCache>
            </c:multiLvlStrRef>
          </c:cat>
          <c:val>
            <c:numRef>
              <c:f>Sheet1!$B$2:$B$4</c:f>
              <c:numCache>
                <c:formatCode>General</c:formatCode>
                <c:ptCount val="3"/>
                <c:pt idx="0">
                  <c:v>31</c:v>
                </c:pt>
                <c:pt idx="1">
                  <c:v>30.3</c:v>
                </c:pt>
                <c:pt idx="2">
                  <c:v>29.1</c:v>
                </c:pt>
              </c:numCache>
            </c:numRef>
          </c:val>
        </c:ser>
        <c:dLbls>
          <c:numFmt formatCode="0.0&quot;%&quot;" sourceLinked="0"/>
          <c:txPr>
            <a:bodyPr/>
            <a:lstStyle/>
            <a:p>
              <a:pPr>
                <a:defRPr b="0" i="0" strike="noStrike" sz="900" u="none">
                  <a:solidFill>
                    <a:srgbClr val="333333"/>
                  </a:solidFill>
                  <a:latin typeface="Meiryo U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12か月以内 860 億</c:v>
                </c:pt>
              </c:strCache>
            </c:strRef>
          </c:tx>
          <c:spPr>
            <a:solidFill>
              <a:srgbClr val="0E4D33"/>
            </a:solidFill>
            <a:effectLst/>
          </c:spPr>
          <c:invertIfNegative val="0"/>
          <c:dLbls>
            <c:numFmt formatCode="#,##0" sourceLinked="0"/>
            <c:txPr>
              <a:bodyPr/>
              <a:lstStyle/>
              <a:p>
                <a:pPr>
                  <a:defRPr b="0" i="0" strike="noStrike" sz="900" u="none">
                    <a:solidFill>
                      <a:srgbClr val="FFFFFF"/>
                    </a:solidFill>
                    <a:latin typeface="Meiryo UI"/>
                  </a:defRPr>
                </a:pPr>
              </a:p>
            </c:txPr>
            <c:dLblPos val="ctr"/>
            <c:showLegendKey val="0"/>
            <c:showVal val="0"/>
            <c:showCatName val="0"/>
            <c:showSerName val="0"/>
            <c:showPercent val="0"/>
            <c:showBubbleSize val="0"/>
            <c:showLeaderLines val="0"/>
          </c:dLbls>
          <c:cat>
            <c:multiLvlStrRef>
              <c:f>Sheet1!$A$2:$A$2</c:f>
              <c:multiLvlStrCache>
                <c:ptCount val="1"/>
                <c:lvl>
                  <c:pt idx="0">
                    <c:v>RPO</c:v>
                  </c:pt>
                </c:lvl>
              </c:multiLvlStrCache>
            </c:multiLvlStrRef>
          </c:cat>
          <c:val>
            <c:numRef>
              <c:f>Sheet1!$B$2:$B$2</c:f>
              <c:numCache>
                <c:formatCode>General</c:formatCode>
                <c:ptCount val="1"/>
                <c:pt idx="0">
                  <c:v>86</c:v>
                </c:pt>
              </c:numCache>
            </c:numRef>
          </c:val>
        </c:ser>
        <c:ser>
          <c:idx val="1"/>
          <c:order val="1"/>
          <c:tx>
            <c:strRef>
              <c:f>Sheet1!$C$1</c:f>
              <c:strCache>
                <c:ptCount val="1"/>
                <c:pt idx="0">
                  <c:v>13〜36か月 2,460 億</c:v>
                </c:pt>
              </c:strCache>
            </c:strRef>
          </c:tx>
          <c:spPr>
            <a:solidFill>
              <a:srgbClr val="197A56"/>
            </a:solidFill>
            <a:effectLst/>
          </c:spPr>
          <c:invertIfNegative val="0"/>
          <c:dLbls>
            <c:numFmt formatCode="#,##0" sourceLinked="0"/>
            <c:txPr>
              <a:bodyPr/>
              <a:lstStyle/>
              <a:p>
                <a:pPr>
                  <a:defRPr b="0" i="0" strike="noStrike" sz="900" u="none">
                    <a:solidFill>
                      <a:srgbClr val="FFFFFF"/>
                    </a:solidFill>
                    <a:latin typeface="Meiryo UI"/>
                  </a:defRPr>
                </a:pPr>
              </a:p>
            </c:txPr>
            <c:dLblPos val="ctr"/>
            <c:showLegendKey val="0"/>
            <c:showVal val="0"/>
            <c:showCatName val="0"/>
            <c:showSerName val="0"/>
            <c:showPercent val="0"/>
            <c:showBubbleSize val="0"/>
            <c:showLeaderLines val="0"/>
          </c:dLbls>
          <c:cat>
            <c:multiLvlStrRef>
              <c:f>Sheet1!$A$2:$A$2</c:f>
              <c:multiLvlStrCache>
                <c:ptCount val="1"/>
                <c:lvl>
                  <c:pt idx="0">
                    <c:v>RPO</c:v>
                  </c:pt>
                </c:lvl>
              </c:multiLvlStrCache>
            </c:multiLvlStrRef>
          </c:cat>
          <c:val>
            <c:numRef>
              <c:f>Sheet1!$C$2:$C$2</c:f>
              <c:numCache>
                <c:formatCode>General</c:formatCode>
                <c:ptCount val="1"/>
                <c:pt idx="0">
                  <c:v>246</c:v>
                </c:pt>
              </c:numCache>
            </c:numRef>
          </c:val>
        </c:ser>
        <c:ser>
          <c:idx val="2"/>
          <c:order val="2"/>
          <c:tx>
            <c:strRef>
              <c:f>Sheet1!$D$1</c:f>
              <c:strCache>
                <c:ptCount val="1"/>
                <c:pt idx="0">
                  <c:v>37〜60か月 2,260 億</c:v>
                </c:pt>
              </c:strCache>
            </c:strRef>
          </c:tx>
          <c:spPr>
            <a:solidFill>
              <a:srgbClr val="86C99B"/>
            </a:solidFill>
            <a:effectLst/>
          </c:spPr>
          <c:invertIfNegative val="0"/>
          <c:dLbls>
            <c:numFmt formatCode="#,##0" sourceLinked="0"/>
            <c:txPr>
              <a:bodyPr/>
              <a:lstStyle/>
              <a:p>
                <a:pPr>
                  <a:defRPr b="0" i="0" strike="noStrike" sz="900" u="none">
                    <a:solidFill>
                      <a:srgbClr val="FFFFFF"/>
                    </a:solidFill>
                    <a:latin typeface="Meiryo UI"/>
                  </a:defRPr>
                </a:pPr>
              </a:p>
            </c:txPr>
            <c:dLblPos val="ctr"/>
            <c:showLegendKey val="0"/>
            <c:showVal val="0"/>
            <c:showCatName val="0"/>
            <c:showSerName val="0"/>
            <c:showPercent val="0"/>
            <c:showBubbleSize val="0"/>
            <c:showLeaderLines val="0"/>
          </c:dLbls>
          <c:cat>
            <c:multiLvlStrRef>
              <c:f>Sheet1!$A$2:$A$2</c:f>
              <c:multiLvlStrCache>
                <c:ptCount val="1"/>
                <c:lvl>
                  <c:pt idx="0">
                    <c:v>RPO</c:v>
                  </c:pt>
                </c:lvl>
              </c:multiLvlStrCache>
            </c:multiLvlStrRef>
          </c:cat>
          <c:val>
            <c:numRef>
              <c:f>Sheet1!$D$2:$D$2</c:f>
              <c:numCache>
                <c:formatCode>General</c:formatCode>
                <c:ptCount val="1"/>
                <c:pt idx="0">
                  <c:v>226</c:v>
                </c:pt>
              </c:numCache>
            </c:numRef>
          </c:val>
        </c:ser>
        <c:ser>
          <c:idx val="3"/>
          <c:order val="3"/>
          <c:tx>
            <c:strRef>
              <c:f>Sheet1!$E$1</c:f>
              <c:strCache>
                <c:ptCount val="1"/>
                <c:pt idx="0">
                  <c:v>60か月超 1,060 億</c:v>
                </c:pt>
              </c:strCache>
            </c:strRef>
          </c:tx>
          <c:spPr>
            <a:solidFill>
              <a:srgbClr val="1BA1A6"/>
            </a:solidFill>
            <a:effectLst/>
          </c:spPr>
          <c:invertIfNegative val="0"/>
          <c:dLbls>
            <c:numFmt formatCode="#,##0" sourceLinked="0"/>
            <c:txPr>
              <a:bodyPr/>
              <a:lstStyle/>
              <a:p>
                <a:pPr>
                  <a:defRPr b="0" i="0" strike="noStrike" sz="900" u="none">
                    <a:solidFill>
                      <a:srgbClr val="FFFFFF"/>
                    </a:solidFill>
                    <a:latin typeface="Meiryo UI"/>
                  </a:defRPr>
                </a:pPr>
              </a:p>
            </c:txPr>
            <c:dLblPos val="ctr"/>
            <c:showLegendKey val="0"/>
            <c:showVal val="0"/>
            <c:showCatName val="0"/>
            <c:showSerName val="0"/>
            <c:showPercent val="0"/>
            <c:showBubbleSize val="0"/>
            <c:showLeaderLines val="0"/>
          </c:dLbls>
          <c:cat>
            <c:multiLvlStrRef>
              <c:f>Sheet1!$A$2:$A$2</c:f>
              <c:multiLvlStrCache>
                <c:ptCount val="1"/>
                <c:lvl>
                  <c:pt idx="0">
                    <c:v>RPO</c:v>
                  </c:pt>
                </c:lvl>
              </c:multiLvlStrCache>
            </c:multiLvlStrRef>
          </c:cat>
          <c:val>
            <c:numRef>
              <c:f>Sheet1!$E$2:$E$2</c:f>
              <c:numCache>
                <c:formatCode>General</c:formatCode>
                <c:ptCount val="1"/>
                <c:pt idx="0">
                  <c:v>106</c:v>
                </c:pt>
              </c:numCache>
            </c:numRef>
          </c:val>
        </c:ser>
        <c:dLbls>
          <c:numFmt formatCode="#,##0" sourceLinked="0"/>
          <c:txPr>
            <a:bodyPr/>
            <a:lstStyle/>
            <a:p>
              <a:pPr>
                <a:defRPr b="0" i="0" strike="noStrike" sz="900" u="none">
                  <a:solidFill>
                    <a:srgbClr val="FFFFFF"/>
                  </a:solidFill>
                  <a:latin typeface="Meiryo UI"/>
                </a:defRPr>
              </a:pPr>
            </a:p>
          </c:txPr>
          <c:dLblPos val="ct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6E6E6"/>
              </a:solidFill>
              <a:prstDash val="solid"/>
              <a:round/>
            </a:ln>
          </c:spPr>
        </c:majorGridlines>
        <c:title>
          <c:tx>
            <c:rich>
              <a:bodyPr/>
              <a:lstStyle/>
              <a:p>
                <a:pPr>
                  <a:defRPr sz="900" b="0" i="0" u="none" strike="noStrike">
                    <a:solidFill>
                      <a:srgbClr val="767676"/>
                    </a:solidFill>
                    <a:latin typeface="Arial"/>
                  </a:defRPr>
                </a:pPr>
                <a:r>
                  <a:rPr sz="900" b="0" i="0" u="none" strike="noStrike">
                    <a:solidFill>
                      <a:srgbClr val="767676"/>
                    </a:solidFill>
                    <a:latin typeface="Arial"/>
                  </a:rPr>
                  <a:t>単位: 10 億ドル</a:t>
                </a:r>
              </a:p>
            </c:rich>
          </c:tx>
          <c:layout/>
          <c:overlay val="0"/>
        </c:title>
        <c:numFmt formatCode="General" sourceLinked="0"/>
        <c:majorTickMark val="out"/>
        <c:minorTickMark val="none"/>
        <c:tickLblPos val="low"/>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valAx>
      <c:spPr>
        <a:noFill/>
        <a:ln>
          <a:noFill/>
        </a:ln>
        <a:effectLst/>
      </c:spPr>
    </c:plotArea>
    <c:legend>
      <c:legendPos val="b"/>
      <c:overlay val="0"/>
      <c:txPr>
        <a:bodyPr/>
        <a:lstStyle/>
        <a:p>
          <a:pPr>
            <a:defRPr sz="900">
              <a:latin typeface="Meiryo UI"/>
              <a:cs typeface="Meiryo UI"/>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市場</c:v>
                </c:pt>
              </c:strCache>
            </c:strRef>
          </c:tx>
          <c:spPr>
            <a:solidFill>
              <a:srgbClr val="D68910"/>
            </a:solidFill>
            <a:effectLst/>
          </c:spPr>
          <c:invertIfNegative val="0"/>
          <c:dLbls>
            <c:numFmt formatCode="0.0&quot;倍&quot;;;;" sourceLinked="0"/>
            <c:txPr>
              <a:bodyPr/>
              <a:lstStyle/>
              <a:p>
                <a:pPr>
                  <a:defRPr b="0" i="0" strike="noStrike" sz="900" u="none">
                    <a:solidFill>
                      <a:srgbClr val="FFFFFF"/>
                    </a:solidFill>
                    <a:latin typeface="Meiryo UI"/>
                  </a:defRPr>
                </a:pPr>
              </a:p>
            </c:txPr>
            <c:dLblPos val="ctr"/>
            <c:showLegendKey val="0"/>
            <c:showVal val="1"/>
            <c:showCatName val="0"/>
            <c:showSerName val="0"/>
            <c:showPercent val="0"/>
            <c:showBubbleSize val="0"/>
            <c:showLeaderLines val="0"/>
          </c:dLbls>
          <c:cat>
            <c:multiLvlStrRef>
              <c:f>Sheet1!$A$2:$A$5</c:f>
              <c:multiLvlStrCache>
                <c:ptCount val="4"/>
                <c:lvl>
                  <c:pt idx="0">
                    <c:v>弱気</c:v>
                  </c:pt>
                  <c:pt idx="1">
                    <c:v>市場(株価 139.56)</c:v>
                  </c:pt>
                  <c:pt idx="2">
                    <c:v>ベース</c:v>
                  </c:pt>
                  <c:pt idx="3">
                    <c:v>強気</c:v>
                  </c:pt>
                </c:lvl>
              </c:multiLvlStrCache>
            </c:multiLvlStrRef>
          </c:cat>
          <c:val>
            <c:numRef>
              <c:f>Sheet1!$B$2:$B$5</c:f>
              <c:numCache>
                <c:formatCode>General</c:formatCode>
                <c:ptCount val="4"/>
                <c:pt idx="0">
                  <c:v>0</c:v>
                </c:pt>
                <c:pt idx="1">
                  <c:v>13.9</c:v>
                </c:pt>
                <c:pt idx="2">
                  <c:v>0</c:v>
                </c:pt>
                <c:pt idx="3">
                  <c:v>0</c:v>
                </c:pt>
              </c:numCache>
            </c:numRef>
          </c:val>
        </c:ser>
        <c:ser>
          <c:idx val="1"/>
          <c:order val="1"/>
          <c:tx>
            <c:strRef>
              <c:f>Sheet1!$C$1</c:f>
              <c:strCache>
                <c:ptCount val="1"/>
                <c:pt idx="0">
                  <c:v>シナリオ</c:v>
                </c:pt>
              </c:strCache>
            </c:strRef>
          </c:tx>
          <c:spPr>
            <a:solidFill>
              <a:srgbClr val="197A56"/>
            </a:solidFill>
            <a:effectLst/>
          </c:spPr>
          <c:invertIfNegative val="0"/>
          <c:dLbls>
            <c:numFmt formatCode="0.0&quot;倍&quot;;;;" sourceLinked="0"/>
            <c:txPr>
              <a:bodyPr/>
              <a:lstStyle/>
              <a:p>
                <a:pPr>
                  <a:defRPr b="0" i="0" strike="noStrike" sz="900" u="none">
                    <a:solidFill>
                      <a:srgbClr val="FFFFFF"/>
                    </a:solidFill>
                    <a:latin typeface="Meiryo UI"/>
                  </a:defRPr>
                </a:pPr>
              </a:p>
            </c:txPr>
            <c:dLblPos val="ctr"/>
            <c:showLegendKey val="0"/>
            <c:showVal val="1"/>
            <c:showCatName val="0"/>
            <c:showSerName val="0"/>
            <c:showPercent val="0"/>
            <c:showBubbleSize val="0"/>
            <c:showLeaderLines val="0"/>
          </c:dLbls>
          <c:cat>
            <c:multiLvlStrRef>
              <c:f>Sheet1!$A$2:$A$5</c:f>
              <c:multiLvlStrCache>
                <c:ptCount val="4"/>
                <c:lvl>
                  <c:pt idx="0">
                    <c:v>弱気</c:v>
                  </c:pt>
                  <c:pt idx="1">
                    <c:v>市場(株価 139.56)</c:v>
                  </c:pt>
                  <c:pt idx="2">
                    <c:v>ベース</c:v>
                  </c:pt>
                  <c:pt idx="3">
                    <c:v>強気</c:v>
                  </c:pt>
                </c:lvl>
              </c:multiLvlStrCache>
            </c:multiLvlStrRef>
          </c:cat>
          <c:val>
            <c:numRef>
              <c:f>Sheet1!$C$2:$C$5</c:f>
              <c:numCache>
                <c:formatCode>General</c:formatCode>
                <c:ptCount val="4"/>
                <c:pt idx="0">
                  <c:v>13.8</c:v>
                </c:pt>
                <c:pt idx="1">
                  <c:v>0</c:v>
                </c:pt>
                <c:pt idx="2">
                  <c:v>24</c:v>
                </c:pt>
                <c:pt idx="3">
                  <c:v>31</c:v>
                </c:pt>
              </c:numCache>
            </c:numRef>
          </c:val>
        </c:ser>
        <c:dLbls>
          <c:numFmt formatCode="0.0&quot;倍&quot;;;;" sourceLinked="0"/>
          <c:txPr>
            <a:bodyPr/>
            <a:lstStyle/>
            <a:p>
              <a:pPr>
                <a:defRPr b="0" i="0" strike="noStrike" sz="900" u="none">
                  <a:solidFill>
                    <a:srgbClr val="FFFFFF"/>
                  </a:solidFill>
                  <a:latin typeface="Meiryo UI"/>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6E6E6"/>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8"/>
          <c:y val="0.145"/>
          <c:w val="0.9"/>
          <c:h val="0.75"/>
        </c:manualLayout>
      </c:layout>
      <c:barChart>
        <c:barDir val="col"/>
        <c:grouping val="clustered"/>
        <c:varyColors val="0"/>
        <c:ser>
          <c:idx val="0"/>
          <c:order val="0"/>
          <c:tx>
            <c:strRef>
              <c:f>Sheet1!$B$1</c:f>
              <c:strCache>
                <c:ptCount val="1"/>
                <c:pt idx="0">
                  <c:v>割合(%)</c:v>
                </c:pt>
              </c:strCache>
            </c:strRef>
          </c:tx>
          <c:spPr>
            <a:solidFill>
              <a:srgbClr val="197A56"/>
            </a:solidFill>
            <a:effectLst/>
          </c:spPr>
          <c:invertIfNegative val="0"/>
          <c:dLbls>
            <c:numFmt formatCode="#,##0" sourceLinked="0"/>
            <c:txPr>
              <a:bodyPr/>
              <a:lstStyle/>
              <a:p>
                <a:pPr>
                  <a:defRPr b="0" i="0" strike="noStrike" sz="900" u="none">
                    <a:solidFill>
                      <a:srgbClr val="333333"/>
                    </a:solidFill>
                    <a:latin typeface="Meiryo UI"/>
                  </a:defRPr>
                </a:pPr>
              </a:p>
            </c:txPr>
            <c:showLegendKey val="0"/>
            <c:showVal val="0"/>
            <c:showCatName val="0"/>
            <c:showSerName val="0"/>
            <c:showPercent val="0"/>
            <c:showBubbleSize val="0"/>
            <c:showLeaderLines val="0"/>
          </c:dLbls>
          <c:cat>
            <c:multiLvlStrRef>
              <c:f>Sheet1!$A$2:$A$14</c:f>
              <c:multiLvlStrCache>
                <c:ptCount val="13"/>
                <c:lvl>
                  <c:pt idx="0">
                    <c:v>75</c:v>
                  </c:pt>
                  <c:pt idx="1">
                    <c:v>100</c:v>
                  </c:pt>
                  <c:pt idx="2">
                    <c:v>125</c:v>
                  </c:pt>
                  <c:pt idx="3">
                    <c:v>150</c:v>
                  </c:pt>
                  <c:pt idx="4">
                    <c:v>175</c:v>
                  </c:pt>
                  <c:pt idx="5">
                    <c:v>200</c:v>
                  </c:pt>
                  <c:pt idx="6">
                    <c:v>225</c:v>
                  </c:pt>
                  <c:pt idx="7">
                    <c:v>250</c:v>
                  </c:pt>
                  <c:pt idx="8">
                    <c:v>275</c:v>
                  </c:pt>
                  <c:pt idx="9">
                    <c:v>300</c:v>
                  </c:pt>
                  <c:pt idx="10">
                    <c:v>325</c:v>
                  </c:pt>
                  <c:pt idx="11">
                    <c:v>350</c:v>
                  </c:pt>
                  <c:pt idx="12">
                    <c:v>375 以上</c:v>
                  </c:pt>
                </c:lvl>
              </c:multiLvlStrCache>
            </c:multiLvlStrRef>
          </c:cat>
          <c:val>
            <c:numRef>
              <c:f>Sheet1!$B$2:$B$14</c:f>
              <c:numCache>
                <c:formatCode>General</c:formatCode>
                <c:ptCount val="13"/>
                <c:pt idx="0">
                  <c:v>0.1</c:v>
                </c:pt>
                <c:pt idx="1">
                  <c:v>5</c:v>
                </c:pt>
                <c:pt idx="2">
                  <c:v>6.5</c:v>
                </c:pt>
                <c:pt idx="3">
                  <c:v>11.9</c:v>
                </c:pt>
                <c:pt idx="4">
                  <c:v>13.6</c:v>
                </c:pt>
                <c:pt idx="5">
                  <c:v>18.9</c:v>
                </c:pt>
                <c:pt idx="6">
                  <c:v>14.2</c:v>
                </c:pt>
                <c:pt idx="7">
                  <c:v>11.6</c:v>
                </c:pt>
                <c:pt idx="8">
                  <c:v>7.2</c:v>
                </c:pt>
                <c:pt idx="9">
                  <c:v>4.1</c:v>
                </c:pt>
                <c:pt idx="10">
                  <c:v>2.8</c:v>
                </c:pt>
                <c:pt idx="11">
                  <c:v>1.7</c:v>
                </c:pt>
                <c:pt idx="12">
                  <c:v>2.4</c:v>
                </c:pt>
              </c:numCache>
            </c:numRef>
          </c:val>
        </c:ser>
        <c:dLbls>
          <c:numFmt formatCode="#,##0" sourceLinked="0"/>
          <c:txPr>
            <a:bodyPr/>
            <a:lstStyle/>
            <a:p>
              <a:pPr>
                <a:defRPr b="0" i="0" strike="noStrike" sz="900" u="none">
                  <a:solidFill>
                    <a:srgbClr val="333333"/>
                  </a:solidFill>
                  <a:latin typeface="Meiryo UI"/>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max val="20"/>
          <c:min val="0"/>
        </c:scaling>
        <c:delete val="0"/>
        <c:axPos val="l"/>
        <c:majorGridlines>
          <c:spPr>
            <a:ln w="6350" cap="flat">
              <a:solidFill>
                <a:srgbClr val="E6E6E6"/>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強気</c:v>
                </c:pt>
              </c:strCache>
            </c:strRef>
          </c:tx>
          <c:spPr>
            <a:solidFill>
              <a:srgbClr val="86C99B"/>
            </a:solidFill>
            <a:ln w="25400" cap="flat">
              <a:solidFill>
                <a:srgbClr val="86C99B"/>
              </a:solidFill>
              <a:prstDash val="solid"/>
              <a:round/>
            </a:ln>
            <a:effectLst/>
          </c:spPr>
          <c:invertIfNegative val="0"/>
          <c:dLbls>
            <c:numFmt formatCode="0.0" sourceLinked="0"/>
            <c:txPr>
              <a:bodyPr/>
              <a:lstStyle/>
              <a:p>
                <a:pPr>
                  <a:defRPr b="0" i="0" strike="noStrike" sz="900" u="none">
                    <a:solidFill>
                      <a:srgbClr val="333333"/>
                    </a:solidFill>
                    <a:latin typeface="Meiryo UI"/>
                  </a:defRPr>
                </a:pPr>
              </a:p>
            </c:txPr>
            <c:dLblPos val="t"/>
            <c:showLegendKey val="0"/>
            <c:showVal val="0"/>
            <c:showCatName val="0"/>
            <c:showSerName val="0"/>
            <c:showPercent val="0"/>
            <c:showBubbleSize val="0"/>
            <c:showLeaderLines val="0"/>
          </c:dLbls>
          <c:marker>
            <c:symbol val="circle"/>
            <c:size val="6"/>
            <c:spPr>
              <a:solidFill>
                <a:srgbClr val="86C99B"/>
              </a:solidFill>
              <a:ln w="9525" cap="flat">
                <a:solidFill>
                  <a:srgbClr val="86C99B"/>
                </a:solidFill>
                <a:prstDash val="solid"/>
                <a:round/>
              </a:ln>
              <a:effectLst/>
            </c:spPr>
          </c:marker>
          <c:cat>
            <c:multiLvlStrRef>
              <c:f>Sheet1!$A$2:$A$7</c:f>
              <c:multiLvlStrCache>
                <c:ptCount val="6"/>
                <c:lvl>
                  <c:pt idx="0">
                    <c:v>FY27</c:v>
                  </c:pt>
                  <c:pt idx="1">
                    <c:v>FY28</c:v>
                  </c:pt>
                  <c:pt idx="2">
                    <c:v>FY29</c:v>
                  </c:pt>
                  <c:pt idx="3">
                    <c:v>FY30</c:v>
                  </c:pt>
                  <c:pt idx="4">
                    <c:v>FY31(延長)</c:v>
                  </c:pt>
                  <c:pt idx="5">
                    <c:v>FY32(延長)</c:v>
                  </c:pt>
                </c:lvl>
              </c:multiLvlStrCache>
            </c:multiLvlStrRef>
          </c:cat>
          <c:val>
            <c:numRef>
              <c:f>Sheet1!$B$2:$B$7</c:f>
              <c:numCache>
                <c:formatCode>General</c:formatCode>
                <c:ptCount val="6"/>
                <c:pt idx="0">
                  <c:v>7.04</c:v>
                </c:pt>
                <c:pt idx="1">
                  <c:v>11.07</c:v>
                </c:pt>
                <c:pt idx="2">
                  <c:v>17.41</c:v>
                </c:pt>
                <c:pt idx="3">
                  <c:v>22.78</c:v>
                </c:pt>
                <c:pt idx="4">
                  <c:v>27.22</c:v>
                </c:pt>
                <c:pt idx="5">
                  <c:v>34.06</c:v>
                </c:pt>
              </c:numCache>
            </c:numRef>
          </c:val>
          <c:smooth val="0"/>
        </c:ser>
        <c:ser>
          <c:idx val="1"/>
          <c:order val="1"/>
          <c:tx>
            <c:strRef>
              <c:f>Sheet1!$C$1</c:f>
              <c:strCache>
                <c:ptCount val="1"/>
                <c:pt idx="0">
                  <c:v>弱気</c:v>
                </c:pt>
              </c:strCache>
            </c:strRef>
          </c:tx>
          <c:spPr>
            <a:solidFill>
              <a:srgbClr val="C0392B"/>
            </a:solidFill>
            <a:ln w="25400" cap="flat">
              <a:solidFill>
                <a:srgbClr val="C0392B"/>
              </a:solidFill>
              <a:prstDash val="solid"/>
              <a:round/>
            </a:ln>
            <a:effectLst/>
          </c:spPr>
          <c:invertIfNegative val="0"/>
          <c:dLbls>
            <c:numFmt formatCode="0.0" sourceLinked="0"/>
            <c:txPr>
              <a:bodyPr/>
              <a:lstStyle/>
              <a:p>
                <a:pPr>
                  <a:defRPr b="0" i="0" strike="noStrike" sz="900" u="none">
                    <a:solidFill>
                      <a:srgbClr val="333333"/>
                    </a:solidFill>
                    <a:latin typeface="Meiryo UI"/>
                  </a:defRPr>
                </a:pPr>
              </a:p>
            </c:txPr>
            <c:dLblPos val="t"/>
            <c:showLegendKey val="0"/>
            <c:showVal val="0"/>
            <c:showCatName val="0"/>
            <c:showSerName val="0"/>
            <c:showPercent val="0"/>
            <c:showBubbleSize val="0"/>
            <c:showLeaderLines val="0"/>
          </c:dLbls>
          <c:marker>
            <c:symbol val="circle"/>
            <c:size val="6"/>
            <c:spPr>
              <a:solidFill>
                <a:srgbClr val="C0392B"/>
              </a:solidFill>
              <a:ln w="9525" cap="flat">
                <a:solidFill>
                  <a:srgbClr val="C0392B"/>
                </a:solidFill>
                <a:prstDash val="solid"/>
                <a:round/>
              </a:ln>
              <a:effectLst/>
            </c:spPr>
          </c:marker>
          <c:cat>
            <c:multiLvlStrRef>
              <c:f>Sheet1!$A$2:$A$7</c:f>
              <c:multiLvlStrCache>
                <c:ptCount val="6"/>
                <c:lvl>
                  <c:pt idx="0">
                    <c:v>FY27</c:v>
                  </c:pt>
                  <c:pt idx="1">
                    <c:v>FY28</c:v>
                  </c:pt>
                  <c:pt idx="2">
                    <c:v>FY29</c:v>
                  </c:pt>
                  <c:pt idx="3">
                    <c:v>FY30</c:v>
                  </c:pt>
                  <c:pt idx="4">
                    <c:v>FY31(延長)</c:v>
                  </c:pt>
                  <c:pt idx="5">
                    <c:v>FY32(延長)</c:v>
                  </c:pt>
                </c:lvl>
              </c:multiLvlStrCache>
            </c:multiLvlStrRef>
          </c:cat>
          <c:val>
            <c:numRef>
              <c:f>Sheet1!$C$2:$C$7</c:f>
              <c:numCache>
                <c:formatCode>General</c:formatCode>
                <c:ptCount val="6"/>
                <c:pt idx="0">
                  <c:v>6.69</c:v>
                </c:pt>
                <c:pt idx="1">
                  <c:v>9.94</c:v>
                </c:pt>
                <c:pt idx="2">
                  <c:v>11.78</c:v>
                </c:pt>
                <c:pt idx="3">
                  <c:v>13.61</c:v>
                </c:pt>
                <c:pt idx="4">
                  <c:v>10.01</c:v>
                </c:pt>
                <c:pt idx="5">
                  <c:v>10.48</c:v>
                </c:pt>
              </c:numCache>
            </c:numRef>
          </c:val>
          <c:smooth val="0"/>
        </c:ser>
        <c:dLbls>
          <c:numFmt formatCode="0.0" sourceLinked="0"/>
          <c:txPr>
            <a:bodyPr/>
            <a:lstStyle/>
            <a:p>
              <a:pPr>
                <a:defRPr b="0" i="0" strike="noStrike" sz="900" u="none">
                  <a:solidFill>
                    <a:srgbClr val="333333"/>
                  </a:solidFill>
                  <a:latin typeface="Meiryo UI"/>
                </a:defRPr>
              </a:pPr>
            </a:p>
          </c:txPr>
          <c:dLblPos val="t"/>
          <c:showLegendKey val="0"/>
          <c:showVal val="0"/>
          <c:showCatName val="0"/>
          <c:showSerName val="0"/>
          <c:showPercent val="0"/>
          <c:showBubbleSize val="0"/>
          <c:showLeaderLines val="0"/>
        </c:dLbls>
        <c:marker val="1"/>
        <c:axId val="2094734554"/>
        <c:axId val="2094734552"/>
        <c:axId val="2094734556"/>
      </c:lineChart>
      <c:lineChart>
        <c:varyColors val="0"/>
        <c:ser>
          <c:idx val="2"/>
          <c:order val="2"/>
          <c:tx>
            <c:strRef>
              <c:f>Sheet1!$D$1</c:f>
              <c:strCache>
                <c:ptCount val="1"/>
                <c:pt idx="0">
                  <c:v>ベース</c:v>
                </c:pt>
              </c:strCache>
            </c:strRef>
          </c:tx>
          <c:spPr>
            <a:solidFill>
              <a:srgbClr val="197A56"/>
            </a:solidFill>
            <a:ln w="25400" cap="flat">
              <a:solidFill>
                <a:srgbClr val="197A56"/>
              </a:solidFill>
              <a:prstDash val="solid"/>
              <a:round/>
            </a:ln>
            <a:effectLst/>
          </c:spPr>
          <c:invertIfNegative val="0"/>
          <c:dLbls>
            <c:numFmt formatCode="0.0" sourceLinked="0"/>
            <c:txPr>
              <a:bodyPr/>
              <a:lstStyle/>
              <a:p>
                <a:pPr>
                  <a:defRPr b="0" i="0" strike="noStrike" sz="900" u="none">
                    <a:solidFill>
                      <a:srgbClr val="333333"/>
                    </a:solidFill>
                    <a:latin typeface="Meiryo UI"/>
                  </a:defRPr>
                </a:pPr>
              </a:p>
            </c:txPr>
            <c:dLblPos val="t"/>
            <c:showLegendKey val="0"/>
            <c:showVal val="1"/>
            <c:showCatName val="0"/>
            <c:showSerName val="0"/>
            <c:showPercent val="0"/>
            <c:showBubbleSize val="0"/>
            <c:showLeaderLines val="0"/>
          </c:dLbls>
          <c:marker>
            <c:symbol val="circle"/>
            <c:size val="6"/>
            <c:spPr>
              <a:solidFill>
                <a:srgbClr val="197A56"/>
              </a:solidFill>
              <a:ln w="9525" cap="flat">
                <a:solidFill>
                  <a:srgbClr val="197A56"/>
                </a:solidFill>
                <a:prstDash val="solid"/>
                <a:round/>
              </a:ln>
              <a:effectLst/>
            </c:spPr>
          </c:marker>
          <c:cat>
            <c:multiLvlStrRef>
              <c:f>Sheet1!$A$2:$A$7</c:f>
              <c:multiLvlStrCache>
                <c:ptCount val="6"/>
                <c:lvl>
                  <c:pt idx="0">
                    <c:v>FY27</c:v>
                  </c:pt>
                  <c:pt idx="1">
                    <c:v>FY28</c:v>
                  </c:pt>
                  <c:pt idx="2">
                    <c:v>FY29</c:v>
                  </c:pt>
                  <c:pt idx="3">
                    <c:v>FY30</c:v>
                  </c:pt>
                  <c:pt idx="4">
                    <c:v>FY31(延長)</c:v>
                  </c:pt>
                  <c:pt idx="5">
                    <c:v>FY32(延長)</c:v>
                  </c:pt>
                </c:lvl>
              </c:multiLvlStrCache>
            </c:multiLvlStrRef>
          </c:cat>
          <c:val>
            <c:numRef>
              <c:f>Sheet1!$D$2:$D$7</c:f>
              <c:numCache>
                <c:formatCode>General</c:formatCode>
                <c:ptCount val="6"/>
                <c:pt idx="0">
                  <c:v>6.89</c:v>
                </c:pt>
                <c:pt idx="1">
                  <c:v>10.62</c:v>
                </c:pt>
                <c:pt idx="2">
                  <c:v>15.89</c:v>
                </c:pt>
                <c:pt idx="3">
                  <c:v>19.6</c:v>
                </c:pt>
                <c:pt idx="4">
                  <c:v>22.81</c:v>
                </c:pt>
                <c:pt idx="5">
                  <c:v>26.63</c:v>
                </c:pt>
              </c:numCache>
            </c:numRef>
          </c:val>
          <c:smooth val="0"/>
        </c:ser>
        <c:dLbls>
          <c:numFmt formatCode="0.0" sourceLinked="0"/>
          <c:txPr>
            <a:bodyPr/>
            <a:lstStyle/>
            <a:p>
              <a:pPr>
                <a:defRPr b="0" i="0" strike="noStrike" sz="900" u="none">
                  <a:solidFill>
                    <a:srgbClr val="333333"/>
                  </a:solidFill>
                  <a:latin typeface="Meiryo UI"/>
                </a:defRPr>
              </a:pPr>
            </a:p>
          </c:txPr>
          <c:dLblPos val="t"/>
          <c:showLegendKey val="0"/>
          <c:showVal val="1"/>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valAx>
      <c:valAx>
        <c:axId val="2094734553"/>
        <c:scaling>
          <c:orientation val="minMax"/>
          <c:max val="40"/>
          <c:min val="0"/>
        </c:scaling>
        <c:delete val="1"/>
        <c:axPos val="r"/>
        <c:majorGridlines>
          <c:spPr>
            <a:ln w="6350"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767676"/>
                </a:solidFill>
                <a:latin typeface="Meiryo UI"/>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3"/>
        <c:crosses val="autoZero"/>
        <c:auto val="1"/>
        <c:lblAlgn val="ctr"/>
        <c:noMultiLvlLbl val="1"/>
      </c:catAx>
      <c:spPr>
        <a:noFill/>
        <a:ln>
          <a:noFill/>
        </a:ln>
        <a:effectLst/>
      </c:spPr>
    </c:plotArea>
    <c:legend>
      <c:legendPos val="b"/>
      <c:overlay val="0"/>
      <c:txPr>
        <a:bodyPr/>
        <a:lstStyle/>
        <a:p>
          <a:pPr>
            <a:defRPr sz="900">
              <a:latin typeface="Meiryo UI"/>
              <a:cs typeface="Meiryo UI"/>
            </a:defRPr>
          </a:pPr>
          <a:endParaRPr lang="en-US"/>
        </a:p>
      </c:txPr>
    </c:legend>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8"/>
          <c:y val="0.06"/>
          <c:w val="0.9"/>
          <c:h val="0.82"/>
        </c:manualLayout>
      </c:layout>
      <c:barChart>
        <c:barDir val="col"/>
        <c:grouping val="clustered"/>
        <c:varyColors val="0"/>
        <c:ser>
          <c:idx val="0"/>
          <c:order val="0"/>
          <c:tx>
            <c:strRef>
              <c:f>Sheet1!$B$1</c:f>
              <c:strCache>
                <c:ptCount val="1"/>
                <c:pt idx="0">
                  <c:v>理論株価(ドル)</c:v>
                </c:pt>
              </c:strCache>
            </c:strRef>
          </c:tx>
          <c:spPr>
            <a:solidFill>
              <a:srgbClr val="197A56"/>
            </a:solidFill>
            <a:effectLst/>
          </c:spPr>
          <c:invertIfNegative val="0"/>
          <c:dLbls>
            <c:numFmt formatCode="0" sourceLinked="0"/>
            <c:txPr>
              <a:bodyPr/>
              <a:lstStyle/>
              <a:p>
                <a:pPr>
                  <a:defRPr b="0" i="0" strike="noStrike" sz="900" u="none">
                    <a:solidFill>
                      <a:srgbClr val="333333"/>
                    </a:solidFill>
                    <a:latin typeface="Meiryo UI"/>
                  </a:defRPr>
                </a:pPr>
              </a:p>
            </c:txPr>
            <c:showLegendKey val="0"/>
            <c:showVal val="1"/>
            <c:showCatName val="0"/>
            <c:showSerName val="0"/>
            <c:showPercent val="0"/>
            <c:showBubbleSize val="0"/>
            <c:showLeaderLines val="0"/>
          </c:dLbls>
          <c:cat>
            <c:multiLvlStrRef>
              <c:f>Sheet1!$A$2:$A$6</c:f>
              <c:multiLvlStrCache>
                <c:ptCount val="5"/>
                <c:lvl>
                  <c:pt idx="0">
                    <c:v>弱気 15%</c:v>
                  </c:pt>
                  <c:pt idx="1">
                    <c:v>25%(本資料)</c:v>
                  </c:pt>
                  <c:pt idx="2">
                    <c:v>35%</c:v>
                  </c:pt>
                  <c:pt idx="3">
                    <c:v>50%</c:v>
                  </c:pt>
                  <c:pt idx="4">
                    <c:v>75%</c:v>
                  </c:pt>
                </c:lvl>
              </c:multiLvlStrCache>
            </c:multiLvlStrRef>
          </c:cat>
          <c:val>
            <c:numRef>
              <c:f>Sheet1!$B$2:$B$6</c:f>
              <c:numCache>
                <c:formatCode>General</c:formatCode>
                <c:ptCount val="5"/>
                <c:pt idx="0">
                  <c:v>260</c:v>
                </c:pt>
                <c:pt idx="1">
                  <c:v>245</c:v>
                </c:pt>
                <c:pt idx="2">
                  <c:v>230</c:v>
                </c:pt>
                <c:pt idx="3">
                  <c:v>208</c:v>
                </c:pt>
                <c:pt idx="4">
                  <c:v>171</c:v>
                </c:pt>
              </c:numCache>
            </c:numRef>
          </c:val>
        </c:ser>
        <c:dLbls>
          <c:numFmt formatCode="0" sourceLinked="0"/>
          <c:txPr>
            <a:bodyPr/>
            <a:lstStyle/>
            <a:p>
              <a:pPr>
                <a:defRPr b="0" i="0" strike="noStrike" sz="900" u="none">
                  <a:solidFill>
                    <a:srgbClr val="333333"/>
                  </a:solidFill>
                  <a:latin typeface="Meiryo U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max val="300"/>
          <c:min val="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理論株価(ドル)</c:v>
                </c:pt>
              </c:strCache>
            </c:strRef>
          </c:tx>
          <c:spPr>
            <a:solidFill>
              <a:srgbClr val="197A56"/>
            </a:solidFill>
            <a:effectLst/>
          </c:spPr>
          <c:invertIfNegative val="0"/>
          <c:dLbls>
            <c:numFmt formatCode="0" sourceLinked="0"/>
            <c:txPr>
              <a:bodyPr/>
              <a:lstStyle/>
              <a:p>
                <a:pPr>
                  <a:defRPr b="0" i="0" strike="noStrike" sz="900" u="none">
                    <a:solidFill>
                      <a:srgbClr val="333333"/>
                    </a:solidFill>
                    <a:latin typeface="Meiryo UI"/>
                  </a:defRPr>
                </a:pPr>
              </a:p>
            </c:txPr>
            <c:showLegendKey val="0"/>
            <c:showVal val="1"/>
            <c:showCatName val="0"/>
            <c:showSerName val="0"/>
            <c:showPercent val="0"/>
            <c:showBubbleSize val="0"/>
            <c:showLeaderLines val="0"/>
          </c:dLbls>
          <c:cat>
            <c:multiLvlStrRef>
              <c:f>Sheet1!$A$2:$A$10</c:f>
              <c:multiLvlStrCache>
                <c:ptCount val="9"/>
                <c:lvl>
                  <c:pt idx="0">
                    <c:v>第1版</c:v>
                  </c:pt>
                  <c:pt idx="1">
                    <c:v>第3版</c:v>
                  </c:pt>
                  <c:pt idx="2">
                    <c:v>第3.1版</c:v>
                  </c:pt>
                  <c:pt idx="3">
                    <c:v>第4.0版</c:v>
                  </c:pt>
                  <c:pt idx="4">
                    <c:v>第4.1版</c:v>
                  </c:pt>
                  <c:pt idx="5">
                    <c:v>第4.2版</c:v>
                  </c:pt>
                  <c:pt idx="6">
                    <c:v>第4.3版</c:v>
                  </c:pt>
                  <c:pt idx="7">
                    <c:v>第4.4版</c:v>
                  </c:pt>
                  <c:pt idx="8">
                    <c:v>第4.5版</c:v>
                  </c:pt>
                </c:lvl>
              </c:multiLvlStrCache>
            </c:multiLvlStrRef>
          </c:cat>
          <c:val>
            <c:numRef>
              <c:f>Sheet1!$B$2:$B$10</c:f>
              <c:numCache>
                <c:formatCode>General</c:formatCode>
                <c:ptCount val="9"/>
                <c:pt idx="0">
                  <c:v>134</c:v>
                </c:pt>
                <c:pt idx="1">
                  <c:v>137</c:v>
                </c:pt>
                <c:pt idx="2">
                  <c:v>151</c:v>
                </c:pt>
                <c:pt idx="3">
                  <c:v>270</c:v>
                </c:pt>
                <c:pt idx="4">
                  <c:v>277</c:v>
                </c:pt>
                <c:pt idx="5">
                  <c:v>255</c:v>
                </c:pt>
                <c:pt idx="6">
                  <c:v>251</c:v>
                </c:pt>
                <c:pt idx="7">
                  <c:v>236</c:v>
                </c:pt>
                <c:pt idx="8">
                  <c:v>245</c:v>
                </c:pt>
              </c:numCache>
            </c:numRef>
          </c:val>
        </c:ser>
        <c:dLbls>
          <c:numFmt formatCode="0" sourceLinked="0"/>
          <c:txPr>
            <a:bodyPr/>
            <a:lstStyle/>
            <a:p>
              <a:pPr>
                <a:defRPr b="0" i="0" strike="noStrike" sz="900" u="none">
                  <a:solidFill>
                    <a:srgbClr val="333333"/>
                  </a:solidFill>
                  <a:latin typeface="Meiryo U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37"/>
          <c:y val="0.1"/>
          <c:w val="0.58"/>
          <c:h val="0.8"/>
        </c:manualLayout>
      </c:layout>
      <c:barChart>
        <c:barDir val="bar"/>
        <c:grouping val="clustered"/>
        <c:varyColors val="0"/>
        <c:ser>
          <c:idx val="0"/>
          <c:order val="0"/>
          <c:tx>
            <c:strRef>
              <c:f>Sheet1!$B$1</c:f>
              <c:strCache>
                <c:ptCount val="1"/>
                <c:pt idx="0">
                  <c:v>理論株価(ドル)</c:v>
                </c:pt>
              </c:strCache>
            </c:strRef>
          </c:tx>
          <c:spPr>
            <a:solidFill>
              <a:srgbClr val="197A56"/>
            </a:solidFill>
            <a:effectLst/>
          </c:spPr>
          <c:invertIfNegative val="0"/>
          <c:dLbls>
            <c:numFmt formatCode="0.0" sourceLinked="0"/>
            <c:txPr>
              <a:bodyPr/>
              <a:lstStyle/>
              <a:p>
                <a:pPr>
                  <a:defRPr b="0" i="0" strike="noStrike" sz="900" u="none">
                    <a:solidFill>
                      <a:srgbClr val="333333"/>
                    </a:solidFill>
                    <a:latin typeface="Meiryo UI"/>
                  </a:defRPr>
                </a:pPr>
              </a:p>
            </c:txPr>
            <c:showLegendKey val="0"/>
            <c:showVal val="1"/>
            <c:showCatName val="0"/>
            <c:showSerName val="0"/>
            <c:showPercent val="0"/>
            <c:showBubbleSize val="0"/>
            <c:showLeaderLines val="0"/>
          </c:dLbls>
          <c:cat>
            <c:multiLvlStrRef>
              <c:f>Sheet1!$A$2:$A$7</c:f>
              <c:multiLvlStrCache>
                <c:ptCount val="6"/>
                <c:lvl>
                  <c:pt idx="0">
                    <c:v>外部資料の結論</c:v>
                  </c:pt>
                  <c:pt idx="1">
                    <c:v>3 つ同時</c:v>
                  </c:pt>
                  <c:pt idx="2">
                    <c:v>PEG 1.196</c:v>
                  </c:pt>
                  <c:pt idx="3">
                    <c:v>株主資本コスト 9.20%</c:v>
                  </c:pt>
                  <c:pt idx="4">
                    <c:v>外部資料の EPS</c:v>
                  </c:pt>
                  <c:pt idx="5">
                    <c:v>本資料(第4.5版)</c:v>
                  </c:pt>
                </c:lvl>
              </c:multiLvlStrCache>
            </c:multiLvlStrRef>
          </c:cat>
          <c:val>
            <c:numRef>
              <c:f>Sheet1!$B$2:$B$7</c:f>
              <c:numCache>
                <c:formatCode>General</c:formatCode>
                <c:ptCount val="6"/>
                <c:pt idx="0">
                  <c:v>244.7</c:v>
                </c:pt>
                <c:pt idx="1">
                  <c:v>222</c:v>
                </c:pt>
                <c:pt idx="2">
                  <c:v>259.1</c:v>
                </c:pt>
                <c:pt idx="3">
                  <c:v>251.9</c:v>
                </c:pt>
                <c:pt idx="4">
                  <c:v>207.5</c:v>
                </c:pt>
                <c:pt idx="5">
                  <c:v>245.2</c:v>
                </c:pt>
              </c:numCache>
            </c:numRef>
          </c:val>
        </c:ser>
        <c:dLbls>
          <c:numFmt formatCode="0.0" sourceLinked="0"/>
          <c:txPr>
            <a:bodyPr/>
            <a:lstStyle/>
            <a:p>
              <a:pPr>
                <a:defRPr b="0" i="0" strike="noStrike" sz="900" u="none">
                  <a:solidFill>
                    <a:srgbClr val="333333"/>
                  </a:solidFill>
                  <a:latin typeface="Meiryo U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max val="300"/>
          <c:min val="0"/>
        </c:scaling>
        <c:delete val="0"/>
        <c:axPos val="b"/>
        <c:majorGridlines>
          <c:spPr>
            <a:ln w="6350" cap="flat">
              <a:solidFill>
                <a:srgbClr val="E6E6E6"/>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majorUnit val="10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bg_cover"/>
          <p:cNvSpPr/>
          <p:nvPr/>
        </p:nvSpPr>
        <p:spPr>
          <a:xfrm>
            <a:off x="0" y="0"/>
            <a:ext cx="7863840" cy="6858000"/>
          </a:xfrm>
          <a:prstGeom prst="rect">
            <a:avLst/>
          </a:prstGeom>
          <a:solidFill>
            <a:srgbClr val="0E4D33"/>
          </a:solidFill>
          <a:ln w="12700">
            <a:solidFill>
              <a:srgbClr val="0E4D33"/>
            </a:solidFill>
            <a:prstDash val="solid"/>
          </a:ln>
        </p:spPr>
      </p:sp>
      <p:sp>
        <p:nvSpPr>
          <p:cNvPr id="3" name="bg_cover_title"/>
          <p:cNvSpPr txBox="1"/>
          <p:nvPr/>
        </p:nvSpPr>
        <p:spPr>
          <a:xfrm>
            <a:off x="731520" y="1828800"/>
            <a:ext cx="6583680" cy="1737360"/>
          </a:xfrm>
          <a:prstGeom prst="rect">
            <a:avLst/>
          </a:prstGeom>
          <a:noFill/>
          <a:ln/>
        </p:spPr>
        <p:txBody>
          <a:bodyPr wrap="square" lIns="508" tIns="508" rIns="508" bIns="508" rtlCol="0" anchor="b"/>
          <a:lstStyle/>
          <a:p>
            <a:pPr indent="0" marL="0">
              <a:buNone/>
            </a:pPr>
            <a:r>
              <a:rPr lang="en-US" sz="3000" b="1" dirty="0">
                <a:solidFill>
                  <a:srgbClr val="FFFFFF"/>
                </a:solidFill>
                <a:latin typeface="Meiryo UI" pitchFamily="34" charset="0"/>
                <a:ea typeface="Meiryo UI" pitchFamily="34" charset="-122"/>
                <a:cs typeface="Meiryo UI" pitchFamily="34" charset="-120"/>
              </a:rPr>
              <a:t>Oracle(ORCL)</a:t>
            </a:r>
            <a:endParaRPr lang="en-US" sz="3000" dirty="0"/>
          </a:p>
          <a:p>
            <a:pPr indent="0" marL="0">
              <a:buNone/>
            </a:pPr>
            <a:r>
              <a:rPr lang="en-US" sz="3000" b="1" dirty="0">
                <a:solidFill>
                  <a:srgbClr val="FFFFFF"/>
                </a:solidFill>
                <a:latin typeface="Meiryo UI" pitchFamily="34" charset="0"/>
                <a:ea typeface="Meiryo UI" pitchFamily="34" charset="-122"/>
                <a:cs typeface="Meiryo UI" pitchFamily="34" charset="-120"/>
              </a:rPr>
              <a:t>長期保有適格性審査</a:t>
            </a:r>
            <a:endParaRPr lang="en-US" sz="3000" dirty="0"/>
          </a:p>
        </p:txBody>
      </p:sp>
      <p:sp>
        <p:nvSpPr>
          <p:cNvPr id="4" name="bg_cover_sub"/>
          <p:cNvSpPr txBox="1"/>
          <p:nvPr/>
        </p:nvSpPr>
        <p:spPr>
          <a:xfrm>
            <a:off x="731520" y="3749040"/>
            <a:ext cx="6583680" cy="1097280"/>
          </a:xfrm>
          <a:prstGeom prst="rect">
            <a:avLst/>
          </a:prstGeom>
          <a:noFill/>
          <a:ln/>
        </p:spPr>
        <p:txBody>
          <a:bodyPr wrap="square" lIns="508" tIns="508" rIns="508" bIns="508" rtlCol="0" anchor="t"/>
          <a:lstStyle/>
          <a:p>
            <a:pPr indent="0" marL="0">
              <a:buNone/>
            </a:pPr>
            <a:r>
              <a:rPr lang="en-US" sz="1400" dirty="0">
                <a:solidFill>
                  <a:srgbClr val="FFFFFF"/>
                </a:solidFill>
                <a:latin typeface="Meiryo UI" pitchFamily="34" charset="0"/>
                <a:ea typeface="Meiryo UI" pitchFamily="34" charset="-122"/>
                <a:cs typeface="Meiryo UI" pitchFamily="34" charset="-120"/>
              </a:rPr>
              <a:t>市場は説明会の後も、株価を弱気シナリオの値に置いている</a:t>
            </a:r>
            <a:endParaRPr lang="en-US" sz="1400" dirty="0"/>
          </a:p>
          <a:p>
            <a:pPr indent="0" marL="0">
              <a:buNone/>
            </a:pPr>
            <a:r>
              <a:rPr lang="en-US" sz="1400" dirty="0">
                <a:solidFill>
                  <a:srgbClr val="FFFFFF"/>
                </a:solidFill>
                <a:latin typeface="Meiryo UI" pitchFamily="34" charset="0"/>
                <a:ea typeface="Meiryo UI" pitchFamily="34" charset="-122"/>
                <a:cs typeface="Meiryo UI" pitchFamily="34" charset="-120"/>
              </a:rPr>
              <a:t>第4.5版(Investor Day の会社資料と利用者の指摘を反映)</a:t>
            </a:r>
            <a:endParaRPr lang="en-US" sz="1400" dirty="0"/>
          </a:p>
        </p:txBody>
      </p:sp>
      <p:sp>
        <p:nvSpPr>
          <p:cNvPr id="5" name="bg_cover_date"/>
          <p:cNvSpPr txBox="1"/>
          <p:nvPr/>
        </p:nvSpPr>
        <p:spPr>
          <a:xfrm>
            <a:off x="731520" y="5943600"/>
            <a:ext cx="4572000" cy="365760"/>
          </a:xfrm>
          <a:prstGeom prst="rect">
            <a:avLst/>
          </a:prstGeom>
          <a:noFill/>
          <a:ln/>
        </p:spPr>
        <p:txBody>
          <a:bodyPr wrap="square" lIns="508" tIns="508" rIns="508" bIns="508" rtlCol="0" anchor="t"/>
          <a:lstStyle/>
          <a:p>
            <a:pPr indent="0" marL="0">
              <a:buNone/>
            </a:pPr>
            <a:r>
              <a:rPr lang="en-US" sz="1100" dirty="0">
                <a:solidFill>
                  <a:srgbClr val="86C99B"/>
                </a:solidFill>
                <a:latin typeface="Meiryo UI" pitchFamily="34" charset="0"/>
                <a:ea typeface="Meiryo UI" pitchFamily="34" charset="-122"/>
                <a:cs typeface="Meiryo UI" pitchFamily="34" charset="-120"/>
              </a:rPr>
              <a:t>2026-10-30</a:t>
            </a:r>
            <a:endParaRPr lang="en-US" sz="1100" dirty="0"/>
          </a:p>
        </p:txBody>
      </p:sp>
      <p:sp>
        <p:nvSpPr>
          <p:cNvPr id="6" name="bg_cover_k1"/>
          <p:cNvSpPr txBox="1"/>
          <p:nvPr/>
        </p:nvSpPr>
        <p:spPr>
          <a:xfrm>
            <a:off x="8321040" y="1828800"/>
            <a:ext cx="3410712" cy="274320"/>
          </a:xfrm>
          <a:prstGeom prst="rect">
            <a:avLst/>
          </a:prstGeom>
          <a:noFill/>
          <a:ln/>
        </p:spPr>
        <p:txBody>
          <a:bodyPr wrap="square" lIns="508" tIns="508" rIns="508" bIns="508" rtlCol="0" anchor="t"/>
          <a:lstStyle/>
          <a:p>
            <a:pPr indent="0" marL="0">
              <a:buNone/>
            </a:pPr>
            <a:r>
              <a:rPr lang="en-US" sz="1100" dirty="0">
                <a:solidFill>
                  <a:srgbClr val="767676"/>
                </a:solidFill>
                <a:latin typeface="Meiryo UI" pitchFamily="34" charset="0"/>
                <a:ea typeface="Meiryo UI" pitchFamily="34" charset="-122"/>
                <a:cs typeface="Meiryo UI" pitchFamily="34" charset="-120"/>
              </a:rPr>
              <a:t>最終判断</a:t>
            </a:r>
            <a:endParaRPr lang="en-US" sz="1100" dirty="0"/>
          </a:p>
        </p:txBody>
      </p:sp>
      <p:sp>
        <p:nvSpPr>
          <p:cNvPr id="7" name="bg_cover_k1v"/>
          <p:cNvSpPr txBox="1"/>
          <p:nvPr/>
        </p:nvSpPr>
        <p:spPr>
          <a:xfrm>
            <a:off x="8321040" y="2121408"/>
            <a:ext cx="3410712" cy="548640"/>
          </a:xfrm>
          <a:prstGeom prst="rect">
            <a:avLst/>
          </a:prstGeom>
          <a:noFill/>
          <a:ln/>
        </p:spPr>
        <p:txBody>
          <a:bodyPr wrap="square" lIns="508" tIns="508" rIns="508" bIns="508" rtlCol="0" anchor="t"/>
          <a:lstStyle/>
          <a:p>
            <a:pPr indent="0" marL="0">
              <a:buNone/>
            </a:pPr>
            <a:r>
              <a:rPr lang="en-US" sz="2600" b="1" dirty="0">
                <a:solidFill>
                  <a:srgbClr val="197A56"/>
                </a:solidFill>
                <a:latin typeface="Meiryo UI" pitchFamily="34" charset="0"/>
                <a:ea typeface="Meiryo UI" pitchFamily="34" charset="-122"/>
                <a:cs typeface="Meiryo UI" pitchFamily="34" charset="-120"/>
              </a:rPr>
              <a:t>買い</a:t>
            </a:r>
            <a:endParaRPr lang="en-US" sz="2600" dirty="0"/>
          </a:p>
        </p:txBody>
      </p:sp>
      <p:sp>
        <p:nvSpPr>
          <p:cNvPr id="8" name="bg_cover_k2"/>
          <p:cNvSpPr txBox="1"/>
          <p:nvPr/>
        </p:nvSpPr>
        <p:spPr>
          <a:xfrm>
            <a:off x="8321040" y="3017520"/>
            <a:ext cx="3410712" cy="274320"/>
          </a:xfrm>
          <a:prstGeom prst="rect">
            <a:avLst/>
          </a:prstGeom>
          <a:noFill/>
          <a:ln/>
        </p:spPr>
        <p:txBody>
          <a:bodyPr wrap="square" lIns="508" tIns="508" rIns="508" bIns="508" rtlCol="0" anchor="t"/>
          <a:lstStyle/>
          <a:p>
            <a:pPr indent="0" marL="0">
              <a:buNone/>
            </a:pPr>
            <a:r>
              <a:rPr lang="en-US" sz="1100" dirty="0">
                <a:solidFill>
                  <a:srgbClr val="767676"/>
                </a:solidFill>
                <a:latin typeface="Meiryo UI" pitchFamily="34" charset="0"/>
                <a:ea typeface="Meiryo UI" pitchFamily="34" charset="-122"/>
                <a:cs typeface="Meiryo UI" pitchFamily="34" charset="-120"/>
              </a:rPr>
              <a:t>理論株価(確率加重)</a:t>
            </a:r>
            <a:endParaRPr lang="en-US" sz="1100" dirty="0"/>
          </a:p>
        </p:txBody>
      </p:sp>
      <p:sp>
        <p:nvSpPr>
          <p:cNvPr id="9" name="bg_cover_k2v"/>
          <p:cNvSpPr txBox="1"/>
          <p:nvPr/>
        </p:nvSpPr>
        <p:spPr>
          <a:xfrm>
            <a:off x="8321040" y="3310128"/>
            <a:ext cx="3410712" cy="548640"/>
          </a:xfrm>
          <a:prstGeom prst="rect">
            <a:avLst/>
          </a:prstGeom>
          <a:noFill/>
          <a:ln/>
        </p:spPr>
        <p:txBody>
          <a:bodyPr wrap="square" lIns="508" tIns="508" rIns="508" bIns="508" rtlCol="0" anchor="t"/>
          <a:lstStyle/>
          <a:p>
            <a:pPr indent="0" marL="0">
              <a:buNone/>
            </a:pPr>
            <a:r>
              <a:rPr lang="en-US" sz="2600" b="1" dirty="0">
                <a:solidFill>
                  <a:srgbClr val="197A56"/>
                </a:solidFill>
                <a:latin typeface="Meiryo UI" pitchFamily="34" charset="0"/>
                <a:ea typeface="Meiryo UI" pitchFamily="34" charset="-122"/>
                <a:cs typeface="Meiryo UI" pitchFamily="34" charset="-120"/>
              </a:rPr>
              <a:t>245 ドル</a:t>
            </a:r>
            <a:endParaRPr lang="en-US" sz="2600" dirty="0"/>
          </a:p>
        </p:txBody>
      </p:sp>
      <p:sp>
        <p:nvSpPr>
          <p:cNvPr id="10" name="bg_cover_k3"/>
          <p:cNvSpPr txBox="1"/>
          <p:nvPr/>
        </p:nvSpPr>
        <p:spPr>
          <a:xfrm>
            <a:off x="8321040" y="4206240"/>
            <a:ext cx="3410712" cy="274320"/>
          </a:xfrm>
          <a:prstGeom prst="rect">
            <a:avLst/>
          </a:prstGeom>
          <a:noFill/>
          <a:ln/>
        </p:spPr>
        <p:txBody>
          <a:bodyPr wrap="square" lIns="508" tIns="508" rIns="508" bIns="508" rtlCol="0" anchor="t"/>
          <a:lstStyle/>
          <a:p>
            <a:pPr indent="0" marL="0">
              <a:buNone/>
            </a:pPr>
            <a:r>
              <a:rPr lang="en-US" sz="1100" dirty="0">
                <a:solidFill>
                  <a:srgbClr val="767676"/>
                </a:solidFill>
                <a:latin typeface="Meiryo UI" pitchFamily="34" charset="0"/>
                <a:ea typeface="Meiryo UI" pitchFamily="34" charset="-122"/>
                <a:cs typeface="Meiryo UI" pitchFamily="34" charset="-120"/>
              </a:rPr>
              <a:t>構造評価</a:t>
            </a:r>
            <a:endParaRPr lang="en-US" sz="1100" dirty="0"/>
          </a:p>
        </p:txBody>
      </p:sp>
      <p:sp>
        <p:nvSpPr>
          <p:cNvPr id="11" name="bg_cover_k3v"/>
          <p:cNvSpPr txBox="1"/>
          <p:nvPr/>
        </p:nvSpPr>
        <p:spPr>
          <a:xfrm>
            <a:off x="8321040" y="4498848"/>
            <a:ext cx="3410712" cy="548640"/>
          </a:xfrm>
          <a:prstGeom prst="rect">
            <a:avLst/>
          </a:prstGeom>
          <a:noFill/>
          <a:ln/>
        </p:spPr>
        <p:txBody>
          <a:bodyPr wrap="square" lIns="508" tIns="508" rIns="508" bIns="508" rtlCol="0" anchor="t"/>
          <a:lstStyle/>
          <a:p>
            <a:pPr indent="0" marL="0">
              <a:buNone/>
            </a:pPr>
            <a:r>
              <a:rPr lang="en-US" sz="2600" b="1" dirty="0">
                <a:solidFill>
                  <a:srgbClr val="197A56"/>
                </a:solidFill>
                <a:latin typeface="Meiryo UI" pitchFamily="34" charset="0"/>
                <a:ea typeface="Meiryo UI" pitchFamily="34" charset="-122"/>
                <a:cs typeface="Meiryo UI" pitchFamily="34" charset="-120"/>
              </a:rPr>
              <a:t>B</a:t>
            </a:r>
            <a:endParaRPr lang="en-US" sz="2600" dirty="0"/>
          </a:p>
        </p:txBody>
      </p:sp>
      <p:sp>
        <p:nvSpPr>
          <p:cNvPr id="12" name="bg_cover_note"/>
          <p:cNvSpPr txBox="1"/>
          <p:nvPr/>
        </p:nvSpPr>
        <p:spPr>
          <a:xfrm>
            <a:off x="8321040" y="5303520"/>
            <a:ext cx="3410712" cy="548640"/>
          </a:xfrm>
          <a:prstGeom prst="rect">
            <a:avLst/>
          </a:prstGeom>
          <a:noFill/>
          <a:ln/>
        </p:spPr>
        <p:txBody>
          <a:bodyPr wrap="square" lIns="508" tIns="508" rIns="508" bIns="508" rtlCol="0" anchor="t"/>
          <a:lstStyle/>
          <a:p>
            <a:pPr indent="0" marL="0">
              <a:buNone/>
            </a:pPr>
            <a:r>
              <a:rPr lang="en-US" sz="950" dirty="0">
                <a:solidFill>
                  <a:srgbClr val="767676"/>
                </a:solidFill>
                <a:latin typeface="Meiryo UI" pitchFamily="34" charset="0"/>
                <a:ea typeface="Meiryo UI" pitchFamily="34" charset="-122"/>
                <a:cs typeface="Meiryo UI" pitchFamily="34" charset="-120"/>
              </a:rPr>
              <a:t>株価 139.56 ドル(2026-10-29 終値)の 1.76 倍</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第1章 評価総括</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1-1 結論</a:t>
            </a:r>
            <a:endParaRPr lang="en-US" sz="900" dirty="0"/>
          </a:p>
        </p:txBody>
      </p:sp>
      <p:sp>
        <p:nvSpPr>
          <p:cNvPr id="4" name="bg_hdr_pill0"/>
          <p:cNvSpPr/>
          <p:nvPr/>
        </p:nvSpPr>
        <p:spPr>
          <a:xfrm>
            <a:off x="8479231" y="64008"/>
            <a:ext cx="786384" cy="182880"/>
          </a:xfrm>
          <a:prstGeom prst="roundRect">
            <a:avLst>
              <a:gd name="adj" fmla="val 20000"/>
            </a:avLst>
          </a:prstGeom>
          <a:solidFill>
            <a:srgbClr val="197A56"/>
          </a:solidFill>
          <a:ln w="9525">
            <a:solidFill>
              <a:srgbClr val="197A56"/>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017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017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結論</a:t>
            </a:r>
            <a:endParaRPr lang="en-US" sz="1000" dirty="0"/>
          </a:p>
        </p:txBody>
      </p:sp>
      <p:sp>
        <p:nvSpPr>
          <p:cNvPr id="14" name="hdr_why"/>
          <p:cNvSpPr txBox="1"/>
          <p:nvPr/>
        </p:nvSpPr>
        <p:spPr>
          <a:xfrm>
            <a:off x="1620774" y="356616"/>
            <a:ext cx="10113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最初に判断と根拠の骨格を示す。詳しい根拠は各章で確かめる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構造評価 B・理論株価 245 ドル(株価の 1.76 倍)で「買い」。株価は価値の</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分布の 9 パーセンタイルで、下回るのは AI の循環が早く崩れる道だけ</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エグゼクティブサマリ</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会社開示(Q1 FY27)、Investor Day 2026-10-28(8-K Ex.99.1・CFO 資料)、需給エンジン第4.5版(calc/out/m10_fair.json・m10_extra.json・m10_sens.json)。株価は 10/29 終値。外部資料は付録</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2</a:t>
            </a:r>
            <a:endParaRPr lang="en-US" sz="800" dirty="0"/>
          </a:p>
        </p:txBody>
      </p:sp>
      <p:sp>
        <p:nvSpPr>
          <p:cNvPr id="19" name="ovl_tile0"/>
          <p:cNvSpPr/>
          <p:nvPr/>
        </p:nvSpPr>
        <p:spPr>
          <a:xfrm>
            <a:off x="457200" y="1481328"/>
            <a:ext cx="2647874" cy="1325880"/>
          </a:xfrm>
          <a:prstGeom prst="rect">
            <a:avLst/>
          </a:prstGeom>
          <a:solidFill>
            <a:srgbClr val="EAF4EE"/>
          </a:solidFill>
          <a:ln w="9525">
            <a:solidFill>
              <a:srgbClr val="EAF4EE"/>
            </a:solidFill>
            <a:prstDash val="solid"/>
          </a:ln>
        </p:spPr>
      </p:sp>
      <p:sp>
        <p:nvSpPr>
          <p:cNvPr id="20" name="tile_v0"/>
          <p:cNvSpPr txBox="1"/>
          <p:nvPr/>
        </p:nvSpPr>
        <p:spPr>
          <a:xfrm>
            <a:off x="548640" y="1554480"/>
            <a:ext cx="2464994" cy="713232"/>
          </a:xfrm>
          <a:prstGeom prst="rect">
            <a:avLst/>
          </a:prstGeom>
          <a:noFill/>
          <a:ln/>
        </p:spPr>
        <p:txBody>
          <a:bodyPr wrap="square" lIns="0" tIns="0" rIns="0" bIns="0" rtlCol="0" anchor="ctr"/>
          <a:lstStyle/>
          <a:p>
            <a:pPr algn="ctr" indent="0" marL="0">
              <a:buNone/>
            </a:pPr>
            <a:r>
              <a:rPr lang="en-US" sz="3200" b="1" dirty="0">
                <a:solidFill>
                  <a:srgbClr val="197A56"/>
                </a:solidFill>
                <a:latin typeface="Meiryo UI" pitchFamily="34" charset="0"/>
                <a:ea typeface="Meiryo UI" pitchFamily="34" charset="-122"/>
                <a:cs typeface="Meiryo UI" pitchFamily="34" charset="-120"/>
              </a:rPr>
              <a:t>245 ドル</a:t>
            </a:r>
            <a:endParaRPr lang="en-US" sz="3200" dirty="0"/>
          </a:p>
        </p:txBody>
      </p:sp>
      <p:sp>
        <p:nvSpPr>
          <p:cNvPr id="21" name="tile_l0"/>
          <p:cNvSpPr txBox="1"/>
          <p:nvPr/>
        </p:nvSpPr>
        <p:spPr>
          <a:xfrm>
            <a:off x="548640" y="2286000"/>
            <a:ext cx="2464994" cy="274320"/>
          </a:xfrm>
          <a:prstGeom prst="rect">
            <a:avLst/>
          </a:prstGeom>
          <a:noFill/>
          <a:ln/>
        </p:spPr>
        <p:txBody>
          <a:bodyPr wrap="square" lIns="0" tIns="0" rIns="0" bIns="0" rtlCol="0" anchor="t"/>
          <a:lstStyle/>
          <a:p>
            <a:pPr algn="ctr" indent="0" marL="0">
              <a:buNone/>
            </a:pPr>
            <a:r>
              <a:rPr lang="en-US" sz="1050" b="1" dirty="0">
                <a:solidFill>
                  <a:srgbClr val="0E4D33"/>
                </a:solidFill>
                <a:latin typeface="Meiryo UI" pitchFamily="34" charset="0"/>
                <a:ea typeface="Meiryo UI" pitchFamily="34" charset="-122"/>
                <a:cs typeface="Meiryo UI" pitchFamily="34" charset="-120"/>
              </a:rPr>
              <a:t>理論株価(確率加重)</a:t>
            </a:r>
            <a:endParaRPr lang="en-US" sz="1050" dirty="0"/>
          </a:p>
        </p:txBody>
      </p:sp>
      <p:sp>
        <p:nvSpPr>
          <p:cNvPr id="22" name="tile_n0"/>
          <p:cNvSpPr txBox="1"/>
          <p:nvPr/>
        </p:nvSpPr>
        <p:spPr>
          <a:xfrm>
            <a:off x="548640" y="2551176"/>
            <a:ext cx="2464994" cy="301752"/>
          </a:xfrm>
          <a:prstGeom prst="rect">
            <a:avLst/>
          </a:prstGeom>
          <a:noFill/>
          <a:ln/>
        </p:spPr>
        <p:txBody>
          <a:bodyPr wrap="square" lIns="0" tIns="0" rIns="0" bIns="0" rtlCol="0" anchor="t"/>
          <a:lstStyle/>
          <a:p>
            <a:pPr algn="ctr" indent="0" marL="0">
              <a:buNone/>
            </a:pPr>
            <a:r>
              <a:rPr lang="en-US" sz="850" dirty="0">
                <a:solidFill>
                  <a:srgbClr val="767676"/>
                </a:solidFill>
                <a:latin typeface="Meiryo UI" pitchFamily="34" charset="0"/>
                <a:ea typeface="Meiryo UI" pitchFamily="34" charset="-122"/>
                <a:cs typeface="Meiryo UI" pitchFamily="34" charset="-120"/>
              </a:rPr>
              <a:t>ベース 246・強気 354・弱気 134</a:t>
            </a:r>
            <a:endParaRPr lang="en-US" sz="850" dirty="0"/>
          </a:p>
        </p:txBody>
      </p:sp>
      <p:sp>
        <p:nvSpPr>
          <p:cNvPr id="23" name="ovl_tile1"/>
          <p:cNvSpPr/>
          <p:nvPr/>
        </p:nvSpPr>
        <p:spPr>
          <a:xfrm>
            <a:off x="3333674" y="1481328"/>
            <a:ext cx="2647874" cy="1325880"/>
          </a:xfrm>
          <a:prstGeom prst="rect">
            <a:avLst/>
          </a:prstGeom>
          <a:solidFill>
            <a:srgbClr val="EAF4EE"/>
          </a:solidFill>
          <a:ln w="9525">
            <a:solidFill>
              <a:srgbClr val="EAF4EE"/>
            </a:solidFill>
            <a:prstDash val="solid"/>
          </a:ln>
        </p:spPr>
      </p:sp>
      <p:sp>
        <p:nvSpPr>
          <p:cNvPr id="24" name="tile_v1"/>
          <p:cNvSpPr txBox="1"/>
          <p:nvPr/>
        </p:nvSpPr>
        <p:spPr>
          <a:xfrm>
            <a:off x="3425114" y="1554480"/>
            <a:ext cx="2464994" cy="713232"/>
          </a:xfrm>
          <a:prstGeom prst="rect">
            <a:avLst/>
          </a:prstGeom>
          <a:noFill/>
          <a:ln/>
        </p:spPr>
        <p:txBody>
          <a:bodyPr wrap="square" lIns="0" tIns="0" rIns="0" bIns="0" rtlCol="0" anchor="ctr"/>
          <a:lstStyle/>
          <a:p>
            <a:pPr algn="ctr" indent="0" marL="0">
              <a:buNone/>
            </a:pPr>
            <a:r>
              <a:rPr lang="en-US" sz="3200" b="1" dirty="0">
                <a:solidFill>
                  <a:srgbClr val="197A56"/>
                </a:solidFill>
                <a:latin typeface="Meiryo UI" pitchFamily="34" charset="0"/>
                <a:ea typeface="Meiryo UI" pitchFamily="34" charset="-122"/>
                <a:cs typeface="Meiryo UI" pitchFamily="34" charset="-120"/>
              </a:rPr>
              <a:t>139.56 ドル</a:t>
            </a:r>
            <a:endParaRPr lang="en-US" sz="3200" dirty="0"/>
          </a:p>
        </p:txBody>
      </p:sp>
      <p:sp>
        <p:nvSpPr>
          <p:cNvPr id="25" name="tile_l1"/>
          <p:cNvSpPr txBox="1"/>
          <p:nvPr/>
        </p:nvSpPr>
        <p:spPr>
          <a:xfrm>
            <a:off x="3425114" y="2286000"/>
            <a:ext cx="2464994" cy="274320"/>
          </a:xfrm>
          <a:prstGeom prst="rect">
            <a:avLst/>
          </a:prstGeom>
          <a:noFill/>
          <a:ln/>
        </p:spPr>
        <p:txBody>
          <a:bodyPr wrap="square" lIns="0" tIns="0" rIns="0" bIns="0" rtlCol="0" anchor="t"/>
          <a:lstStyle/>
          <a:p>
            <a:pPr algn="ctr" indent="0" marL="0">
              <a:buNone/>
            </a:pPr>
            <a:r>
              <a:rPr lang="en-US" sz="1050" b="1" dirty="0">
                <a:solidFill>
                  <a:srgbClr val="0E4D33"/>
                </a:solidFill>
                <a:latin typeface="Meiryo UI" pitchFamily="34" charset="0"/>
                <a:ea typeface="Meiryo UI" pitchFamily="34" charset="-122"/>
                <a:cs typeface="Meiryo UI" pitchFamily="34" charset="-120"/>
              </a:rPr>
              <a:t>株価(10/29)</a:t>
            </a:r>
            <a:endParaRPr lang="en-US" sz="1050" dirty="0"/>
          </a:p>
        </p:txBody>
      </p:sp>
      <p:sp>
        <p:nvSpPr>
          <p:cNvPr id="26" name="tile_n1"/>
          <p:cNvSpPr txBox="1"/>
          <p:nvPr/>
        </p:nvSpPr>
        <p:spPr>
          <a:xfrm>
            <a:off x="3425114" y="2551176"/>
            <a:ext cx="2464994" cy="301752"/>
          </a:xfrm>
          <a:prstGeom prst="rect">
            <a:avLst/>
          </a:prstGeom>
          <a:noFill/>
          <a:ln/>
        </p:spPr>
        <p:txBody>
          <a:bodyPr wrap="square" lIns="0" tIns="0" rIns="0" bIns="0" rtlCol="0" anchor="t"/>
          <a:lstStyle/>
          <a:p>
            <a:pPr algn="ctr" indent="0" marL="0">
              <a:buNone/>
            </a:pPr>
            <a:r>
              <a:rPr lang="en-US" sz="850" dirty="0">
                <a:solidFill>
                  <a:srgbClr val="767676"/>
                </a:solidFill>
                <a:latin typeface="Meiryo UI" pitchFamily="34" charset="0"/>
                <a:ea typeface="Meiryo UI" pitchFamily="34" charset="-122"/>
                <a:cs typeface="Meiryo UI" pitchFamily="34" charset="-120"/>
              </a:rPr>
              <a:t>理論株価の 57%</a:t>
            </a:r>
            <a:endParaRPr lang="en-US" sz="850" dirty="0"/>
          </a:p>
        </p:txBody>
      </p:sp>
      <p:sp>
        <p:nvSpPr>
          <p:cNvPr id="27" name="ovl_tile2"/>
          <p:cNvSpPr/>
          <p:nvPr/>
        </p:nvSpPr>
        <p:spPr>
          <a:xfrm>
            <a:off x="6210148" y="1481328"/>
            <a:ext cx="2647874" cy="1325880"/>
          </a:xfrm>
          <a:prstGeom prst="rect">
            <a:avLst/>
          </a:prstGeom>
          <a:solidFill>
            <a:srgbClr val="EAF4EE"/>
          </a:solidFill>
          <a:ln w="9525">
            <a:solidFill>
              <a:srgbClr val="EAF4EE"/>
            </a:solidFill>
            <a:prstDash val="solid"/>
          </a:ln>
        </p:spPr>
      </p:sp>
      <p:sp>
        <p:nvSpPr>
          <p:cNvPr id="28" name="tile_v2"/>
          <p:cNvSpPr txBox="1"/>
          <p:nvPr/>
        </p:nvSpPr>
        <p:spPr>
          <a:xfrm>
            <a:off x="6301588" y="1554480"/>
            <a:ext cx="2464994" cy="713232"/>
          </a:xfrm>
          <a:prstGeom prst="rect">
            <a:avLst/>
          </a:prstGeom>
          <a:noFill/>
          <a:ln/>
        </p:spPr>
        <p:txBody>
          <a:bodyPr wrap="square" lIns="0" tIns="0" rIns="0" bIns="0" rtlCol="0" anchor="ctr"/>
          <a:lstStyle/>
          <a:p>
            <a:pPr algn="ctr" indent="0" marL="0">
              <a:buNone/>
            </a:pPr>
            <a:r>
              <a:rPr lang="en-US" sz="3200" b="1" dirty="0">
                <a:solidFill>
                  <a:srgbClr val="197A56"/>
                </a:solidFill>
                <a:latin typeface="Meiryo UI" pitchFamily="34" charset="0"/>
                <a:ea typeface="Meiryo UI" pitchFamily="34" charset="-122"/>
                <a:cs typeface="Meiryo UI" pitchFamily="34" charset="-120"/>
              </a:rPr>
              <a:t>B</a:t>
            </a:r>
            <a:endParaRPr lang="en-US" sz="3200" dirty="0"/>
          </a:p>
        </p:txBody>
      </p:sp>
      <p:sp>
        <p:nvSpPr>
          <p:cNvPr id="29" name="tile_l2"/>
          <p:cNvSpPr txBox="1"/>
          <p:nvPr/>
        </p:nvSpPr>
        <p:spPr>
          <a:xfrm>
            <a:off x="6301588" y="2286000"/>
            <a:ext cx="2464994" cy="274320"/>
          </a:xfrm>
          <a:prstGeom prst="rect">
            <a:avLst/>
          </a:prstGeom>
          <a:noFill/>
          <a:ln/>
        </p:spPr>
        <p:txBody>
          <a:bodyPr wrap="square" lIns="0" tIns="0" rIns="0" bIns="0" rtlCol="0" anchor="t"/>
          <a:lstStyle/>
          <a:p>
            <a:pPr algn="ctr" indent="0" marL="0">
              <a:buNone/>
            </a:pPr>
            <a:r>
              <a:rPr lang="en-US" sz="1050" b="1" dirty="0">
                <a:solidFill>
                  <a:srgbClr val="0E4D33"/>
                </a:solidFill>
                <a:latin typeface="Meiryo UI" pitchFamily="34" charset="0"/>
                <a:ea typeface="Meiryo UI" pitchFamily="34" charset="-122"/>
                <a:cs typeface="Meiryo UI" pitchFamily="34" charset="-120"/>
              </a:rPr>
              <a:t>構造評価</a:t>
            </a:r>
            <a:endParaRPr lang="en-US" sz="1050" dirty="0"/>
          </a:p>
        </p:txBody>
      </p:sp>
      <p:sp>
        <p:nvSpPr>
          <p:cNvPr id="30" name="tile_n2"/>
          <p:cNvSpPr txBox="1"/>
          <p:nvPr/>
        </p:nvSpPr>
        <p:spPr>
          <a:xfrm>
            <a:off x="6301588" y="2551176"/>
            <a:ext cx="2464994" cy="301752"/>
          </a:xfrm>
          <a:prstGeom prst="rect">
            <a:avLst/>
          </a:prstGeom>
          <a:noFill/>
          <a:ln/>
        </p:spPr>
        <p:txBody>
          <a:bodyPr wrap="square" lIns="0" tIns="0" rIns="0" bIns="0" rtlCol="0" anchor="t"/>
          <a:lstStyle/>
          <a:p>
            <a:pPr algn="ctr" indent="0" marL="0">
              <a:buNone/>
            </a:pPr>
            <a:r>
              <a:rPr lang="en-US" sz="850" dirty="0">
                <a:solidFill>
                  <a:srgbClr val="767676"/>
                </a:solidFill>
                <a:latin typeface="Meiryo UI" pitchFamily="34" charset="0"/>
                <a:ea typeface="Meiryo UI" pitchFamily="34" charset="-122"/>
                <a:cs typeface="Meiryo UI" pitchFamily="34" charset="-120"/>
              </a:rPr>
              <a:t>S1・A3・B9</a:t>
            </a:r>
            <a:endParaRPr lang="en-US" sz="850" dirty="0"/>
          </a:p>
        </p:txBody>
      </p:sp>
      <p:sp>
        <p:nvSpPr>
          <p:cNvPr id="31" name="ovl_tile3"/>
          <p:cNvSpPr/>
          <p:nvPr/>
        </p:nvSpPr>
        <p:spPr>
          <a:xfrm>
            <a:off x="9086621" y="1481328"/>
            <a:ext cx="2647874" cy="1325880"/>
          </a:xfrm>
          <a:prstGeom prst="rect">
            <a:avLst/>
          </a:prstGeom>
          <a:solidFill>
            <a:srgbClr val="EAF4EE"/>
          </a:solidFill>
          <a:ln w="9525">
            <a:solidFill>
              <a:srgbClr val="EAF4EE"/>
            </a:solidFill>
            <a:prstDash val="solid"/>
          </a:ln>
        </p:spPr>
      </p:sp>
      <p:sp>
        <p:nvSpPr>
          <p:cNvPr id="32" name="tile_v3"/>
          <p:cNvSpPr txBox="1"/>
          <p:nvPr/>
        </p:nvSpPr>
        <p:spPr>
          <a:xfrm>
            <a:off x="9178061" y="1554480"/>
            <a:ext cx="2464994" cy="713232"/>
          </a:xfrm>
          <a:prstGeom prst="rect">
            <a:avLst/>
          </a:prstGeom>
          <a:noFill/>
          <a:ln/>
        </p:spPr>
        <p:txBody>
          <a:bodyPr wrap="square" lIns="0" tIns="0" rIns="0" bIns="0" rtlCol="0" anchor="ctr"/>
          <a:lstStyle/>
          <a:p>
            <a:pPr algn="ctr" indent="0" marL="0">
              <a:buNone/>
            </a:pPr>
            <a:r>
              <a:rPr lang="en-US" sz="3200" b="1" dirty="0">
                <a:solidFill>
                  <a:srgbClr val="0E4D33"/>
                </a:solidFill>
                <a:latin typeface="Meiryo UI" pitchFamily="34" charset="0"/>
                <a:ea typeface="Meiryo UI" pitchFamily="34" charset="-122"/>
                <a:cs typeface="Meiryo UI" pitchFamily="34" charset="-120"/>
              </a:rPr>
              <a:t>買い</a:t>
            </a:r>
            <a:endParaRPr lang="en-US" sz="3200" dirty="0"/>
          </a:p>
        </p:txBody>
      </p:sp>
      <p:sp>
        <p:nvSpPr>
          <p:cNvPr id="33" name="tile_l3"/>
          <p:cNvSpPr txBox="1"/>
          <p:nvPr/>
        </p:nvSpPr>
        <p:spPr>
          <a:xfrm>
            <a:off x="9178061" y="2286000"/>
            <a:ext cx="2464994" cy="274320"/>
          </a:xfrm>
          <a:prstGeom prst="rect">
            <a:avLst/>
          </a:prstGeom>
          <a:noFill/>
          <a:ln/>
        </p:spPr>
        <p:txBody>
          <a:bodyPr wrap="square" lIns="0" tIns="0" rIns="0" bIns="0" rtlCol="0" anchor="t"/>
          <a:lstStyle/>
          <a:p>
            <a:pPr algn="ctr" indent="0" marL="0">
              <a:buNone/>
            </a:pPr>
            <a:r>
              <a:rPr lang="en-US" sz="1050" b="1" dirty="0">
                <a:solidFill>
                  <a:srgbClr val="0E4D33"/>
                </a:solidFill>
                <a:latin typeface="Meiryo UI" pitchFamily="34" charset="0"/>
                <a:ea typeface="Meiryo UI" pitchFamily="34" charset="-122"/>
                <a:cs typeface="Meiryo UI" pitchFamily="34" charset="-120"/>
              </a:rPr>
              <a:t>最終判断</a:t>
            </a:r>
            <a:endParaRPr lang="en-US" sz="1050" dirty="0"/>
          </a:p>
        </p:txBody>
      </p:sp>
      <p:sp>
        <p:nvSpPr>
          <p:cNvPr id="34" name="tile_n3"/>
          <p:cNvSpPr txBox="1"/>
          <p:nvPr/>
        </p:nvSpPr>
        <p:spPr>
          <a:xfrm>
            <a:off x="9178061" y="2551176"/>
            <a:ext cx="2464994" cy="301752"/>
          </a:xfrm>
          <a:prstGeom prst="rect">
            <a:avLst/>
          </a:prstGeom>
          <a:noFill/>
          <a:ln/>
        </p:spPr>
        <p:txBody>
          <a:bodyPr wrap="square" lIns="0" tIns="0" rIns="0" bIns="0" rtlCol="0" anchor="t"/>
          <a:lstStyle/>
          <a:p>
            <a:pPr algn="ctr" indent="0" marL="0">
              <a:buNone/>
            </a:pPr>
            <a:r>
              <a:rPr lang="en-US" sz="850" dirty="0">
                <a:solidFill>
                  <a:srgbClr val="767676"/>
                </a:solidFill>
                <a:latin typeface="Meiryo UI" pitchFamily="34" charset="0"/>
                <a:ea typeface="Meiryo UI" pitchFamily="34" charset="-122"/>
                <a:cs typeface="Meiryo UI" pitchFamily="34" charset="-120"/>
              </a:rPr>
              <a:t>株価は即エントリー上限 151 ドルの下</a:t>
            </a:r>
            <a:endParaRPr lang="en-US" sz="850" dirty="0"/>
          </a:p>
        </p:txBody>
      </p:sp>
      <p:graphicFrame>
        <p:nvGraphicFramePr>
          <p:cNvPr id="3" name="tbl_core"/>
          <p:cNvGraphicFramePr>
            <a:graphicFrameLocks noGrp="1"/>
          </p:cNvGraphicFramePr>
          <p:nvPr>
            <p:extLst>
              <p:ext uri="{D42A27DB-BD31-4B8C-83A1-F6EECF244321}">
                <p14:modId xmlns:p14="http://schemas.microsoft.com/office/powerpoint/2010/main" val="1579011935"/>
              </p:ext>
            </p:extLst>
          </p:nvPr>
        </p:nvGraphicFramePr>
        <p:xfrm>
          <a:off x="457200" y="2971800"/>
          <a:ext cx="11274552" cy="914400"/>
        </p:xfrm>
        <a:graphic>
          <a:graphicData uri="http://schemas.openxmlformats.org/drawingml/2006/table">
            <a:tbl>
              <a:tblPr/>
              <a:tblGrid>
                <a:gridCol w="2011680"/>
                <a:gridCol w="3383280"/>
                <a:gridCol w="3017520"/>
                <a:gridCol w="2862072"/>
              </a:tblGrid>
              <a:tr h="292608">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芯</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分析の結果</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市場の見方との差</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行動</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566928">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価値の芯:</a:t>
                      </a:r>
                      <a:endParaRPr lang="en-US" sz="950" dirty="0">
                        <a:latin typeface="Meiryo UI" charset="0"/>
                        <a:ea typeface="Meiryo UI" charset="0"/>
                        <a:cs typeface="Meiryo UI" charset="0"/>
                      </a:endParaRPr>
                    </a:p>
                    <a:p>
                      <a:pPr algn="l" indent="0" marL="0">
                        <a:buNone/>
                      </a:pPr>
                      <a:r>
                        <a:rPr lang="en-US" sz="950" b="1" dirty="0">
                          <a:solidFill>
                            <a:srgbClr val="FFFFFF"/>
                          </a:solidFill>
                          <a:latin typeface="Meiryo UI" pitchFamily="34" charset="0"/>
                          <a:ea typeface="Meiryo UI" pitchFamily="34" charset="-122"/>
                          <a:cs typeface="Meiryo UI" pitchFamily="34" charset="-120"/>
                        </a:rPr>
                        <a:t>再契約の単価</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1GW は更新なしでも IRR 17.6%。</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再契約 70%(中心)で 245、±20% で +17/−16 ドル</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市場は GPU の陳腐化で単価が崩れると見る。</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再契約 6 割未満でも価値の平均は 157 ドル</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再契約の単価(4 年前の GPU +20% の実例)を</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四半期ごとに確かめる</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OpenAI 集中</a:t>
                      </a:r>
                      <a:endParaRPr lang="en-US" sz="950" dirty="0">
                        <a:latin typeface="Meiryo UI" charset="0"/>
                        <a:ea typeface="Meiryo UI" charset="0"/>
                        <a:cs typeface="Meiryo UI" charset="0"/>
                      </a:endParaRPr>
                    </a:p>
                    <a:p>
                      <a:pPr algn="l" indent="0" marL="0">
                        <a:buNone/>
                      </a:pPr>
                      <a:r>
                        <a:rPr lang="en-US" sz="950" b="1" dirty="0">
                          <a:solidFill>
                            <a:srgbClr val="FFFFFF"/>
                          </a:solidFill>
                          <a:latin typeface="Meiryo UI" pitchFamily="34" charset="0"/>
                          <a:ea typeface="Meiryo UI" pitchFamily="34" charset="-122"/>
                          <a:cs typeface="Meiryo UI" pitchFamily="34" charset="-120"/>
                        </a:rPr>
                        <a:t>(受注残の約 45%)</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見直し 15%・深刻 10%。見直しでも</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価値の平均 167 ドルで株価を上回る</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市場は不払いに近い値を付ける</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見直しは売らずに買い増しを止める。</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深刻(5 割払い)なら半分を売る</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566928">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信用と</a:t>
                      </a:r>
                      <a:endParaRPr lang="en-US" sz="950" dirty="0">
                        <a:latin typeface="Meiryo UI" charset="0"/>
                        <a:ea typeface="Meiryo UI" charset="0"/>
                        <a:cs typeface="Meiryo UI" charset="0"/>
                      </a:endParaRPr>
                    </a:p>
                    <a:p>
                      <a:pPr algn="l" indent="0" marL="0">
                        <a:buNone/>
                      </a:pPr>
                      <a:r>
                        <a:rPr lang="en-US" sz="950" b="1" dirty="0">
                          <a:solidFill>
                            <a:srgbClr val="FFFFFF"/>
                          </a:solidFill>
                          <a:latin typeface="Meiryo UI" pitchFamily="34" charset="0"/>
                          <a:ea typeface="Meiryo UI" pitchFamily="34" charset="-122"/>
                          <a:cs typeface="Meiryo UI" pitchFamily="34" charset="-120"/>
                        </a:rPr>
                        <a:t>格付けの閾値</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倒産の道はない(レバレッジ最大 4.4 倍)。</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建設の遅れで一時 BB+ が 40%</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市場の評価(CDS 277bp)は倒産を高く見る。</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外部資料の「115bp に縮小」は誤り</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一時 BB+ では売らず、</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残りの 1/3 を建てる</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需要:</a:t>
                      </a:r>
                      <a:endParaRPr lang="en-US" sz="950" dirty="0">
                        <a:latin typeface="Meiryo UI" charset="0"/>
                        <a:ea typeface="Meiryo UI" charset="0"/>
                        <a:cs typeface="Meiryo UI" charset="0"/>
                      </a:endParaRPr>
                    </a:p>
                    <a:p>
                      <a:pPr algn="l" indent="0" marL="0">
                        <a:buNone/>
                      </a:pPr>
                      <a:r>
                        <a:rPr lang="en-US" sz="950" b="1" dirty="0">
                          <a:solidFill>
                            <a:srgbClr val="FFFFFF"/>
                          </a:solidFill>
                          <a:latin typeface="Meiryo UI" pitchFamily="34" charset="0"/>
                          <a:ea typeface="Meiryo UI" pitchFamily="34" charset="-122"/>
                          <a:cs typeface="Meiryo UI" pitchFamily="34" charset="-120"/>
                        </a:rPr>
                        <a:t>学習から推論へ</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推論は AI 計算の約 2/3。データの近くで</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DB・OCI と一体。ERP の約半分がオンプレ</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市場は GPU の時間貸し(コモディティ)と見る</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推論の比率と GPU 以外のサービスの</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比率(契約総額の 13%)を確かめる</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566928">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価格の位置</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価値の分布(1,500 通り)の 9 パーセンタイル。</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期待値は株価の 1.60 倍</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株価は弱気の値(134 ドル)とほぼ同じ</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即エントリー圏(151 ドル以下)。</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いま 2/3、残りは FY28 下期〜FY29</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4D33"/>
        </a:solidFill>
      </p:bgPr>
    </p:bg>
    <p:spTree>
      <p:nvGrpSpPr>
        <p:cNvPr id="1" name=""/>
        <p:cNvGrpSpPr/>
        <p:nvPr/>
      </p:nvGrpSpPr>
      <p:grpSpPr>
        <a:xfrm>
          <a:off x="0" y="0"/>
          <a:ext cx="0" cy="0"/>
          <a:chOff x="0" y="0"/>
          <a:chExt cx="0" cy="0"/>
        </a:xfrm>
      </p:grpSpPr>
      <p:sp>
        <p:nvSpPr>
          <p:cNvPr id="2" name="bg_agenda"/>
          <p:cNvSpPr/>
          <p:nvPr/>
        </p:nvSpPr>
        <p:spPr>
          <a:xfrm>
            <a:off x="0" y="0"/>
            <a:ext cx="12191695" cy="6858000"/>
          </a:xfrm>
          <a:prstGeom prst="rect">
            <a:avLst/>
          </a:prstGeom>
          <a:solidFill>
            <a:srgbClr val="0E4D33"/>
          </a:solidFill>
          <a:ln w="12700">
            <a:solidFill>
              <a:srgbClr val="0E4D33"/>
            </a:solidFill>
            <a:prstDash val="solid"/>
          </a:ln>
        </p:spPr>
      </p:sp>
      <p:sp>
        <p:nvSpPr>
          <p:cNvPr id="3" name="bg_agenda_lbl"/>
          <p:cNvSpPr txBox="1"/>
          <p:nvPr/>
        </p:nvSpPr>
        <p:spPr>
          <a:xfrm>
            <a:off x="731520" y="502920"/>
            <a:ext cx="2743200" cy="640080"/>
          </a:xfrm>
          <a:prstGeom prst="rect">
            <a:avLst/>
          </a:prstGeom>
          <a:noFill/>
          <a:ln/>
        </p:spPr>
        <p:txBody>
          <a:bodyPr wrap="square" lIns="508" tIns="508" rIns="508" bIns="508" rtlCol="0" anchor="t"/>
          <a:lstStyle/>
          <a:p>
            <a:pPr indent="0" marL="0">
              <a:buNone/>
            </a:pPr>
            <a:r>
              <a:rPr lang="en-US" sz="2600" b="1" dirty="0">
                <a:solidFill>
                  <a:srgbClr val="FFFFFF"/>
                </a:solidFill>
                <a:latin typeface="Meiryo UI" pitchFamily="34" charset="0"/>
                <a:ea typeface="Meiryo UI" pitchFamily="34" charset="-122"/>
                <a:cs typeface="Meiryo UI" pitchFamily="34" charset="-120"/>
              </a:rPr>
              <a:t>目次</a:t>
            </a:r>
            <a:endParaRPr lang="en-US" sz="2600" dirty="0"/>
          </a:p>
        </p:txBody>
      </p:sp>
      <p:sp>
        <p:nvSpPr>
          <p:cNvPr id="4" name="bg_agenda_n0"/>
          <p:cNvSpPr/>
          <p:nvPr/>
        </p:nvSpPr>
        <p:spPr>
          <a:xfrm>
            <a:off x="777240" y="1463040"/>
            <a:ext cx="457200" cy="457200"/>
          </a:xfrm>
          <a:prstGeom prst="ellipse">
            <a:avLst/>
          </a:prstGeom>
          <a:solidFill>
            <a:srgbClr val="197A56"/>
          </a:solidFill>
          <a:ln w="12700">
            <a:solidFill>
              <a:srgbClr val="FFFFFF"/>
            </a:solidFill>
            <a:prstDash val="solid"/>
          </a:ln>
        </p:spPr>
      </p:sp>
      <p:sp>
        <p:nvSpPr>
          <p:cNvPr id="5" name="bg_agenda_nt0"/>
          <p:cNvSpPr txBox="1"/>
          <p:nvPr/>
        </p:nvSpPr>
        <p:spPr>
          <a:xfrm>
            <a:off x="777240" y="14630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1</a:t>
            </a:r>
            <a:endParaRPr lang="en-US" sz="1400" dirty="0"/>
          </a:p>
        </p:txBody>
      </p:sp>
      <p:sp>
        <p:nvSpPr>
          <p:cNvPr id="6" name="bg_agenda_ch0"/>
          <p:cNvSpPr txBox="1"/>
          <p:nvPr/>
        </p:nvSpPr>
        <p:spPr>
          <a:xfrm>
            <a:off x="1417320" y="1444752"/>
            <a:ext cx="5669280" cy="493776"/>
          </a:xfrm>
          <a:prstGeom prst="rect">
            <a:avLst/>
          </a:prstGeom>
          <a:noFill/>
          <a:ln/>
        </p:spPr>
        <p:txBody>
          <a:bodyPr wrap="square" lIns="0" tIns="0" rIns="0" bIns="0" rtlCol="0" anchor="ctr"/>
          <a:lstStyle/>
          <a:p>
            <a:pPr indent="0" marL="0">
              <a:buNone/>
            </a:pPr>
            <a:r>
              <a:rPr lang="en-US" sz="1800" b="1" dirty="0">
                <a:solidFill>
                  <a:srgbClr val="FFFFFF"/>
                </a:solidFill>
                <a:latin typeface="Meiryo UI" pitchFamily="34" charset="0"/>
                <a:ea typeface="Meiryo UI" pitchFamily="34" charset="-122"/>
                <a:cs typeface="Meiryo UI" pitchFamily="34" charset="-120"/>
              </a:rPr>
              <a:t>評価総括</a:t>
            </a:r>
            <a:endParaRPr lang="en-US" sz="1800" dirty="0"/>
          </a:p>
        </p:txBody>
      </p:sp>
      <p:sp>
        <p:nvSpPr>
          <p:cNvPr id="7" name="bg_agenda_why0"/>
          <p:cNvSpPr txBox="1"/>
          <p:nvPr/>
        </p:nvSpPr>
        <p:spPr>
          <a:xfrm>
            <a:off x="1417320" y="1938528"/>
            <a:ext cx="5669280" cy="566928"/>
          </a:xfrm>
          <a:prstGeom prst="rect">
            <a:avLst/>
          </a:prstGeom>
          <a:noFill/>
          <a:ln/>
        </p:spPr>
        <p:txBody>
          <a:bodyPr wrap="square" lIns="0" tIns="0" rIns="0" bIns="0" rtlCol="0" anchor="t"/>
          <a:lstStyle/>
          <a:p>
            <a:pPr indent="0" marL="0">
              <a:buNone/>
            </a:pPr>
            <a:r>
              <a:rPr lang="en-US" sz="1050" dirty="0">
                <a:solidFill>
                  <a:srgbClr val="86C99B"/>
                </a:solidFill>
                <a:latin typeface="Meiryo UI" pitchFamily="34" charset="0"/>
                <a:ea typeface="Meiryo UI" pitchFamily="34" charset="-122"/>
                <a:cs typeface="Meiryo UI" pitchFamily="34" charset="-120"/>
              </a:rPr>
              <a:t>結論と評価の全体像を先に示し、以降の章で根拠を確かめる</a:t>
            </a:r>
            <a:endParaRPr lang="en-US" sz="1050" dirty="0"/>
          </a:p>
        </p:txBody>
      </p:sp>
      <p:sp>
        <p:nvSpPr>
          <p:cNvPr id="8" name="bg_agenda_n1"/>
          <p:cNvSpPr/>
          <p:nvPr/>
        </p:nvSpPr>
        <p:spPr>
          <a:xfrm>
            <a:off x="777240" y="2606040"/>
            <a:ext cx="457200" cy="457200"/>
          </a:xfrm>
          <a:prstGeom prst="ellipse">
            <a:avLst/>
          </a:prstGeom>
          <a:solidFill>
            <a:srgbClr val="0E4D33"/>
          </a:solidFill>
          <a:ln w="12700">
            <a:solidFill>
              <a:srgbClr val="FFFFFF"/>
            </a:solidFill>
            <a:prstDash val="solid"/>
          </a:ln>
        </p:spPr>
      </p:sp>
      <p:sp>
        <p:nvSpPr>
          <p:cNvPr id="9" name="bg_agenda_nt1"/>
          <p:cNvSpPr txBox="1"/>
          <p:nvPr/>
        </p:nvSpPr>
        <p:spPr>
          <a:xfrm>
            <a:off x="777240" y="2606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2</a:t>
            </a:r>
            <a:endParaRPr lang="en-US" sz="1400" dirty="0"/>
          </a:p>
        </p:txBody>
      </p:sp>
      <p:sp>
        <p:nvSpPr>
          <p:cNvPr id="10" name="bg_agenda_ch1"/>
          <p:cNvSpPr txBox="1"/>
          <p:nvPr/>
        </p:nvSpPr>
        <p:spPr>
          <a:xfrm>
            <a:off x="1417320" y="2587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事業・需給・成長</a:t>
            </a:r>
            <a:endParaRPr lang="en-US" sz="1800" dirty="0"/>
          </a:p>
        </p:txBody>
      </p:sp>
      <p:sp>
        <p:nvSpPr>
          <p:cNvPr id="11" name="bg_agenda_n2"/>
          <p:cNvSpPr/>
          <p:nvPr/>
        </p:nvSpPr>
        <p:spPr>
          <a:xfrm>
            <a:off x="777240" y="3749040"/>
            <a:ext cx="457200" cy="457200"/>
          </a:xfrm>
          <a:prstGeom prst="ellipse">
            <a:avLst/>
          </a:prstGeom>
          <a:solidFill>
            <a:srgbClr val="0E4D33"/>
          </a:solidFill>
          <a:ln w="12700">
            <a:solidFill>
              <a:srgbClr val="FFFFFF"/>
            </a:solidFill>
            <a:prstDash val="solid"/>
          </a:ln>
        </p:spPr>
      </p:sp>
      <p:sp>
        <p:nvSpPr>
          <p:cNvPr id="12" name="bg_agenda_nt2"/>
          <p:cNvSpPr txBox="1"/>
          <p:nvPr/>
        </p:nvSpPr>
        <p:spPr>
          <a:xfrm>
            <a:off x="777240" y="3749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3</a:t>
            </a:r>
            <a:endParaRPr lang="en-US" sz="1400" dirty="0"/>
          </a:p>
        </p:txBody>
      </p:sp>
      <p:sp>
        <p:nvSpPr>
          <p:cNvPr id="13" name="bg_agenda_ch2"/>
          <p:cNvSpPr txBox="1"/>
          <p:nvPr/>
        </p:nvSpPr>
        <p:spPr>
          <a:xfrm>
            <a:off x="1417320" y="3730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13条件の構造分析</a:t>
            </a:r>
            <a:endParaRPr lang="en-US" sz="1800" dirty="0"/>
          </a:p>
        </p:txBody>
      </p:sp>
      <p:sp>
        <p:nvSpPr>
          <p:cNvPr id="14" name="bg_agenda_n3"/>
          <p:cNvSpPr/>
          <p:nvPr/>
        </p:nvSpPr>
        <p:spPr>
          <a:xfrm>
            <a:off x="777240" y="4892040"/>
            <a:ext cx="457200" cy="457200"/>
          </a:xfrm>
          <a:prstGeom prst="ellipse">
            <a:avLst/>
          </a:prstGeom>
          <a:solidFill>
            <a:srgbClr val="0E4D33"/>
          </a:solidFill>
          <a:ln w="12700">
            <a:solidFill>
              <a:srgbClr val="FFFFFF"/>
            </a:solidFill>
            <a:prstDash val="solid"/>
          </a:ln>
        </p:spPr>
      </p:sp>
      <p:sp>
        <p:nvSpPr>
          <p:cNvPr id="15" name="bg_agenda_nt3"/>
          <p:cNvSpPr txBox="1"/>
          <p:nvPr/>
        </p:nvSpPr>
        <p:spPr>
          <a:xfrm>
            <a:off x="777240" y="4892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4</a:t>
            </a:r>
            <a:endParaRPr lang="en-US" sz="1400" dirty="0"/>
          </a:p>
        </p:txBody>
      </p:sp>
      <p:sp>
        <p:nvSpPr>
          <p:cNvPr id="16" name="bg_agenda_ch3"/>
          <p:cNvSpPr txBox="1"/>
          <p:nvPr/>
        </p:nvSpPr>
        <p:spPr>
          <a:xfrm>
            <a:off x="1417320" y="4873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バリュエーション・リスク・投資アクション</a:t>
            </a:r>
            <a:endParaRPr lang="en-US" sz="1800" dirty="0"/>
          </a:p>
        </p:txBody>
      </p:sp>
      <p:sp>
        <p:nvSpPr>
          <p:cNvPr id="17" name="bg_agenda_rule"/>
          <p:cNvSpPr/>
          <p:nvPr/>
        </p:nvSpPr>
        <p:spPr>
          <a:xfrm>
            <a:off x="7543800" y="1463040"/>
            <a:ext cx="0" cy="4389120"/>
          </a:xfrm>
          <a:prstGeom prst="line">
            <a:avLst/>
          </a:prstGeom>
          <a:noFill/>
          <a:ln w="9525">
            <a:solidFill>
              <a:srgbClr val="86C99B"/>
            </a:solidFill>
            <a:prstDash val="solid"/>
          </a:ln>
        </p:spPr>
      </p:sp>
      <p:sp>
        <p:nvSpPr>
          <p:cNvPr id="18" name="bg_agenda_sh"/>
          <p:cNvSpPr txBox="1"/>
          <p:nvPr/>
        </p:nvSpPr>
        <p:spPr>
          <a:xfrm>
            <a:off x="7818120" y="1417320"/>
            <a:ext cx="3840480" cy="365760"/>
          </a:xfrm>
          <a:prstGeom prst="rect">
            <a:avLst/>
          </a:prstGeom>
          <a:noFill/>
          <a:ln/>
        </p:spPr>
        <p:txBody>
          <a:bodyPr wrap="square" lIns="0" tIns="0" rIns="0" bIns="0" rtlCol="0" anchor="t"/>
          <a:lstStyle/>
          <a:p>
            <a:pPr indent="0" marL="0">
              <a:buNone/>
            </a:pPr>
            <a:r>
              <a:rPr lang="en-US" sz="1300" b="1" dirty="0">
                <a:solidFill>
                  <a:srgbClr val="86C99B"/>
                </a:solidFill>
                <a:latin typeface="Meiryo UI" pitchFamily="34" charset="0"/>
                <a:ea typeface="Meiryo UI" pitchFamily="34" charset="-122"/>
                <a:cs typeface="Meiryo UI" pitchFamily="34" charset="-120"/>
              </a:rPr>
              <a:t>第1章の構成</a:t>
            </a:r>
            <a:endParaRPr lang="en-US" sz="1300" dirty="0"/>
          </a:p>
        </p:txBody>
      </p:sp>
      <p:sp>
        <p:nvSpPr>
          <p:cNvPr id="19" name="bg_agenda_s0"/>
          <p:cNvSpPr txBox="1"/>
          <p:nvPr/>
        </p:nvSpPr>
        <p:spPr>
          <a:xfrm>
            <a:off x="7818120" y="19202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1-1  結論</a:t>
            </a:r>
            <a:endParaRPr lang="en-US" sz="1250" dirty="0"/>
          </a:p>
        </p:txBody>
      </p:sp>
      <p:sp>
        <p:nvSpPr>
          <p:cNvPr id="20" name="bg_agenda_p0"/>
          <p:cNvSpPr txBox="1"/>
          <p:nvPr/>
        </p:nvSpPr>
        <p:spPr>
          <a:xfrm>
            <a:off x="10881360" y="19202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p.2</a:t>
            </a:r>
            <a:endParaRPr lang="en-US" sz="1050" dirty="0"/>
          </a:p>
        </p:txBody>
      </p:sp>
      <p:sp>
        <p:nvSpPr>
          <p:cNvPr id="21" name="bg_agenda_s1"/>
          <p:cNvSpPr txBox="1"/>
          <p:nvPr/>
        </p:nvSpPr>
        <p:spPr>
          <a:xfrm>
            <a:off x="7818120" y="23774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1-2  評価の全体像</a:t>
            </a:r>
            <a:endParaRPr lang="en-US" sz="1250" dirty="0"/>
          </a:p>
        </p:txBody>
      </p:sp>
      <p:sp>
        <p:nvSpPr>
          <p:cNvPr id="22" name="bg_agenda_p1"/>
          <p:cNvSpPr txBox="1"/>
          <p:nvPr/>
        </p:nvSpPr>
        <p:spPr>
          <a:xfrm>
            <a:off x="10881360" y="23774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p.4–6</a:t>
            </a:r>
            <a:endParaRPr lang="en-US" sz="1050" dirty="0"/>
          </a:p>
        </p:txBody>
      </p:sp>
      <p:sp>
        <p:nvSpPr>
          <p:cNvPr id="23"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86C99B"/>
                </a:solidFill>
                <a:latin typeface="Meiryo UI" pitchFamily="34" charset="0"/>
                <a:ea typeface="Meiryo UI" pitchFamily="34" charset="-122"/>
                <a:cs typeface="Meiryo U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第1章 評価総括</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1-2 評価の全体像(1/3)</a:t>
            </a:r>
            <a:endParaRPr lang="en-US" sz="900" dirty="0"/>
          </a:p>
        </p:txBody>
      </p:sp>
      <p:sp>
        <p:nvSpPr>
          <p:cNvPr id="4" name="bg_hdr_pill0"/>
          <p:cNvSpPr/>
          <p:nvPr/>
        </p:nvSpPr>
        <p:spPr>
          <a:xfrm>
            <a:off x="8479231" y="64008"/>
            <a:ext cx="786384" cy="182880"/>
          </a:xfrm>
          <a:prstGeom prst="roundRect">
            <a:avLst>
              <a:gd name="adj" fmla="val 20000"/>
            </a:avLst>
          </a:prstGeom>
          <a:solidFill>
            <a:srgbClr val="197A56"/>
          </a:solidFill>
          <a:ln w="9525">
            <a:solidFill>
              <a:srgbClr val="197A56"/>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525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525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評価の全体像</a:t>
            </a:r>
            <a:endParaRPr lang="en-US" sz="1000" dirty="0"/>
          </a:p>
        </p:txBody>
      </p:sp>
      <p:sp>
        <p:nvSpPr>
          <p:cNvPr id="14" name="hdr_why"/>
          <p:cNvSpPr txBox="1"/>
          <p:nvPr/>
        </p:nvSpPr>
        <p:spPr>
          <a:xfrm>
            <a:off x="2128774" y="356616"/>
            <a:ext cx="9605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13 条件のどこが強く、どこが弱いかを一覧し、構造評価 B の内訳を示す</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13 条件は S1・A3・B9 で構造評価 B。条件7 は、市場が評価する信用リスクが</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事業と資金の数字で裏付けられないため A に、条件8 は今 C・将来 B</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13 条件の評価一覧(評価の色は全スライド共通: S 濃緑・A 緑・B 薄緑・C アンバー)</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本資料 第3章(条件別の構造分析)、銘柄分析メソッド Phase 3・6</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4</a:t>
            </a:r>
            <a:endParaRPr lang="en-US" sz="800" dirty="0"/>
          </a:p>
        </p:txBody>
      </p:sp>
      <p:sp>
        <p:nvSpPr>
          <p:cNvPr id="19" name="ovl_badge"/>
          <p:cNvSpPr/>
          <p:nvPr/>
        </p:nvSpPr>
        <p:spPr>
          <a:xfrm>
            <a:off x="10865815" y="649224"/>
            <a:ext cx="868680" cy="677570"/>
          </a:xfrm>
          <a:prstGeom prst="roundRect">
            <a:avLst>
              <a:gd name="adj" fmla="val 10796"/>
            </a:avLst>
          </a:prstGeom>
          <a:solidFill>
            <a:srgbClr val="86C99B"/>
          </a:solidFill>
          <a:ln w="12700">
            <a:solidFill>
              <a:srgbClr val="86C99B"/>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0E4D33"/>
                </a:solidFill>
                <a:latin typeface="Meiryo UI" pitchFamily="34" charset="0"/>
                <a:ea typeface="Meiryo UI" pitchFamily="34" charset="-122"/>
                <a:cs typeface="Meiryo UI" pitchFamily="34" charset="-120"/>
              </a:rPr>
              <a:t>B</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0E4D33"/>
                </a:solidFill>
                <a:latin typeface="Meiryo UI" pitchFamily="34" charset="0"/>
                <a:ea typeface="Meiryo UI" pitchFamily="34" charset="-122"/>
                <a:cs typeface="Meiryo UI" pitchFamily="34" charset="-120"/>
              </a:rPr>
              <a:t>構造評価</a:t>
            </a:r>
            <a:endParaRPr lang="en-US" sz="800" dirty="0"/>
          </a:p>
        </p:txBody>
      </p:sp>
      <p:graphicFrame>
        <p:nvGraphicFramePr>
          <p:cNvPr id="5" name="tbl"/>
          <p:cNvGraphicFramePr>
            <a:graphicFrameLocks noGrp="1"/>
          </p:cNvGraphicFramePr>
          <p:nvPr>
            <p:extLst>
              <p:ext uri="{D42A27DB-BD31-4B8C-83A1-F6EECF244321}">
                <p14:modId xmlns:p14="http://schemas.microsoft.com/office/powerpoint/2010/main" val="1579011935"/>
              </p:ext>
            </p:extLst>
          </p:nvPr>
        </p:nvGraphicFramePr>
        <p:xfrm>
          <a:off x="457200" y="1481328"/>
          <a:ext cx="11274552" cy="914400"/>
        </p:xfrm>
        <a:graphic>
          <a:graphicData uri="http://schemas.openxmlformats.org/drawingml/2006/table">
            <a:tbl>
              <a:tblPr/>
              <a:tblGrid>
                <a:gridCol w="411480"/>
                <a:gridCol w="2926080"/>
                <a:gridCol w="685800"/>
                <a:gridCol w="5120640"/>
                <a:gridCol w="2130552"/>
              </a:tblGrid>
              <a:tr h="310896">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1000" b="1" dirty="0">
                          <a:solidFill>
                            <a:srgbClr val="FFFFFF"/>
                          </a:solidFill>
                          <a:latin typeface="Meiryo UI" pitchFamily="34" charset="0"/>
                          <a:ea typeface="Meiryo UI" pitchFamily="34" charset="-122"/>
                          <a:cs typeface="Meiryo UI" pitchFamily="34" charset="-120"/>
                        </a:rPr>
                        <a:t>条件</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評価</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1000" b="1" dirty="0">
                          <a:solidFill>
                            <a:srgbClr val="FFFFFF"/>
                          </a:solidFill>
                          <a:latin typeface="Meiryo UI" pitchFamily="34" charset="0"/>
                          <a:ea typeface="Meiryo UI" pitchFamily="34" charset="-122"/>
                          <a:cs typeface="Meiryo UI" pitchFamily="34" charset="-120"/>
                        </a:rPr>
                        <a:t>根拠(一文)</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1000" b="1" dirty="0">
                          <a:solidFill>
                            <a:srgbClr val="FFFFFF"/>
                          </a:solidFill>
                          <a:latin typeface="Meiryo UI" pitchFamily="34" charset="0"/>
                          <a:ea typeface="Meiryo UI" pitchFamily="34" charset="-122"/>
                          <a:cs typeface="Meiryo UI" pitchFamily="34" charset="-120"/>
                        </a:rPr>
                        <a:t>監視 KPI(C のみ)</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10 年の価格決定力・競争優位・成長性</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E4D33"/>
                          </a:solidFill>
                          <a:latin typeface="Meiryo UI" pitchFamily="34" charset="0"/>
                          <a:ea typeface="Meiryo UI" pitchFamily="34" charset="-122"/>
                          <a:cs typeface="Meiryo UI" pitchFamily="34" charset="-120"/>
                        </a:rPr>
                        <a:t>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86C99B"/>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DB の切替コストは長いが、AI はコストプラス契約で単価優位は逼迫期(FY32 まで)に限られる</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コア事業の潤沢なキャッシュフロー</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b="1" dirty="0">
                          <a:solidFill>
                            <a:srgbClr val="0E4D33"/>
                          </a:solidFill>
                          <a:latin typeface="Meiryo UI" pitchFamily="34" charset="0"/>
                          <a:ea typeface="Meiryo UI" pitchFamily="34" charset="-122"/>
                          <a:cs typeface="Meiryo UI" pitchFamily="34" charset="-120"/>
                        </a:rPr>
                        <a:t>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86C99B"/>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コアは税引後 230 億ドル。全社 FCF はエンジンで FY29 に 399 億ドル</a:t>
                      </a:r>
                      <a:endParaRPr lang="en-US" sz="1000" dirty="0">
                        <a:latin typeface="Meiryo UI" charset="0"/>
                        <a:ea typeface="Meiryo UI" charset="0"/>
                        <a:cs typeface="Meiryo UI" charset="0"/>
                      </a:endParaRPr>
                    </a:p>
                    <a:p>
                      <a:pPr algn="l" indent="0" marL="0">
                        <a:buNone/>
                      </a:pPr>
                      <a:r>
                        <a:rPr lang="en-US" sz="1000" dirty="0">
                          <a:solidFill>
                            <a:srgbClr val="333333"/>
                          </a:solidFill>
                          <a:latin typeface="Meiryo UI" pitchFamily="34" charset="0"/>
                          <a:ea typeface="Meiryo UI" pitchFamily="34" charset="-122"/>
                          <a:cs typeface="Meiryo UI" pitchFamily="34" charset="-120"/>
                        </a:rPr>
                        <a:t>(会社 300 億以上)</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3</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コア技術・データの AI 転用</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197A56"/>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OCI +121%、Database@ +353% が増収の主因</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4</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日本株か米国株</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S</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NYSE 上場の米国企業</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5</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経営陣の経歴と資本配分</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E4D33"/>
                          </a:solidFill>
                          <a:latin typeface="Meiryo UI" pitchFamily="34" charset="0"/>
                          <a:ea typeface="Meiryo UI" pitchFamily="34" charset="-122"/>
                          <a:cs typeface="Meiryo UI" pitchFamily="34" charset="-120"/>
                        </a:rPr>
                        <a:t>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86C99B"/>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経歴は事業に合う。FCF の時期と資金の上限を数字で示した。</a:t>
                      </a:r>
                      <a:endParaRPr lang="en-US" sz="1000" dirty="0">
                        <a:latin typeface="Meiryo UI" charset="0"/>
                        <a:ea typeface="Meiryo UI" charset="0"/>
                        <a:cs typeface="Meiryo UI" charset="0"/>
                      </a:endParaRPr>
                    </a:p>
                    <a:p>
                      <a:pPr algn="l" indent="0" marL="0">
                        <a:buNone/>
                      </a:pPr>
                      <a:r>
                        <a:rPr lang="en-US" sz="1000" dirty="0">
                          <a:solidFill>
                            <a:srgbClr val="333333"/>
                          </a:solidFill>
                          <a:latin typeface="Meiryo UI" pitchFamily="34" charset="0"/>
                          <a:ea typeface="Meiryo UI" pitchFamily="34" charset="-122"/>
                          <a:cs typeface="Meiryo UI" pitchFamily="34" charset="-120"/>
                        </a:rPr>
                        <a:t>建設の遅れは時期のずれで価値への効きは小さい</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6</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5 年 EPS 成長率 30% 以上で PEG&lt;1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b="1" dirty="0">
                          <a:solidFill>
                            <a:srgbClr val="0E4D33"/>
                          </a:solidFill>
                          <a:latin typeface="Meiryo UI" pitchFamily="34" charset="0"/>
                          <a:ea typeface="Meiryo UI" pitchFamily="34" charset="-122"/>
                          <a:cs typeface="Meiryo UI" pitchFamily="34" charset="-120"/>
                        </a:rPr>
                        <a:t>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86C99B"/>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3 経路の CAGR 29.1〜31.0%・PEG 0.65〜0.70。閾値 30% の前後</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低 PEG の理由がリスクの過大評価</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197A56"/>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市場の信用の評価は数字で裏付けられない(倒産の道なし)。</a:t>
                      </a:r>
                      <a:endParaRPr lang="en-US" sz="1000" dirty="0">
                        <a:latin typeface="Meiryo UI" charset="0"/>
                        <a:ea typeface="Meiryo UI" charset="0"/>
                        <a:cs typeface="Meiryo UI" charset="0"/>
                      </a:endParaRPr>
                    </a:p>
                    <a:p>
                      <a:pPr algn="l" indent="0" marL="0">
                        <a:buNone/>
                      </a:pPr>
                      <a:r>
                        <a:rPr lang="en-US" sz="1000" dirty="0">
                          <a:solidFill>
                            <a:srgbClr val="333333"/>
                          </a:solidFill>
                          <a:latin typeface="Meiryo UI" pitchFamily="34" charset="0"/>
                          <a:ea typeface="Meiryo UI" pitchFamily="34" charset="-122"/>
                          <a:cs typeface="Meiryo UI" pitchFamily="34" charset="-120"/>
                        </a:rPr>
                        <a:t>OpenAI 集中は本当のリスク</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8</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コモディティでない</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b="1" dirty="0">
                          <a:solidFill>
                            <a:srgbClr val="0E4D33"/>
                          </a:solidFill>
                          <a:latin typeface="Meiryo UI" pitchFamily="34" charset="0"/>
                          <a:ea typeface="Meiryo UI" pitchFamily="34" charset="-122"/>
                          <a:cs typeface="Meiryo UI" pitchFamily="34" charset="-120"/>
                        </a:rPr>
                        <a:t>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86C99B"/>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今は学習向け容量がコモディティ(今 C)。</a:t>
                      </a:r>
                      <a:endParaRPr lang="en-US" sz="1000" dirty="0">
                        <a:latin typeface="Meiryo UI" charset="0"/>
                        <a:ea typeface="Meiryo UI" charset="0"/>
                        <a:cs typeface="Meiryo UI" charset="0"/>
                      </a:endParaRPr>
                    </a:p>
                    <a:p>
                      <a:pPr algn="l" indent="0" marL="0">
                        <a:buNone/>
                      </a:pPr>
                      <a:r>
                        <a:rPr lang="en-US" sz="1000" dirty="0">
                          <a:solidFill>
                            <a:srgbClr val="333333"/>
                          </a:solidFill>
                          <a:latin typeface="Meiryo UI" pitchFamily="34" charset="0"/>
                          <a:ea typeface="Meiryo UI" pitchFamily="34" charset="-122"/>
                          <a:cs typeface="Meiryo UI" pitchFamily="34" charset="-120"/>
                        </a:rPr>
                        <a:t>将来は推論が DB・OCI と一体(将来 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9</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停めない運用に不可欠</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E4D33"/>
                          </a:solidFill>
                          <a:latin typeface="Meiryo UI" pitchFamily="34" charset="0"/>
                          <a:ea typeface="Meiryo UI" pitchFamily="34" charset="-122"/>
                          <a:cs typeface="Meiryo UI" pitchFamily="34" charset="-120"/>
                        </a:rPr>
                        <a:t>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86C99B"/>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稼働率 97.9%・更新率は高いが代替のクラウドがある</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無形資産の陳腐化リスク</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b="1" dirty="0">
                          <a:solidFill>
                            <a:srgbClr val="0E4D33"/>
                          </a:solidFill>
                          <a:latin typeface="Meiryo UI" pitchFamily="34" charset="0"/>
                          <a:ea typeface="Meiryo UI" pitchFamily="34" charset="-122"/>
                          <a:cs typeface="Meiryo UI" pitchFamily="34" charset="-120"/>
                        </a:rPr>
                        <a:t>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86C99B"/>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GPU の 6 年償却は会社の ROI 28% と整合。4 年前の GPU の更新 +20%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模倣困難・代替不可能</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E4D33"/>
                          </a:solidFill>
                          <a:latin typeface="Meiryo UI" pitchFamily="34" charset="0"/>
                          <a:ea typeface="Meiryo UI" pitchFamily="34" charset="-122"/>
                          <a:cs typeface="Meiryo UI" pitchFamily="34" charset="-120"/>
                        </a:rPr>
                        <a:t>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86C99B"/>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DB の配置は再現困難、AI 容量は 2〜4 年で再現可能</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従量課金型の収益</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197A56"/>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受注残 6,640 億ドル(約 9 割がクラウド基盤)が積み上がるストック型</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13</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アーキタイプ照合</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E4D33"/>
                          </a:solidFill>
                          <a:latin typeface="Meiryo UI" pitchFamily="34" charset="0"/>
                          <a:ea typeface="Meiryo UI" pitchFamily="34" charset="-122"/>
                          <a:cs typeface="Meiryo UI" pitchFamily="34" charset="-120"/>
                        </a:rPr>
                        <a:t>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86C99B"/>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原型は ORCL 型、自社調達 GPU は MU 型に寄る</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第1章 評価総括</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1-2 評価の全体像(2/3)</a:t>
            </a:r>
            <a:endParaRPr lang="en-US" sz="900" dirty="0"/>
          </a:p>
        </p:txBody>
      </p:sp>
      <p:sp>
        <p:nvSpPr>
          <p:cNvPr id="4" name="bg_hdr_pill0"/>
          <p:cNvSpPr/>
          <p:nvPr/>
        </p:nvSpPr>
        <p:spPr>
          <a:xfrm>
            <a:off x="8479231" y="64008"/>
            <a:ext cx="786384" cy="182880"/>
          </a:xfrm>
          <a:prstGeom prst="roundRect">
            <a:avLst>
              <a:gd name="adj" fmla="val 20000"/>
            </a:avLst>
          </a:prstGeom>
          <a:solidFill>
            <a:srgbClr val="197A56"/>
          </a:solidFill>
          <a:ln w="9525">
            <a:solidFill>
              <a:srgbClr val="197A56"/>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525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525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評価の全体像</a:t>
            </a:r>
            <a:endParaRPr lang="en-US" sz="1000" dirty="0"/>
          </a:p>
        </p:txBody>
      </p:sp>
      <p:sp>
        <p:nvSpPr>
          <p:cNvPr id="14" name="hdr_why"/>
          <p:cNvSpPr txBox="1"/>
          <p:nvPr/>
        </p:nvSpPr>
        <p:spPr>
          <a:xfrm>
            <a:off x="2128774" y="356616"/>
            <a:ext cx="9605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集計の規則(拒否権・C 上限・対評価)を当てた結果を示し、評価に恣意がないことを確かめる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拒否権と C 上限の規則は発動しない。条件7 は A で条件6 の S を</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無効にしないが、条件6 は閾値 30% の前後のため B とした</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構造評価の導出: 評価分布 → 適用ルール → 構造評価</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銘柄分析メソッド Phase 6、本資料の評価一覧</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5</a:t>
            </a:r>
            <a:endParaRPr lang="en-US" sz="800" dirty="0"/>
          </a:p>
        </p:txBody>
      </p:sp>
      <p:sp>
        <p:nvSpPr>
          <p:cNvPr id="19" name="flow_h0"/>
          <p:cNvSpPr txBox="1"/>
          <p:nvPr/>
        </p:nvSpPr>
        <p:spPr>
          <a:xfrm>
            <a:off x="457200" y="1554480"/>
            <a:ext cx="3484778"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入力: 13 条件の評価</a:t>
            </a:r>
            <a:endParaRPr lang="en-US" sz="1100" dirty="0"/>
          </a:p>
        </p:txBody>
      </p:sp>
      <p:sp>
        <p:nvSpPr>
          <p:cNvPr id="20" name="ovl_fbox0_0"/>
          <p:cNvSpPr/>
          <p:nvPr/>
        </p:nvSpPr>
        <p:spPr>
          <a:xfrm>
            <a:off x="457200" y="2414016"/>
            <a:ext cx="3484778" cy="822960"/>
          </a:xfrm>
          <a:prstGeom prst="roundRect">
            <a:avLst>
              <a:gd name="adj" fmla="val 6667"/>
            </a:avLst>
          </a:prstGeom>
          <a:solidFill>
            <a:srgbClr val="0E4D33"/>
          </a:solidFill>
          <a:ln w="9525">
            <a:solidFill>
              <a:srgbClr val="0E4D33"/>
            </a:solidFill>
            <a:prstDash val="solid"/>
          </a:ln>
        </p:spPr>
      </p:sp>
      <p:sp>
        <p:nvSpPr>
          <p:cNvPr id="21" name="flow_t0_0"/>
          <p:cNvSpPr txBox="1"/>
          <p:nvPr/>
        </p:nvSpPr>
        <p:spPr>
          <a:xfrm>
            <a:off x="530352" y="2450592"/>
            <a:ext cx="3338474" cy="749808"/>
          </a:xfrm>
          <a:prstGeom prst="rect">
            <a:avLst/>
          </a:prstGeom>
          <a:noFill/>
          <a:ln/>
        </p:spPr>
        <p:txBody>
          <a:bodyPr wrap="square" lIns="0" tIns="0" rIns="0" bIns="0" rtlCol="0" anchor="ctr"/>
          <a:lstStyle/>
          <a:p>
            <a:pPr algn="ctr" indent="0" marL="0">
              <a:buNone/>
            </a:pPr>
            <a:r>
              <a:rPr lang="en-US" sz="1000" dirty="0">
                <a:solidFill>
                  <a:srgbClr val="FFFFFF"/>
                </a:solidFill>
                <a:latin typeface="Meiryo UI" pitchFamily="34" charset="0"/>
                <a:ea typeface="Meiryo UI" pitchFamily="34" charset="-122"/>
                <a:cs typeface="Meiryo UI" pitchFamily="34" charset="-120"/>
              </a:rPr>
              <a:t>S × 1(条件4)</a:t>
            </a:r>
            <a:endParaRPr lang="en-US" sz="1000" dirty="0"/>
          </a:p>
        </p:txBody>
      </p:sp>
      <p:sp>
        <p:nvSpPr>
          <p:cNvPr id="22" name="ovl_fbox0_1"/>
          <p:cNvSpPr/>
          <p:nvPr/>
        </p:nvSpPr>
        <p:spPr>
          <a:xfrm>
            <a:off x="457200" y="3346704"/>
            <a:ext cx="3484778" cy="822960"/>
          </a:xfrm>
          <a:prstGeom prst="roundRect">
            <a:avLst>
              <a:gd name="adj" fmla="val 6667"/>
            </a:avLst>
          </a:prstGeom>
          <a:solidFill>
            <a:srgbClr val="197A56"/>
          </a:solidFill>
          <a:ln w="9525">
            <a:solidFill>
              <a:srgbClr val="197A56"/>
            </a:solidFill>
            <a:prstDash val="solid"/>
          </a:ln>
        </p:spPr>
      </p:sp>
      <p:sp>
        <p:nvSpPr>
          <p:cNvPr id="23" name="flow_t0_1"/>
          <p:cNvSpPr txBox="1"/>
          <p:nvPr/>
        </p:nvSpPr>
        <p:spPr>
          <a:xfrm>
            <a:off x="530352" y="3383280"/>
            <a:ext cx="3338474" cy="749808"/>
          </a:xfrm>
          <a:prstGeom prst="rect">
            <a:avLst/>
          </a:prstGeom>
          <a:noFill/>
          <a:ln/>
        </p:spPr>
        <p:txBody>
          <a:bodyPr wrap="square" lIns="0" tIns="0" rIns="0" bIns="0" rtlCol="0" anchor="ctr"/>
          <a:lstStyle/>
          <a:p>
            <a:pPr algn="ctr" indent="0" marL="0">
              <a:buNone/>
            </a:pPr>
            <a:r>
              <a:rPr lang="en-US" sz="1000" dirty="0">
                <a:solidFill>
                  <a:srgbClr val="FFFFFF"/>
                </a:solidFill>
                <a:latin typeface="Meiryo UI" pitchFamily="34" charset="0"/>
                <a:ea typeface="Meiryo UI" pitchFamily="34" charset="-122"/>
                <a:cs typeface="Meiryo UI" pitchFamily="34" charset="-120"/>
              </a:rPr>
              <a:t>A × 3(条件3・7・12)</a:t>
            </a:r>
            <a:endParaRPr lang="en-US" sz="1000" dirty="0"/>
          </a:p>
        </p:txBody>
      </p:sp>
      <p:sp>
        <p:nvSpPr>
          <p:cNvPr id="24" name="ovl_fbox0_2"/>
          <p:cNvSpPr/>
          <p:nvPr/>
        </p:nvSpPr>
        <p:spPr>
          <a:xfrm>
            <a:off x="457200" y="4279392"/>
            <a:ext cx="3484778" cy="822960"/>
          </a:xfrm>
          <a:prstGeom prst="roundRect">
            <a:avLst>
              <a:gd name="adj" fmla="val 6667"/>
            </a:avLst>
          </a:prstGeom>
          <a:solidFill>
            <a:srgbClr val="EAF4EE"/>
          </a:solidFill>
          <a:ln w="9525">
            <a:solidFill>
              <a:srgbClr val="EAF4EE"/>
            </a:solidFill>
            <a:prstDash val="solid"/>
          </a:ln>
        </p:spPr>
      </p:sp>
      <p:sp>
        <p:nvSpPr>
          <p:cNvPr id="25" name="flow_t0_2"/>
          <p:cNvSpPr txBox="1"/>
          <p:nvPr/>
        </p:nvSpPr>
        <p:spPr>
          <a:xfrm>
            <a:off x="530352" y="4315968"/>
            <a:ext cx="3338474" cy="749808"/>
          </a:xfrm>
          <a:prstGeom prst="rect">
            <a:avLst/>
          </a:prstGeom>
          <a:noFill/>
          <a:ln/>
        </p:spPr>
        <p:txBody>
          <a:bodyPr wrap="square" lIns="0" tIns="0" rIns="0" bIns="0" rtlCol="0" anchor="ctr"/>
          <a:lstStyle/>
          <a:p>
            <a:pPr algn="ctr" indent="0" marL="0">
              <a:buNone/>
            </a:pPr>
            <a:r>
              <a:rPr lang="en-US" sz="1000" dirty="0">
                <a:solidFill>
                  <a:srgbClr val="0E4D33"/>
                </a:solidFill>
                <a:latin typeface="Meiryo UI" pitchFamily="34" charset="0"/>
                <a:ea typeface="Meiryo UI" pitchFamily="34" charset="-122"/>
                <a:cs typeface="Meiryo UI" pitchFamily="34" charset="-120"/>
              </a:rPr>
              <a:t>B × 9</a:t>
            </a:r>
            <a:endParaRPr lang="en-US" sz="1000" dirty="0"/>
          </a:p>
        </p:txBody>
      </p:sp>
      <p:sp>
        <p:nvSpPr>
          <p:cNvPr id="26" name="ovl_farrow0"/>
          <p:cNvSpPr/>
          <p:nvPr/>
        </p:nvSpPr>
        <p:spPr>
          <a:xfrm>
            <a:off x="4003700" y="3575304"/>
            <a:ext cx="288036" cy="365760"/>
          </a:xfrm>
          <a:prstGeom prst="rightArrow">
            <a:avLst/>
          </a:prstGeom>
          <a:solidFill>
            <a:srgbClr val="86C99B"/>
          </a:solidFill>
          <a:ln w="12700">
            <a:solidFill>
              <a:srgbClr val="86C99B"/>
            </a:solidFill>
            <a:prstDash val="solid"/>
          </a:ln>
        </p:spPr>
      </p:sp>
      <p:sp>
        <p:nvSpPr>
          <p:cNvPr id="27" name="flow_h1"/>
          <p:cNvSpPr txBox="1"/>
          <p:nvPr/>
        </p:nvSpPr>
        <p:spPr>
          <a:xfrm>
            <a:off x="4353458" y="1554480"/>
            <a:ext cx="3484778"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処理: 適用ルール</a:t>
            </a:r>
            <a:endParaRPr lang="en-US" sz="1100" dirty="0"/>
          </a:p>
        </p:txBody>
      </p:sp>
      <p:sp>
        <p:nvSpPr>
          <p:cNvPr id="28" name="ovl_fbox1_0"/>
          <p:cNvSpPr/>
          <p:nvPr/>
        </p:nvSpPr>
        <p:spPr>
          <a:xfrm>
            <a:off x="4353458" y="2414016"/>
            <a:ext cx="3484778" cy="822960"/>
          </a:xfrm>
          <a:prstGeom prst="roundRect">
            <a:avLst>
              <a:gd name="adj" fmla="val 6667"/>
            </a:avLst>
          </a:prstGeom>
          <a:solidFill>
            <a:srgbClr val="F2F2F2"/>
          </a:solidFill>
          <a:ln w="9525">
            <a:solidFill>
              <a:srgbClr val="F2F2F2"/>
            </a:solidFill>
            <a:prstDash val="solid"/>
          </a:ln>
        </p:spPr>
      </p:sp>
      <p:sp>
        <p:nvSpPr>
          <p:cNvPr id="29" name="flow_t1_0"/>
          <p:cNvSpPr txBox="1"/>
          <p:nvPr/>
        </p:nvSpPr>
        <p:spPr>
          <a:xfrm>
            <a:off x="4426610" y="2450592"/>
            <a:ext cx="3338474" cy="749808"/>
          </a:xfrm>
          <a:prstGeom prst="rect">
            <a:avLst/>
          </a:prstGeom>
          <a:noFill/>
          <a:ln/>
        </p:spPr>
        <p:txBody>
          <a:bodyPr wrap="square" lIns="0" tIns="0" rIns="0" bIns="0" rtlCol="0" anchor="ctr"/>
          <a:lstStyle/>
          <a:p>
            <a:pPr algn="ctr" indent="0" marL="0">
              <a:buNone/>
            </a:pPr>
            <a:r>
              <a:rPr lang="en-US" sz="1000" dirty="0">
                <a:solidFill>
                  <a:srgbClr val="767676"/>
                </a:solidFill>
                <a:latin typeface="Meiryo UI" pitchFamily="34" charset="0"/>
                <a:ea typeface="Meiryo UI" pitchFamily="34" charset="-122"/>
                <a:cs typeface="Meiryo UI" pitchFamily="34" charset="-120"/>
              </a:rPr>
              <a:t>致命条件の拒否権(E 以下): 非発動</a:t>
            </a:r>
            <a:endParaRPr lang="en-US" sz="1000" dirty="0"/>
          </a:p>
        </p:txBody>
      </p:sp>
      <p:sp>
        <p:nvSpPr>
          <p:cNvPr id="30" name="ovl_fbox1_1"/>
          <p:cNvSpPr/>
          <p:nvPr/>
        </p:nvSpPr>
        <p:spPr>
          <a:xfrm>
            <a:off x="4353458" y="3346704"/>
            <a:ext cx="3484778" cy="822960"/>
          </a:xfrm>
          <a:prstGeom prst="roundRect">
            <a:avLst>
              <a:gd name="adj" fmla="val 6667"/>
            </a:avLst>
          </a:prstGeom>
          <a:solidFill>
            <a:srgbClr val="197A56"/>
          </a:solidFill>
          <a:ln w="9525">
            <a:solidFill>
              <a:srgbClr val="197A56"/>
            </a:solidFill>
            <a:prstDash val="solid"/>
          </a:ln>
        </p:spPr>
      </p:sp>
      <p:sp>
        <p:nvSpPr>
          <p:cNvPr id="31" name="flow_t1_1"/>
          <p:cNvSpPr txBox="1"/>
          <p:nvPr/>
        </p:nvSpPr>
        <p:spPr>
          <a:xfrm>
            <a:off x="4426610" y="3383280"/>
            <a:ext cx="3338474" cy="749808"/>
          </a:xfrm>
          <a:prstGeom prst="rect">
            <a:avLst/>
          </a:prstGeom>
          <a:noFill/>
          <a:ln/>
        </p:spPr>
        <p:txBody>
          <a:bodyPr wrap="square" lIns="0" tIns="0" rIns="0" bIns="0" rtlCol="0" anchor="ctr"/>
          <a:lstStyle/>
          <a:p>
            <a:pPr algn="ctr" indent="0" marL="0">
              <a:buNone/>
            </a:pPr>
            <a:r>
              <a:rPr lang="en-US" sz="1000" dirty="0">
                <a:solidFill>
                  <a:srgbClr val="FFFFFF"/>
                </a:solidFill>
                <a:latin typeface="Meiryo UI" pitchFamily="34" charset="0"/>
                <a:ea typeface="Meiryo UI" pitchFamily="34" charset="-122"/>
                <a:cs typeface="Meiryo UI" pitchFamily="34" charset="-120"/>
              </a:rPr>
              <a:t>条件6・7 の対評価: 条件7 が A のため条件6 の S は無効にしないが、条件6 は閾値 30% の前後のため B</a:t>
            </a:r>
            <a:endParaRPr lang="en-US" sz="1000" dirty="0"/>
          </a:p>
        </p:txBody>
      </p:sp>
      <p:sp>
        <p:nvSpPr>
          <p:cNvPr id="32" name="ovl_fbox1_2"/>
          <p:cNvSpPr/>
          <p:nvPr/>
        </p:nvSpPr>
        <p:spPr>
          <a:xfrm>
            <a:off x="4353458" y="4279392"/>
            <a:ext cx="3484778" cy="822960"/>
          </a:xfrm>
          <a:prstGeom prst="roundRect">
            <a:avLst>
              <a:gd name="adj" fmla="val 6667"/>
            </a:avLst>
          </a:prstGeom>
          <a:solidFill>
            <a:srgbClr val="F2F2F2"/>
          </a:solidFill>
          <a:ln w="9525">
            <a:solidFill>
              <a:srgbClr val="F2F2F2"/>
            </a:solidFill>
            <a:prstDash val="solid"/>
          </a:ln>
        </p:spPr>
      </p:sp>
      <p:sp>
        <p:nvSpPr>
          <p:cNvPr id="33" name="flow_t1_2"/>
          <p:cNvSpPr txBox="1"/>
          <p:nvPr/>
        </p:nvSpPr>
        <p:spPr>
          <a:xfrm>
            <a:off x="4426610" y="4315968"/>
            <a:ext cx="3338474" cy="749808"/>
          </a:xfrm>
          <a:prstGeom prst="rect">
            <a:avLst/>
          </a:prstGeom>
          <a:noFill/>
          <a:ln/>
        </p:spPr>
        <p:txBody>
          <a:bodyPr wrap="square" lIns="0" tIns="0" rIns="0" bIns="0" rtlCol="0" anchor="ctr"/>
          <a:lstStyle/>
          <a:p>
            <a:pPr algn="ctr" indent="0" marL="0">
              <a:buNone/>
            </a:pPr>
            <a:r>
              <a:rPr lang="en-US" sz="1000" dirty="0">
                <a:solidFill>
                  <a:srgbClr val="767676"/>
                </a:solidFill>
                <a:latin typeface="Meiryo UI" pitchFamily="34" charset="0"/>
                <a:ea typeface="Meiryo UI" pitchFamily="34" charset="-122"/>
                <a:cs typeface="Meiryo UI" pitchFamily="34" charset="-120"/>
              </a:rPr>
              <a:t>C × 4 以上で上限 C: 非発動(C は 0)</a:t>
            </a:r>
            <a:endParaRPr lang="en-US" sz="1000" dirty="0"/>
          </a:p>
        </p:txBody>
      </p:sp>
      <p:sp>
        <p:nvSpPr>
          <p:cNvPr id="34" name="ovl_farrow1"/>
          <p:cNvSpPr/>
          <p:nvPr/>
        </p:nvSpPr>
        <p:spPr>
          <a:xfrm>
            <a:off x="7899959" y="3575304"/>
            <a:ext cx="288036" cy="365760"/>
          </a:xfrm>
          <a:prstGeom prst="rightArrow">
            <a:avLst/>
          </a:prstGeom>
          <a:solidFill>
            <a:srgbClr val="86C99B"/>
          </a:solidFill>
          <a:ln w="12700">
            <a:solidFill>
              <a:srgbClr val="86C99B"/>
            </a:solidFill>
            <a:prstDash val="solid"/>
          </a:ln>
        </p:spPr>
      </p:sp>
      <p:sp>
        <p:nvSpPr>
          <p:cNvPr id="35" name="flow_h2"/>
          <p:cNvSpPr txBox="1"/>
          <p:nvPr/>
        </p:nvSpPr>
        <p:spPr>
          <a:xfrm>
            <a:off x="8249717" y="1554480"/>
            <a:ext cx="3484778"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出力: 構造評価</a:t>
            </a:r>
            <a:endParaRPr lang="en-US" sz="1100" dirty="0"/>
          </a:p>
        </p:txBody>
      </p:sp>
      <p:sp>
        <p:nvSpPr>
          <p:cNvPr id="36" name="ovl_fbox2_0"/>
          <p:cNvSpPr/>
          <p:nvPr/>
        </p:nvSpPr>
        <p:spPr>
          <a:xfrm>
            <a:off x="8249717" y="2560320"/>
            <a:ext cx="3484778" cy="1463040"/>
          </a:xfrm>
          <a:prstGeom prst="roundRect">
            <a:avLst>
              <a:gd name="adj" fmla="val 3750"/>
            </a:avLst>
          </a:prstGeom>
          <a:solidFill>
            <a:srgbClr val="0E4D33"/>
          </a:solidFill>
          <a:ln w="9525">
            <a:solidFill>
              <a:srgbClr val="0E4D33"/>
            </a:solidFill>
            <a:prstDash val="solid"/>
          </a:ln>
        </p:spPr>
      </p:sp>
      <p:sp>
        <p:nvSpPr>
          <p:cNvPr id="37" name="flow_t2_0"/>
          <p:cNvSpPr txBox="1"/>
          <p:nvPr/>
        </p:nvSpPr>
        <p:spPr>
          <a:xfrm>
            <a:off x="8322869" y="2596896"/>
            <a:ext cx="3338474" cy="1389888"/>
          </a:xfrm>
          <a:prstGeom prst="rect">
            <a:avLst/>
          </a:prstGeom>
          <a:noFill/>
          <a:ln/>
        </p:spPr>
        <p:txBody>
          <a:bodyPr wrap="square" lIns="0" tIns="0" rIns="0" bIns="0" rtlCol="0" anchor="ctr"/>
          <a:lstStyle/>
          <a:p>
            <a:pPr algn="ctr" indent="0" marL="0">
              <a:buNone/>
            </a:pPr>
            <a:r>
              <a:rPr lang="en-US" sz="4000" b="1" dirty="0">
                <a:solidFill>
                  <a:srgbClr val="FFFFFF"/>
                </a:solidFill>
                <a:latin typeface="Meiryo UI" pitchFamily="34" charset="0"/>
                <a:ea typeface="Meiryo UI" pitchFamily="34" charset="-122"/>
                <a:cs typeface="Meiryo UI" pitchFamily="34" charset="-120"/>
              </a:rPr>
              <a:t>B</a:t>
            </a:r>
            <a:endParaRPr lang="en-US" sz="4000" dirty="0"/>
          </a:p>
        </p:txBody>
      </p:sp>
      <p:sp>
        <p:nvSpPr>
          <p:cNvPr id="38" name="ovl_fbox2_1"/>
          <p:cNvSpPr/>
          <p:nvPr/>
        </p:nvSpPr>
        <p:spPr>
          <a:xfrm>
            <a:off x="8249717" y="4133088"/>
            <a:ext cx="3484778" cy="822960"/>
          </a:xfrm>
          <a:prstGeom prst="roundRect">
            <a:avLst>
              <a:gd name="adj" fmla="val 6667"/>
            </a:avLst>
          </a:prstGeom>
          <a:solidFill>
            <a:srgbClr val="EAF4EE"/>
          </a:solidFill>
          <a:ln w="9525">
            <a:solidFill>
              <a:srgbClr val="EAF4EE"/>
            </a:solidFill>
            <a:prstDash val="solid"/>
          </a:ln>
        </p:spPr>
      </p:sp>
      <p:sp>
        <p:nvSpPr>
          <p:cNvPr id="39" name="flow_t2_1"/>
          <p:cNvSpPr txBox="1"/>
          <p:nvPr/>
        </p:nvSpPr>
        <p:spPr>
          <a:xfrm>
            <a:off x="8322869" y="4169664"/>
            <a:ext cx="3338474" cy="749808"/>
          </a:xfrm>
          <a:prstGeom prst="rect">
            <a:avLst/>
          </a:prstGeom>
          <a:noFill/>
          <a:ln/>
        </p:spPr>
        <p:txBody>
          <a:bodyPr wrap="square" lIns="0" tIns="0" rIns="0" bIns="0" rtlCol="0" anchor="ctr"/>
          <a:lstStyle/>
          <a:p>
            <a:pPr algn="ctr" indent="0" marL="0">
              <a:buNone/>
            </a:pPr>
            <a:r>
              <a:rPr lang="en-US" sz="1000" dirty="0">
                <a:solidFill>
                  <a:srgbClr val="0E4D33"/>
                </a:solidFill>
                <a:latin typeface="Meiryo UI" pitchFamily="34" charset="0"/>
                <a:ea typeface="Meiryo UI" pitchFamily="34" charset="-122"/>
                <a:cs typeface="Meiryo UI" pitchFamily="34" charset="-120"/>
              </a:rPr>
              <a:t>最頻の B を採用(機械的な平均はしない)</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第1章 評価総括</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1-2 評価の全体像(3/3)</a:t>
            </a:r>
            <a:endParaRPr lang="en-US" sz="900" dirty="0"/>
          </a:p>
        </p:txBody>
      </p:sp>
      <p:sp>
        <p:nvSpPr>
          <p:cNvPr id="4" name="bg_hdr_pill0"/>
          <p:cNvSpPr/>
          <p:nvPr/>
        </p:nvSpPr>
        <p:spPr>
          <a:xfrm>
            <a:off x="8479231" y="64008"/>
            <a:ext cx="786384" cy="182880"/>
          </a:xfrm>
          <a:prstGeom prst="roundRect">
            <a:avLst>
              <a:gd name="adj" fmla="val 20000"/>
            </a:avLst>
          </a:prstGeom>
          <a:solidFill>
            <a:srgbClr val="197A56"/>
          </a:solidFill>
          <a:ln w="9525">
            <a:solidFill>
              <a:srgbClr val="197A56"/>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525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525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評価の全体像</a:t>
            </a:r>
            <a:endParaRPr lang="en-US" sz="1000" dirty="0"/>
          </a:p>
        </p:txBody>
      </p:sp>
      <p:sp>
        <p:nvSpPr>
          <p:cNvPr id="14" name="hdr_why"/>
          <p:cNvSpPr txBox="1"/>
          <p:nvPr/>
        </p:nvSpPr>
        <p:spPr>
          <a:xfrm>
            <a:off x="2128774" y="356616"/>
            <a:ext cx="9605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どの事業構造が評価を押し上げ、どれが押し下げたかを、原因から結果の順に示す</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DB の切替コストと前払い・長期リースの資金構造が評価を押し上げ、</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OpenAI 集中と学習向け容量のコモディティ性が押し下げる</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構造的要因サマリー: 構造(だから)→ 条件の評価(となり)→ 構造評価への効き(を動かした)</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本資料 第3章、需給エンジン第4.5版(calc/out/m10_*.json)</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6</a:t>
            </a:r>
            <a:endParaRPr lang="en-US" sz="800" dirty="0"/>
          </a:p>
        </p:txBody>
      </p:sp>
      <p:sp>
        <p:nvSpPr>
          <p:cNvPr id="19" name="head_up"/>
          <p:cNvSpPr txBox="1"/>
          <p:nvPr/>
        </p:nvSpPr>
        <p:spPr>
          <a:xfrm>
            <a:off x="457200" y="1481328"/>
            <a:ext cx="8961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押し上げ要因</a:t>
            </a:r>
            <a:endParaRPr lang="en-US" sz="1200" dirty="0"/>
          </a:p>
        </p:txBody>
      </p:sp>
      <p:sp>
        <p:nvSpPr>
          <p:cNvPr id="20" name="head_down"/>
          <p:cNvSpPr txBox="1"/>
          <p:nvPr/>
        </p:nvSpPr>
        <p:spPr>
          <a:xfrm>
            <a:off x="457200" y="3630168"/>
            <a:ext cx="8961120" cy="292608"/>
          </a:xfrm>
          <a:prstGeom prst="rect">
            <a:avLst/>
          </a:prstGeom>
          <a:noFill/>
          <a:ln/>
        </p:spPr>
        <p:txBody>
          <a:bodyPr wrap="square" lIns="0" tIns="0" rIns="0" bIns="0" rtlCol="0" anchor="ctr"/>
          <a:lstStyle/>
          <a:p>
            <a:pPr indent="0" marL="0">
              <a:buNone/>
            </a:pPr>
            <a:r>
              <a:rPr lang="en-US" sz="1200" b="1" dirty="0">
                <a:solidFill>
                  <a:srgbClr val="C0392B"/>
                </a:solidFill>
                <a:latin typeface="Meiryo UI" pitchFamily="34" charset="0"/>
                <a:ea typeface="Meiryo UI" pitchFamily="34" charset="-122"/>
                <a:cs typeface="Meiryo UI" pitchFamily="34" charset="-120"/>
              </a:rPr>
              <a:t>押し下げ要因</a:t>
            </a:r>
            <a:endParaRPr lang="en-US" sz="1200" dirty="0"/>
          </a:p>
        </p:txBody>
      </p:sp>
      <p:sp>
        <p:nvSpPr>
          <p:cNvPr id="21" name="ovl_card_up0"/>
          <p:cNvSpPr/>
          <p:nvPr/>
        </p:nvSpPr>
        <p:spPr>
          <a:xfrm>
            <a:off x="457200" y="1828800"/>
            <a:ext cx="2834640" cy="1691640"/>
          </a:xfrm>
          <a:prstGeom prst="rect">
            <a:avLst/>
          </a:prstGeom>
          <a:solidFill>
            <a:srgbClr val="EAF4EE"/>
          </a:solidFill>
          <a:ln w="9525">
            <a:solidFill>
              <a:srgbClr val="86C99B"/>
            </a:solidFill>
            <a:prstDash val="solid"/>
          </a:ln>
        </p:spPr>
      </p:sp>
      <p:sp>
        <p:nvSpPr>
          <p:cNvPr id="22" name="cn_up0"/>
          <p:cNvSpPr txBox="1"/>
          <p:nvPr/>
        </p:nvSpPr>
        <p:spPr>
          <a:xfrm>
            <a:off x="548640" y="1920240"/>
            <a:ext cx="365760" cy="384048"/>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条件</a:t>
            </a:r>
            <a:endParaRPr lang="en-US" sz="950" dirty="0"/>
          </a:p>
        </p:txBody>
      </p:sp>
      <p:sp>
        <p:nvSpPr>
          <p:cNvPr id="23" name="ovl_badge"/>
          <p:cNvSpPr/>
          <p:nvPr/>
        </p:nvSpPr>
        <p:spPr>
          <a:xfrm>
            <a:off x="932688" y="1920240"/>
            <a:ext cx="384048" cy="384048"/>
          </a:xfrm>
          <a:prstGeom prst="roundRect">
            <a:avLst>
              <a:gd name="adj" fmla="val 19048"/>
            </a:avLst>
          </a:prstGeom>
          <a:solidFill>
            <a:srgbClr val="86C99B"/>
          </a:solidFill>
          <a:ln w="12700">
            <a:solidFill>
              <a:srgbClr val="86C99B"/>
            </a:solidFill>
            <a:prstDash val="solid"/>
          </a:ln>
        </p:spPr>
      </p:sp>
      <p:sp>
        <p:nvSpPr>
          <p:cNvPr id="24" name="ovl_badge_t"/>
          <p:cNvSpPr txBox="1"/>
          <p:nvPr/>
        </p:nvSpPr>
        <p:spPr>
          <a:xfrm>
            <a:off x="932688" y="1920240"/>
            <a:ext cx="384048" cy="384048"/>
          </a:xfrm>
          <a:prstGeom prst="rect">
            <a:avLst/>
          </a:prstGeom>
          <a:noFill/>
          <a:ln/>
        </p:spPr>
        <p:txBody>
          <a:bodyPr wrap="square" lIns="0" tIns="0" rIns="0" bIns="0" rtlCol="0" anchor="ctr"/>
          <a:lstStyle/>
          <a:p>
            <a:pPr algn="ctr" indent="0" marL="0">
              <a:buNone/>
            </a:pPr>
            <a:r>
              <a:rPr lang="en-US" sz="1300" b="1" dirty="0">
                <a:solidFill>
                  <a:srgbClr val="0E4D33"/>
                </a:solidFill>
                <a:latin typeface="Meiryo UI" pitchFamily="34" charset="0"/>
                <a:ea typeface="Meiryo UI" pitchFamily="34" charset="-122"/>
                <a:cs typeface="Meiryo UI" pitchFamily="34" charset="-120"/>
              </a:rPr>
              <a:t>B</a:t>
            </a:r>
            <a:endParaRPr lang="en-US" sz="1300" dirty="0"/>
          </a:p>
        </p:txBody>
      </p:sp>
      <p:sp>
        <p:nvSpPr>
          <p:cNvPr id="25" name="no_up0_0"/>
          <p:cNvSpPr txBox="1"/>
          <p:nvPr/>
        </p:nvSpPr>
        <p:spPr>
          <a:xfrm>
            <a:off x="1344168" y="1920240"/>
            <a:ext cx="192024" cy="384048"/>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1</a:t>
            </a:r>
            <a:endParaRPr lang="en-US" sz="950" dirty="0"/>
          </a:p>
        </p:txBody>
      </p:sp>
      <p:sp>
        <p:nvSpPr>
          <p:cNvPr id="26" name="ovl_badge"/>
          <p:cNvSpPr/>
          <p:nvPr/>
        </p:nvSpPr>
        <p:spPr>
          <a:xfrm>
            <a:off x="1591056" y="1920240"/>
            <a:ext cx="384048" cy="384048"/>
          </a:xfrm>
          <a:prstGeom prst="roundRect">
            <a:avLst>
              <a:gd name="adj" fmla="val 19048"/>
            </a:avLst>
          </a:prstGeom>
          <a:solidFill>
            <a:srgbClr val="86C99B"/>
          </a:solidFill>
          <a:ln w="12700">
            <a:solidFill>
              <a:srgbClr val="86C99B"/>
            </a:solidFill>
            <a:prstDash val="solid"/>
          </a:ln>
        </p:spPr>
      </p:sp>
      <p:sp>
        <p:nvSpPr>
          <p:cNvPr id="27" name="ovl_badge_t"/>
          <p:cNvSpPr txBox="1"/>
          <p:nvPr/>
        </p:nvSpPr>
        <p:spPr>
          <a:xfrm>
            <a:off x="1591056" y="1920240"/>
            <a:ext cx="384048" cy="384048"/>
          </a:xfrm>
          <a:prstGeom prst="rect">
            <a:avLst/>
          </a:prstGeom>
          <a:noFill/>
          <a:ln/>
        </p:spPr>
        <p:txBody>
          <a:bodyPr wrap="square" lIns="0" tIns="0" rIns="0" bIns="0" rtlCol="0" anchor="ctr"/>
          <a:lstStyle/>
          <a:p>
            <a:pPr algn="ctr" indent="0" marL="0">
              <a:buNone/>
            </a:pPr>
            <a:r>
              <a:rPr lang="en-US" sz="1300" b="1" dirty="0">
                <a:solidFill>
                  <a:srgbClr val="0E4D33"/>
                </a:solidFill>
                <a:latin typeface="Meiryo UI" pitchFamily="34" charset="0"/>
                <a:ea typeface="Meiryo UI" pitchFamily="34" charset="-122"/>
                <a:cs typeface="Meiryo UI" pitchFamily="34" charset="-120"/>
              </a:rPr>
              <a:t>B</a:t>
            </a:r>
            <a:endParaRPr lang="en-US" sz="1300" dirty="0"/>
          </a:p>
        </p:txBody>
      </p:sp>
      <p:sp>
        <p:nvSpPr>
          <p:cNvPr id="28" name="no_up0_1"/>
          <p:cNvSpPr txBox="1"/>
          <p:nvPr/>
        </p:nvSpPr>
        <p:spPr>
          <a:xfrm>
            <a:off x="2002536" y="1920240"/>
            <a:ext cx="274320" cy="384048"/>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11</a:t>
            </a:r>
            <a:endParaRPr lang="en-US" sz="950" dirty="0"/>
          </a:p>
        </p:txBody>
      </p:sp>
      <p:sp>
        <p:nvSpPr>
          <p:cNvPr id="29" name="ovl_badge"/>
          <p:cNvSpPr/>
          <p:nvPr/>
        </p:nvSpPr>
        <p:spPr>
          <a:xfrm>
            <a:off x="2331720" y="1920240"/>
            <a:ext cx="384048" cy="384048"/>
          </a:xfrm>
          <a:prstGeom prst="roundRect">
            <a:avLst>
              <a:gd name="adj" fmla="val 19048"/>
            </a:avLst>
          </a:prstGeom>
          <a:solidFill>
            <a:srgbClr val="197A56"/>
          </a:solidFill>
          <a:ln w="12700">
            <a:solidFill>
              <a:srgbClr val="197A56"/>
            </a:solidFill>
            <a:prstDash val="solid"/>
          </a:ln>
        </p:spPr>
      </p:sp>
      <p:sp>
        <p:nvSpPr>
          <p:cNvPr id="30" name="ovl_badge_t"/>
          <p:cNvSpPr txBox="1"/>
          <p:nvPr/>
        </p:nvSpPr>
        <p:spPr>
          <a:xfrm>
            <a:off x="2331720" y="19202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A</a:t>
            </a:r>
            <a:endParaRPr lang="en-US" sz="1300" dirty="0"/>
          </a:p>
        </p:txBody>
      </p:sp>
      <p:sp>
        <p:nvSpPr>
          <p:cNvPr id="31" name="no_up0_2"/>
          <p:cNvSpPr txBox="1"/>
          <p:nvPr/>
        </p:nvSpPr>
        <p:spPr>
          <a:xfrm>
            <a:off x="2743200" y="1920240"/>
            <a:ext cx="274320" cy="384048"/>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12</a:t>
            </a:r>
            <a:endParaRPr lang="en-US" sz="950" dirty="0"/>
          </a:p>
        </p:txBody>
      </p:sp>
      <p:sp>
        <p:nvSpPr>
          <p:cNvPr id="32" name="h_up0"/>
          <p:cNvSpPr txBox="1"/>
          <p:nvPr/>
        </p:nvSpPr>
        <p:spPr>
          <a:xfrm>
            <a:off x="548640" y="2359152"/>
            <a:ext cx="2651760" cy="274320"/>
          </a:xfrm>
          <a:prstGeom prst="rect">
            <a:avLst/>
          </a:prstGeom>
          <a:noFill/>
          <a:ln/>
        </p:spPr>
        <p:txBody>
          <a:bodyPr wrap="square" lIns="0" tIns="0" rIns="0" bIns="0"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DB の切替コスト</a:t>
            </a:r>
            <a:endParaRPr lang="en-US" sz="1100" dirty="0"/>
          </a:p>
        </p:txBody>
      </p:sp>
      <p:sp>
        <p:nvSpPr>
          <p:cNvPr id="33" name="b_up0"/>
          <p:cNvSpPr txBox="1"/>
          <p:nvPr/>
        </p:nvSpPr>
        <p:spPr>
          <a:xfrm>
            <a:off x="548640" y="2670048"/>
            <a:ext cx="2651760" cy="777240"/>
          </a:xfrm>
          <a:prstGeom prst="rect">
            <a:avLst/>
          </a:prstGeom>
          <a:noFill/>
          <a:ln/>
        </p:spPr>
        <p:txBody>
          <a:bodyPr wrap="square" lIns="0" tIns="0" rIns="0" bIns="0" rtlCol="0" anchor="t"/>
          <a:lstStyle/>
          <a:p>
            <a:pPr indent="0" marL="0">
              <a:buNone/>
            </a:pPr>
            <a:r>
              <a:rPr lang="en-US" sz="950" dirty="0">
                <a:solidFill>
                  <a:srgbClr val="333333"/>
                </a:solidFill>
                <a:latin typeface="Meiryo UI" pitchFamily="34" charset="0"/>
                <a:ea typeface="Meiryo UI" pitchFamily="34" charset="-122"/>
                <a:cs typeface="Meiryo UI" pitchFamily="34" charset="-120"/>
              </a:rPr>
              <a:t>数十年続く保守・継続課金が土台になり、価格決定力と模倣困難性を支えて評価を上げた</a:t>
            </a:r>
            <a:endParaRPr lang="en-US" sz="950" dirty="0"/>
          </a:p>
        </p:txBody>
      </p:sp>
      <p:sp>
        <p:nvSpPr>
          <p:cNvPr id="34" name="ovl_card_up1"/>
          <p:cNvSpPr/>
          <p:nvPr/>
        </p:nvSpPr>
        <p:spPr>
          <a:xfrm>
            <a:off x="3520440" y="1828800"/>
            <a:ext cx="2834640" cy="1691640"/>
          </a:xfrm>
          <a:prstGeom prst="rect">
            <a:avLst/>
          </a:prstGeom>
          <a:solidFill>
            <a:srgbClr val="EAF4EE"/>
          </a:solidFill>
          <a:ln w="9525">
            <a:solidFill>
              <a:srgbClr val="86C99B"/>
            </a:solidFill>
            <a:prstDash val="solid"/>
          </a:ln>
        </p:spPr>
      </p:sp>
      <p:sp>
        <p:nvSpPr>
          <p:cNvPr id="35" name="cn_up1"/>
          <p:cNvSpPr txBox="1"/>
          <p:nvPr/>
        </p:nvSpPr>
        <p:spPr>
          <a:xfrm>
            <a:off x="3611880" y="1920240"/>
            <a:ext cx="365760" cy="384048"/>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条件</a:t>
            </a:r>
            <a:endParaRPr lang="en-US" sz="950" dirty="0"/>
          </a:p>
        </p:txBody>
      </p:sp>
      <p:sp>
        <p:nvSpPr>
          <p:cNvPr id="36" name="ovl_badge"/>
          <p:cNvSpPr/>
          <p:nvPr/>
        </p:nvSpPr>
        <p:spPr>
          <a:xfrm>
            <a:off x="3995928" y="1920240"/>
            <a:ext cx="384048" cy="384048"/>
          </a:xfrm>
          <a:prstGeom prst="roundRect">
            <a:avLst>
              <a:gd name="adj" fmla="val 19048"/>
            </a:avLst>
          </a:prstGeom>
          <a:solidFill>
            <a:srgbClr val="86C99B"/>
          </a:solidFill>
          <a:ln w="12700">
            <a:solidFill>
              <a:srgbClr val="86C99B"/>
            </a:solidFill>
            <a:prstDash val="solid"/>
          </a:ln>
        </p:spPr>
      </p:sp>
      <p:sp>
        <p:nvSpPr>
          <p:cNvPr id="37" name="ovl_badge_t"/>
          <p:cNvSpPr txBox="1"/>
          <p:nvPr/>
        </p:nvSpPr>
        <p:spPr>
          <a:xfrm>
            <a:off x="3995928" y="1920240"/>
            <a:ext cx="384048" cy="384048"/>
          </a:xfrm>
          <a:prstGeom prst="rect">
            <a:avLst/>
          </a:prstGeom>
          <a:noFill/>
          <a:ln/>
        </p:spPr>
        <p:txBody>
          <a:bodyPr wrap="square" lIns="0" tIns="0" rIns="0" bIns="0" rtlCol="0" anchor="ctr"/>
          <a:lstStyle/>
          <a:p>
            <a:pPr algn="ctr" indent="0" marL="0">
              <a:buNone/>
            </a:pPr>
            <a:r>
              <a:rPr lang="en-US" sz="1300" b="1" dirty="0">
                <a:solidFill>
                  <a:srgbClr val="0E4D33"/>
                </a:solidFill>
                <a:latin typeface="Meiryo UI" pitchFamily="34" charset="0"/>
                <a:ea typeface="Meiryo UI" pitchFamily="34" charset="-122"/>
                <a:cs typeface="Meiryo UI" pitchFamily="34" charset="-120"/>
              </a:rPr>
              <a:t>B</a:t>
            </a:r>
            <a:endParaRPr lang="en-US" sz="1300" dirty="0"/>
          </a:p>
        </p:txBody>
      </p:sp>
      <p:sp>
        <p:nvSpPr>
          <p:cNvPr id="38" name="no_up1_0"/>
          <p:cNvSpPr txBox="1"/>
          <p:nvPr/>
        </p:nvSpPr>
        <p:spPr>
          <a:xfrm>
            <a:off x="4407408" y="1920240"/>
            <a:ext cx="192024" cy="384048"/>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2</a:t>
            </a:r>
            <a:endParaRPr lang="en-US" sz="950" dirty="0"/>
          </a:p>
        </p:txBody>
      </p:sp>
      <p:sp>
        <p:nvSpPr>
          <p:cNvPr id="39" name="ovl_badge"/>
          <p:cNvSpPr/>
          <p:nvPr/>
        </p:nvSpPr>
        <p:spPr>
          <a:xfrm>
            <a:off x="4654296" y="1920240"/>
            <a:ext cx="384048" cy="384048"/>
          </a:xfrm>
          <a:prstGeom prst="roundRect">
            <a:avLst>
              <a:gd name="adj" fmla="val 19048"/>
            </a:avLst>
          </a:prstGeom>
          <a:solidFill>
            <a:srgbClr val="86C99B"/>
          </a:solidFill>
          <a:ln w="12700">
            <a:solidFill>
              <a:srgbClr val="86C99B"/>
            </a:solidFill>
            <a:prstDash val="solid"/>
          </a:ln>
        </p:spPr>
      </p:sp>
      <p:sp>
        <p:nvSpPr>
          <p:cNvPr id="40" name="ovl_badge_t"/>
          <p:cNvSpPr txBox="1"/>
          <p:nvPr/>
        </p:nvSpPr>
        <p:spPr>
          <a:xfrm>
            <a:off x="4654296" y="1920240"/>
            <a:ext cx="384048" cy="384048"/>
          </a:xfrm>
          <a:prstGeom prst="rect">
            <a:avLst/>
          </a:prstGeom>
          <a:noFill/>
          <a:ln/>
        </p:spPr>
        <p:txBody>
          <a:bodyPr wrap="square" lIns="0" tIns="0" rIns="0" bIns="0" rtlCol="0" anchor="ctr"/>
          <a:lstStyle/>
          <a:p>
            <a:pPr algn="ctr" indent="0" marL="0">
              <a:buNone/>
            </a:pPr>
            <a:r>
              <a:rPr lang="en-US" sz="1300" b="1" dirty="0">
                <a:solidFill>
                  <a:srgbClr val="0E4D33"/>
                </a:solidFill>
                <a:latin typeface="Meiryo UI" pitchFamily="34" charset="0"/>
                <a:ea typeface="Meiryo UI" pitchFamily="34" charset="-122"/>
                <a:cs typeface="Meiryo UI" pitchFamily="34" charset="-120"/>
              </a:rPr>
              <a:t>B</a:t>
            </a:r>
            <a:endParaRPr lang="en-US" sz="1300" dirty="0"/>
          </a:p>
        </p:txBody>
      </p:sp>
      <p:sp>
        <p:nvSpPr>
          <p:cNvPr id="41" name="no_up1_1"/>
          <p:cNvSpPr txBox="1"/>
          <p:nvPr/>
        </p:nvSpPr>
        <p:spPr>
          <a:xfrm>
            <a:off x="5065776" y="1920240"/>
            <a:ext cx="274320" cy="384048"/>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13</a:t>
            </a:r>
            <a:endParaRPr lang="en-US" sz="950" dirty="0"/>
          </a:p>
        </p:txBody>
      </p:sp>
      <p:sp>
        <p:nvSpPr>
          <p:cNvPr id="42" name="h_up1"/>
          <p:cNvSpPr txBox="1"/>
          <p:nvPr/>
        </p:nvSpPr>
        <p:spPr>
          <a:xfrm>
            <a:off x="3611880" y="2359152"/>
            <a:ext cx="2651760" cy="274320"/>
          </a:xfrm>
          <a:prstGeom prst="rect">
            <a:avLst/>
          </a:prstGeom>
          <a:noFill/>
          <a:ln/>
        </p:spPr>
        <p:txBody>
          <a:bodyPr wrap="square" lIns="0" tIns="0" rIns="0" bIns="0"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前払い・長期リースの資金構造</a:t>
            </a:r>
            <a:endParaRPr lang="en-US" sz="1100" dirty="0"/>
          </a:p>
        </p:txBody>
      </p:sp>
      <p:sp>
        <p:nvSpPr>
          <p:cNvPr id="43" name="b_up1"/>
          <p:cNvSpPr txBox="1"/>
          <p:nvPr/>
        </p:nvSpPr>
        <p:spPr>
          <a:xfrm>
            <a:off x="3611880" y="2670048"/>
            <a:ext cx="2651760" cy="777240"/>
          </a:xfrm>
          <a:prstGeom prst="rect">
            <a:avLst/>
          </a:prstGeom>
          <a:noFill/>
          <a:ln/>
        </p:spPr>
        <p:txBody>
          <a:bodyPr wrap="square" lIns="0" tIns="0" rIns="0" bIns="0" rtlCol="0" anchor="t"/>
          <a:lstStyle/>
          <a:p>
            <a:pPr indent="0" marL="0">
              <a:buNone/>
            </a:pPr>
            <a:r>
              <a:rPr lang="en-US" sz="950" dirty="0">
                <a:solidFill>
                  <a:srgbClr val="333333"/>
                </a:solidFill>
                <a:latin typeface="Meiryo UI" pitchFamily="34" charset="0"/>
                <a:ea typeface="Meiryo UI" pitchFamily="34" charset="-122"/>
                <a:cs typeface="Meiryo UI" pitchFamily="34" charset="-120"/>
              </a:rPr>
              <a:t>GPU の一部と建屋の資金を</a:t>
            </a:r>
            <a:endParaRPr lang="en-US" sz="950" dirty="0"/>
          </a:p>
          <a:p>
            <a:pPr indent="0" marL="0">
              <a:buNone/>
            </a:pPr>
            <a:r>
              <a:rPr lang="en-US" sz="950" dirty="0">
                <a:solidFill>
                  <a:srgbClr val="333333"/>
                </a:solidFill>
                <a:latin typeface="Meiryo UI" pitchFamily="34" charset="0"/>
                <a:ea typeface="Meiryo UI" pitchFamily="34" charset="-122"/>
                <a:cs typeface="Meiryo UI" pitchFamily="34" charset="-120"/>
              </a:rPr>
              <a:t>顧客・パートナーに移し、</a:t>
            </a:r>
            <a:endParaRPr lang="en-US" sz="950" dirty="0"/>
          </a:p>
          <a:p>
            <a:pPr indent="0" marL="0">
              <a:buNone/>
            </a:pPr>
            <a:r>
              <a:rPr lang="en-US" sz="950" dirty="0">
                <a:solidFill>
                  <a:srgbClr val="333333"/>
                </a:solidFill>
                <a:latin typeface="Meiryo UI" pitchFamily="34" charset="0"/>
                <a:ea typeface="Meiryo UI" pitchFamily="34" charset="-122"/>
                <a:cs typeface="Meiryo UI" pitchFamily="34" charset="-120"/>
              </a:rPr>
              <a:t>自己資金の負担を軽くして評価を支えた</a:t>
            </a:r>
            <a:endParaRPr lang="en-US" sz="950" dirty="0"/>
          </a:p>
        </p:txBody>
      </p:sp>
      <p:sp>
        <p:nvSpPr>
          <p:cNvPr id="44" name="ovl_card_up2"/>
          <p:cNvSpPr/>
          <p:nvPr/>
        </p:nvSpPr>
        <p:spPr>
          <a:xfrm>
            <a:off x="6583680" y="1828800"/>
            <a:ext cx="2834640" cy="1691640"/>
          </a:xfrm>
          <a:prstGeom prst="rect">
            <a:avLst/>
          </a:prstGeom>
          <a:solidFill>
            <a:srgbClr val="EAF4EE"/>
          </a:solidFill>
          <a:ln w="9525">
            <a:solidFill>
              <a:srgbClr val="86C99B"/>
            </a:solidFill>
            <a:prstDash val="solid"/>
          </a:ln>
        </p:spPr>
      </p:sp>
      <p:sp>
        <p:nvSpPr>
          <p:cNvPr id="45" name="cn_up2"/>
          <p:cNvSpPr txBox="1"/>
          <p:nvPr/>
        </p:nvSpPr>
        <p:spPr>
          <a:xfrm>
            <a:off x="6675120" y="1920240"/>
            <a:ext cx="365760" cy="384048"/>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条件</a:t>
            </a:r>
            <a:endParaRPr lang="en-US" sz="950" dirty="0"/>
          </a:p>
        </p:txBody>
      </p:sp>
      <p:sp>
        <p:nvSpPr>
          <p:cNvPr id="46" name="ovl_badge"/>
          <p:cNvSpPr/>
          <p:nvPr/>
        </p:nvSpPr>
        <p:spPr>
          <a:xfrm>
            <a:off x="7059168" y="1920240"/>
            <a:ext cx="384048" cy="384048"/>
          </a:xfrm>
          <a:prstGeom prst="roundRect">
            <a:avLst>
              <a:gd name="adj" fmla="val 19048"/>
            </a:avLst>
          </a:prstGeom>
          <a:solidFill>
            <a:srgbClr val="197A56"/>
          </a:solidFill>
          <a:ln w="12700">
            <a:solidFill>
              <a:srgbClr val="197A56"/>
            </a:solidFill>
            <a:prstDash val="solid"/>
          </a:ln>
        </p:spPr>
      </p:sp>
      <p:sp>
        <p:nvSpPr>
          <p:cNvPr id="47" name="ovl_badge_t"/>
          <p:cNvSpPr txBox="1"/>
          <p:nvPr/>
        </p:nvSpPr>
        <p:spPr>
          <a:xfrm>
            <a:off x="7059168" y="19202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A</a:t>
            </a:r>
            <a:endParaRPr lang="en-US" sz="1300" dirty="0"/>
          </a:p>
        </p:txBody>
      </p:sp>
      <p:sp>
        <p:nvSpPr>
          <p:cNvPr id="48" name="no_up2_0"/>
          <p:cNvSpPr txBox="1"/>
          <p:nvPr/>
        </p:nvSpPr>
        <p:spPr>
          <a:xfrm>
            <a:off x="7470648" y="1920240"/>
            <a:ext cx="192024" cy="384048"/>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3</a:t>
            </a:r>
            <a:endParaRPr lang="en-US" sz="950" dirty="0"/>
          </a:p>
        </p:txBody>
      </p:sp>
      <p:sp>
        <p:nvSpPr>
          <p:cNvPr id="49" name="h_up2"/>
          <p:cNvSpPr txBox="1"/>
          <p:nvPr/>
        </p:nvSpPr>
        <p:spPr>
          <a:xfrm>
            <a:off x="6675120" y="2359152"/>
            <a:ext cx="2651760" cy="274320"/>
          </a:xfrm>
          <a:prstGeom prst="rect">
            <a:avLst/>
          </a:prstGeom>
          <a:noFill/>
          <a:ln/>
        </p:spPr>
        <p:txBody>
          <a:bodyPr wrap="square" lIns="0" tIns="0" rIns="0" bIns="0"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DB の AI 転用</a:t>
            </a:r>
            <a:endParaRPr lang="en-US" sz="1100" dirty="0"/>
          </a:p>
        </p:txBody>
      </p:sp>
      <p:sp>
        <p:nvSpPr>
          <p:cNvPr id="50" name="b_up2"/>
          <p:cNvSpPr txBox="1"/>
          <p:nvPr/>
        </p:nvSpPr>
        <p:spPr>
          <a:xfrm>
            <a:off x="6675120" y="2670048"/>
            <a:ext cx="2651760" cy="777240"/>
          </a:xfrm>
          <a:prstGeom prst="rect">
            <a:avLst/>
          </a:prstGeom>
          <a:noFill/>
          <a:ln/>
        </p:spPr>
        <p:txBody>
          <a:bodyPr wrap="square" lIns="0" tIns="0" rIns="0" bIns="0" rtlCol="0" anchor="t"/>
          <a:lstStyle/>
          <a:p>
            <a:pPr indent="0" marL="0">
              <a:buNone/>
            </a:pPr>
            <a:r>
              <a:rPr lang="en-US" sz="950" dirty="0">
                <a:solidFill>
                  <a:srgbClr val="333333"/>
                </a:solidFill>
                <a:latin typeface="Meiryo UI" pitchFamily="34" charset="0"/>
                <a:ea typeface="Meiryo UI" pitchFamily="34" charset="-122"/>
                <a:cs typeface="Meiryo UI" pitchFamily="34" charset="-120"/>
              </a:rPr>
              <a:t>OCI と Database@ が増収の主因になり、転用の成果として評価を上げた</a:t>
            </a:r>
            <a:endParaRPr lang="en-US" sz="950" dirty="0"/>
          </a:p>
        </p:txBody>
      </p:sp>
      <p:sp>
        <p:nvSpPr>
          <p:cNvPr id="51" name="ovl_card_down0"/>
          <p:cNvSpPr/>
          <p:nvPr/>
        </p:nvSpPr>
        <p:spPr>
          <a:xfrm>
            <a:off x="457200" y="3977640"/>
            <a:ext cx="2834640" cy="1691640"/>
          </a:xfrm>
          <a:prstGeom prst="rect">
            <a:avLst/>
          </a:prstGeom>
          <a:solidFill>
            <a:srgbClr val="F2F2F2"/>
          </a:solidFill>
          <a:ln w="9525">
            <a:solidFill>
              <a:srgbClr val="C0392B"/>
            </a:solidFill>
            <a:prstDash val="solid"/>
          </a:ln>
        </p:spPr>
      </p:sp>
      <p:sp>
        <p:nvSpPr>
          <p:cNvPr id="52" name="cn_down0"/>
          <p:cNvSpPr txBox="1"/>
          <p:nvPr/>
        </p:nvSpPr>
        <p:spPr>
          <a:xfrm>
            <a:off x="548640" y="4069080"/>
            <a:ext cx="365760" cy="384048"/>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条件</a:t>
            </a:r>
            <a:endParaRPr lang="en-US" sz="950" dirty="0"/>
          </a:p>
        </p:txBody>
      </p:sp>
      <p:sp>
        <p:nvSpPr>
          <p:cNvPr id="53" name="ovl_badge"/>
          <p:cNvSpPr/>
          <p:nvPr/>
        </p:nvSpPr>
        <p:spPr>
          <a:xfrm>
            <a:off x="932688" y="4069080"/>
            <a:ext cx="384048" cy="384048"/>
          </a:xfrm>
          <a:prstGeom prst="roundRect">
            <a:avLst>
              <a:gd name="adj" fmla="val 19048"/>
            </a:avLst>
          </a:prstGeom>
          <a:solidFill>
            <a:srgbClr val="86C99B"/>
          </a:solidFill>
          <a:ln w="12700">
            <a:solidFill>
              <a:srgbClr val="86C99B"/>
            </a:solidFill>
            <a:prstDash val="solid"/>
          </a:ln>
        </p:spPr>
      </p:sp>
      <p:sp>
        <p:nvSpPr>
          <p:cNvPr id="54" name="ovl_badge_t"/>
          <p:cNvSpPr txBox="1"/>
          <p:nvPr/>
        </p:nvSpPr>
        <p:spPr>
          <a:xfrm>
            <a:off x="932688" y="4069080"/>
            <a:ext cx="384048" cy="384048"/>
          </a:xfrm>
          <a:prstGeom prst="rect">
            <a:avLst/>
          </a:prstGeom>
          <a:noFill/>
          <a:ln/>
        </p:spPr>
        <p:txBody>
          <a:bodyPr wrap="square" lIns="0" tIns="0" rIns="0" bIns="0" rtlCol="0" anchor="ctr"/>
          <a:lstStyle/>
          <a:p>
            <a:pPr algn="ctr" indent="0" marL="0">
              <a:buNone/>
            </a:pPr>
            <a:r>
              <a:rPr lang="en-US" sz="1300" b="1" dirty="0">
                <a:solidFill>
                  <a:srgbClr val="0E4D33"/>
                </a:solidFill>
                <a:latin typeface="Meiryo UI" pitchFamily="34" charset="0"/>
                <a:ea typeface="Meiryo UI" pitchFamily="34" charset="-122"/>
                <a:cs typeface="Meiryo UI" pitchFamily="34" charset="-120"/>
              </a:rPr>
              <a:t>B</a:t>
            </a:r>
            <a:endParaRPr lang="en-US" sz="1300" dirty="0"/>
          </a:p>
        </p:txBody>
      </p:sp>
      <p:sp>
        <p:nvSpPr>
          <p:cNvPr id="55" name="no_down0_0"/>
          <p:cNvSpPr txBox="1"/>
          <p:nvPr/>
        </p:nvSpPr>
        <p:spPr>
          <a:xfrm>
            <a:off x="1344168" y="4069080"/>
            <a:ext cx="192024" cy="384048"/>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8</a:t>
            </a:r>
            <a:endParaRPr lang="en-US" sz="950" dirty="0"/>
          </a:p>
        </p:txBody>
      </p:sp>
      <p:sp>
        <p:nvSpPr>
          <p:cNvPr id="56" name="h_down0"/>
          <p:cNvSpPr txBox="1"/>
          <p:nvPr/>
        </p:nvSpPr>
        <p:spPr>
          <a:xfrm>
            <a:off x="548640" y="4507992"/>
            <a:ext cx="2651760" cy="274320"/>
          </a:xfrm>
          <a:prstGeom prst="rect">
            <a:avLst/>
          </a:prstGeom>
          <a:noFill/>
          <a:ln/>
        </p:spPr>
        <p:txBody>
          <a:bodyPr wrap="square" lIns="0" tIns="0" rIns="0" bIns="0"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AI 容量のコモディティ性</a:t>
            </a:r>
            <a:endParaRPr lang="en-US" sz="1100" dirty="0"/>
          </a:p>
        </p:txBody>
      </p:sp>
      <p:sp>
        <p:nvSpPr>
          <p:cNvPr id="57" name="b_down0"/>
          <p:cNvSpPr txBox="1"/>
          <p:nvPr/>
        </p:nvSpPr>
        <p:spPr>
          <a:xfrm>
            <a:off x="548640" y="4818888"/>
            <a:ext cx="2651760" cy="777240"/>
          </a:xfrm>
          <a:prstGeom prst="rect">
            <a:avLst/>
          </a:prstGeom>
          <a:noFill/>
          <a:ln/>
        </p:spPr>
        <p:txBody>
          <a:bodyPr wrap="square" lIns="0" tIns="0" rIns="0" bIns="0" rtlCol="0" anchor="t"/>
          <a:lstStyle/>
          <a:p>
            <a:pPr indent="0" marL="0">
              <a:buNone/>
            </a:pPr>
            <a:r>
              <a:rPr lang="en-US" sz="950" dirty="0">
                <a:solidFill>
                  <a:srgbClr val="333333"/>
                </a:solidFill>
                <a:latin typeface="Meiryo UI" pitchFamily="34" charset="0"/>
                <a:ea typeface="Meiryo UI" pitchFamily="34" charset="-122"/>
                <a:cs typeface="Meiryo UI" pitchFamily="34" charset="-120"/>
              </a:rPr>
              <a:t>学習向けの大型容量はコストプラスで</a:t>
            </a:r>
            <a:endParaRPr lang="en-US" sz="950" dirty="0"/>
          </a:p>
          <a:p>
            <a:pPr indent="0" marL="0">
              <a:buNone/>
            </a:pPr>
            <a:r>
              <a:rPr lang="en-US" sz="950" dirty="0">
                <a:solidFill>
                  <a:srgbClr val="333333"/>
                </a:solidFill>
                <a:latin typeface="Meiryo UI" pitchFamily="34" charset="0"/>
                <a:ea typeface="Meiryo UI" pitchFamily="34" charset="-122"/>
                <a:cs typeface="Meiryo UI" pitchFamily="34" charset="-120"/>
              </a:rPr>
              <a:t>原価で値が決まる(推論は除く)</a:t>
            </a:r>
            <a:endParaRPr lang="en-US" sz="950" dirty="0"/>
          </a:p>
        </p:txBody>
      </p:sp>
      <p:sp>
        <p:nvSpPr>
          <p:cNvPr id="58" name="ovl_card_down1"/>
          <p:cNvSpPr/>
          <p:nvPr/>
        </p:nvSpPr>
        <p:spPr>
          <a:xfrm>
            <a:off x="3520440" y="3977640"/>
            <a:ext cx="2834640" cy="1691640"/>
          </a:xfrm>
          <a:prstGeom prst="rect">
            <a:avLst/>
          </a:prstGeom>
          <a:solidFill>
            <a:srgbClr val="F2F2F2"/>
          </a:solidFill>
          <a:ln w="9525">
            <a:solidFill>
              <a:srgbClr val="C0392B"/>
            </a:solidFill>
            <a:prstDash val="solid"/>
          </a:ln>
        </p:spPr>
      </p:sp>
      <p:sp>
        <p:nvSpPr>
          <p:cNvPr id="59" name="cn_down1"/>
          <p:cNvSpPr txBox="1"/>
          <p:nvPr/>
        </p:nvSpPr>
        <p:spPr>
          <a:xfrm>
            <a:off x="3611880" y="4069080"/>
            <a:ext cx="365760" cy="384048"/>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条件</a:t>
            </a:r>
            <a:endParaRPr lang="en-US" sz="950" dirty="0"/>
          </a:p>
        </p:txBody>
      </p:sp>
      <p:sp>
        <p:nvSpPr>
          <p:cNvPr id="60" name="ovl_badge"/>
          <p:cNvSpPr/>
          <p:nvPr/>
        </p:nvSpPr>
        <p:spPr>
          <a:xfrm>
            <a:off x="3995928" y="4069080"/>
            <a:ext cx="384048" cy="384048"/>
          </a:xfrm>
          <a:prstGeom prst="roundRect">
            <a:avLst>
              <a:gd name="adj" fmla="val 19048"/>
            </a:avLst>
          </a:prstGeom>
          <a:solidFill>
            <a:srgbClr val="197A56"/>
          </a:solidFill>
          <a:ln w="12700">
            <a:solidFill>
              <a:srgbClr val="197A56"/>
            </a:solidFill>
            <a:prstDash val="solid"/>
          </a:ln>
        </p:spPr>
      </p:sp>
      <p:sp>
        <p:nvSpPr>
          <p:cNvPr id="61" name="ovl_badge_t"/>
          <p:cNvSpPr txBox="1"/>
          <p:nvPr/>
        </p:nvSpPr>
        <p:spPr>
          <a:xfrm>
            <a:off x="3995928" y="4069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A</a:t>
            </a:r>
            <a:endParaRPr lang="en-US" sz="1300" dirty="0"/>
          </a:p>
        </p:txBody>
      </p:sp>
      <p:sp>
        <p:nvSpPr>
          <p:cNvPr id="62" name="no_down1_0"/>
          <p:cNvSpPr txBox="1"/>
          <p:nvPr/>
        </p:nvSpPr>
        <p:spPr>
          <a:xfrm>
            <a:off x="4407408" y="4069080"/>
            <a:ext cx="192024" cy="384048"/>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7</a:t>
            </a:r>
            <a:endParaRPr lang="en-US" sz="950" dirty="0"/>
          </a:p>
        </p:txBody>
      </p:sp>
      <p:sp>
        <p:nvSpPr>
          <p:cNvPr id="63" name="h_down1"/>
          <p:cNvSpPr txBox="1"/>
          <p:nvPr/>
        </p:nvSpPr>
        <p:spPr>
          <a:xfrm>
            <a:off x="3611880" y="4507992"/>
            <a:ext cx="2651760" cy="274320"/>
          </a:xfrm>
          <a:prstGeom prst="rect">
            <a:avLst/>
          </a:prstGeom>
          <a:noFill/>
          <a:ln/>
        </p:spPr>
        <p:txBody>
          <a:bodyPr wrap="square" lIns="0" tIns="0" rIns="0" bIns="0"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OpenAI 集中(条件7 A。S に届かず)</a:t>
            </a:r>
            <a:endParaRPr lang="en-US" sz="1100" dirty="0"/>
          </a:p>
        </p:txBody>
      </p:sp>
      <p:sp>
        <p:nvSpPr>
          <p:cNvPr id="64" name="b_down1"/>
          <p:cNvSpPr txBox="1"/>
          <p:nvPr/>
        </p:nvSpPr>
        <p:spPr>
          <a:xfrm>
            <a:off x="3611880" y="4818888"/>
            <a:ext cx="2651760" cy="777240"/>
          </a:xfrm>
          <a:prstGeom prst="rect">
            <a:avLst/>
          </a:prstGeom>
          <a:noFill/>
          <a:ln/>
        </p:spPr>
        <p:txBody>
          <a:bodyPr wrap="square" lIns="0" tIns="0" rIns="0" bIns="0" rtlCol="0" anchor="t"/>
          <a:lstStyle/>
          <a:p>
            <a:pPr indent="0" marL="0">
              <a:buNone/>
            </a:pPr>
            <a:r>
              <a:rPr lang="en-US" sz="950" dirty="0">
                <a:solidFill>
                  <a:srgbClr val="333333"/>
                </a:solidFill>
                <a:latin typeface="Meiryo UI" pitchFamily="34" charset="0"/>
                <a:ea typeface="Meiryo UI" pitchFamily="34" charset="-122"/>
                <a:cs typeface="Meiryo UI" pitchFamily="34" charset="-120"/>
              </a:rPr>
              <a:t>受注残の約 45% は OpenAI。</a:t>
            </a:r>
            <a:endParaRPr lang="en-US" sz="950" dirty="0"/>
          </a:p>
          <a:p>
            <a:pPr indent="0" marL="0">
              <a:buNone/>
            </a:pPr>
            <a:r>
              <a:rPr lang="en-US" sz="950" dirty="0">
                <a:solidFill>
                  <a:srgbClr val="333333"/>
                </a:solidFill>
                <a:latin typeface="Meiryo UI" pitchFamily="34" charset="0"/>
                <a:ea typeface="Meiryo UI" pitchFamily="34" charset="-122"/>
                <a:cs typeface="Meiryo UI" pitchFamily="34" charset="-120"/>
              </a:rPr>
              <a:t>信用リスクは市場の評価ほど高くなく、</a:t>
            </a:r>
            <a:endParaRPr lang="en-US" sz="950" dirty="0"/>
          </a:p>
          <a:p>
            <a:pPr indent="0" marL="0">
              <a:buNone/>
            </a:pPr>
            <a:r>
              <a:rPr lang="en-US" sz="950" dirty="0">
                <a:solidFill>
                  <a:srgbClr val="333333"/>
                </a:solidFill>
                <a:latin typeface="Meiryo UI" pitchFamily="34" charset="0"/>
                <a:ea typeface="Meiryo UI" pitchFamily="34" charset="-122"/>
                <a:cs typeface="Meiryo UI" pitchFamily="34" charset="-120"/>
              </a:rPr>
              <a:t>倒産の道はない(レバレッジ最大 4.4 倍)</a:t>
            </a:r>
            <a:endParaRPr lang="en-US" sz="950" dirty="0"/>
          </a:p>
        </p:txBody>
      </p:sp>
      <p:sp>
        <p:nvSpPr>
          <p:cNvPr id="65" name="ovl_card_down2"/>
          <p:cNvSpPr/>
          <p:nvPr/>
        </p:nvSpPr>
        <p:spPr>
          <a:xfrm>
            <a:off x="6583680" y="3977640"/>
            <a:ext cx="2834640" cy="1691640"/>
          </a:xfrm>
          <a:prstGeom prst="rect">
            <a:avLst/>
          </a:prstGeom>
          <a:solidFill>
            <a:srgbClr val="F2F2F2"/>
          </a:solidFill>
          <a:ln w="9525">
            <a:solidFill>
              <a:srgbClr val="C0392B"/>
            </a:solidFill>
            <a:prstDash val="solid"/>
          </a:ln>
        </p:spPr>
      </p:sp>
      <p:sp>
        <p:nvSpPr>
          <p:cNvPr id="66" name="cn_down2"/>
          <p:cNvSpPr txBox="1"/>
          <p:nvPr/>
        </p:nvSpPr>
        <p:spPr>
          <a:xfrm>
            <a:off x="6675120" y="4069080"/>
            <a:ext cx="365760" cy="384048"/>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条件</a:t>
            </a:r>
            <a:endParaRPr lang="en-US" sz="950" dirty="0"/>
          </a:p>
        </p:txBody>
      </p:sp>
      <p:sp>
        <p:nvSpPr>
          <p:cNvPr id="67" name="ovl_badge"/>
          <p:cNvSpPr/>
          <p:nvPr/>
        </p:nvSpPr>
        <p:spPr>
          <a:xfrm>
            <a:off x="7059168" y="4069080"/>
            <a:ext cx="384048" cy="384048"/>
          </a:xfrm>
          <a:prstGeom prst="roundRect">
            <a:avLst>
              <a:gd name="adj" fmla="val 19048"/>
            </a:avLst>
          </a:prstGeom>
          <a:solidFill>
            <a:srgbClr val="86C99B"/>
          </a:solidFill>
          <a:ln w="12700">
            <a:solidFill>
              <a:srgbClr val="86C99B"/>
            </a:solidFill>
            <a:prstDash val="solid"/>
          </a:ln>
        </p:spPr>
      </p:sp>
      <p:sp>
        <p:nvSpPr>
          <p:cNvPr id="68" name="ovl_badge_t"/>
          <p:cNvSpPr txBox="1"/>
          <p:nvPr/>
        </p:nvSpPr>
        <p:spPr>
          <a:xfrm>
            <a:off x="7059168" y="4069080"/>
            <a:ext cx="384048" cy="384048"/>
          </a:xfrm>
          <a:prstGeom prst="rect">
            <a:avLst/>
          </a:prstGeom>
          <a:noFill/>
          <a:ln/>
        </p:spPr>
        <p:txBody>
          <a:bodyPr wrap="square" lIns="0" tIns="0" rIns="0" bIns="0" rtlCol="0" anchor="ctr"/>
          <a:lstStyle/>
          <a:p>
            <a:pPr algn="ctr" indent="0" marL="0">
              <a:buNone/>
            </a:pPr>
            <a:r>
              <a:rPr lang="en-US" sz="1300" b="1" dirty="0">
                <a:solidFill>
                  <a:srgbClr val="0E4D33"/>
                </a:solidFill>
                <a:latin typeface="Meiryo UI" pitchFamily="34" charset="0"/>
                <a:ea typeface="Meiryo UI" pitchFamily="34" charset="-122"/>
                <a:cs typeface="Meiryo UI" pitchFamily="34" charset="-120"/>
              </a:rPr>
              <a:t>B</a:t>
            </a:r>
            <a:endParaRPr lang="en-US" sz="1300" dirty="0"/>
          </a:p>
        </p:txBody>
      </p:sp>
      <p:sp>
        <p:nvSpPr>
          <p:cNvPr id="69" name="no_down2_0"/>
          <p:cNvSpPr txBox="1"/>
          <p:nvPr/>
        </p:nvSpPr>
        <p:spPr>
          <a:xfrm>
            <a:off x="7470648" y="4069080"/>
            <a:ext cx="192024" cy="384048"/>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2</a:t>
            </a:r>
            <a:endParaRPr lang="en-US" sz="950" dirty="0"/>
          </a:p>
        </p:txBody>
      </p:sp>
      <p:sp>
        <p:nvSpPr>
          <p:cNvPr id="70" name="ovl_badge"/>
          <p:cNvSpPr/>
          <p:nvPr/>
        </p:nvSpPr>
        <p:spPr>
          <a:xfrm>
            <a:off x="7717536" y="4069080"/>
            <a:ext cx="384048" cy="384048"/>
          </a:xfrm>
          <a:prstGeom prst="roundRect">
            <a:avLst>
              <a:gd name="adj" fmla="val 19048"/>
            </a:avLst>
          </a:prstGeom>
          <a:solidFill>
            <a:srgbClr val="86C99B"/>
          </a:solidFill>
          <a:ln w="12700">
            <a:solidFill>
              <a:srgbClr val="86C99B"/>
            </a:solidFill>
            <a:prstDash val="solid"/>
          </a:ln>
        </p:spPr>
      </p:sp>
      <p:sp>
        <p:nvSpPr>
          <p:cNvPr id="71" name="ovl_badge_t"/>
          <p:cNvSpPr txBox="1"/>
          <p:nvPr/>
        </p:nvSpPr>
        <p:spPr>
          <a:xfrm>
            <a:off x="7717536" y="4069080"/>
            <a:ext cx="384048" cy="384048"/>
          </a:xfrm>
          <a:prstGeom prst="rect">
            <a:avLst/>
          </a:prstGeom>
          <a:noFill/>
          <a:ln/>
        </p:spPr>
        <p:txBody>
          <a:bodyPr wrap="square" lIns="0" tIns="0" rIns="0" bIns="0" rtlCol="0" anchor="ctr"/>
          <a:lstStyle/>
          <a:p>
            <a:pPr algn="ctr" indent="0" marL="0">
              <a:buNone/>
            </a:pPr>
            <a:r>
              <a:rPr lang="en-US" sz="1300" b="1" dirty="0">
                <a:solidFill>
                  <a:srgbClr val="0E4D33"/>
                </a:solidFill>
                <a:latin typeface="Meiryo UI" pitchFamily="34" charset="0"/>
                <a:ea typeface="Meiryo UI" pitchFamily="34" charset="-122"/>
                <a:cs typeface="Meiryo UI" pitchFamily="34" charset="-120"/>
              </a:rPr>
              <a:t>B</a:t>
            </a:r>
            <a:endParaRPr lang="en-US" sz="1300" dirty="0"/>
          </a:p>
        </p:txBody>
      </p:sp>
      <p:sp>
        <p:nvSpPr>
          <p:cNvPr id="72" name="no_down2_1"/>
          <p:cNvSpPr txBox="1"/>
          <p:nvPr/>
        </p:nvSpPr>
        <p:spPr>
          <a:xfrm>
            <a:off x="8129016" y="4069080"/>
            <a:ext cx="274320" cy="384048"/>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11</a:t>
            </a:r>
            <a:endParaRPr lang="en-US" sz="950" dirty="0"/>
          </a:p>
        </p:txBody>
      </p:sp>
      <p:sp>
        <p:nvSpPr>
          <p:cNvPr id="73" name="h_down2"/>
          <p:cNvSpPr txBox="1"/>
          <p:nvPr/>
        </p:nvSpPr>
        <p:spPr>
          <a:xfrm>
            <a:off x="6675120" y="4507992"/>
            <a:ext cx="2651760" cy="274320"/>
          </a:xfrm>
          <a:prstGeom prst="rect">
            <a:avLst/>
          </a:prstGeom>
          <a:noFill/>
          <a:ln/>
        </p:spPr>
        <p:txBody>
          <a:bodyPr wrap="square" lIns="0" tIns="0" rIns="0" bIns="0"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長期リースの固定費</a:t>
            </a:r>
            <a:endParaRPr lang="en-US" sz="1100" dirty="0"/>
          </a:p>
        </p:txBody>
      </p:sp>
      <p:sp>
        <p:nvSpPr>
          <p:cNvPr id="74" name="b_down2"/>
          <p:cNvSpPr txBox="1"/>
          <p:nvPr/>
        </p:nvSpPr>
        <p:spPr>
          <a:xfrm>
            <a:off x="6675120" y="4818888"/>
            <a:ext cx="2651760" cy="777240"/>
          </a:xfrm>
          <a:prstGeom prst="rect">
            <a:avLst/>
          </a:prstGeom>
          <a:noFill/>
          <a:ln/>
        </p:spPr>
        <p:txBody>
          <a:bodyPr wrap="square" lIns="0" tIns="0" rIns="0" bIns="0" rtlCol="0" anchor="t"/>
          <a:lstStyle/>
          <a:p>
            <a:pPr indent="0" marL="0">
              <a:buNone/>
            </a:pPr>
            <a:r>
              <a:rPr lang="en-US" sz="950" dirty="0">
                <a:solidFill>
                  <a:srgbClr val="333333"/>
                </a:solidFill>
                <a:latin typeface="Meiryo UI" pitchFamily="34" charset="0"/>
                <a:ea typeface="Meiryo UI" pitchFamily="34" charset="-122"/>
                <a:cs typeface="Meiryo UI" pitchFamily="34" charset="-120"/>
              </a:rPr>
              <a:t>需要が鈍れば 15〜19 年の賃料が</a:t>
            </a:r>
            <a:endParaRPr lang="en-US" sz="950" dirty="0"/>
          </a:p>
          <a:p>
            <a:pPr indent="0" marL="0">
              <a:buNone/>
            </a:pPr>
            <a:r>
              <a:rPr lang="en-US" sz="950" dirty="0">
                <a:solidFill>
                  <a:srgbClr val="333333"/>
                </a:solidFill>
                <a:latin typeface="Meiryo UI" pitchFamily="34" charset="0"/>
                <a:ea typeface="Meiryo UI" pitchFamily="34" charset="-122"/>
                <a:cs typeface="Meiryo UI" pitchFamily="34" charset="-120"/>
              </a:rPr>
              <a:t>空室のまま残り、資金構造の利点の</a:t>
            </a:r>
            <a:endParaRPr lang="en-US" sz="950" dirty="0"/>
          </a:p>
          <a:p>
            <a:pPr indent="0" marL="0">
              <a:buNone/>
            </a:pPr>
            <a:r>
              <a:rPr lang="en-US" sz="950" dirty="0">
                <a:solidFill>
                  <a:srgbClr val="333333"/>
                </a:solidFill>
                <a:latin typeface="Meiryo UI" pitchFamily="34" charset="0"/>
                <a:ea typeface="Meiryo UI" pitchFamily="34" charset="-122"/>
                <a:cs typeface="Meiryo UI" pitchFamily="34" charset="-120"/>
              </a:rPr>
              <a:t>裏返しとして評価を抑えた</a:t>
            </a:r>
            <a:endParaRPr lang="en-US" sz="950" dirty="0"/>
          </a:p>
        </p:txBody>
      </p:sp>
      <p:sp>
        <p:nvSpPr>
          <p:cNvPr id="75" name="ovl_band"/>
          <p:cNvSpPr/>
          <p:nvPr/>
        </p:nvSpPr>
        <p:spPr>
          <a:xfrm>
            <a:off x="9829800" y="1828800"/>
            <a:ext cx="1901952" cy="3840480"/>
          </a:xfrm>
          <a:prstGeom prst="rect">
            <a:avLst/>
          </a:prstGeom>
          <a:solidFill>
            <a:srgbClr val="0E4D33"/>
          </a:solidFill>
          <a:ln w="9525">
            <a:solidFill>
              <a:srgbClr val="0E4D33"/>
            </a:solidFill>
            <a:prstDash val="solid"/>
          </a:ln>
        </p:spPr>
      </p:sp>
      <p:sp>
        <p:nvSpPr>
          <p:cNvPr id="76" name="ovl_badge"/>
          <p:cNvSpPr/>
          <p:nvPr/>
        </p:nvSpPr>
        <p:spPr>
          <a:xfrm>
            <a:off x="10140696" y="2880360"/>
            <a:ext cx="1280160" cy="1280160"/>
          </a:xfrm>
          <a:prstGeom prst="roundRect">
            <a:avLst>
              <a:gd name="adj" fmla="val 5714"/>
            </a:avLst>
          </a:prstGeom>
          <a:solidFill>
            <a:srgbClr val="86C99B"/>
          </a:solidFill>
          <a:ln w="12700">
            <a:solidFill>
              <a:srgbClr val="86C99B"/>
            </a:solidFill>
            <a:prstDash val="solid"/>
          </a:ln>
        </p:spPr>
      </p:sp>
      <p:sp>
        <p:nvSpPr>
          <p:cNvPr id="77" name="ovl_badge_t"/>
          <p:cNvSpPr txBox="1"/>
          <p:nvPr/>
        </p:nvSpPr>
        <p:spPr>
          <a:xfrm>
            <a:off x="10140696" y="2880360"/>
            <a:ext cx="1280160" cy="1280160"/>
          </a:xfrm>
          <a:prstGeom prst="rect">
            <a:avLst/>
          </a:prstGeom>
          <a:noFill/>
          <a:ln/>
        </p:spPr>
        <p:txBody>
          <a:bodyPr wrap="square" lIns="0" tIns="0" rIns="0" bIns="0" rtlCol="0" anchor="ctr"/>
          <a:lstStyle/>
          <a:p>
            <a:pPr algn="ctr" indent="0" marL="0">
              <a:buNone/>
            </a:pPr>
            <a:r>
              <a:rPr lang="en-US" sz="4200" b="1" dirty="0">
                <a:solidFill>
                  <a:srgbClr val="0E4D33"/>
                </a:solidFill>
                <a:latin typeface="Meiryo UI" pitchFamily="34" charset="0"/>
                <a:ea typeface="Meiryo UI" pitchFamily="34" charset="-122"/>
                <a:cs typeface="Meiryo UI" pitchFamily="34" charset="-120"/>
              </a:rPr>
              <a:t>B</a:t>
            </a:r>
            <a:endParaRPr lang="en-US" sz="4200" dirty="0"/>
          </a:p>
        </p:txBody>
      </p:sp>
      <p:sp>
        <p:nvSpPr>
          <p:cNvPr id="78" name="band_label"/>
          <p:cNvSpPr txBox="1"/>
          <p:nvPr/>
        </p:nvSpPr>
        <p:spPr>
          <a:xfrm>
            <a:off x="9829800" y="4297680"/>
            <a:ext cx="1901952"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構造評価</a:t>
            </a:r>
            <a:endParaRPr lang="en-US" sz="1400" dirty="0"/>
          </a:p>
        </p:txBody>
      </p:sp>
      <p:sp>
        <p:nvSpPr>
          <p:cNvPr id="79" name="ovl_arrow"/>
          <p:cNvSpPr/>
          <p:nvPr/>
        </p:nvSpPr>
        <p:spPr>
          <a:xfrm>
            <a:off x="9418320" y="2674620"/>
            <a:ext cx="411480" cy="914"/>
          </a:xfrm>
          <a:prstGeom prst="line">
            <a:avLst/>
          </a:prstGeom>
          <a:noFill/>
          <a:ln w="12700">
            <a:solidFill>
              <a:srgbClr val="197A56"/>
            </a:solidFill>
            <a:prstDash val="solid"/>
            <a:tailEnd type="triangle"/>
          </a:ln>
        </p:spPr>
      </p:sp>
      <p:sp>
        <p:nvSpPr>
          <p:cNvPr id="80" name="ovl_arrow"/>
          <p:cNvSpPr/>
          <p:nvPr/>
        </p:nvSpPr>
        <p:spPr>
          <a:xfrm>
            <a:off x="9418320" y="4823460"/>
            <a:ext cx="411480" cy="914"/>
          </a:xfrm>
          <a:prstGeom prst="line">
            <a:avLst/>
          </a:prstGeom>
          <a:noFill/>
          <a:ln w="12700">
            <a:solidFill>
              <a:srgbClr val="C0392B"/>
            </a:solidFill>
            <a:prstDash val="solid"/>
            <a:tailEnd type="triangle"/>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4D33"/>
        </a:solidFill>
      </p:bgPr>
    </p:bg>
    <p:spTree>
      <p:nvGrpSpPr>
        <p:cNvPr id="1" name=""/>
        <p:cNvGrpSpPr/>
        <p:nvPr/>
      </p:nvGrpSpPr>
      <p:grpSpPr>
        <a:xfrm>
          <a:off x="0" y="0"/>
          <a:ext cx="0" cy="0"/>
          <a:chOff x="0" y="0"/>
          <a:chExt cx="0" cy="0"/>
        </a:xfrm>
      </p:grpSpPr>
      <p:sp>
        <p:nvSpPr>
          <p:cNvPr id="2" name="bg_agenda"/>
          <p:cNvSpPr/>
          <p:nvPr/>
        </p:nvSpPr>
        <p:spPr>
          <a:xfrm>
            <a:off x="0" y="0"/>
            <a:ext cx="12191695" cy="6858000"/>
          </a:xfrm>
          <a:prstGeom prst="rect">
            <a:avLst/>
          </a:prstGeom>
          <a:solidFill>
            <a:srgbClr val="0E4D33"/>
          </a:solidFill>
          <a:ln w="12700">
            <a:solidFill>
              <a:srgbClr val="0E4D33"/>
            </a:solidFill>
            <a:prstDash val="solid"/>
          </a:ln>
        </p:spPr>
      </p:sp>
      <p:sp>
        <p:nvSpPr>
          <p:cNvPr id="3" name="bg_agenda_lbl"/>
          <p:cNvSpPr txBox="1"/>
          <p:nvPr/>
        </p:nvSpPr>
        <p:spPr>
          <a:xfrm>
            <a:off x="731520" y="502920"/>
            <a:ext cx="2743200" cy="640080"/>
          </a:xfrm>
          <a:prstGeom prst="rect">
            <a:avLst/>
          </a:prstGeom>
          <a:noFill/>
          <a:ln/>
        </p:spPr>
        <p:txBody>
          <a:bodyPr wrap="square" lIns="508" tIns="508" rIns="508" bIns="508" rtlCol="0" anchor="t"/>
          <a:lstStyle/>
          <a:p>
            <a:pPr indent="0" marL="0">
              <a:buNone/>
            </a:pPr>
            <a:r>
              <a:rPr lang="en-US" sz="2600" b="1" dirty="0">
                <a:solidFill>
                  <a:srgbClr val="FFFFFF"/>
                </a:solidFill>
                <a:latin typeface="Meiryo UI" pitchFamily="34" charset="0"/>
                <a:ea typeface="Meiryo UI" pitchFamily="34" charset="-122"/>
                <a:cs typeface="Meiryo UI" pitchFamily="34" charset="-120"/>
              </a:rPr>
              <a:t>目次</a:t>
            </a:r>
            <a:endParaRPr lang="en-US" sz="2600" dirty="0"/>
          </a:p>
        </p:txBody>
      </p:sp>
      <p:sp>
        <p:nvSpPr>
          <p:cNvPr id="4" name="bg_agenda_n0"/>
          <p:cNvSpPr/>
          <p:nvPr/>
        </p:nvSpPr>
        <p:spPr>
          <a:xfrm>
            <a:off x="777240" y="1463040"/>
            <a:ext cx="457200" cy="457200"/>
          </a:xfrm>
          <a:prstGeom prst="ellipse">
            <a:avLst/>
          </a:prstGeom>
          <a:solidFill>
            <a:srgbClr val="0E4D33"/>
          </a:solidFill>
          <a:ln w="12700">
            <a:solidFill>
              <a:srgbClr val="FFFFFF"/>
            </a:solidFill>
            <a:prstDash val="solid"/>
          </a:ln>
        </p:spPr>
      </p:sp>
      <p:sp>
        <p:nvSpPr>
          <p:cNvPr id="5" name="bg_agenda_nt0"/>
          <p:cNvSpPr txBox="1"/>
          <p:nvPr/>
        </p:nvSpPr>
        <p:spPr>
          <a:xfrm>
            <a:off x="777240" y="1463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1</a:t>
            </a:r>
            <a:endParaRPr lang="en-US" sz="1400" dirty="0"/>
          </a:p>
        </p:txBody>
      </p:sp>
      <p:sp>
        <p:nvSpPr>
          <p:cNvPr id="6" name="bg_agenda_ch0"/>
          <p:cNvSpPr txBox="1"/>
          <p:nvPr/>
        </p:nvSpPr>
        <p:spPr>
          <a:xfrm>
            <a:off x="1417320" y="1444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評価総括</a:t>
            </a:r>
            <a:endParaRPr lang="en-US" sz="1800" dirty="0"/>
          </a:p>
        </p:txBody>
      </p:sp>
      <p:sp>
        <p:nvSpPr>
          <p:cNvPr id="7" name="bg_agenda_n1"/>
          <p:cNvSpPr/>
          <p:nvPr/>
        </p:nvSpPr>
        <p:spPr>
          <a:xfrm>
            <a:off x="777240" y="2606040"/>
            <a:ext cx="457200" cy="457200"/>
          </a:xfrm>
          <a:prstGeom prst="ellipse">
            <a:avLst/>
          </a:prstGeom>
          <a:solidFill>
            <a:srgbClr val="197A56"/>
          </a:solidFill>
          <a:ln w="12700">
            <a:solidFill>
              <a:srgbClr val="FFFFFF"/>
            </a:solidFill>
            <a:prstDash val="solid"/>
          </a:ln>
        </p:spPr>
      </p:sp>
      <p:sp>
        <p:nvSpPr>
          <p:cNvPr id="8" name="bg_agenda_nt1"/>
          <p:cNvSpPr txBox="1"/>
          <p:nvPr/>
        </p:nvSpPr>
        <p:spPr>
          <a:xfrm>
            <a:off x="777240" y="26060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2</a:t>
            </a:r>
            <a:endParaRPr lang="en-US" sz="1400" dirty="0"/>
          </a:p>
        </p:txBody>
      </p:sp>
      <p:sp>
        <p:nvSpPr>
          <p:cNvPr id="9" name="bg_agenda_ch1"/>
          <p:cNvSpPr txBox="1"/>
          <p:nvPr/>
        </p:nvSpPr>
        <p:spPr>
          <a:xfrm>
            <a:off x="1417320" y="2587752"/>
            <a:ext cx="5669280" cy="493776"/>
          </a:xfrm>
          <a:prstGeom prst="rect">
            <a:avLst/>
          </a:prstGeom>
          <a:noFill/>
          <a:ln/>
        </p:spPr>
        <p:txBody>
          <a:bodyPr wrap="square" lIns="0" tIns="0" rIns="0" bIns="0" rtlCol="0" anchor="ctr"/>
          <a:lstStyle/>
          <a:p>
            <a:pPr indent="0" marL="0">
              <a:buNone/>
            </a:pPr>
            <a:r>
              <a:rPr lang="en-US" sz="1800" b="1" dirty="0">
                <a:solidFill>
                  <a:srgbClr val="FFFFFF"/>
                </a:solidFill>
                <a:latin typeface="Meiryo UI" pitchFamily="34" charset="0"/>
                <a:ea typeface="Meiryo UI" pitchFamily="34" charset="-122"/>
                <a:cs typeface="Meiryo UI" pitchFamily="34" charset="-120"/>
              </a:rPr>
              <a:t>事業・需給・成長</a:t>
            </a:r>
            <a:endParaRPr lang="en-US" sz="1800" dirty="0"/>
          </a:p>
        </p:txBody>
      </p:sp>
      <p:sp>
        <p:nvSpPr>
          <p:cNvPr id="10" name="bg_agenda_why1"/>
          <p:cNvSpPr txBox="1"/>
          <p:nvPr/>
        </p:nvSpPr>
        <p:spPr>
          <a:xfrm>
            <a:off x="1417320" y="3081528"/>
            <a:ext cx="5669280" cy="566928"/>
          </a:xfrm>
          <a:prstGeom prst="rect">
            <a:avLst/>
          </a:prstGeom>
          <a:noFill/>
          <a:ln/>
        </p:spPr>
        <p:txBody>
          <a:bodyPr wrap="square" lIns="0" tIns="0" rIns="0" bIns="0" rtlCol="0" anchor="t"/>
          <a:lstStyle/>
          <a:p>
            <a:pPr indent="0" marL="0">
              <a:buNone/>
            </a:pPr>
            <a:r>
              <a:rPr lang="en-US" sz="1050" dirty="0">
                <a:solidFill>
                  <a:srgbClr val="86C99B"/>
                </a:solidFill>
                <a:latin typeface="Meiryo UI" pitchFamily="34" charset="0"/>
                <a:ea typeface="Meiryo UI" pitchFamily="34" charset="-122"/>
                <a:cs typeface="Meiryo UI" pitchFamily="34" charset="-120"/>
              </a:rPr>
              <a:t>何で稼ぎ、会社がどんな筋書きを描き、</a:t>
            </a:r>
            <a:endParaRPr lang="en-US" sz="1050" dirty="0"/>
          </a:p>
          <a:p>
            <a:pPr indent="0" marL="0">
              <a:buNone/>
            </a:pPr>
            <a:r>
              <a:rPr lang="en-US" sz="1050" dirty="0">
                <a:solidFill>
                  <a:srgbClr val="86C99B"/>
                </a:solidFill>
                <a:latin typeface="Meiryo UI" pitchFamily="34" charset="0"/>
                <a:ea typeface="Meiryo UI" pitchFamily="34" charset="-122"/>
                <a:cs typeface="Meiryo UI" pitchFamily="34" charset="-120"/>
              </a:rPr>
              <a:t>需要・供給・資金がそれを支えるかを確かめる。価値評価の前提になる</a:t>
            </a:r>
            <a:endParaRPr lang="en-US" sz="1050" dirty="0"/>
          </a:p>
        </p:txBody>
      </p:sp>
      <p:sp>
        <p:nvSpPr>
          <p:cNvPr id="11" name="bg_agenda_n2"/>
          <p:cNvSpPr/>
          <p:nvPr/>
        </p:nvSpPr>
        <p:spPr>
          <a:xfrm>
            <a:off x="777240" y="3749040"/>
            <a:ext cx="457200" cy="457200"/>
          </a:xfrm>
          <a:prstGeom prst="ellipse">
            <a:avLst/>
          </a:prstGeom>
          <a:solidFill>
            <a:srgbClr val="0E4D33"/>
          </a:solidFill>
          <a:ln w="12700">
            <a:solidFill>
              <a:srgbClr val="FFFFFF"/>
            </a:solidFill>
            <a:prstDash val="solid"/>
          </a:ln>
        </p:spPr>
      </p:sp>
      <p:sp>
        <p:nvSpPr>
          <p:cNvPr id="12" name="bg_agenda_nt2"/>
          <p:cNvSpPr txBox="1"/>
          <p:nvPr/>
        </p:nvSpPr>
        <p:spPr>
          <a:xfrm>
            <a:off x="777240" y="3749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3</a:t>
            </a:r>
            <a:endParaRPr lang="en-US" sz="1400" dirty="0"/>
          </a:p>
        </p:txBody>
      </p:sp>
      <p:sp>
        <p:nvSpPr>
          <p:cNvPr id="13" name="bg_agenda_ch2"/>
          <p:cNvSpPr txBox="1"/>
          <p:nvPr/>
        </p:nvSpPr>
        <p:spPr>
          <a:xfrm>
            <a:off x="1417320" y="3730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13条件の構造分析</a:t>
            </a:r>
            <a:endParaRPr lang="en-US" sz="1800" dirty="0"/>
          </a:p>
        </p:txBody>
      </p:sp>
      <p:sp>
        <p:nvSpPr>
          <p:cNvPr id="14" name="bg_agenda_n3"/>
          <p:cNvSpPr/>
          <p:nvPr/>
        </p:nvSpPr>
        <p:spPr>
          <a:xfrm>
            <a:off x="777240" y="4892040"/>
            <a:ext cx="457200" cy="457200"/>
          </a:xfrm>
          <a:prstGeom prst="ellipse">
            <a:avLst/>
          </a:prstGeom>
          <a:solidFill>
            <a:srgbClr val="0E4D33"/>
          </a:solidFill>
          <a:ln w="12700">
            <a:solidFill>
              <a:srgbClr val="FFFFFF"/>
            </a:solidFill>
            <a:prstDash val="solid"/>
          </a:ln>
        </p:spPr>
      </p:sp>
      <p:sp>
        <p:nvSpPr>
          <p:cNvPr id="15" name="bg_agenda_nt3"/>
          <p:cNvSpPr txBox="1"/>
          <p:nvPr/>
        </p:nvSpPr>
        <p:spPr>
          <a:xfrm>
            <a:off x="777240" y="4892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4</a:t>
            </a:r>
            <a:endParaRPr lang="en-US" sz="1400" dirty="0"/>
          </a:p>
        </p:txBody>
      </p:sp>
      <p:sp>
        <p:nvSpPr>
          <p:cNvPr id="16" name="bg_agenda_ch3"/>
          <p:cNvSpPr txBox="1"/>
          <p:nvPr/>
        </p:nvSpPr>
        <p:spPr>
          <a:xfrm>
            <a:off x="1417320" y="4873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バリュエーション・リスク・投資アクション</a:t>
            </a:r>
            <a:endParaRPr lang="en-US" sz="1800" dirty="0"/>
          </a:p>
        </p:txBody>
      </p:sp>
      <p:sp>
        <p:nvSpPr>
          <p:cNvPr id="17" name="bg_agenda_rule"/>
          <p:cNvSpPr/>
          <p:nvPr/>
        </p:nvSpPr>
        <p:spPr>
          <a:xfrm>
            <a:off x="7543800" y="1463040"/>
            <a:ext cx="0" cy="4389120"/>
          </a:xfrm>
          <a:prstGeom prst="line">
            <a:avLst/>
          </a:prstGeom>
          <a:noFill/>
          <a:ln w="9525">
            <a:solidFill>
              <a:srgbClr val="86C99B"/>
            </a:solidFill>
            <a:prstDash val="solid"/>
          </a:ln>
        </p:spPr>
      </p:sp>
      <p:sp>
        <p:nvSpPr>
          <p:cNvPr id="18" name="bg_agenda_sh"/>
          <p:cNvSpPr txBox="1"/>
          <p:nvPr/>
        </p:nvSpPr>
        <p:spPr>
          <a:xfrm>
            <a:off x="7818120" y="1417320"/>
            <a:ext cx="3840480" cy="365760"/>
          </a:xfrm>
          <a:prstGeom prst="rect">
            <a:avLst/>
          </a:prstGeom>
          <a:noFill/>
          <a:ln/>
        </p:spPr>
        <p:txBody>
          <a:bodyPr wrap="square" lIns="0" tIns="0" rIns="0" bIns="0" rtlCol="0" anchor="t"/>
          <a:lstStyle/>
          <a:p>
            <a:pPr indent="0" marL="0">
              <a:buNone/>
            </a:pPr>
            <a:r>
              <a:rPr lang="en-US" sz="1300" b="1" dirty="0">
                <a:solidFill>
                  <a:srgbClr val="86C99B"/>
                </a:solidFill>
                <a:latin typeface="Meiryo UI" pitchFamily="34" charset="0"/>
                <a:ea typeface="Meiryo UI" pitchFamily="34" charset="-122"/>
                <a:cs typeface="Meiryo UI" pitchFamily="34" charset="-120"/>
              </a:rPr>
              <a:t>第2章の構成</a:t>
            </a:r>
            <a:endParaRPr lang="en-US" sz="1300" dirty="0"/>
          </a:p>
        </p:txBody>
      </p:sp>
      <p:sp>
        <p:nvSpPr>
          <p:cNvPr id="19" name="bg_agenda_s0"/>
          <p:cNvSpPr txBox="1"/>
          <p:nvPr/>
        </p:nvSpPr>
        <p:spPr>
          <a:xfrm>
            <a:off x="7818120" y="19202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2-1  事業理解</a:t>
            </a:r>
            <a:endParaRPr lang="en-US" sz="1250" dirty="0"/>
          </a:p>
        </p:txBody>
      </p:sp>
      <p:sp>
        <p:nvSpPr>
          <p:cNvPr id="20" name="bg_agenda_p0"/>
          <p:cNvSpPr txBox="1"/>
          <p:nvPr/>
        </p:nvSpPr>
        <p:spPr>
          <a:xfrm>
            <a:off x="10881360" y="19202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p.8–10</a:t>
            </a:r>
            <a:endParaRPr lang="en-US" sz="1050" dirty="0"/>
          </a:p>
        </p:txBody>
      </p:sp>
      <p:sp>
        <p:nvSpPr>
          <p:cNvPr id="21" name="bg_agenda_s1"/>
          <p:cNvSpPr txBox="1"/>
          <p:nvPr/>
        </p:nvSpPr>
        <p:spPr>
          <a:xfrm>
            <a:off x="7818120" y="23774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2-2  会社のシナリオ</a:t>
            </a:r>
            <a:endParaRPr lang="en-US" sz="1250" dirty="0"/>
          </a:p>
        </p:txBody>
      </p:sp>
      <p:sp>
        <p:nvSpPr>
          <p:cNvPr id="22" name="bg_agenda_p1"/>
          <p:cNvSpPr txBox="1"/>
          <p:nvPr/>
        </p:nvSpPr>
        <p:spPr>
          <a:xfrm>
            <a:off x="10881360" y="23774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p.11–13</a:t>
            </a:r>
            <a:endParaRPr lang="en-US" sz="1050" dirty="0"/>
          </a:p>
        </p:txBody>
      </p:sp>
      <p:sp>
        <p:nvSpPr>
          <p:cNvPr id="23" name="bg_agenda_s2"/>
          <p:cNvSpPr txBox="1"/>
          <p:nvPr/>
        </p:nvSpPr>
        <p:spPr>
          <a:xfrm>
            <a:off x="7818120" y="28346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2-3  収益構造</a:t>
            </a:r>
            <a:endParaRPr lang="en-US" sz="1250" dirty="0"/>
          </a:p>
        </p:txBody>
      </p:sp>
      <p:sp>
        <p:nvSpPr>
          <p:cNvPr id="24" name="bg_agenda_p2"/>
          <p:cNvSpPr txBox="1"/>
          <p:nvPr/>
        </p:nvSpPr>
        <p:spPr>
          <a:xfrm>
            <a:off x="10881360" y="28346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p.14–16</a:t>
            </a:r>
            <a:endParaRPr lang="en-US" sz="1050" dirty="0"/>
          </a:p>
        </p:txBody>
      </p:sp>
      <p:sp>
        <p:nvSpPr>
          <p:cNvPr id="25" name="bg_agenda_s3"/>
          <p:cNvSpPr txBox="1"/>
          <p:nvPr/>
        </p:nvSpPr>
        <p:spPr>
          <a:xfrm>
            <a:off x="7818120" y="32918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2-4  競争優位</a:t>
            </a:r>
            <a:endParaRPr lang="en-US" sz="1250" dirty="0"/>
          </a:p>
        </p:txBody>
      </p:sp>
      <p:sp>
        <p:nvSpPr>
          <p:cNvPr id="26" name="bg_agenda_p3"/>
          <p:cNvSpPr txBox="1"/>
          <p:nvPr/>
        </p:nvSpPr>
        <p:spPr>
          <a:xfrm>
            <a:off x="10881360" y="32918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p.17</a:t>
            </a:r>
            <a:endParaRPr lang="en-US" sz="1050" dirty="0"/>
          </a:p>
        </p:txBody>
      </p:sp>
      <p:sp>
        <p:nvSpPr>
          <p:cNvPr id="27" name="bg_agenda_s4"/>
          <p:cNvSpPr txBox="1"/>
          <p:nvPr/>
        </p:nvSpPr>
        <p:spPr>
          <a:xfrm>
            <a:off x="7818120" y="37490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2-5  需給</a:t>
            </a:r>
            <a:endParaRPr lang="en-US" sz="1250" dirty="0"/>
          </a:p>
        </p:txBody>
      </p:sp>
      <p:sp>
        <p:nvSpPr>
          <p:cNvPr id="28" name="bg_agenda_p4"/>
          <p:cNvSpPr txBox="1"/>
          <p:nvPr/>
        </p:nvSpPr>
        <p:spPr>
          <a:xfrm>
            <a:off x="10881360" y="37490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p.18–19</a:t>
            </a:r>
            <a:endParaRPr lang="en-US" sz="1050" dirty="0"/>
          </a:p>
        </p:txBody>
      </p:sp>
      <p:sp>
        <p:nvSpPr>
          <p:cNvPr id="29" name="bg_agenda_s5"/>
          <p:cNvSpPr txBox="1"/>
          <p:nvPr/>
        </p:nvSpPr>
        <p:spPr>
          <a:xfrm>
            <a:off x="7818120" y="42062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2-6  成長の前提</a:t>
            </a:r>
            <a:endParaRPr lang="en-US" sz="1250" dirty="0"/>
          </a:p>
        </p:txBody>
      </p:sp>
      <p:sp>
        <p:nvSpPr>
          <p:cNvPr id="30" name="bg_agenda_p5"/>
          <p:cNvSpPr txBox="1"/>
          <p:nvPr/>
        </p:nvSpPr>
        <p:spPr>
          <a:xfrm>
            <a:off x="10881360" y="42062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p.20–21</a:t>
            </a:r>
            <a:endParaRPr lang="en-US" sz="1050" dirty="0"/>
          </a:p>
        </p:txBody>
      </p:sp>
      <p:sp>
        <p:nvSpPr>
          <p:cNvPr id="31" name="bg_agenda_s6"/>
          <p:cNvSpPr txBox="1"/>
          <p:nvPr/>
        </p:nvSpPr>
        <p:spPr>
          <a:xfrm>
            <a:off x="7818120" y="46634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2-7  資金と信用</a:t>
            </a:r>
            <a:endParaRPr lang="en-US" sz="1250" dirty="0"/>
          </a:p>
        </p:txBody>
      </p:sp>
      <p:sp>
        <p:nvSpPr>
          <p:cNvPr id="32" name="bg_agenda_p6"/>
          <p:cNvSpPr txBox="1"/>
          <p:nvPr/>
        </p:nvSpPr>
        <p:spPr>
          <a:xfrm>
            <a:off x="10881360" y="46634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p.22–23</a:t>
            </a:r>
            <a:endParaRPr lang="en-US" sz="1050" dirty="0"/>
          </a:p>
        </p:txBody>
      </p:sp>
      <p:sp>
        <p:nvSpPr>
          <p:cNvPr id="33"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86C99B"/>
                </a:solidFill>
                <a:latin typeface="Meiryo UI" pitchFamily="34" charset="0"/>
                <a:ea typeface="Meiryo UI" pitchFamily="34" charset="-122"/>
                <a:cs typeface="Meiryo U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2-1 事業理解(1/3)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事業理解</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Oracle が何を誰にどう売るかを押さえる。以降の分析はすべてこの区分の上に立つ</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Oracle は DB を土台に、業務アプリ・クラウド・AI 容量を重ねて売る。</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利益は DB 保守、成長は AI 容量が担う</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事業の積み木(どの層を、どこで売るか)。右: 8 群の 5W1H 台帳。下: この資料で使う用語の注釈</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report/r3_sections_5w1h_f20.md §2-0(会社開示・10-Q・価格表の第三者集計)、research2/R4_database_at.md。Q1 FY27 = 2026 年 6〜8 月</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8</a:t>
            </a:r>
            <a:endParaRPr lang="en-US" sz="800" dirty="0"/>
          </a:p>
        </p:txBody>
      </p:sp>
      <p:sp>
        <p:nvSpPr>
          <p:cNvPr id="19" name="pane_head"/>
          <p:cNvSpPr txBox="1"/>
          <p:nvPr/>
        </p:nvSpPr>
        <p:spPr>
          <a:xfrm>
            <a:off x="457200" y="1481328"/>
            <a:ext cx="406908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事業の積み木(層 × 動く場所)</a:t>
            </a:r>
            <a:endParaRPr lang="en-US" sz="1200" dirty="0"/>
          </a:p>
        </p:txBody>
      </p:sp>
      <p:sp>
        <p:nvSpPr>
          <p:cNvPr id="20" name="blk_colh0"/>
          <p:cNvSpPr txBox="1"/>
          <p:nvPr/>
        </p:nvSpPr>
        <p:spPr>
          <a:xfrm>
            <a:off x="1371600" y="1810512"/>
            <a:ext cx="1005840" cy="237744"/>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顧客の DC</a:t>
            </a:r>
            <a:endParaRPr lang="en-US" sz="900" dirty="0"/>
          </a:p>
        </p:txBody>
      </p:sp>
      <p:sp>
        <p:nvSpPr>
          <p:cNvPr id="21" name="blk_colh1"/>
          <p:cNvSpPr txBox="1"/>
          <p:nvPr/>
        </p:nvSpPr>
        <p:spPr>
          <a:xfrm>
            <a:off x="2423160" y="1810512"/>
            <a:ext cx="1005840" cy="237744"/>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OCI</a:t>
            </a:r>
            <a:endParaRPr lang="en-US" sz="900" dirty="0"/>
          </a:p>
        </p:txBody>
      </p:sp>
      <p:sp>
        <p:nvSpPr>
          <p:cNvPr id="22" name="blk_colh2"/>
          <p:cNvSpPr txBox="1"/>
          <p:nvPr/>
        </p:nvSpPr>
        <p:spPr>
          <a:xfrm>
            <a:off x="3474720" y="1810512"/>
            <a:ext cx="1005840" cy="237744"/>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他社クラウド</a:t>
            </a:r>
            <a:endParaRPr lang="en-US" sz="900" dirty="0"/>
          </a:p>
        </p:txBody>
      </p:sp>
      <p:sp>
        <p:nvSpPr>
          <p:cNvPr id="23" name="blk_rowh0"/>
          <p:cNvSpPr txBox="1"/>
          <p:nvPr/>
        </p:nvSpPr>
        <p:spPr>
          <a:xfrm>
            <a:off x="457200" y="2103120"/>
            <a:ext cx="868680" cy="658368"/>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アプリ</a:t>
            </a:r>
            <a:endParaRPr lang="en-US" sz="900" dirty="0"/>
          </a:p>
        </p:txBody>
      </p:sp>
      <p:sp>
        <p:nvSpPr>
          <p:cNvPr id="24" name="blk_rowh1"/>
          <p:cNvSpPr txBox="1"/>
          <p:nvPr/>
        </p:nvSpPr>
        <p:spPr>
          <a:xfrm>
            <a:off x="457200" y="2834640"/>
            <a:ext cx="868680" cy="658368"/>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データ(DB)</a:t>
            </a:r>
            <a:endParaRPr lang="en-US" sz="900" dirty="0"/>
          </a:p>
        </p:txBody>
      </p:sp>
      <p:sp>
        <p:nvSpPr>
          <p:cNvPr id="25" name="blk_rowh2"/>
          <p:cNvSpPr txBox="1"/>
          <p:nvPr/>
        </p:nvSpPr>
        <p:spPr>
          <a:xfrm>
            <a:off x="457200" y="3566160"/>
            <a:ext cx="868680" cy="658368"/>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インフラ</a:t>
            </a:r>
            <a:endParaRPr lang="en-US" sz="900" dirty="0"/>
          </a:p>
        </p:txBody>
      </p:sp>
      <p:sp>
        <p:nvSpPr>
          <p:cNvPr id="26" name="blk_rowh3"/>
          <p:cNvSpPr txBox="1"/>
          <p:nvPr/>
        </p:nvSpPr>
        <p:spPr>
          <a:xfrm>
            <a:off x="457200" y="4297680"/>
            <a:ext cx="868680" cy="384048"/>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土台</a:t>
            </a:r>
            <a:endParaRPr lang="en-US" sz="900" dirty="0"/>
          </a:p>
        </p:txBody>
      </p:sp>
      <p:sp>
        <p:nvSpPr>
          <p:cNvPr id="27" name="blk_c00"/>
          <p:cNvSpPr/>
          <p:nvPr/>
        </p:nvSpPr>
        <p:spPr>
          <a:xfrm>
            <a:off x="1371600" y="2103120"/>
            <a:ext cx="1005840" cy="658368"/>
          </a:xfrm>
          <a:prstGeom prst="roundRect">
            <a:avLst>
              <a:gd name="adj" fmla="val 8333"/>
            </a:avLst>
          </a:prstGeom>
          <a:solidFill>
            <a:srgbClr val="EAF4EE"/>
          </a:solidFill>
          <a:ln w="9525">
            <a:solidFill>
              <a:srgbClr val="86C99B"/>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旧来の業務アプリ</a:t>
            </a:r>
            <a:endParaRPr lang="en-US" sz="850" dirty="0"/>
          </a:p>
          <a:p>
            <a:pPr algn="ctr" indent="0" marL="0">
              <a:buNone/>
            </a:pPr>
            <a:r>
              <a:rPr lang="en-US" sz="850" dirty="0">
                <a:solidFill>
                  <a:srgbClr val="0E4D33"/>
                </a:solidFill>
                <a:latin typeface="Meiryo UI" pitchFamily="34" charset="0"/>
                <a:ea typeface="Meiryo UI" pitchFamily="34" charset="-122"/>
                <a:cs typeface="Meiryo UI" pitchFamily="34" charset="-120"/>
              </a:rPr>
              <a:t>(E-Business ほか)</a:t>
            </a:r>
            <a:endParaRPr lang="en-US" sz="850" dirty="0"/>
          </a:p>
        </p:txBody>
      </p:sp>
      <p:sp>
        <p:nvSpPr>
          <p:cNvPr id="28" name="blk_c01"/>
          <p:cNvSpPr/>
          <p:nvPr/>
        </p:nvSpPr>
        <p:spPr>
          <a:xfrm>
            <a:off x="2423160" y="2103120"/>
            <a:ext cx="1005840" cy="658368"/>
          </a:xfrm>
          <a:prstGeom prst="roundRect">
            <a:avLst>
              <a:gd name="adj" fmla="val 8333"/>
            </a:avLst>
          </a:prstGeom>
          <a:solidFill>
            <a:srgbClr val="EAF4EE"/>
          </a:solidFill>
          <a:ln w="9525">
            <a:solidFill>
              <a:srgbClr val="86C99B"/>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Fusion・NetSuite</a:t>
            </a:r>
            <a:endParaRPr lang="en-US" sz="850" dirty="0"/>
          </a:p>
          <a:p>
            <a:pPr algn="ctr" indent="0" marL="0">
              <a:buNone/>
            </a:pPr>
            <a:r>
              <a:rPr lang="en-US" sz="850" dirty="0">
                <a:solidFill>
                  <a:srgbClr val="0E4D33"/>
                </a:solidFill>
                <a:latin typeface="Meiryo UI" pitchFamily="34" charset="0"/>
                <a:ea typeface="Meiryo UI" pitchFamily="34" charset="-122"/>
                <a:cs typeface="Meiryo UI" pitchFamily="34" charset="-120"/>
              </a:rPr>
              <a:t>(SaaS)</a:t>
            </a:r>
            <a:endParaRPr lang="en-US" sz="850" dirty="0"/>
          </a:p>
        </p:txBody>
      </p:sp>
      <p:sp>
        <p:nvSpPr>
          <p:cNvPr id="29" name="blk_c02"/>
          <p:cNvSpPr/>
          <p:nvPr/>
        </p:nvSpPr>
        <p:spPr>
          <a:xfrm>
            <a:off x="3474720" y="2103120"/>
            <a:ext cx="1005840" cy="658368"/>
          </a:xfrm>
          <a:prstGeom prst="roundRect">
            <a:avLst>
              <a:gd name="adj" fmla="val 8333"/>
            </a:avLst>
          </a:prstGeom>
          <a:solidFill>
            <a:srgbClr val="F2F2F2"/>
          </a:solidFill>
          <a:ln w="9525">
            <a:solidFill>
              <a:srgbClr val="F2F2F2"/>
            </a:solidFill>
          </a:ln>
        </p:spPr>
        <p:txBody>
          <a:bodyPr wrap="square" lIns="254" tIns="254" rIns="254" bIns="254"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a:t>
            </a:r>
            <a:endParaRPr lang="en-US" sz="850" dirty="0"/>
          </a:p>
        </p:txBody>
      </p:sp>
      <p:sp>
        <p:nvSpPr>
          <p:cNvPr id="30" name="blk_c10"/>
          <p:cNvSpPr/>
          <p:nvPr/>
        </p:nvSpPr>
        <p:spPr>
          <a:xfrm>
            <a:off x="1371600" y="2834640"/>
            <a:ext cx="1005840" cy="658368"/>
          </a:xfrm>
          <a:prstGeom prst="roundRect">
            <a:avLst>
              <a:gd name="adj" fmla="val 8333"/>
            </a:avLst>
          </a:prstGeom>
          <a:solidFill>
            <a:srgbClr val="0E4D33"/>
          </a:solidFill>
          <a:ln w="9525">
            <a:solidFill>
              <a:srgbClr val="0E4D33"/>
            </a:solidFill>
          </a:ln>
        </p:spPr>
        <p:txBody>
          <a:bodyPr wrap="square" lIns="254" tIns="254" rIns="254" bIns="254" rtlCol="0" anchor="ctr"/>
          <a:lstStyle/>
          <a:p>
            <a:pPr algn="ctr" indent="0" marL="0">
              <a:buNone/>
            </a:pPr>
            <a:r>
              <a:rPr lang="en-US" sz="850" dirty="0">
                <a:solidFill>
                  <a:srgbClr val="FFFFFF"/>
                </a:solidFill>
                <a:latin typeface="Meiryo UI" pitchFamily="34" charset="0"/>
                <a:ea typeface="Meiryo UI" pitchFamily="34" charset="-122"/>
                <a:cs typeface="Meiryo UI" pitchFamily="34" charset="-120"/>
              </a:rPr>
              <a:t>DB ライセンス・</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保守・Exadata</a:t>
            </a:r>
            <a:endParaRPr lang="en-US" sz="850" dirty="0"/>
          </a:p>
        </p:txBody>
      </p:sp>
      <p:sp>
        <p:nvSpPr>
          <p:cNvPr id="31" name="blk_c11"/>
          <p:cNvSpPr/>
          <p:nvPr/>
        </p:nvSpPr>
        <p:spPr>
          <a:xfrm>
            <a:off x="2423160" y="2834640"/>
            <a:ext cx="1005840" cy="658368"/>
          </a:xfrm>
          <a:prstGeom prst="roundRect">
            <a:avLst>
              <a:gd name="adj" fmla="val 8333"/>
            </a:avLst>
          </a:prstGeom>
          <a:solidFill>
            <a:srgbClr val="0E4D33"/>
          </a:solidFill>
          <a:ln w="9525">
            <a:solidFill>
              <a:srgbClr val="0E4D33"/>
            </a:solidFill>
          </a:ln>
        </p:spPr>
        <p:txBody>
          <a:bodyPr wrap="square" lIns="254" tIns="254" rIns="254" bIns="254" rtlCol="0" anchor="ctr"/>
          <a:lstStyle/>
          <a:p>
            <a:pPr algn="ctr" indent="0" marL="0">
              <a:buNone/>
            </a:pPr>
            <a:r>
              <a:rPr lang="en-US" sz="850" dirty="0">
                <a:solidFill>
                  <a:srgbClr val="FFFFFF"/>
                </a:solidFill>
                <a:latin typeface="Meiryo UI" pitchFamily="34" charset="0"/>
                <a:ea typeface="Meiryo UI" pitchFamily="34" charset="-122"/>
                <a:cs typeface="Meiryo UI" pitchFamily="34" charset="-120"/>
              </a:rPr>
              <a:t>Autonomous</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AI Database 26ai</a:t>
            </a:r>
            <a:endParaRPr lang="en-US" sz="850" dirty="0"/>
          </a:p>
        </p:txBody>
      </p:sp>
      <p:sp>
        <p:nvSpPr>
          <p:cNvPr id="32" name="blk_c12"/>
          <p:cNvSpPr/>
          <p:nvPr/>
        </p:nvSpPr>
        <p:spPr>
          <a:xfrm>
            <a:off x="3474720" y="2834640"/>
            <a:ext cx="1005840" cy="658368"/>
          </a:xfrm>
          <a:prstGeom prst="roundRect">
            <a:avLst>
              <a:gd name="adj" fmla="val 8333"/>
            </a:avLst>
          </a:prstGeom>
          <a:solidFill>
            <a:srgbClr val="0E4D33"/>
          </a:solidFill>
          <a:ln w="9525">
            <a:solidFill>
              <a:srgbClr val="0E4D33"/>
            </a:solidFill>
          </a:ln>
        </p:spPr>
        <p:txBody>
          <a:bodyPr wrap="square" lIns="254" tIns="254" rIns="254" bIns="254" rtlCol="0" anchor="ctr"/>
          <a:lstStyle/>
          <a:p>
            <a:pPr algn="ctr" indent="0" marL="0">
              <a:buNone/>
            </a:pPr>
            <a:r>
              <a:rPr lang="en-US" sz="850" dirty="0">
                <a:solidFill>
                  <a:srgbClr val="FFFFFF"/>
                </a:solidFill>
                <a:latin typeface="Meiryo UI" pitchFamily="34" charset="0"/>
                <a:ea typeface="Meiryo UI" pitchFamily="34" charset="-122"/>
                <a:cs typeface="Meiryo UI" pitchFamily="34" charset="-120"/>
              </a:rPr>
              <a:t>Database@</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(AWS・Azure・</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Google)</a:t>
            </a:r>
            <a:endParaRPr lang="en-US" sz="850" dirty="0"/>
          </a:p>
        </p:txBody>
      </p:sp>
      <p:sp>
        <p:nvSpPr>
          <p:cNvPr id="33" name="blk_c20"/>
          <p:cNvSpPr/>
          <p:nvPr/>
        </p:nvSpPr>
        <p:spPr>
          <a:xfrm>
            <a:off x="1371600" y="3566160"/>
            <a:ext cx="1005840" cy="658368"/>
          </a:xfrm>
          <a:prstGeom prst="roundRect">
            <a:avLst>
              <a:gd name="adj" fmla="val 8333"/>
            </a:avLst>
          </a:prstGeom>
          <a:solidFill>
            <a:srgbClr val="197A56"/>
          </a:solidFill>
          <a:ln w="9525">
            <a:solidFill>
              <a:srgbClr val="197A56"/>
            </a:solidFill>
          </a:ln>
        </p:spPr>
        <p:txBody>
          <a:bodyPr wrap="square" lIns="254" tIns="254" rIns="254" bIns="254" rtlCol="0" anchor="ctr"/>
          <a:lstStyle/>
          <a:p>
            <a:pPr algn="ctr" indent="0" marL="0">
              <a:buNone/>
            </a:pPr>
            <a:r>
              <a:rPr lang="en-US" sz="850" dirty="0">
                <a:solidFill>
                  <a:srgbClr val="FFFFFF"/>
                </a:solidFill>
                <a:latin typeface="Meiryo UI" pitchFamily="34" charset="0"/>
                <a:ea typeface="Meiryo UI" pitchFamily="34" charset="-122"/>
                <a:cs typeface="Meiryo UI" pitchFamily="34" charset="-120"/>
              </a:rPr>
              <a:t>Cloud@Customer</a:t>
            </a:r>
            <a:endParaRPr lang="en-US" sz="850" dirty="0"/>
          </a:p>
        </p:txBody>
      </p:sp>
      <p:sp>
        <p:nvSpPr>
          <p:cNvPr id="34" name="blk_c21"/>
          <p:cNvSpPr/>
          <p:nvPr/>
        </p:nvSpPr>
        <p:spPr>
          <a:xfrm>
            <a:off x="2423160" y="3566160"/>
            <a:ext cx="1005840" cy="658368"/>
          </a:xfrm>
          <a:prstGeom prst="roundRect">
            <a:avLst>
              <a:gd name="adj" fmla="val 8333"/>
            </a:avLst>
          </a:prstGeom>
          <a:solidFill>
            <a:srgbClr val="197A56"/>
          </a:solidFill>
          <a:ln w="9525">
            <a:solidFill>
              <a:srgbClr val="197A56"/>
            </a:solidFill>
          </a:ln>
        </p:spPr>
        <p:txBody>
          <a:bodyPr wrap="square" lIns="254" tIns="254" rIns="254" bIns="254" rtlCol="0" anchor="ctr"/>
          <a:lstStyle/>
          <a:p>
            <a:pPr algn="ctr" indent="0" marL="0">
              <a:buNone/>
            </a:pPr>
            <a:r>
              <a:rPr lang="en-US" sz="850" dirty="0">
                <a:solidFill>
                  <a:srgbClr val="FFFFFF"/>
                </a:solidFill>
                <a:latin typeface="Meiryo UI" pitchFamily="34" charset="0"/>
                <a:ea typeface="Meiryo UI" pitchFamily="34" charset="-122"/>
                <a:cs typeface="Meiryo UI" pitchFamily="34" charset="-120"/>
              </a:rPr>
              <a:t>OCI 一般・主権</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AI 容量(GPU)</a:t>
            </a:r>
            <a:endParaRPr lang="en-US" sz="850" dirty="0"/>
          </a:p>
        </p:txBody>
      </p:sp>
      <p:sp>
        <p:nvSpPr>
          <p:cNvPr id="35" name="blk_c22"/>
          <p:cNvSpPr/>
          <p:nvPr/>
        </p:nvSpPr>
        <p:spPr>
          <a:xfrm>
            <a:off x="3474720" y="3566160"/>
            <a:ext cx="1005840" cy="658368"/>
          </a:xfrm>
          <a:prstGeom prst="roundRect">
            <a:avLst>
              <a:gd name="adj" fmla="val 8333"/>
            </a:avLst>
          </a:prstGeom>
          <a:solidFill>
            <a:srgbClr val="F2F2F2"/>
          </a:solidFill>
          <a:ln w="9525">
            <a:solidFill>
              <a:srgbClr val="F2F2F2"/>
            </a:solidFill>
          </a:ln>
        </p:spPr>
        <p:txBody>
          <a:bodyPr wrap="square" lIns="254" tIns="254" rIns="254" bIns="254"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a:t>
            </a:r>
            <a:endParaRPr lang="en-US" sz="850" dirty="0"/>
          </a:p>
        </p:txBody>
      </p:sp>
      <p:sp>
        <p:nvSpPr>
          <p:cNvPr id="36" name="blk_base"/>
          <p:cNvSpPr/>
          <p:nvPr/>
        </p:nvSpPr>
        <p:spPr>
          <a:xfrm>
            <a:off x="1371600" y="4297680"/>
            <a:ext cx="3108960" cy="384048"/>
          </a:xfrm>
          <a:prstGeom prst="roundRect">
            <a:avLst>
              <a:gd name="adj" fmla="val 14286"/>
            </a:avLst>
          </a:prstGeom>
          <a:solidFill>
            <a:srgbClr val="F2F2F2"/>
          </a:solidFill>
          <a:ln w="9525">
            <a:solidFill>
              <a:srgbClr val="D9D9D9"/>
            </a:solidFill>
          </a:ln>
        </p:spPr>
        <p:txBody>
          <a:bodyPr wrap="square" lIns="508" tIns="508" rIns="508" bIns="508"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電力付きの建屋(開発事業者が建てて 15〜19 年で貸す)</a:t>
            </a:r>
            <a:endParaRPr lang="en-US" sz="850" dirty="0"/>
          </a:p>
        </p:txBody>
      </p:sp>
      <p:sp>
        <p:nvSpPr>
          <p:cNvPr id="37" name="blk_legend"/>
          <p:cNvSpPr txBox="1"/>
          <p:nvPr/>
        </p:nvSpPr>
        <p:spPr>
          <a:xfrm>
            <a:off x="457200" y="4754880"/>
            <a:ext cx="4069080" cy="292608"/>
          </a:xfrm>
          <a:prstGeom prst="rect">
            <a:avLst/>
          </a:prstGeom>
          <a:noFill/>
          <a:ln/>
        </p:spPr>
        <p:txBody>
          <a:bodyPr wrap="square" lIns="0" tIns="0" rIns="0" bIns="0" rtlCol="0" anchor="ctr"/>
          <a:lstStyle/>
          <a:p>
            <a:pPr indent="0" marL="0">
              <a:buNone/>
            </a:pPr>
            <a:r>
              <a:rPr lang="en-US" sz="850" dirty="0">
                <a:solidFill>
                  <a:srgbClr val="767676"/>
                </a:solidFill>
                <a:latin typeface="Meiryo UI" pitchFamily="34" charset="0"/>
                <a:ea typeface="Meiryo UI" pitchFamily="34" charset="-122"/>
                <a:cs typeface="Meiryo UI" pitchFamily="34" charset="-120"/>
              </a:rPr>
              <a:t>濃緑 = 利益の柱、緑 = 成長、薄緑 = 上積み</a:t>
            </a:r>
            <a:endParaRPr lang="en-US" sz="850" dirty="0"/>
          </a:p>
        </p:txBody>
      </p:sp>
      <p:sp>
        <p:nvSpPr>
          <p:cNvPr id="38" name="pane_head"/>
          <p:cNvSpPr txBox="1"/>
          <p:nvPr/>
        </p:nvSpPr>
        <p:spPr>
          <a:xfrm>
            <a:off x="4709160" y="1481328"/>
            <a:ext cx="7022592"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8 群の 5W1H 台帳(売上は Q1 FY27 の報告区分)</a:t>
            </a:r>
            <a:endParaRPr lang="en-US" sz="1200" dirty="0"/>
          </a:p>
        </p:txBody>
      </p:sp>
      <p:graphicFrame>
        <p:nvGraphicFramePr>
          <p:cNvPr id="9" name="tbl"/>
          <p:cNvGraphicFramePr>
            <a:graphicFrameLocks noGrp="1"/>
          </p:cNvGraphicFramePr>
          <p:nvPr>
            <p:extLst>
              <p:ext uri="{D42A27DB-BD31-4B8C-83A1-F6EECF244321}">
                <p14:modId xmlns:p14="http://schemas.microsoft.com/office/powerpoint/2010/main" val="1579011935"/>
              </p:ext>
            </p:extLst>
          </p:nvPr>
        </p:nvGraphicFramePr>
        <p:xfrm>
          <a:off x="4709160" y="1810512"/>
          <a:ext cx="7022592" cy="914400"/>
        </p:xfrm>
        <a:graphic>
          <a:graphicData uri="http://schemas.openxmlformats.org/drawingml/2006/table">
            <a:tbl>
              <a:tblPr/>
              <a:tblGrid>
                <a:gridCol w="1417320"/>
                <a:gridCol w="1600200"/>
                <a:gridCol w="2103120"/>
                <a:gridCol w="1188720"/>
                <a:gridCol w="713232"/>
              </a:tblGrid>
              <a:tr h="365760">
                <a:tc>
                  <a:txBody>
                    <a:bodyPr/>
                    <a:lstStyle/>
                    <a:p>
                      <a:pPr algn="l" indent="0" marL="0">
                        <a:buNone/>
                      </a:pPr>
                      <a:r>
                        <a:rPr lang="en-US" sz="850" b="1" dirty="0">
                          <a:solidFill>
                            <a:srgbClr val="FFFFFF"/>
                          </a:solidFill>
                          <a:latin typeface="Meiryo UI" pitchFamily="34" charset="0"/>
                          <a:ea typeface="Meiryo UI" pitchFamily="34" charset="-122"/>
                          <a:cs typeface="Meiryo UI" pitchFamily="34" charset="-120"/>
                        </a:rPr>
                        <a:t>群</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850" b="1" dirty="0">
                          <a:solidFill>
                            <a:srgbClr val="FFFFFF"/>
                          </a:solidFill>
                          <a:latin typeface="Meiryo UI" pitchFamily="34" charset="0"/>
                          <a:ea typeface="Meiryo UI" pitchFamily="34" charset="-122"/>
                          <a:cs typeface="Meiryo UI" pitchFamily="34" charset="-120"/>
                        </a:rPr>
                        <a:t>誰が買う</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850" b="1" dirty="0">
                          <a:solidFill>
                            <a:srgbClr val="FFFFFF"/>
                          </a:solidFill>
                          <a:latin typeface="Meiryo UI" pitchFamily="34" charset="0"/>
                          <a:ea typeface="Meiryo UI" pitchFamily="34" charset="-122"/>
                          <a:cs typeface="Meiryo UI" pitchFamily="34" charset="-120"/>
                        </a:rPr>
                        <a:t>何を・どう課金</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850" b="1" dirty="0">
                          <a:solidFill>
                            <a:srgbClr val="FFFFFF"/>
                          </a:solidFill>
                          <a:latin typeface="Meiryo UI" pitchFamily="34" charset="0"/>
                          <a:ea typeface="Meiryo UI" pitchFamily="34" charset="-122"/>
                          <a:cs typeface="Meiryo UI" pitchFamily="34" charset="-120"/>
                        </a:rPr>
                        <a:t>売上(前年比)</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850" b="1" dirty="0">
                          <a:solidFill>
                            <a:srgbClr val="FFFFFF"/>
                          </a:solidFill>
                          <a:latin typeface="Meiryo UI" pitchFamily="34" charset="0"/>
                          <a:ea typeface="Meiryo UI" pitchFamily="34" charset="-122"/>
                          <a:cs typeface="Meiryo UI" pitchFamily="34" charset="-120"/>
                        </a:rPr>
                        <a:t>役割</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65760">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DB ライセンス・保守</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(Java・旧来アプリ含む)</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既存の大企業・官公庁</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Java は全業種</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DB はプロセッサ単位 + 保守は年 22%</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Java は従業員数 × 月額</a:t>
                      </a:r>
                      <a:endParaRPr lang="en-US" sz="850" dirty="0">
                        <a:latin typeface="Meiryo UI" charset="0"/>
                        <a:ea typeface="Meiryo UI" charset="0"/>
                        <a:cs typeface="Meiryo UI" charset="0"/>
                      </a:endParaRPr>
                    </a:p>
                  </a:txBody>
                  <a:tcPr marL="54864" marR="0"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Software 区分</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55.5 億ドル(−3%)</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E4D33"/>
                          </a:solidFill>
                          <a:latin typeface="Meiryo UI" pitchFamily="34" charset="0"/>
                          <a:ea typeface="Meiryo UI" pitchFamily="34" charset="-122"/>
                          <a:cs typeface="Meiryo UI" pitchFamily="34" charset="-120"/>
                        </a:rPr>
                        <a:t>利益の柱</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65760">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OCI 一般・主権クラウド</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企業全般。主権は NRI・</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富士通・中東の通信会社</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計算・保存・通信の従量課金</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主権は最低 5 年のコミット</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IaaS 区分 74 億ドル</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(+121%、AI 含む)</a:t>
                      </a:r>
                      <a:endParaRPr lang="en-US" sz="850" dirty="0">
                        <a:latin typeface="Meiryo UI" charset="0"/>
                        <a:ea typeface="Meiryo UI" charset="0"/>
                        <a:cs typeface="Meiryo UI" charset="0"/>
                      </a:endParaRPr>
                    </a:p>
                  </a:txBody>
                  <a:tcPr marL="54864" marR="0"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b="1" dirty="0">
                          <a:solidFill>
                            <a:srgbClr val="197A56"/>
                          </a:solidFill>
                          <a:latin typeface="Meiryo UI" pitchFamily="34" charset="0"/>
                          <a:ea typeface="Meiryo UI" pitchFamily="34" charset="-122"/>
                          <a:cs typeface="Meiryo UI" pitchFamily="34" charset="-120"/>
                        </a:rPr>
                        <a:t>成長</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65760">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AI 容量</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OpenAI・xAI・Meta など</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AI 研究所</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GPU 時間(H100 定価 10 ドル/時)</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例: 6 年 600 億ドル。更新 +20%</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IaaS 区分に含む</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(単独は非開示)</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97A56"/>
                          </a:solidFill>
                          <a:latin typeface="Meiryo UI" pitchFamily="34" charset="0"/>
                          <a:ea typeface="Meiryo UI" pitchFamily="34" charset="-122"/>
                          <a:cs typeface="Meiryo UI" pitchFamily="34" charset="-120"/>
                        </a:rPr>
                        <a:t>成長の主因</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65760">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Database@</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Oracle DB を他社クラウドで</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使う企業(顧客数 +180%)</a:t>
                      </a:r>
                      <a:endParaRPr lang="en-US" sz="850" dirty="0">
                        <a:latin typeface="Meiryo UI" charset="0"/>
                        <a:ea typeface="Meiryo UI" charset="0"/>
                        <a:cs typeface="Meiryo UI" charset="0"/>
                      </a:endParaRPr>
                    </a:p>
                  </a:txBody>
                  <a:tcPr marL="54864" marR="0"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他社の DC 内で Exadata・</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Autonomous を稼働。ECPU 時間課金</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+353%</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(額は非開示)</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1BA1A6"/>
                          </a:solidFill>
                          <a:latin typeface="Meiryo UI" pitchFamily="34" charset="0"/>
                          <a:ea typeface="Meiryo UI" pitchFamily="34" charset="-122"/>
                          <a:cs typeface="Meiryo UI" pitchFamily="34" charset="-120"/>
                        </a:rPr>
                        <a:t>上積み</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65760">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Autonomous・Exadata</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大規模な Oracle DB の</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既存顧客</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ECPU 時間で課金</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Cloud@Customer は 4 年のサブスク</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Hardware 区分</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約 8 億ドル(+15%)</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767676"/>
                          </a:solidFill>
                          <a:latin typeface="Meiryo UI" pitchFamily="34" charset="0"/>
                          <a:ea typeface="Meiryo UI" pitchFamily="34" charset="-122"/>
                          <a:cs typeface="Meiryo UI" pitchFamily="34" charset="-120"/>
                        </a:rPr>
                        <a:t>DB の器</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65760">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SaaS</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(Fusion・NetSuite)</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大企業(Fusion)</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中堅(NetSuite)</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従業員数・ユーザー数 × 月額</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AI エージェントは追加料金なし</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SaaS 区分</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42 億ドル(+10%)</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1BA1A6"/>
                          </a:solidFill>
                          <a:latin typeface="Meiryo UI" pitchFamily="34" charset="0"/>
                          <a:ea typeface="Meiryo UI" pitchFamily="34" charset="-122"/>
                          <a:cs typeface="Meiryo UI" pitchFamily="34" charset="-120"/>
                        </a:rPr>
                        <a:t>上積み</a:t>
                      </a:r>
                      <a:endParaRPr lang="en-US" sz="850" dirty="0">
                        <a:latin typeface="Meiryo UI" charset="0"/>
                        <a:ea typeface="Meiryo UI" charset="0"/>
                        <a:cs typeface="Meiryo UI" charset="0"/>
                      </a:endParaRPr>
                    </a:p>
                    <a:p>
                      <a:pPr algn="ctr" indent="0" marL="0">
                        <a:buNone/>
                      </a:pPr>
                      <a:r>
                        <a:rPr lang="en-US" sz="850" dirty="0">
                          <a:solidFill>
                            <a:srgbClr val="1BA1A6"/>
                          </a:solidFill>
                          <a:latin typeface="Meiryo UI" pitchFamily="34" charset="0"/>
                          <a:ea typeface="Meiryo UI" pitchFamily="34" charset="-122"/>
                          <a:cs typeface="Meiryo UI" pitchFamily="34" charset="-120"/>
                        </a:rPr>
                        <a:t>(加速候補)</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65760">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業種別・Oracle Health</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病院・退役軍人省</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ホテル・銀行・小売</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契約ごと</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電子カルテは上限額方式</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業種別 +20% 超</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(額は非開示)</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767676"/>
                          </a:solidFill>
                          <a:latin typeface="Meiryo UI" pitchFamily="34" charset="0"/>
                          <a:ea typeface="Meiryo UI" pitchFamily="34" charset="-122"/>
                          <a:cs typeface="Meiryo UI" pitchFamily="34" charset="-120"/>
                        </a:rPr>
                        <a:t>選択的</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65760">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サービス</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Fusion・OCI・Health の</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導入顧客</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導入・移行・運用支援</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工数・固定額</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14.1 億ドル</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(+4.8%)</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767676"/>
                          </a:solidFill>
                          <a:latin typeface="Meiryo UI" pitchFamily="34" charset="0"/>
                          <a:ea typeface="Meiryo UI" pitchFamily="34" charset="-122"/>
                          <a:cs typeface="Meiryo UI" pitchFamily="34" charset="-120"/>
                        </a:rPr>
                        <a:t>付随</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40" name="pane_head"/>
          <p:cNvSpPr txBox="1"/>
          <p:nvPr/>
        </p:nvSpPr>
        <p:spPr>
          <a:xfrm>
            <a:off x="457200" y="5102352"/>
            <a:ext cx="11274552"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用語の注釈(この資料に出てくる順)</a:t>
            </a:r>
            <a:endParaRPr lang="en-US" sz="1200" dirty="0"/>
          </a:p>
        </p:txBody>
      </p:sp>
      <p:sp>
        <p:nvSpPr>
          <p:cNvPr id="41" name="note_0"/>
          <p:cNvSpPr txBox="1"/>
          <p:nvPr/>
        </p:nvSpPr>
        <p:spPr>
          <a:xfrm>
            <a:off x="457200" y="541324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OCI</a:t>
            </a:r>
            <a:r>
              <a:rPr lang="en-US" sz="850" dirty="0">
                <a:solidFill>
                  <a:srgbClr val="333333"/>
                </a:solidFill>
                <a:latin typeface="Meiryo UI" pitchFamily="34" charset="0"/>
                <a:ea typeface="Meiryo UI" pitchFamily="34" charset="-122"/>
                <a:cs typeface="Meiryo UI" pitchFamily="34" charset="-120"/>
              </a:rPr>
              <a:t> — Oracle のクラウド。計算・保存・通信を従量で貸す</a:t>
            </a:r>
            <a:endParaRPr lang="en-US" sz="850" dirty="0"/>
          </a:p>
        </p:txBody>
      </p:sp>
      <p:sp>
        <p:nvSpPr>
          <p:cNvPr id="42" name="note_1"/>
          <p:cNvSpPr txBox="1"/>
          <p:nvPr/>
        </p:nvSpPr>
        <p:spPr>
          <a:xfrm>
            <a:off x="457200" y="559612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AI 容量</a:t>
            </a:r>
            <a:r>
              <a:rPr lang="en-US" sz="850" dirty="0">
                <a:solidFill>
                  <a:srgbClr val="333333"/>
                </a:solidFill>
                <a:latin typeface="Meiryo UI" pitchFamily="34" charset="0"/>
                <a:ea typeface="Meiryo UI" pitchFamily="34" charset="-122"/>
                <a:cs typeface="Meiryo UI" pitchFamily="34" charset="-120"/>
              </a:rPr>
              <a:t> — AI 用の GPU 計算力の貸出。OCI の一部</a:t>
            </a:r>
            <a:endParaRPr lang="en-US" sz="850" dirty="0"/>
          </a:p>
        </p:txBody>
      </p:sp>
      <p:sp>
        <p:nvSpPr>
          <p:cNvPr id="43" name="note_2"/>
          <p:cNvSpPr txBox="1"/>
          <p:nvPr/>
        </p:nvSpPr>
        <p:spPr>
          <a:xfrm>
            <a:off x="457200" y="577900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GW(ギガワット)</a:t>
            </a:r>
            <a:r>
              <a:rPr lang="en-US" sz="850" dirty="0">
                <a:solidFill>
                  <a:srgbClr val="333333"/>
                </a:solidFill>
                <a:latin typeface="Meiryo UI" pitchFamily="34" charset="0"/>
                <a:ea typeface="Meiryo UI" pitchFamily="34" charset="-122"/>
                <a:cs typeface="Meiryo UI" pitchFamily="34" charset="-120"/>
              </a:rPr>
              <a:t> — データセンターの電力容量。AI 容量の規模の単位</a:t>
            </a:r>
            <a:endParaRPr lang="en-US" sz="850" dirty="0"/>
          </a:p>
        </p:txBody>
      </p:sp>
      <p:sp>
        <p:nvSpPr>
          <p:cNvPr id="44" name="note_3"/>
          <p:cNvSpPr txBox="1"/>
          <p:nvPr/>
        </p:nvSpPr>
        <p:spPr>
          <a:xfrm>
            <a:off x="457200" y="596188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受注残(RPO)</a:t>
            </a:r>
            <a:r>
              <a:rPr lang="en-US" sz="850" dirty="0">
                <a:solidFill>
                  <a:srgbClr val="333333"/>
                </a:solidFill>
                <a:latin typeface="Meiryo UI" pitchFamily="34" charset="0"/>
                <a:ea typeface="Meiryo UI" pitchFamily="34" charset="-122"/>
                <a:cs typeface="Meiryo UI" pitchFamily="34" charset="-120"/>
              </a:rPr>
              <a:t> — 契約済みでまだ売上にしていない額。6,640 億ドル</a:t>
            </a:r>
            <a:endParaRPr lang="en-US" sz="850" dirty="0"/>
          </a:p>
        </p:txBody>
      </p:sp>
      <p:sp>
        <p:nvSpPr>
          <p:cNvPr id="45" name="note_4"/>
          <p:cNvSpPr txBox="1"/>
          <p:nvPr/>
        </p:nvSpPr>
        <p:spPr>
          <a:xfrm>
            <a:off x="4251960" y="541324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Database@</a:t>
            </a:r>
            <a:r>
              <a:rPr lang="en-US" sz="850" dirty="0">
                <a:solidFill>
                  <a:srgbClr val="333333"/>
                </a:solidFill>
                <a:latin typeface="Meiryo UI" pitchFamily="34" charset="0"/>
                <a:ea typeface="Meiryo UI" pitchFamily="34" charset="-122"/>
                <a:cs typeface="Meiryo UI" pitchFamily="34" charset="-120"/>
              </a:rPr>
              <a:t> — 他社クラウドの DC 内で動く Oracle DB</a:t>
            </a:r>
            <a:endParaRPr lang="en-US" sz="850" dirty="0"/>
          </a:p>
        </p:txBody>
      </p:sp>
      <p:sp>
        <p:nvSpPr>
          <p:cNvPr id="46" name="note_5"/>
          <p:cNvSpPr txBox="1"/>
          <p:nvPr/>
        </p:nvSpPr>
        <p:spPr>
          <a:xfrm>
            <a:off x="4251960" y="559612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Exadata・Autonomous</a:t>
            </a:r>
            <a:r>
              <a:rPr lang="en-US" sz="850" dirty="0">
                <a:solidFill>
                  <a:srgbClr val="333333"/>
                </a:solidFill>
                <a:latin typeface="Meiryo UI" pitchFamily="34" charset="0"/>
                <a:ea typeface="Meiryo UI" pitchFamily="34" charset="-122"/>
                <a:cs typeface="Meiryo UI" pitchFamily="34" charset="-120"/>
              </a:rPr>
              <a:t> — DB 専用の機械と、運用を自動化した DB</a:t>
            </a:r>
            <a:endParaRPr lang="en-US" sz="850" dirty="0"/>
          </a:p>
        </p:txBody>
      </p:sp>
      <p:sp>
        <p:nvSpPr>
          <p:cNvPr id="47" name="note_6"/>
          <p:cNvSpPr txBox="1"/>
          <p:nvPr/>
        </p:nvSpPr>
        <p:spPr>
          <a:xfrm>
            <a:off x="4251960" y="577900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AI Database 26ai</a:t>
            </a:r>
            <a:r>
              <a:rPr lang="en-US" sz="850" dirty="0">
                <a:solidFill>
                  <a:srgbClr val="333333"/>
                </a:solidFill>
                <a:latin typeface="Meiryo UI" pitchFamily="34" charset="0"/>
                <a:ea typeface="Meiryo UI" pitchFamily="34" charset="-122"/>
                <a:cs typeface="Meiryo UI" pitchFamily="34" charset="-120"/>
              </a:rPr>
              <a:t> — AI 検索とエージェントを内蔵した DB の最新版</a:t>
            </a:r>
            <a:endParaRPr lang="en-US" sz="850" dirty="0"/>
          </a:p>
        </p:txBody>
      </p:sp>
      <p:sp>
        <p:nvSpPr>
          <p:cNvPr id="48" name="note_7"/>
          <p:cNvSpPr txBox="1"/>
          <p:nvPr/>
        </p:nvSpPr>
        <p:spPr>
          <a:xfrm>
            <a:off x="4251960" y="596188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保守(サポート)</a:t>
            </a:r>
            <a:r>
              <a:rPr lang="en-US" sz="850" dirty="0">
                <a:solidFill>
                  <a:srgbClr val="333333"/>
                </a:solidFill>
                <a:latin typeface="Meiryo UI" pitchFamily="34" charset="0"/>
                <a:ea typeface="Meiryo UI" pitchFamily="34" charset="-122"/>
                <a:cs typeface="Meiryo UI" pitchFamily="34" charset="-120"/>
              </a:rPr>
              <a:t> — ライセンス価格の年 22% を毎年払う更新料</a:t>
            </a:r>
            <a:endParaRPr lang="en-US" sz="850" dirty="0"/>
          </a:p>
        </p:txBody>
      </p:sp>
      <p:sp>
        <p:nvSpPr>
          <p:cNvPr id="49" name="note_8"/>
          <p:cNvSpPr txBox="1"/>
          <p:nvPr/>
        </p:nvSpPr>
        <p:spPr>
          <a:xfrm>
            <a:off x="8046720" y="541324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BYOL</a:t>
            </a:r>
            <a:r>
              <a:rPr lang="en-US" sz="850" dirty="0">
                <a:solidFill>
                  <a:srgbClr val="333333"/>
                </a:solidFill>
                <a:latin typeface="Meiryo UI" pitchFamily="34" charset="0"/>
                <a:ea typeface="Meiryo UI" pitchFamily="34" charset="-122"/>
                <a:cs typeface="Meiryo UI" pitchFamily="34" charset="-120"/>
              </a:rPr>
              <a:t> — 持っているライセンスをクラウドへ持ち込むこと</a:t>
            </a:r>
            <a:endParaRPr lang="en-US" sz="850" dirty="0"/>
          </a:p>
        </p:txBody>
      </p:sp>
      <p:sp>
        <p:nvSpPr>
          <p:cNvPr id="50" name="note_9"/>
          <p:cNvSpPr txBox="1"/>
          <p:nvPr/>
        </p:nvSpPr>
        <p:spPr>
          <a:xfrm>
            <a:off x="8046720" y="559612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ソブリンクラウド</a:t>
            </a:r>
            <a:r>
              <a:rPr lang="en-US" sz="850" dirty="0">
                <a:solidFill>
                  <a:srgbClr val="333333"/>
                </a:solidFill>
                <a:latin typeface="Meiryo UI" pitchFamily="34" charset="0"/>
                <a:ea typeface="Meiryo UI" pitchFamily="34" charset="-122"/>
                <a:cs typeface="Meiryo UI" pitchFamily="34" charset="-120"/>
              </a:rPr>
              <a:t> — データを国内に置く政府・規制業種向け</a:t>
            </a:r>
            <a:endParaRPr lang="en-US" sz="850" dirty="0"/>
          </a:p>
        </p:txBody>
      </p:sp>
      <p:sp>
        <p:nvSpPr>
          <p:cNvPr id="51" name="note_10"/>
          <p:cNvSpPr txBox="1"/>
          <p:nvPr/>
        </p:nvSpPr>
        <p:spPr>
          <a:xfrm>
            <a:off x="8046720" y="577900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ネオクラウド</a:t>
            </a:r>
            <a:r>
              <a:rPr lang="en-US" sz="850" dirty="0">
                <a:solidFill>
                  <a:srgbClr val="333333"/>
                </a:solidFill>
                <a:latin typeface="Meiryo UI" pitchFamily="34" charset="0"/>
                <a:ea typeface="Meiryo UI" pitchFamily="34" charset="-122"/>
                <a:cs typeface="Meiryo UI" pitchFamily="34" charset="-120"/>
              </a:rPr>
              <a:t> — GPU 貸出の専業(CoreWeave・Nebius など)</a:t>
            </a:r>
            <a:endParaRPr lang="en-US" sz="850" dirty="0"/>
          </a:p>
        </p:txBody>
      </p:sp>
      <p:sp>
        <p:nvSpPr>
          <p:cNvPr id="52" name="note_11"/>
          <p:cNvSpPr txBox="1"/>
          <p:nvPr/>
        </p:nvSpPr>
        <p:spPr>
          <a:xfrm>
            <a:off x="8046720" y="596188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事業実態 EPS</a:t>
            </a:r>
            <a:r>
              <a:rPr lang="en-US" sz="850" dirty="0">
                <a:solidFill>
                  <a:srgbClr val="333333"/>
                </a:solidFill>
                <a:latin typeface="Meiryo UI" pitchFamily="34" charset="0"/>
                <a:ea typeface="Meiryo UI" pitchFamily="34" charset="-122"/>
                <a:cs typeface="Meiryo UI" pitchFamily="34" charset="-120"/>
              </a:rPr>
              <a:t> — 非GAAP EPS から株式報酬(税引後)を引いた EPS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2-1 事業理解(2/3)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事業理解</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事業どうしが顧客と資金をどう受け渡すかを見る。単体の売上より、つながりが成長を生むため</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DB の顧客基盤が OCI・Database@・AI Database へ顧客を送り、</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DB の現金と顧客の前払い・他人の建屋が AI 容量の建設を支える</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顧客 → Oracle の事業(稼ぐ柱 → 伸びる柱)。右: 提携先と資本の出し手。①〜⑦ は右の「仕組み」と対応。売上は Q1 FY27(2026 年 6〜8 月)</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report/r3_sections_5w1h_f20.md §2-0・§3-4、research2/R4_database_at.md、10-Q と決算資料(Q4 FY26・Q1 FY27)、calc/prereg2.md(コアの税引後利益)</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9</a:t>
            </a:r>
            <a:endParaRPr lang="en-US" sz="800" dirty="0"/>
          </a:p>
        </p:txBody>
      </p:sp>
      <p:sp>
        <p:nvSpPr>
          <p:cNvPr id="19" name="bg_lane0"/>
          <p:cNvSpPr/>
          <p:nvPr/>
        </p:nvSpPr>
        <p:spPr>
          <a:xfrm>
            <a:off x="347472" y="1517904"/>
            <a:ext cx="1426464" cy="4315968"/>
          </a:xfrm>
          <a:prstGeom prst="rect">
            <a:avLst/>
          </a:prstGeom>
          <a:solidFill>
            <a:srgbClr val="F2F2F2"/>
          </a:solidFill>
          <a:ln w="12700">
            <a:solidFill>
              <a:srgbClr val="F2F2F2"/>
            </a:solidFill>
            <a:prstDash val="solid"/>
          </a:ln>
        </p:spPr>
      </p:sp>
      <p:sp>
        <p:nvSpPr>
          <p:cNvPr id="20" name="bg_laneh0"/>
          <p:cNvSpPr/>
          <p:nvPr/>
        </p:nvSpPr>
        <p:spPr>
          <a:xfrm>
            <a:off x="347472" y="1517904"/>
            <a:ext cx="1426464" cy="274320"/>
          </a:xfrm>
          <a:prstGeom prst="rect">
            <a:avLst/>
          </a:prstGeom>
          <a:solidFill>
            <a:srgbClr val="D9D9D9"/>
          </a:solidFill>
          <a:ln w="12700">
            <a:solidFill>
              <a:srgbClr val="D9D9D9"/>
            </a:solidFill>
            <a:prstDash val="solid"/>
          </a:ln>
        </p:spPr>
      </p:sp>
      <p:sp>
        <p:nvSpPr>
          <p:cNvPr id="21" name="bg_lanet0"/>
          <p:cNvSpPr txBox="1"/>
          <p:nvPr/>
        </p:nvSpPr>
        <p:spPr>
          <a:xfrm>
            <a:off x="347472" y="1517904"/>
            <a:ext cx="1426464"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顧客</a:t>
            </a:r>
            <a:endParaRPr lang="en-US" sz="950" dirty="0"/>
          </a:p>
        </p:txBody>
      </p:sp>
      <p:sp>
        <p:nvSpPr>
          <p:cNvPr id="22" name="bg_lane1"/>
          <p:cNvSpPr/>
          <p:nvPr/>
        </p:nvSpPr>
        <p:spPr>
          <a:xfrm>
            <a:off x="2484120" y="1517904"/>
            <a:ext cx="3764280" cy="4315968"/>
          </a:xfrm>
          <a:prstGeom prst="rect">
            <a:avLst/>
          </a:prstGeom>
          <a:solidFill>
            <a:srgbClr val="EAF4EE"/>
          </a:solidFill>
          <a:ln w="12700">
            <a:solidFill>
              <a:srgbClr val="EAF4EE"/>
            </a:solidFill>
            <a:prstDash val="solid"/>
          </a:ln>
        </p:spPr>
      </p:sp>
      <p:sp>
        <p:nvSpPr>
          <p:cNvPr id="23" name="bg_laneh1"/>
          <p:cNvSpPr/>
          <p:nvPr/>
        </p:nvSpPr>
        <p:spPr>
          <a:xfrm>
            <a:off x="2484120" y="1517904"/>
            <a:ext cx="3764280" cy="274320"/>
          </a:xfrm>
          <a:prstGeom prst="rect">
            <a:avLst/>
          </a:prstGeom>
          <a:solidFill>
            <a:srgbClr val="197A56"/>
          </a:solidFill>
          <a:ln w="12700">
            <a:solidFill>
              <a:srgbClr val="197A56"/>
            </a:solidFill>
            <a:prstDash val="solid"/>
          </a:ln>
        </p:spPr>
      </p:sp>
      <p:sp>
        <p:nvSpPr>
          <p:cNvPr id="24" name="bg_lanet1"/>
          <p:cNvSpPr txBox="1"/>
          <p:nvPr/>
        </p:nvSpPr>
        <p:spPr>
          <a:xfrm>
            <a:off x="2484120" y="1517904"/>
            <a:ext cx="376428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Oracle の事業</a:t>
            </a:r>
            <a:endParaRPr lang="en-US" sz="950" dirty="0"/>
          </a:p>
        </p:txBody>
      </p:sp>
      <p:sp>
        <p:nvSpPr>
          <p:cNvPr id="25" name="bg_lane2"/>
          <p:cNvSpPr/>
          <p:nvPr/>
        </p:nvSpPr>
        <p:spPr>
          <a:xfrm>
            <a:off x="6958584" y="1517904"/>
            <a:ext cx="1426464" cy="4315968"/>
          </a:xfrm>
          <a:prstGeom prst="rect">
            <a:avLst/>
          </a:prstGeom>
          <a:solidFill>
            <a:srgbClr val="F2F2F2"/>
          </a:solidFill>
          <a:ln w="12700">
            <a:solidFill>
              <a:srgbClr val="F2F2F2"/>
            </a:solidFill>
            <a:prstDash val="solid"/>
          </a:ln>
        </p:spPr>
      </p:sp>
      <p:sp>
        <p:nvSpPr>
          <p:cNvPr id="26" name="bg_laneh2"/>
          <p:cNvSpPr/>
          <p:nvPr/>
        </p:nvSpPr>
        <p:spPr>
          <a:xfrm>
            <a:off x="6958584" y="1517904"/>
            <a:ext cx="1426464" cy="274320"/>
          </a:xfrm>
          <a:prstGeom prst="rect">
            <a:avLst/>
          </a:prstGeom>
          <a:solidFill>
            <a:srgbClr val="D9D9D9"/>
          </a:solidFill>
          <a:ln w="12700">
            <a:solidFill>
              <a:srgbClr val="D9D9D9"/>
            </a:solidFill>
            <a:prstDash val="solid"/>
          </a:ln>
        </p:spPr>
      </p:sp>
      <p:sp>
        <p:nvSpPr>
          <p:cNvPr id="27" name="bg_lanet2"/>
          <p:cNvSpPr txBox="1"/>
          <p:nvPr/>
        </p:nvSpPr>
        <p:spPr>
          <a:xfrm>
            <a:off x="6958584" y="1517904"/>
            <a:ext cx="1426464"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提携先・資本の出し手</a:t>
            </a:r>
            <a:endParaRPr lang="en-US" sz="950" dirty="0"/>
          </a:p>
        </p:txBody>
      </p:sp>
      <p:sp>
        <p:nvSpPr>
          <p:cNvPr id="28" name="ovl_grp0"/>
          <p:cNvSpPr/>
          <p:nvPr/>
        </p:nvSpPr>
        <p:spPr>
          <a:xfrm>
            <a:off x="2529840" y="1911096"/>
            <a:ext cx="1371600" cy="2894076"/>
          </a:xfrm>
          <a:prstGeom prst="roundRect">
            <a:avLst>
              <a:gd name="adj" fmla="val 4000"/>
            </a:avLst>
          </a:prstGeom>
          <a:solidFill>
            <a:srgbClr val="FFFFFF">
              <a:alpha val="0"/>
            </a:srgbClr>
          </a:solidFill>
          <a:ln w="12700">
            <a:solidFill>
              <a:srgbClr val="197A56"/>
            </a:solidFill>
            <a:prstDash val="dash"/>
          </a:ln>
        </p:spPr>
      </p:sp>
      <p:sp>
        <p:nvSpPr>
          <p:cNvPr id="29" name="ovl_grp1"/>
          <p:cNvSpPr/>
          <p:nvPr/>
        </p:nvSpPr>
        <p:spPr>
          <a:xfrm>
            <a:off x="4703064" y="1911096"/>
            <a:ext cx="1499616" cy="3877056"/>
          </a:xfrm>
          <a:prstGeom prst="roundRect">
            <a:avLst>
              <a:gd name="adj" fmla="val 3659"/>
            </a:avLst>
          </a:prstGeom>
          <a:solidFill>
            <a:srgbClr val="FFFFFF">
              <a:alpha val="0"/>
            </a:srgbClr>
          </a:solidFill>
          <a:ln w="12700">
            <a:solidFill>
              <a:srgbClr val="197A56"/>
            </a:solidFill>
            <a:prstDash val="dash"/>
          </a:ln>
        </p:spPr>
      </p:sp>
      <p:sp>
        <p:nvSpPr>
          <p:cNvPr id="30" name="ovl_s08b_e0_0"/>
          <p:cNvSpPr/>
          <p:nvPr/>
        </p:nvSpPr>
        <p:spPr>
          <a:xfrm>
            <a:off x="1664208" y="2375154"/>
            <a:ext cx="929640" cy="914"/>
          </a:xfrm>
          <a:prstGeom prst="line">
            <a:avLst/>
          </a:prstGeom>
          <a:noFill/>
          <a:ln w="22225">
            <a:solidFill>
              <a:srgbClr val="0E4D33"/>
            </a:solidFill>
            <a:prstDash val="solid"/>
            <a:tailEnd type="triangle"/>
          </a:ln>
        </p:spPr>
      </p:sp>
      <p:sp>
        <p:nvSpPr>
          <p:cNvPr id="31" name="ovl_s08b_e1_0"/>
          <p:cNvSpPr/>
          <p:nvPr/>
        </p:nvSpPr>
        <p:spPr>
          <a:xfrm>
            <a:off x="1664208" y="3849624"/>
            <a:ext cx="929640" cy="914"/>
          </a:xfrm>
          <a:prstGeom prst="line">
            <a:avLst/>
          </a:prstGeom>
          <a:noFill/>
          <a:ln w="22225">
            <a:solidFill>
              <a:srgbClr val="0E4D33"/>
            </a:solidFill>
            <a:prstDash val="solid"/>
            <a:tailEnd type="triangle"/>
          </a:ln>
        </p:spPr>
      </p:sp>
      <p:sp>
        <p:nvSpPr>
          <p:cNvPr id="32" name="ovl_s08b_e2_0"/>
          <p:cNvSpPr/>
          <p:nvPr/>
        </p:nvSpPr>
        <p:spPr>
          <a:xfrm>
            <a:off x="3837432" y="2375154"/>
            <a:ext cx="929640" cy="914"/>
          </a:xfrm>
          <a:prstGeom prst="line">
            <a:avLst/>
          </a:prstGeom>
          <a:noFill/>
          <a:ln w="19050">
            <a:solidFill>
              <a:srgbClr val="1BA1A6"/>
            </a:solidFill>
            <a:prstDash val="solid"/>
            <a:tailEnd type="triangle"/>
          </a:ln>
        </p:spPr>
      </p:sp>
      <p:sp>
        <p:nvSpPr>
          <p:cNvPr id="33" name="ovl_s08b_e3_0"/>
          <p:cNvSpPr/>
          <p:nvPr/>
        </p:nvSpPr>
        <p:spPr>
          <a:xfrm>
            <a:off x="3837432" y="3248406"/>
            <a:ext cx="400812" cy="914"/>
          </a:xfrm>
          <a:prstGeom prst="line">
            <a:avLst/>
          </a:prstGeom>
          <a:noFill/>
          <a:ln w="19050">
            <a:solidFill>
              <a:srgbClr val="1BA1A6"/>
            </a:solidFill>
            <a:prstDash val="solid"/>
          </a:ln>
        </p:spPr>
      </p:sp>
      <p:sp>
        <p:nvSpPr>
          <p:cNvPr id="34" name="ovl_s08b_e3_1"/>
          <p:cNvSpPr/>
          <p:nvPr/>
        </p:nvSpPr>
        <p:spPr>
          <a:xfrm flipV="1">
            <a:off x="4238244" y="2484882"/>
            <a:ext cx="914" cy="763524"/>
          </a:xfrm>
          <a:prstGeom prst="line">
            <a:avLst/>
          </a:prstGeom>
          <a:noFill/>
          <a:ln w="19050">
            <a:solidFill>
              <a:srgbClr val="1BA1A6"/>
            </a:solidFill>
            <a:prstDash val="solid"/>
          </a:ln>
        </p:spPr>
      </p:sp>
      <p:sp>
        <p:nvSpPr>
          <p:cNvPr id="35" name="ovl_s08b_e3_2"/>
          <p:cNvSpPr/>
          <p:nvPr/>
        </p:nvSpPr>
        <p:spPr>
          <a:xfrm>
            <a:off x="4238244" y="2484882"/>
            <a:ext cx="528828" cy="914"/>
          </a:xfrm>
          <a:prstGeom prst="line">
            <a:avLst/>
          </a:prstGeom>
          <a:noFill/>
          <a:ln w="19050">
            <a:solidFill>
              <a:srgbClr val="1BA1A6"/>
            </a:solidFill>
            <a:prstDash val="solid"/>
            <a:tailEnd type="triangle"/>
          </a:ln>
        </p:spPr>
      </p:sp>
      <p:sp>
        <p:nvSpPr>
          <p:cNvPr id="36" name="ovl_s08b_e4_0"/>
          <p:cNvSpPr/>
          <p:nvPr/>
        </p:nvSpPr>
        <p:spPr>
          <a:xfrm>
            <a:off x="3837432" y="3358134"/>
            <a:ext cx="929640" cy="914"/>
          </a:xfrm>
          <a:prstGeom prst="line">
            <a:avLst/>
          </a:prstGeom>
          <a:noFill/>
          <a:ln w="19050">
            <a:solidFill>
              <a:srgbClr val="1BA1A6"/>
            </a:solidFill>
            <a:prstDash val="solid"/>
            <a:tailEnd type="triangle"/>
          </a:ln>
        </p:spPr>
      </p:sp>
      <p:sp>
        <p:nvSpPr>
          <p:cNvPr id="37" name="ovl_s08b_e5_0"/>
          <p:cNvSpPr/>
          <p:nvPr/>
        </p:nvSpPr>
        <p:spPr>
          <a:xfrm>
            <a:off x="6138672" y="3358134"/>
            <a:ext cx="400812" cy="914"/>
          </a:xfrm>
          <a:prstGeom prst="line">
            <a:avLst/>
          </a:prstGeom>
          <a:noFill/>
          <a:ln w="12700">
            <a:solidFill>
              <a:srgbClr val="767676"/>
            </a:solidFill>
            <a:prstDash val="sysDash"/>
          </a:ln>
        </p:spPr>
      </p:sp>
      <p:sp>
        <p:nvSpPr>
          <p:cNvPr id="38" name="ovl_s08b_e5_1"/>
          <p:cNvSpPr/>
          <p:nvPr/>
        </p:nvSpPr>
        <p:spPr>
          <a:xfrm flipV="1">
            <a:off x="6539484" y="2375154"/>
            <a:ext cx="914" cy="982980"/>
          </a:xfrm>
          <a:prstGeom prst="line">
            <a:avLst/>
          </a:prstGeom>
          <a:noFill/>
          <a:ln w="12700">
            <a:solidFill>
              <a:srgbClr val="767676"/>
            </a:solidFill>
            <a:prstDash val="sysDash"/>
          </a:ln>
        </p:spPr>
      </p:sp>
      <p:sp>
        <p:nvSpPr>
          <p:cNvPr id="39" name="ovl_s08b_e5_2"/>
          <p:cNvSpPr/>
          <p:nvPr/>
        </p:nvSpPr>
        <p:spPr>
          <a:xfrm>
            <a:off x="6539484" y="2375154"/>
            <a:ext cx="528828" cy="914"/>
          </a:xfrm>
          <a:prstGeom prst="line">
            <a:avLst/>
          </a:prstGeom>
          <a:noFill/>
          <a:ln w="12700">
            <a:solidFill>
              <a:srgbClr val="767676"/>
            </a:solidFill>
            <a:prstDash val="sysDash"/>
            <a:tailEnd type="triangle"/>
          </a:ln>
        </p:spPr>
      </p:sp>
      <p:sp>
        <p:nvSpPr>
          <p:cNvPr id="40" name="ovl_s08b_e6_0"/>
          <p:cNvSpPr/>
          <p:nvPr/>
        </p:nvSpPr>
        <p:spPr>
          <a:xfrm>
            <a:off x="3837432" y="4341114"/>
            <a:ext cx="929640" cy="914"/>
          </a:xfrm>
          <a:prstGeom prst="line">
            <a:avLst/>
          </a:prstGeom>
          <a:noFill/>
          <a:ln w="19050">
            <a:solidFill>
              <a:srgbClr val="1BA1A6"/>
            </a:solidFill>
            <a:prstDash val="solid"/>
            <a:tailEnd type="triangle"/>
          </a:ln>
        </p:spPr>
      </p:sp>
      <p:sp>
        <p:nvSpPr>
          <p:cNvPr id="41" name="ovl_s08b_e7_0"/>
          <p:cNvSpPr/>
          <p:nvPr/>
        </p:nvSpPr>
        <p:spPr>
          <a:xfrm>
            <a:off x="3837432" y="4450842"/>
            <a:ext cx="528828" cy="914"/>
          </a:xfrm>
          <a:prstGeom prst="line">
            <a:avLst/>
          </a:prstGeom>
          <a:noFill/>
          <a:ln w="22225">
            <a:solidFill>
              <a:srgbClr val="0E4D33"/>
            </a:solidFill>
            <a:prstDash val="solid"/>
          </a:ln>
        </p:spPr>
      </p:sp>
      <p:sp>
        <p:nvSpPr>
          <p:cNvPr id="42" name="ovl_s08b_e7_1"/>
          <p:cNvSpPr/>
          <p:nvPr/>
        </p:nvSpPr>
        <p:spPr>
          <a:xfrm>
            <a:off x="4366260" y="4450842"/>
            <a:ext cx="914" cy="681228"/>
          </a:xfrm>
          <a:prstGeom prst="line">
            <a:avLst/>
          </a:prstGeom>
          <a:noFill/>
          <a:ln w="22225">
            <a:solidFill>
              <a:srgbClr val="0E4D33"/>
            </a:solidFill>
            <a:prstDash val="solid"/>
          </a:ln>
        </p:spPr>
      </p:sp>
      <p:sp>
        <p:nvSpPr>
          <p:cNvPr id="43" name="ovl_s08b_e7_2"/>
          <p:cNvSpPr/>
          <p:nvPr/>
        </p:nvSpPr>
        <p:spPr>
          <a:xfrm>
            <a:off x="4366260" y="5132070"/>
            <a:ext cx="400812" cy="914"/>
          </a:xfrm>
          <a:prstGeom prst="line">
            <a:avLst/>
          </a:prstGeom>
          <a:noFill/>
          <a:ln w="22225">
            <a:solidFill>
              <a:srgbClr val="0E4D33"/>
            </a:solidFill>
            <a:prstDash val="solid"/>
            <a:tailEnd type="triangle"/>
          </a:ln>
        </p:spPr>
      </p:sp>
      <p:sp>
        <p:nvSpPr>
          <p:cNvPr id="44" name="ovl_s08b_e8_0"/>
          <p:cNvSpPr/>
          <p:nvPr/>
        </p:nvSpPr>
        <p:spPr>
          <a:xfrm>
            <a:off x="1664208" y="5241798"/>
            <a:ext cx="3102864" cy="914"/>
          </a:xfrm>
          <a:prstGeom prst="line">
            <a:avLst/>
          </a:prstGeom>
          <a:noFill/>
          <a:ln w="22225">
            <a:solidFill>
              <a:srgbClr val="0E4D33"/>
            </a:solidFill>
            <a:prstDash val="solid"/>
            <a:tailEnd type="triangle"/>
          </a:ln>
        </p:spPr>
      </p:sp>
      <p:sp>
        <p:nvSpPr>
          <p:cNvPr id="45" name="ovl_s08b_e9_0"/>
          <p:cNvSpPr/>
          <p:nvPr/>
        </p:nvSpPr>
        <p:spPr>
          <a:xfrm flipH="1">
            <a:off x="1664208" y="5406390"/>
            <a:ext cx="3102864" cy="914"/>
          </a:xfrm>
          <a:prstGeom prst="line">
            <a:avLst/>
          </a:prstGeom>
          <a:noFill/>
          <a:ln w="19050">
            <a:solidFill>
              <a:srgbClr val="1BA1A6"/>
            </a:solidFill>
            <a:prstDash val="solid"/>
            <a:tailEnd type="triangle"/>
          </a:ln>
        </p:spPr>
      </p:sp>
      <p:sp>
        <p:nvSpPr>
          <p:cNvPr id="46" name="ovl_s08b_e10_0"/>
          <p:cNvSpPr/>
          <p:nvPr/>
        </p:nvSpPr>
        <p:spPr>
          <a:xfrm flipH="1">
            <a:off x="6138672" y="5324094"/>
            <a:ext cx="929640" cy="914"/>
          </a:xfrm>
          <a:prstGeom prst="line">
            <a:avLst/>
          </a:prstGeom>
          <a:noFill/>
          <a:ln w="19050">
            <a:solidFill>
              <a:srgbClr val="1BA1A6"/>
            </a:solidFill>
            <a:prstDash val="solid"/>
            <a:tailEnd type="triangle"/>
          </a:ln>
        </p:spPr>
      </p:sp>
      <p:sp>
        <p:nvSpPr>
          <p:cNvPr id="47" name="ovl_s08b_e11_0"/>
          <p:cNvSpPr/>
          <p:nvPr/>
        </p:nvSpPr>
        <p:spPr>
          <a:xfrm flipH="1">
            <a:off x="6667500" y="4341114"/>
            <a:ext cx="400812" cy="914"/>
          </a:xfrm>
          <a:prstGeom prst="line">
            <a:avLst/>
          </a:prstGeom>
          <a:noFill/>
          <a:ln w="22225">
            <a:solidFill>
              <a:srgbClr val="0E4D33"/>
            </a:solidFill>
            <a:prstDash val="solid"/>
          </a:ln>
        </p:spPr>
      </p:sp>
      <p:sp>
        <p:nvSpPr>
          <p:cNvPr id="48" name="ovl_s08b_e11_1"/>
          <p:cNvSpPr/>
          <p:nvPr/>
        </p:nvSpPr>
        <p:spPr>
          <a:xfrm>
            <a:off x="6667500" y="4341114"/>
            <a:ext cx="914" cy="873252"/>
          </a:xfrm>
          <a:prstGeom prst="line">
            <a:avLst/>
          </a:prstGeom>
          <a:noFill/>
          <a:ln w="22225">
            <a:solidFill>
              <a:srgbClr val="0E4D33"/>
            </a:solidFill>
            <a:prstDash val="solid"/>
          </a:ln>
        </p:spPr>
      </p:sp>
      <p:sp>
        <p:nvSpPr>
          <p:cNvPr id="49" name="ovl_s08b_e11_2"/>
          <p:cNvSpPr/>
          <p:nvPr/>
        </p:nvSpPr>
        <p:spPr>
          <a:xfrm flipH="1">
            <a:off x="6138672" y="5214366"/>
            <a:ext cx="528828" cy="914"/>
          </a:xfrm>
          <a:prstGeom prst="line">
            <a:avLst/>
          </a:prstGeom>
          <a:noFill/>
          <a:ln w="22225">
            <a:solidFill>
              <a:srgbClr val="0E4D33"/>
            </a:solidFill>
            <a:prstDash val="solid"/>
            <a:tailEnd type="triangle"/>
          </a:ln>
        </p:spPr>
      </p:sp>
      <p:sp>
        <p:nvSpPr>
          <p:cNvPr id="50" name="ovl_s08b_n_apps"/>
          <p:cNvSpPr/>
          <p:nvPr/>
        </p:nvSpPr>
        <p:spPr>
          <a:xfrm>
            <a:off x="457200" y="2018538"/>
            <a:ext cx="1207008" cy="713232"/>
          </a:xfrm>
          <a:prstGeom prst="roundRect">
            <a:avLst>
              <a:gd name="adj" fmla="val 7692"/>
            </a:avLst>
          </a:prstGeom>
          <a:solidFill>
            <a:srgbClr val="FFFFFF"/>
          </a:solidFill>
          <a:ln w="9525">
            <a:solidFill>
              <a:srgbClr val="767676"/>
            </a:solidFill>
            <a:prstDash val="solid"/>
          </a:ln>
        </p:spPr>
      </p:sp>
      <p:sp>
        <p:nvSpPr>
          <p:cNvPr id="51" name="ovl_s08b_nt_apps"/>
          <p:cNvSpPr txBox="1"/>
          <p:nvPr/>
        </p:nvSpPr>
        <p:spPr>
          <a:xfrm>
            <a:off x="493776" y="2045970"/>
            <a:ext cx="1133856" cy="356616"/>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業務アプリの</a:t>
            </a:r>
            <a:endParaRPr lang="en-US" sz="900" dirty="0"/>
          </a:p>
          <a:p>
            <a:pPr algn="ctr" indent="0" marL="0">
              <a:buNone/>
            </a:pPr>
            <a:r>
              <a:rPr lang="en-US" sz="900" b="1" dirty="0">
                <a:solidFill>
                  <a:srgbClr val="0E4D33"/>
                </a:solidFill>
                <a:latin typeface="Meiryo UI" pitchFamily="34" charset="0"/>
                <a:ea typeface="Meiryo UI" pitchFamily="34" charset="-122"/>
                <a:cs typeface="Meiryo UI" pitchFamily="34" charset="-120"/>
              </a:rPr>
              <a:t>利用企業</a:t>
            </a:r>
            <a:endParaRPr lang="en-US" sz="900" dirty="0"/>
          </a:p>
        </p:txBody>
      </p:sp>
      <p:sp>
        <p:nvSpPr>
          <p:cNvPr id="52" name="ovl_s08b_ns_apps"/>
          <p:cNvSpPr txBox="1"/>
          <p:nvPr/>
        </p:nvSpPr>
        <p:spPr>
          <a:xfrm>
            <a:off x="502920" y="2402586"/>
            <a:ext cx="1115568" cy="3017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大企業・中堅</a:t>
            </a:r>
            <a:endParaRPr lang="en-US" sz="850" dirty="0"/>
          </a:p>
        </p:txBody>
      </p:sp>
      <p:sp>
        <p:nvSpPr>
          <p:cNvPr id="53" name="ovl_s08b_n_ent"/>
          <p:cNvSpPr/>
          <p:nvPr/>
        </p:nvSpPr>
        <p:spPr>
          <a:xfrm>
            <a:off x="457200" y="2967228"/>
            <a:ext cx="1207008" cy="1764792"/>
          </a:xfrm>
          <a:prstGeom prst="roundRect">
            <a:avLst>
              <a:gd name="adj" fmla="val 4545"/>
            </a:avLst>
          </a:prstGeom>
          <a:solidFill>
            <a:srgbClr val="FFFFFF"/>
          </a:solidFill>
          <a:ln w="9525">
            <a:solidFill>
              <a:srgbClr val="767676"/>
            </a:solidFill>
            <a:prstDash val="solid"/>
          </a:ln>
        </p:spPr>
      </p:sp>
      <p:sp>
        <p:nvSpPr>
          <p:cNvPr id="54" name="ovl_s08b_nt_ent"/>
          <p:cNvSpPr txBox="1"/>
          <p:nvPr/>
        </p:nvSpPr>
        <p:spPr>
          <a:xfrm>
            <a:off x="493776" y="2994660"/>
            <a:ext cx="1133856"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既存の DB 顧客</a:t>
            </a:r>
            <a:endParaRPr lang="en-US" sz="1000" dirty="0"/>
          </a:p>
        </p:txBody>
      </p:sp>
      <p:sp>
        <p:nvSpPr>
          <p:cNvPr id="55" name="ovl_s08b_ns_ent"/>
          <p:cNvSpPr txBox="1"/>
          <p:nvPr/>
        </p:nvSpPr>
        <p:spPr>
          <a:xfrm>
            <a:off x="502920" y="3200400"/>
            <a:ext cx="1115568" cy="150418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大企業・官公庁</a:t>
            </a:r>
            <a:endParaRPr lang="en-US" sz="850" dirty="0"/>
          </a:p>
          <a:p>
            <a:pPr algn="ctr" indent="0" marL="0">
              <a:buNone/>
            </a:pP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DB の切替に数年</a:t>
            </a:r>
            <a:endParaRPr lang="en-US" sz="850" dirty="0"/>
          </a:p>
          <a:p>
            <a:pPr algn="ctr" indent="0" marL="0">
              <a:buNone/>
            </a:pP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他社クラウドへ</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移った企業も含む</a:t>
            </a:r>
            <a:endParaRPr lang="en-US" sz="850" dirty="0"/>
          </a:p>
        </p:txBody>
      </p:sp>
      <p:sp>
        <p:nvSpPr>
          <p:cNvPr id="56" name="ovl_s08b_n_lab"/>
          <p:cNvSpPr/>
          <p:nvPr/>
        </p:nvSpPr>
        <p:spPr>
          <a:xfrm>
            <a:off x="457200" y="4967478"/>
            <a:ext cx="1207008" cy="713232"/>
          </a:xfrm>
          <a:prstGeom prst="roundRect">
            <a:avLst>
              <a:gd name="adj" fmla="val 7692"/>
            </a:avLst>
          </a:prstGeom>
          <a:solidFill>
            <a:srgbClr val="FFFFFF"/>
          </a:solidFill>
          <a:ln w="9525">
            <a:solidFill>
              <a:srgbClr val="767676"/>
            </a:solidFill>
            <a:prstDash val="solid"/>
          </a:ln>
        </p:spPr>
      </p:sp>
      <p:sp>
        <p:nvSpPr>
          <p:cNvPr id="57" name="ovl_s08b_nt_lab"/>
          <p:cNvSpPr txBox="1"/>
          <p:nvPr/>
        </p:nvSpPr>
        <p:spPr>
          <a:xfrm>
            <a:off x="493776" y="4994910"/>
            <a:ext cx="1133856"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研究所</a:t>
            </a:r>
            <a:endParaRPr lang="en-US" sz="1000" dirty="0"/>
          </a:p>
        </p:txBody>
      </p:sp>
      <p:sp>
        <p:nvSpPr>
          <p:cNvPr id="58" name="ovl_s08b_ns_lab"/>
          <p:cNvSpPr txBox="1"/>
          <p:nvPr/>
        </p:nvSpPr>
        <p:spPr>
          <a:xfrm>
            <a:off x="502920" y="5200650"/>
            <a:ext cx="1115568" cy="4526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OpenAI・Meta・xAI</a:t>
            </a:r>
            <a:endParaRPr lang="en-US" sz="850" dirty="0"/>
          </a:p>
        </p:txBody>
      </p:sp>
      <p:sp>
        <p:nvSpPr>
          <p:cNvPr id="59" name="ovl_s08b_n_saas"/>
          <p:cNvSpPr/>
          <p:nvPr/>
        </p:nvSpPr>
        <p:spPr>
          <a:xfrm>
            <a:off x="2593848" y="2018538"/>
            <a:ext cx="1243584" cy="713232"/>
          </a:xfrm>
          <a:prstGeom prst="roundRect">
            <a:avLst>
              <a:gd name="adj" fmla="val 7692"/>
            </a:avLst>
          </a:prstGeom>
          <a:solidFill>
            <a:srgbClr val="FFFFFF"/>
          </a:solidFill>
          <a:ln w="19050">
            <a:solidFill>
              <a:srgbClr val="197A56"/>
            </a:solidFill>
            <a:prstDash val="solid"/>
          </a:ln>
        </p:spPr>
      </p:sp>
      <p:sp>
        <p:nvSpPr>
          <p:cNvPr id="60" name="ovl_s08b_nt_saas"/>
          <p:cNvSpPr txBox="1"/>
          <p:nvPr/>
        </p:nvSpPr>
        <p:spPr>
          <a:xfrm>
            <a:off x="2630424" y="2045970"/>
            <a:ext cx="1170432"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SaaS</a:t>
            </a:r>
            <a:endParaRPr lang="en-US" sz="1000" dirty="0"/>
          </a:p>
        </p:txBody>
      </p:sp>
      <p:sp>
        <p:nvSpPr>
          <p:cNvPr id="61" name="ovl_s08b_ns_saas"/>
          <p:cNvSpPr txBox="1"/>
          <p:nvPr/>
        </p:nvSpPr>
        <p:spPr>
          <a:xfrm>
            <a:off x="2639568" y="2251710"/>
            <a:ext cx="1152144" cy="4526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Fusion・NetSuite</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42 億ドル(+10%)</a:t>
            </a:r>
            <a:endParaRPr lang="en-US" sz="850" dirty="0"/>
          </a:p>
        </p:txBody>
      </p:sp>
      <p:sp>
        <p:nvSpPr>
          <p:cNvPr id="62" name="ovl_s08b_n_db"/>
          <p:cNvSpPr/>
          <p:nvPr/>
        </p:nvSpPr>
        <p:spPr>
          <a:xfrm>
            <a:off x="2593848" y="2967228"/>
            <a:ext cx="1243584" cy="1764792"/>
          </a:xfrm>
          <a:prstGeom prst="roundRect">
            <a:avLst>
              <a:gd name="adj" fmla="val 4412"/>
            </a:avLst>
          </a:prstGeom>
          <a:solidFill>
            <a:srgbClr val="0E4D33"/>
          </a:solidFill>
          <a:ln w="9525">
            <a:solidFill>
              <a:srgbClr val="0E4D33"/>
            </a:solidFill>
            <a:prstDash val="solid"/>
          </a:ln>
        </p:spPr>
      </p:sp>
      <p:sp>
        <p:nvSpPr>
          <p:cNvPr id="63" name="ovl_s08b_nt_db"/>
          <p:cNvSpPr txBox="1"/>
          <p:nvPr/>
        </p:nvSpPr>
        <p:spPr>
          <a:xfrm>
            <a:off x="2630424" y="2994660"/>
            <a:ext cx="1170432" cy="356616"/>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DB ライセンス・保守</a:t>
            </a:r>
            <a:endParaRPr lang="en-US" sz="900" dirty="0"/>
          </a:p>
        </p:txBody>
      </p:sp>
      <p:sp>
        <p:nvSpPr>
          <p:cNvPr id="64" name="ovl_s08b_ns_db"/>
          <p:cNvSpPr txBox="1"/>
          <p:nvPr/>
        </p:nvSpPr>
        <p:spPr>
          <a:xfrm>
            <a:off x="2639568" y="3351276"/>
            <a:ext cx="1152144" cy="1353312"/>
          </a:xfrm>
          <a:prstGeom prst="rect">
            <a:avLst/>
          </a:prstGeom>
          <a:noFill/>
          <a:ln/>
        </p:spPr>
        <p:txBody>
          <a:bodyPr wrap="square" lIns="0" tIns="0" rIns="0" bIns="0" rtlCol="0" anchor="t"/>
          <a:lstStyle/>
          <a:p>
            <a:pPr algn="ctr" indent="0" marL="0">
              <a:buNone/>
            </a:pPr>
            <a:r>
              <a:rPr lang="en-US" sz="850" dirty="0">
                <a:solidFill>
                  <a:srgbClr val="FFFFFF"/>
                </a:solidFill>
                <a:latin typeface="Meiryo UI" pitchFamily="34" charset="0"/>
                <a:ea typeface="Meiryo UI" pitchFamily="34" charset="-122"/>
                <a:cs typeface="Meiryo UI" pitchFamily="34" charset="-120"/>
              </a:rPr>
              <a:t>Software 区分</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55.5 億ドル(−3%)</a:t>
            </a:r>
            <a:endParaRPr lang="en-US" sz="850" dirty="0"/>
          </a:p>
          <a:p>
            <a:pPr algn="ctr" indent="0" marL="0">
              <a:buNone/>
            </a:pP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保守はライセンスの</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年 22%</a:t>
            </a:r>
            <a:endParaRPr lang="en-US" sz="850" dirty="0"/>
          </a:p>
          <a:p>
            <a:pPr algn="ctr" indent="0" marL="0">
              <a:buNone/>
            </a:pP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営業利益の柱</a:t>
            </a:r>
            <a:endParaRPr lang="en-US" sz="850" dirty="0"/>
          </a:p>
        </p:txBody>
      </p:sp>
      <p:sp>
        <p:nvSpPr>
          <p:cNvPr id="65" name="ovl_s08b_n_oci"/>
          <p:cNvSpPr/>
          <p:nvPr/>
        </p:nvSpPr>
        <p:spPr>
          <a:xfrm>
            <a:off x="4767072" y="2018538"/>
            <a:ext cx="1371600" cy="713232"/>
          </a:xfrm>
          <a:prstGeom prst="roundRect">
            <a:avLst>
              <a:gd name="adj" fmla="val 7692"/>
            </a:avLst>
          </a:prstGeom>
          <a:solidFill>
            <a:srgbClr val="FFFFFF"/>
          </a:solidFill>
          <a:ln w="19050">
            <a:solidFill>
              <a:srgbClr val="197A56"/>
            </a:solidFill>
            <a:prstDash val="solid"/>
          </a:ln>
        </p:spPr>
      </p:sp>
      <p:sp>
        <p:nvSpPr>
          <p:cNvPr id="66" name="ovl_s08b_nt_oci"/>
          <p:cNvSpPr txBox="1"/>
          <p:nvPr/>
        </p:nvSpPr>
        <p:spPr>
          <a:xfrm>
            <a:off x="4803648" y="2045970"/>
            <a:ext cx="12984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OCI 一般・主権</a:t>
            </a:r>
            <a:endParaRPr lang="en-US" sz="1000" dirty="0"/>
          </a:p>
        </p:txBody>
      </p:sp>
      <p:sp>
        <p:nvSpPr>
          <p:cNvPr id="67" name="ovl_s08b_ns_oci"/>
          <p:cNvSpPr txBox="1"/>
          <p:nvPr/>
        </p:nvSpPr>
        <p:spPr>
          <a:xfrm>
            <a:off x="4812792" y="2251710"/>
            <a:ext cx="1280160" cy="4526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計算・保存の従量課金</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主権は最低 5 年</a:t>
            </a:r>
            <a:endParaRPr lang="en-US" sz="850" dirty="0"/>
          </a:p>
        </p:txBody>
      </p:sp>
      <p:sp>
        <p:nvSpPr>
          <p:cNvPr id="68" name="ovl_s08b_n_dbat"/>
          <p:cNvSpPr/>
          <p:nvPr/>
        </p:nvSpPr>
        <p:spPr>
          <a:xfrm>
            <a:off x="4767072" y="3001518"/>
            <a:ext cx="1371600" cy="713232"/>
          </a:xfrm>
          <a:prstGeom prst="roundRect">
            <a:avLst>
              <a:gd name="adj" fmla="val 7692"/>
            </a:avLst>
          </a:prstGeom>
          <a:solidFill>
            <a:srgbClr val="FFFFFF"/>
          </a:solidFill>
          <a:ln w="19050">
            <a:solidFill>
              <a:srgbClr val="197A56"/>
            </a:solidFill>
            <a:prstDash val="solid"/>
          </a:ln>
        </p:spPr>
      </p:sp>
      <p:sp>
        <p:nvSpPr>
          <p:cNvPr id="69" name="ovl_s08b_nt_dbat"/>
          <p:cNvSpPr txBox="1"/>
          <p:nvPr/>
        </p:nvSpPr>
        <p:spPr>
          <a:xfrm>
            <a:off x="4803648" y="3028950"/>
            <a:ext cx="12984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Database@</a:t>
            </a:r>
            <a:endParaRPr lang="en-US" sz="1000" dirty="0"/>
          </a:p>
        </p:txBody>
      </p:sp>
      <p:sp>
        <p:nvSpPr>
          <p:cNvPr id="70" name="ovl_s08b_ns_dbat"/>
          <p:cNvSpPr txBox="1"/>
          <p:nvPr/>
        </p:nvSpPr>
        <p:spPr>
          <a:xfrm>
            <a:off x="4812792" y="3234690"/>
            <a:ext cx="1280160" cy="4526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他社 DC 内で稼働</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売上 +353%</a:t>
            </a:r>
            <a:endParaRPr lang="en-US" sz="850" dirty="0"/>
          </a:p>
        </p:txBody>
      </p:sp>
      <p:sp>
        <p:nvSpPr>
          <p:cNvPr id="71" name="ovl_s08b_n_aidb"/>
          <p:cNvSpPr/>
          <p:nvPr/>
        </p:nvSpPr>
        <p:spPr>
          <a:xfrm>
            <a:off x="4767072" y="3984498"/>
            <a:ext cx="1371600" cy="713232"/>
          </a:xfrm>
          <a:prstGeom prst="roundRect">
            <a:avLst>
              <a:gd name="adj" fmla="val 7692"/>
            </a:avLst>
          </a:prstGeom>
          <a:solidFill>
            <a:srgbClr val="FFFFFF"/>
          </a:solidFill>
          <a:ln w="19050">
            <a:solidFill>
              <a:srgbClr val="197A56"/>
            </a:solidFill>
            <a:prstDash val="solid"/>
          </a:ln>
        </p:spPr>
      </p:sp>
      <p:sp>
        <p:nvSpPr>
          <p:cNvPr id="72" name="ovl_s08b_nt_aidb"/>
          <p:cNvSpPr txBox="1"/>
          <p:nvPr/>
        </p:nvSpPr>
        <p:spPr>
          <a:xfrm>
            <a:off x="4803648" y="4011930"/>
            <a:ext cx="12984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Database 26ai</a:t>
            </a:r>
            <a:endParaRPr lang="en-US" sz="1000" dirty="0"/>
          </a:p>
        </p:txBody>
      </p:sp>
      <p:sp>
        <p:nvSpPr>
          <p:cNvPr id="73" name="ovl_s08b_ns_aidb"/>
          <p:cNvSpPr txBox="1"/>
          <p:nvPr/>
        </p:nvSpPr>
        <p:spPr>
          <a:xfrm>
            <a:off x="4812792" y="4217670"/>
            <a:ext cx="1280160" cy="4526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自社データで AI 推論</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売上は非開示</a:t>
            </a:r>
            <a:endParaRPr lang="en-US" sz="850" dirty="0"/>
          </a:p>
        </p:txBody>
      </p:sp>
      <p:sp>
        <p:nvSpPr>
          <p:cNvPr id="74" name="ovl_s08b_n_aicap"/>
          <p:cNvSpPr/>
          <p:nvPr/>
        </p:nvSpPr>
        <p:spPr>
          <a:xfrm>
            <a:off x="4767072" y="4967478"/>
            <a:ext cx="1371600" cy="713232"/>
          </a:xfrm>
          <a:prstGeom prst="roundRect">
            <a:avLst>
              <a:gd name="adj" fmla="val 7692"/>
            </a:avLst>
          </a:prstGeom>
          <a:solidFill>
            <a:srgbClr val="197A56"/>
          </a:solidFill>
          <a:ln w="9525">
            <a:solidFill>
              <a:srgbClr val="197A56"/>
            </a:solidFill>
            <a:prstDash val="solid"/>
          </a:ln>
        </p:spPr>
      </p:sp>
      <p:sp>
        <p:nvSpPr>
          <p:cNvPr id="75" name="ovl_s08b_nt_aicap"/>
          <p:cNvSpPr txBox="1"/>
          <p:nvPr/>
        </p:nvSpPr>
        <p:spPr>
          <a:xfrm>
            <a:off x="4803648" y="4994910"/>
            <a:ext cx="1298448" cy="20574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AI 容量</a:t>
            </a:r>
            <a:endParaRPr lang="en-US" sz="1000" dirty="0"/>
          </a:p>
        </p:txBody>
      </p:sp>
      <p:sp>
        <p:nvSpPr>
          <p:cNvPr id="76" name="ovl_s08b_ns_aicap"/>
          <p:cNvSpPr txBox="1"/>
          <p:nvPr/>
        </p:nvSpPr>
        <p:spPr>
          <a:xfrm>
            <a:off x="4812792" y="5200650"/>
            <a:ext cx="1280160" cy="452628"/>
          </a:xfrm>
          <a:prstGeom prst="rect">
            <a:avLst/>
          </a:prstGeom>
          <a:noFill/>
          <a:ln/>
        </p:spPr>
        <p:txBody>
          <a:bodyPr wrap="square" lIns="0" tIns="0" rIns="0" bIns="0" rtlCol="0" anchor="t"/>
          <a:lstStyle/>
          <a:p>
            <a:pPr algn="ctr" indent="0" marL="0">
              <a:buNone/>
            </a:pPr>
            <a:r>
              <a:rPr lang="en-US" sz="850" dirty="0">
                <a:solidFill>
                  <a:srgbClr val="FFFFFF"/>
                </a:solidFill>
                <a:latin typeface="Meiryo UI" pitchFamily="34" charset="0"/>
                <a:ea typeface="Meiryo UI" pitchFamily="34" charset="-122"/>
                <a:cs typeface="Meiryo UI" pitchFamily="34" charset="-120"/>
              </a:rPr>
              <a:t>GPU 時間の貸出</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IaaS +121% の主因</a:t>
            </a:r>
            <a:endParaRPr lang="en-US" sz="850" dirty="0"/>
          </a:p>
        </p:txBody>
      </p:sp>
      <p:sp>
        <p:nvSpPr>
          <p:cNvPr id="77" name="ovl_s08b_n_hyper"/>
          <p:cNvSpPr/>
          <p:nvPr/>
        </p:nvSpPr>
        <p:spPr>
          <a:xfrm>
            <a:off x="7068312" y="2018538"/>
            <a:ext cx="1207008" cy="713232"/>
          </a:xfrm>
          <a:prstGeom prst="roundRect">
            <a:avLst>
              <a:gd name="adj" fmla="val 7692"/>
            </a:avLst>
          </a:prstGeom>
          <a:solidFill>
            <a:srgbClr val="FFFFFF"/>
          </a:solidFill>
          <a:ln w="9525">
            <a:solidFill>
              <a:srgbClr val="767676"/>
            </a:solidFill>
            <a:prstDash val="solid"/>
          </a:ln>
        </p:spPr>
      </p:sp>
      <p:sp>
        <p:nvSpPr>
          <p:cNvPr id="78" name="ovl_s08b_nt_hyper"/>
          <p:cNvSpPr txBox="1"/>
          <p:nvPr/>
        </p:nvSpPr>
        <p:spPr>
          <a:xfrm>
            <a:off x="7104888" y="2045970"/>
            <a:ext cx="1133856" cy="356616"/>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AWS・Azure・</a:t>
            </a:r>
            <a:endParaRPr lang="en-US" sz="900" dirty="0"/>
          </a:p>
          <a:p>
            <a:pPr algn="ctr" indent="0" marL="0">
              <a:buNone/>
            </a:pPr>
            <a:r>
              <a:rPr lang="en-US" sz="900" b="1" dirty="0">
                <a:solidFill>
                  <a:srgbClr val="0E4D33"/>
                </a:solidFill>
                <a:latin typeface="Meiryo UI" pitchFamily="34" charset="0"/>
                <a:ea typeface="Meiryo UI" pitchFamily="34" charset="-122"/>
                <a:cs typeface="Meiryo UI" pitchFamily="34" charset="-120"/>
              </a:rPr>
              <a:t>Google</a:t>
            </a:r>
            <a:endParaRPr lang="en-US" sz="900" dirty="0"/>
          </a:p>
        </p:txBody>
      </p:sp>
      <p:sp>
        <p:nvSpPr>
          <p:cNvPr id="79" name="ovl_s08b_ns_hyper"/>
          <p:cNvSpPr txBox="1"/>
          <p:nvPr/>
        </p:nvSpPr>
        <p:spPr>
          <a:xfrm>
            <a:off x="7114032" y="2402586"/>
            <a:ext cx="1115568" cy="3017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競合かつ提携先</a:t>
            </a:r>
            <a:endParaRPr lang="en-US" sz="850" dirty="0"/>
          </a:p>
        </p:txBody>
      </p:sp>
      <p:sp>
        <p:nvSpPr>
          <p:cNvPr id="80" name="ovl_s08b_n_inv"/>
          <p:cNvSpPr/>
          <p:nvPr/>
        </p:nvSpPr>
        <p:spPr>
          <a:xfrm>
            <a:off x="7068312" y="3984498"/>
            <a:ext cx="1207008" cy="713232"/>
          </a:xfrm>
          <a:prstGeom prst="roundRect">
            <a:avLst>
              <a:gd name="adj" fmla="val 7692"/>
            </a:avLst>
          </a:prstGeom>
          <a:solidFill>
            <a:srgbClr val="FFFFFF"/>
          </a:solidFill>
          <a:ln w="9525">
            <a:solidFill>
              <a:srgbClr val="767676"/>
            </a:solidFill>
            <a:prstDash val="solid"/>
          </a:ln>
        </p:spPr>
      </p:sp>
      <p:sp>
        <p:nvSpPr>
          <p:cNvPr id="81" name="ovl_s08b_nt_inv"/>
          <p:cNvSpPr txBox="1"/>
          <p:nvPr/>
        </p:nvSpPr>
        <p:spPr>
          <a:xfrm>
            <a:off x="7104888" y="4011930"/>
            <a:ext cx="1133856" cy="356616"/>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社債・株式の</a:t>
            </a:r>
            <a:endParaRPr lang="en-US" sz="900" dirty="0"/>
          </a:p>
          <a:p>
            <a:pPr algn="ctr" indent="0" marL="0">
              <a:buNone/>
            </a:pPr>
            <a:r>
              <a:rPr lang="en-US" sz="900" b="1" dirty="0">
                <a:solidFill>
                  <a:srgbClr val="0E4D33"/>
                </a:solidFill>
                <a:latin typeface="Meiryo UI" pitchFamily="34" charset="0"/>
                <a:ea typeface="Meiryo UI" pitchFamily="34" charset="-122"/>
                <a:cs typeface="Meiryo UI" pitchFamily="34" charset="-120"/>
              </a:rPr>
              <a:t>投資家</a:t>
            </a:r>
            <a:endParaRPr lang="en-US" sz="900" dirty="0"/>
          </a:p>
        </p:txBody>
      </p:sp>
      <p:sp>
        <p:nvSpPr>
          <p:cNvPr id="82" name="ovl_s08b_ns_inv"/>
          <p:cNvSpPr txBox="1"/>
          <p:nvPr/>
        </p:nvSpPr>
        <p:spPr>
          <a:xfrm>
            <a:off x="7114032" y="4368546"/>
            <a:ext cx="1115568" cy="3017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社債 430 億ドル</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ATM 200 億ドル</a:t>
            </a:r>
            <a:endParaRPr lang="en-US" sz="850" dirty="0"/>
          </a:p>
        </p:txBody>
      </p:sp>
      <p:sp>
        <p:nvSpPr>
          <p:cNvPr id="83" name="ovl_s08b_n_dev"/>
          <p:cNvSpPr/>
          <p:nvPr/>
        </p:nvSpPr>
        <p:spPr>
          <a:xfrm>
            <a:off x="7068312" y="4967478"/>
            <a:ext cx="1207008" cy="713232"/>
          </a:xfrm>
          <a:prstGeom prst="roundRect">
            <a:avLst>
              <a:gd name="adj" fmla="val 7692"/>
            </a:avLst>
          </a:prstGeom>
          <a:solidFill>
            <a:srgbClr val="FFFFFF"/>
          </a:solidFill>
          <a:ln w="9525">
            <a:solidFill>
              <a:srgbClr val="767676"/>
            </a:solidFill>
            <a:prstDash val="solid"/>
          </a:ln>
        </p:spPr>
      </p:sp>
      <p:sp>
        <p:nvSpPr>
          <p:cNvPr id="84" name="ovl_s08b_nt_dev"/>
          <p:cNvSpPr txBox="1"/>
          <p:nvPr/>
        </p:nvSpPr>
        <p:spPr>
          <a:xfrm>
            <a:off x="7104888" y="4994910"/>
            <a:ext cx="1133856"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DC 開発事業者</a:t>
            </a:r>
            <a:endParaRPr lang="en-US" sz="1000" dirty="0"/>
          </a:p>
        </p:txBody>
      </p:sp>
      <p:sp>
        <p:nvSpPr>
          <p:cNvPr id="85" name="ovl_s08b_ns_dev"/>
          <p:cNvSpPr txBox="1"/>
          <p:nvPr/>
        </p:nvSpPr>
        <p:spPr>
          <a:xfrm>
            <a:off x="7114032" y="5200650"/>
            <a:ext cx="1115568" cy="4526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建屋と電力を用意</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15〜19 年で貸す</a:t>
            </a:r>
            <a:endParaRPr lang="en-US" sz="850" dirty="0"/>
          </a:p>
        </p:txBody>
      </p:sp>
      <p:sp>
        <p:nvSpPr>
          <p:cNvPr id="86" name="ovl_s08b_lab0"/>
          <p:cNvSpPr txBox="1"/>
          <p:nvPr/>
        </p:nvSpPr>
        <p:spPr>
          <a:xfrm>
            <a:off x="1899285" y="2141982"/>
            <a:ext cx="459486"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購読料</a:t>
            </a:r>
            <a:endParaRPr lang="en-US" sz="850" dirty="0"/>
          </a:p>
        </p:txBody>
      </p:sp>
      <p:sp>
        <p:nvSpPr>
          <p:cNvPr id="87" name="ovl_s08b_lab1"/>
          <p:cNvSpPr txBox="1"/>
          <p:nvPr/>
        </p:nvSpPr>
        <p:spPr>
          <a:xfrm>
            <a:off x="1823504" y="3616452"/>
            <a:ext cx="611048"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0E4D33"/>
                </a:solidFill>
                <a:latin typeface="Meiryo UI" pitchFamily="34" charset="0"/>
                <a:ea typeface="Meiryo UI" pitchFamily="34" charset="-122"/>
                <a:cs typeface="Meiryo UI" pitchFamily="34" charset="-120"/>
              </a:rPr>
              <a:t>① </a:t>
            </a:r>
            <a:r>
              <a:rPr lang="en-US" sz="850" dirty="0">
                <a:solidFill>
                  <a:srgbClr val="0E4D33"/>
                </a:solidFill>
                <a:latin typeface="Meiryo UI" pitchFamily="34" charset="0"/>
                <a:ea typeface="Meiryo UI" pitchFamily="34" charset="-122"/>
                <a:cs typeface="Meiryo UI" pitchFamily="34" charset="-120"/>
              </a:rPr>
              <a:t>保守料</a:t>
            </a:r>
            <a:endParaRPr lang="en-US" sz="850" dirty="0"/>
          </a:p>
        </p:txBody>
      </p:sp>
      <p:sp>
        <p:nvSpPr>
          <p:cNvPr id="88" name="ovl_s08b_lab2"/>
          <p:cNvSpPr txBox="1"/>
          <p:nvPr/>
        </p:nvSpPr>
        <p:spPr>
          <a:xfrm>
            <a:off x="3900545" y="2141982"/>
            <a:ext cx="803415"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1BA1A6"/>
                </a:solidFill>
                <a:latin typeface="Meiryo UI" pitchFamily="34" charset="0"/>
                <a:ea typeface="Meiryo UI" pitchFamily="34" charset="-122"/>
                <a:cs typeface="Meiryo UI" pitchFamily="34" charset="-120"/>
              </a:rPr>
              <a:t>OCI 上で稼働</a:t>
            </a:r>
            <a:endParaRPr lang="en-US" sz="850" dirty="0"/>
          </a:p>
        </p:txBody>
      </p:sp>
      <p:sp>
        <p:nvSpPr>
          <p:cNvPr id="89" name="ovl_s08b_num3"/>
          <p:cNvSpPr/>
          <p:nvPr/>
        </p:nvSpPr>
        <p:spPr>
          <a:xfrm>
            <a:off x="4119372" y="2747772"/>
            <a:ext cx="237744" cy="237744"/>
          </a:xfrm>
          <a:prstGeom prst="ellipse">
            <a:avLst/>
          </a:prstGeom>
          <a:solidFill>
            <a:srgbClr val="1BA1A6"/>
          </a:solidFill>
          <a:ln w="12700">
            <a:solidFill>
              <a:srgbClr val="FFFFFF"/>
            </a:solidFill>
            <a:prstDash val="solid"/>
          </a:ln>
        </p:spPr>
      </p:sp>
      <p:sp>
        <p:nvSpPr>
          <p:cNvPr id="90" name="ovl_s08b_numt3"/>
          <p:cNvSpPr txBox="1"/>
          <p:nvPr/>
        </p:nvSpPr>
        <p:spPr>
          <a:xfrm>
            <a:off x="4119372" y="274777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2</a:t>
            </a:r>
            <a:endParaRPr lang="en-US" sz="900" dirty="0"/>
          </a:p>
        </p:txBody>
      </p:sp>
      <p:sp>
        <p:nvSpPr>
          <p:cNvPr id="91" name="ovl_s08b_lab4"/>
          <p:cNvSpPr txBox="1"/>
          <p:nvPr/>
        </p:nvSpPr>
        <p:spPr>
          <a:xfrm>
            <a:off x="3874008" y="3385566"/>
            <a:ext cx="856488" cy="347472"/>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1BA1A6"/>
                </a:solidFill>
                <a:latin typeface="Meiryo UI" pitchFamily="34" charset="0"/>
                <a:ea typeface="Meiryo UI" pitchFamily="34" charset="-122"/>
                <a:cs typeface="Meiryo UI" pitchFamily="34" charset="-120"/>
              </a:rPr>
              <a:t>③ </a:t>
            </a:r>
            <a:r>
              <a:rPr lang="en-US" sz="850" dirty="0">
                <a:solidFill>
                  <a:srgbClr val="1BA1A6"/>
                </a:solidFill>
                <a:latin typeface="Meiryo UI" pitchFamily="34" charset="0"/>
                <a:ea typeface="Meiryo UI" pitchFamily="34" charset="-122"/>
                <a:cs typeface="Meiryo UI" pitchFamily="34" charset="-120"/>
              </a:rPr>
              <a:t>同じ DB を他社の DC へ</a:t>
            </a:r>
            <a:endParaRPr lang="en-US" sz="850" dirty="0"/>
          </a:p>
        </p:txBody>
      </p:sp>
      <p:sp>
        <p:nvSpPr>
          <p:cNvPr id="92" name="ovl_s08b_num5"/>
          <p:cNvSpPr/>
          <p:nvPr/>
        </p:nvSpPr>
        <p:spPr>
          <a:xfrm>
            <a:off x="6420612" y="2747772"/>
            <a:ext cx="237744" cy="237744"/>
          </a:xfrm>
          <a:prstGeom prst="ellipse">
            <a:avLst/>
          </a:prstGeom>
          <a:solidFill>
            <a:srgbClr val="767676"/>
          </a:solidFill>
          <a:ln w="12700">
            <a:solidFill>
              <a:srgbClr val="FFFFFF"/>
            </a:solidFill>
            <a:prstDash val="solid"/>
          </a:ln>
        </p:spPr>
      </p:sp>
      <p:sp>
        <p:nvSpPr>
          <p:cNvPr id="93" name="ovl_s08b_numt5"/>
          <p:cNvSpPr txBox="1"/>
          <p:nvPr/>
        </p:nvSpPr>
        <p:spPr>
          <a:xfrm>
            <a:off x="6420612" y="274777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3</a:t>
            </a:r>
            <a:endParaRPr lang="en-US" sz="900" dirty="0"/>
          </a:p>
        </p:txBody>
      </p:sp>
      <p:sp>
        <p:nvSpPr>
          <p:cNvPr id="94" name="ovl_s08b_lab6"/>
          <p:cNvSpPr txBox="1"/>
          <p:nvPr/>
        </p:nvSpPr>
        <p:spPr>
          <a:xfrm>
            <a:off x="3915118" y="4107942"/>
            <a:ext cx="774268"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1BA1A6"/>
                </a:solidFill>
                <a:latin typeface="Meiryo UI" pitchFamily="34" charset="0"/>
                <a:ea typeface="Meiryo UI" pitchFamily="34" charset="-122"/>
                <a:cs typeface="Meiryo UI" pitchFamily="34" charset="-120"/>
              </a:rPr>
              <a:t>④ </a:t>
            </a:r>
            <a:r>
              <a:rPr lang="en-US" sz="850" dirty="0">
                <a:solidFill>
                  <a:srgbClr val="1BA1A6"/>
                </a:solidFill>
                <a:latin typeface="Meiryo UI" pitchFamily="34" charset="0"/>
                <a:ea typeface="Meiryo UI" pitchFamily="34" charset="-122"/>
                <a:cs typeface="Meiryo UI" pitchFamily="34" charset="-120"/>
              </a:rPr>
              <a:t>AI を内蔵</a:t>
            </a:r>
            <a:endParaRPr lang="en-US" sz="850" dirty="0"/>
          </a:p>
        </p:txBody>
      </p:sp>
      <p:sp>
        <p:nvSpPr>
          <p:cNvPr id="95" name="ovl_s08b_num7"/>
          <p:cNvSpPr/>
          <p:nvPr/>
        </p:nvSpPr>
        <p:spPr>
          <a:xfrm>
            <a:off x="4247388" y="4672584"/>
            <a:ext cx="237744" cy="237744"/>
          </a:xfrm>
          <a:prstGeom prst="ellipse">
            <a:avLst/>
          </a:prstGeom>
          <a:solidFill>
            <a:srgbClr val="0E4D33"/>
          </a:solidFill>
          <a:ln w="12700">
            <a:solidFill>
              <a:srgbClr val="FFFFFF"/>
            </a:solidFill>
            <a:prstDash val="solid"/>
          </a:ln>
        </p:spPr>
      </p:sp>
      <p:sp>
        <p:nvSpPr>
          <p:cNvPr id="96" name="ovl_s08b_numt7"/>
          <p:cNvSpPr txBox="1"/>
          <p:nvPr/>
        </p:nvSpPr>
        <p:spPr>
          <a:xfrm>
            <a:off x="4247388" y="467258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5</a:t>
            </a:r>
            <a:endParaRPr lang="en-US" sz="900" dirty="0"/>
          </a:p>
        </p:txBody>
      </p:sp>
      <p:sp>
        <p:nvSpPr>
          <p:cNvPr id="97" name="ovl_s08b_lab8"/>
          <p:cNvSpPr txBox="1"/>
          <p:nvPr/>
        </p:nvSpPr>
        <p:spPr>
          <a:xfrm>
            <a:off x="2429199" y="5008626"/>
            <a:ext cx="1572882"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0E4D33"/>
                </a:solidFill>
                <a:latin typeface="Meiryo UI" pitchFamily="34" charset="0"/>
                <a:ea typeface="Meiryo UI" pitchFamily="34" charset="-122"/>
                <a:cs typeface="Meiryo UI" pitchFamily="34" charset="-120"/>
              </a:rPr>
              <a:t>⑥ </a:t>
            </a:r>
            <a:r>
              <a:rPr lang="en-US" sz="850" dirty="0">
                <a:solidFill>
                  <a:srgbClr val="0E4D33"/>
                </a:solidFill>
                <a:latin typeface="Meiryo UI" pitchFamily="34" charset="0"/>
                <a:ea typeface="Meiryo UI" pitchFamily="34" charset="-122"/>
                <a:cs typeface="Meiryo UI" pitchFamily="34" charset="-120"/>
              </a:rPr>
              <a:t>利用料と GPU 代の前払い</a:t>
            </a:r>
            <a:endParaRPr lang="en-US" sz="850" dirty="0"/>
          </a:p>
        </p:txBody>
      </p:sp>
      <p:sp>
        <p:nvSpPr>
          <p:cNvPr id="98" name="ovl_s08b_lab9"/>
          <p:cNvSpPr txBox="1"/>
          <p:nvPr/>
        </p:nvSpPr>
        <p:spPr>
          <a:xfrm>
            <a:off x="2755640" y="5433822"/>
            <a:ext cx="920001"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1BA1A6"/>
                </a:solidFill>
                <a:latin typeface="Meiryo UI" pitchFamily="34" charset="0"/>
                <a:ea typeface="Meiryo UI" pitchFamily="34" charset="-122"/>
                <a:cs typeface="Meiryo UI" pitchFamily="34" charset="-120"/>
              </a:rPr>
              <a:t>GPU の計算容量</a:t>
            </a:r>
            <a:endParaRPr lang="en-US" sz="850" dirty="0"/>
          </a:p>
        </p:txBody>
      </p:sp>
      <p:sp>
        <p:nvSpPr>
          <p:cNvPr id="99" name="ovl_s08b_lab10"/>
          <p:cNvSpPr txBox="1"/>
          <p:nvPr/>
        </p:nvSpPr>
        <p:spPr>
          <a:xfrm>
            <a:off x="6181382" y="5351526"/>
            <a:ext cx="844220"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1BA1A6"/>
                </a:solidFill>
                <a:latin typeface="Meiryo UI" pitchFamily="34" charset="0"/>
                <a:ea typeface="Meiryo UI" pitchFamily="34" charset="-122"/>
                <a:cs typeface="Meiryo UI" pitchFamily="34" charset="-120"/>
              </a:rPr>
              <a:t>⑦ </a:t>
            </a:r>
            <a:r>
              <a:rPr lang="en-US" sz="850" dirty="0">
                <a:solidFill>
                  <a:srgbClr val="1BA1A6"/>
                </a:solidFill>
                <a:latin typeface="Meiryo UI" pitchFamily="34" charset="0"/>
                <a:ea typeface="Meiryo UI" pitchFamily="34" charset="-122"/>
                <a:cs typeface="Meiryo UI" pitchFamily="34" charset="-120"/>
              </a:rPr>
              <a:t>建屋を賃貸</a:t>
            </a:r>
            <a:endParaRPr lang="en-US" sz="850" dirty="0"/>
          </a:p>
        </p:txBody>
      </p:sp>
      <p:sp>
        <p:nvSpPr>
          <p:cNvPr id="100" name="ovl_s08b_num11"/>
          <p:cNvSpPr/>
          <p:nvPr/>
        </p:nvSpPr>
        <p:spPr>
          <a:xfrm>
            <a:off x="6548628" y="4658868"/>
            <a:ext cx="237744" cy="237744"/>
          </a:xfrm>
          <a:prstGeom prst="ellipse">
            <a:avLst/>
          </a:prstGeom>
          <a:solidFill>
            <a:srgbClr val="0E4D33"/>
          </a:solidFill>
          <a:ln w="12700">
            <a:solidFill>
              <a:srgbClr val="FFFFFF"/>
            </a:solidFill>
            <a:prstDash val="solid"/>
          </a:ln>
        </p:spPr>
      </p:sp>
      <p:sp>
        <p:nvSpPr>
          <p:cNvPr id="101" name="ovl_s08b_numt11"/>
          <p:cNvSpPr txBox="1"/>
          <p:nvPr/>
        </p:nvSpPr>
        <p:spPr>
          <a:xfrm>
            <a:off x="6548628" y="465886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7</a:t>
            </a:r>
            <a:endParaRPr lang="en-US" sz="900" dirty="0"/>
          </a:p>
        </p:txBody>
      </p:sp>
      <p:sp>
        <p:nvSpPr>
          <p:cNvPr id="102" name="ovl_s08b_glab0"/>
          <p:cNvSpPr txBox="1"/>
          <p:nvPr/>
        </p:nvSpPr>
        <p:spPr>
          <a:xfrm>
            <a:off x="2621280" y="1828800"/>
            <a:ext cx="451104" cy="164592"/>
          </a:xfrm>
          <a:prstGeom prst="rect">
            <a:avLst/>
          </a:prstGeom>
          <a:solidFill>
            <a:srgbClr val="FFFFFF"/>
          </a:solidFill>
          <a:ln/>
        </p:spPr>
        <p:txBody>
          <a:bodyPr wrap="square" lIns="0" tIns="0" rIns="0" bIns="0" rtlCol="0" anchor="ctr"/>
          <a:lstStyle/>
          <a:p>
            <a:pPr algn="ctr" indent="0" marL="0">
              <a:buNone/>
            </a:pPr>
            <a:r>
              <a:rPr lang="en-US" sz="800" b="1" dirty="0">
                <a:solidFill>
                  <a:srgbClr val="197A56"/>
                </a:solidFill>
                <a:latin typeface="Meiryo UI" pitchFamily="34" charset="0"/>
                <a:ea typeface="Meiryo UI" pitchFamily="34" charset="-122"/>
                <a:cs typeface="Meiryo UI" pitchFamily="34" charset="-120"/>
              </a:rPr>
              <a:t>稼ぐ柱</a:t>
            </a:r>
            <a:endParaRPr lang="en-US" sz="800" dirty="0"/>
          </a:p>
        </p:txBody>
      </p:sp>
      <p:sp>
        <p:nvSpPr>
          <p:cNvPr id="103" name="ovl_s08b_glab1"/>
          <p:cNvSpPr txBox="1"/>
          <p:nvPr/>
        </p:nvSpPr>
        <p:spPr>
          <a:xfrm>
            <a:off x="4794504" y="1828800"/>
            <a:ext cx="552704" cy="164592"/>
          </a:xfrm>
          <a:prstGeom prst="rect">
            <a:avLst/>
          </a:prstGeom>
          <a:solidFill>
            <a:srgbClr val="FFFFFF"/>
          </a:solidFill>
          <a:ln/>
        </p:spPr>
        <p:txBody>
          <a:bodyPr wrap="square" lIns="0" tIns="0" rIns="0" bIns="0" rtlCol="0" anchor="ctr"/>
          <a:lstStyle/>
          <a:p>
            <a:pPr algn="ctr" indent="0" marL="0">
              <a:buNone/>
            </a:pPr>
            <a:r>
              <a:rPr lang="en-US" sz="800" b="1" dirty="0">
                <a:solidFill>
                  <a:srgbClr val="197A56"/>
                </a:solidFill>
                <a:latin typeface="Meiryo UI" pitchFamily="34" charset="0"/>
                <a:ea typeface="Meiryo UI" pitchFamily="34" charset="-122"/>
                <a:cs typeface="Meiryo UI" pitchFamily="34" charset="-120"/>
              </a:rPr>
              <a:t>伸びる柱</a:t>
            </a:r>
            <a:endParaRPr lang="en-US" sz="800" dirty="0"/>
          </a:p>
        </p:txBody>
      </p:sp>
      <p:sp>
        <p:nvSpPr>
          <p:cNvPr id="104" name="ovl_s08b_leg0"/>
          <p:cNvSpPr/>
          <p:nvPr/>
        </p:nvSpPr>
        <p:spPr>
          <a:xfrm>
            <a:off x="457200" y="5971032"/>
            <a:ext cx="365760" cy="914"/>
          </a:xfrm>
          <a:prstGeom prst="line">
            <a:avLst/>
          </a:prstGeom>
          <a:noFill/>
          <a:ln w="22225">
            <a:solidFill>
              <a:srgbClr val="0E4D33"/>
            </a:solidFill>
            <a:prstDash val="solid"/>
            <a:tailEnd type="triangle"/>
          </a:ln>
        </p:spPr>
      </p:sp>
      <p:sp>
        <p:nvSpPr>
          <p:cNvPr id="105" name="ovl_s08b_legt0"/>
          <p:cNvSpPr txBox="1"/>
          <p:nvPr/>
        </p:nvSpPr>
        <p:spPr>
          <a:xfrm>
            <a:off x="87782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カネ</a:t>
            </a:r>
            <a:endParaRPr lang="en-US" sz="800" dirty="0"/>
          </a:p>
        </p:txBody>
      </p:sp>
      <p:sp>
        <p:nvSpPr>
          <p:cNvPr id="106" name="ovl_s08b_leg1"/>
          <p:cNvSpPr/>
          <p:nvPr/>
        </p:nvSpPr>
        <p:spPr>
          <a:xfrm>
            <a:off x="1874520" y="5971032"/>
            <a:ext cx="365760" cy="914"/>
          </a:xfrm>
          <a:prstGeom prst="line">
            <a:avLst/>
          </a:prstGeom>
          <a:noFill/>
          <a:ln w="19050">
            <a:solidFill>
              <a:srgbClr val="1BA1A6"/>
            </a:solidFill>
            <a:prstDash val="solid"/>
            <a:tailEnd type="triangle"/>
          </a:ln>
        </p:spPr>
      </p:sp>
      <p:sp>
        <p:nvSpPr>
          <p:cNvPr id="107" name="ovl_s08b_legt1"/>
          <p:cNvSpPr txBox="1"/>
          <p:nvPr/>
        </p:nvSpPr>
        <p:spPr>
          <a:xfrm>
            <a:off x="229514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モノ・サービス</a:t>
            </a:r>
            <a:endParaRPr lang="en-US" sz="800" dirty="0"/>
          </a:p>
        </p:txBody>
      </p:sp>
      <p:sp>
        <p:nvSpPr>
          <p:cNvPr id="108" name="ovl_s08b_leg2"/>
          <p:cNvSpPr/>
          <p:nvPr/>
        </p:nvSpPr>
        <p:spPr>
          <a:xfrm>
            <a:off x="3291840" y="5971032"/>
            <a:ext cx="365760" cy="914"/>
          </a:xfrm>
          <a:prstGeom prst="line">
            <a:avLst/>
          </a:prstGeom>
          <a:noFill/>
          <a:ln w="12700">
            <a:solidFill>
              <a:srgbClr val="767676"/>
            </a:solidFill>
            <a:prstDash val="sysDash"/>
            <a:tailEnd type="triangle"/>
          </a:ln>
        </p:spPr>
      </p:sp>
      <p:sp>
        <p:nvSpPr>
          <p:cNvPr id="109" name="ovl_s08b_legt2"/>
          <p:cNvSpPr txBox="1"/>
          <p:nvPr/>
        </p:nvSpPr>
        <p:spPr>
          <a:xfrm>
            <a:off x="371246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契約・統治</a:t>
            </a:r>
            <a:endParaRPr lang="en-US" sz="800" dirty="0"/>
          </a:p>
        </p:txBody>
      </p:sp>
      <p:sp>
        <p:nvSpPr>
          <p:cNvPr id="110" name="ovl_s08b_legn"/>
          <p:cNvSpPr txBox="1"/>
          <p:nvPr/>
        </p:nvSpPr>
        <p:spPr>
          <a:xfrm>
            <a:off x="6126480" y="5870448"/>
            <a:ext cx="2148840" cy="201168"/>
          </a:xfrm>
          <a:prstGeom prst="rect">
            <a:avLst/>
          </a:prstGeom>
          <a:noFill/>
          <a:ln/>
        </p:spPr>
        <p:txBody>
          <a:bodyPr wrap="square" lIns="0" tIns="0" rIns="0" bIns="0" rtlCol="0" anchor="ctr"/>
          <a:lstStyle/>
          <a:p>
            <a:pPr algn="r" indent="0" marL="0">
              <a:buNone/>
            </a:pPr>
            <a:r>
              <a:rPr lang="en-US" sz="800" dirty="0">
                <a:solidFill>
                  <a:srgbClr val="767676"/>
                </a:solidFill>
                <a:latin typeface="Meiryo UI" pitchFamily="34" charset="0"/>
                <a:ea typeface="Meiryo UI" pitchFamily="34" charset="-122"/>
                <a:cs typeface="Meiryo UI" pitchFamily="34" charset="-120"/>
              </a:rPr>
              <a:t>①② … は右の「仕組み」の番号</a:t>
            </a:r>
            <a:endParaRPr lang="en-US" sz="800" dirty="0"/>
          </a:p>
        </p:txBody>
      </p:sp>
      <p:sp>
        <p:nvSpPr>
          <p:cNvPr id="111" name="mech_head"/>
          <p:cNvSpPr txBox="1"/>
          <p:nvPr/>
        </p:nvSpPr>
        <p:spPr>
          <a:xfrm>
            <a:off x="8458200" y="1481328"/>
            <a:ext cx="3276295"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仕組み(図の ①② … と対応)</a:t>
            </a:r>
            <a:endParaRPr lang="en-US" sz="1200" dirty="0"/>
          </a:p>
        </p:txBody>
      </p:sp>
      <p:sp>
        <p:nvSpPr>
          <p:cNvPr id="112" name="mech"/>
          <p:cNvSpPr txBox="1"/>
          <p:nvPr/>
        </p:nvSpPr>
        <p:spPr>
          <a:xfrm>
            <a:off x="8458200" y="1810512"/>
            <a:ext cx="3276295" cy="3077972"/>
          </a:xfrm>
          <a:prstGeom prst="rect">
            <a:avLst/>
          </a:prstGeom>
          <a:noFill/>
          <a:ln/>
        </p:spPr>
        <p:txBody>
          <a:bodyPr wrap="square" lIns="381" tIns="381" rIns="381" bIns="381" rtlCol="0" anchor="t"/>
          <a:lstStyle/>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① </a:t>
            </a:r>
            <a:r>
              <a:rPr lang="en-US" sz="1050" dirty="0">
                <a:solidFill>
                  <a:srgbClr val="333333"/>
                </a:solidFill>
                <a:latin typeface="Meiryo UI" pitchFamily="34" charset="0"/>
                <a:ea typeface="Meiryo UI" pitchFamily="34" charset="-122"/>
                <a:cs typeface="Meiryo UI" pitchFamily="34" charset="-120"/>
              </a:rPr>
              <a:t>既存顧客は保守料(ライセンスの年 22%)を払い続ける。切替に数年かかり、営業利益の柱になる</a:t>
            </a:r>
            <a:endParaRPr lang="en-US" sz="1050" dirty="0"/>
          </a:p>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② </a:t>
            </a:r>
            <a:r>
              <a:rPr lang="en-US" sz="1050" dirty="0">
                <a:solidFill>
                  <a:srgbClr val="333333"/>
                </a:solidFill>
                <a:latin typeface="Meiryo UI" pitchFamily="34" charset="0"/>
                <a:ea typeface="Meiryo UI" pitchFamily="34" charset="-122"/>
                <a:cs typeface="Meiryo UI" pitchFamily="34" charset="-120"/>
              </a:rPr>
              <a:t>OCI へ持ち込むと必要なライセンスは半分。さらに OCI の利用額の 25% 以上を保守料から値引き</a:t>
            </a:r>
            <a:endParaRPr lang="en-US" sz="1050" dirty="0"/>
          </a:p>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③ </a:t>
            </a:r>
            <a:r>
              <a:rPr lang="en-US" sz="1050" dirty="0">
                <a:solidFill>
                  <a:srgbClr val="333333"/>
                </a:solidFill>
                <a:latin typeface="Meiryo UI" pitchFamily="34" charset="0"/>
                <a:ea typeface="Meiryo UI" pitchFamily="34" charset="-122"/>
                <a:cs typeface="Meiryo UI" pitchFamily="34" charset="-120"/>
              </a:rPr>
              <a:t>同じ DB を AWS・Azure・Google の DC 内で提供。顧客は他社の契約枠で買え、売上は +353%</a:t>
            </a:r>
            <a:endParaRPr lang="en-US" sz="1050" dirty="0"/>
          </a:p>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④ </a:t>
            </a:r>
            <a:r>
              <a:rPr lang="en-US" sz="1050" dirty="0">
                <a:solidFill>
                  <a:srgbClr val="333333"/>
                </a:solidFill>
                <a:latin typeface="Meiryo UI" pitchFamily="34" charset="0"/>
                <a:ea typeface="Meiryo UI" pitchFamily="34" charset="-122"/>
                <a:cs typeface="Meiryo UI" pitchFamily="34" charset="-120"/>
              </a:rPr>
              <a:t>26ai は DB に AI 検索とエージェントを追加費用なしで内蔵し、自社データで AI を動かす需要を DB の中に取り込む</a:t>
            </a:r>
            <a:endParaRPr lang="en-US" sz="1050" dirty="0"/>
          </a:p>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⑤ </a:t>
            </a:r>
            <a:r>
              <a:rPr lang="en-US" sz="1050" dirty="0">
                <a:solidFill>
                  <a:srgbClr val="333333"/>
                </a:solidFill>
                <a:latin typeface="Meiryo UI" pitchFamily="34" charset="0"/>
                <a:ea typeface="Meiryo UI" pitchFamily="34" charset="-122"/>
                <a:cs typeface="Meiryo UI" pitchFamily="34" charset="-120"/>
              </a:rPr>
              <a:t>DB 保守と SaaS が生む税引後 約 230 億ドル/年が、AI 容量の建設の自己資金になる</a:t>
            </a:r>
            <a:endParaRPr lang="en-US" sz="1050" dirty="0"/>
          </a:p>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⑥ </a:t>
            </a:r>
            <a:r>
              <a:rPr lang="en-US" sz="1050" dirty="0">
                <a:solidFill>
                  <a:srgbClr val="333333"/>
                </a:solidFill>
                <a:latin typeface="Meiryo UI" pitchFamily="34" charset="0"/>
                <a:ea typeface="Meiryo UI" pitchFamily="34" charset="-122"/>
                <a:cs typeface="Meiryo UI" pitchFamily="34" charset="-120"/>
              </a:rPr>
              <a:t>AI 研究所は容量の買い手であり、GPU 代の前払いや GPU の持込(該当契約 750 億ドル)で建設資金も出す</a:t>
            </a:r>
            <a:endParaRPr lang="en-US" sz="1050" dirty="0"/>
          </a:p>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⑦ </a:t>
            </a:r>
            <a:r>
              <a:rPr lang="en-US" sz="1050" dirty="0">
                <a:solidFill>
                  <a:srgbClr val="333333"/>
                </a:solidFill>
                <a:latin typeface="Meiryo UI" pitchFamily="34" charset="0"/>
                <a:ea typeface="Meiryo UI" pitchFamily="34" charset="-122"/>
                <a:cs typeface="Meiryo UI" pitchFamily="34" charset="-120"/>
              </a:rPr>
              <a:t>建屋は開発事業者が建てて 15〜19 年で貸す。不足分は社債 430 億ドルと ATM 200 億ドルで賄う</a:t>
            </a:r>
            <a:endParaRPr lang="en-US" sz="1050" dirty="0"/>
          </a:p>
        </p:txBody>
      </p:sp>
      <p:sp>
        <p:nvSpPr>
          <p:cNvPr id="113" name="ovl_takeaway_bg"/>
          <p:cNvSpPr/>
          <p:nvPr/>
        </p:nvSpPr>
        <p:spPr>
          <a:xfrm>
            <a:off x="8458200" y="5084064"/>
            <a:ext cx="3276295" cy="1005840"/>
          </a:xfrm>
          <a:prstGeom prst="rect">
            <a:avLst/>
          </a:prstGeom>
          <a:solidFill>
            <a:srgbClr val="EAF4EE"/>
          </a:solidFill>
          <a:ln w="12700">
            <a:solidFill>
              <a:srgbClr val="EAF4EE"/>
            </a:solidFill>
            <a:prstDash val="solid"/>
          </a:ln>
        </p:spPr>
      </p:sp>
      <p:sp>
        <p:nvSpPr>
          <p:cNvPr id="114" name="takeaway"/>
          <p:cNvSpPr txBox="1"/>
          <p:nvPr/>
        </p:nvSpPr>
        <p:spPr>
          <a:xfrm>
            <a:off x="8567928" y="5157216"/>
            <a:ext cx="3056839" cy="859536"/>
          </a:xfrm>
          <a:prstGeom prst="rect">
            <a:avLst/>
          </a:prstGeom>
          <a:noFill/>
          <a:ln/>
        </p:spPr>
        <p:txBody>
          <a:bodyPr wrap="square" lIns="508" tIns="508" rIns="508" bIns="508"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DB の顧客と現金が成長事業の土台。AI 容量だけは外部の資金(前払い・リース・社債)に頼り、ここが最大の争点</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2-1 事業理解(3/3)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成長分野</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今後の価値を左右する分野を、規模・伸び・確度で比べ、注目すべき順に絞り込む</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注目度が最も高いのは AI 容量と Database@。AI 容量は規模で、</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Database@ は伸びと DB 利益の延命で価値を動かす</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成長分野の比較(注目度の高い順)。右: 1 株価値 × 伸びで見た位置。注目度 = 価値への効きが大きいか、伸びが速く結果がまだ決まっていない分野</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需給エンジン第4.5版(セグメント価値、calc/out/m10_*.json)、research2/R4_database_at.md、research4/T4_ai_demand.md(Gartner)、会社開示(Q1 FY27)、本資料 2-6</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10</a:t>
            </a:r>
            <a:endParaRPr lang="en-US" sz="800" dirty="0"/>
          </a:p>
        </p:txBody>
      </p:sp>
      <p:graphicFrame>
        <p:nvGraphicFramePr>
          <p:cNvPr id="11" name="tbl"/>
          <p:cNvGraphicFramePr>
            <a:graphicFrameLocks noGrp="1"/>
          </p:cNvGraphicFramePr>
          <p:nvPr>
            <p:extLst>
              <p:ext uri="{D42A27DB-BD31-4B8C-83A1-F6EECF244321}">
                <p14:modId xmlns:p14="http://schemas.microsoft.com/office/powerpoint/2010/main" val="1579011935"/>
              </p:ext>
            </p:extLst>
          </p:nvPr>
        </p:nvGraphicFramePr>
        <p:xfrm>
          <a:off x="457200" y="1481328"/>
          <a:ext cx="7498080" cy="914400"/>
        </p:xfrm>
        <a:graphic>
          <a:graphicData uri="http://schemas.openxmlformats.org/drawingml/2006/table">
            <a:tbl>
              <a:tblPr/>
              <a:tblGrid>
                <a:gridCol w="1234440"/>
                <a:gridCol w="1280160"/>
                <a:gridCol w="1234440"/>
                <a:gridCol w="1417320"/>
                <a:gridCol w="1600200"/>
                <a:gridCol w="731520"/>
              </a:tblGrid>
              <a:tr h="566928">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分野</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規模(Q1 FY27)</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伸び</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1 株価値への効き</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見るべき KPI</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注目度</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566928">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AI 容量</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IaaS 区分</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74 億ドルの大半</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IaaS +121%</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1 株 113 ドル</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(価値の 44%)</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納入 GW/四半期・AI</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粗利率・更新プレミアム</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97A56"/>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Database@</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額は非開示</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+353%(4 期前は +1,529%)</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FY30 に +5.4 ドル。</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DB 保守 45 ドルの</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流出を防ぐ</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伸びの減速の速さ・顧客数(+180%)</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b="1" dirty="0">
                          <a:solidFill>
                            <a:srgbClr val="197A56"/>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566928">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AI Database 26ai</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非開示</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非開示</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未計上(オプション)</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顧客数と課金の開示</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BA1A6"/>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ソブリンクラウド</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UAE 1GW・</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日本に 80 億ドル超</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市場 +35.6%</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(2026 年)</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AI 容量・OCI に含む</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国別の受注の開示</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1BA1A6"/>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566928">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SaaS</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(AI エージェント)</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42 億ドル</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+10%(14% への加速を想定)</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SaaS 全体で</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1 株 44 ドル</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繰延収益の伸び・</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移行した社数</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767676"/>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0" name="ovl_takeaway_bg"/>
          <p:cNvSpPr/>
          <p:nvPr/>
        </p:nvSpPr>
        <p:spPr>
          <a:xfrm>
            <a:off x="457200" y="5074920"/>
            <a:ext cx="7498080" cy="731520"/>
          </a:xfrm>
          <a:prstGeom prst="rect">
            <a:avLst/>
          </a:prstGeom>
          <a:solidFill>
            <a:srgbClr val="EAF4EE"/>
          </a:solidFill>
          <a:ln w="12700">
            <a:solidFill>
              <a:srgbClr val="EAF4EE"/>
            </a:solidFill>
            <a:prstDash val="solid"/>
          </a:ln>
        </p:spPr>
      </p:sp>
      <p:sp>
        <p:nvSpPr>
          <p:cNvPr id="21" name="takeaway"/>
          <p:cNvSpPr txBox="1"/>
          <p:nvPr/>
        </p:nvSpPr>
        <p:spPr>
          <a:xfrm>
            <a:off x="566928" y="5148072"/>
            <a:ext cx="7278624" cy="58521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AI 容量は価値の大きさで、Database@ は DB の利益を他社クラウドへ広げて守る点で注目度が最も高い。</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AI Database は数字が出るまでオプションとして扱う</a:t>
            </a:r>
            <a:endParaRPr lang="en-US" sz="1100" dirty="0"/>
          </a:p>
        </p:txBody>
      </p:sp>
      <p:sp>
        <p:nvSpPr>
          <p:cNvPr id="22" name="pane_head"/>
          <p:cNvSpPr txBox="1"/>
          <p:nvPr/>
        </p:nvSpPr>
        <p:spPr>
          <a:xfrm>
            <a:off x="8183880" y="1481328"/>
            <a:ext cx="3547872"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1 株価値 × 伸びで見た位置</a:t>
            </a:r>
            <a:endParaRPr lang="en-US" sz="1200" dirty="0"/>
          </a:p>
        </p:txBody>
      </p:sp>
      <p:sp>
        <p:nvSpPr>
          <p:cNvPr id="23" name="mx_yt"/>
          <p:cNvSpPr txBox="1"/>
          <p:nvPr/>
        </p:nvSpPr>
        <p:spPr>
          <a:xfrm>
            <a:off x="8183880" y="1810512"/>
            <a:ext cx="1005840" cy="365760"/>
          </a:xfrm>
          <a:prstGeom prst="rect">
            <a:avLst/>
          </a:prstGeom>
          <a:noFill/>
          <a:ln/>
        </p:spPr>
        <p:txBody>
          <a:bodyPr wrap="square" lIns="0" tIns="0" rIns="0" bIns="0" rtlCol="0" anchor="b"/>
          <a:lstStyle/>
          <a:p>
            <a:pPr indent="0" marL="0">
              <a:buNone/>
            </a:pPr>
            <a:endParaRPr lang="en-US" sz="900" dirty="0"/>
          </a:p>
        </p:txBody>
      </p:sp>
      <p:sp>
        <p:nvSpPr>
          <p:cNvPr id="24" name="mx_x0"/>
          <p:cNvSpPr txBox="1"/>
          <p:nvPr/>
        </p:nvSpPr>
        <p:spPr>
          <a:xfrm>
            <a:off x="9189720" y="1810512"/>
            <a:ext cx="1271016" cy="365760"/>
          </a:xfrm>
          <a:prstGeom prst="rect">
            <a:avLst/>
          </a:prstGeom>
          <a:noFill/>
          <a:ln/>
        </p:spPr>
        <p:txBody>
          <a:bodyPr wrap="square" lIns="0" tIns="0" rIns="0" bIns="0" rtlCol="0" anchor="b"/>
          <a:lstStyle/>
          <a:p>
            <a:pPr algn="ctr" indent="0" marL="0">
              <a:buNone/>
            </a:pPr>
            <a:r>
              <a:rPr lang="en-US" sz="950" b="1" dirty="0">
                <a:solidFill>
                  <a:srgbClr val="0E4D33"/>
                </a:solidFill>
                <a:latin typeface="Meiryo UI" pitchFamily="34" charset="0"/>
                <a:ea typeface="Meiryo UI" pitchFamily="34" charset="-122"/>
                <a:cs typeface="Meiryo UI" pitchFamily="34" charset="-120"/>
              </a:rPr>
              <a:t>伸び 穏やか</a:t>
            </a:r>
            <a:endParaRPr lang="en-US" sz="950" dirty="0"/>
          </a:p>
        </p:txBody>
      </p:sp>
      <p:sp>
        <p:nvSpPr>
          <p:cNvPr id="25" name="mx_x1"/>
          <p:cNvSpPr txBox="1"/>
          <p:nvPr/>
        </p:nvSpPr>
        <p:spPr>
          <a:xfrm>
            <a:off x="10460736" y="1810512"/>
            <a:ext cx="1271016" cy="365760"/>
          </a:xfrm>
          <a:prstGeom prst="rect">
            <a:avLst/>
          </a:prstGeom>
          <a:noFill/>
          <a:ln/>
        </p:spPr>
        <p:txBody>
          <a:bodyPr wrap="square" lIns="0" tIns="0" rIns="0" bIns="0" rtlCol="0" anchor="b"/>
          <a:lstStyle/>
          <a:p>
            <a:pPr algn="ctr" indent="0" marL="0">
              <a:buNone/>
            </a:pPr>
            <a:r>
              <a:rPr lang="en-US" sz="950" b="1" dirty="0">
                <a:solidFill>
                  <a:srgbClr val="0E4D33"/>
                </a:solidFill>
                <a:latin typeface="Meiryo UI" pitchFamily="34" charset="0"/>
                <a:ea typeface="Meiryo UI" pitchFamily="34" charset="-122"/>
                <a:cs typeface="Meiryo UI" pitchFamily="34" charset="-120"/>
              </a:rPr>
              <a:t>伸び 速い</a:t>
            </a:r>
            <a:endParaRPr lang="en-US" sz="950" dirty="0"/>
          </a:p>
        </p:txBody>
      </p:sp>
      <p:sp>
        <p:nvSpPr>
          <p:cNvPr id="26" name="mx_y0"/>
          <p:cNvSpPr txBox="1"/>
          <p:nvPr/>
        </p:nvSpPr>
        <p:spPr>
          <a:xfrm>
            <a:off x="8183880" y="2176272"/>
            <a:ext cx="960120" cy="1325880"/>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1 株価値 大</a:t>
            </a:r>
            <a:endParaRPr lang="en-US" sz="950" dirty="0"/>
          </a:p>
        </p:txBody>
      </p:sp>
      <p:sp>
        <p:nvSpPr>
          <p:cNvPr id="27" name="ovl_mx0_0"/>
          <p:cNvSpPr/>
          <p:nvPr/>
        </p:nvSpPr>
        <p:spPr>
          <a:xfrm>
            <a:off x="9189720" y="2176272"/>
            <a:ext cx="1234440" cy="1289304"/>
          </a:xfrm>
          <a:prstGeom prst="rect">
            <a:avLst/>
          </a:prstGeom>
          <a:solidFill>
            <a:srgbClr val="FFFFFF"/>
          </a:solidFill>
          <a:ln w="9525">
            <a:solidFill>
              <a:srgbClr val="D9D9D9"/>
            </a:solidFill>
            <a:prstDash val="solid"/>
          </a:ln>
        </p:spPr>
      </p:sp>
      <p:sp>
        <p:nvSpPr>
          <p:cNvPr id="28" name="mx_t0_0"/>
          <p:cNvSpPr txBox="1"/>
          <p:nvPr/>
        </p:nvSpPr>
        <p:spPr>
          <a:xfrm>
            <a:off x="9235440" y="2203704"/>
            <a:ext cx="1143000" cy="123444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SaaS</a:t>
            </a:r>
            <a:endParaRPr lang="en-US" sz="950" dirty="0"/>
          </a:p>
          <a:p>
            <a:pPr algn="ctr" indent="0" marL="0">
              <a:buNone/>
            </a:pPr>
            <a:r>
              <a:rPr lang="en-US" sz="950" dirty="0">
                <a:solidFill>
                  <a:srgbClr val="333333"/>
                </a:solidFill>
                <a:latin typeface="Meiryo UI" pitchFamily="34" charset="0"/>
                <a:ea typeface="Meiryo UI" pitchFamily="34" charset="-122"/>
                <a:cs typeface="Meiryo UI" pitchFamily="34" charset="-120"/>
              </a:rPr>
              <a:t>DB 保守</a:t>
            </a:r>
            <a:endParaRPr lang="en-US" sz="950" dirty="0"/>
          </a:p>
        </p:txBody>
      </p:sp>
      <p:sp>
        <p:nvSpPr>
          <p:cNvPr id="29" name="ovl_mx1_0"/>
          <p:cNvSpPr/>
          <p:nvPr/>
        </p:nvSpPr>
        <p:spPr>
          <a:xfrm>
            <a:off x="10460736" y="2176272"/>
            <a:ext cx="1234440" cy="1289304"/>
          </a:xfrm>
          <a:prstGeom prst="rect">
            <a:avLst/>
          </a:prstGeom>
          <a:solidFill>
            <a:srgbClr val="197A56"/>
          </a:solidFill>
          <a:ln w="9525">
            <a:solidFill>
              <a:srgbClr val="D9D9D9"/>
            </a:solidFill>
            <a:prstDash val="solid"/>
          </a:ln>
        </p:spPr>
      </p:sp>
      <p:sp>
        <p:nvSpPr>
          <p:cNvPr id="30" name="mx_t1_0"/>
          <p:cNvSpPr txBox="1"/>
          <p:nvPr/>
        </p:nvSpPr>
        <p:spPr>
          <a:xfrm>
            <a:off x="10506456" y="2203704"/>
            <a:ext cx="1143000" cy="123444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AI 容量</a:t>
            </a:r>
            <a:endParaRPr lang="en-US" sz="950" dirty="0"/>
          </a:p>
        </p:txBody>
      </p:sp>
      <p:sp>
        <p:nvSpPr>
          <p:cNvPr id="31" name="mx_y1"/>
          <p:cNvSpPr txBox="1"/>
          <p:nvPr/>
        </p:nvSpPr>
        <p:spPr>
          <a:xfrm>
            <a:off x="8183880" y="3502152"/>
            <a:ext cx="960120" cy="1325880"/>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1 株価値 小</a:t>
            </a:r>
            <a:endParaRPr lang="en-US" sz="950" dirty="0"/>
          </a:p>
        </p:txBody>
      </p:sp>
      <p:sp>
        <p:nvSpPr>
          <p:cNvPr id="32" name="ovl_mx0_1"/>
          <p:cNvSpPr/>
          <p:nvPr/>
        </p:nvSpPr>
        <p:spPr>
          <a:xfrm>
            <a:off x="9189720" y="3502152"/>
            <a:ext cx="1234440" cy="1289304"/>
          </a:xfrm>
          <a:prstGeom prst="rect">
            <a:avLst/>
          </a:prstGeom>
          <a:solidFill>
            <a:srgbClr val="FFFFFF"/>
          </a:solidFill>
          <a:ln w="9525">
            <a:solidFill>
              <a:srgbClr val="D9D9D9"/>
            </a:solidFill>
            <a:prstDash val="solid"/>
          </a:ln>
        </p:spPr>
      </p:sp>
      <p:sp>
        <p:nvSpPr>
          <p:cNvPr id="33" name="mx_t0_1"/>
          <p:cNvSpPr txBox="1"/>
          <p:nvPr/>
        </p:nvSpPr>
        <p:spPr>
          <a:xfrm>
            <a:off x="9235440" y="3529584"/>
            <a:ext cx="1143000" cy="123444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a:t>
            </a:r>
            <a:endParaRPr lang="en-US" sz="950" dirty="0"/>
          </a:p>
        </p:txBody>
      </p:sp>
      <p:sp>
        <p:nvSpPr>
          <p:cNvPr id="34" name="ovl_mx1_1"/>
          <p:cNvSpPr/>
          <p:nvPr/>
        </p:nvSpPr>
        <p:spPr>
          <a:xfrm>
            <a:off x="10460736" y="3502152"/>
            <a:ext cx="1234440" cy="1289304"/>
          </a:xfrm>
          <a:prstGeom prst="rect">
            <a:avLst/>
          </a:prstGeom>
          <a:solidFill>
            <a:srgbClr val="FFFFFF"/>
          </a:solidFill>
          <a:ln w="9525">
            <a:solidFill>
              <a:srgbClr val="D9D9D9"/>
            </a:solidFill>
            <a:prstDash val="solid"/>
          </a:ln>
        </p:spPr>
      </p:sp>
      <p:sp>
        <p:nvSpPr>
          <p:cNvPr id="35" name="mx_t1_1"/>
          <p:cNvSpPr txBox="1"/>
          <p:nvPr/>
        </p:nvSpPr>
        <p:spPr>
          <a:xfrm>
            <a:off x="10506456" y="3529584"/>
            <a:ext cx="1143000" cy="123444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Database@</a:t>
            </a:r>
            <a:endParaRPr lang="en-US" sz="950" dirty="0"/>
          </a:p>
          <a:p>
            <a:pPr algn="ctr" indent="0" marL="0">
              <a:buNone/>
            </a:pPr>
            <a:r>
              <a:rPr lang="en-US" sz="950" dirty="0">
                <a:solidFill>
                  <a:srgbClr val="333333"/>
                </a:solidFill>
                <a:latin typeface="Meiryo UI" pitchFamily="34" charset="0"/>
                <a:ea typeface="Meiryo UI" pitchFamily="34" charset="-122"/>
                <a:cs typeface="Meiryo UI" pitchFamily="34" charset="-120"/>
              </a:rPr>
              <a:t>ソブリン</a:t>
            </a:r>
            <a:endParaRPr lang="en-US" sz="950" dirty="0"/>
          </a:p>
          <a:p>
            <a:pPr algn="ctr" indent="0" marL="0">
              <a:buNone/>
            </a:pPr>
            <a:r>
              <a:rPr lang="en-US" sz="950" dirty="0">
                <a:solidFill>
                  <a:srgbClr val="333333"/>
                </a:solidFill>
                <a:latin typeface="Meiryo UI" pitchFamily="34" charset="0"/>
                <a:ea typeface="Meiryo UI" pitchFamily="34" charset="-122"/>
                <a:cs typeface="Meiryo UI" pitchFamily="34" charset="-120"/>
              </a:rPr>
              <a:t>AI Database</a:t>
            </a:r>
            <a:endParaRPr lang="en-US" sz="950" dirty="0"/>
          </a:p>
        </p:txBody>
      </p:sp>
      <p:sp>
        <p:nvSpPr>
          <p:cNvPr id="36" name="mx_xt"/>
          <p:cNvSpPr txBox="1"/>
          <p:nvPr/>
        </p:nvSpPr>
        <p:spPr>
          <a:xfrm>
            <a:off x="9189720" y="4846320"/>
            <a:ext cx="2542032" cy="237744"/>
          </a:xfrm>
          <a:prstGeom prst="rect">
            <a:avLst/>
          </a:prstGeom>
          <a:noFill/>
          <a:ln/>
        </p:spPr>
        <p:txBody>
          <a:bodyPr wrap="square" lIns="0" tIns="0" rIns="0" bIns="0" rtlCol="0" anchor="t"/>
          <a:lstStyle/>
          <a:p>
            <a:pPr algn="ctr" indent="0" marL="0">
              <a:buNone/>
            </a:pPr>
            <a:r>
              <a:rPr lang="en-US" sz="900" dirty="0">
                <a:solidFill>
                  <a:srgbClr val="767676"/>
                </a:solidFill>
                <a:latin typeface="Meiryo UI" pitchFamily="34" charset="0"/>
                <a:ea typeface="Meiryo UI" pitchFamily="34" charset="-122"/>
                <a:cs typeface="Meiryo UI" pitchFamily="34" charset="-120"/>
              </a:rPr>
              <a:t>伸びは前年同期比</a:t>
            </a:r>
            <a:endParaRPr lang="en-US" sz="900" dirty="0"/>
          </a:p>
        </p:txBody>
      </p:sp>
      <p:sp>
        <p:nvSpPr>
          <p:cNvPr id="37" name="Text 34"/>
          <p:cNvSpPr txBox="1"/>
          <p:nvPr/>
        </p:nvSpPr>
        <p:spPr>
          <a:xfrm>
            <a:off x="8183880" y="5074920"/>
            <a:ext cx="3547872" cy="1005840"/>
          </a:xfrm>
          <a:prstGeom prst="rect">
            <a:avLst/>
          </a:prstGeom>
          <a:noFill/>
          <a:ln/>
        </p:spPr>
        <p:txBody>
          <a:bodyPr wrap="square" lIns="508" tIns="508" rIns="508" bIns="508" rtlCol="0" anchor="t"/>
          <a:lstStyle/>
          <a:p>
            <a:pPr indent="0" marL="0">
              <a:buNone/>
            </a:pPr>
            <a:r>
              <a:rPr lang="en-US" sz="850" dirty="0">
                <a:solidFill>
                  <a:srgbClr val="767676"/>
                </a:solidFill>
                <a:latin typeface="Meiryo UI" pitchFamily="34" charset="0"/>
                <a:ea typeface="Meiryo UI" pitchFamily="34" charset="-122"/>
                <a:cs typeface="Meiryo UI" pitchFamily="34" charset="-120"/>
              </a:rPr>
              <a:t>★★★ = 1 株価値への効きが大きいか、伸びが速く結果が未確定の分野。</a:t>
            </a:r>
            <a:endParaRPr lang="en-US" sz="850" dirty="0"/>
          </a:p>
          <a:p>
            <a:pPr indent="0" marL="0">
              <a:buNone/>
            </a:pPr>
            <a:r>
              <a:rPr lang="en-US" sz="850" dirty="0">
                <a:solidFill>
                  <a:srgbClr val="767676"/>
                </a:solidFill>
                <a:latin typeface="Meiryo UI" pitchFamily="34" charset="0"/>
                <a:ea typeface="Meiryo UI" pitchFamily="34" charset="-122"/>
                <a:cs typeface="Meiryo UI" pitchFamily="34" charset="-120"/>
              </a:rPr>
              <a:t>★ = 伸びが穏やかで前提の幅が小さい分野。</a:t>
            </a:r>
            <a:endParaRPr lang="en-US" sz="850" dirty="0"/>
          </a:p>
          <a:p>
            <a:pPr indent="0" marL="0">
              <a:buNone/>
            </a:pPr>
            <a:r>
              <a:rPr lang="en-US" sz="850" dirty="0">
                <a:solidFill>
                  <a:srgbClr val="767676"/>
                </a:solidFill>
                <a:latin typeface="Meiryo UI" pitchFamily="34" charset="0"/>
                <a:ea typeface="Meiryo UI" pitchFamily="34" charset="-122"/>
                <a:cs typeface="Meiryo UI" pitchFamily="34" charset="-120"/>
              </a:rPr>
              <a:t>右下の 3 つは「次の大きな柱」の候補</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2-2 会社のシナリオ(1/3)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652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652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会社のシナリオ</a:t>
            </a:r>
            <a:endParaRPr lang="en-US" sz="1000" dirty="0"/>
          </a:p>
        </p:txBody>
      </p:sp>
      <p:sp>
        <p:nvSpPr>
          <p:cNvPr id="14" name="hdr_why"/>
          <p:cNvSpPr txBox="1"/>
          <p:nvPr/>
        </p:nvSpPr>
        <p:spPr>
          <a:xfrm>
            <a:off x="2255774" y="356616"/>
            <a:ext cx="9478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会社が描く成長の筋書きを 1 枚の図にし、以降の検証の地図にする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会社の筋書きは、学習・推論・アプリの 3 つの需要を DB と OCI で受け、</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FY29 に FCF 300 億ドル、FY30 に売上 2,250 億ドル・EPS 21 ドル</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需要の 3 層(学習・推論・アプリ)が、資金と建設を経て AI 容量・DB・OCI・SaaS の売上になる筋書き。①〜⑥ は右と対応。赤は制約。下は AI 容量の道筋と節目</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report/ORCL_report.md §4-1・4-2、Investor Day 2026-10-28(8-K Ex.99.1、CFO 資料 p.4・8・26)、需給エンジン第4.5版(calc/out/m10_*.json)</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11</a:t>
            </a:r>
            <a:endParaRPr lang="en-US" sz="800" dirty="0"/>
          </a:p>
        </p:txBody>
      </p:sp>
      <p:sp>
        <p:nvSpPr>
          <p:cNvPr id="19" name="goal_0"/>
          <p:cNvSpPr/>
          <p:nvPr/>
        </p:nvSpPr>
        <p:spPr>
          <a:xfrm>
            <a:off x="457200" y="1481328"/>
            <a:ext cx="1828800" cy="512064"/>
          </a:xfrm>
          <a:prstGeom prst="rect">
            <a:avLst/>
          </a:prstGeom>
          <a:solidFill>
            <a:srgbClr val="EAF4EE"/>
          </a:solidFill>
          <a:ln w="9525">
            <a:solidFill>
              <a:srgbClr val="EAF4EE"/>
            </a:solidFill>
          </a:ln>
        </p:spPr>
        <p:txBody>
          <a:bodyPr wrap="square" lIns="381" tIns="381" rIns="381" bIns="381" rtlCol="0" anchor="ctr"/>
          <a:lstStyle/>
          <a:p>
            <a:pPr algn="ctr" indent="0" marL="0">
              <a:buNone/>
            </a:pPr>
            <a:r>
              <a:rPr lang="en-US" sz="1150" b="1" dirty="0">
                <a:solidFill>
                  <a:srgbClr val="197A56"/>
                </a:solidFill>
                <a:latin typeface="Meiryo UI" pitchFamily="34" charset="0"/>
                <a:ea typeface="Meiryo UI" pitchFamily="34" charset="-122"/>
                <a:cs typeface="Meiryo UI" pitchFamily="34" charset="-120"/>
              </a:rPr>
              <a:t>売上 2,250 億ドル</a:t>
            </a:r>
            <a:endParaRPr lang="en-US" sz="1150" dirty="0"/>
          </a:p>
          <a:p>
            <a:pPr algn="ctr" indent="0" marL="0">
              <a:buNone/>
            </a:pPr>
            <a:r>
              <a:rPr lang="en-US" sz="800" dirty="0">
                <a:solidFill>
                  <a:srgbClr val="767676"/>
                </a:solidFill>
                <a:latin typeface="Meiryo UI" pitchFamily="34" charset="0"/>
                <a:ea typeface="Meiryo UI" pitchFamily="34" charset="-122"/>
                <a:cs typeface="Meiryo UI" pitchFamily="34" charset="-120"/>
              </a:rPr>
              <a:t>FY30 目標・CAGR 35% 超</a:t>
            </a:r>
            <a:endParaRPr lang="en-US" sz="1150" dirty="0"/>
          </a:p>
        </p:txBody>
      </p:sp>
      <p:sp>
        <p:nvSpPr>
          <p:cNvPr id="20" name="goal_1"/>
          <p:cNvSpPr/>
          <p:nvPr/>
        </p:nvSpPr>
        <p:spPr>
          <a:xfrm>
            <a:off x="2423160" y="1481328"/>
            <a:ext cx="1828800" cy="512064"/>
          </a:xfrm>
          <a:prstGeom prst="rect">
            <a:avLst/>
          </a:prstGeom>
          <a:solidFill>
            <a:srgbClr val="EAF4EE"/>
          </a:solidFill>
          <a:ln w="9525">
            <a:solidFill>
              <a:srgbClr val="EAF4EE"/>
            </a:solidFill>
          </a:ln>
        </p:spPr>
        <p:txBody>
          <a:bodyPr wrap="square" lIns="381" tIns="381" rIns="381" bIns="381" rtlCol="0" anchor="ctr"/>
          <a:lstStyle/>
          <a:p>
            <a:pPr algn="ctr" indent="0" marL="0">
              <a:buNone/>
            </a:pPr>
            <a:r>
              <a:rPr lang="en-US" sz="1150" b="1" dirty="0">
                <a:solidFill>
                  <a:srgbClr val="197A56"/>
                </a:solidFill>
                <a:latin typeface="Meiryo UI" pitchFamily="34" charset="0"/>
                <a:ea typeface="Meiryo UI" pitchFamily="34" charset="-122"/>
                <a:cs typeface="Meiryo UI" pitchFamily="34" charset="-120"/>
              </a:rPr>
              <a:t>OCI 1,660 億ドル</a:t>
            </a:r>
            <a:endParaRPr lang="en-US" sz="1150" dirty="0"/>
          </a:p>
          <a:p>
            <a:pPr algn="ctr" indent="0" marL="0">
              <a:buNone/>
            </a:pPr>
            <a:r>
              <a:rPr lang="en-US" sz="800" dirty="0">
                <a:solidFill>
                  <a:srgbClr val="767676"/>
                </a:solidFill>
                <a:latin typeface="Meiryo UI" pitchFamily="34" charset="0"/>
                <a:ea typeface="Meiryo UI" pitchFamily="34" charset="-122"/>
                <a:cs typeface="Meiryo UI" pitchFamily="34" charset="-120"/>
              </a:rPr>
              <a:t>売上に占める比率 38% → 74%</a:t>
            </a:r>
            <a:endParaRPr lang="en-US" sz="1150" dirty="0"/>
          </a:p>
        </p:txBody>
      </p:sp>
      <p:sp>
        <p:nvSpPr>
          <p:cNvPr id="21" name="goal_2"/>
          <p:cNvSpPr/>
          <p:nvPr/>
        </p:nvSpPr>
        <p:spPr>
          <a:xfrm>
            <a:off x="4389120" y="1481328"/>
            <a:ext cx="1828800" cy="512064"/>
          </a:xfrm>
          <a:prstGeom prst="rect">
            <a:avLst/>
          </a:prstGeom>
          <a:solidFill>
            <a:srgbClr val="EAF4EE"/>
          </a:solidFill>
          <a:ln w="9525">
            <a:solidFill>
              <a:srgbClr val="EAF4EE"/>
            </a:solidFill>
          </a:ln>
        </p:spPr>
        <p:txBody>
          <a:bodyPr wrap="square" lIns="381" tIns="381" rIns="381" bIns="381" rtlCol="0" anchor="ctr"/>
          <a:lstStyle/>
          <a:p>
            <a:pPr algn="ctr" indent="0" marL="0">
              <a:buNone/>
            </a:pPr>
            <a:r>
              <a:rPr lang="en-US" sz="1150" b="1" dirty="0">
                <a:solidFill>
                  <a:srgbClr val="197A56"/>
                </a:solidFill>
                <a:latin typeface="Meiryo UI" pitchFamily="34" charset="0"/>
                <a:ea typeface="Meiryo UI" pitchFamily="34" charset="-122"/>
                <a:cs typeface="Meiryo UI" pitchFamily="34" charset="-120"/>
              </a:rPr>
              <a:t>EPS 21 ドル</a:t>
            </a:r>
            <a:endParaRPr lang="en-US" sz="1150" dirty="0"/>
          </a:p>
          <a:p>
            <a:pPr algn="ctr" indent="0" marL="0">
              <a:buNone/>
            </a:pPr>
            <a:r>
              <a:rPr lang="en-US" sz="800" dirty="0">
                <a:solidFill>
                  <a:srgbClr val="767676"/>
                </a:solidFill>
                <a:latin typeface="Meiryo UI" pitchFamily="34" charset="0"/>
                <a:ea typeface="Meiryo UI" pitchFamily="34" charset="-122"/>
                <a:cs typeface="Meiryo UI" pitchFamily="34" charset="-120"/>
              </a:rPr>
              <a:t>非GAAP・5 年 CAGR 28%</a:t>
            </a:r>
            <a:endParaRPr lang="en-US" sz="1150" dirty="0"/>
          </a:p>
        </p:txBody>
      </p:sp>
      <p:sp>
        <p:nvSpPr>
          <p:cNvPr id="22" name="goal_3"/>
          <p:cNvSpPr/>
          <p:nvPr/>
        </p:nvSpPr>
        <p:spPr>
          <a:xfrm>
            <a:off x="6355080" y="1481328"/>
            <a:ext cx="1828800" cy="512064"/>
          </a:xfrm>
          <a:prstGeom prst="rect">
            <a:avLst/>
          </a:prstGeom>
          <a:solidFill>
            <a:srgbClr val="EAF4EE"/>
          </a:solidFill>
          <a:ln w="9525">
            <a:solidFill>
              <a:srgbClr val="EAF4EE"/>
            </a:solidFill>
          </a:ln>
        </p:spPr>
        <p:txBody>
          <a:bodyPr wrap="square" lIns="381" tIns="381" rIns="381" bIns="381" rtlCol="0" anchor="ctr"/>
          <a:lstStyle/>
          <a:p>
            <a:pPr algn="ctr" indent="0" marL="0">
              <a:buNone/>
            </a:pPr>
            <a:r>
              <a:rPr lang="en-US" sz="1150" b="1" dirty="0">
                <a:solidFill>
                  <a:srgbClr val="197A56"/>
                </a:solidFill>
                <a:latin typeface="Meiryo UI" pitchFamily="34" charset="0"/>
                <a:ea typeface="Meiryo UI" pitchFamily="34" charset="-122"/>
                <a:cs typeface="Meiryo UI" pitchFamily="34" charset="-120"/>
              </a:rPr>
              <a:t>AI 容量の粗利 30〜40%</a:t>
            </a:r>
            <a:endParaRPr lang="en-US" sz="1150" dirty="0"/>
          </a:p>
          <a:p>
            <a:pPr algn="ctr" indent="0" marL="0">
              <a:buNone/>
            </a:pPr>
            <a:r>
              <a:rPr lang="en-US" sz="800" dirty="0">
                <a:solidFill>
                  <a:srgbClr val="767676"/>
                </a:solidFill>
                <a:latin typeface="Meiryo UI" pitchFamily="34" charset="0"/>
                <a:ea typeface="Meiryo UI" pitchFamily="34" charset="-122"/>
                <a:cs typeface="Meiryo UI" pitchFamily="34" charset="-120"/>
              </a:rPr>
              <a:t>立ち上がり後(会社の言葉)</a:t>
            </a:r>
            <a:endParaRPr lang="en-US" sz="1150" dirty="0"/>
          </a:p>
        </p:txBody>
      </p:sp>
      <p:sp>
        <p:nvSpPr>
          <p:cNvPr id="23" name="bg_lane0"/>
          <p:cNvSpPr/>
          <p:nvPr/>
        </p:nvSpPr>
        <p:spPr>
          <a:xfrm>
            <a:off x="347472" y="2103120"/>
            <a:ext cx="1591056" cy="2825496"/>
          </a:xfrm>
          <a:prstGeom prst="rect">
            <a:avLst/>
          </a:prstGeom>
          <a:solidFill>
            <a:srgbClr val="F2F2F2"/>
          </a:solidFill>
          <a:ln w="12700">
            <a:solidFill>
              <a:srgbClr val="F2F2F2"/>
            </a:solidFill>
            <a:prstDash val="solid"/>
          </a:ln>
        </p:spPr>
      </p:sp>
      <p:sp>
        <p:nvSpPr>
          <p:cNvPr id="24" name="bg_laneh0"/>
          <p:cNvSpPr/>
          <p:nvPr/>
        </p:nvSpPr>
        <p:spPr>
          <a:xfrm>
            <a:off x="347472" y="2103120"/>
            <a:ext cx="1591056" cy="274320"/>
          </a:xfrm>
          <a:prstGeom prst="rect">
            <a:avLst/>
          </a:prstGeom>
          <a:solidFill>
            <a:srgbClr val="D9D9D9"/>
          </a:solidFill>
          <a:ln w="12700">
            <a:solidFill>
              <a:srgbClr val="D9D9D9"/>
            </a:solidFill>
            <a:prstDash val="solid"/>
          </a:ln>
        </p:spPr>
      </p:sp>
      <p:sp>
        <p:nvSpPr>
          <p:cNvPr id="25" name="bg_lanet0"/>
          <p:cNvSpPr txBox="1"/>
          <p:nvPr/>
        </p:nvSpPr>
        <p:spPr>
          <a:xfrm>
            <a:off x="347472" y="2103120"/>
            <a:ext cx="159105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需要の 3 層</a:t>
            </a:r>
            <a:endParaRPr lang="en-US" sz="950" dirty="0"/>
          </a:p>
        </p:txBody>
      </p:sp>
      <p:sp>
        <p:nvSpPr>
          <p:cNvPr id="26" name="bg_lane1"/>
          <p:cNvSpPr/>
          <p:nvPr/>
        </p:nvSpPr>
        <p:spPr>
          <a:xfrm>
            <a:off x="2374392" y="2103120"/>
            <a:ext cx="1682496" cy="2825496"/>
          </a:xfrm>
          <a:prstGeom prst="rect">
            <a:avLst/>
          </a:prstGeom>
          <a:solidFill>
            <a:srgbClr val="EAF4EE"/>
          </a:solidFill>
          <a:ln w="12700">
            <a:solidFill>
              <a:srgbClr val="EAF4EE"/>
            </a:solidFill>
            <a:prstDash val="solid"/>
          </a:ln>
        </p:spPr>
      </p:sp>
      <p:sp>
        <p:nvSpPr>
          <p:cNvPr id="27" name="bg_laneh1"/>
          <p:cNvSpPr/>
          <p:nvPr/>
        </p:nvSpPr>
        <p:spPr>
          <a:xfrm>
            <a:off x="2374392" y="2103120"/>
            <a:ext cx="1682496" cy="274320"/>
          </a:xfrm>
          <a:prstGeom prst="rect">
            <a:avLst/>
          </a:prstGeom>
          <a:solidFill>
            <a:srgbClr val="197A56"/>
          </a:solidFill>
          <a:ln w="12700">
            <a:solidFill>
              <a:srgbClr val="197A56"/>
            </a:solidFill>
            <a:prstDash val="solid"/>
          </a:ln>
        </p:spPr>
      </p:sp>
      <p:sp>
        <p:nvSpPr>
          <p:cNvPr id="28" name="bg_lanet1"/>
          <p:cNvSpPr txBox="1"/>
          <p:nvPr/>
        </p:nvSpPr>
        <p:spPr>
          <a:xfrm>
            <a:off x="2374392" y="2103120"/>
            <a:ext cx="1682496"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Oracle の資金と建設</a:t>
            </a:r>
            <a:endParaRPr lang="en-US" sz="950" dirty="0"/>
          </a:p>
        </p:txBody>
      </p:sp>
      <p:sp>
        <p:nvSpPr>
          <p:cNvPr id="29" name="bg_lane2"/>
          <p:cNvSpPr/>
          <p:nvPr/>
        </p:nvSpPr>
        <p:spPr>
          <a:xfrm>
            <a:off x="4492752" y="2103120"/>
            <a:ext cx="1819656" cy="2825496"/>
          </a:xfrm>
          <a:prstGeom prst="rect">
            <a:avLst/>
          </a:prstGeom>
          <a:solidFill>
            <a:srgbClr val="EAF4EE"/>
          </a:solidFill>
          <a:ln w="12700">
            <a:solidFill>
              <a:srgbClr val="EAF4EE"/>
            </a:solidFill>
            <a:prstDash val="solid"/>
          </a:ln>
        </p:spPr>
      </p:sp>
      <p:sp>
        <p:nvSpPr>
          <p:cNvPr id="30" name="bg_laneh2"/>
          <p:cNvSpPr/>
          <p:nvPr/>
        </p:nvSpPr>
        <p:spPr>
          <a:xfrm>
            <a:off x="4492752" y="2103120"/>
            <a:ext cx="1819656" cy="274320"/>
          </a:xfrm>
          <a:prstGeom prst="rect">
            <a:avLst/>
          </a:prstGeom>
          <a:solidFill>
            <a:srgbClr val="197A56"/>
          </a:solidFill>
          <a:ln w="12700">
            <a:solidFill>
              <a:srgbClr val="197A56"/>
            </a:solidFill>
            <a:prstDash val="solid"/>
          </a:ln>
        </p:spPr>
      </p:sp>
      <p:sp>
        <p:nvSpPr>
          <p:cNvPr id="31" name="bg_lanet2"/>
          <p:cNvSpPr txBox="1"/>
          <p:nvPr/>
        </p:nvSpPr>
        <p:spPr>
          <a:xfrm>
            <a:off x="4492752" y="2103120"/>
            <a:ext cx="1819656"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Oracle の収益化</a:t>
            </a:r>
            <a:endParaRPr lang="en-US" sz="950" dirty="0"/>
          </a:p>
        </p:txBody>
      </p:sp>
      <p:sp>
        <p:nvSpPr>
          <p:cNvPr id="32" name="bg_lane3"/>
          <p:cNvSpPr/>
          <p:nvPr/>
        </p:nvSpPr>
        <p:spPr>
          <a:xfrm>
            <a:off x="6748272" y="2103120"/>
            <a:ext cx="1545336" cy="2825496"/>
          </a:xfrm>
          <a:prstGeom prst="rect">
            <a:avLst/>
          </a:prstGeom>
          <a:solidFill>
            <a:srgbClr val="F2F2F2"/>
          </a:solidFill>
          <a:ln w="12700">
            <a:solidFill>
              <a:srgbClr val="F2F2F2"/>
            </a:solidFill>
            <a:prstDash val="solid"/>
          </a:ln>
        </p:spPr>
      </p:sp>
      <p:sp>
        <p:nvSpPr>
          <p:cNvPr id="33" name="bg_laneh3"/>
          <p:cNvSpPr/>
          <p:nvPr/>
        </p:nvSpPr>
        <p:spPr>
          <a:xfrm>
            <a:off x="6748272" y="2103120"/>
            <a:ext cx="1545336" cy="274320"/>
          </a:xfrm>
          <a:prstGeom prst="rect">
            <a:avLst/>
          </a:prstGeom>
          <a:solidFill>
            <a:srgbClr val="D9D9D9"/>
          </a:solidFill>
          <a:ln w="12700">
            <a:solidFill>
              <a:srgbClr val="D9D9D9"/>
            </a:solidFill>
            <a:prstDash val="solid"/>
          </a:ln>
        </p:spPr>
      </p:sp>
      <p:sp>
        <p:nvSpPr>
          <p:cNvPr id="34" name="bg_lanet3"/>
          <p:cNvSpPr txBox="1"/>
          <p:nvPr/>
        </p:nvSpPr>
        <p:spPr>
          <a:xfrm>
            <a:off x="6748272" y="2103120"/>
            <a:ext cx="154533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成果と制約</a:t>
            </a:r>
            <a:endParaRPr lang="en-US" sz="950" dirty="0"/>
          </a:p>
        </p:txBody>
      </p:sp>
      <p:sp>
        <p:nvSpPr>
          <p:cNvPr id="35" name="ovl_s08d_e0_0"/>
          <p:cNvSpPr/>
          <p:nvPr/>
        </p:nvSpPr>
        <p:spPr>
          <a:xfrm>
            <a:off x="1828800" y="2875788"/>
            <a:ext cx="655320" cy="914"/>
          </a:xfrm>
          <a:prstGeom prst="line">
            <a:avLst/>
          </a:prstGeom>
          <a:noFill/>
          <a:ln w="22225">
            <a:solidFill>
              <a:srgbClr val="0E4D33"/>
            </a:solidFill>
            <a:prstDash val="solid"/>
            <a:tailEnd type="triangle"/>
          </a:ln>
        </p:spPr>
      </p:sp>
      <p:sp>
        <p:nvSpPr>
          <p:cNvPr id="36" name="ovl_s08d_e1_0"/>
          <p:cNvSpPr/>
          <p:nvPr/>
        </p:nvSpPr>
        <p:spPr>
          <a:xfrm>
            <a:off x="3215640" y="3168396"/>
            <a:ext cx="914" cy="228600"/>
          </a:xfrm>
          <a:prstGeom prst="line">
            <a:avLst/>
          </a:prstGeom>
          <a:noFill/>
          <a:ln w="22225">
            <a:solidFill>
              <a:srgbClr val="0E4D33"/>
            </a:solidFill>
            <a:prstDash val="solid"/>
            <a:tailEnd type="triangle"/>
          </a:ln>
        </p:spPr>
      </p:sp>
      <p:sp>
        <p:nvSpPr>
          <p:cNvPr id="37" name="ovl_s08d_e2_0"/>
          <p:cNvSpPr/>
          <p:nvPr/>
        </p:nvSpPr>
        <p:spPr>
          <a:xfrm>
            <a:off x="3947160" y="3689604"/>
            <a:ext cx="655320" cy="914"/>
          </a:xfrm>
          <a:prstGeom prst="line">
            <a:avLst/>
          </a:prstGeom>
          <a:noFill/>
          <a:ln w="19050">
            <a:solidFill>
              <a:srgbClr val="1BA1A6"/>
            </a:solidFill>
            <a:prstDash val="solid"/>
            <a:tailEnd type="triangle"/>
          </a:ln>
        </p:spPr>
      </p:sp>
      <p:sp>
        <p:nvSpPr>
          <p:cNvPr id="38" name="ovl_s08d_e3_0"/>
          <p:cNvSpPr/>
          <p:nvPr/>
        </p:nvSpPr>
        <p:spPr>
          <a:xfrm>
            <a:off x="6202680" y="3689604"/>
            <a:ext cx="655320" cy="914"/>
          </a:xfrm>
          <a:prstGeom prst="line">
            <a:avLst/>
          </a:prstGeom>
          <a:noFill/>
          <a:ln w="22225">
            <a:solidFill>
              <a:srgbClr val="0E4D33"/>
            </a:solidFill>
            <a:prstDash val="solid"/>
            <a:tailEnd type="triangle"/>
          </a:ln>
        </p:spPr>
      </p:sp>
      <p:sp>
        <p:nvSpPr>
          <p:cNvPr id="39" name="ovl_s08d_e4_0"/>
          <p:cNvSpPr/>
          <p:nvPr/>
        </p:nvSpPr>
        <p:spPr>
          <a:xfrm>
            <a:off x="6202680" y="2875788"/>
            <a:ext cx="198120" cy="914"/>
          </a:xfrm>
          <a:prstGeom prst="line">
            <a:avLst/>
          </a:prstGeom>
          <a:noFill/>
          <a:ln w="19050">
            <a:solidFill>
              <a:srgbClr val="1BA1A6"/>
            </a:solidFill>
            <a:prstDash val="solid"/>
          </a:ln>
        </p:spPr>
      </p:sp>
      <p:sp>
        <p:nvSpPr>
          <p:cNvPr id="40" name="ovl_s08d_e4_1"/>
          <p:cNvSpPr/>
          <p:nvPr/>
        </p:nvSpPr>
        <p:spPr>
          <a:xfrm>
            <a:off x="6400800" y="2875788"/>
            <a:ext cx="914" cy="704088"/>
          </a:xfrm>
          <a:prstGeom prst="line">
            <a:avLst/>
          </a:prstGeom>
          <a:noFill/>
          <a:ln w="19050">
            <a:solidFill>
              <a:srgbClr val="1BA1A6"/>
            </a:solidFill>
            <a:prstDash val="solid"/>
          </a:ln>
        </p:spPr>
      </p:sp>
      <p:sp>
        <p:nvSpPr>
          <p:cNvPr id="41" name="ovl_s08d_e4_2"/>
          <p:cNvSpPr/>
          <p:nvPr/>
        </p:nvSpPr>
        <p:spPr>
          <a:xfrm>
            <a:off x="6400800" y="3579876"/>
            <a:ext cx="457200" cy="914"/>
          </a:xfrm>
          <a:prstGeom prst="line">
            <a:avLst/>
          </a:prstGeom>
          <a:noFill/>
          <a:ln w="19050">
            <a:solidFill>
              <a:srgbClr val="1BA1A6"/>
            </a:solidFill>
            <a:prstDash val="solid"/>
            <a:tailEnd type="triangle"/>
          </a:ln>
        </p:spPr>
      </p:sp>
      <p:sp>
        <p:nvSpPr>
          <p:cNvPr id="42" name="ovl_s08d_e5_0"/>
          <p:cNvSpPr/>
          <p:nvPr/>
        </p:nvSpPr>
        <p:spPr>
          <a:xfrm>
            <a:off x="6202680" y="4503420"/>
            <a:ext cx="472440" cy="914"/>
          </a:xfrm>
          <a:prstGeom prst="line">
            <a:avLst/>
          </a:prstGeom>
          <a:noFill/>
          <a:ln w="19050">
            <a:solidFill>
              <a:srgbClr val="1BA1A6"/>
            </a:solidFill>
            <a:prstDash val="solid"/>
          </a:ln>
        </p:spPr>
      </p:sp>
      <p:sp>
        <p:nvSpPr>
          <p:cNvPr id="43" name="ovl_s08d_e5_1"/>
          <p:cNvSpPr/>
          <p:nvPr/>
        </p:nvSpPr>
        <p:spPr>
          <a:xfrm flipV="1">
            <a:off x="6675120" y="3799332"/>
            <a:ext cx="914" cy="704088"/>
          </a:xfrm>
          <a:prstGeom prst="line">
            <a:avLst/>
          </a:prstGeom>
          <a:noFill/>
          <a:ln w="19050">
            <a:solidFill>
              <a:srgbClr val="1BA1A6"/>
            </a:solidFill>
            <a:prstDash val="solid"/>
          </a:ln>
        </p:spPr>
      </p:sp>
      <p:sp>
        <p:nvSpPr>
          <p:cNvPr id="44" name="ovl_s08d_e5_2"/>
          <p:cNvSpPr/>
          <p:nvPr/>
        </p:nvSpPr>
        <p:spPr>
          <a:xfrm>
            <a:off x="6675120" y="3799332"/>
            <a:ext cx="182880" cy="914"/>
          </a:xfrm>
          <a:prstGeom prst="line">
            <a:avLst/>
          </a:prstGeom>
          <a:noFill/>
          <a:ln w="19050">
            <a:solidFill>
              <a:srgbClr val="1BA1A6"/>
            </a:solidFill>
            <a:prstDash val="solid"/>
            <a:tailEnd type="triangle"/>
          </a:ln>
        </p:spPr>
      </p:sp>
      <p:sp>
        <p:nvSpPr>
          <p:cNvPr id="45" name="ovl_s08d_e6_0"/>
          <p:cNvSpPr/>
          <p:nvPr/>
        </p:nvSpPr>
        <p:spPr>
          <a:xfrm>
            <a:off x="1828800" y="3689604"/>
            <a:ext cx="329184" cy="914"/>
          </a:xfrm>
          <a:prstGeom prst="line">
            <a:avLst/>
          </a:prstGeom>
          <a:noFill/>
          <a:ln w="19050">
            <a:solidFill>
              <a:srgbClr val="1BA1A6"/>
            </a:solidFill>
            <a:prstDash val="solid"/>
          </a:ln>
        </p:spPr>
      </p:sp>
      <p:sp>
        <p:nvSpPr>
          <p:cNvPr id="46" name="ovl_s08d_e6_1"/>
          <p:cNvSpPr/>
          <p:nvPr/>
        </p:nvSpPr>
        <p:spPr>
          <a:xfrm>
            <a:off x="2157984" y="3689604"/>
            <a:ext cx="914" cy="704088"/>
          </a:xfrm>
          <a:prstGeom prst="line">
            <a:avLst/>
          </a:prstGeom>
          <a:noFill/>
          <a:ln w="19050">
            <a:solidFill>
              <a:srgbClr val="1BA1A6"/>
            </a:solidFill>
            <a:prstDash val="solid"/>
          </a:ln>
        </p:spPr>
      </p:sp>
      <p:sp>
        <p:nvSpPr>
          <p:cNvPr id="47" name="ovl_s08d_e6_2"/>
          <p:cNvSpPr/>
          <p:nvPr/>
        </p:nvSpPr>
        <p:spPr>
          <a:xfrm>
            <a:off x="2157984" y="4393692"/>
            <a:ext cx="2444496" cy="914"/>
          </a:xfrm>
          <a:prstGeom prst="line">
            <a:avLst/>
          </a:prstGeom>
          <a:noFill/>
          <a:ln w="19050">
            <a:solidFill>
              <a:srgbClr val="1BA1A6"/>
            </a:solidFill>
            <a:prstDash val="solid"/>
            <a:tailEnd type="triangle"/>
          </a:ln>
        </p:spPr>
      </p:sp>
      <p:sp>
        <p:nvSpPr>
          <p:cNvPr id="48" name="ovl_s08d_e7_0"/>
          <p:cNvSpPr/>
          <p:nvPr/>
        </p:nvSpPr>
        <p:spPr>
          <a:xfrm>
            <a:off x="1828800" y="4503420"/>
            <a:ext cx="2773680" cy="914"/>
          </a:xfrm>
          <a:prstGeom prst="line">
            <a:avLst/>
          </a:prstGeom>
          <a:noFill/>
          <a:ln w="19050">
            <a:solidFill>
              <a:srgbClr val="1BA1A6"/>
            </a:solidFill>
            <a:prstDash val="solid"/>
            <a:tailEnd type="triangle"/>
          </a:ln>
        </p:spPr>
      </p:sp>
      <p:sp>
        <p:nvSpPr>
          <p:cNvPr id="49" name="ovl_s08d_e8_0"/>
          <p:cNvSpPr/>
          <p:nvPr/>
        </p:nvSpPr>
        <p:spPr>
          <a:xfrm>
            <a:off x="1828800" y="4393692"/>
            <a:ext cx="2715768" cy="914"/>
          </a:xfrm>
          <a:prstGeom prst="line">
            <a:avLst/>
          </a:prstGeom>
          <a:noFill/>
          <a:ln w="22225">
            <a:solidFill>
              <a:srgbClr val="0E4D33"/>
            </a:solidFill>
            <a:prstDash val="solid"/>
          </a:ln>
        </p:spPr>
      </p:sp>
      <p:sp>
        <p:nvSpPr>
          <p:cNvPr id="50" name="ovl_s08d_e8_1"/>
          <p:cNvSpPr/>
          <p:nvPr/>
        </p:nvSpPr>
        <p:spPr>
          <a:xfrm flipV="1">
            <a:off x="4544568" y="2875788"/>
            <a:ext cx="914" cy="1517904"/>
          </a:xfrm>
          <a:prstGeom prst="line">
            <a:avLst/>
          </a:prstGeom>
          <a:noFill/>
          <a:ln w="22225">
            <a:solidFill>
              <a:srgbClr val="0E4D33"/>
            </a:solidFill>
            <a:prstDash val="solid"/>
          </a:ln>
        </p:spPr>
      </p:sp>
      <p:sp>
        <p:nvSpPr>
          <p:cNvPr id="51" name="ovl_s08d_e8_2"/>
          <p:cNvSpPr/>
          <p:nvPr/>
        </p:nvSpPr>
        <p:spPr>
          <a:xfrm>
            <a:off x="4544568" y="2875788"/>
            <a:ext cx="57912" cy="914"/>
          </a:xfrm>
          <a:prstGeom prst="line">
            <a:avLst/>
          </a:prstGeom>
          <a:noFill/>
          <a:ln w="22225">
            <a:solidFill>
              <a:srgbClr val="0E4D33"/>
            </a:solidFill>
            <a:prstDash val="solid"/>
            <a:tailEnd type="triangle"/>
          </a:ln>
        </p:spPr>
      </p:sp>
      <p:sp>
        <p:nvSpPr>
          <p:cNvPr id="52" name="ovl_s08d_e9_0"/>
          <p:cNvSpPr/>
          <p:nvPr/>
        </p:nvSpPr>
        <p:spPr>
          <a:xfrm flipH="1">
            <a:off x="6784848" y="4503420"/>
            <a:ext cx="73152" cy="914"/>
          </a:xfrm>
          <a:prstGeom prst="line">
            <a:avLst/>
          </a:prstGeom>
          <a:noFill/>
          <a:ln w="15875">
            <a:solidFill>
              <a:srgbClr val="C0392B"/>
            </a:solidFill>
            <a:prstDash val="dash"/>
          </a:ln>
        </p:spPr>
      </p:sp>
      <p:sp>
        <p:nvSpPr>
          <p:cNvPr id="53" name="ovl_s08d_e9_1"/>
          <p:cNvSpPr/>
          <p:nvPr/>
        </p:nvSpPr>
        <p:spPr>
          <a:xfrm flipV="1">
            <a:off x="6784848" y="3799332"/>
            <a:ext cx="914" cy="704088"/>
          </a:xfrm>
          <a:prstGeom prst="line">
            <a:avLst/>
          </a:prstGeom>
          <a:noFill/>
          <a:ln w="15875">
            <a:solidFill>
              <a:srgbClr val="C0392B"/>
            </a:solidFill>
            <a:prstDash val="dash"/>
          </a:ln>
        </p:spPr>
      </p:sp>
      <p:sp>
        <p:nvSpPr>
          <p:cNvPr id="54" name="ovl_s08d_e9_2"/>
          <p:cNvSpPr/>
          <p:nvPr/>
        </p:nvSpPr>
        <p:spPr>
          <a:xfrm flipH="1">
            <a:off x="6202680" y="3799332"/>
            <a:ext cx="582168" cy="914"/>
          </a:xfrm>
          <a:prstGeom prst="line">
            <a:avLst/>
          </a:prstGeom>
          <a:noFill/>
          <a:ln w="15875">
            <a:solidFill>
              <a:srgbClr val="C0392B"/>
            </a:solidFill>
            <a:prstDash val="dash"/>
            <a:tailEnd type="triangle"/>
          </a:ln>
        </p:spPr>
      </p:sp>
      <p:sp>
        <p:nvSpPr>
          <p:cNvPr id="55" name="ovl_s08d_n_learn"/>
          <p:cNvSpPr/>
          <p:nvPr/>
        </p:nvSpPr>
        <p:spPr>
          <a:xfrm>
            <a:off x="457200" y="2583180"/>
            <a:ext cx="1371600" cy="585216"/>
          </a:xfrm>
          <a:prstGeom prst="roundRect">
            <a:avLst>
              <a:gd name="adj" fmla="val 9375"/>
            </a:avLst>
          </a:prstGeom>
          <a:solidFill>
            <a:srgbClr val="FFFFFF"/>
          </a:solidFill>
          <a:ln w="9525">
            <a:solidFill>
              <a:srgbClr val="767676"/>
            </a:solidFill>
            <a:prstDash val="solid"/>
          </a:ln>
        </p:spPr>
      </p:sp>
      <p:sp>
        <p:nvSpPr>
          <p:cNvPr id="56" name="ovl_s08d_nt_learn"/>
          <p:cNvSpPr txBox="1"/>
          <p:nvPr/>
        </p:nvSpPr>
        <p:spPr>
          <a:xfrm>
            <a:off x="493776" y="2610612"/>
            <a:ext cx="12984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学習</a:t>
            </a:r>
            <a:endParaRPr lang="en-US" sz="1000" dirty="0"/>
          </a:p>
        </p:txBody>
      </p:sp>
      <p:sp>
        <p:nvSpPr>
          <p:cNvPr id="57" name="ovl_s08d_ns_learn"/>
          <p:cNvSpPr txBox="1"/>
          <p:nvPr/>
        </p:nvSpPr>
        <p:spPr>
          <a:xfrm>
            <a:off x="502920" y="2816352"/>
            <a:ext cx="1280160" cy="324612"/>
          </a:xfrm>
          <a:prstGeom prst="rect">
            <a:avLst/>
          </a:prstGeom>
          <a:noFill/>
          <a:ln/>
        </p:spPr>
        <p:txBody>
          <a:bodyPr wrap="square" lIns="0" tIns="0" rIns="0" bIns="0" rtlCol="0" anchor="t"/>
          <a:lstStyle/>
          <a:p>
            <a:pPr algn="ctr" indent="0" marL="0">
              <a:buNone/>
            </a:pPr>
            <a:r>
              <a:rPr lang="en-US" sz="800" dirty="0">
                <a:solidFill>
                  <a:srgbClr val="333333"/>
                </a:solidFill>
                <a:latin typeface="Meiryo UI" pitchFamily="34" charset="0"/>
                <a:ea typeface="Meiryo UI" pitchFamily="34" charset="-122"/>
                <a:cs typeface="Meiryo UI" pitchFamily="34" charset="-120"/>
              </a:rPr>
              <a:t>GW 級の拠点・大型契約</a:t>
            </a:r>
            <a:endParaRPr lang="en-US" sz="800" dirty="0"/>
          </a:p>
          <a:p>
            <a:pPr algn="ctr" indent="0" marL="0">
              <a:buNone/>
            </a:pPr>
            <a:r>
              <a:rPr lang="en-US" sz="800" dirty="0">
                <a:solidFill>
                  <a:srgbClr val="333333"/>
                </a:solidFill>
                <a:latin typeface="Meiryo UI" pitchFamily="34" charset="0"/>
                <a:ea typeface="Meiryo UI" pitchFamily="34" charset="-122"/>
                <a:cs typeface="Meiryo UI" pitchFamily="34" charset="-120"/>
              </a:rPr>
              <a:t>コストプラス</a:t>
            </a:r>
            <a:endParaRPr lang="en-US" sz="800" dirty="0"/>
          </a:p>
        </p:txBody>
      </p:sp>
      <p:sp>
        <p:nvSpPr>
          <p:cNvPr id="58" name="ovl_s08d_n_infer"/>
          <p:cNvSpPr/>
          <p:nvPr/>
        </p:nvSpPr>
        <p:spPr>
          <a:xfrm>
            <a:off x="457200" y="3396996"/>
            <a:ext cx="1371600" cy="585216"/>
          </a:xfrm>
          <a:prstGeom prst="roundRect">
            <a:avLst>
              <a:gd name="adj" fmla="val 9375"/>
            </a:avLst>
          </a:prstGeom>
          <a:solidFill>
            <a:srgbClr val="FFFFFF"/>
          </a:solidFill>
          <a:ln w="9525">
            <a:solidFill>
              <a:srgbClr val="767676"/>
            </a:solidFill>
            <a:prstDash val="solid"/>
          </a:ln>
        </p:spPr>
      </p:sp>
      <p:sp>
        <p:nvSpPr>
          <p:cNvPr id="59" name="ovl_s08d_nt_infer"/>
          <p:cNvSpPr txBox="1"/>
          <p:nvPr/>
        </p:nvSpPr>
        <p:spPr>
          <a:xfrm>
            <a:off x="493776" y="3424428"/>
            <a:ext cx="12984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推論</a:t>
            </a:r>
            <a:endParaRPr lang="en-US" sz="1000" dirty="0"/>
          </a:p>
        </p:txBody>
      </p:sp>
      <p:sp>
        <p:nvSpPr>
          <p:cNvPr id="60" name="ovl_s08d_ns_infer"/>
          <p:cNvSpPr txBox="1"/>
          <p:nvPr/>
        </p:nvSpPr>
        <p:spPr>
          <a:xfrm>
            <a:off x="502920" y="3630168"/>
            <a:ext cx="1280160" cy="324612"/>
          </a:xfrm>
          <a:prstGeom prst="rect">
            <a:avLst/>
          </a:prstGeom>
          <a:noFill/>
          <a:ln/>
        </p:spPr>
        <p:txBody>
          <a:bodyPr wrap="square" lIns="0" tIns="0" rIns="0" bIns="0" rtlCol="0" anchor="t"/>
          <a:lstStyle/>
          <a:p>
            <a:pPr algn="ctr" indent="0" marL="0">
              <a:buNone/>
            </a:pPr>
            <a:r>
              <a:rPr lang="en-US" sz="800" dirty="0">
                <a:solidFill>
                  <a:srgbClr val="333333"/>
                </a:solidFill>
                <a:latin typeface="Meiryo UI" pitchFamily="34" charset="0"/>
                <a:ea typeface="Meiryo UI" pitchFamily="34" charset="-122"/>
                <a:cs typeface="Meiryo UI" pitchFamily="34" charset="-120"/>
              </a:rPr>
              <a:t>推論は AI 計算の約 2/3</a:t>
            </a:r>
            <a:endParaRPr lang="en-US" sz="800" dirty="0"/>
          </a:p>
          <a:p>
            <a:pPr algn="ctr" indent="0" marL="0">
              <a:buNone/>
            </a:pPr>
            <a:r>
              <a:rPr lang="en-US" sz="800" dirty="0">
                <a:solidFill>
                  <a:srgbClr val="333333"/>
                </a:solidFill>
                <a:latin typeface="Meiryo UI" pitchFamily="34" charset="0"/>
                <a:ea typeface="Meiryo UI" pitchFamily="34" charset="-122"/>
                <a:cs typeface="Meiryo UI" pitchFamily="34" charset="-120"/>
              </a:rPr>
              <a:t>企業データの近く</a:t>
            </a:r>
            <a:endParaRPr lang="en-US" sz="800" dirty="0"/>
          </a:p>
        </p:txBody>
      </p:sp>
      <p:sp>
        <p:nvSpPr>
          <p:cNvPr id="61" name="ovl_s08d_n_app"/>
          <p:cNvSpPr/>
          <p:nvPr/>
        </p:nvSpPr>
        <p:spPr>
          <a:xfrm>
            <a:off x="457200" y="4210812"/>
            <a:ext cx="1371600" cy="585216"/>
          </a:xfrm>
          <a:prstGeom prst="roundRect">
            <a:avLst>
              <a:gd name="adj" fmla="val 9375"/>
            </a:avLst>
          </a:prstGeom>
          <a:solidFill>
            <a:srgbClr val="FFFFFF"/>
          </a:solidFill>
          <a:ln w="9525">
            <a:solidFill>
              <a:srgbClr val="767676"/>
            </a:solidFill>
            <a:prstDash val="solid"/>
          </a:ln>
        </p:spPr>
      </p:sp>
      <p:sp>
        <p:nvSpPr>
          <p:cNvPr id="62" name="ovl_s08d_nt_app"/>
          <p:cNvSpPr txBox="1"/>
          <p:nvPr/>
        </p:nvSpPr>
        <p:spPr>
          <a:xfrm>
            <a:off x="493776" y="4238244"/>
            <a:ext cx="12984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アプリ・ERP</a:t>
            </a:r>
            <a:endParaRPr lang="en-US" sz="1000" dirty="0"/>
          </a:p>
        </p:txBody>
      </p:sp>
      <p:sp>
        <p:nvSpPr>
          <p:cNvPr id="63" name="ovl_s08d_ns_app"/>
          <p:cNvSpPr txBox="1"/>
          <p:nvPr/>
        </p:nvSpPr>
        <p:spPr>
          <a:xfrm>
            <a:off x="502920" y="4443984"/>
            <a:ext cx="1280160" cy="324612"/>
          </a:xfrm>
          <a:prstGeom prst="rect">
            <a:avLst/>
          </a:prstGeom>
          <a:noFill/>
          <a:ln/>
        </p:spPr>
        <p:txBody>
          <a:bodyPr wrap="square" lIns="0" tIns="0" rIns="0" bIns="0" rtlCol="0" anchor="t"/>
          <a:lstStyle/>
          <a:p>
            <a:pPr algn="ctr" indent="0" marL="0">
              <a:buNone/>
            </a:pPr>
            <a:r>
              <a:rPr lang="en-US" sz="800" dirty="0">
                <a:solidFill>
                  <a:srgbClr val="333333"/>
                </a:solidFill>
                <a:latin typeface="Meiryo UI" pitchFamily="34" charset="0"/>
                <a:ea typeface="Meiryo UI" pitchFamily="34" charset="-122"/>
                <a:cs typeface="Meiryo UI" pitchFamily="34" charset="-120"/>
              </a:rPr>
              <a:t>ERP の約半分がオンプレ</a:t>
            </a:r>
            <a:endParaRPr lang="en-US" sz="800" dirty="0"/>
          </a:p>
          <a:p>
            <a:pPr algn="ctr" indent="0" marL="0">
              <a:buNone/>
            </a:pPr>
            <a:r>
              <a:rPr lang="en-US" sz="800" dirty="0">
                <a:solidFill>
                  <a:srgbClr val="333333"/>
                </a:solidFill>
                <a:latin typeface="Meiryo UI" pitchFamily="34" charset="0"/>
                <a:ea typeface="Meiryo UI" pitchFamily="34" charset="-122"/>
                <a:cs typeface="Meiryo UI" pitchFamily="34" charset="-120"/>
              </a:rPr>
              <a:t>移行で売上 3〜4 倍</a:t>
            </a:r>
            <a:endParaRPr lang="en-US" sz="800" dirty="0"/>
          </a:p>
        </p:txBody>
      </p:sp>
      <p:sp>
        <p:nvSpPr>
          <p:cNvPr id="64" name="ovl_s08d_n_fin"/>
          <p:cNvSpPr/>
          <p:nvPr/>
        </p:nvSpPr>
        <p:spPr>
          <a:xfrm>
            <a:off x="2484120" y="2583180"/>
            <a:ext cx="1463040" cy="585216"/>
          </a:xfrm>
          <a:prstGeom prst="roundRect">
            <a:avLst>
              <a:gd name="adj" fmla="val 9375"/>
            </a:avLst>
          </a:prstGeom>
          <a:solidFill>
            <a:srgbClr val="FFFFFF"/>
          </a:solidFill>
          <a:ln w="19050">
            <a:solidFill>
              <a:srgbClr val="197A56"/>
            </a:solidFill>
            <a:prstDash val="solid"/>
          </a:ln>
        </p:spPr>
      </p:sp>
      <p:sp>
        <p:nvSpPr>
          <p:cNvPr id="65" name="ovl_s08d_nt_fin"/>
          <p:cNvSpPr txBox="1"/>
          <p:nvPr/>
        </p:nvSpPr>
        <p:spPr>
          <a:xfrm>
            <a:off x="2520696" y="2610612"/>
            <a:ext cx="13898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資金の外部化</a:t>
            </a:r>
            <a:endParaRPr lang="en-US" sz="1000" dirty="0"/>
          </a:p>
        </p:txBody>
      </p:sp>
      <p:sp>
        <p:nvSpPr>
          <p:cNvPr id="66" name="ovl_s08d_ns_fin"/>
          <p:cNvSpPr txBox="1"/>
          <p:nvPr/>
        </p:nvSpPr>
        <p:spPr>
          <a:xfrm>
            <a:off x="2529840" y="2816352"/>
            <a:ext cx="1371600" cy="324612"/>
          </a:xfrm>
          <a:prstGeom prst="rect">
            <a:avLst/>
          </a:prstGeom>
          <a:noFill/>
          <a:ln/>
        </p:spPr>
        <p:txBody>
          <a:bodyPr wrap="square" lIns="0" tIns="0" rIns="0" bIns="0" rtlCol="0" anchor="t"/>
          <a:lstStyle/>
          <a:p>
            <a:pPr algn="ctr" indent="0" marL="0">
              <a:buNone/>
            </a:pPr>
            <a:r>
              <a:rPr lang="en-US" sz="800" dirty="0">
                <a:solidFill>
                  <a:srgbClr val="333333"/>
                </a:solidFill>
                <a:latin typeface="Meiryo UI" pitchFamily="34" charset="0"/>
                <a:ea typeface="Meiryo UI" pitchFamily="34" charset="-122"/>
                <a:cs typeface="Meiryo UI" pitchFamily="34" charset="-120"/>
              </a:rPr>
              <a:t>前払い・BYOH・ベンダー</a:t>
            </a:r>
            <a:endParaRPr lang="en-US" sz="800" dirty="0"/>
          </a:p>
          <a:p>
            <a:pPr algn="ctr" indent="0" marL="0">
              <a:buNone/>
            </a:pPr>
            <a:r>
              <a:rPr lang="en-US" sz="800" dirty="0">
                <a:solidFill>
                  <a:srgbClr val="333333"/>
                </a:solidFill>
                <a:latin typeface="Meiryo UI" pitchFamily="34" charset="0"/>
                <a:ea typeface="Meiryo UI" pitchFamily="34" charset="-122"/>
                <a:cs typeface="Meiryo UI" pitchFamily="34" charset="-120"/>
              </a:rPr>
              <a:t>各 約 350〜400 億ドル</a:t>
            </a:r>
            <a:endParaRPr lang="en-US" sz="800" dirty="0"/>
          </a:p>
        </p:txBody>
      </p:sp>
      <p:sp>
        <p:nvSpPr>
          <p:cNvPr id="67" name="ovl_s08d_n_bld"/>
          <p:cNvSpPr/>
          <p:nvPr/>
        </p:nvSpPr>
        <p:spPr>
          <a:xfrm>
            <a:off x="2484120" y="3396996"/>
            <a:ext cx="1463040" cy="585216"/>
          </a:xfrm>
          <a:prstGeom prst="roundRect">
            <a:avLst>
              <a:gd name="adj" fmla="val 9375"/>
            </a:avLst>
          </a:prstGeom>
          <a:solidFill>
            <a:srgbClr val="FFFFFF"/>
          </a:solidFill>
          <a:ln w="19050">
            <a:solidFill>
              <a:srgbClr val="197A56"/>
            </a:solidFill>
            <a:prstDash val="solid"/>
          </a:ln>
        </p:spPr>
      </p:sp>
      <p:sp>
        <p:nvSpPr>
          <p:cNvPr id="68" name="ovl_s08d_nt_bld"/>
          <p:cNvSpPr txBox="1"/>
          <p:nvPr/>
        </p:nvSpPr>
        <p:spPr>
          <a:xfrm>
            <a:off x="2520696" y="3424428"/>
            <a:ext cx="13898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建設</a:t>
            </a:r>
            <a:endParaRPr lang="en-US" sz="1000" dirty="0"/>
          </a:p>
        </p:txBody>
      </p:sp>
      <p:sp>
        <p:nvSpPr>
          <p:cNvPr id="69" name="ovl_s08d_ns_bld"/>
          <p:cNvSpPr txBox="1"/>
          <p:nvPr/>
        </p:nvSpPr>
        <p:spPr>
          <a:xfrm>
            <a:off x="2529840" y="3630168"/>
            <a:ext cx="1371600" cy="324612"/>
          </a:xfrm>
          <a:prstGeom prst="rect">
            <a:avLst/>
          </a:prstGeom>
          <a:noFill/>
          <a:ln/>
        </p:spPr>
        <p:txBody>
          <a:bodyPr wrap="square" lIns="0" tIns="0" rIns="0" bIns="0" rtlCol="0" anchor="t"/>
          <a:lstStyle/>
          <a:p>
            <a:pPr algn="ctr" indent="0" marL="0">
              <a:buNone/>
            </a:pPr>
            <a:r>
              <a:rPr lang="en-US" sz="800" dirty="0">
                <a:solidFill>
                  <a:srgbClr val="333333"/>
                </a:solidFill>
                <a:latin typeface="Meiryo UI" pitchFamily="34" charset="0"/>
                <a:ea typeface="Meiryo UI" pitchFamily="34" charset="-122"/>
                <a:cs typeface="Meiryo UI" pitchFamily="34" charset="-120"/>
              </a:rPr>
              <a:t>総容量 FY26 約 3GW →</a:t>
            </a:r>
            <a:endParaRPr lang="en-US" sz="800" dirty="0"/>
          </a:p>
          <a:p>
            <a:pPr algn="ctr" indent="0" marL="0">
              <a:buNone/>
            </a:pPr>
            <a:r>
              <a:rPr lang="en-US" sz="800" dirty="0">
                <a:solidFill>
                  <a:srgbClr val="333333"/>
                </a:solidFill>
                <a:latin typeface="Meiryo UI" pitchFamily="34" charset="0"/>
                <a:ea typeface="Meiryo UI" pitchFamily="34" charset="-122"/>
                <a:cs typeface="Meiryo UI" pitchFamily="34" charset="-120"/>
              </a:rPr>
              <a:t>FY28 末 約 10GW</a:t>
            </a:r>
            <a:endParaRPr lang="en-US" sz="800" dirty="0"/>
          </a:p>
        </p:txBody>
      </p:sp>
      <p:sp>
        <p:nvSpPr>
          <p:cNvPr id="70" name="ovl_s08d_n_ai"/>
          <p:cNvSpPr/>
          <p:nvPr/>
        </p:nvSpPr>
        <p:spPr>
          <a:xfrm>
            <a:off x="4602480" y="3396996"/>
            <a:ext cx="1600200" cy="585216"/>
          </a:xfrm>
          <a:prstGeom prst="roundRect">
            <a:avLst>
              <a:gd name="adj" fmla="val 9375"/>
            </a:avLst>
          </a:prstGeom>
          <a:solidFill>
            <a:srgbClr val="FFFFFF"/>
          </a:solidFill>
          <a:ln w="19050">
            <a:solidFill>
              <a:srgbClr val="197A56"/>
            </a:solidFill>
            <a:prstDash val="solid"/>
          </a:ln>
        </p:spPr>
      </p:sp>
      <p:sp>
        <p:nvSpPr>
          <p:cNvPr id="71" name="ovl_s08d_nt_ai"/>
          <p:cNvSpPr txBox="1"/>
          <p:nvPr/>
        </p:nvSpPr>
        <p:spPr>
          <a:xfrm>
            <a:off x="4639056" y="3424428"/>
            <a:ext cx="15270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容量</a:t>
            </a:r>
            <a:endParaRPr lang="en-US" sz="1000" dirty="0"/>
          </a:p>
        </p:txBody>
      </p:sp>
      <p:sp>
        <p:nvSpPr>
          <p:cNvPr id="72" name="ovl_s08d_ns_ai"/>
          <p:cNvSpPr txBox="1"/>
          <p:nvPr/>
        </p:nvSpPr>
        <p:spPr>
          <a:xfrm>
            <a:off x="4648200" y="3630168"/>
            <a:ext cx="1508760" cy="324612"/>
          </a:xfrm>
          <a:prstGeom prst="rect">
            <a:avLst/>
          </a:prstGeom>
          <a:noFill/>
          <a:ln/>
        </p:spPr>
        <p:txBody>
          <a:bodyPr wrap="square" lIns="0" tIns="0" rIns="0" bIns="0" rtlCol="0" anchor="t"/>
          <a:lstStyle/>
          <a:p>
            <a:pPr algn="ctr" indent="0" marL="0">
              <a:buNone/>
            </a:pPr>
            <a:r>
              <a:rPr lang="en-US" sz="800" dirty="0">
                <a:solidFill>
                  <a:srgbClr val="333333"/>
                </a:solidFill>
                <a:latin typeface="Meiryo UI" pitchFamily="34" charset="0"/>
                <a:ea typeface="Meiryo UI" pitchFamily="34" charset="-122"/>
                <a:cs typeface="Meiryo UI" pitchFamily="34" charset="-120"/>
              </a:rPr>
              <a:t>粗利率 35%(立ち上がり後)</a:t>
            </a:r>
            <a:endParaRPr lang="en-US" sz="800" dirty="0"/>
          </a:p>
          <a:p>
            <a:pPr algn="ctr" indent="0" marL="0">
              <a:buNone/>
            </a:pPr>
            <a:r>
              <a:rPr lang="en-US" sz="800" dirty="0">
                <a:solidFill>
                  <a:srgbClr val="333333"/>
                </a:solidFill>
                <a:latin typeface="Meiryo UI" pitchFamily="34" charset="0"/>
                <a:ea typeface="Meiryo UI" pitchFamily="34" charset="-122"/>
                <a:cs typeface="Meiryo UI" pitchFamily="34" charset="-120"/>
              </a:rPr>
              <a:t>更新は従来比 +20%</a:t>
            </a:r>
            <a:endParaRPr lang="en-US" sz="800" dirty="0"/>
          </a:p>
        </p:txBody>
      </p:sp>
      <p:sp>
        <p:nvSpPr>
          <p:cNvPr id="73" name="ovl_s08d_n_db"/>
          <p:cNvSpPr/>
          <p:nvPr/>
        </p:nvSpPr>
        <p:spPr>
          <a:xfrm>
            <a:off x="4602480" y="4210812"/>
            <a:ext cx="1600200" cy="585216"/>
          </a:xfrm>
          <a:prstGeom prst="roundRect">
            <a:avLst>
              <a:gd name="adj" fmla="val 9375"/>
            </a:avLst>
          </a:prstGeom>
          <a:solidFill>
            <a:srgbClr val="FFFFFF"/>
          </a:solidFill>
          <a:ln w="19050">
            <a:solidFill>
              <a:srgbClr val="197A56"/>
            </a:solidFill>
            <a:prstDash val="solid"/>
          </a:ln>
        </p:spPr>
      </p:sp>
      <p:sp>
        <p:nvSpPr>
          <p:cNvPr id="74" name="ovl_s08d_nt_db"/>
          <p:cNvSpPr txBox="1"/>
          <p:nvPr/>
        </p:nvSpPr>
        <p:spPr>
          <a:xfrm>
            <a:off x="4639056" y="4238244"/>
            <a:ext cx="15270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企業向け OCI・DB</a:t>
            </a:r>
            <a:endParaRPr lang="en-US" sz="1000" dirty="0"/>
          </a:p>
        </p:txBody>
      </p:sp>
      <p:sp>
        <p:nvSpPr>
          <p:cNvPr id="75" name="ovl_s08d_ns_db"/>
          <p:cNvSpPr txBox="1"/>
          <p:nvPr/>
        </p:nvSpPr>
        <p:spPr>
          <a:xfrm>
            <a:off x="4648200" y="4443984"/>
            <a:ext cx="1508760" cy="324612"/>
          </a:xfrm>
          <a:prstGeom prst="rect">
            <a:avLst/>
          </a:prstGeom>
          <a:noFill/>
          <a:ln/>
        </p:spPr>
        <p:txBody>
          <a:bodyPr wrap="square" lIns="0" tIns="0" rIns="0" bIns="0" rtlCol="0" anchor="t"/>
          <a:lstStyle/>
          <a:p>
            <a:pPr algn="ctr" indent="0" marL="0">
              <a:buNone/>
            </a:pPr>
            <a:r>
              <a:rPr lang="en-US" sz="800" dirty="0">
                <a:solidFill>
                  <a:srgbClr val="333333"/>
                </a:solidFill>
                <a:latin typeface="Meiryo UI" pitchFamily="34" charset="0"/>
                <a:ea typeface="Meiryo UI" pitchFamily="34" charset="-122"/>
                <a:cs typeface="Meiryo UI" pitchFamily="34" charset="-120"/>
              </a:rPr>
              <a:t>粗利率が非常に高い</a:t>
            </a:r>
            <a:endParaRPr lang="en-US" sz="800" dirty="0"/>
          </a:p>
          <a:p>
            <a:pPr algn="ctr" indent="0" marL="0">
              <a:buNone/>
            </a:pPr>
            <a:r>
              <a:rPr lang="en-US" sz="800" dirty="0">
                <a:solidFill>
                  <a:srgbClr val="333333"/>
                </a:solidFill>
                <a:latin typeface="Meiryo UI" pitchFamily="34" charset="0"/>
                <a:ea typeface="Meiryo UI" pitchFamily="34" charset="-122"/>
                <a:cs typeface="Meiryo UI" pitchFamily="34" charset="-120"/>
              </a:rPr>
              <a:t>DB の顧客基盤・Database@</a:t>
            </a:r>
            <a:endParaRPr lang="en-US" sz="800" dirty="0"/>
          </a:p>
        </p:txBody>
      </p:sp>
      <p:sp>
        <p:nvSpPr>
          <p:cNvPr id="76" name="ovl_s08d_n_saas"/>
          <p:cNvSpPr/>
          <p:nvPr/>
        </p:nvSpPr>
        <p:spPr>
          <a:xfrm>
            <a:off x="4602480" y="2583180"/>
            <a:ext cx="1600200" cy="585216"/>
          </a:xfrm>
          <a:prstGeom prst="roundRect">
            <a:avLst>
              <a:gd name="adj" fmla="val 9375"/>
            </a:avLst>
          </a:prstGeom>
          <a:solidFill>
            <a:srgbClr val="FFFFFF"/>
          </a:solidFill>
          <a:ln w="19050">
            <a:solidFill>
              <a:srgbClr val="197A56"/>
            </a:solidFill>
            <a:prstDash val="solid"/>
          </a:ln>
        </p:spPr>
      </p:sp>
      <p:sp>
        <p:nvSpPr>
          <p:cNvPr id="77" name="ovl_s08d_nt_saas"/>
          <p:cNvSpPr txBox="1"/>
          <p:nvPr/>
        </p:nvSpPr>
        <p:spPr>
          <a:xfrm>
            <a:off x="4639056" y="2610612"/>
            <a:ext cx="15270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SaaS</a:t>
            </a:r>
            <a:endParaRPr lang="en-US" sz="1000" dirty="0"/>
          </a:p>
        </p:txBody>
      </p:sp>
      <p:sp>
        <p:nvSpPr>
          <p:cNvPr id="78" name="ovl_s08d_ns_saas"/>
          <p:cNvSpPr txBox="1"/>
          <p:nvPr/>
        </p:nvSpPr>
        <p:spPr>
          <a:xfrm>
            <a:off x="4648200" y="2816352"/>
            <a:ext cx="1508760" cy="324612"/>
          </a:xfrm>
          <a:prstGeom prst="rect">
            <a:avLst/>
          </a:prstGeom>
          <a:noFill/>
          <a:ln/>
        </p:spPr>
        <p:txBody>
          <a:bodyPr wrap="square" lIns="0" tIns="0" rIns="0" bIns="0" rtlCol="0" anchor="t"/>
          <a:lstStyle/>
          <a:p>
            <a:pPr algn="ctr" indent="0" marL="0">
              <a:buNone/>
            </a:pPr>
            <a:r>
              <a:rPr lang="en-US" sz="800" dirty="0">
                <a:solidFill>
                  <a:srgbClr val="333333"/>
                </a:solidFill>
                <a:latin typeface="Meiryo UI" pitchFamily="34" charset="0"/>
                <a:ea typeface="Meiryo UI" pitchFamily="34" charset="-122"/>
                <a:cs typeface="Meiryo UI" pitchFamily="34" charset="-120"/>
              </a:rPr>
              <a:t>二桁成長</a:t>
            </a:r>
            <a:endParaRPr lang="en-US" sz="800" dirty="0"/>
          </a:p>
          <a:p>
            <a:pPr algn="ctr" indent="0" marL="0">
              <a:buNone/>
            </a:pPr>
            <a:r>
              <a:rPr lang="en-US" sz="800" dirty="0">
                <a:solidFill>
                  <a:srgbClr val="333333"/>
                </a:solidFill>
                <a:latin typeface="Meiryo UI" pitchFamily="34" charset="0"/>
                <a:ea typeface="Meiryo UI" pitchFamily="34" charset="-122"/>
                <a:cs typeface="Meiryo UI" pitchFamily="34" charset="-120"/>
              </a:rPr>
              <a:t>Fusion・NetSuite</a:t>
            </a:r>
            <a:endParaRPr lang="en-US" sz="800" dirty="0"/>
          </a:p>
        </p:txBody>
      </p:sp>
      <p:sp>
        <p:nvSpPr>
          <p:cNvPr id="79" name="ovl_s08d_n_out"/>
          <p:cNvSpPr/>
          <p:nvPr/>
        </p:nvSpPr>
        <p:spPr>
          <a:xfrm>
            <a:off x="6858000" y="3396996"/>
            <a:ext cx="1325880" cy="585216"/>
          </a:xfrm>
          <a:prstGeom prst="roundRect">
            <a:avLst>
              <a:gd name="adj" fmla="val 9375"/>
            </a:avLst>
          </a:prstGeom>
          <a:solidFill>
            <a:srgbClr val="0E4D33"/>
          </a:solidFill>
          <a:ln w="9525">
            <a:solidFill>
              <a:srgbClr val="0E4D33"/>
            </a:solidFill>
            <a:prstDash val="solid"/>
          </a:ln>
        </p:spPr>
      </p:sp>
      <p:sp>
        <p:nvSpPr>
          <p:cNvPr id="80" name="ovl_s08d_nt_out"/>
          <p:cNvSpPr txBox="1"/>
          <p:nvPr/>
        </p:nvSpPr>
        <p:spPr>
          <a:xfrm>
            <a:off x="6894576" y="3424428"/>
            <a:ext cx="1252728" cy="20574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成果(FY30)</a:t>
            </a:r>
            <a:endParaRPr lang="en-US" sz="1000" dirty="0"/>
          </a:p>
        </p:txBody>
      </p:sp>
      <p:sp>
        <p:nvSpPr>
          <p:cNvPr id="81" name="ovl_s08d_ns_out"/>
          <p:cNvSpPr txBox="1"/>
          <p:nvPr/>
        </p:nvSpPr>
        <p:spPr>
          <a:xfrm>
            <a:off x="6903720" y="3630168"/>
            <a:ext cx="1234440" cy="324612"/>
          </a:xfrm>
          <a:prstGeom prst="rect">
            <a:avLst/>
          </a:prstGeom>
          <a:noFill/>
          <a:ln/>
        </p:spPr>
        <p:txBody>
          <a:bodyPr wrap="square" lIns="0" tIns="0" rIns="0" bIns="0" rtlCol="0" anchor="t"/>
          <a:lstStyle/>
          <a:p>
            <a:pPr algn="ctr" indent="0" marL="0">
              <a:buNone/>
            </a:pPr>
            <a:r>
              <a:rPr lang="en-US" sz="800" dirty="0">
                <a:solidFill>
                  <a:srgbClr val="FFFFFF"/>
                </a:solidFill>
                <a:latin typeface="Meiryo UI" pitchFamily="34" charset="0"/>
                <a:ea typeface="Meiryo UI" pitchFamily="34" charset="-122"/>
                <a:cs typeface="Meiryo UI" pitchFamily="34" charset="-120"/>
              </a:rPr>
              <a:t>売上 2,250 億ドル</a:t>
            </a:r>
            <a:endParaRPr lang="en-US" sz="800" dirty="0"/>
          </a:p>
          <a:p>
            <a:pPr algn="ctr" indent="0" marL="0">
              <a:buNone/>
            </a:pPr>
            <a:r>
              <a:rPr lang="en-US" sz="800" dirty="0">
                <a:solidFill>
                  <a:srgbClr val="FFFFFF"/>
                </a:solidFill>
                <a:latin typeface="Meiryo UI" pitchFamily="34" charset="0"/>
                <a:ea typeface="Meiryo UI" pitchFamily="34" charset="-122"/>
                <a:cs typeface="Meiryo UI" pitchFamily="34" charset="-120"/>
              </a:rPr>
              <a:t>EPS 21 ドル(会社)</a:t>
            </a:r>
            <a:endParaRPr lang="en-US" sz="800" dirty="0"/>
          </a:p>
        </p:txBody>
      </p:sp>
      <p:sp>
        <p:nvSpPr>
          <p:cNvPr id="82" name="ovl_s08d_n_oai"/>
          <p:cNvSpPr/>
          <p:nvPr/>
        </p:nvSpPr>
        <p:spPr>
          <a:xfrm>
            <a:off x="6858000" y="4210812"/>
            <a:ext cx="1325880" cy="585216"/>
          </a:xfrm>
          <a:prstGeom prst="roundRect">
            <a:avLst>
              <a:gd name="adj" fmla="val 9375"/>
            </a:avLst>
          </a:prstGeom>
          <a:solidFill>
            <a:srgbClr val="FFFFFF"/>
          </a:solidFill>
          <a:ln w="19050">
            <a:solidFill>
              <a:srgbClr val="C0392B"/>
            </a:solidFill>
            <a:prstDash val="solid"/>
          </a:ln>
        </p:spPr>
      </p:sp>
      <p:sp>
        <p:nvSpPr>
          <p:cNvPr id="83" name="ovl_s08d_nt_oai"/>
          <p:cNvSpPr txBox="1"/>
          <p:nvPr/>
        </p:nvSpPr>
        <p:spPr>
          <a:xfrm>
            <a:off x="6894576" y="4238244"/>
            <a:ext cx="12527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OpenAI の支払能力</a:t>
            </a:r>
            <a:endParaRPr lang="en-US" sz="1000" dirty="0"/>
          </a:p>
        </p:txBody>
      </p:sp>
      <p:sp>
        <p:nvSpPr>
          <p:cNvPr id="84" name="ovl_s08d_ns_oai"/>
          <p:cNvSpPr txBox="1"/>
          <p:nvPr/>
        </p:nvSpPr>
        <p:spPr>
          <a:xfrm>
            <a:off x="6903720" y="4443984"/>
            <a:ext cx="1234440" cy="324612"/>
          </a:xfrm>
          <a:prstGeom prst="rect">
            <a:avLst/>
          </a:prstGeom>
          <a:noFill/>
          <a:ln/>
        </p:spPr>
        <p:txBody>
          <a:bodyPr wrap="square" lIns="0" tIns="0" rIns="0" bIns="0" rtlCol="0" anchor="t"/>
          <a:lstStyle/>
          <a:p>
            <a:pPr algn="ctr" indent="0" marL="0">
              <a:buNone/>
            </a:pPr>
            <a:r>
              <a:rPr lang="en-US" sz="800" dirty="0">
                <a:solidFill>
                  <a:srgbClr val="333333"/>
                </a:solidFill>
                <a:latin typeface="Meiryo UI" pitchFamily="34" charset="0"/>
                <a:ea typeface="Meiryo UI" pitchFamily="34" charset="-122"/>
                <a:cs typeface="Meiryo UI" pitchFamily="34" charset="-120"/>
              </a:rPr>
              <a:t>受注残の約 45%</a:t>
            </a:r>
            <a:endParaRPr lang="en-US" sz="800" dirty="0"/>
          </a:p>
          <a:p>
            <a:pPr algn="ctr" indent="0" marL="0">
              <a:buNone/>
            </a:pPr>
            <a:r>
              <a:rPr lang="en-US" sz="800" dirty="0">
                <a:solidFill>
                  <a:srgbClr val="333333"/>
                </a:solidFill>
                <a:latin typeface="Meiryo UI" pitchFamily="34" charset="0"/>
                <a:ea typeface="Meiryo UI" pitchFamily="34" charset="-122"/>
                <a:cs typeface="Meiryo UI" pitchFamily="34" charset="-120"/>
              </a:rPr>
              <a:t>集中が最大のリスク</a:t>
            </a:r>
            <a:endParaRPr lang="en-US" sz="800" dirty="0"/>
          </a:p>
        </p:txBody>
      </p:sp>
      <p:sp>
        <p:nvSpPr>
          <p:cNvPr id="85" name="ovl_s08d_lab0"/>
          <p:cNvSpPr txBox="1"/>
          <p:nvPr/>
        </p:nvSpPr>
        <p:spPr>
          <a:xfrm>
            <a:off x="1850936" y="2642616"/>
            <a:ext cx="611048"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0E4D33"/>
                </a:solidFill>
                <a:latin typeface="Meiryo UI" pitchFamily="34" charset="0"/>
                <a:ea typeface="Meiryo UI" pitchFamily="34" charset="-122"/>
                <a:cs typeface="Meiryo UI" pitchFamily="34" charset="-120"/>
              </a:rPr>
              <a:t>① </a:t>
            </a:r>
            <a:r>
              <a:rPr lang="en-US" sz="850" dirty="0">
                <a:solidFill>
                  <a:srgbClr val="0E4D33"/>
                </a:solidFill>
                <a:latin typeface="Meiryo UI" pitchFamily="34" charset="0"/>
                <a:ea typeface="Meiryo UI" pitchFamily="34" charset="-122"/>
                <a:cs typeface="Meiryo UI" pitchFamily="34" charset="-120"/>
              </a:rPr>
              <a:t>呼び水</a:t>
            </a:r>
            <a:endParaRPr lang="en-US" sz="850" dirty="0"/>
          </a:p>
        </p:txBody>
      </p:sp>
      <p:sp>
        <p:nvSpPr>
          <p:cNvPr id="86" name="ovl_s08d_lab1"/>
          <p:cNvSpPr txBox="1"/>
          <p:nvPr/>
        </p:nvSpPr>
        <p:spPr>
          <a:xfrm>
            <a:off x="3261360" y="3179826"/>
            <a:ext cx="494462"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0E4D33"/>
                </a:solidFill>
                <a:latin typeface="Meiryo UI" pitchFamily="34" charset="0"/>
                <a:ea typeface="Meiryo UI" pitchFamily="34" charset="-122"/>
                <a:cs typeface="Meiryo UI" pitchFamily="34" charset="-120"/>
              </a:rPr>
              <a:t>② </a:t>
            </a:r>
            <a:r>
              <a:rPr lang="en-US" sz="850" dirty="0">
                <a:solidFill>
                  <a:srgbClr val="0E4D33"/>
                </a:solidFill>
                <a:latin typeface="Meiryo UI" pitchFamily="34" charset="0"/>
                <a:ea typeface="Meiryo UI" pitchFamily="34" charset="-122"/>
                <a:cs typeface="Meiryo UI" pitchFamily="34" charset="-120"/>
              </a:rPr>
              <a:t>建設</a:t>
            </a:r>
            <a:endParaRPr lang="en-US" sz="850" dirty="0"/>
          </a:p>
        </p:txBody>
      </p:sp>
      <p:sp>
        <p:nvSpPr>
          <p:cNvPr id="87" name="ovl_s08d_lab2"/>
          <p:cNvSpPr txBox="1"/>
          <p:nvPr/>
        </p:nvSpPr>
        <p:spPr>
          <a:xfrm>
            <a:off x="4027589" y="3456432"/>
            <a:ext cx="494462"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1BA1A6"/>
                </a:solidFill>
                <a:latin typeface="Meiryo UI" pitchFamily="34" charset="0"/>
                <a:ea typeface="Meiryo UI" pitchFamily="34" charset="-122"/>
                <a:cs typeface="Meiryo UI" pitchFamily="34" charset="-120"/>
              </a:rPr>
              <a:t>③ </a:t>
            </a:r>
            <a:r>
              <a:rPr lang="en-US" sz="850" dirty="0">
                <a:solidFill>
                  <a:srgbClr val="1BA1A6"/>
                </a:solidFill>
                <a:latin typeface="Meiryo UI" pitchFamily="34" charset="0"/>
                <a:ea typeface="Meiryo UI" pitchFamily="34" charset="-122"/>
                <a:cs typeface="Meiryo UI" pitchFamily="34" charset="-120"/>
              </a:rPr>
              <a:t>稼働</a:t>
            </a:r>
            <a:endParaRPr lang="en-US" sz="850" dirty="0"/>
          </a:p>
        </p:txBody>
      </p:sp>
      <p:sp>
        <p:nvSpPr>
          <p:cNvPr id="88" name="ovl_s08d_num3"/>
          <p:cNvSpPr/>
          <p:nvPr/>
        </p:nvSpPr>
        <p:spPr>
          <a:xfrm>
            <a:off x="6411468" y="3570732"/>
            <a:ext cx="237744" cy="237744"/>
          </a:xfrm>
          <a:prstGeom prst="ellipse">
            <a:avLst/>
          </a:prstGeom>
          <a:solidFill>
            <a:srgbClr val="0E4D33"/>
          </a:solidFill>
          <a:ln w="12700">
            <a:solidFill>
              <a:srgbClr val="FFFFFF"/>
            </a:solidFill>
            <a:prstDash val="solid"/>
          </a:ln>
        </p:spPr>
      </p:sp>
      <p:sp>
        <p:nvSpPr>
          <p:cNvPr id="89" name="ovl_s08d_numt3"/>
          <p:cNvSpPr txBox="1"/>
          <p:nvPr/>
        </p:nvSpPr>
        <p:spPr>
          <a:xfrm>
            <a:off x="6411468" y="357073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6</a:t>
            </a:r>
            <a:endParaRPr lang="en-US" sz="900" dirty="0"/>
          </a:p>
        </p:txBody>
      </p:sp>
      <p:sp>
        <p:nvSpPr>
          <p:cNvPr id="90" name="ovl_s08d_lab6"/>
          <p:cNvSpPr txBox="1"/>
          <p:nvPr/>
        </p:nvSpPr>
        <p:spPr>
          <a:xfrm>
            <a:off x="2203704" y="4048506"/>
            <a:ext cx="960806"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1BA1A6"/>
                </a:solidFill>
                <a:latin typeface="Meiryo UI" pitchFamily="34" charset="0"/>
                <a:ea typeface="Meiryo UI" pitchFamily="34" charset="-122"/>
                <a:cs typeface="Meiryo UI" pitchFamily="34" charset="-120"/>
              </a:rPr>
              <a:t>④ </a:t>
            </a:r>
            <a:r>
              <a:rPr lang="en-US" sz="850" dirty="0">
                <a:solidFill>
                  <a:srgbClr val="1BA1A6"/>
                </a:solidFill>
                <a:latin typeface="Meiryo UI" pitchFamily="34" charset="0"/>
                <a:ea typeface="Meiryo UI" pitchFamily="34" charset="-122"/>
                <a:cs typeface="Meiryo UI" pitchFamily="34" charset="-120"/>
              </a:rPr>
              <a:t>データの重力</a:t>
            </a:r>
            <a:endParaRPr lang="en-US" sz="850" dirty="0"/>
          </a:p>
        </p:txBody>
      </p:sp>
      <p:sp>
        <p:nvSpPr>
          <p:cNvPr id="91" name="ovl_s08d_lab8"/>
          <p:cNvSpPr txBox="1"/>
          <p:nvPr/>
        </p:nvSpPr>
        <p:spPr>
          <a:xfrm>
            <a:off x="3317043" y="4160520"/>
            <a:ext cx="745122"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0E4D33"/>
                </a:solidFill>
                <a:latin typeface="Meiryo UI" pitchFamily="34" charset="0"/>
                <a:ea typeface="Meiryo UI" pitchFamily="34" charset="-122"/>
                <a:cs typeface="Meiryo UI" pitchFamily="34" charset="-120"/>
              </a:rPr>
              <a:t>⑤ </a:t>
            </a:r>
            <a:r>
              <a:rPr lang="en-US" sz="850" dirty="0">
                <a:solidFill>
                  <a:srgbClr val="0E4D33"/>
                </a:solidFill>
                <a:latin typeface="Meiryo UI" pitchFamily="34" charset="0"/>
                <a:ea typeface="Meiryo UI" pitchFamily="34" charset="-122"/>
                <a:cs typeface="Meiryo UI" pitchFamily="34" charset="-120"/>
              </a:rPr>
              <a:t>AI Units</a:t>
            </a:r>
            <a:endParaRPr lang="en-US" sz="850" dirty="0"/>
          </a:p>
        </p:txBody>
      </p:sp>
      <p:sp>
        <p:nvSpPr>
          <p:cNvPr id="92" name="ovl_s08d_leg0"/>
          <p:cNvSpPr/>
          <p:nvPr/>
        </p:nvSpPr>
        <p:spPr>
          <a:xfrm>
            <a:off x="457200" y="5065776"/>
            <a:ext cx="365760" cy="914"/>
          </a:xfrm>
          <a:prstGeom prst="line">
            <a:avLst/>
          </a:prstGeom>
          <a:noFill/>
          <a:ln w="22225">
            <a:solidFill>
              <a:srgbClr val="0E4D33"/>
            </a:solidFill>
            <a:prstDash val="solid"/>
            <a:tailEnd type="triangle"/>
          </a:ln>
        </p:spPr>
      </p:sp>
      <p:sp>
        <p:nvSpPr>
          <p:cNvPr id="93" name="ovl_s08d_legt0"/>
          <p:cNvSpPr txBox="1"/>
          <p:nvPr/>
        </p:nvSpPr>
        <p:spPr>
          <a:xfrm>
            <a:off x="877824" y="4965192"/>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カネ</a:t>
            </a:r>
            <a:endParaRPr lang="en-US" sz="800" dirty="0"/>
          </a:p>
        </p:txBody>
      </p:sp>
      <p:sp>
        <p:nvSpPr>
          <p:cNvPr id="94" name="ovl_s08d_leg1"/>
          <p:cNvSpPr/>
          <p:nvPr/>
        </p:nvSpPr>
        <p:spPr>
          <a:xfrm>
            <a:off x="1874520" y="5065776"/>
            <a:ext cx="365760" cy="914"/>
          </a:xfrm>
          <a:prstGeom prst="line">
            <a:avLst/>
          </a:prstGeom>
          <a:noFill/>
          <a:ln w="19050">
            <a:solidFill>
              <a:srgbClr val="1BA1A6"/>
            </a:solidFill>
            <a:prstDash val="solid"/>
            <a:tailEnd type="triangle"/>
          </a:ln>
        </p:spPr>
      </p:sp>
      <p:sp>
        <p:nvSpPr>
          <p:cNvPr id="95" name="ovl_s08d_legt1"/>
          <p:cNvSpPr txBox="1"/>
          <p:nvPr/>
        </p:nvSpPr>
        <p:spPr>
          <a:xfrm>
            <a:off x="2295144" y="4965192"/>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モノ・サービス</a:t>
            </a:r>
            <a:endParaRPr lang="en-US" sz="800" dirty="0"/>
          </a:p>
        </p:txBody>
      </p:sp>
      <p:sp>
        <p:nvSpPr>
          <p:cNvPr id="96" name="ovl_s08d_leg2"/>
          <p:cNvSpPr/>
          <p:nvPr/>
        </p:nvSpPr>
        <p:spPr>
          <a:xfrm>
            <a:off x="3291840" y="5065776"/>
            <a:ext cx="365760" cy="914"/>
          </a:xfrm>
          <a:prstGeom prst="line">
            <a:avLst/>
          </a:prstGeom>
          <a:noFill/>
          <a:ln w="15875">
            <a:solidFill>
              <a:srgbClr val="C0392B"/>
            </a:solidFill>
            <a:prstDash val="dash"/>
            <a:tailEnd type="triangle"/>
          </a:ln>
        </p:spPr>
      </p:sp>
      <p:sp>
        <p:nvSpPr>
          <p:cNvPr id="97" name="ovl_s08d_legt2"/>
          <p:cNvSpPr txBox="1"/>
          <p:nvPr/>
        </p:nvSpPr>
        <p:spPr>
          <a:xfrm>
            <a:off x="3712464" y="4965192"/>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リスク</a:t>
            </a:r>
            <a:endParaRPr lang="en-US" sz="800" dirty="0"/>
          </a:p>
        </p:txBody>
      </p:sp>
      <p:sp>
        <p:nvSpPr>
          <p:cNvPr id="98" name="ovl_s08d_legn"/>
          <p:cNvSpPr txBox="1"/>
          <p:nvPr/>
        </p:nvSpPr>
        <p:spPr>
          <a:xfrm>
            <a:off x="6126480" y="4965192"/>
            <a:ext cx="2057400" cy="201168"/>
          </a:xfrm>
          <a:prstGeom prst="rect">
            <a:avLst/>
          </a:prstGeom>
          <a:noFill/>
          <a:ln/>
        </p:spPr>
        <p:txBody>
          <a:bodyPr wrap="square" lIns="0" tIns="0" rIns="0" bIns="0" rtlCol="0" anchor="ctr"/>
          <a:lstStyle/>
          <a:p>
            <a:pPr algn="r" indent="0" marL="0">
              <a:buNone/>
            </a:pPr>
            <a:r>
              <a:rPr lang="en-US" sz="800" dirty="0">
                <a:solidFill>
                  <a:srgbClr val="767676"/>
                </a:solidFill>
                <a:latin typeface="Meiryo UI" pitchFamily="34" charset="0"/>
                <a:ea typeface="Meiryo UI" pitchFamily="34" charset="-122"/>
                <a:cs typeface="Meiryo UI" pitchFamily="34" charset="-120"/>
              </a:rPr>
              <a:t>①② … は右の「仕組み」の番号</a:t>
            </a:r>
            <a:endParaRPr lang="en-US" sz="800" dirty="0"/>
          </a:p>
        </p:txBody>
      </p:sp>
      <p:sp>
        <p:nvSpPr>
          <p:cNvPr id="99" name="mech_head"/>
          <p:cNvSpPr txBox="1"/>
          <p:nvPr/>
        </p:nvSpPr>
        <p:spPr>
          <a:xfrm>
            <a:off x="8458200" y="1481328"/>
            <a:ext cx="3276295"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仕組み(図の ①〜⑥ と対応)</a:t>
            </a:r>
            <a:endParaRPr lang="en-US" sz="1200" dirty="0"/>
          </a:p>
        </p:txBody>
      </p:sp>
      <p:sp>
        <p:nvSpPr>
          <p:cNvPr id="100" name="mech"/>
          <p:cNvSpPr txBox="1"/>
          <p:nvPr/>
        </p:nvSpPr>
        <p:spPr>
          <a:xfrm>
            <a:off x="8458200" y="1810512"/>
            <a:ext cx="3276295" cy="1962912"/>
          </a:xfrm>
          <a:prstGeom prst="rect">
            <a:avLst/>
          </a:prstGeom>
          <a:noFill/>
          <a:ln/>
        </p:spPr>
        <p:txBody>
          <a:bodyPr wrap="square" lIns="381" tIns="381" rIns="381" bIns="381" rtlCol="0" anchor="t"/>
          <a:lstStyle/>
          <a:p>
            <a:pPr indent="0" marL="0">
              <a:spcAft>
                <a:spcPts val="500"/>
              </a:spcAft>
              <a:buNone/>
            </a:pPr>
            <a:r>
              <a:rPr lang="en-US" sz="900" b="1" dirty="0">
                <a:solidFill>
                  <a:srgbClr val="197A56"/>
                </a:solidFill>
                <a:latin typeface="Meiryo UI" pitchFamily="34" charset="0"/>
                <a:ea typeface="Meiryo UI" pitchFamily="34" charset="-122"/>
                <a:cs typeface="Meiryo UI" pitchFamily="34" charset="-120"/>
              </a:rPr>
              <a:t>① </a:t>
            </a:r>
            <a:r>
              <a:rPr lang="en-US" sz="900" dirty="0">
                <a:solidFill>
                  <a:srgbClr val="333333"/>
                </a:solidFill>
                <a:latin typeface="Meiryo UI" pitchFamily="34" charset="0"/>
                <a:ea typeface="Meiryo UI" pitchFamily="34" charset="-122"/>
                <a:cs typeface="Meiryo UI" pitchFamily="34" charset="-120"/>
              </a:rPr>
              <a:t>学習の大型契約が、外部資金(前払い・GPU 持込・ベンダー金融)を呼ぶ</a:t>
            </a:r>
            <a:endParaRPr lang="en-US" sz="900" dirty="0"/>
          </a:p>
          <a:p>
            <a:pPr indent="0" marL="0">
              <a:spcAft>
                <a:spcPts val="500"/>
              </a:spcAft>
              <a:buNone/>
            </a:pPr>
            <a:r>
              <a:rPr lang="en-US" sz="900" b="1" dirty="0">
                <a:solidFill>
                  <a:srgbClr val="197A56"/>
                </a:solidFill>
                <a:latin typeface="Meiryo UI" pitchFamily="34" charset="0"/>
                <a:ea typeface="Meiryo UI" pitchFamily="34" charset="-122"/>
                <a:cs typeface="Meiryo UI" pitchFamily="34" charset="-120"/>
              </a:rPr>
              <a:t>② </a:t>
            </a:r>
            <a:r>
              <a:rPr lang="en-US" sz="900" dirty="0">
                <a:solidFill>
                  <a:srgbClr val="333333"/>
                </a:solidFill>
                <a:latin typeface="Meiryo UI" pitchFamily="34" charset="0"/>
                <a:ea typeface="Meiryo UI" pitchFamily="34" charset="-122"/>
                <a:cs typeface="Meiryo UI" pitchFamily="34" charset="-120"/>
              </a:rPr>
              <a:t>資金は建設へ。追加調達は 200 億ドルが上限で、BBB− の維持が条件</a:t>
            </a:r>
            <a:endParaRPr lang="en-US" sz="900" dirty="0"/>
          </a:p>
          <a:p>
            <a:pPr indent="0" marL="0">
              <a:spcAft>
                <a:spcPts val="500"/>
              </a:spcAft>
              <a:buNone/>
            </a:pPr>
            <a:r>
              <a:rPr lang="en-US" sz="900" b="1" dirty="0">
                <a:solidFill>
                  <a:srgbClr val="197A56"/>
                </a:solidFill>
                <a:latin typeface="Meiryo UI" pitchFamily="34" charset="0"/>
                <a:ea typeface="Meiryo UI" pitchFamily="34" charset="-122"/>
                <a:cs typeface="Meiryo UI" pitchFamily="34" charset="-120"/>
              </a:rPr>
              <a:t>③ </a:t>
            </a:r>
            <a:r>
              <a:rPr lang="en-US" sz="900" dirty="0">
                <a:solidFill>
                  <a:srgbClr val="333333"/>
                </a:solidFill>
                <a:latin typeface="Meiryo UI" pitchFamily="34" charset="0"/>
                <a:ea typeface="Meiryo UI" pitchFamily="34" charset="-122"/>
                <a:cs typeface="Meiryo UI" pitchFamily="34" charset="-120"/>
              </a:rPr>
              <a:t>稼働した容量が AI 容量の売上になる。電力の遅れは時期の問題</a:t>
            </a:r>
            <a:endParaRPr lang="en-US" sz="900" dirty="0"/>
          </a:p>
          <a:p>
            <a:pPr indent="0" marL="0">
              <a:spcAft>
                <a:spcPts val="500"/>
              </a:spcAft>
              <a:buNone/>
            </a:pPr>
            <a:r>
              <a:rPr lang="en-US" sz="900" b="1" dirty="0">
                <a:solidFill>
                  <a:srgbClr val="197A56"/>
                </a:solidFill>
                <a:latin typeface="Meiryo UI" pitchFamily="34" charset="0"/>
                <a:ea typeface="Meiryo UI" pitchFamily="34" charset="-122"/>
                <a:cs typeface="Meiryo UI" pitchFamily="34" charset="-120"/>
              </a:rPr>
              <a:t>④ </a:t>
            </a:r>
            <a:r>
              <a:rPr lang="en-US" sz="900" dirty="0">
                <a:solidFill>
                  <a:srgbClr val="333333"/>
                </a:solidFill>
                <a:latin typeface="Meiryo UI" pitchFamily="34" charset="0"/>
                <a:ea typeface="Meiryo UI" pitchFamily="34" charset="-122"/>
                <a:cs typeface="Meiryo UI" pitchFamily="34" charset="-120"/>
              </a:rPr>
              <a:t>推論は企業データの近くで DB・OCI に乗る。</a:t>
            </a:r>
            <a:br/>
            <a:r>
              <a:rPr lang="en-US" sz="900" dirty="0">
                <a:solidFill>
                  <a:srgbClr val="333333"/>
                </a:solidFill>
                <a:latin typeface="Meiryo UI" pitchFamily="34" charset="0"/>
                <a:ea typeface="Meiryo UI" pitchFamily="34" charset="-122"/>
                <a:cs typeface="Meiryo UI" pitchFamily="34" charset="-120"/>
              </a:rPr>
              <a:t>拠点は 50〜200MW に分散</a:t>
            </a:r>
            <a:endParaRPr lang="en-US" sz="900" dirty="0"/>
          </a:p>
          <a:p>
            <a:pPr indent="0" marL="0">
              <a:spcAft>
                <a:spcPts val="500"/>
              </a:spcAft>
              <a:buNone/>
            </a:pPr>
            <a:r>
              <a:rPr lang="en-US" sz="900" b="1" dirty="0">
                <a:solidFill>
                  <a:srgbClr val="197A56"/>
                </a:solidFill>
                <a:latin typeface="Meiryo UI" pitchFamily="34" charset="0"/>
                <a:ea typeface="Meiryo UI" pitchFamily="34" charset="-122"/>
                <a:cs typeface="Meiryo UI" pitchFamily="34" charset="-120"/>
              </a:rPr>
              <a:t>⑤ </a:t>
            </a:r>
            <a:r>
              <a:rPr lang="en-US" sz="900" dirty="0">
                <a:solidFill>
                  <a:srgbClr val="333333"/>
                </a:solidFill>
                <a:latin typeface="Meiryo UI" pitchFamily="34" charset="0"/>
                <a:ea typeface="Meiryo UI" pitchFamily="34" charset="-122"/>
                <a:cs typeface="Meiryo UI" pitchFamily="34" charset="-120"/>
              </a:rPr>
              <a:t>アプリ(ERP・Fusion)は AI Units で従量課金される</a:t>
            </a:r>
            <a:endParaRPr lang="en-US" sz="900" dirty="0"/>
          </a:p>
          <a:p>
            <a:pPr indent="0" marL="0">
              <a:spcAft>
                <a:spcPts val="500"/>
              </a:spcAft>
              <a:buNone/>
            </a:pPr>
            <a:r>
              <a:rPr lang="en-US" sz="900" b="1" dirty="0">
                <a:solidFill>
                  <a:srgbClr val="197A56"/>
                </a:solidFill>
                <a:latin typeface="Meiryo UI" pitchFamily="34" charset="0"/>
                <a:ea typeface="Meiryo UI" pitchFamily="34" charset="-122"/>
                <a:cs typeface="Meiryo UI" pitchFamily="34" charset="-120"/>
              </a:rPr>
              <a:t>⑥ </a:t>
            </a:r>
            <a:r>
              <a:rPr lang="en-US" sz="900" dirty="0">
                <a:solidFill>
                  <a:srgbClr val="333333"/>
                </a:solidFill>
                <a:latin typeface="Meiryo UI" pitchFamily="34" charset="0"/>
                <a:ea typeface="Meiryo UI" pitchFamily="34" charset="-122"/>
                <a:cs typeface="Meiryo UI" pitchFamily="34" charset="-120"/>
              </a:rPr>
              <a:t>3 本の売上が FY30 の成果に。</a:t>
            </a:r>
            <a:br/>
            <a:r>
              <a:rPr lang="en-US" sz="900" dirty="0">
                <a:solidFill>
                  <a:srgbClr val="333333"/>
                </a:solidFill>
                <a:latin typeface="Meiryo UI" pitchFamily="34" charset="0"/>
                <a:ea typeface="Meiryo UI" pitchFamily="34" charset="-122"/>
                <a:cs typeface="Meiryo UI" pitchFamily="34" charset="-120"/>
              </a:rPr>
              <a:t>会社の目標は売上 2,250 億ドル</a:t>
            </a:r>
            <a:endParaRPr lang="en-US" sz="900" dirty="0"/>
          </a:p>
        </p:txBody>
      </p:sp>
      <p:sp>
        <p:nvSpPr>
          <p:cNvPr id="101" name="ovl_takeaway_bg"/>
          <p:cNvSpPr/>
          <p:nvPr/>
        </p:nvSpPr>
        <p:spPr>
          <a:xfrm>
            <a:off x="8458200" y="3846576"/>
            <a:ext cx="3276295" cy="868680"/>
          </a:xfrm>
          <a:prstGeom prst="rect">
            <a:avLst/>
          </a:prstGeom>
          <a:solidFill>
            <a:srgbClr val="EAF4EE"/>
          </a:solidFill>
          <a:ln w="12700">
            <a:solidFill>
              <a:srgbClr val="EAF4EE"/>
            </a:solidFill>
            <a:prstDash val="solid"/>
          </a:ln>
        </p:spPr>
      </p:sp>
      <p:sp>
        <p:nvSpPr>
          <p:cNvPr id="102" name="takeaway"/>
          <p:cNvSpPr txBox="1"/>
          <p:nvPr/>
        </p:nvSpPr>
        <p:spPr>
          <a:xfrm>
            <a:off x="8567928" y="3919728"/>
            <a:ext cx="3056839" cy="722376"/>
          </a:xfrm>
          <a:prstGeom prst="rect">
            <a:avLst/>
          </a:prstGeom>
          <a:noFill/>
          <a:ln/>
        </p:spPr>
        <p:txBody>
          <a:bodyPr wrap="square" lIns="508" tIns="508" rIns="508" bIns="508"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学習が資金と建設を呼び、推論とアプリは DB・OCI を通って収益になる。争点は OpenAI への集中と、契約後の再契約の単価</a:t>
            </a:r>
            <a:endParaRPr lang="en-US" sz="1000" dirty="0"/>
          </a:p>
        </p:txBody>
      </p:sp>
      <p:sp>
        <p:nvSpPr>
          <p:cNvPr id="103" name="updown"/>
          <p:cNvSpPr txBox="1"/>
          <p:nvPr/>
        </p:nvSpPr>
        <p:spPr>
          <a:xfrm>
            <a:off x="8458200" y="4788408"/>
            <a:ext cx="3276295" cy="332232"/>
          </a:xfrm>
          <a:prstGeom prst="rect">
            <a:avLst/>
          </a:prstGeom>
          <a:noFill/>
          <a:ln/>
        </p:spPr>
        <p:txBody>
          <a:bodyPr wrap="square" lIns="381" tIns="381" rIns="381" bIns="381" rtlCol="0" anchor="t"/>
          <a:lstStyle/>
          <a:p>
            <a:pPr indent="0" marL="0">
              <a:buNone/>
            </a:pPr>
            <a:r>
              <a:rPr lang="en-US" sz="850" b="1" dirty="0">
                <a:solidFill>
                  <a:srgbClr val="197A56"/>
                </a:solidFill>
                <a:latin typeface="Meiryo UI" pitchFamily="34" charset="0"/>
                <a:ea typeface="Meiryo UI" pitchFamily="34" charset="-122"/>
                <a:cs typeface="Meiryo UI" pitchFamily="34" charset="-120"/>
              </a:rPr>
              <a:t>上がる条件  </a:t>
            </a:r>
            <a:r>
              <a:rPr lang="en-US" sz="850" dirty="0">
                <a:solidFill>
                  <a:srgbClr val="333333"/>
                </a:solidFill>
                <a:latin typeface="Meiryo UI" pitchFamily="34" charset="0"/>
                <a:ea typeface="Meiryo UI" pitchFamily="34" charset="-122"/>
                <a:cs typeface="Meiryo UI" pitchFamily="34" charset="-120"/>
              </a:rPr>
              <a:t>FY28 下期に FCF が黒字化し、再契約が続く</a:t>
            </a:r>
            <a:endParaRPr lang="en-US" sz="850" dirty="0"/>
          </a:p>
          <a:p>
            <a:pPr indent="0" marL="0">
              <a:buNone/>
            </a:pPr>
            <a:r>
              <a:rPr lang="en-US" sz="850" b="1" dirty="0">
                <a:solidFill>
                  <a:srgbClr val="C0392B"/>
                </a:solidFill>
                <a:latin typeface="Meiryo UI" pitchFamily="34" charset="0"/>
                <a:ea typeface="Meiryo UI" pitchFamily="34" charset="-122"/>
                <a:cs typeface="Meiryo UI" pitchFamily="34" charset="-120"/>
              </a:rPr>
              <a:t>下がる条件  </a:t>
            </a:r>
            <a:r>
              <a:rPr lang="en-US" sz="850" dirty="0">
                <a:solidFill>
                  <a:srgbClr val="333333"/>
                </a:solidFill>
                <a:latin typeface="Meiryo UI" pitchFamily="34" charset="0"/>
                <a:ea typeface="Meiryo UI" pitchFamily="34" charset="-122"/>
                <a:cs typeface="Meiryo UI" pitchFamily="34" charset="-120"/>
              </a:rPr>
              <a:t>FY29 FCF が 300 億ドル未満、格付け BB+ へ</a:t>
            </a:r>
            <a:endParaRPr lang="en-US" sz="850" dirty="0"/>
          </a:p>
        </p:txBody>
      </p:sp>
      <p:sp>
        <p:nvSpPr>
          <p:cNvPr id="104" name="ovl_tl_head"/>
          <p:cNvSpPr txBox="1"/>
          <p:nvPr/>
        </p:nvSpPr>
        <p:spPr>
          <a:xfrm>
            <a:off x="457200" y="5248656"/>
            <a:ext cx="3108960" cy="182880"/>
          </a:xfrm>
          <a:prstGeom prst="rect">
            <a:avLst/>
          </a:prstGeom>
          <a:noFill/>
          <a:ln/>
        </p:spPr>
        <p:txBody>
          <a:bodyPr wrap="square" lIns="0" tIns="0" rIns="0" bIns="0" rtlCol="0" anchor="ctr"/>
          <a:lstStyle/>
          <a:p>
            <a:pPr indent="0" marL="0">
              <a:buNone/>
            </a:pPr>
            <a:r>
              <a:rPr lang="en-US" sz="900" b="1" dirty="0">
                <a:solidFill>
                  <a:srgbClr val="0E4D33"/>
                </a:solidFill>
                <a:latin typeface="Meiryo UI" pitchFamily="34" charset="0"/>
                <a:ea typeface="Meiryo UI" pitchFamily="34" charset="-122"/>
                <a:cs typeface="Meiryo UI" pitchFamily="34" charset="-120"/>
              </a:rPr>
              <a:t>AI 容量の道筋(需給エンジン第4.5版、GW)</a:t>
            </a:r>
            <a:endParaRPr lang="en-US" sz="900" dirty="0"/>
          </a:p>
        </p:txBody>
      </p:sp>
      <p:sp>
        <p:nvSpPr>
          <p:cNvPr id="105" name="ovl_tl_axis"/>
          <p:cNvSpPr/>
          <p:nvPr/>
        </p:nvSpPr>
        <p:spPr>
          <a:xfrm>
            <a:off x="731520" y="5760720"/>
            <a:ext cx="8321040" cy="914"/>
          </a:xfrm>
          <a:prstGeom prst="line">
            <a:avLst/>
          </a:prstGeom>
          <a:noFill/>
          <a:ln w="15875">
            <a:solidFill>
              <a:srgbClr val="767676"/>
            </a:solidFill>
            <a:prstDash val="solid"/>
          </a:ln>
        </p:spPr>
      </p:sp>
      <p:sp>
        <p:nvSpPr>
          <p:cNvPr id="106" name="ovl_tl_axis2"/>
          <p:cNvSpPr/>
          <p:nvPr/>
        </p:nvSpPr>
        <p:spPr>
          <a:xfrm>
            <a:off x="9052560" y="5760720"/>
            <a:ext cx="2377440" cy="914"/>
          </a:xfrm>
          <a:prstGeom prst="line">
            <a:avLst/>
          </a:prstGeom>
          <a:noFill/>
          <a:ln w="15875">
            <a:solidFill>
              <a:srgbClr val="767676"/>
            </a:solidFill>
            <a:prstDash val="sysDash"/>
          </a:ln>
        </p:spPr>
      </p:sp>
      <p:sp>
        <p:nvSpPr>
          <p:cNvPr id="107" name="ovl_tl_dot_FY26"/>
          <p:cNvSpPr/>
          <p:nvPr/>
        </p:nvSpPr>
        <p:spPr>
          <a:xfrm>
            <a:off x="1664208" y="5687568"/>
            <a:ext cx="146304" cy="146304"/>
          </a:xfrm>
          <a:prstGeom prst="ellipse">
            <a:avLst/>
          </a:prstGeom>
          <a:solidFill>
            <a:srgbClr val="197A56"/>
          </a:solidFill>
          <a:ln w="12700">
            <a:solidFill>
              <a:srgbClr val="197A56"/>
            </a:solidFill>
            <a:prstDash val="solid"/>
          </a:ln>
        </p:spPr>
      </p:sp>
      <p:sp>
        <p:nvSpPr>
          <p:cNvPr id="108" name="ovl_tl_tick_FY26"/>
          <p:cNvSpPr txBox="1"/>
          <p:nvPr/>
        </p:nvSpPr>
        <p:spPr>
          <a:xfrm>
            <a:off x="1325880" y="5852160"/>
            <a:ext cx="822960" cy="164592"/>
          </a:xfrm>
          <a:prstGeom prst="rect">
            <a:avLst/>
          </a:prstGeom>
          <a:noFill/>
          <a:ln/>
        </p:spPr>
        <p:txBody>
          <a:bodyPr wrap="square" lIns="0" tIns="0" rIns="0" bIns="0"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FY26</a:t>
            </a:r>
            <a:endParaRPr lang="en-US" sz="850" dirty="0"/>
          </a:p>
        </p:txBody>
      </p:sp>
      <p:sp>
        <p:nvSpPr>
          <p:cNvPr id="109" name="ovl_tl_dot_FY27"/>
          <p:cNvSpPr/>
          <p:nvPr/>
        </p:nvSpPr>
        <p:spPr>
          <a:xfrm>
            <a:off x="3493008" y="5687568"/>
            <a:ext cx="146304" cy="146304"/>
          </a:xfrm>
          <a:prstGeom prst="ellipse">
            <a:avLst/>
          </a:prstGeom>
          <a:solidFill>
            <a:srgbClr val="197A56"/>
          </a:solidFill>
          <a:ln w="12700">
            <a:solidFill>
              <a:srgbClr val="197A56"/>
            </a:solidFill>
            <a:prstDash val="solid"/>
          </a:ln>
        </p:spPr>
      </p:sp>
      <p:sp>
        <p:nvSpPr>
          <p:cNvPr id="110" name="ovl_tl_tick_FY27"/>
          <p:cNvSpPr txBox="1"/>
          <p:nvPr/>
        </p:nvSpPr>
        <p:spPr>
          <a:xfrm>
            <a:off x="3154680" y="5852160"/>
            <a:ext cx="822960" cy="164592"/>
          </a:xfrm>
          <a:prstGeom prst="rect">
            <a:avLst/>
          </a:prstGeom>
          <a:noFill/>
          <a:ln/>
        </p:spPr>
        <p:txBody>
          <a:bodyPr wrap="square" lIns="0" tIns="0" rIns="0" bIns="0"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FY27</a:t>
            </a:r>
            <a:endParaRPr lang="en-US" sz="850" dirty="0"/>
          </a:p>
        </p:txBody>
      </p:sp>
      <p:sp>
        <p:nvSpPr>
          <p:cNvPr id="111" name="ovl_tl_val_FY27"/>
          <p:cNvSpPr txBox="1"/>
          <p:nvPr/>
        </p:nvSpPr>
        <p:spPr>
          <a:xfrm>
            <a:off x="3108960" y="5486400"/>
            <a:ext cx="914400" cy="182880"/>
          </a:xfrm>
          <a:prstGeom prst="rect">
            <a:avLst/>
          </a:prstGeom>
          <a:noFill/>
          <a:ln/>
        </p:spPr>
        <p:txBody>
          <a:bodyPr wrap="square" lIns="0" tIns="0" rIns="0" bIns="0" rtlCol="0" anchor="b"/>
          <a:lstStyle/>
          <a:p>
            <a:pPr algn="ctr" indent="0" marL="0">
              <a:buNone/>
            </a:pPr>
            <a:r>
              <a:rPr lang="en-US" sz="1000" b="1" dirty="0">
                <a:solidFill>
                  <a:srgbClr val="0E4D33"/>
                </a:solidFill>
                <a:latin typeface="Meiryo UI" pitchFamily="34" charset="0"/>
                <a:ea typeface="Meiryo UI" pitchFamily="34" charset="-122"/>
                <a:cs typeface="Meiryo UI" pitchFamily="34" charset="-120"/>
              </a:rPr>
              <a:t>4.7GW</a:t>
            </a:r>
            <a:endParaRPr lang="en-US" sz="1000" dirty="0"/>
          </a:p>
        </p:txBody>
      </p:sp>
      <p:sp>
        <p:nvSpPr>
          <p:cNvPr id="112" name="ovl_tl_dot_FY28"/>
          <p:cNvSpPr/>
          <p:nvPr/>
        </p:nvSpPr>
        <p:spPr>
          <a:xfrm>
            <a:off x="5321808" y="5687568"/>
            <a:ext cx="146304" cy="146304"/>
          </a:xfrm>
          <a:prstGeom prst="ellipse">
            <a:avLst/>
          </a:prstGeom>
          <a:solidFill>
            <a:srgbClr val="197A56"/>
          </a:solidFill>
          <a:ln w="12700">
            <a:solidFill>
              <a:srgbClr val="197A56"/>
            </a:solidFill>
            <a:prstDash val="solid"/>
          </a:ln>
        </p:spPr>
      </p:sp>
      <p:sp>
        <p:nvSpPr>
          <p:cNvPr id="113" name="ovl_tl_tick_FY28"/>
          <p:cNvSpPr txBox="1"/>
          <p:nvPr/>
        </p:nvSpPr>
        <p:spPr>
          <a:xfrm>
            <a:off x="4983480" y="5852160"/>
            <a:ext cx="822960" cy="164592"/>
          </a:xfrm>
          <a:prstGeom prst="rect">
            <a:avLst/>
          </a:prstGeom>
          <a:noFill/>
          <a:ln/>
        </p:spPr>
        <p:txBody>
          <a:bodyPr wrap="square" lIns="0" tIns="0" rIns="0" bIns="0"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FY28</a:t>
            </a:r>
            <a:endParaRPr lang="en-US" sz="850" dirty="0"/>
          </a:p>
        </p:txBody>
      </p:sp>
      <p:sp>
        <p:nvSpPr>
          <p:cNvPr id="114" name="ovl_tl_val_FY28"/>
          <p:cNvSpPr txBox="1"/>
          <p:nvPr/>
        </p:nvSpPr>
        <p:spPr>
          <a:xfrm>
            <a:off x="4937760" y="5486400"/>
            <a:ext cx="914400" cy="182880"/>
          </a:xfrm>
          <a:prstGeom prst="rect">
            <a:avLst/>
          </a:prstGeom>
          <a:noFill/>
          <a:ln/>
        </p:spPr>
        <p:txBody>
          <a:bodyPr wrap="square" lIns="0" tIns="0" rIns="0" bIns="0" rtlCol="0" anchor="b"/>
          <a:lstStyle/>
          <a:p>
            <a:pPr algn="ctr" indent="0" marL="0">
              <a:buNone/>
            </a:pPr>
            <a:r>
              <a:rPr lang="en-US" sz="1000" b="1" dirty="0">
                <a:solidFill>
                  <a:srgbClr val="0E4D33"/>
                </a:solidFill>
                <a:latin typeface="Meiryo UI" pitchFamily="34" charset="0"/>
                <a:ea typeface="Meiryo UI" pitchFamily="34" charset="-122"/>
                <a:cs typeface="Meiryo UI" pitchFamily="34" charset="-120"/>
              </a:rPr>
              <a:t>8.2GW</a:t>
            </a:r>
            <a:endParaRPr lang="en-US" sz="1000" dirty="0"/>
          </a:p>
        </p:txBody>
      </p:sp>
      <p:sp>
        <p:nvSpPr>
          <p:cNvPr id="115" name="ovl_tl_dot_FY29"/>
          <p:cNvSpPr/>
          <p:nvPr/>
        </p:nvSpPr>
        <p:spPr>
          <a:xfrm>
            <a:off x="7150608" y="5687568"/>
            <a:ext cx="146304" cy="146304"/>
          </a:xfrm>
          <a:prstGeom prst="ellipse">
            <a:avLst/>
          </a:prstGeom>
          <a:solidFill>
            <a:srgbClr val="197A56"/>
          </a:solidFill>
          <a:ln w="12700">
            <a:solidFill>
              <a:srgbClr val="197A56"/>
            </a:solidFill>
            <a:prstDash val="solid"/>
          </a:ln>
        </p:spPr>
      </p:sp>
      <p:sp>
        <p:nvSpPr>
          <p:cNvPr id="116" name="ovl_tl_tick_FY29"/>
          <p:cNvSpPr txBox="1"/>
          <p:nvPr/>
        </p:nvSpPr>
        <p:spPr>
          <a:xfrm>
            <a:off x="6812280" y="5852160"/>
            <a:ext cx="822960" cy="164592"/>
          </a:xfrm>
          <a:prstGeom prst="rect">
            <a:avLst/>
          </a:prstGeom>
          <a:noFill/>
          <a:ln/>
        </p:spPr>
        <p:txBody>
          <a:bodyPr wrap="square" lIns="0" tIns="0" rIns="0" bIns="0"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FY29</a:t>
            </a:r>
            <a:endParaRPr lang="en-US" sz="850" dirty="0"/>
          </a:p>
        </p:txBody>
      </p:sp>
      <p:sp>
        <p:nvSpPr>
          <p:cNvPr id="117" name="ovl_tl_val_FY29"/>
          <p:cNvSpPr txBox="1"/>
          <p:nvPr/>
        </p:nvSpPr>
        <p:spPr>
          <a:xfrm>
            <a:off x="6766560" y="5486400"/>
            <a:ext cx="914400" cy="182880"/>
          </a:xfrm>
          <a:prstGeom prst="rect">
            <a:avLst/>
          </a:prstGeom>
          <a:noFill/>
          <a:ln/>
        </p:spPr>
        <p:txBody>
          <a:bodyPr wrap="square" lIns="0" tIns="0" rIns="0" bIns="0" rtlCol="0" anchor="b"/>
          <a:lstStyle/>
          <a:p>
            <a:pPr algn="ctr" indent="0" marL="0">
              <a:buNone/>
            </a:pPr>
            <a:r>
              <a:rPr lang="en-US" sz="1000" b="1" dirty="0">
                <a:solidFill>
                  <a:srgbClr val="0E4D33"/>
                </a:solidFill>
                <a:latin typeface="Meiryo UI" pitchFamily="34" charset="0"/>
                <a:ea typeface="Meiryo UI" pitchFamily="34" charset="-122"/>
                <a:cs typeface="Meiryo UI" pitchFamily="34" charset="-120"/>
              </a:rPr>
              <a:t>9.5GW</a:t>
            </a:r>
            <a:endParaRPr lang="en-US" sz="1000" dirty="0"/>
          </a:p>
        </p:txBody>
      </p:sp>
      <p:sp>
        <p:nvSpPr>
          <p:cNvPr id="118" name="ovl_tl_dot_FY30"/>
          <p:cNvSpPr/>
          <p:nvPr/>
        </p:nvSpPr>
        <p:spPr>
          <a:xfrm>
            <a:off x="8979408" y="5687568"/>
            <a:ext cx="146304" cy="146304"/>
          </a:xfrm>
          <a:prstGeom prst="ellipse">
            <a:avLst/>
          </a:prstGeom>
          <a:solidFill>
            <a:srgbClr val="197A56"/>
          </a:solidFill>
          <a:ln w="12700">
            <a:solidFill>
              <a:srgbClr val="197A56"/>
            </a:solidFill>
            <a:prstDash val="solid"/>
          </a:ln>
        </p:spPr>
      </p:sp>
      <p:sp>
        <p:nvSpPr>
          <p:cNvPr id="119" name="ovl_tl_tick_FY30"/>
          <p:cNvSpPr txBox="1"/>
          <p:nvPr/>
        </p:nvSpPr>
        <p:spPr>
          <a:xfrm>
            <a:off x="8641080" y="5852160"/>
            <a:ext cx="822960" cy="164592"/>
          </a:xfrm>
          <a:prstGeom prst="rect">
            <a:avLst/>
          </a:prstGeom>
          <a:noFill/>
          <a:ln/>
        </p:spPr>
        <p:txBody>
          <a:bodyPr wrap="square" lIns="0" tIns="0" rIns="0" bIns="0"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FY30</a:t>
            </a:r>
            <a:endParaRPr lang="en-US" sz="850" dirty="0"/>
          </a:p>
        </p:txBody>
      </p:sp>
      <p:sp>
        <p:nvSpPr>
          <p:cNvPr id="120" name="ovl_tl_val_FY30"/>
          <p:cNvSpPr txBox="1"/>
          <p:nvPr/>
        </p:nvSpPr>
        <p:spPr>
          <a:xfrm>
            <a:off x="8595360" y="5486400"/>
            <a:ext cx="914400" cy="182880"/>
          </a:xfrm>
          <a:prstGeom prst="rect">
            <a:avLst/>
          </a:prstGeom>
          <a:noFill/>
          <a:ln/>
        </p:spPr>
        <p:txBody>
          <a:bodyPr wrap="square" lIns="0" tIns="0" rIns="0" bIns="0" rtlCol="0" anchor="b"/>
          <a:lstStyle/>
          <a:p>
            <a:pPr algn="ctr" indent="0" marL="0">
              <a:buNone/>
            </a:pPr>
            <a:r>
              <a:rPr lang="en-US" sz="1000" b="1" dirty="0">
                <a:solidFill>
                  <a:srgbClr val="0E4D33"/>
                </a:solidFill>
                <a:latin typeface="Meiryo UI" pitchFamily="34" charset="0"/>
                <a:ea typeface="Meiryo UI" pitchFamily="34" charset="-122"/>
                <a:cs typeface="Meiryo UI" pitchFamily="34" charset="-120"/>
              </a:rPr>
              <a:t>10.5GW</a:t>
            </a:r>
            <a:endParaRPr lang="en-US" sz="1000" dirty="0"/>
          </a:p>
        </p:txBody>
      </p:sp>
      <p:sp>
        <p:nvSpPr>
          <p:cNvPr id="121" name="ovl_tl_dot_FY37"/>
          <p:cNvSpPr/>
          <p:nvPr/>
        </p:nvSpPr>
        <p:spPr>
          <a:xfrm>
            <a:off x="10533888" y="5687568"/>
            <a:ext cx="146304" cy="146304"/>
          </a:xfrm>
          <a:prstGeom prst="ellipse">
            <a:avLst/>
          </a:prstGeom>
          <a:solidFill>
            <a:srgbClr val="C0392B"/>
          </a:solidFill>
          <a:ln w="12700">
            <a:solidFill>
              <a:srgbClr val="C0392B"/>
            </a:solidFill>
            <a:prstDash val="solid"/>
          </a:ln>
        </p:spPr>
      </p:sp>
      <p:sp>
        <p:nvSpPr>
          <p:cNvPr id="122" name="ovl_tl_tick_FY37"/>
          <p:cNvSpPr txBox="1"/>
          <p:nvPr/>
        </p:nvSpPr>
        <p:spPr>
          <a:xfrm>
            <a:off x="10195560" y="5852160"/>
            <a:ext cx="822960" cy="164592"/>
          </a:xfrm>
          <a:prstGeom prst="rect">
            <a:avLst/>
          </a:prstGeom>
          <a:noFill/>
          <a:ln/>
        </p:spPr>
        <p:txBody>
          <a:bodyPr wrap="square" lIns="0" tIns="0" rIns="0" bIns="0" rtlCol="0" anchor="ctr"/>
          <a:lstStyle/>
          <a:p>
            <a:pPr algn="ctr" indent="0" marL="0">
              <a:buNone/>
            </a:pPr>
            <a:r>
              <a:rPr lang="en-US" sz="850" b="1" dirty="0">
                <a:solidFill>
                  <a:srgbClr val="C0392B"/>
                </a:solidFill>
                <a:latin typeface="Meiryo UI" pitchFamily="34" charset="0"/>
                <a:ea typeface="Meiryo UI" pitchFamily="34" charset="-122"/>
                <a:cs typeface="Meiryo UI" pitchFamily="34" charset="-120"/>
              </a:rPr>
              <a:t>FY36〜37</a:t>
            </a:r>
            <a:endParaRPr lang="en-US" sz="850" dirty="0"/>
          </a:p>
        </p:txBody>
      </p:sp>
      <p:sp>
        <p:nvSpPr>
          <p:cNvPr id="123" name="ovl_tl_dn0"/>
          <p:cNvSpPr txBox="1"/>
          <p:nvPr/>
        </p:nvSpPr>
        <p:spPr>
          <a:xfrm>
            <a:off x="4297680" y="6035040"/>
            <a:ext cx="2194560" cy="201168"/>
          </a:xfrm>
          <a:prstGeom prst="rect">
            <a:avLst/>
          </a:prstGeom>
          <a:noFill/>
          <a:ln/>
        </p:spPr>
        <p:txBody>
          <a:bodyPr wrap="square" lIns="0" tIns="0" rIns="0" bIns="0" rtlCol="0" anchor="ctr"/>
          <a:lstStyle/>
          <a:p>
            <a:pPr algn="ctr" indent="0" marL="0">
              <a:buNone/>
            </a:pPr>
            <a:r>
              <a:rPr lang="en-US" sz="850" dirty="0">
                <a:solidFill>
                  <a:srgbClr val="333333"/>
                </a:solidFill>
                <a:latin typeface="Meiryo UI" pitchFamily="34" charset="0"/>
                <a:ea typeface="Meiryo UI" pitchFamily="34" charset="-122"/>
                <a:cs typeface="Meiryo UI" pitchFamily="34" charset="-120"/>
              </a:rPr>
              <a:t>FCF 黒字化(会社: FY28 下期)</a:t>
            </a:r>
            <a:endParaRPr lang="en-US" sz="850" dirty="0"/>
          </a:p>
        </p:txBody>
      </p:sp>
      <p:sp>
        <p:nvSpPr>
          <p:cNvPr id="124" name="ovl_tl_dn1"/>
          <p:cNvSpPr txBox="1"/>
          <p:nvPr/>
        </p:nvSpPr>
        <p:spPr>
          <a:xfrm>
            <a:off x="6309360" y="6035040"/>
            <a:ext cx="1828800" cy="201168"/>
          </a:xfrm>
          <a:prstGeom prst="rect">
            <a:avLst/>
          </a:prstGeom>
          <a:noFill/>
          <a:ln/>
        </p:spPr>
        <p:txBody>
          <a:bodyPr wrap="square" lIns="0" tIns="0" rIns="0" bIns="0" rtlCol="0" anchor="ctr"/>
          <a:lstStyle/>
          <a:p>
            <a:pPr algn="ctr" indent="0" marL="0">
              <a:buNone/>
            </a:pPr>
            <a:r>
              <a:rPr lang="en-US" sz="850" dirty="0">
                <a:solidFill>
                  <a:srgbClr val="333333"/>
                </a:solidFill>
                <a:latin typeface="Meiryo UI" pitchFamily="34" charset="0"/>
                <a:ea typeface="Meiryo UI" pitchFamily="34" charset="-122"/>
                <a:cs typeface="Meiryo UI" pitchFamily="34" charset="-120"/>
              </a:rPr>
              <a:t>FCF 300 億ドル以上</a:t>
            </a:r>
            <a:endParaRPr lang="en-US" sz="850" dirty="0"/>
          </a:p>
        </p:txBody>
      </p:sp>
      <p:sp>
        <p:nvSpPr>
          <p:cNvPr id="125" name="ovl_tl_dn2"/>
          <p:cNvSpPr txBox="1"/>
          <p:nvPr/>
        </p:nvSpPr>
        <p:spPr>
          <a:xfrm>
            <a:off x="8366760" y="6035040"/>
            <a:ext cx="1371600" cy="201168"/>
          </a:xfrm>
          <a:prstGeom prst="rect">
            <a:avLst/>
          </a:prstGeom>
          <a:noFill/>
          <a:ln/>
        </p:spPr>
        <p:txBody>
          <a:bodyPr wrap="square" lIns="0" tIns="0" rIns="0" bIns="0" rtlCol="0" anchor="ctr"/>
          <a:lstStyle/>
          <a:p>
            <a:pPr algn="ctr" indent="0" marL="0">
              <a:buNone/>
            </a:pPr>
            <a:r>
              <a:rPr lang="en-US" sz="850" dirty="0">
                <a:solidFill>
                  <a:srgbClr val="333333"/>
                </a:solidFill>
                <a:latin typeface="Meiryo UI" pitchFamily="34" charset="0"/>
                <a:ea typeface="Meiryo UI" pitchFamily="34" charset="-122"/>
                <a:cs typeface="Meiryo UI" pitchFamily="34" charset="-120"/>
              </a:rPr>
              <a:t>会社目標の年</a:t>
            </a:r>
            <a:endParaRPr lang="en-US" sz="850" dirty="0"/>
          </a:p>
        </p:txBody>
      </p:sp>
      <p:sp>
        <p:nvSpPr>
          <p:cNvPr id="126" name="ovl_tl_dn3"/>
          <p:cNvSpPr txBox="1"/>
          <p:nvPr/>
        </p:nvSpPr>
        <p:spPr>
          <a:xfrm>
            <a:off x="9418320" y="6035040"/>
            <a:ext cx="2377440" cy="201168"/>
          </a:xfrm>
          <a:prstGeom prst="rect">
            <a:avLst/>
          </a:prstGeom>
          <a:noFill/>
          <a:ln/>
        </p:spPr>
        <p:txBody>
          <a:bodyPr wrap="square" lIns="0" tIns="0" rIns="0" bIns="0" rtlCol="0" anchor="ctr"/>
          <a:lstStyle/>
          <a:p>
            <a:pPr algn="ctr" indent="0" marL="0">
              <a:buNone/>
            </a:pPr>
            <a:r>
              <a:rPr lang="en-US" sz="850" b="1" dirty="0">
                <a:solidFill>
                  <a:srgbClr val="C0392B"/>
                </a:solidFill>
                <a:latin typeface="Meiryo UI" pitchFamily="34" charset="0"/>
                <a:ea typeface="Meiryo UI" pitchFamily="34" charset="-122"/>
                <a:cs typeface="Meiryo UI" pitchFamily="34" charset="-120"/>
              </a:rPr>
              <a:t>更新の山(再契約しだい)</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2-2 会社のシナリオ(2/3)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652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652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会社のシナリオ</a:t>
            </a:r>
            <a:endParaRPr lang="en-US" sz="1000" dirty="0"/>
          </a:p>
        </p:txBody>
      </p:sp>
      <p:sp>
        <p:nvSpPr>
          <p:cNvPr id="14" name="hdr_why"/>
          <p:cNvSpPr txBox="1"/>
          <p:nvPr/>
        </p:nvSpPr>
        <p:spPr>
          <a:xfrm>
            <a:off x="2255774" y="356616"/>
            <a:ext cx="9478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筋書きの部品ごとに、数字で作動しているかを採点し、会社の目標をどこまで信じるかを決める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資金・推論・アプリの部品は数字で作動し、OpenAI・電力・再契約の</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単価の 3 部品が判定を「条件付きのプラス」にとどめる</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筋書きの部品(P1〜P13)を、数字で作動しているかで採点。右: 規模で重みづけした判定と、会社目標・コンセンサス・需給エンジンの差</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report/ORCL_report.md §4-3・§5-1、Investor Day 2026-10-28(8-K Ex.99.1、CFO 資料 p.4・26)、需給エンジン第4.5版(m10_*.json)、LSEG コンセンサス(説明会前)</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12</a:t>
            </a:r>
            <a:endParaRPr lang="en-US" sz="800" dirty="0"/>
          </a:p>
        </p:txBody>
      </p:sp>
      <p:graphicFrame>
        <p:nvGraphicFramePr>
          <p:cNvPr id="13" name="tbl"/>
          <p:cNvGraphicFramePr>
            <a:graphicFrameLocks noGrp="1"/>
          </p:cNvGraphicFramePr>
          <p:nvPr>
            <p:extLst>
              <p:ext uri="{D42A27DB-BD31-4B8C-83A1-F6EECF244321}">
                <p14:modId xmlns:p14="http://schemas.microsoft.com/office/powerpoint/2010/main" val="1579011935"/>
              </p:ext>
            </p:extLst>
          </p:nvPr>
        </p:nvGraphicFramePr>
        <p:xfrm>
          <a:off x="457200" y="1481328"/>
          <a:ext cx="7589520" cy="914400"/>
        </p:xfrm>
        <a:graphic>
          <a:graphicData uri="http://schemas.openxmlformats.org/drawingml/2006/table">
            <a:tbl>
              <a:tblPr/>
              <a:tblGrid>
                <a:gridCol w="457200"/>
                <a:gridCol w="1828800"/>
                <a:gridCol w="731520"/>
                <a:gridCol w="3749040"/>
                <a:gridCol w="822960"/>
              </a:tblGrid>
              <a:tr h="301752">
                <a:tc>
                  <a:txBody>
                    <a:bodyPr/>
                    <a:lstStyle/>
                    <a:p>
                      <a:pPr algn="ctr" indent="0" marL="0">
                        <a:buNone/>
                      </a:pPr>
                      <a:r>
                        <a:rPr lang="en-US" sz="850" b="1" dirty="0">
                          <a:solidFill>
                            <a:srgbClr val="FFFFFF"/>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850" b="1" dirty="0">
                          <a:solidFill>
                            <a:srgbClr val="FFFFFF"/>
                          </a:solidFill>
                          <a:latin typeface="Meiryo UI" pitchFamily="34" charset="0"/>
                          <a:ea typeface="Meiryo UI" pitchFamily="34" charset="-122"/>
                          <a:cs typeface="Meiryo UI" pitchFamily="34" charset="-120"/>
                        </a:rPr>
                        <a:t>部品</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850" b="1" dirty="0">
                          <a:solidFill>
                            <a:srgbClr val="FFFFFF"/>
                          </a:solidFill>
                          <a:latin typeface="Meiryo UI" pitchFamily="34" charset="0"/>
                          <a:ea typeface="Meiryo UI" pitchFamily="34" charset="-122"/>
                          <a:cs typeface="Meiryo UI" pitchFamily="34" charset="-120"/>
                        </a:rPr>
                        <a:t>評価</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850" b="1" dirty="0">
                          <a:solidFill>
                            <a:srgbClr val="FFFFFF"/>
                          </a:solidFill>
                          <a:latin typeface="Meiryo UI" pitchFamily="34" charset="0"/>
                          <a:ea typeface="Meiryo UI" pitchFamily="34" charset="-122"/>
                          <a:cs typeface="Meiryo UI" pitchFamily="34" charset="-120"/>
                        </a:rPr>
                        <a:t>進捗(数字で作動しているか)</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850" b="1" dirty="0">
                          <a:solidFill>
                            <a:srgbClr val="FFFFFF"/>
                          </a:solidFill>
                          <a:latin typeface="Meiryo UI" pitchFamily="34" charset="0"/>
                          <a:ea typeface="Meiryo UI" pitchFamily="34" charset="-122"/>
                          <a:cs typeface="Meiryo UI" pitchFamily="34" charset="-120"/>
                        </a:rPr>
                        <a:t>重み</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0175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P1</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OpenAI</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(約 3,000 億ドル・4.5GW)</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D68910"/>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部分作動。Abilene の一部が稼働、他は遅延</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21%</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0175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P2</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OpenAI 以外の AI 顧客</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b="1" dirty="0">
                          <a:solidFill>
                            <a:srgbClr val="197A56"/>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作動。OpenAI 以外の受注残は 2 倍超</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13%</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0175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P3</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前払い・GPU 持込</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97A56"/>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作動。前受収益 154 → 308 億ドル</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13%</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0175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P4</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開発事業者とのリース</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b="1" dirty="0">
                          <a:solidFill>
                            <a:srgbClr val="D68910"/>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作動(未開始 2,880 億ドル)。価値は更新単価しだい</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9%</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0175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P5</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電力の確保</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D68910"/>
                          </a:solidFill>
                          <a:latin typeface="Meiryo UI" pitchFamily="34" charset="0"/>
                          <a:ea typeface="Meiryo UI" pitchFamily="34" charset="-122"/>
                          <a:cs typeface="Meiryo UI" pitchFamily="34" charset="-120"/>
                        </a:rPr>
                        <a:t>+ 遅延</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NM・WI で 1 年前後の遅れ。賃料は引き渡しから、</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価値への効きは小さい(時期のずれ)</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9%</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0175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P6</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資金調達</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b="1" dirty="0">
                          <a:solidFill>
                            <a:srgbClr val="197A56"/>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追加調達 200 億ドルの上限と</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FY29 FCF 300 億ドル以上を約束</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9%</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0175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P7</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Database@</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97A56"/>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作動(+353%)</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3%</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0175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P8</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AI Database</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767676"/>
                          </a:solidFill>
                          <a:latin typeface="Meiryo UI" pitchFamily="34" charset="0"/>
                          <a:ea typeface="Meiryo UI" pitchFamily="34" charset="-122"/>
                          <a:cs typeface="Meiryo UI" pitchFamily="34" charset="-120"/>
                        </a:rPr>
                        <a:t>保留</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数字なし</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1%</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0175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P9</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アプリ(SaaS)</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97A56"/>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作動(+10%、横ばい)</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4%</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0175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P10</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GPU の更新・再販</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b="1" dirty="0">
                          <a:solidFill>
                            <a:srgbClr val="197A56"/>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作動(全量を従来比 +20% で更新・再販)</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3%</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0175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P11</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営業費の効率化</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97A56"/>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作動(非GAAP 営業利益率 42.5%)</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2%</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0175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P12</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推論の需要(企業データの近く)</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b="1" dirty="0">
                          <a:solidFill>
                            <a:srgbClr val="197A56"/>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推論は AI 計算の約 2/3(2026)。</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分散 50〜200MW の拠点を供給</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9%</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0175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P13</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アプリの AI 収益化・ERP 移行</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97A56"/>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ERP の約半分がオンプレ、移行で 3〜4 倍。</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AI 呼び出し +42%(6→8 月)</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4%</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0" name="pane_head"/>
          <p:cNvSpPr txBox="1"/>
          <p:nvPr/>
        </p:nvSpPr>
        <p:spPr>
          <a:xfrm>
            <a:off x="8275320" y="1481328"/>
            <a:ext cx="3456432"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規模で重みづけした判定</a:t>
            </a:r>
            <a:endParaRPr lang="en-US" sz="1200" dirty="0"/>
          </a:p>
        </p:txBody>
      </p:sp>
      <p:graphicFrame>
        <p:nvGraphicFramePr>
          <p:cNvPr id="21" name="chart_weight" descr=""/>
          <p:cNvGraphicFramePr/>
          <p:nvPr/>
        </p:nvGraphicFramePr>
        <p:xfrm>
          <a:off x="8275320" y="1783080"/>
          <a:ext cx="3456432" cy="1051560"/>
        </p:xfrm>
        <a:graphic xmlns:a="http://schemas.openxmlformats.org/drawingml/2006/main">
          <a:graphicData uri="http://schemas.openxmlformats.org/drawingml/2006/chart">
            <c:chart xmlns:c="http://schemas.openxmlformats.org/drawingml/2006/chart" r:id="rId1"/>
          </a:graphicData>
        </a:graphic>
      </p:graphicFrame>
      <p:sp>
        <p:nvSpPr>
          <p:cNvPr id="22" name="ovl_takeaway_bg"/>
          <p:cNvSpPr/>
          <p:nvPr/>
        </p:nvSpPr>
        <p:spPr>
          <a:xfrm>
            <a:off x="8275320" y="2926080"/>
            <a:ext cx="3456432" cy="868680"/>
          </a:xfrm>
          <a:prstGeom prst="rect">
            <a:avLst/>
          </a:prstGeom>
          <a:solidFill>
            <a:srgbClr val="EAF4EE"/>
          </a:solidFill>
          <a:ln w="12700">
            <a:solidFill>
              <a:srgbClr val="EAF4EE"/>
            </a:solidFill>
            <a:prstDash val="solid"/>
          </a:ln>
        </p:spPr>
      </p:sp>
      <p:sp>
        <p:nvSpPr>
          <p:cNvPr id="23" name="takeaway"/>
          <p:cNvSpPr txBox="1"/>
          <p:nvPr/>
        </p:nvSpPr>
        <p:spPr>
          <a:xfrm>
            <a:off x="8385048" y="2999232"/>
            <a:ext cx="3236976" cy="72237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判定は「条件付きのプラス」。両面・遅延の部品は失敗ではなく、遅れと条件</a:t>
            </a:r>
            <a:endParaRPr lang="en-US" sz="1100" dirty="0"/>
          </a:p>
        </p:txBody>
      </p:sp>
      <p:sp>
        <p:nvSpPr>
          <p:cNvPr id="24" name="pane_head"/>
          <p:cNvSpPr txBox="1"/>
          <p:nvPr/>
        </p:nvSpPr>
        <p:spPr>
          <a:xfrm>
            <a:off x="8275320" y="3931920"/>
            <a:ext cx="3456432"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会社の目標をどこまで信じるか</a:t>
            </a:r>
            <a:endParaRPr lang="en-US" sz="1200" dirty="0"/>
          </a:p>
        </p:txBody>
      </p:sp>
      <p:graphicFrame>
        <p:nvGraphicFramePr>
          <p:cNvPr id="25" name="tbl"/>
          <p:cNvGraphicFramePr>
            <a:graphicFrameLocks noGrp="1"/>
          </p:cNvGraphicFramePr>
          <p:nvPr>
            <p:extLst>
              <p:ext uri="{D42A27DB-BD31-4B8C-83A1-F6EECF244321}">
                <p14:modId xmlns:p14="http://schemas.microsoft.com/office/powerpoint/2010/main" val="1579011935"/>
              </p:ext>
            </p:extLst>
          </p:nvPr>
        </p:nvGraphicFramePr>
        <p:xfrm>
          <a:off x="8275320" y="4251960"/>
          <a:ext cx="3456432" cy="914400"/>
        </p:xfrm>
        <a:graphic>
          <a:graphicData uri="http://schemas.openxmlformats.org/drawingml/2006/table">
            <a:tbl>
              <a:tblPr/>
              <a:tblGrid>
                <a:gridCol w="1261872"/>
                <a:gridCol w="658368"/>
                <a:gridCol w="850392"/>
                <a:gridCol w="685800"/>
              </a:tblGrid>
              <a:tr h="274320">
                <a:tc>
                  <a:txBody>
                    <a:bodyPr/>
                    <a:lstStyle/>
                    <a:p>
                      <a:pPr algn="l" indent="0" marL="0">
                        <a:buNone/>
                      </a:pP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850" b="1" dirty="0">
                          <a:solidFill>
                            <a:srgbClr val="FFFFFF"/>
                          </a:solidFill>
                          <a:latin typeface="Meiryo UI" pitchFamily="34" charset="0"/>
                          <a:ea typeface="Meiryo UI" pitchFamily="34" charset="-122"/>
                          <a:cs typeface="Meiryo UI" pitchFamily="34" charset="-120"/>
                        </a:rPr>
                        <a:t>会社</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850" b="1" dirty="0">
                          <a:solidFill>
                            <a:srgbClr val="FFFFFF"/>
                          </a:solidFill>
                          <a:latin typeface="Meiryo UI" pitchFamily="34" charset="0"/>
                          <a:ea typeface="Meiryo UI" pitchFamily="34" charset="-122"/>
                          <a:cs typeface="Meiryo UI" pitchFamily="34" charset="-120"/>
                        </a:rPr>
                        <a:t>コンセンサス</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850" b="1" dirty="0">
                          <a:solidFill>
                            <a:srgbClr val="FFFFFF"/>
                          </a:solidFill>
                          <a:latin typeface="Meiryo UI" pitchFamily="34" charset="0"/>
                          <a:ea typeface="Meiryo UI" pitchFamily="34" charset="-122"/>
                          <a:cs typeface="Meiryo UI" pitchFamily="34" charset="-120"/>
                        </a:rPr>
                        <a:t>エンジン</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274320">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売上(億ドル)</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2,250</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2,242</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2,239</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営業利益(億ドル)</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900</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834</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274320">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EPS(ドル)</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21</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20.53</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19.59</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FY29 FCF(億ドル)</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300</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399</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26" name="Text 21"/>
          <p:cNvSpPr txBox="1"/>
          <p:nvPr/>
        </p:nvSpPr>
        <p:spPr>
          <a:xfrm>
            <a:off x="8275320" y="5687568"/>
            <a:ext cx="3456432" cy="548640"/>
          </a:xfrm>
          <a:prstGeom prst="rect">
            <a:avLst/>
          </a:prstGeom>
          <a:noFill/>
          <a:ln/>
        </p:spPr>
        <p:txBody>
          <a:bodyPr wrap="square" lIns="508" tIns="508" rIns="508" bIns="508" rtlCol="0" anchor="t"/>
          <a:lstStyle/>
          <a:p>
            <a:pPr indent="0" marL="0">
              <a:buNone/>
            </a:pPr>
            <a:r>
              <a:rPr lang="en-US" sz="850" dirty="0">
                <a:solidFill>
                  <a:srgbClr val="333333"/>
                </a:solidFill>
                <a:latin typeface="Meiryo UI" pitchFamily="34" charset="0"/>
                <a:ea typeface="Meiryo UI" pitchFamily="34" charset="-122"/>
                <a:cs typeface="Meiryo UI" pitchFamily="34" charset="-120"/>
              </a:rPr>
              <a:t>売上と資金の目標はエンジンでも届く。利益率は 3pt 低い</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(会社「FY28・29 も 40% を大きく下回らない」に対し 37%)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2-2 会社のシナリオ(3/3)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652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652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会社のシナリオ</a:t>
            </a:r>
            <a:endParaRPr lang="en-US" sz="1000" dirty="0"/>
          </a:p>
        </p:txBody>
      </p:sp>
      <p:sp>
        <p:nvSpPr>
          <p:cNvPr id="14" name="hdr_why"/>
          <p:cNvSpPr txBox="1"/>
          <p:nvPr/>
        </p:nvSpPr>
        <p:spPr>
          <a:xfrm>
            <a:off x="2255774" y="356616"/>
            <a:ext cx="9478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説明会(2026-10-28)で会社の見通しのどこが変わり、理論株価にどう効いたかを確かめる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説明会で変わったのは時期と資金。説明会の資料で理論株価は −15、</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推論・ERP 移行・立ち上げの見直しで +9 ドルの 245 ドル</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説明会(2026-10-28)の前後で変わった 6 項目と、理論株価への効き。右: 第4.3版 → 第4.5版 の理論株価の変化(説明会の資料と、利用者の指摘による変更)</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Investor Day 2026-10-28(8-K Ex.99.1、CFO 資料 p.4・8・13・15〜20・26〜28)、需給エンジン第4.3〜4.5版(m9_waterfall.json・m10_fair.json、台帳 r8 A)</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13</a:t>
            </a:r>
            <a:endParaRPr lang="en-US" sz="800" dirty="0"/>
          </a:p>
        </p:txBody>
      </p:sp>
      <p:sp>
        <p:nvSpPr>
          <p:cNvPr id="19" name="pane_head"/>
          <p:cNvSpPr txBox="1"/>
          <p:nvPr/>
        </p:nvSpPr>
        <p:spPr>
          <a:xfrm>
            <a:off x="457200" y="1481328"/>
            <a:ext cx="694944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説明会で変わった 6 項目と、理論株価への効き</a:t>
            </a:r>
            <a:endParaRPr lang="en-US" sz="1200" dirty="0"/>
          </a:p>
        </p:txBody>
      </p:sp>
      <p:graphicFrame>
        <p:nvGraphicFramePr>
          <p:cNvPr id="14" name="tbl"/>
          <p:cNvGraphicFramePr>
            <a:graphicFrameLocks noGrp="1"/>
          </p:cNvGraphicFramePr>
          <p:nvPr>
            <p:extLst>
              <p:ext uri="{D42A27DB-BD31-4B8C-83A1-F6EECF244321}">
                <p14:modId xmlns:p14="http://schemas.microsoft.com/office/powerpoint/2010/main" val="1579011935"/>
              </p:ext>
            </p:extLst>
          </p:nvPr>
        </p:nvGraphicFramePr>
        <p:xfrm>
          <a:off x="457200" y="1801368"/>
          <a:ext cx="6949440" cy="914400"/>
        </p:xfrm>
        <a:graphic>
          <a:graphicData uri="http://schemas.openxmlformats.org/drawingml/2006/table">
            <a:tbl>
              <a:tblPr/>
              <a:tblGrid>
                <a:gridCol w="960120"/>
                <a:gridCol w="2103120"/>
                <a:gridCol w="2103120"/>
                <a:gridCol w="1783080"/>
              </a:tblGrid>
              <a:tr h="521208">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項目</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説明会の前</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説明会(10/28)</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評価への効き</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521208">
                <a:tc>
                  <a:txBody>
                    <a:bodyPr/>
                    <a:lstStyle/>
                    <a:p>
                      <a:pPr algn="l" indent="0" marL="0">
                        <a:buNone/>
                      </a:pPr>
                      <a:r>
                        <a:rPr lang="en-US" sz="900" b="1" dirty="0">
                          <a:solidFill>
                            <a:srgbClr val="0E4D33"/>
                          </a:solidFill>
                          <a:latin typeface="Meiryo UI" pitchFamily="34" charset="0"/>
                          <a:ea typeface="Meiryo UI" pitchFamily="34" charset="-122"/>
                          <a:cs typeface="Meiryo UI" pitchFamily="34" charset="-120"/>
                        </a:rPr>
                        <a:t>FCF の黒字化</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S&amp;P の条件は FY29、</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エンジンは FY30</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FY28 下期に黒字化、</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FY29 に 300 億ドル以上</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エンジンは FY29 399 億。</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容量の頭打ちで capex が減る</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521208">
                <a:tc>
                  <a:txBody>
                    <a:bodyPr/>
                    <a:lstStyle/>
                    <a:p>
                      <a:pPr algn="l" indent="0" marL="0">
                        <a:buNone/>
                      </a:pPr>
                      <a:r>
                        <a:rPr lang="en-US" sz="900" b="1" dirty="0">
                          <a:solidFill>
                            <a:srgbClr val="0E4D33"/>
                          </a:solidFill>
                          <a:latin typeface="Meiryo UI" pitchFamily="34" charset="0"/>
                          <a:ea typeface="Meiryo UI" pitchFamily="34" charset="-122"/>
                          <a:cs typeface="Meiryo UI" pitchFamily="34" charset="-120"/>
                        </a:rPr>
                        <a:t>追加調達</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2026 年に 450〜500 億ドルの計画</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(ATM 200 億は Q1 で完了)</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FY27〜30 に 200 億ドルが上限</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(株 100・債 100)</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株式 100 億 = 7,200 万株</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(希薄化 2.4%)</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521208">
                <a:tc>
                  <a:txBody>
                    <a:bodyPr/>
                    <a:lstStyle/>
                    <a:p>
                      <a:pPr algn="l" indent="0" marL="0">
                        <a:buNone/>
                      </a:pPr>
                      <a:r>
                        <a:rPr lang="en-US" sz="900" b="1" dirty="0">
                          <a:solidFill>
                            <a:srgbClr val="0E4D33"/>
                          </a:solidFill>
                          <a:latin typeface="Meiryo UI" pitchFamily="34" charset="0"/>
                          <a:ea typeface="Meiryo UI" pitchFamily="34" charset="-122"/>
                          <a:cs typeface="Meiryo UI" pitchFamily="34" charset="-120"/>
                        </a:rPr>
                        <a:t>容量</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確保電力 10GW 超</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(エンジン FY30 14GW)</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FY26 3GW → FY28 末 10GW、</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FY30 約 10GW</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容量の計画 −13.1 ドル</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521208">
                <a:tc>
                  <a:txBody>
                    <a:bodyPr/>
                    <a:lstStyle/>
                    <a:p>
                      <a:pPr algn="l" indent="0" marL="0">
                        <a:buNone/>
                      </a:pPr>
                      <a:r>
                        <a:rPr lang="en-US" sz="900" b="1" dirty="0">
                          <a:solidFill>
                            <a:srgbClr val="0E4D33"/>
                          </a:solidFill>
                          <a:latin typeface="Meiryo UI" pitchFamily="34" charset="0"/>
                          <a:ea typeface="Meiryo UI" pitchFamily="34" charset="-122"/>
                          <a:cs typeface="Meiryo UI" pitchFamily="34" charset="-120"/>
                        </a:rPr>
                        <a:t>1GW の経済性</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未開示(エンジンは</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現金費用 27 億ドル/GW)</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売上 160 億・capex 370 億・</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粗利率 35%・契約 5 年</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単価 +6.5、粗利率 −19.0</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芯は再契約の単価</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(経営者: 同じか、より良い利益率)</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521208">
                <a:tc>
                  <a:txBody>
                    <a:bodyPr/>
                    <a:lstStyle/>
                    <a:p>
                      <a:pPr algn="l" indent="0" marL="0">
                        <a:buNone/>
                      </a:pPr>
                      <a:r>
                        <a:rPr lang="en-US" sz="900" b="1" dirty="0">
                          <a:solidFill>
                            <a:srgbClr val="0E4D33"/>
                          </a:solidFill>
                          <a:latin typeface="Meiryo UI" pitchFamily="34" charset="0"/>
                          <a:ea typeface="Meiryo UI" pitchFamily="34" charset="-122"/>
                          <a:cs typeface="Meiryo UI" pitchFamily="34" charset="-120"/>
                        </a:rPr>
                        <a:t>FY30 の目標</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売上 2,250 億・EPS 21</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(FAM 2025)</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営業利益率 40%・営業利益</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900 億を追加</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会社の EPS を起点に</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+7.9 ドル</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521208">
                <a:tc>
                  <a:txBody>
                    <a:bodyPr/>
                    <a:lstStyle/>
                    <a:p>
                      <a:pPr algn="l" indent="0" marL="0">
                        <a:buNone/>
                      </a:pPr>
                      <a:r>
                        <a:rPr lang="en-US" sz="900" b="1" dirty="0">
                          <a:solidFill>
                            <a:srgbClr val="0E4D33"/>
                          </a:solidFill>
                          <a:latin typeface="Meiryo UI" pitchFamily="34" charset="0"/>
                          <a:ea typeface="Meiryo UI" pitchFamily="34" charset="-122"/>
                          <a:cs typeface="Meiryo UI" pitchFamily="34" charset="-120"/>
                        </a:rPr>
                        <a:t>信用の目標</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純負債/EBITDA 3.5 倍未満</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(ベンダー金融込み)</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エンジンは FY29 2.4 倍</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21" name="pane_head"/>
          <p:cNvSpPr txBox="1"/>
          <p:nvPr/>
        </p:nvSpPr>
        <p:spPr>
          <a:xfrm>
            <a:off x="7680960" y="1481328"/>
            <a:ext cx="4050792"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理論株価の階段(ドル、確率加重)</a:t>
            </a:r>
            <a:endParaRPr lang="en-US" sz="1200" dirty="0"/>
          </a:p>
        </p:txBody>
      </p:sp>
      <p:graphicFrame>
        <p:nvGraphicFramePr>
          <p:cNvPr id="22" name="chart_waterfall" descr=""/>
          <p:cNvGraphicFramePr/>
          <p:nvPr/>
        </p:nvGraphicFramePr>
        <p:xfrm>
          <a:off x="7680960" y="1801368"/>
          <a:ext cx="4050792" cy="3200400"/>
        </p:xfrm>
        <a:graphic xmlns:a="http://schemas.openxmlformats.org/drawingml/2006/main">
          <a:graphicData uri="http://schemas.openxmlformats.org/drawingml/2006/chart">
            <c:chart xmlns:c="http://schemas.openxmlformats.org/drawingml/2006/chart" r:id="rId1"/>
          </a:graphicData>
        </a:graphic>
      </p:graphicFrame>
      <p:sp>
        <p:nvSpPr>
          <p:cNvPr id="23" name="ovl_wf_val0"/>
          <p:cNvSpPr txBox="1"/>
          <p:nvPr/>
        </p:nvSpPr>
        <p:spPr>
          <a:xfrm>
            <a:off x="8086039" y="2147468"/>
            <a:ext cx="509242" cy="182880"/>
          </a:xfrm>
          <a:prstGeom prst="rect">
            <a:avLst/>
          </a:prstGeom>
          <a:noFill/>
          <a:ln/>
        </p:spPr>
        <p:txBody>
          <a:bodyPr wrap="square" lIns="0" tIns="0" rIns="0" bIns="0" rtlCol="0" anchor="b"/>
          <a:lstStyle/>
          <a:p>
            <a:pPr algn="ctr" indent="0" marL="0">
              <a:buNone/>
            </a:pPr>
            <a:r>
              <a:rPr lang="en-US" sz="900" b="1" dirty="0">
                <a:solidFill>
                  <a:srgbClr val="0E4D33"/>
                </a:solidFill>
                <a:latin typeface="Meiryo UI" pitchFamily="34" charset="0"/>
                <a:ea typeface="Meiryo UI" pitchFamily="34" charset="-122"/>
                <a:cs typeface="Meiryo UI" pitchFamily="34" charset="-120"/>
              </a:rPr>
              <a:t>250.5</a:t>
            </a:r>
            <a:endParaRPr lang="en-US" sz="900" dirty="0"/>
          </a:p>
        </p:txBody>
      </p:sp>
      <p:sp>
        <p:nvSpPr>
          <p:cNvPr id="24" name="ovl_wf_cat0"/>
          <p:cNvSpPr txBox="1"/>
          <p:nvPr/>
        </p:nvSpPr>
        <p:spPr>
          <a:xfrm>
            <a:off x="8086039" y="4416552"/>
            <a:ext cx="509242" cy="310896"/>
          </a:xfrm>
          <a:prstGeom prst="rect">
            <a:avLst/>
          </a:prstGeom>
          <a:noFill/>
          <a:ln/>
        </p:spPr>
        <p:txBody>
          <a:bodyPr wrap="square" lIns="0" tIns="0" rIns="0" bIns="0" rtlCol="0" anchor="t"/>
          <a:lstStyle/>
          <a:p>
            <a:pPr algn="ctr" indent="0" marL="0">
              <a:buNone/>
            </a:pPr>
            <a:r>
              <a:rPr lang="en-US" sz="800" dirty="0">
                <a:solidFill>
                  <a:srgbClr val="333333"/>
                </a:solidFill>
                <a:latin typeface="Meiryo UI" pitchFamily="34" charset="0"/>
                <a:ea typeface="Meiryo UI" pitchFamily="34" charset="-122"/>
                <a:cs typeface="Meiryo UI" pitchFamily="34" charset="-120"/>
              </a:rPr>
              <a:t>第4.3版</a:t>
            </a:r>
            <a:endParaRPr lang="en-US" sz="800" dirty="0"/>
          </a:p>
        </p:txBody>
      </p:sp>
      <p:sp>
        <p:nvSpPr>
          <p:cNvPr id="25" name="ovl_wf_conn0"/>
          <p:cNvSpPr/>
          <p:nvPr/>
        </p:nvSpPr>
        <p:spPr>
          <a:xfrm>
            <a:off x="8522533" y="2348636"/>
            <a:ext cx="145498" cy="914"/>
          </a:xfrm>
          <a:prstGeom prst="line">
            <a:avLst/>
          </a:prstGeom>
          <a:noFill/>
          <a:ln w="6350">
            <a:solidFill>
              <a:srgbClr val="767676"/>
            </a:solidFill>
            <a:prstDash val="sysDash"/>
          </a:ln>
        </p:spPr>
      </p:sp>
      <p:sp>
        <p:nvSpPr>
          <p:cNvPr id="26" name="ovl_wf_val1"/>
          <p:cNvSpPr txBox="1"/>
          <p:nvPr/>
        </p:nvSpPr>
        <p:spPr>
          <a:xfrm>
            <a:off x="8595282" y="2147468"/>
            <a:ext cx="509242" cy="182880"/>
          </a:xfrm>
          <a:prstGeom prst="rect">
            <a:avLst/>
          </a:prstGeom>
          <a:noFill/>
          <a:ln/>
        </p:spPr>
        <p:txBody>
          <a:bodyPr wrap="square" lIns="0" tIns="0" rIns="0" bIns="0" rtlCol="0" anchor="b"/>
          <a:lstStyle/>
          <a:p>
            <a:pPr algn="ctr" indent="0" marL="0">
              <a:buNone/>
            </a:pPr>
            <a:r>
              <a:rPr lang="en-US" sz="900" b="1" dirty="0">
                <a:solidFill>
                  <a:srgbClr val="C0392B"/>
                </a:solidFill>
                <a:latin typeface="Meiryo UI" pitchFamily="34" charset="0"/>
                <a:ea typeface="Meiryo UI" pitchFamily="34" charset="-122"/>
                <a:cs typeface="Meiryo UI" pitchFamily="34" charset="-120"/>
              </a:rPr>
              <a:t>−14.6</a:t>
            </a:r>
            <a:endParaRPr lang="en-US" sz="900" dirty="0"/>
          </a:p>
        </p:txBody>
      </p:sp>
      <p:sp>
        <p:nvSpPr>
          <p:cNvPr id="27" name="ovl_wf_cat1"/>
          <p:cNvSpPr txBox="1"/>
          <p:nvPr/>
        </p:nvSpPr>
        <p:spPr>
          <a:xfrm>
            <a:off x="8595282" y="4416552"/>
            <a:ext cx="509242" cy="310896"/>
          </a:xfrm>
          <a:prstGeom prst="rect">
            <a:avLst/>
          </a:prstGeom>
          <a:noFill/>
          <a:ln/>
        </p:spPr>
        <p:txBody>
          <a:bodyPr wrap="square" lIns="0" tIns="0" rIns="0" bIns="0" rtlCol="0" anchor="t"/>
          <a:lstStyle/>
          <a:p>
            <a:pPr algn="ctr" indent="0" marL="0">
              <a:buNone/>
            </a:pPr>
            <a:r>
              <a:rPr lang="en-US" sz="800" dirty="0">
                <a:solidFill>
                  <a:srgbClr val="333333"/>
                </a:solidFill>
                <a:latin typeface="Meiryo UI" pitchFamily="34" charset="0"/>
                <a:ea typeface="Meiryo UI" pitchFamily="34" charset="-122"/>
                <a:cs typeface="Meiryo UI" pitchFamily="34" charset="-120"/>
              </a:rPr>
              <a:t>説明会</a:t>
            </a:r>
            <a:endParaRPr lang="en-US" sz="800" dirty="0"/>
          </a:p>
          <a:p>
            <a:pPr algn="ctr" indent="0" marL="0">
              <a:buNone/>
            </a:pPr>
            <a:r>
              <a:rPr lang="en-US" sz="800" dirty="0">
                <a:solidFill>
                  <a:srgbClr val="333333"/>
                </a:solidFill>
                <a:latin typeface="Meiryo UI" pitchFamily="34" charset="0"/>
                <a:ea typeface="Meiryo UI" pitchFamily="34" charset="-122"/>
                <a:cs typeface="Meiryo UI" pitchFamily="34" charset="-120"/>
              </a:rPr>
              <a:t>の資料</a:t>
            </a:r>
            <a:endParaRPr lang="en-US" sz="800" dirty="0"/>
          </a:p>
        </p:txBody>
      </p:sp>
      <p:sp>
        <p:nvSpPr>
          <p:cNvPr id="28" name="ovl_wf_conn1"/>
          <p:cNvSpPr/>
          <p:nvPr/>
        </p:nvSpPr>
        <p:spPr>
          <a:xfrm>
            <a:off x="9031775" y="3501207"/>
            <a:ext cx="145498" cy="914"/>
          </a:xfrm>
          <a:prstGeom prst="line">
            <a:avLst/>
          </a:prstGeom>
          <a:noFill/>
          <a:ln w="6350">
            <a:solidFill>
              <a:srgbClr val="767676"/>
            </a:solidFill>
            <a:prstDash val="sysDash"/>
          </a:ln>
        </p:spPr>
      </p:sp>
      <p:sp>
        <p:nvSpPr>
          <p:cNvPr id="29" name="ovl_wf_val2"/>
          <p:cNvSpPr txBox="1"/>
          <p:nvPr/>
        </p:nvSpPr>
        <p:spPr>
          <a:xfrm>
            <a:off x="9104524" y="3300039"/>
            <a:ext cx="509242" cy="182880"/>
          </a:xfrm>
          <a:prstGeom prst="rect">
            <a:avLst/>
          </a:prstGeom>
          <a:noFill/>
          <a:ln/>
        </p:spPr>
        <p:txBody>
          <a:bodyPr wrap="square" lIns="0" tIns="0" rIns="0" bIns="0" rtlCol="0" anchor="b"/>
          <a:lstStyle/>
          <a:p>
            <a:pPr algn="ctr" indent="0" marL="0">
              <a:buNone/>
            </a:pPr>
            <a:r>
              <a:rPr lang="en-US" sz="900" b="1" dirty="0">
                <a:solidFill>
                  <a:srgbClr val="0E4D33"/>
                </a:solidFill>
                <a:latin typeface="Meiryo UI" pitchFamily="34" charset="0"/>
                <a:ea typeface="Meiryo UI" pitchFamily="34" charset="-122"/>
                <a:cs typeface="Meiryo UI" pitchFamily="34" charset="-120"/>
              </a:rPr>
              <a:t>235.9</a:t>
            </a:r>
            <a:endParaRPr lang="en-US" sz="900" dirty="0"/>
          </a:p>
        </p:txBody>
      </p:sp>
      <p:sp>
        <p:nvSpPr>
          <p:cNvPr id="30" name="ovl_wf_cat2"/>
          <p:cNvSpPr txBox="1"/>
          <p:nvPr/>
        </p:nvSpPr>
        <p:spPr>
          <a:xfrm>
            <a:off x="9104524" y="4416552"/>
            <a:ext cx="509242" cy="310896"/>
          </a:xfrm>
          <a:prstGeom prst="rect">
            <a:avLst/>
          </a:prstGeom>
          <a:noFill/>
          <a:ln/>
        </p:spPr>
        <p:txBody>
          <a:bodyPr wrap="square" lIns="0" tIns="0" rIns="0" bIns="0" rtlCol="0" anchor="t"/>
          <a:lstStyle/>
          <a:p>
            <a:pPr algn="ctr" indent="0" marL="0">
              <a:buNone/>
            </a:pPr>
            <a:r>
              <a:rPr lang="en-US" sz="800" dirty="0">
                <a:solidFill>
                  <a:srgbClr val="333333"/>
                </a:solidFill>
                <a:latin typeface="Meiryo UI" pitchFamily="34" charset="0"/>
                <a:ea typeface="Meiryo UI" pitchFamily="34" charset="-122"/>
                <a:cs typeface="Meiryo UI" pitchFamily="34" charset="-120"/>
              </a:rPr>
              <a:t>第4.4版</a:t>
            </a:r>
            <a:endParaRPr lang="en-US" sz="800" dirty="0"/>
          </a:p>
        </p:txBody>
      </p:sp>
      <p:sp>
        <p:nvSpPr>
          <p:cNvPr id="31" name="ovl_wf_conn2"/>
          <p:cNvSpPr/>
          <p:nvPr/>
        </p:nvSpPr>
        <p:spPr>
          <a:xfrm>
            <a:off x="9541018" y="3501207"/>
            <a:ext cx="145498" cy="914"/>
          </a:xfrm>
          <a:prstGeom prst="line">
            <a:avLst/>
          </a:prstGeom>
          <a:noFill/>
          <a:ln w="6350">
            <a:solidFill>
              <a:srgbClr val="767676"/>
            </a:solidFill>
            <a:prstDash val="sysDash"/>
          </a:ln>
        </p:spPr>
      </p:sp>
      <p:sp>
        <p:nvSpPr>
          <p:cNvPr id="32" name="ovl_wf_val3"/>
          <p:cNvSpPr txBox="1"/>
          <p:nvPr/>
        </p:nvSpPr>
        <p:spPr>
          <a:xfrm>
            <a:off x="9613766" y="3300039"/>
            <a:ext cx="509242" cy="182880"/>
          </a:xfrm>
          <a:prstGeom prst="rect">
            <a:avLst/>
          </a:prstGeom>
          <a:noFill/>
          <a:ln/>
        </p:spPr>
        <p:txBody>
          <a:bodyPr wrap="square" lIns="0" tIns="0" rIns="0" bIns="0" rtlCol="0" anchor="b"/>
          <a:lstStyle/>
          <a:p>
            <a:pPr algn="ctr" indent="0" marL="0">
              <a:buNone/>
            </a:pPr>
            <a:r>
              <a:rPr lang="en-US" sz="900" b="1" dirty="0">
                <a:solidFill>
                  <a:srgbClr val="C0392B"/>
                </a:solidFill>
                <a:latin typeface="Meiryo UI" pitchFamily="34" charset="0"/>
                <a:ea typeface="Meiryo UI" pitchFamily="34" charset="-122"/>
                <a:cs typeface="Meiryo UI" pitchFamily="34" charset="-120"/>
              </a:rPr>
              <a:t>−0.8</a:t>
            </a:r>
            <a:endParaRPr lang="en-US" sz="900" dirty="0"/>
          </a:p>
        </p:txBody>
      </p:sp>
      <p:sp>
        <p:nvSpPr>
          <p:cNvPr id="33" name="ovl_wf_cat3"/>
          <p:cNvSpPr txBox="1"/>
          <p:nvPr/>
        </p:nvSpPr>
        <p:spPr>
          <a:xfrm>
            <a:off x="9613766" y="4416552"/>
            <a:ext cx="509242" cy="310896"/>
          </a:xfrm>
          <a:prstGeom prst="rect">
            <a:avLst/>
          </a:prstGeom>
          <a:noFill/>
          <a:ln/>
        </p:spPr>
        <p:txBody>
          <a:bodyPr wrap="square" lIns="0" tIns="0" rIns="0" bIns="0" rtlCol="0" anchor="t"/>
          <a:lstStyle/>
          <a:p>
            <a:pPr algn="ctr" indent="0" marL="0">
              <a:buNone/>
            </a:pPr>
            <a:r>
              <a:rPr lang="en-US" sz="800" dirty="0">
                <a:solidFill>
                  <a:srgbClr val="333333"/>
                </a:solidFill>
                <a:latin typeface="Meiryo UI" pitchFamily="34" charset="0"/>
                <a:ea typeface="Meiryo UI" pitchFamily="34" charset="-122"/>
                <a:cs typeface="Meiryo UI" pitchFamily="34" charset="-120"/>
              </a:rPr>
              <a:t>立ち上げ</a:t>
            </a:r>
            <a:endParaRPr lang="en-US" sz="800" dirty="0"/>
          </a:p>
        </p:txBody>
      </p:sp>
      <p:sp>
        <p:nvSpPr>
          <p:cNvPr id="34" name="ovl_wf_conn3"/>
          <p:cNvSpPr/>
          <p:nvPr/>
        </p:nvSpPr>
        <p:spPr>
          <a:xfrm>
            <a:off x="10050260" y="3564362"/>
            <a:ext cx="145498" cy="914"/>
          </a:xfrm>
          <a:prstGeom prst="line">
            <a:avLst/>
          </a:prstGeom>
          <a:noFill/>
          <a:ln w="6350">
            <a:solidFill>
              <a:srgbClr val="767676"/>
            </a:solidFill>
            <a:prstDash val="sysDash"/>
          </a:ln>
        </p:spPr>
      </p:sp>
      <p:sp>
        <p:nvSpPr>
          <p:cNvPr id="35" name="ovl_wf_val4"/>
          <p:cNvSpPr txBox="1"/>
          <p:nvPr/>
        </p:nvSpPr>
        <p:spPr>
          <a:xfrm>
            <a:off x="10123009" y="3181624"/>
            <a:ext cx="509242" cy="182880"/>
          </a:xfrm>
          <a:prstGeom prst="rect">
            <a:avLst/>
          </a:prstGeom>
          <a:noFill/>
          <a:ln/>
        </p:spPr>
        <p:txBody>
          <a:bodyPr wrap="square" lIns="0" tIns="0" rIns="0" bIns="0" rtlCol="0" anchor="b"/>
          <a:lstStyle/>
          <a:p>
            <a:pPr algn="ctr" indent="0" marL="0">
              <a:buNone/>
            </a:pPr>
            <a:r>
              <a:rPr lang="en-US" sz="900" b="1" dirty="0">
                <a:solidFill>
                  <a:srgbClr val="197A56"/>
                </a:solidFill>
                <a:latin typeface="Meiryo UI" pitchFamily="34" charset="0"/>
                <a:ea typeface="Meiryo UI" pitchFamily="34" charset="-122"/>
                <a:cs typeface="Meiryo UI" pitchFamily="34" charset="-120"/>
              </a:rPr>
              <a:t>+2.3</a:t>
            </a:r>
            <a:endParaRPr lang="en-US" sz="900" dirty="0"/>
          </a:p>
        </p:txBody>
      </p:sp>
      <p:sp>
        <p:nvSpPr>
          <p:cNvPr id="36" name="ovl_wf_cat4"/>
          <p:cNvSpPr txBox="1"/>
          <p:nvPr/>
        </p:nvSpPr>
        <p:spPr>
          <a:xfrm>
            <a:off x="10123009" y="4416552"/>
            <a:ext cx="509242" cy="310896"/>
          </a:xfrm>
          <a:prstGeom prst="rect">
            <a:avLst/>
          </a:prstGeom>
          <a:noFill/>
          <a:ln/>
        </p:spPr>
        <p:txBody>
          <a:bodyPr wrap="square" lIns="0" tIns="0" rIns="0" bIns="0" rtlCol="0" anchor="t"/>
          <a:lstStyle/>
          <a:p>
            <a:pPr algn="ctr" indent="0" marL="0">
              <a:buNone/>
            </a:pPr>
            <a:r>
              <a:rPr lang="en-US" sz="800" dirty="0">
                <a:solidFill>
                  <a:srgbClr val="333333"/>
                </a:solidFill>
                <a:latin typeface="Meiryo UI" pitchFamily="34" charset="0"/>
                <a:ea typeface="Meiryo UI" pitchFamily="34" charset="-122"/>
                <a:cs typeface="Meiryo UI" pitchFamily="34" charset="-120"/>
              </a:rPr>
              <a:t>ERP</a:t>
            </a:r>
            <a:endParaRPr lang="en-US" sz="800" dirty="0"/>
          </a:p>
          <a:p>
            <a:pPr algn="ctr" indent="0" marL="0">
              <a:buNone/>
            </a:pPr>
            <a:r>
              <a:rPr lang="en-US" sz="800" dirty="0">
                <a:solidFill>
                  <a:srgbClr val="333333"/>
                </a:solidFill>
                <a:latin typeface="Meiryo UI" pitchFamily="34" charset="0"/>
                <a:ea typeface="Meiryo UI" pitchFamily="34" charset="-122"/>
                <a:cs typeface="Meiryo UI" pitchFamily="34" charset="-120"/>
              </a:rPr>
              <a:t>移行</a:t>
            </a:r>
            <a:endParaRPr lang="en-US" sz="800" dirty="0"/>
          </a:p>
        </p:txBody>
      </p:sp>
      <p:sp>
        <p:nvSpPr>
          <p:cNvPr id="37" name="ovl_wf_conn4"/>
          <p:cNvSpPr/>
          <p:nvPr/>
        </p:nvSpPr>
        <p:spPr>
          <a:xfrm>
            <a:off x="10559502" y="3382792"/>
            <a:ext cx="145498" cy="914"/>
          </a:xfrm>
          <a:prstGeom prst="line">
            <a:avLst/>
          </a:prstGeom>
          <a:noFill/>
          <a:ln w="6350">
            <a:solidFill>
              <a:srgbClr val="767676"/>
            </a:solidFill>
            <a:prstDash val="sysDash"/>
          </a:ln>
        </p:spPr>
      </p:sp>
      <p:sp>
        <p:nvSpPr>
          <p:cNvPr id="38" name="ovl_wf_val5"/>
          <p:cNvSpPr txBox="1"/>
          <p:nvPr/>
        </p:nvSpPr>
        <p:spPr>
          <a:xfrm>
            <a:off x="10632251" y="2589550"/>
            <a:ext cx="509242" cy="182880"/>
          </a:xfrm>
          <a:prstGeom prst="rect">
            <a:avLst/>
          </a:prstGeom>
          <a:noFill/>
          <a:ln/>
        </p:spPr>
        <p:txBody>
          <a:bodyPr wrap="square" lIns="0" tIns="0" rIns="0" bIns="0" rtlCol="0" anchor="b"/>
          <a:lstStyle/>
          <a:p>
            <a:pPr algn="ctr" indent="0" marL="0">
              <a:buNone/>
            </a:pPr>
            <a:r>
              <a:rPr lang="en-US" sz="900" b="1" dirty="0">
                <a:solidFill>
                  <a:srgbClr val="197A56"/>
                </a:solidFill>
                <a:latin typeface="Meiryo UI" pitchFamily="34" charset="0"/>
                <a:ea typeface="Meiryo UI" pitchFamily="34" charset="-122"/>
                <a:cs typeface="Meiryo UI" pitchFamily="34" charset="-120"/>
              </a:rPr>
              <a:t>+7.5</a:t>
            </a:r>
            <a:endParaRPr lang="en-US" sz="900" dirty="0"/>
          </a:p>
        </p:txBody>
      </p:sp>
      <p:sp>
        <p:nvSpPr>
          <p:cNvPr id="39" name="ovl_wf_cat5"/>
          <p:cNvSpPr txBox="1"/>
          <p:nvPr/>
        </p:nvSpPr>
        <p:spPr>
          <a:xfrm>
            <a:off x="10632251" y="4416552"/>
            <a:ext cx="509242" cy="310896"/>
          </a:xfrm>
          <a:prstGeom prst="rect">
            <a:avLst/>
          </a:prstGeom>
          <a:noFill/>
          <a:ln/>
        </p:spPr>
        <p:txBody>
          <a:bodyPr wrap="square" lIns="0" tIns="0" rIns="0" bIns="0" rtlCol="0" anchor="t"/>
          <a:lstStyle/>
          <a:p>
            <a:pPr algn="ctr" indent="0" marL="0">
              <a:buNone/>
            </a:pPr>
            <a:r>
              <a:rPr lang="en-US" sz="800" dirty="0">
                <a:solidFill>
                  <a:srgbClr val="333333"/>
                </a:solidFill>
                <a:latin typeface="Meiryo UI" pitchFamily="34" charset="0"/>
                <a:ea typeface="Meiryo UI" pitchFamily="34" charset="-122"/>
                <a:cs typeface="Meiryo UI" pitchFamily="34" charset="-120"/>
              </a:rPr>
              <a:t>推論の</a:t>
            </a:r>
            <a:endParaRPr lang="en-US" sz="800" dirty="0"/>
          </a:p>
          <a:p>
            <a:pPr algn="ctr" indent="0" marL="0">
              <a:buNone/>
            </a:pPr>
            <a:r>
              <a:rPr lang="en-US" sz="800" dirty="0">
                <a:solidFill>
                  <a:srgbClr val="333333"/>
                </a:solidFill>
                <a:latin typeface="Meiryo UI" pitchFamily="34" charset="0"/>
                <a:ea typeface="Meiryo UI" pitchFamily="34" charset="-122"/>
                <a:cs typeface="Meiryo UI" pitchFamily="34" charset="-120"/>
              </a:rPr>
              <a:t>需要</a:t>
            </a:r>
            <a:endParaRPr lang="en-US" sz="800" dirty="0"/>
          </a:p>
        </p:txBody>
      </p:sp>
      <p:sp>
        <p:nvSpPr>
          <p:cNvPr id="40" name="ovl_wf_conn5"/>
          <p:cNvSpPr/>
          <p:nvPr/>
        </p:nvSpPr>
        <p:spPr>
          <a:xfrm>
            <a:off x="11068745" y="2790718"/>
            <a:ext cx="145498" cy="914"/>
          </a:xfrm>
          <a:prstGeom prst="line">
            <a:avLst/>
          </a:prstGeom>
          <a:noFill/>
          <a:ln w="6350">
            <a:solidFill>
              <a:srgbClr val="767676"/>
            </a:solidFill>
            <a:prstDash val="sysDash"/>
          </a:ln>
        </p:spPr>
      </p:sp>
      <p:sp>
        <p:nvSpPr>
          <p:cNvPr id="41" name="ovl_wf_val6"/>
          <p:cNvSpPr txBox="1"/>
          <p:nvPr/>
        </p:nvSpPr>
        <p:spPr>
          <a:xfrm>
            <a:off x="11141494" y="2565867"/>
            <a:ext cx="509242" cy="182880"/>
          </a:xfrm>
          <a:prstGeom prst="rect">
            <a:avLst/>
          </a:prstGeom>
          <a:noFill/>
          <a:ln/>
        </p:spPr>
        <p:txBody>
          <a:bodyPr wrap="square" lIns="0" tIns="0" rIns="0" bIns="0" rtlCol="0" anchor="b"/>
          <a:lstStyle/>
          <a:p>
            <a:pPr algn="ctr" indent="0" marL="0">
              <a:buNone/>
            </a:pPr>
            <a:r>
              <a:rPr lang="en-US" sz="900" b="1" dirty="0">
                <a:solidFill>
                  <a:srgbClr val="0E4D33"/>
                </a:solidFill>
                <a:latin typeface="Meiryo UI" pitchFamily="34" charset="0"/>
                <a:ea typeface="Meiryo UI" pitchFamily="34" charset="-122"/>
                <a:cs typeface="Meiryo UI" pitchFamily="34" charset="-120"/>
              </a:rPr>
              <a:t>245.2</a:t>
            </a:r>
            <a:endParaRPr lang="en-US" sz="900" dirty="0"/>
          </a:p>
        </p:txBody>
      </p:sp>
      <p:sp>
        <p:nvSpPr>
          <p:cNvPr id="42" name="ovl_wf_cat6"/>
          <p:cNvSpPr txBox="1"/>
          <p:nvPr/>
        </p:nvSpPr>
        <p:spPr>
          <a:xfrm>
            <a:off x="11141494" y="4416552"/>
            <a:ext cx="509242" cy="310896"/>
          </a:xfrm>
          <a:prstGeom prst="rect">
            <a:avLst/>
          </a:prstGeom>
          <a:noFill/>
          <a:ln/>
        </p:spPr>
        <p:txBody>
          <a:bodyPr wrap="square" lIns="0" tIns="0" rIns="0" bIns="0" rtlCol="0" anchor="t"/>
          <a:lstStyle/>
          <a:p>
            <a:pPr algn="ctr" indent="0" marL="0">
              <a:buNone/>
            </a:pPr>
            <a:r>
              <a:rPr lang="en-US" sz="800" dirty="0">
                <a:solidFill>
                  <a:srgbClr val="333333"/>
                </a:solidFill>
                <a:latin typeface="Meiryo UI" pitchFamily="34" charset="0"/>
                <a:ea typeface="Meiryo UI" pitchFamily="34" charset="-122"/>
                <a:cs typeface="Meiryo UI" pitchFamily="34" charset="-120"/>
              </a:rPr>
              <a:t>第4.5版</a:t>
            </a:r>
            <a:endParaRPr lang="en-US" sz="800" dirty="0"/>
          </a:p>
        </p:txBody>
      </p:sp>
      <p:sp>
        <p:nvSpPr>
          <p:cNvPr id="43" name="note_wf"/>
          <p:cNvSpPr txBox="1"/>
          <p:nvPr/>
        </p:nvSpPr>
        <p:spPr>
          <a:xfrm>
            <a:off x="7680960" y="5029200"/>
            <a:ext cx="4050792" cy="530352"/>
          </a:xfrm>
          <a:prstGeom prst="rect">
            <a:avLst/>
          </a:prstGeom>
          <a:noFill/>
          <a:ln/>
        </p:spPr>
        <p:txBody>
          <a:bodyPr wrap="square" lIns="0" tIns="0" rIns="0" bIns="0" rtlCol="0" anchor="t"/>
          <a:lstStyle/>
          <a:p>
            <a:pPr indent="0" marL="0">
              <a:buNone/>
            </a:pPr>
            <a:r>
              <a:rPr lang="en-US" sz="800" dirty="0">
                <a:solidFill>
                  <a:srgbClr val="767676"/>
                </a:solidFill>
                <a:latin typeface="Meiryo UI" pitchFamily="34" charset="0"/>
                <a:ea typeface="Meiryo UI" pitchFamily="34" charset="-122"/>
                <a:cs typeface="Meiryo UI" pitchFamily="34" charset="-120"/>
              </a:rPr>
              <a:t>説明会の資料 −14.6 の内訳(足した順):市場の値 +3.2・</a:t>
            </a:r>
            <a:endParaRPr lang="en-US" sz="800" dirty="0"/>
          </a:p>
          <a:p>
            <a:pPr indent="0" marL="0">
              <a:buNone/>
            </a:pPr>
            <a:r>
              <a:rPr lang="en-US" sz="800" dirty="0">
                <a:solidFill>
                  <a:srgbClr val="767676"/>
                </a:solidFill>
                <a:latin typeface="Meiryo UI" pitchFamily="34" charset="0"/>
                <a:ea typeface="Meiryo UI" pitchFamily="34" charset="-122"/>
                <a:cs typeface="Meiryo UI" pitchFamily="34" charset="-120"/>
              </a:rPr>
              <a:t>容量 −13.1・1GW の単価 +6.5・粗利率 −19.0・資金 −0.2・</a:t>
            </a:r>
            <a:endParaRPr lang="en-US" sz="800" dirty="0"/>
          </a:p>
          <a:p>
            <a:pPr indent="0" marL="0">
              <a:buNone/>
            </a:pPr>
            <a:r>
              <a:rPr lang="en-US" sz="800" dirty="0">
                <a:solidFill>
                  <a:srgbClr val="767676"/>
                </a:solidFill>
                <a:latin typeface="Meiryo UI" pitchFamily="34" charset="0"/>
                <a:ea typeface="Meiryo UI" pitchFamily="34" charset="-122"/>
                <a:cs typeface="Meiryo UI" pitchFamily="34" charset="-120"/>
              </a:rPr>
              <a:t>EPS の起点 +7.9。縦軸は 225 ドルから。丸めのため、</a:t>
            </a:r>
            <a:endParaRPr lang="en-US" sz="800" dirty="0"/>
          </a:p>
          <a:p>
            <a:pPr indent="0" marL="0">
              <a:buNone/>
            </a:pPr>
            <a:r>
              <a:rPr lang="en-US" sz="800" dirty="0">
                <a:solidFill>
                  <a:srgbClr val="767676"/>
                </a:solidFill>
                <a:latin typeface="Meiryo UI" pitchFamily="34" charset="0"/>
                <a:ea typeface="Meiryo UI" pitchFamily="34" charset="-122"/>
                <a:cs typeface="Meiryo UI" pitchFamily="34" charset="-120"/>
              </a:rPr>
              <a:t>第4.5版の 245.2 は積み上げと 0.3 ずれる</a:t>
            </a:r>
            <a:endParaRPr lang="en-US" sz="800" dirty="0"/>
          </a:p>
        </p:txBody>
      </p:sp>
      <p:sp>
        <p:nvSpPr>
          <p:cNvPr id="44" name="ovl_takeaway_bg"/>
          <p:cNvSpPr/>
          <p:nvPr/>
        </p:nvSpPr>
        <p:spPr>
          <a:xfrm>
            <a:off x="457200" y="5596128"/>
            <a:ext cx="11274552" cy="566928"/>
          </a:xfrm>
          <a:prstGeom prst="rect">
            <a:avLst/>
          </a:prstGeom>
          <a:solidFill>
            <a:srgbClr val="EAF4EE"/>
          </a:solidFill>
          <a:ln w="12700">
            <a:solidFill>
              <a:srgbClr val="EAF4EE"/>
            </a:solidFill>
            <a:prstDash val="solid"/>
          </a:ln>
        </p:spPr>
      </p:sp>
      <p:sp>
        <p:nvSpPr>
          <p:cNvPr id="45" name="takeaway"/>
          <p:cNvSpPr txBox="1"/>
          <p:nvPr/>
        </p:nvSpPr>
        <p:spPr>
          <a:xfrm>
            <a:off x="566928" y="5669280"/>
            <a:ext cx="11055096" cy="420624"/>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説明会の資料で理論株価は −15 ドル、利用者の指摘(立ち上げ・ERP・推論)で +9 ドル。</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理論株価は 245 ドル(株価の 1.76 倍)</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2-3 収益構造(1/3)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収益構造</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売上から利益が残る経路と、最大の費用項目を確かめる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Q1 FY27 の売上 193 億ドルから GAAP 営業利益 67 億ドルが残る。</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費用の最大項目は、AI 容量を含むクラウドの原価である</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損益フロー(サンキー)、Q1 FY27(2026 年 6〜8 月)、10 億ドル。( )は前年同期比。GAAP 基準</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Oracle FY27 Q1 決算発表・10-Q(2026-09)。非GAAP との差: 株式報酬 11.3 億・無形資産償却 2.0 億・リストラ等 0.9 億ドル</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14</a:t>
            </a:r>
            <a:endParaRPr lang="en-US" sz="800" dirty="0"/>
          </a:p>
        </p:txBody>
      </p:sp>
      <p:pic>
        <p:nvPicPr>
          <p:cNvPr id="19" name="Image 0" descr="assets/sankey_q1fy27.png">    </p:cNvPr>
          <p:cNvPicPr>
            <a:picLocks noChangeAspect="1"/>
          </p:cNvPicPr>
          <p:nvPr/>
        </p:nvPicPr>
        <p:blipFill>
          <a:blip r:embed="rId1"/>
          <a:stretch>
            <a:fillRect/>
          </a:stretch>
        </p:blipFill>
        <p:spPr>
          <a:xfrm>
            <a:off x="457200" y="1463040"/>
            <a:ext cx="7680960" cy="4572000"/>
          </a:xfrm>
          <a:prstGeom prst="rect">
            <a:avLst/>
          </a:prstGeom>
        </p:spPr>
      </p:pic>
      <p:sp>
        <p:nvSpPr>
          <p:cNvPr id="20" name="ovl_takeaway_bg"/>
          <p:cNvSpPr/>
          <p:nvPr/>
        </p:nvSpPr>
        <p:spPr>
          <a:xfrm>
            <a:off x="8275320" y="1554480"/>
            <a:ext cx="3456432" cy="1325880"/>
          </a:xfrm>
          <a:prstGeom prst="rect">
            <a:avLst/>
          </a:prstGeom>
          <a:solidFill>
            <a:srgbClr val="EAF4EE"/>
          </a:solidFill>
          <a:ln w="12700">
            <a:solidFill>
              <a:srgbClr val="EAF4EE"/>
            </a:solidFill>
            <a:prstDash val="solid"/>
          </a:ln>
        </p:spPr>
      </p:sp>
      <p:sp>
        <p:nvSpPr>
          <p:cNvPr id="21" name="takeaway"/>
          <p:cNvSpPr txBox="1"/>
          <p:nvPr/>
        </p:nvSpPr>
        <p:spPr>
          <a:xfrm>
            <a:off x="8385048" y="1627632"/>
            <a:ext cx="3236976" cy="117957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クラウド・ソフトの原価が +77% と売上(+33%)の 2 倍以上の速さで伸び、同部門の粗利率は 72.0% → 62.7% に下がった</a:t>
            </a:r>
            <a:endParaRPr lang="en-US" sz="1100" dirty="0"/>
          </a:p>
        </p:txBody>
      </p:sp>
      <p:sp>
        <p:nvSpPr>
          <p:cNvPr id="22" name="bullets"/>
          <p:cNvSpPr txBox="1"/>
          <p:nvPr/>
        </p:nvSpPr>
        <p:spPr>
          <a:xfrm>
            <a:off x="8275320" y="3017520"/>
            <a:ext cx="3456432" cy="3017520"/>
          </a:xfrm>
          <a:prstGeom prst="rect">
            <a:avLst/>
          </a:prstGeom>
          <a:noFill/>
          <a:ln/>
        </p:spPr>
        <p:txBody>
          <a:bodyPr wrap="square" lIns="508" tIns="508" rIns="508" bIns="508" rtlCol="0" anchor="t"/>
          <a:lstStyle/>
          <a:p>
            <a:pPr marL="152400" indent="-152400">
              <a:buSzPct val="100000"/>
              <a:buChar char="•"/>
            </a:pPr>
            <a:r>
              <a:rPr lang="en-US" sz="1050" dirty="0">
                <a:solidFill>
                  <a:srgbClr val="333333"/>
                </a:solidFill>
                <a:latin typeface="Meiryo UI" pitchFamily="34" charset="0"/>
                <a:ea typeface="Meiryo UI" pitchFamily="34" charset="-122"/>
                <a:cs typeface="Meiryo UI" pitchFamily="34" charset="-120"/>
              </a:rPr>
              <a:t>営業利益 +24.5 億ドル(+57%)は、</a:t>
            </a:r>
            <a:endParaRPr lang="en-US" sz="1050" dirty="0"/>
          </a:p>
          <a:p>
            <a:pPr marL="152400" indent="-152400">
              <a:buSzPct val="100000"/>
              <a:buChar char=" "/>
            </a:pPr>
            <a:r>
              <a:rPr lang="en-US" sz="1050" dirty="0">
                <a:solidFill>
                  <a:srgbClr val="333333"/>
                </a:solidFill>
                <a:latin typeface="Meiryo UI" pitchFamily="34" charset="0"/>
                <a:ea typeface="Meiryo UI" pitchFamily="34" charset="-122"/>
                <a:cs typeface="Meiryo UI" pitchFamily="34" charset="-120"/>
              </a:rPr>
              <a:t>営業費の減少 8.8 億ドル(うち</a:t>
            </a:r>
            <a:endParaRPr lang="en-US" sz="1050" dirty="0"/>
          </a:p>
          <a:p>
            <a:pPr marL="152400" indent="-152400">
              <a:spcAft>
                <a:spcPts val="400"/>
              </a:spcAft>
              <a:buSzPct val="100000"/>
              <a:buChar char=" "/>
            </a:pPr>
            <a:r>
              <a:rPr lang="en-US" sz="1050" dirty="0">
                <a:solidFill>
                  <a:srgbClr val="333333"/>
                </a:solidFill>
                <a:latin typeface="Meiryo UI" pitchFamily="34" charset="0"/>
                <a:ea typeface="Meiryo UI" pitchFamily="34" charset="-122"/>
                <a:cs typeface="Meiryo UI" pitchFamily="34" charset="-120"/>
              </a:rPr>
              <a:t>償却とリストラの減少 5.4 億)に支えられた</a:t>
            </a:r>
            <a:endParaRPr lang="en-US" sz="1050" dirty="0"/>
          </a:p>
          <a:p>
            <a:pPr marL="152400" indent="-152400">
              <a:spcAft>
                <a:spcPts val="400"/>
              </a:spcAft>
              <a:buSzPct val="100000"/>
              <a:buChar char="•"/>
            </a:pPr>
            <a:r>
              <a:rPr lang="en-US" sz="1050" dirty="0">
                <a:solidFill>
                  <a:srgbClr val="333333"/>
                </a:solidFill>
                <a:latin typeface="Meiryo UI" pitchFamily="34" charset="0"/>
                <a:ea typeface="Meiryo UI" pitchFamily="34" charset="-122"/>
                <a:cs typeface="Meiryo UI" pitchFamily="34" charset="-120"/>
              </a:rPr>
              <a:t>GAAP 営業利益率 34.8%(非GAAP 42%)。差は株式報酬と償却</a:t>
            </a:r>
            <a:endParaRPr lang="en-US" sz="1050" dirty="0"/>
          </a:p>
          <a:p>
            <a:pPr marL="152400" indent="-152400">
              <a:buSzPct val="100000"/>
              <a:buChar char="•"/>
            </a:pPr>
            <a:r>
              <a:rPr lang="en-US" sz="1050" dirty="0">
                <a:solidFill>
                  <a:srgbClr val="333333"/>
                </a:solidFill>
                <a:latin typeface="Meiryo UI" pitchFamily="34" charset="0"/>
                <a:ea typeface="Meiryo UI" pitchFamily="34" charset="-122"/>
                <a:cs typeface="Meiryo UI" pitchFamily="34" charset="-120"/>
              </a:rPr>
              <a:t>構成比: クラウド 60%・ソフトウェア 29%・</a:t>
            </a:r>
            <a:endParaRPr lang="en-US" sz="1050" dirty="0"/>
          </a:p>
          <a:p>
            <a:pPr marL="152400" indent="-152400">
              <a:spcAft>
                <a:spcPts val="400"/>
              </a:spcAft>
              <a:buSzPct val="100000"/>
              <a:buChar char=" "/>
            </a:pPr>
            <a:r>
              <a:rPr lang="en-US" sz="1050" dirty="0">
                <a:solidFill>
                  <a:srgbClr val="333333"/>
                </a:solidFill>
                <a:latin typeface="Meiryo UI" pitchFamily="34" charset="0"/>
                <a:ea typeface="Meiryo UI" pitchFamily="34" charset="-122"/>
                <a:cs typeface="Meiryo UI" pitchFamily="34" charset="-120"/>
              </a:rPr>
              <a:t>サービス 7%・ハード 4%</a:t>
            </a:r>
            <a:endParaRPr lang="en-US" sz="1050" dirty="0"/>
          </a:p>
          <a:p>
            <a:pPr marL="152400" indent="-152400">
              <a:spcAft>
                <a:spcPts val="400"/>
              </a:spcAft>
              <a:buSzPct val="100000"/>
              <a:buChar char="•"/>
            </a:pPr>
            <a:r>
              <a:rPr lang="en-US" sz="1050" dirty="0">
                <a:solidFill>
                  <a:srgbClr val="333333"/>
                </a:solidFill>
                <a:latin typeface="Meiryo UI" pitchFamily="34" charset="0"/>
                <a:ea typeface="Meiryo UI" pitchFamily="34" charset="-122"/>
                <a:cs typeface="Meiryo UI" pitchFamily="34" charset="-120"/>
              </a:rPr>
              <a:t>原価の伸びは、AI 容量の稼働前の費用(電力・賃料)を含む</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2-3 収益構造(2/3)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収益構造</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AI の比率が上がると利益率がどう動くかを見て、EPS の伸びの質を確かめる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全社の営業利益率は立ち上げ中の AI で FY28 に 33% へ下がり、</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FY29〜30 に 35% で並ぶ。非GAAP は 37% で目標 40% に 3pt 届かない</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全社の営業利益率(GAAP 相当)と AI 事業の営業利益率、FY27〜32、%</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需給エンジン第4.5版(calc/out/m10_*.json)</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15</a:t>
            </a:r>
            <a:endParaRPr lang="en-US" sz="800" dirty="0"/>
          </a:p>
        </p:txBody>
      </p:sp>
      <p:graphicFrame>
        <p:nvGraphicFramePr>
          <p:cNvPr id="19" name="chart" descr=""/>
          <p:cNvGraphicFramePr/>
          <p:nvPr/>
        </p:nvGraphicFramePr>
        <p:xfrm>
          <a:off x="457200" y="1508760"/>
          <a:ext cx="7635240" cy="4572000"/>
        </p:xfrm>
        <a:graphic xmlns:a="http://schemas.openxmlformats.org/drawingml/2006/main">
          <a:graphicData uri="http://schemas.openxmlformats.org/drawingml/2006/chart">
            <c:chart xmlns:c="http://schemas.openxmlformats.org/drawingml/2006/chart" r:id="rId1"/>
          </a:graphicData>
        </a:graphic>
      </p:graphicFrame>
      <p:sp>
        <p:nvSpPr>
          <p:cNvPr id="20" name="ovl_takeaway_bg"/>
          <p:cNvSpPr/>
          <p:nvPr/>
        </p:nvSpPr>
        <p:spPr>
          <a:xfrm>
            <a:off x="8275320" y="1554480"/>
            <a:ext cx="3456432" cy="1234440"/>
          </a:xfrm>
          <a:prstGeom prst="rect">
            <a:avLst/>
          </a:prstGeom>
          <a:solidFill>
            <a:srgbClr val="EAF4EE"/>
          </a:solidFill>
          <a:ln w="12700">
            <a:solidFill>
              <a:srgbClr val="EAF4EE"/>
            </a:solidFill>
            <a:prstDash val="solid"/>
          </a:ln>
        </p:spPr>
      </p:sp>
      <p:sp>
        <p:nvSpPr>
          <p:cNvPr id="21" name="takeaway"/>
          <p:cNvSpPr txBox="1"/>
          <p:nvPr/>
        </p:nvSpPr>
        <p:spPr>
          <a:xfrm>
            <a:off x="8385048" y="1627632"/>
            <a:ext cx="3236976" cy="108813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FY27〜28 は立ち上げ中の AI</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(利益率 18〜26%)が全社を押し下げ、</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FY29〜30 に 35% で並ぶ。</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非GAAP は 37% で会社の 40% より 3pt 低い</a:t>
            </a:r>
            <a:endParaRPr lang="en-US" sz="1100" dirty="0"/>
          </a:p>
        </p:txBody>
      </p:sp>
      <p:graphicFrame>
        <p:nvGraphicFramePr>
          <p:cNvPr id="16" name="tbl"/>
          <p:cNvGraphicFramePr>
            <a:graphicFrameLocks noGrp="1"/>
          </p:cNvGraphicFramePr>
          <p:nvPr>
            <p:extLst>
              <p:ext uri="{D42A27DB-BD31-4B8C-83A1-F6EECF244321}">
                <p14:modId xmlns:p14="http://schemas.microsoft.com/office/powerpoint/2010/main" val="1579011935"/>
              </p:ext>
            </p:extLst>
          </p:nvPr>
        </p:nvGraphicFramePr>
        <p:xfrm>
          <a:off x="8275320" y="2971800"/>
          <a:ext cx="3456432" cy="914400"/>
        </p:xfrm>
        <a:graphic>
          <a:graphicData uri="http://schemas.openxmlformats.org/drawingml/2006/table">
            <a:tbl>
              <a:tblPr/>
              <a:tblGrid>
                <a:gridCol w="713232"/>
                <a:gridCol w="822960"/>
                <a:gridCol w="868680"/>
                <a:gridCol w="1051560"/>
              </a:tblGrid>
              <a:tr h="310896">
                <a:tc>
                  <a:txBody>
                    <a:bodyPr/>
                    <a:lstStyle/>
                    <a:p>
                      <a:pPr algn="l" indent="0" marL="0">
                        <a:buNone/>
                      </a:pPr>
                      <a:r>
                        <a:rPr lang="en-US" sz="1000" b="1" dirty="0">
                          <a:solidFill>
                            <a:srgbClr val="FFFFFF"/>
                          </a:solidFill>
                          <a:latin typeface="Meiryo UI" pitchFamily="34" charset="0"/>
                          <a:ea typeface="Meiryo UI" pitchFamily="34" charset="-122"/>
                          <a:cs typeface="Meiryo UI" pitchFamily="34" charset="-120"/>
                        </a:rPr>
                        <a:t>年度</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売上成長</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R40(FCF)</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R40(オーナー)</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10896">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FY28</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54%</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42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83</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FY29</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36%</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57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69</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FY30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16%</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37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50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FY31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13%</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30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46</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FY32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13%</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37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45</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3" name="note"/>
          <p:cNvSpPr txBox="1"/>
          <p:nvPr/>
        </p:nvSpPr>
        <p:spPr>
          <a:xfrm>
            <a:off x="8275320" y="4983480"/>
            <a:ext cx="3456432" cy="1005840"/>
          </a:xfrm>
          <a:prstGeom prst="rect">
            <a:avLst/>
          </a:prstGeom>
          <a:noFill/>
          <a:ln/>
        </p:spPr>
        <p:txBody>
          <a:bodyPr wrap="square" lIns="508" tIns="508" rIns="508" bIns="508" rtlCol="0" anchor="t"/>
          <a:lstStyle/>
          <a:p>
            <a:pPr indent="0" marL="0">
              <a:buNone/>
            </a:pPr>
            <a:r>
              <a:rPr lang="en-US" sz="850" dirty="0">
                <a:solidFill>
                  <a:srgbClr val="767676"/>
                </a:solidFill>
                <a:latin typeface="Meiryo UI" pitchFamily="34" charset="0"/>
                <a:ea typeface="Meiryo UI" pitchFamily="34" charset="-122"/>
                <a:cs typeface="Meiryo UI" pitchFamily="34" charset="-120"/>
              </a:rPr>
              <a:t>R40 = 売上成長率 + 利益率。オーナー = オーナー利益(EBITDA − 維持投資 − 現金税)。償却費は将来の現金支出ではないため、</a:t>
            </a:r>
            <a:endParaRPr lang="en-US" sz="850" dirty="0"/>
          </a:p>
          <a:p>
            <a:pPr indent="0" marL="0">
              <a:buNone/>
            </a:pPr>
            <a:r>
              <a:rPr lang="en-US" sz="850" dirty="0">
                <a:solidFill>
                  <a:srgbClr val="767676"/>
                </a:solidFill>
                <a:latin typeface="Meiryo UI" pitchFamily="34" charset="0"/>
                <a:ea typeface="Meiryo UI" pitchFamily="34" charset="-122"/>
                <a:cs typeface="Meiryo UI" pitchFamily="34" charset="-120"/>
              </a:rPr>
              <a:t>維持投資で置き換えた</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2-3 収益構造(3/3)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収益構造</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AI 容量 1GW の投資がいくら稼ぎ、価値が何で決まるかを、会社の数字で確かめる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1GW は年 160 億ドルの売上に capex 370 億ドル。更新なしでも</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IRR 17.6% で資本コストを上回り、価値の芯は契約後の更新単価</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左上: 会社が示した 1GW の例(資金調達の型別)。左下: 1GW の IRR(更新のしかた別)と資本コスト。右: 仕組みと、評価が動く条件</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Investor Day 2026-10-28(CFO 資料 p.15〜22・26)、calc/m9_irr.py、需給エンジン第4.5版(calc/out/m10_sens.json)</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16</a:t>
            </a:r>
            <a:endParaRPr lang="en-US" sz="800" dirty="0"/>
          </a:p>
        </p:txBody>
      </p:sp>
      <p:sp>
        <p:nvSpPr>
          <p:cNvPr id="19" name="pane_head"/>
          <p:cNvSpPr txBox="1"/>
          <p:nvPr/>
        </p:nvSpPr>
        <p:spPr>
          <a:xfrm>
            <a:off x="457200" y="1481328"/>
            <a:ext cx="777240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1GW の経済性(会社の例)</a:t>
            </a:r>
            <a:endParaRPr lang="en-US" sz="1200" dirty="0"/>
          </a:p>
        </p:txBody>
      </p:sp>
      <p:graphicFrame>
        <p:nvGraphicFramePr>
          <p:cNvPr id="17" name="tbl"/>
          <p:cNvGraphicFramePr>
            <a:graphicFrameLocks noGrp="1"/>
          </p:cNvGraphicFramePr>
          <p:nvPr>
            <p:extLst>
              <p:ext uri="{D42A27DB-BD31-4B8C-83A1-F6EECF244321}">
                <p14:modId xmlns:p14="http://schemas.microsoft.com/office/powerpoint/2010/main" val="1579011935"/>
              </p:ext>
            </p:extLst>
          </p:nvPr>
        </p:nvGraphicFramePr>
        <p:xfrm>
          <a:off x="457200" y="1801368"/>
          <a:ext cx="7772400" cy="914400"/>
        </p:xfrm>
        <a:graphic>
          <a:graphicData uri="http://schemas.openxmlformats.org/drawingml/2006/table">
            <a:tbl>
              <a:tblPr/>
              <a:tblGrid>
                <a:gridCol w="1828800"/>
                <a:gridCol w="1463040"/>
                <a:gridCol w="2286000"/>
                <a:gridCol w="2194560"/>
              </a:tblGrid>
              <a:tr h="329184">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項目</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自己資金</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ベンダー金融(ハードの 70%)</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BYOH(顧客が GPU を持ち込む)</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29184">
                <a:tc>
                  <a:txBody>
                    <a:bodyPr/>
                    <a:lstStyle/>
                    <a:p>
                      <a:pPr algn="l" indent="0" marL="0">
                        <a:buNone/>
                      </a:pPr>
                      <a:r>
                        <a:rPr lang="en-US" sz="950" b="1" dirty="0">
                          <a:solidFill>
                            <a:srgbClr val="0E4D33"/>
                          </a:solidFill>
                          <a:latin typeface="Meiryo UI" pitchFamily="34" charset="0"/>
                          <a:ea typeface="Meiryo UI" pitchFamily="34" charset="-122"/>
                          <a:cs typeface="Meiryo UI" pitchFamily="34" charset="-120"/>
                        </a:rPr>
                        <a:t>年換算売上</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160 億ドル</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160 億ドル</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110 億ドル</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0E4D33"/>
                          </a:solidFill>
                          <a:latin typeface="Meiryo UI" pitchFamily="34" charset="0"/>
                          <a:ea typeface="Meiryo UI" pitchFamily="34" charset="-122"/>
                          <a:cs typeface="Meiryo UI" pitchFamily="34" charset="-120"/>
                        </a:rPr>
                        <a:t>最初の 2 年の capex</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370 億ドル</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180 億ドル</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60 億ドル(ネットワークだけ)</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29184">
                <a:tc>
                  <a:txBody>
                    <a:bodyPr/>
                    <a:lstStyle/>
                    <a:p>
                      <a:pPr algn="l" indent="0" marL="0">
                        <a:buNone/>
                      </a:pPr>
                      <a:r>
                        <a:rPr lang="en-US" sz="950" b="1" dirty="0">
                          <a:solidFill>
                            <a:srgbClr val="0E4D33"/>
                          </a:solidFill>
                          <a:latin typeface="Meiryo UI" pitchFamily="34" charset="0"/>
                          <a:ea typeface="Meiryo UI" pitchFamily="34" charset="-122"/>
                          <a:cs typeface="Meiryo UI" pitchFamily="34" charset="-120"/>
                        </a:rPr>
                        <a:t>粗利率・営業利益率</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35%・34%</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35%・34%</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35% 超・34% 超</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0E4D33"/>
                          </a:solidFill>
                          <a:latin typeface="Meiryo UI" pitchFamily="34" charset="0"/>
                          <a:ea typeface="Meiryo UI" pitchFamily="34" charset="-122"/>
                          <a:cs typeface="Meiryo UI" pitchFamily="34" charset="-120"/>
                        </a:rPr>
                        <a:t>誰が GPU を負うか</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Oracle</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Oracle(借入)</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顧客</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21" name="pane_head"/>
          <p:cNvSpPr txBox="1"/>
          <p:nvPr/>
        </p:nvSpPr>
        <p:spPr>
          <a:xfrm>
            <a:off x="457200" y="3675888"/>
            <a:ext cx="777240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IRR(更新のしかた別、%。四半期で計算)</a:t>
            </a:r>
            <a:endParaRPr lang="en-US" sz="1200" dirty="0"/>
          </a:p>
        </p:txBody>
      </p:sp>
      <p:graphicFrame>
        <p:nvGraphicFramePr>
          <p:cNvPr id="22" name="chart_irr" descr=""/>
          <p:cNvGraphicFramePr/>
          <p:nvPr/>
        </p:nvGraphicFramePr>
        <p:xfrm>
          <a:off x="457200" y="3986784"/>
          <a:ext cx="7772400" cy="2157984"/>
        </p:xfrm>
        <a:graphic xmlns:a="http://schemas.openxmlformats.org/drawingml/2006/main">
          <a:graphicData uri="http://schemas.openxmlformats.org/drawingml/2006/chart">
            <c:chart xmlns:c="http://schemas.openxmlformats.org/drawingml/2006/chart" r:id="rId1"/>
          </a:graphicData>
        </a:graphic>
      </p:graphicFrame>
      <p:sp>
        <p:nvSpPr>
          <p:cNvPr id="23" name="ovl_irr_wacc"/>
          <p:cNvSpPr/>
          <p:nvPr/>
        </p:nvSpPr>
        <p:spPr>
          <a:xfrm>
            <a:off x="4706112" y="4127602"/>
            <a:ext cx="914" cy="1736628"/>
          </a:xfrm>
          <a:prstGeom prst="line">
            <a:avLst/>
          </a:prstGeom>
          <a:noFill/>
          <a:ln w="15875">
            <a:solidFill>
              <a:srgbClr val="C0392B"/>
            </a:solidFill>
            <a:prstDash val="dash"/>
          </a:ln>
        </p:spPr>
      </p:sp>
      <p:sp>
        <p:nvSpPr>
          <p:cNvPr id="24" name="ovl_irr_wacc_t"/>
          <p:cNvSpPr txBox="1"/>
          <p:nvPr/>
        </p:nvSpPr>
        <p:spPr>
          <a:xfrm>
            <a:off x="4779264" y="4127602"/>
            <a:ext cx="1371600" cy="182880"/>
          </a:xfrm>
          <a:prstGeom prst="rect">
            <a:avLst/>
          </a:prstGeom>
          <a:noFill/>
          <a:ln/>
        </p:spPr>
        <p:txBody>
          <a:bodyPr wrap="square" lIns="0" tIns="0" rIns="0" bIns="0" rtlCol="0" anchor="ctr"/>
          <a:lstStyle/>
          <a:p>
            <a:pPr indent="0" marL="0">
              <a:buNone/>
            </a:pPr>
            <a:r>
              <a:rPr lang="en-US" sz="850" b="1" dirty="0">
                <a:solidFill>
                  <a:srgbClr val="C0392B"/>
                </a:solidFill>
                <a:latin typeface="Meiryo UI" pitchFamily="34" charset="0"/>
                <a:ea typeface="Meiryo UI" pitchFamily="34" charset="-122"/>
                <a:cs typeface="Meiryo UI" pitchFamily="34" charset="-120"/>
              </a:rPr>
              <a:t>資本コスト 約 10%</a:t>
            </a:r>
            <a:endParaRPr lang="en-US" sz="850" dirty="0"/>
          </a:p>
        </p:txBody>
      </p:sp>
      <p:sp>
        <p:nvSpPr>
          <p:cNvPr id="25" name="note_irr"/>
          <p:cNvSpPr txBox="1"/>
          <p:nvPr/>
        </p:nvSpPr>
        <p:spPr>
          <a:xfrm>
            <a:off x="457200" y="6053328"/>
            <a:ext cx="7772400" cy="182880"/>
          </a:xfrm>
          <a:prstGeom prst="rect">
            <a:avLst/>
          </a:prstGeom>
          <a:noFill/>
          <a:ln/>
        </p:spPr>
        <p:txBody>
          <a:bodyPr wrap="square" lIns="0" tIns="0" rIns="0" bIns="0" rtlCol="0" anchor="ctr"/>
          <a:lstStyle/>
          <a:p>
            <a:pPr indent="0" marL="0">
              <a:buNone/>
            </a:pPr>
            <a:r>
              <a:rPr lang="en-US" sz="850" dirty="0">
                <a:solidFill>
                  <a:srgbClr val="767676"/>
                </a:solidFill>
                <a:latin typeface="Meiryo UI" pitchFamily="34" charset="0"/>
                <a:ea typeface="Meiryo UI" pitchFamily="34" charset="-122"/>
                <a:cs typeface="Meiryo UI" pitchFamily="34" charset="-120"/>
              </a:rPr>
              <a:t>AI 事業の資本コスト 約 9.6〜10.2%(無リスク金利 4.9〜5.5% + 1.10 × 4.23%)。どのケースでも上回る</a:t>
            </a:r>
            <a:endParaRPr lang="en-US" sz="850" dirty="0"/>
          </a:p>
        </p:txBody>
      </p:sp>
      <p:sp>
        <p:nvSpPr>
          <p:cNvPr id="26" name="mech_head"/>
          <p:cNvSpPr txBox="1"/>
          <p:nvPr/>
        </p:nvSpPr>
        <p:spPr>
          <a:xfrm>
            <a:off x="8458200" y="1481328"/>
            <a:ext cx="3276295"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仕組み(①〜④)</a:t>
            </a:r>
            <a:endParaRPr lang="en-US" sz="1200" dirty="0"/>
          </a:p>
        </p:txBody>
      </p:sp>
      <p:sp>
        <p:nvSpPr>
          <p:cNvPr id="27" name="mech"/>
          <p:cNvSpPr txBox="1"/>
          <p:nvPr/>
        </p:nvSpPr>
        <p:spPr>
          <a:xfrm>
            <a:off x="8458200" y="1810512"/>
            <a:ext cx="3276295" cy="2674112"/>
          </a:xfrm>
          <a:prstGeom prst="rect">
            <a:avLst/>
          </a:prstGeom>
          <a:noFill/>
          <a:ln/>
        </p:spPr>
        <p:txBody>
          <a:bodyPr wrap="square" lIns="381" tIns="381" rIns="381" bIns="381" rtlCol="0" anchor="t"/>
          <a:lstStyle/>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① </a:t>
            </a:r>
            <a:r>
              <a:rPr lang="en-US" sz="1100" dirty="0">
                <a:solidFill>
                  <a:srgbClr val="333333"/>
                </a:solidFill>
                <a:latin typeface="Meiryo UI" pitchFamily="34" charset="0"/>
                <a:ea typeface="Meiryo UI" pitchFamily="34" charset="-122"/>
                <a:cs typeface="Meiryo UI" pitchFamily="34" charset="-120"/>
              </a:rPr>
              <a:t>ROI 28% は利回り</a:t>
            </a:r>
            <a:br/>
            <a:r>
              <a:rPr lang="en-US" sz="1100" dirty="0">
                <a:solidFill>
                  <a:srgbClr val="333333"/>
                </a:solidFill>
                <a:latin typeface="Meiryo UI" pitchFamily="34" charset="0"/>
                <a:ea typeface="Meiryo UI" pitchFamily="34" charset="-122"/>
                <a:cs typeface="Meiryo UI" pitchFamily="34" charset="-120"/>
              </a:rPr>
              <a:t>(1 年分の現金 ÷ 投資)で、</a:t>
            </a:r>
            <a:br/>
            <a:r>
              <a:rPr lang="en-US" sz="1100" dirty="0">
                <a:solidFill>
                  <a:srgbClr val="333333"/>
                </a:solidFill>
                <a:latin typeface="Meiryo UI" pitchFamily="34" charset="0"/>
                <a:ea typeface="Meiryo UI" pitchFamily="34" charset="-122"/>
                <a:cs typeface="Meiryo UI" pitchFamily="34" charset="-120"/>
              </a:rPr>
              <a:t>IRR ではない。償却 6 年・</a:t>
            </a:r>
            <a:br/>
            <a:r>
              <a:rPr lang="en-US" sz="1100" dirty="0">
                <a:solidFill>
                  <a:srgbClr val="333333"/>
                </a:solidFill>
                <a:latin typeface="Meiryo UI" pitchFamily="34" charset="0"/>
                <a:ea typeface="Meiryo UI" pitchFamily="34" charset="-122"/>
                <a:cs typeface="Meiryo UI" pitchFamily="34" charset="-120"/>
              </a:rPr>
              <a:t>現金費用 44 億ドル/GW と整合</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② </a:t>
            </a:r>
            <a:r>
              <a:rPr lang="en-US" sz="1100" dirty="0">
                <a:solidFill>
                  <a:srgbClr val="333333"/>
                </a:solidFill>
                <a:latin typeface="Meiryo UI" pitchFamily="34" charset="0"/>
                <a:ea typeface="Meiryo UI" pitchFamily="34" charset="-122"/>
                <a:cs typeface="Meiryo UI" pitchFamily="34" charset="-120"/>
              </a:rPr>
              <a:t>更新なしでも黒字</a:t>
            </a:r>
            <a:br/>
            <a:r>
              <a:rPr lang="en-US" sz="1100" dirty="0">
                <a:solidFill>
                  <a:srgbClr val="333333"/>
                </a:solidFill>
                <a:latin typeface="Meiryo UI" pitchFamily="34" charset="0"/>
                <a:ea typeface="Meiryo UI" pitchFamily="34" charset="-122"/>
                <a:cs typeface="Meiryo UI" pitchFamily="34" charset="-120"/>
              </a:rPr>
              <a:t>5 年の契約だけで IRR 17.6%。</a:t>
            </a:r>
            <a:br/>
            <a:r>
              <a:rPr lang="en-US" sz="1100" dirty="0">
                <a:solidFill>
                  <a:srgbClr val="333333"/>
                </a:solidFill>
                <a:latin typeface="Meiryo UI" pitchFamily="34" charset="0"/>
                <a:ea typeface="Meiryo UI" pitchFamily="34" charset="-122"/>
                <a:cs typeface="Meiryo UI" pitchFamily="34" charset="-120"/>
              </a:rPr>
              <a:t>資本コスト 約 10% を上回る</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③ </a:t>
            </a:r>
            <a:r>
              <a:rPr lang="en-US" sz="1100" dirty="0">
                <a:solidFill>
                  <a:srgbClr val="333333"/>
                </a:solidFill>
                <a:latin typeface="Meiryo UI" pitchFamily="34" charset="0"/>
                <a:ea typeface="Meiryo UI" pitchFamily="34" charset="-122"/>
                <a:cs typeface="Meiryo UI" pitchFamily="34" charset="-120"/>
              </a:rPr>
              <a:t>芯は契約後の単価</a:t>
            </a:r>
            <a:br/>
            <a:r>
              <a:rPr lang="en-US" sz="1100" dirty="0">
                <a:solidFill>
                  <a:srgbClr val="333333"/>
                </a:solidFill>
                <a:latin typeface="Meiryo UI" pitchFamily="34" charset="0"/>
                <a:ea typeface="Meiryo UI" pitchFamily="34" charset="-122"/>
                <a:cs typeface="Meiryo UI" pitchFamily="34" charset="-120"/>
              </a:rPr>
              <a:t>更新 ±20% で理論株価 +17 / −16、</a:t>
            </a:r>
            <a:br/>
            <a:r>
              <a:rPr lang="en-US" sz="1100" dirty="0">
                <a:solidFill>
                  <a:srgbClr val="333333"/>
                </a:solidFill>
                <a:latin typeface="Meiryo UI" pitchFamily="34" charset="0"/>
                <a:ea typeface="Meiryo UI" pitchFamily="34" charset="-122"/>
                <a:cs typeface="Meiryo UI" pitchFamily="34" charset="-120"/>
              </a:rPr>
              <a:t>DCF +35 / −35 ドル</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④ </a:t>
            </a:r>
            <a:r>
              <a:rPr lang="en-US" sz="1100" dirty="0">
                <a:solidFill>
                  <a:srgbClr val="333333"/>
                </a:solidFill>
                <a:latin typeface="Meiryo UI" pitchFamily="34" charset="0"/>
                <a:ea typeface="Meiryo UI" pitchFamily="34" charset="-122"/>
                <a:cs typeface="Meiryo UI" pitchFamily="34" charset="-120"/>
              </a:rPr>
              <a:t>コストプラス</a:t>
            </a:r>
            <a:br/>
            <a:r>
              <a:rPr lang="en-US" sz="1100" dirty="0">
                <a:solidFill>
                  <a:srgbClr val="333333"/>
                </a:solidFill>
                <a:latin typeface="Meiryo UI" pitchFamily="34" charset="0"/>
                <a:ea typeface="Meiryo UI" pitchFamily="34" charset="-122"/>
                <a:cs typeface="Meiryo UI" pitchFamily="34" charset="-120"/>
              </a:rPr>
              <a:t>原価の上昇は顧客に転嫁</a:t>
            </a:r>
            <a:br/>
            <a:r>
              <a:rPr lang="en-US" sz="1100" dirty="0">
                <a:solidFill>
                  <a:srgbClr val="333333"/>
                </a:solidFill>
                <a:latin typeface="Meiryo UI" pitchFamily="34" charset="0"/>
                <a:ea typeface="Meiryo UI" pitchFamily="34" charset="-122"/>
                <a:cs typeface="Meiryo UI" pitchFamily="34" charset="-120"/>
              </a:rPr>
              <a:t>(capex +10% でも 15.7%)。</a:t>
            </a:r>
            <a:br/>
            <a:r>
              <a:rPr lang="en-US" sz="1100" dirty="0">
                <a:solidFill>
                  <a:srgbClr val="333333"/>
                </a:solidFill>
                <a:latin typeface="Meiryo UI" pitchFamily="34" charset="0"/>
                <a:ea typeface="Meiryo UI" pitchFamily="34" charset="-122"/>
                <a:cs typeface="Meiryo UI" pitchFamily="34" charset="-120"/>
              </a:rPr>
              <a:t>超過利益も取りにくい(条件8 は今 C)</a:t>
            </a:r>
            <a:endParaRPr lang="en-US" sz="1100" dirty="0"/>
          </a:p>
        </p:txBody>
      </p:sp>
      <p:sp>
        <p:nvSpPr>
          <p:cNvPr id="28" name="ovl_takeaway_bg"/>
          <p:cNvSpPr/>
          <p:nvPr/>
        </p:nvSpPr>
        <p:spPr>
          <a:xfrm>
            <a:off x="8458200" y="4585716"/>
            <a:ext cx="3276295" cy="1005840"/>
          </a:xfrm>
          <a:prstGeom prst="rect">
            <a:avLst/>
          </a:prstGeom>
          <a:solidFill>
            <a:srgbClr val="EAF4EE"/>
          </a:solidFill>
          <a:ln w="12700">
            <a:solidFill>
              <a:srgbClr val="EAF4EE"/>
            </a:solidFill>
            <a:prstDash val="solid"/>
          </a:ln>
        </p:spPr>
      </p:sp>
      <p:sp>
        <p:nvSpPr>
          <p:cNvPr id="29" name="takeaway"/>
          <p:cNvSpPr txBox="1"/>
          <p:nvPr/>
        </p:nvSpPr>
        <p:spPr>
          <a:xfrm>
            <a:off x="8567928" y="4658868"/>
            <a:ext cx="3056839" cy="859536"/>
          </a:xfrm>
          <a:prstGeom prst="rect">
            <a:avLst/>
          </a:prstGeom>
          <a:noFill/>
          <a:ln/>
        </p:spPr>
        <p:txBody>
          <a:bodyPr wrap="square" lIns="508" tIns="508" rIns="508" bIns="508"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1GW は更新なしでも資本コストを上回る。価値の芯は契約後の更新単価。CFO:「再契約は今と同じか、より良い利益率」</a:t>
            </a:r>
            <a:endParaRPr lang="en-US" sz="1000" dirty="0"/>
          </a:p>
        </p:txBody>
      </p:sp>
      <p:sp>
        <p:nvSpPr>
          <p:cNvPr id="30" name="updown"/>
          <p:cNvSpPr txBox="1"/>
          <p:nvPr/>
        </p:nvSpPr>
        <p:spPr>
          <a:xfrm>
            <a:off x="8458200" y="5664708"/>
            <a:ext cx="3276295" cy="461772"/>
          </a:xfrm>
          <a:prstGeom prst="rect">
            <a:avLst/>
          </a:prstGeom>
          <a:noFill/>
          <a:ln/>
        </p:spPr>
        <p:txBody>
          <a:bodyPr wrap="square" lIns="381" tIns="381" rIns="381" bIns="381" rtlCol="0" anchor="t"/>
          <a:lstStyle/>
          <a:p>
            <a:pPr indent="0" marL="0">
              <a:buNone/>
            </a:pPr>
            <a:r>
              <a:rPr lang="en-US" sz="850" b="1" dirty="0">
                <a:solidFill>
                  <a:srgbClr val="197A56"/>
                </a:solidFill>
                <a:latin typeface="Meiryo UI" pitchFamily="34" charset="0"/>
                <a:ea typeface="Meiryo UI" pitchFamily="34" charset="-122"/>
                <a:cs typeface="Meiryo UI" pitchFamily="34" charset="-120"/>
              </a:rPr>
              <a:t>上がる条件  </a:t>
            </a:r>
            <a:r>
              <a:rPr lang="en-US" sz="850" dirty="0">
                <a:solidFill>
                  <a:srgbClr val="333333"/>
                </a:solidFill>
                <a:latin typeface="Meiryo UI" pitchFamily="34" charset="0"/>
                <a:ea typeface="Meiryo UI" pitchFamily="34" charset="-122"/>
                <a:cs typeface="Meiryo UI" pitchFamily="34" charset="-120"/>
              </a:rPr>
              <a:t>4 年前の GPU の更新 +20% が続き、推論が企業データの近くで再契約される</a:t>
            </a:r>
            <a:endParaRPr lang="en-US" sz="850" dirty="0"/>
          </a:p>
          <a:p>
            <a:pPr indent="0" marL="0">
              <a:buNone/>
            </a:pPr>
            <a:r>
              <a:rPr lang="en-US" sz="850" b="1" dirty="0">
                <a:solidFill>
                  <a:srgbClr val="C0392B"/>
                </a:solidFill>
                <a:latin typeface="Meiryo UI" pitchFamily="34" charset="0"/>
                <a:ea typeface="Meiryo UI" pitchFamily="34" charset="-122"/>
                <a:cs typeface="Meiryo UI" pitchFamily="34" charset="-120"/>
              </a:rPr>
              <a:t>下がる条件  </a:t>
            </a:r>
            <a:r>
              <a:rPr lang="en-US" sz="850" dirty="0">
                <a:solidFill>
                  <a:srgbClr val="333333"/>
                </a:solidFill>
                <a:latin typeface="Meiryo UI" pitchFamily="34" charset="0"/>
                <a:ea typeface="Meiryo UI" pitchFamily="34" charset="-122"/>
                <a:cs typeface="Meiryo UI" pitchFamily="34" charset="-120"/>
              </a:rPr>
              <a:t>逼迫が FY30 に解け、契約後の単価が 6 割に</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2-4 競争優位</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競争優位</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価格・品質・業界構造から、Oracle が利益を守れる理由と、その限界を見る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優位の源泉は価格ではなく DB と資金・敷地の確保。電力の確保に</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3〜4 年かかる構造が参入を遅らせ、上限は NVIDIA と買い手の集中が決める</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競合に対する価格・品質・差を生む活動(米国のオンデマンド定価)。右: ファイブフォース(各力の強さと Oracle の利益率への効き)</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report/r3_sections_5w1h_f20.md §3-4(F20)、research3/W3_industry_structure.md、research2/R3_competition.md、ClusterMAX v3.0(2026-09)</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17</a:t>
            </a:r>
            <a:endParaRPr lang="en-US" sz="800" dirty="0"/>
          </a:p>
        </p:txBody>
      </p:sp>
      <p:sp>
        <p:nvSpPr>
          <p:cNvPr id="19" name="pane_l"/>
          <p:cNvSpPr txBox="1"/>
          <p:nvPr/>
        </p:nvSpPr>
        <p:spPr>
          <a:xfrm>
            <a:off x="457200" y="1481328"/>
            <a:ext cx="5532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競合比較: 品質 × 価格 × 価値連鎖</a:t>
            </a:r>
            <a:endParaRPr lang="en-US" sz="1200" dirty="0"/>
          </a:p>
        </p:txBody>
      </p:sp>
      <p:graphicFrame>
        <p:nvGraphicFramePr>
          <p:cNvPr id="18" name="tbl_compete"/>
          <p:cNvGraphicFramePr>
            <a:graphicFrameLocks noGrp="1"/>
          </p:cNvGraphicFramePr>
          <p:nvPr>
            <p:extLst>
              <p:ext uri="{D42A27DB-BD31-4B8C-83A1-F6EECF244321}">
                <p14:modId xmlns:p14="http://schemas.microsoft.com/office/powerpoint/2010/main" val="1579011935"/>
              </p:ext>
            </p:extLst>
          </p:nvPr>
        </p:nvGraphicFramePr>
        <p:xfrm>
          <a:off x="457200" y="1828800"/>
          <a:ext cx="5532120" cy="914400"/>
        </p:xfrm>
        <a:graphic>
          <a:graphicData uri="http://schemas.openxmlformats.org/drawingml/2006/table">
            <a:tbl>
              <a:tblPr/>
              <a:tblGrid>
                <a:gridCol w="1143000"/>
                <a:gridCol w="1600200"/>
                <a:gridCol w="1417320"/>
                <a:gridCol w="1371600"/>
              </a:tblGrid>
              <a:tr h="548640">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製品</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価格(対競合)</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品質</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差を生む活動</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548640">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AI 容量(H100)</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10 ドル/時。</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AWS の 1.45 倍・</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CoreWeave の 1.62 倍</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ClusterMAX は Gold(最上位は CoreWeave・Nebius)</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資金と DC・</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電力の確保</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548640">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汎用計算</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月額で AWS・Azure より 45% 安い</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SLA 99.99% で同水準</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ハード外の仮想化</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548640">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外向き通信</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月 50TB で AWS の</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12.6 分の 1</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比較なし</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ネットワーク設計</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548640">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DB ライセンス</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同じコアで必要なライセンスが半分</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DB 本体は同一</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ライセンス規則</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548640">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Database@</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OCI と同一価格。他社の契約枠に算入可</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移設不要で低遅延</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他社クラウド内</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への配置</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1" name="ovl_takeaway_bg"/>
          <p:cNvSpPr/>
          <p:nvPr/>
        </p:nvSpPr>
        <p:spPr>
          <a:xfrm>
            <a:off x="457200" y="5257800"/>
            <a:ext cx="5532120" cy="868680"/>
          </a:xfrm>
          <a:prstGeom prst="rect">
            <a:avLst/>
          </a:prstGeom>
          <a:solidFill>
            <a:srgbClr val="EAF4EE"/>
          </a:solidFill>
          <a:ln w="12700">
            <a:solidFill>
              <a:srgbClr val="EAF4EE"/>
            </a:solidFill>
            <a:prstDash val="solid"/>
          </a:ln>
        </p:spPr>
      </p:sp>
      <p:sp>
        <p:nvSpPr>
          <p:cNvPr id="22" name="takeaway"/>
          <p:cNvSpPr txBox="1"/>
          <p:nvPr/>
        </p:nvSpPr>
        <p:spPr>
          <a:xfrm>
            <a:off x="566928" y="5330952"/>
            <a:ext cx="5312664" cy="72237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安いのは汎用計算・通信・DB ライセンス。GPU は高く品質も最上位ではない。優位は価格ではなく DB と資金・敷地の確保</a:t>
            </a:r>
            <a:endParaRPr lang="en-US" sz="1100" dirty="0"/>
          </a:p>
        </p:txBody>
      </p:sp>
      <p:sp>
        <p:nvSpPr>
          <p:cNvPr id="23" name="pane_r"/>
          <p:cNvSpPr txBox="1"/>
          <p:nvPr/>
        </p:nvSpPr>
        <p:spPr>
          <a:xfrm>
            <a:off x="6199632" y="1481328"/>
            <a:ext cx="5532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ファイブフォース(業界構造)</a:t>
            </a:r>
            <a:endParaRPr lang="en-US" sz="1200" dirty="0"/>
          </a:p>
        </p:txBody>
      </p:sp>
      <p:sp>
        <p:nvSpPr>
          <p:cNvPr id="24" name="ovl_force_entry"/>
          <p:cNvSpPr/>
          <p:nvPr/>
        </p:nvSpPr>
        <p:spPr>
          <a:xfrm>
            <a:off x="8097012" y="1828800"/>
            <a:ext cx="1737360" cy="1325880"/>
          </a:xfrm>
          <a:prstGeom prst="roundRect">
            <a:avLst>
              <a:gd name="adj" fmla="val 4138"/>
            </a:avLst>
          </a:prstGeom>
          <a:solidFill>
            <a:srgbClr val="FFFFFF"/>
          </a:solidFill>
          <a:ln w="9525">
            <a:solidFill>
              <a:srgbClr val="D9D9D9"/>
            </a:solidFill>
            <a:prstDash val="solid"/>
          </a:ln>
        </p:spPr>
      </p:sp>
      <p:sp>
        <p:nvSpPr>
          <p:cNvPr id="25" name="force_n_entry"/>
          <p:cNvSpPr txBox="1"/>
          <p:nvPr/>
        </p:nvSpPr>
        <p:spPr>
          <a:xfrm>
            <a:off x="8170164" y="1892808"/>
            <a:ext cx="1188720" cy="256032"/>
          </a:xfrm>
          <a:prstGeom prst="rect">
            <a:avLst/>
          </a:prstGeom>
          <a:noFill/>
          <a:ln/>
        </p:spPr>
        <p:txBody>
          <a:bodyPr wrap="square" lIns="0" tIns="0" rIns="0" bIns="0"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新規参入</a:t>
            </a:r>
            <a:endParaRPr lang="en-US" sz="1000" dirty="0"/>
          </a:p>
        </p:txBody>
      </p:sp>
      <p:sp>
        <p:nvSpPr>
          <p:cNvPr id="26" name="force_s_entry"/>
          <p:cNvSpPr txBox="1"/>
          <p:nvPr/>
        </p:nvSpPr>
        <p:spPr>
          <a:xfrm>
            <a:off x="9358884" y="1892808"/>
            <a:ext cx="402336" cy="256032"/>
          </a:xfrm>
          <a:prstGeom prst="rect">
            <a:avLst/>
          </a:prstGeom>
          <a:noFill/>
          <a:ln/>
        </p:spPr>
        <p:txBody>
          <a:bodyPr wrap="square" lIns="0" tIns="0" rIns="0" bIns="0" rtlCol="0" anchor="ctr"/>
          <a:lstStyle/>
          <a:p>
            <a:pPr algn="r" indent="0" marL="0">
              <a:buNone/>
            </a:pPr>
            <a:r>
              <a:rPr lang="en-US" sz="1000" b="1" dirty="0">
                <a:solidFill>
                  <a:srgbClr val="197A56"/>
                </a:solidFill>
                <a:latin typeface="Meiryo UI" pitchFamily="34" charset="0"/>
                <a:ea typeface="Meiryo UI" pitchFamily="34" charset="-122"/>
                <a:cs typeface="Meiryo UI" pitchFamily="34" charset="-120"/>
              </a:rPr>
              <a:t>弱</a:t>
            </a:r>
            <a:endParaRPr lang="en-US" sz="1000" dirty="0"/>
          </a:p>
        </p:txBody>
      </p:sp>
      <p:sp>
        <p:nvSpPr>
          <p:cNvPr id="27" name="force_f_entry"/>
          <p:cNvSpPr txBox="1"/>
          <p:nvPr/>
        </p:nvSpPr>
        <p:spPr>
          <a:xfrm>
            <a:off x="8170164" y="2194560"/>
            <a:ext cx="1591056" cy="896112"/>
          </a:xfrm>
          <a:prstGeom prst="rect">
            <a:avLst/>
          </a:prstGeom>
          <a:noFill/>
          <a:ln/>
        </p:spPr>
        <p:txBody>
          <a:bodyPr wrap="square" lIns="0" tIns="0" rIns="0" bIns="0" rtlCol="0" anchor="t"/>
          <a:lstStyle/>
          <a:p>
            <a:pPr indent="0" marL="0">
              <a:buNone/>
            </a:pPr>
            <a:r>
              <a:rPr lang="en-US" sz="850" dirty="0">
                <a:solidFill>
                  <a:srgbClr val="333333"/>
                </a:solidFill>
                <a:latin typeface="Meiryo UI" pitchFamily="34" charset="0"/>
                <a:ea typeface="Meiryo UI" pitchFamily="34" charset="-122"/>
                <a:cs typeface="Meiryo UI" pitchFamily="34" charset="-120"/>
              </a:rPr>
              <a:t>ガスタービン納期 約 3 年、</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系統連系 約 40 か月、</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変圧器 128〜160 週</a:t>
            </a:r>
            <a:endParaRPr lang="en-US" sz="850" dirty="0"/>
          </a:p>
        </p:txBody>
      </p:sp>
      <p:sp>
        <p:nvSpPr>
          <p:cNvPr id="28" name="ovl_force_supp"/>
          <p:cNvSpPr/>
          <p:nvPr/>
        </p:nvSpPr>
        <p:spPr>
          <a:xfrm>
            <a:off x="6199632" y="3246120"/>
            <a:ext cx="1737360" cy="1325880"/>
          </a:xfrm>
          <a:prstGeom prst="roundRect">
            <a:avLst>
              <a:gd name="adj" fmla="val 4138"/>
            </a:avLst>
          </a:prstGeom>
          <a:solidFill>
            <a:srgbClr val="FFFFFF"/>
          </a:solidFill>
          <a:ln w="9525">
            <a:solidFill>
              <a:srgbClr val="D9D9D9"/>
            </a:solidFill>
            <a:prstDash val="solid"/>
          </a:ln>
        </p:spPr>
      </p:sp>
      <p:sp>
        <p:nvSpPr>
          <p:cNvPr id="29" name="force_n_supp"/>
          <p:cNvSpPr txBox="1"/>
          <p:nvPr/>
        </p:nvSpPr>
        <p:spPr>
          <a:xfrm>
            <a:off x="6272784" y="3310128"/>
            <a:ext cx="1188720" cy="256032"/>
          </a:xfrm>
          <a:prstGeom prst="rect">
            <a:avLst/>
          </a:prstGeom>
          <a:noFill/>
          <a:ln/>
        </p:spPr>
        <p:txBody>
          <a:bodyPr wrap="square" lIns="0" tIns="0" rIns="0" bIns="0"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供給者</a:t>
            </a:r>
            <a:endParaRPr lang="en-US" sz="1000" dirty="0"/>
          </a:p>
        </p:txBody>
      </p:sp>
      <p:sp>
        <p:nvSpPr>
          <p:cNvPr id="30" name="force_s_supp"/>
          <p:cNvSpPr txBox="1"/>
          <p:nvPr/>
        </p:nvSpPr>
        <p:spPr>
          <a:xfrm>
            <a:off x="7461504" y="3310128"/>
            <a:ext cx="402336" cy="256032"/>
          </a:xfrm>
          <a:prstGeom prst="rect">
            <a:avLst/>
          </a:prstGeom>
          <a:noFill/>
          <a:ln/>
        </p:spPr>
        <p:txBody>
          <a:bodyPr wrap="square" lIns="0" tIns="0" rIns="0" bIns="0" rtlCol="0" anchor="ctr"/>
          <a:lstStyle/>
          <a:p>
            <a:pPr algn="r" indent="0" marL="0">
              <a:buNone/>
            </a:pPr>
            <a:r>
              <a:rPr lang="en-US" sz="1000" b="1" dirty="0">
                <a:solidFill>
                  <a:srgbClr val="C0392B"/>
                </a:solidFill>
                <a:latin typeface="Meiryo UI" pitchFamily="34" charset="0"/>
                <a:ea typeface="Meiryo UI" pitchFamily="34" charset="-122"/>
                <a:cs typeface="Meiryo UI" pitchFamily="34" charset="-120"/>
              </a:rPr>
              <a:t>強</a:t>
            </a:r>
            <a:endParaRPr lang="en-US" sz="1000" dirty="0"/>
          </a:p>
        </p:txBody>
      </p:sp>
      <p:sp>
        <p:nvSpPr>
          <p:cNvPr id="31" name="force_f_supp"/>
          <p:cNvSpPr txBox="1"/>
          <p:nvPr/>
        </p:nvSpPr>
        <p:spPr>
          <a:xfrm>
            <a:off x="6272784" y="3611880"/>
            <a:ext cx="1591056" cy="896112"/>
          </a:xfrm>
          <a:prstGeom prst="rect">
            <a:avLst/>
          </a:prstGeom>
          <a:noFill/>
          <a:ln/>
        </p:spPr>
        <p:txBody>
          <a:bodyPr wrap="square" lIns="0" tIns="0" rIns="0" bIns="0" rtlCol="0" anchor="t"/>
          <a:lstStyle/>
          <a:p>
            <a:pPr indent="0" marL="0">
              <a:buNone/>
            </a:pPr>
            <a:r>
              <a:rPr lang="en-US" sz="850" dirty="0">
                <a:solidFill>
                  <a:srgbClr val="333333"/>
                </a:solidFill>
                <a:latin typeface="Meiryo UI" pitchFamily="34" charset="0"/>
                <a:ea typeface="Meiryo UI" pitchFamily="34" charset="-122"/>
                <a:cs typeface="Meiryo UI" pitchFamily="34" charset="-120"/>
              </a:rPr>
              <a:t>NVIDIA が AI 計算の約 8 割(近似)。メモリ価格の上昇が capex を押し上げ</a:t>
            </a:r>
            <a:endParaRPr lang="en-US" sz="850" dirty="0"/>
          </a:p>
        </p:txBody>
      </p:sp>
      <p:sp>
        <p:nvSpPr>
          <p:cNvPr id="32" name="ovl_force_rival"/>
          <p:cNvSpPr/>
          <p:nvPr/>
        </p:nvSpPr>
        <p:spPr>
          <a:xfrm>
            <a:off x="8097012" y="3246120"/>
            <a:ext cx="1737360" cy="1325880"/>
          </a:xfrm>
          <a:prstGeom prst="roundRect">
            <a:avLst>
              <a:gd name="adj" fmla="val 4138"/>
            </a:avLst>
          </a:prstGeom>
          <a:solidFill>
            <a:srgbClr val="FFFFFF"/>
          </a:solidFill>
          <a:ln w="9525">
            <a:solidFill>
              <a:srgbClr val="D9D9D9"/>
            </a:solidFill>
            <a:prstDash val="solid"/>
          </a:ln>
        </p:spPr>
      </p:sp>
      <p:sp>
        <p:nvSpPr>
          <p:cNvPr id="33" name="force_n_rival"/>
          <p:cNvSpPr txBox="1"/>
          <p:nvPr/>
        </p:nvSpPr>
        <p:spPr>
          <a:xfrm>
            <a:off x="8170164" y="3310128"/>
            <a:ext cx="1188720" cy="256032"/>
          </a:xfrm>
          <a:prstGeom prst="rect">
            <a:avLst/>
          </a:prstGeom>
          <a:noFill/>
          <a:ln/>
        </p:spPr>
        <p:txBody>
          <a:bodyPr wrap="square" lIns="0" tIns="0" rIns="0" bIns="0"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業界内の競争</a:t>
            </a:r>
            <a:endParaRPr lang="en-US" sz="1000" dirty="0"/>
          </a:p>
        </p:txBody>
      </p:sp>
      <p:sp>
        <p:nvSpPr>
          <p:cNvPr id="34" name="force_s_rival"/>
          <p:cNvSpPr txBox="1"/>
          <p:nvPr/>
        </p:nvSpPr>
        <p:spPr>
          <a:xfrm>
            <a:off x="9358884" y="3310128"/>
            <a:ext cx="402336" cy="256032"/>
          </a:xfrm>
          <a:prstGeom prst="rect">
            <a:avLst/>
          </a:prstGeom>
          <a:noFill/>
          <a:ln/>
        </p:spPr>
        <p:txBody>
          <a:bodyPr wrap="square" lIns="0" tIns="0" rIns="0" bIns="0" rtlCol="0" anchor="ctr"/>
          <a:lstStyle/>
          <a:p>
            <a:pPr algn="r" indent="0" marL="0">
              <a:buNone/>
            </a:pPr>
            <a:r>
              <a:rPr lang="en-US" sz="1000" b="1" dirty="0">
                <a:solidFill>
                  <a:srgbClr val="D68910"/>
                </a:solidFill>
                <a:latin typeface="Meiryo UI" pitchFamily="34" charset="0"/>
                <a:ea typeface="Meiryo UI" pitchFamily="34" charset="-122"/>
                <a:cs typeface="Meiryo UI" pitchFamily="34" charset="-120"/>
              </a:rPr>
              <a:t>中</a:t>
            </a:r>
            <a:endParaRPr lang="en-US" sz="1000" dirty="0"/>
          </a:p>
        </p:txBody>
      </p:sp>
      <p:sp>
        <p:nvSpPr>
          <p:cNvPr id="35" name="force_f_rival"/>
          <p:cNvSpPr txBox="1"/>
          <p:nvPr/>
        </p:nvSpPr>
        <p:spPr>
          <a:xfrm>
            <a:off x="8170164" y="3611880"/>
            <a:ext cx="1591056" cy="896112"/>
          </a:xfrm>
          <a:prstGeom prst="rect">
            <a:avLst/>
          </a:prstGeom>
          <a:noFill/>
          <a:ln/>
        </p:spPr>
        <p:txBody>
          <a:bodyPr wrap="square" lIns="0" tIns="0" rIns="0" bIns="0" rtlCol="0" anchor="t"/>
          <a:lstStyle/>
          <a:p>
            <a:pPr indent="0" marL="0">
              <a:buNone/>
            </a:pPr>
            <a:r>
              <a:rPr lang="en-US" sz="850" dirty="0">
                <a:solidFill>
                  <a:srgbClr val="333333"/>
                </a:solidFill>
                <a:latin typeface="Meiryo UI" pitchFamily="34" charset="0"/>
                <a:ea typeface="Meiryo UI" pitchFamily="34" charset="-122"/>
                <a:cs typeface="Meiryo UI" pitchFamily="34" charset="-120"/>
              </a:rPr>
              <a:t>H100 実勢: 大手 7.19 ドル・ネオクラウド 2.80 ドル。1 年契約は +38%</a:t>
            </a:r>
            <a:endParaRPr lang="en-US" sz="850" dirty="0"/>
          </a:p>
        </p:txBody>
      </p:sp>
      <p:sp>
        <p:nvSpPr>
          <p:cNvPr id="36" name="ovl_force_buyer"/>
          <p:cNvSpPr/>
          <p:nvPr/>
        </p:nvSpPr>
        <p:spPr>
          <a:xfrm>
            <a:off x="9994392" y="3246120"/>
            <a:ext cx="1737360" cy="1325880"/>
          </a:xfrm>
          <a:prstGeom prst="roundRect">
            <a:avLst>
              <a:gd name="adj" fmla="val 4138"/>
            </a:avLst>
          </a:prstGeom>
          <a:solidFill>
            <a:srgbClr val="FFFFFF"/>
          </a:solidFill>
          <a:ln w="9525">
            <a:solidFill>
              <a:srgbClr val="D9D9D9"/>
            </a:solidFill>
            <a:prstDash val="solid"/>
          </a:ln>
        </p:spPr>
      </p:sp>
      <p:sp>
        <p:nvSpPr>
          <p:cNvPr id="37" name="force_n_buyer"/>
          <p:cNvSpPr txBox="1"/>
          <p:nvPr/>
        </p:nvSpPr>
        <p:spPr>
          <a:xfrm>
            <a:off x="10067544" y="3310128"/>
            <a:ext cx="1188720" cy="256032"/>
          </a:xfrm>
          <a:prstGeom prst="rect">
            <a:avLst/>
          </a:prstGeom>
          <a:noFill/>
          <a:ln/>
        </p:spPr>
        <p:txBody>
          <a:bodyPr wrap="square" lIns="0" tIns="0" rIns="0" bIns="0"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買い手</a:t>
            </a:r>
            <a:endParaRPr lang="en-US" sz="1000" dirty="0"/>
          </a:p>
        </p:txBody>
      </p:sp>
      <p:sp>
        <p:nvSpPr>
          <p:cNvPr id="38" name="force_s_buyer"/>
          <p:cNvSpPr txBox="1"/>
          <p:nvPr/>
        </p:nvSpPr>
        <p:spPr>
          <a:xfrm>
            <a:off x="11256264" y="3310128"/>
            <a:ext cx="402336" cy="256032"/>
          </a:xfrm>
          <a:prstGeom prst="rect">
            <a:avLst/>
          </a:prstGeom>
          <a:noFill/>
          <a:ln/>
        </p:spPr>
        <p:txBody>
          <a:bodyPr wrap="square" lIns="0" tIns="0" rIns="0" bIns="0" rtlCol="0" anchor="ctr"/>
          <a:lstStyle/>
          <a:p>
            <a:pPr algn="r" indent="0" marL="0">
              <a:buNone/>
            </a:pPr>
            <a:r>
              <a:rPr lang="en-US" sz="1000" b="1" dirty="0">
                <a:solidFill>
                  <a:srgbClr val="C0392B"/>
                </a:solidFill>
                <a:latin typeface="Meiryo UI" pitchFamily="34" charset="0"/>
                <a:ea typeface="Meiryo UI" pitchFamily="34" charset="-122"/>
                <a:cs typeface="Meiryo UI" pitchFamily="34" charset="-120"/>
              </a:rPr>
              <a:t>強</a:t>
            </a:r>
            <a:endParaRPr lang="en-US" sz="1000" dirty="0"/>
          </a:p>
        </p:txBody>
      </p:sp>
      <p:sp>
        <p:nvSpPr>
          <p:cNvPr id="39" name="force_f_buyer"/>
          <p:cNvSpPr txBox="1"/>
          <p:nvPr/>
        </p:nvSpPr>
        <p:spPr>
          <a:xfrm>
            <a:off x="10067544" y="3611880"/>
            <a:ext cx="1591056" cy="896112"/>
          </a:xfrm>
          <a:prstGeom prst="rect">
            <a:avLst/>
          </a:prstGeom>
          <a:noFill/>
          <a:ln/>
        </p:spPr>
        <p:txBody>
          <a:bodyPr wrap="square" lIns="0" tIns="0" rIns="0" bIns="0" rtlCol="0" anchor="t"/>
          <a:lstStyle/>
          <a:p>
            <a:pPr indent="0" marL="0">
              <a:buNone/>
            </a:pPr>
            <a:r>
              <a:rPr lang="en-US" sz="850" dirty="0">
                <a:solidFill>
                  <a:srgbClr val="333333"/>
                </a:solidFill>
                <a:latin typeface="Meiryo UI" pitchFamily="34" charset="0"/>
                <a:ea typeface="Meiryo UI" pitchFamily="34" charset="-122"/>
                <a:cs typeface="Meiryo UI" pitchFamily="34" charset="-120"/>
              </a:rPr>
              <a:t>OpenAI が受注残の約 45%。</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計算契約は売上見通しの</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約 32 倍</a:t>
            </a:r>
            <a:endParaRPr lang="en-US" sz="850" dirty="0"/>
          </a:p>
        </p:txBody>
      </p:sp>
      <p:sp>
        <p:nvSpPr>
          <p:cNvPr id="40" name="ovl_force_subst"/>
          <p:cNvSpPr/>
          <p:nvPr/>
        </p:nvSpPr>
        <p:spPr>
          <a:xfrm>
            <a:off x="8097012" y="4663440"/>
            <a:ext cx="1737360" cy="1325880"/>
          </a:xfrm>
          <a:prstGeom prst="roundRect">
            <a:avLst>
              <a:gd name="adj" fmla="val 4138"/>
            </a:avLst>
          </a:prstGeom>
          <a:solidFill>
            <a:srgbClr val="FFFFFF"/>
          </a:solidFill>
          <a:ln w="9525">
            <a:solidFill>
              <a:srgbClr val="D9D9D9"/>
            </a:solidFill>
            <a:prstDash val="solid"/>
          </a:ln>
        </p:spPr>
      </p:sp>
      <p:sp>
        <p:nvSpPr>
          <p:cNvPr id="41" name="force_n_subst"/>
          <p:cNvSpPr txBox="1"/>
          <p:nvPr/>
        </p:nvSpPr>
        <p:spPr>
          <a:xfrm>
            <a:off x="8170164" y="4727448"/>
            <a:ext cx="1188720" cy="256032"/>
          </a:xfrm>
          <a:prstGeom prst="rect">
            <a:avLst/>
          </a:prstGeom>
          <a:noFill/>
          <a:ln/>
        </p:spPr>
        <p:txBody>
          <a:bodyPr wrap="square" lIns="0" tIns="0" rIns="0" bIns="0"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代替</a:t>
            </a:r>
            <a:endParaRPr lang="en-US" sz="1000" dirty="0"/>
          </a:p>
        </p:txBody>
      </p:sp>
      <p:sp>
        <p:nvSpPr>
          <p:cNvPr id="42" name="force_s_subst"/>
          <p:cNvSpPr txBox="1"/>
          <p:nvPr/>
        </p:nvSpPr>
        <p:spPr>
          <a:xfrm>
            <a:off x="9358884" y="4727448"/>
            <a:ext cx="402336" cy="256032"/>
          </a:xfrm>
          <a:prstGeom prst="rect">
            <a:avLst/>
          </a:prstGeom>
          <a:noFill/>
          <a:ln/>
        </p:spPr>
        <p:txBody>
          <a:bodyPr wrap="square" lIns="0" tIns="0" rIns="0" bIns="0" rtlCol="0" anchor="ctr"/>
          <a:lstStyle/>
          <a:p>
            <a:pPr algn="r" indent="0" marL="0">
              <a:buNone/>
            </a:pPr>
            <a:r>
              <a:rPr lang="en-US" sz="1000" b="1" dirty="0">
                <a:solidFill>
                  <a:srgbClr val="D68910"/>
                </a:solidFill>
                <a:latin typeface="Meiryo UI" pitchFamily="34" charset="0"/>
                <a:ea typeface="Meiryo UI" pitchFamily="34" charset="-122"/>
                <a:cs typeface="Meiryo UI" pitchFamily="34" charset="-120"/>
              </a:rPr>
              <a:t>中</a:t>
            </a:r>
            <a:endParaRPr lang="en-US" sz="1000" dirty="0"/>
          </a:p>
        </p:txBody>
      </p:sp>
      <p:sp>
        <p:nvSpPr>
          <p:cNvPr id="43" name="force_f_subst"/>
          <p:cNvSpPr txBox="1"/>
          <p:nvPr/>
        </p:nvSpPr>
        <p:spPr>
          <a:xfrm>
            <a:off x="8170164" y="5029200"/>
            <a:ext cx="1591056" cy="896112"/>
          </a:xfrm>
          <a:prstGeom prst="rect">
            <a:avLst/>
          </a:prstGeom>
          <a:noFill/>
          <a:ln/>
        </p:spPr>
        <p:txBody>
          <a:bodyPr wrap="square" lIns="0" tIns="0" rIns="0" bIns="0" rtlCol="0" anchor="t"/>
          <a:lstStyle/>
          <a:p>
            <a:pPr indent="0" marL="0">
              <a:buNone/>
            </a:pPr>
            <a:r>
              <a:rPr lang="en-US" sz="850" dirty="0">
                <a:solidFill>
                  <a:srgbClr val="333333"/>
                </a:solidFill>
                <a:latin typeface="Meiryo UI" pitchFamily="34" charset="0"/>
                <a:ea typeface="Meiryo UI" pitchFamily="34" charset="-122"/>
                <a:cs typeface="Meiryo UI" pitchFamily="34" charset="-120"/>
              </a:rPr>
              <a:t>Google TPU(Anthropic</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2027 年から約 3.5GW)、</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AWS 自社チップ 年換算</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250 億ドル超</a:t>
            </a:r>
            <a:endParaRPr lang="en-US" sz="850" dirty="0"/>
          </a:p>
        </p:txBody>
      </p:sp>
      <p:sp>
        <p:nvSpPr>
          <p:cNvPr id="44" name="ovl_arrow"/>
          <p:cNvSpPr/>
          <p:nvPr/>
        </p:nvSpPr>
        <p:spPr>
          <a:xfrm flipV="1">
            <a:off x="8965692" y="3154680"/>
            <a:ext cx="914" cy="91440"/>
          </a:xfrm>
          <a:prstGeom prst="line">
            <a:avLst/>
          </a:prstGeom>
          <a:noFill/>
          <a:ln w="12700">
            <a:solidFill>
              <a:srgbClr val="767676"/>
            </a:solidFill>
            <a:prstDash val="solid"/>
            <a:tailEnd type="triangle"/>
          </a:ln>
        </p:spPr>
      </p:sp>
      <p:sp>
        <p:nvSpPr>
          <p:cNvPr id="45" name="ovl_arrow"/>
          <p:cNvSpPr/>
          <p:nvPr/>
        </p:nvSpPr>
        <p:spPr>
          <a:xfrm>
            <a:off x="8965692" y="4572000"/>
            <a:ext cx="914" cy="91440"/>
          </a:xfrm>
          <a:prstGeom prst="line">
            <a:avLst/>
          </a:prstGeom>
          <a:noFill/>
          <a:ln w="12700">
            <a:solidFill>
              <a:srgbClr val="767676"/>
            </a:solidFill>
            <a:prstDash val="solid"/>
            <a:tailEnd type="triangle"/>
          </a:ln>
        </p:spPr>
      </p:sp>
      <p:sp>
        <p:nvSpPr>
          <p:cNvPr id="46" name="ovl_arrow"/>
          <p:cNvSpPr/>
          <p:nvPr/>
        </p:nvSpPr>
        <p:spPr>
          <a:xfrm flipH="1">
            <a:off x="7936992" y="3909060"/>
            <a:ext cx="160020" cy="914"/>
          </a:xfrm>
          <a:prstGeom prst="line">
            <a:avLst/>
          </a:prstGeom>
          <a:noFill/>
          <a:ln w="12700">
            <a:solidFill>
              <a:srgbClr val="767676"/>
            </a:solidFill>
            <a:prstDash val="solid"/>
            <a:tailEnd type="triangle"/>
          </a:ln>
        </p:spPr>
      </p:sp>
      <p:sp>
        <p:nvSpPr>
          <p:cNvPr id="47" name="ovl_arrow"/>
          <p:cNvSpPr/>
          <p:nvPr/>
        </p:nvSpPr>
        <p:spPr>
          <a:xfrm>
            <a:off x="9834372" y="3909060"/>
            <a:ext cx="160020" cy="914"/>
          </a:xfrm>
          <a:prstGeom prst="line">
            <a:avLst/>
          </a:prstGeom>
          <a:noFill/>
          <a:ln w="12700">
            <a:solidFill>
              <a:srgbClr val="767676"/>
            </a:solidFill>
            <a:prstDash val="solid"/>
            <a:tailEnd type="triangle"/>
          </a:ln>
        </p:spPr>
      </p:sp>
      <p:sp>
        <p:nvSpPr>
          <p:cNvPr id="48" name="force_legend"/>
          <p:cNvSpPr txBox="1"/>
          <p:nvPr/>
        </p:nvSpPr>
        <p:spPr>
          <a:xfrm>
            <a:off x="9994392" y="4663440"/>
            <a:ext cx="1737360" cy="1325880"/>
          </a:xfrm>
          <a:prstGeom prst="rect">
            <a:avLst/>
          </a:prstGeom>
          <a:noFill/>
          <a:ln/>
        </p:spPr>
        <p:txBody>
          <a:bodyPr wrap="square" lIns="508" tIns="508" rIns="508" bIns="508" rtlCol="0" anchor="t"/>
          <a:lstStyle/>
          <a:p>
            <a:pPr indent="0" marL="0">
              <a:buNone/>
            </a:pPr>
            <a:r>
              <a:rPr lang="en-US" sz="850" dirty="0">
                <a:solidFill>
                  <a:srgbClr val="767676"/>
                </a:solidFill>
                <a:latin typeface="Meiryo UI" pitchFamily="34" charset="0"/>
                <a:ea typeface="Meiryo UI" pitchFamily="34" charset="-122"/>
                <a:cs typeface="Meiryo UI" pitchFamily="34" charset="-120"/>
              </a:rPr>
              <a:t>強さは Oracle の利益率への圧力。弱 = 参入が遅く Oracle に有利</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2-5 需給(1/2)</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017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017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需給</a:t>
            </a:r>
            <a:endParaRPr lang="en-US" sz="1000" dirty="0"/>
          </a:p>
        </p:txBody>
      </p:sp>
      <p:sp>
        <p:nvSpPr>
          <p:cNvPr id="14" name="hdr_why"/>
          <p:cNvSpPr txBox="1"/>
          <p:nvPr/>
        </p:nvSpPr>
        <p:spPr>
          <a:xfrm>
            <a:off x="1620774" y="356616"/>
            <a:ext cx="10113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需要が供給を上回る状態がいつまで続くかが、AI 容量の単価と利益率を決める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推論・エージェント・ソブリン AI で需要は供給を上回る。7〜9 月も</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大手 3 社のクラウドは 39〜103% 伸び、GPU の時間貸しは 10 月に上がった</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需要の種類と規模。右: 2026 年の値上げ(前回価格比)と供給の制約</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research4/T4_ai_demand.md(McKinsey・Google・Anthropic・Gartner)、research4/T5_supply_components.md(TrendForce・UBS・各社の価格表)、research5/U3_industry_supply_demand.md(7〜9 月期の決算・Ornn 指数)</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18</a:t>
            </a:r>
            <a:endParaRPr lang="en-US" sz="800" dirty="0"/>
          </a:p>
        </p:txBody>
      </p:sp>
      <p:sp>
        <p:nvSpPr>
          <p:cNvPr id="19" name="pane_head"/>
          <p:cNvSpPr txBox="1"/>
          <p:nvPr/>
        </p:nvSpPr>
        <p:spPr>
          <a:xfrm>
            <a:off x="457200" y="1481328"/>
            <a:ext cx="5532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需要: 推論・エージェント・ソブリン</a:t>
            </a:r>
            <a:endParaRPr lang="en-US" sz="1200" dirty="0"/>
          </a:p>
        </p:txBody>
      </p:sp>
      <p:graphicFrame>
        <p:nvGraphicFramePr>
          <p:cNvPr id="19" name="tbl"/>
          <p:cNvGraphicFramePr>
            <a:graphicFrameLocks noGrp="1"/>
          </p:cNvGraphicFramePr>
          <p:nvPr>
            <p:extLst>
              <p:ext uri="{D42A27DB-BD31-4B8C-83A1-F6EECF244321}">
                <p14:modId xmlns:p14="http://schemas.microsoft.com/office/powerpoint/2010/main" val="1579011935"/>
              </p:ext>
            </p:extLst>
          </p:nvPr>
        </p:nvGraphicFramePr>
        <p:xfrm>
          <a:off x="457200" y="1828800"/>
          <a:ext cx="5532120" cy="914400"/>
        </p:xfrm>
        <a:graphic>
          <a:graphicData uri="http://schemas.openxmlformats.org/drawingml/2006/table">
            <a:tbl>
              <a:tblPr/>
              <a:tblGrid>
                <a:gridCol w="1051560"/>
                <a:gridCol w="4480560"/>
              </a:tblGrid>
              <a:tr h="603504">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種類</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規模と伸び</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603504">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推論</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Google の月間トークン処理量 480 兆 → 3,200 兆(1 年で 6.7 倍)。</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推論の電力需要は 20.9 → 93.3GW(2030 年、年 35%)</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603504">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エージェント</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1 タスクのトークンはチャットの約 4 倍、複数エージェントで約 15 倍(Anthropic の自社データ)</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603504">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ソブリン</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Stargate UAE 1GW(Oracle が運営)。ソブリンクラウド IaaS は</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2026 年 800 億ドル(+35.6%)。Oracle は日本に 80 億ドル超</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603504">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AI 全体</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学習 + 推論の電力は 44 → 156GW(2030 年、年 29%)。</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Google・AWS・Azure はそろって「供給制約」を明言</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603504">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大手クラウド</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7〜9 月期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Azure +48%、Google Cloud +103%(受注残 5,610 億ドル)、</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AWS +39%(受注残 5,780 億ドル)</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1" name="Text 18"/>
          <p:cNvSpPr txBox="1"/>
          <p:nvPr/>
        </p:nvSpPr>
        <p:spPr>
          <a:xfrm>
            <a:off x="457200" y="5486400"/>
            <a:ext cx="5532120" cy="640080"/>
          </a:xfrm>
          <a:prstGeom prst="rect">
            <a:avLst/>
          </a:prstGeom>
          <a:noFill/>
          <a:ln/>
        </p:spPr>
        <p:txBody>
          <a:bodyPr wrap="square" lIns="508" tIns="508" rIns="508" bIns="508" rtlCol="0" anchor="t"/>
          <a:lstStyle/>
          <a:p>
            <a:pPr indent="0" marL="0">
              <a:buNone/>
            </a:pPr>
            <a:r>
              <a:rPr lang="en-US" sz="850" dirty="0">
                <a:solidFill>
                  <a:srgbClr val="767676"/>
                </a:solidFill>
                <a:latin typeface="Meiryo UI" pitchFamily="34" charset="0"/>
                <a:ea typeface="Meiryo UI" pitchFamily="34" charset="-122"/>
                <a:cs typeface="Meiryo UI" pitchFamily="34" charset="-120"/>
              </a:rPr>
              <a:t>推論型モデルの計算 150 倍は DeepSeek と非推論モデルの 1 例の比較で、推論型モデル全般の値ではない</a:t>
            </a:r>
            <a:endParaRPr lang="en-US" sz="850" dirty="0"/>
          </a:p>
        </p:txBody>
      </p:sp>
      <p:sp>
        <p:nvSpPr>
          <p:cNvPr id="22" name="pane_head"/>
          <p:cNvSpPr txBox="1"/>
          <p:nvPr/>
        </p:nvSpPr>
        <p:spPr>
          <a:xfrm>
            <a:off x="6199632" y="1481328"/>
            <a:ext cx="5532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供給: 値上げと制約</a:t>
            </a:r>
            <a:endParaRPr lang="en-US" sz="1200" dirty="0"/>
          </a:p>
        </p:txBody>
      </p:sp>
      <p:graphicFrame>
        <p:nvGraphicFramePr>
          <p:cNvPr id="23" name="chart" descr=""/>
          <p:cNvGraphicFramePr/>
          <p:nvPr/>
        </p:nvGraphicFramePr>
        <p:xfrm>
          <a:off x="6199632" y="1828800"/>
          <a:ext cx="5532120" cy="2331720"/>
        </p:xfrm>
        <a:graphic xmlns:a="http://schemas.openxmlformats.org/drawingml/2006/main">
          <a:graphicData uri="http://schemas.openxmlformats.org/drawingml/2006/chart">
            <c:chart xmlns:c="http://schemas.openxmlformats.org/drawingml/2006/chart" r:id="rId1"/>
          </a:graphicData>
        </a:graphic>
      </p:graphicFrame>
      <p:sp>
        <p:nvSpPr>
          <p:cNvPr id="24" name="bullets"/>
          <p:cNvSpPr txBox="1"/>
          <p:nvPr/>
        </p:nvSpPr>
        <p:spPr>
          <a:xfrm>
            <a:off x="6199632" y="4251960"/>
            <a:ext cx="5532120" cy="1097280"/>
          </a:xfrm>
          <a:prstGeom prst="rect">
            <a:avLst/>
          </a:prstGeom>
          <a:noFill/>
          <a:ln/>
        </p:spPr>
        <p:txBody>
          <a:bodyPr wrap="square" lIns="508" tIns="508" rIns="508" bIns="508" rtlCol="0" anchor="t"/>
          <a:lstStyle/>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メモリ: DRAM 契約価格は 2026 年に累計 約 3.7 倍、HBM の平均単価は 2027 年 +121%(TrendForce)。逼迫は 2028 年まで(UBS)</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電力: ガスタービンの受注残 116GW、計画中の DC 容量の 30〜50% が</a:t>
            </a:r>
            <a:br/>
            <a:r>
              <a:rPr lang="en-US" sz="950" dirty="0">
                <a:solidFill>
                  <a:srgbClr val="333333"/>
                </a:solidFill>
                <a:latin typeface="Meiryo UI" pitchFamily="34" charset="0"/>
                <a:ea typeface="Meiryo UI" pitchFamily="34" charset="-122"/>
                <a:cs typeface="Meiryo UI" pitchFamily="34" charset="-120"/>
              </a:rPr>
              <a:t>2028 年へ後ろ倒しの予想</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GPU の時間貸し(Ornn 指数、10 月): H100 2.59 → 2.92 ドル、B200 7.71 → 9.83 ドル</a:t>
            </a:r>
            <a:endParaRPr lang="en-US" sz="950" dirty="0"/>
          </a:p>
        </p:txBody>
      </p:sp>
      <p:sp>
        <p:nvSpPr>
          <p:cNvPr id="25" name="ovl_takeaway_bg"/>
          <p:cNvSpPr/>
          <p:nvPr/>
        </p:nvSpPr>
        <p:spPr>
          <a:xfrm>
            <a:off x="6199632" y="5394960"/>
            <a:ext cx="5532120" cy="731520"/>
          </a:xfrm>
          <a:prstGeom prst="rect">
            <a:avLst/>
          </a:prstGeom>
          <a:solidFill>
            <a:srgbClr val="EAF4EE"/>
          </a:solidFill>
          <a:ln w="12700">
            <a:solidFill>
              <a:srgbClr val="EAF4EE"/>
            </a:solidFill>
            <a:prstDash val="solid"/>
          </a:ln>
        </p:spPr>
      </p:sp>
      <p:sp>
        <p:nvSpPr>
          <p:cNvPr id="26" name="takeaway"/>
          <p:cNvSpPr txBox="1"/>
          <p:nvPr/>
        </p:nvSpPr>
        <p:spPr>
          <a:xfrm>
            <a:off x="6309360" y="5468112"/>
            <a:ext cx="5312664" cy="58521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スマホと同じく、部材の逼迫が</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完成品(計算容量)の値上げとして買い手に転嫁されている</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2-5 需給(2/2)</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017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017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需給</a:t>
            </a:r>
            <a:endParaRPr lang="en-US" sz="1000" dirty="0"/>
          </a:p>
        </p:txBody>
      </p:sp>
      <p:sp>
        <p:nvSpPr>
          <p:cNvPr id="14" name="hdr_why"/>
          <p:cNvSpPr txBox="1"/>
          <p:nvPr/>
        </p:nvSpPr>
        <p:spPr>
          <a:xfrm>
            <a:off x="1620774" y="356616"/>
            <a:ext cx="10113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AI の需要の中身が学習から推論へ移ると、Oracle の何が効くかを経営者の発言と数字で確かめる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需要は学習から推論へ移り、推論は企業データの近くで動く。</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DB・OCI・アプリを持つ Oracle は、契約後の単価を保ちやすくなる</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経営者の発言(日付つき)と、それが Oracle の何に効くか。右上: AI 計算に占める推論の比率。右下: 推論の効きを理論株価と DCF で(需給エンジン第4.5版)</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Investor Day 2026-10-28 の書き起こし(research_v6)、Benzinga・Cloud Wars(Ellison 2025-09)、Deloitte TMT Predictions 2026(二次)、需給エンジン第4.5版(calc/out/m10_sens.json)</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19</a:t>
            </a:r>
            <a:endParaRPr lang="en-US" sz="800" dirty="0"/>
          </a:p>
        </p:txBody>
      </p:sp>
      <p:sp>
        <p:nvSpPr>
          <p:cNvPr id="19" name="pane_head"/>
          <p:cNvSpPr txBox="1"/>
          <p:nvPr/>
        </p:nvSpPr>
        <p:spPr>
          <a:xfrm>
            <a:off x="457200" y="1481328"/>
            <a:ext cx="676656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経営者の発言と、Oracle への意味</a:t>
            </a:r>
            <a:endParaRPr lang="en-US" sz="1200" dirty="0"/>
          </a:p>
        </p:txBody>
      </p:sp>
      <p:graphicFrame>
        <p:nvGraphicFramePr>
          <p:cNvPr id="20" name="tbl"/>
          <p:cNvGraphicFramePr>
            <a:graphicFrameLocks noGrp="1"/>
          </p:cNvGraphicFramePr>
          <p:nvPr>
            <p:extLst>
              <p:ext uri="{D42A27DB-BD31-4B8C-83A1-F6EECF244321}">
                <p14:modId xmlns:p14="http://schemas.microsoft.com/office/powerpoint/2010/main" val="1579011935"/>
              </p:ext>
            </p:extLst>
          </p:nvPr>
        </p:nvGraphicFramePr>
        <p:xfrm>
          <a:off x="457200" y="1828800"/>
          <a:ext cx="6766560" cy="914400"/>
        </p:xfrm>
        <a:graphic>
          <a:graphicData uri="http://schemas.openxmlformats.org/drawingml/2006/table">
            <a:tbl>
              <a:tblPr/>
              <a:tblGrid>
                <a:gridCol w="1554480"/>
                <a:gridCol w="3566160"/>
                <a:gridCol w="1645920"/>
              </a:tblGrid>
              <a:tr h="566928">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発言者・日付</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発言</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意味</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566928">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Magouyrk(共同 CEO)</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2026-10-28</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「GW 級の拠点は学習に向く。推論が大きくなるにつれ、50〜200MW の拠点を世界中に届けている。遅延の理由で分散が要る」「AI 顧客は 1,000 社超」</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拠点が小さく分散し、データの近くへ</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Maxson(CFO)</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2026-10-28</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「再契約は今と同じか、より良い利益率を見込む。4 年前の GPU を元の契約単価の +20% で売却・更新した」</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価値の芯(再契約の単価)を会社は下がらないと見る</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566928">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Ellison(会長・CTO)</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2025-09(二次)</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「推論の市場は学習の市場よりはるかに大きい」「次は公開データの学習から私的データの推論へ」</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私的データの推論は DB の顧客基盤が効く</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Leone(アプリ)</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2026-10-28</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「Fusion の AI の呼び出しは Q1 に 1.5 億回、6→8 月に +42%」「AI Units(使用量の課金)」</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アプリが AI の使用量</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で課金</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566928">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Sicilia(共同 CEO)</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2026-10-28</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「ERP の顧客の約半分がまだオンプレ」</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ERP の移行が OCI と SaaS を押し上げる</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1" name="pane_head"/>
          <p:cNvSpPr txBox="1"/>
          <p:nvPr/>
        </p:nvSpPr>
        <p:spPr>
          <a:xfrm>
            <a:off x="7498080" y="1481328"/>
            <a:ext cx="4233672"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推論の比率(AI 計算に占める、業界の推計)</a:t>
            </a:r>
            <a:endParaRPr lang="en-US" sz="1200" dirty="0"/>
          </a:p>
        </p:txBody>
      </p:sp>
      <p:graphicFrame>
        <p:nvGraphicFramePr>
          <p:cNvPr id="22" name="chart_infer" descr=""/>
          <p:cNvGraphicFramePr/>
          <p:nvPr/>
        </p:nvGraphicFramePr>
        <p:xfrm>
          <a:off x="7498080" y="1783080"/>
          <a:ext cx="4233672" cy="1737360"/>
        </p:xfrm>
        <a:graphic xmlns:a="http://schemas.openxmlformats.org/drawingml/2006/main">
          <a:graphicData uri="http://schemas.openxmlformats.org/drawingml/2006/chart">
            <c:chart xmlns:c="http://schemas.openxmlformats.org/drawingml/2006/chart" r:id="rId1"/>
          </a:graphicData>
        </a:graphic>
      </p:graphicFrame>
      <p:sp>
        <p:nvSpPr>
          <p:cNvPr id="23" name="note_infer"/>
          <p:cNvSpPr txBox="1"/>
          <p:nvPr/>
        </p:nvSpPr>
        <p:spPr>
          <a:xfrm>
            <a:off x="7498080" y="3538728"/>
            <a:ext cx="4233672" cy="201168"/>
          </a:xfrm>
          <a:prstGeom prst="rect">
            <a:avLst/>
          </a:prstGeom>
          <a:noFill/>
          <a:ln/>
        </p:spPr>
        <p:txBody>
          <a:bodyPr wrap="square" lIns="0" tIns="0" rIns="0" bIns="0" rtlCol="0" anchor="t"/>
          <a:lstStyle/>
          <a:p>
            <a:pPr indent="0" marL="0">
              <a:buNone/>
            </a:pPr>
            <a:r>
              <a:rPr lang="en-US" sz="800" dirty="0">
                <a:solidFill>
                  <a:srgbClr val="767676"/>
                </a:solidFill>
                <a:latin typeface="Meiryo UI" pitchFamily="34" charset="0"/>
                <a:ea typeface="Meiryo UI" pitchFamily="34" charset="-122"/>
                <a:cs typeface="Meiryo UI" pitchFamily="34" charset="-120"/>
              </a:rPr>
              <a:t>出所: Deloitte TMT Predictions 2026(二次)。推論は 2026 年に AI 計算の約 2/3</a:t>
            </a:r>
            <a:endParaRPr lang="en-US" sz="800" dirty="0"/>
          </a:p>
        </p:txBody>
      </p:sp>
      <p:sp>
        <p:nvSpPr>
          <p:cNvPr id="24" name="pane_head"/>
          <p:cNvSpPr txBox="1"/>
          <p:nvPr/>
        </p:nvSpPr>
        <p:spPr>
          <a:xfrm>
            <a:off x="7498080" y="3813048"/>
            <a:ext cx="4233672"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推論の効き(理論株価 / DCF、ドル)</a:t>
            </a:r>
            <a:endParaRPr lang="en-US" sz="1200" dirty="0"/>
          </a:p>
        </p:txBody>
      </p:sp>
      <p:graphicFrame>
        <p:nvGraphicFramePr>
          <p:cNvPr id="39" name="tbl"/>
          <p:cNvGraphicFramePr>
            <a:graphicFrameLocks noGrp="1"/>
          </p:cNvGraphicFramePr>
          <p:nvPr>
            <p:extLst>
              <p:ext uri="{D42A27DB-BD31-4B8C-83A1-F6EECF244321}">
                <p14:modId xmlns:p14="http://schemas.microsoft.com/office/powerpoint/2010/main" val="1579011935"/>
              </p:ext>
            </p:extLst>
          </p:nvPr>
        </p:nvGraphicFramePr>
        <p:xfrm>
          <a:off x="7498080" y="4133088"/>
          <a:ext cx="4233672" cy="914400"/>
        </p:xfrm>
        <a:graphic>
          <a:graphicData uri="http://schemas.openxmlformats.org/drawingml/2006/table">
            <a:tbl>
              <a:tblPr/>
              <a:tblGrid>
                <a:gridCol w="2862072"/>
                <a:gridCol w="1371600"/>
              </a:tblGrid>
              <a:tr h="329184">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前提</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理論株価 / DCF</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29184">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推論とデータの重力(ベースに入れた分)</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+7.5 / +17.0</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さらに強く(再契約 75%・長期超過 +5pt)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+9.4 / +25.3</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29184">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経営者の発言どおり(再契約 100%)</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+47.7 / +100.4</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6" name="ovl_takeaway_bg"/>
          <p:cNvSpPr/>
          <p:nvPr/>
        </p:nvSpPr>
        <p:spPr>
          <a:xfrm>
            <a:off x="457200" y="5596128"/>
            <a:ext cx="11274552" cy="566928"/>
          </a:xfrm>
          <a:prstGeom prst="rect">
            <a:avLst/>
          </a:prstGeom>
          <a:solidFill>
            <a:srgbClr val="EAF4EE"/>
          </a:solidFill>
          <a:ln w="12700">
            <a:solidFill>
              <a:srgbClr val="EAF4EE"/>
            </a:solidFill>
            <a:prstDash val="solid"/>
          </a:ln>
        </p:spPr>
      </p:sp>
      <p:sp>
        <p:nvSpPr>
          <p:cNvPr id="27" name="takeaway"/>
          <p:cNvSpPr txBox="1"/>
          <p:nvPr/>
        </p:nvSpPr>
        <p:spPr>
          <a:xfrm>
            <a:off x="566928" y="5669280"/>
            <a:ext cx="11055096" cy="420624"/>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推論は企業データの近くで動くため、Oracle は DB・OCI・アプリと一緒に売れる。</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契約後の単価が下がりにくくなり、価値の芯を押し上げる</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2-6 成長の前提(1/2)</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398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398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成長の前提</a:t>
            </a:r>
            <a:endParaRPr lang="en-US" sz="1000" dirty="0"/>
          </a:p>
        </p:txBody>
      </p:sp>
      <p:sp>
        <p:nvSpPr>
          <p:cNvPr id="14" name="hdr_why"/>
          <p:cNvSpPr txBox="1"/>
          <p:nvPr/>
        </p:nvSpPr>
        <p:spPr>
          <a:xfrm>
            <a:off x="2001774" y="356616"/>
            <a:ext cx="9732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コンセンサスの売上が受注残と電力で裏付けられるか、FY30 以降は何で決まるかを確かめる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売上を 2 年で立ち上げると、会社の FY27・FY30 の売上と合う。</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建設の遅れは時期のずれで、効くのは FY29 FCF と格付けの判定</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売上の需給検証(億ドル、容量は AI の GW)。右: FY30 以降の容量の選択肢</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コンセンサス(説明会の前、research5/U2)、Investor Day 2026-10-28(CFO 資料 p.8)、需給エンジン第4.5版(calc/out/m10_*.json)</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20</a:t>
            </a:r>
            <a:endParaRPr lang="en-US" sz="800" dirty="0"/>
          </a:p>
        </p:txBody>
      </p:sp>
      <p:sp>
        <p:nvSpPr>
          <p:cNvPr id="19" name="pane_head"/>
          <p:cNvSpPr txBox="1"/>
          <p:nvPr/>
        </p:nvSpPr>
        <p:spPr>
          <a:xfrm>
            <a:off x="457200" y="1481328"/>
            <a:ext cx="640080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コンセンサスの需給検証</a:t>
            </a:r>
            <a:endParaRPr lang="en-US" sz="1200" dirty="0"/>
          </a:p>
        </p:txBody>
      </p:sp>
      <p:graphicFrame>
        <p:nvGraphicFramePr>
          <p:cNvPr id="21" name="tbl"/>
          <p:cNvGraphicFramePr>
            <a:graphicFrameLocks noGrp="1"/>
          </p:cNvGraphicFramePr>
          <p:nvPr>
            <p:extLst>
              <p:ext uri="{D42A27DB-BD31-4B8C-83A1-F6EECF244321}">
                <p14:modId xmlns:p14="http://schemas.microsoft.com/office/powerpoint/2010/main" val="1579011935"/>
              </p:ext>
            </p:extLst>
          </p:nvPr>
        </p:nvGraphicFramePr>
        <p:xfrm>
          <a:off x="457200" y="1828800"/>
          <a:ext cx="6400800" cy="914400"/>
        </p:xfrm>
        <a:graphic>
          <a:graphicData uri="http://schemas.openxmlformats.org/drawingml/2006/table">
            <a:tbl>
              <a:tblPr/>
              <a:tblGrid>
                <a:gridCol w="731520"/>
                <a:gridCol w="960120"/>
                <a:gridCol w="960120"/>
                <a:gridCol w="731520"/>
                <a:gridCol w="2103120"/>
                <a:gridCol w="914400"/>
              </a:tblGrid>
              <a:tr h="457200">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年度</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説明会前の</a:t>
                      </a:r>
                      <a:endParaRPr lang="en-US" sz="950" dirty="0">
                        <a:latin typeface="Meiryo UI" charset="0"/>
                        <a:ea typeface="Meiryo UI" charset="0"/>
                        <a:cs typeface="Meiryo UI" charset="0"/>
                      </a:endParaRPr>
                    </a:p>
                    <a:p>
                      <a:pPr algn="ctr" indent="0" marL="0">
                        <a:buNone/>
                      </a:pPr>
                      <a:r>
                        <a:rPr lang="en-US" sz="950" b="1" dirty="0">
                          <a:solidFill>
                            <a:srgbClr val="FFFFFF"/>
                          </a:solidFill>
                          <a:latin typeface="Meiryo UI" pitchFamily="34" charset="0"/>
                          <a:ea typeface="Meiryo UI" pitchFamily="34" charset="-122"/>
                          <a:cs typeface="Meiryo UI" pitchFamily="34" charset="-120"/>
                        </a:rPr>
                        <a:t>コンセンサス</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エンジン</a:t>
                      </a:r>
                      <a:endParaRPr lang="en-US" sz="950" dirty="0">
                        <a:latin typeface="Meiryo UI" charset="0"/>
                        <a:ea typeface="Meiryo UI" charset="0"/>
                        <a:cs typeface="Meiryo UI" charset="0"/>
                      </a:endParaRPr>
                    </a:p>
                    <a:p>
                      <a:pPr algn="ctr" indent="0" marL="0">
                        <a:buNone/>
                      </a:pPr>
                      <a:r>
                        <a:rPr lang="en-US" sz="950" b="1" dirty="0">
                          <a:solidFill>
                            <a:srgbClr val="FFFFFF"/>
                          </a:solidFill>
                          <a:latin typeface="Meiryo UI" pitchFamily="34" charset="0"/>
                          <a:ea typeface="Meiryo UI" pitchFamily="34" charset="-122"/>
                          <a:cs typeface="Meiryo UI" pitchFamily="34" charset="-120"/>
                        </a:rPr>
                        <a:t>売上</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AI 容量</a:t>
                      </a:r>
                      <a:endParaRPr lang="en-US" sz="950" dirty="0">
                        <a:latin typeface="Meiryo UI" charset="0"/>
                        <a:ea typeface="Meiryo UI" charset="0"/>
                        <a:cs typeface="Meiryo UI" charset="0"/>
                      </a:endParaRPr>
                    </a:p>
                    <a:p>
                      <a:pPr algn="ctr" indent="0" marL="0">
                        <a:buNone/>
                      </a:pPr>
                      <a:r>
                        <a:rPr lang="en-US" sz="950" b="1" dirty="0">
                          <a:solidFill>
                            <a:srgbClr val="FFFFFF"/>
                          </a:solidFill>
                          <a:latin typeface="Meiryo UI" pitchFamily="34" charset="0"/>
                          <a:ea typeface="Meiryo UI" pitchFamily="34" charset="-122"/>
                          <a:cs typeface="Meiryo UI" pitchFamily="34" charset="-120"/>
                        </a:rPr>
                        <a:t>(GW)</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根拠</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判定</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457200">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FY27</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904</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918</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4.7</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Q1 に 850MW 納入。</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会社 900 億以上</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97A56"/>
                          </a:solidFill>
                          <a:latin typeface="Meiryo UI" pitchFamily="34" charset="0"/>
                          <a:ea typeface="Meiryo UI" pitchFamily="34" charset="-122"/>
                          <a:cs typeface="Meiryo UI" pitchFamily="34" charset="-120"/>
                        </a:rPr>
                        <a:t>供給済み</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457200">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FY28</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1,318</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1,414</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8.2</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会社: FY27〜28 に 約 7GW を</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追加(capex のピーク)</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b="1" dirty="0">
                          <a:solidFill>
                            <a:srgbClr val="197A56"/>
                          </a:solidFill>
                          <a:latin typeface="Meiryo UI" pitchFamily="34" charset="0"/>
                          <a:ea typeface="Meiryo UI" pitchFamily="34" charset="-122"/>
                          <a:cs typeface="Meiryo UI" pitchFamily="34" charset="-120"/>
                        </a:rPr>
                        <a:t>会社の計画</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457200">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FY29</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1,838</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1,926</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9.5</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満稼働まで 2 年で立ち上げ</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(T+4Q〜T+8Q)</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97A56"/>
                          </a:solidFill>
                          <a:latin typeface="Meiryo UI" pitchFamily="34" charset="0"/>
                          <a:ea typeface="Meiryo UI" pitchFamily="34" charset="-122"/>
                          <a:cs typeface="Meiryo UI" pitchFamily="34" charset="-120"/>
                        </a:rPr>
                        <a:t>裏付けあり</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457200">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FY30</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2,242</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2,239</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10.5</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会社 2,250 億以上・</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総容量 約 10GW</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b="1" dirty="0">
                          <a:solidFill>
                            <a:srgbClr val="197A56"/>
                          </a:solidFill>
                          <a:latin typeface="Meiryo UI" pitchFamily="34" charset="0"/>
                          <a:ea typeface="Meiryo UI" pitchFamily="34" charset="-122"/>
                          <a:cs typeface="Meiryo UI" pitchFamily="34" charset="-120"/>
                        </a:rPr>
                        <a:t>会社と一致</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21" name="bullets"/>
          <p:cNvSpPr txBox="1"/>
          <p:nvPr/>
        </p:nvSpPr>
        <p:spPr>
          <a:xfrm>
            <a:off x="457200" y="4343400"/>
            <a:ext cx="6400800" cy="1737360"/>
          </a:xfrm>
          <a:prstGeom prst="rect">
            <a:avLst/>
          </a:prstGeom>
          <a:noFill/>
          <a:ln/>
        </p:spPr>
        <p:txBody>
          <a:bodyPr wrap="square" lIns="508" tIns="508" rIns="508" bIns="508" rtlCol="0" anchor="t"/>
          <a:lstStyle/>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売上は 2 年で立ち上げる(1 年目 50%・2 年目 85%)と、</a:t>
            </a:r>
            <a:br/>
            <a:r>
              <a:rPr lang="en-US" sz="1000" dirty="0">
                <a:solidFill>
                  <a:srgbClr val="333333"/>
                </a:solidFill>
                <a:latin typeface="Meiryo UI" pitchFamily="34" charset="0"/>
                <a:ea typeface="Meiryo UI" pitchFamily="34" charset="-122"/>
                <a:cs typeface="Meiryo UI" pitchFamily="34" charset="-120"/>
              </a:rPr>
              <a:t>会社の FY27 900 億・FY30 2,250 億と合う。</a:t>
            </a:r>
            <a:br/>
            <a:r>
              <a:rPr lang="en-US" sz="1000" dirty="0">
                <a:solidFill>
                  <a:srgbClr val="333333"/>
                </a:solidFill>
                <a:latin typeface="Meiryo UI" pitchFamily="34" charset="0"/>
                <a:ea typeface="Meiryo UI" pitchFamily="34" charset="-122"/>
                <a:cs typeface="Meiryo UI" pitchFamily="34" charset="-120"/>
              </a:rPr>
              <a:t>第4.4版は立ち上げが速すぎ、FY28 +59%・FY30 +6% といびつだった(価値への効き −0.8 ドル)</a:t>
            </a:r>
            <a:endParaRPr lang="en-US" sz="1000" dirty="0"/>
          </a:p>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EPS(非GAAP)はエンジンが FY28 11.55・FY30 19.59 で、会社の FY30 21 より 7% 低い。</a:t>
            </a:r>
            <a:br/>
            <a:r>
              <a:rPr lang="en-US" sz="1000" dirty="0">
                <a:solidFill>
                  <a:srgbClr val="333333"/>
                </a:solidFill>
                <a:latin typeface="Meiryo UI" pitchFamily="34" charset="0"/>
                <a:ea typeface="Meiryo UI" pitchFamily="34" charset="-122"/>
                <a:cs typeface="Meiryo UI" pitchFamily="34" charset="-120"/>
              </a:rPr>
              <a:t>理論株価は会社の EPS を使い、エンジンの EPS は感応度(−11.0 ドル)に示した</a:t>
            </a:r>
            <a:endParaRPr lang="en-US" sz="1000" dirty="0"/>
          </a:p>
        </p:txBody>
      </p:sp>
      <p:sp>
        <p:nvSpPr>
          <p:cNvPr id="22" name="pane_head"/>
          <p:cNvSpPr txBox="1"/>
          <p:nvPr/>
        </p:nvSpPr>
        <p:spPr>
          <a:xfrm>
            <a:off x="7132320" y="1481328"/>
            <a:ext cx="4599432"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FY30 以降の容量の選択肢</a:t>
            </a:r>
            <a:endParaRPr lang="en-US" sz="1200" dirty="0"/>
          </a:p>
        </p:txBody>
      </p:sp>
      <p:graphicFrame>
        <p:nvGraphicFramePr>
          <p:cNvPr id="41" name="tbl"/>
          <p:cNvGraphicFramePr>
            <a:graphicFrameLocks noGrp="1"/>
          </p:cNvGraphicFramePr>
          <p:nvPr>
            <p:extLst>
              <p:ext uri="{D42A27DB-BD31-4B8C-83A1-F6EECF244321}">
                <p14:modId xmlns:p14="http://schemas.microsoft.com/office/powerpoint/2010/main" val="1579011935"/>
              </p:ext>
            </p:extLst>
          </p:nvPr>
        </p:nvGraphicFramePr>
        <p:xfrm>
          <a:off x="7132320" y="1828800"/>
          <a:ext cx="4599432" cy="914400"/>
        </p:xfrm>
        <a:graphic>
          <a:graphicData uri="http://schemas.openxmlformats.org/drawingml/2006/table">
            <a:tbl>
              <a:tblPr/>
              <a:tblGrid>
                <a:gridCol w="1243584"/>
                <a:gridCol w="1225296"/>
                <a:gridCol w="1124712"/>
                <a:gridCol w="1005840"/>
              </a:tblGrid>
              <a:tr h="384048">
                <a:tc>
                  <a:txBody>
                    <a:bodyPr/>
                    <a:lstStyle/>
                    <a:p>
                      <a:pPr algn="l" indent="0" marL="0">
                        <a:buNone/>
                      </a:pPr>
                      <a:r>
                        <a:rPr lang="en-US" sz="1000" b="1" dirty="0">
                          <a:solidFill>
                            <a:srgbClr val="FFFFFF"/>
                          </a:solidFill>
                          <a:latin typeface="Meiryo UI" pitchFamily="34" charset="0"/>
                          <a:ea typeface="Meiryo UI" pitchFamily="34" charset="-122"/>
                          <a:cs typeface="Meiryo UI" pitchFamily="34" charset="-120"/>
                        </a:rPr>
                        <a:t>項目</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ベース</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年 3.5GW</a:t>
                      </a:r>
                      <a:endParaRPr lang="en-US" sz="1000" dirty="0">
                        <a:latin typeface="Meiryo UI" charset="0"/>
                        <a:ea typeface="Meiryo UI" charset="0"/>
                        <a:cs typeface="Meiryo UI" charset="0"/>
                      </a:endParaRPr>
                    </a:p>
                    <a:p>
                      <a:pPr algn="ctr" indent="0" marL="0">
                        <a:buNone/>
                      </a:pPr>
                      <a:r>
                        <a:rPr lang="en-US" sz="1000" b="1" dirty="0">
                          <a:solidFill>
                            <a:srgbClr val="FFFFFF"/>
                          </a:solidFill>
                          <a:latin typeface="Meiryo UI" pitchFamily="34" charset="0"/>
                          <a:ea typeface="Meiryo UI" pitchFamily="34" charset="-122"/>
                          <a:cs typeface="Meiryo UI" pitchFamily="34" charset="-120"/>
                        </a:rPr>
                        <a:t>追加</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建設が</a:t>
                      </a:r>
                      <a:endParaRPr lang="en-US" sz="1000" dirty="0">
                        <a:latin typeface="Meiryo UI" charset="0"/>
                        <a:ea typeface="Meiryo UI" charset="0"/>
                        <a:cs typeface="Meiryo UI" charset="0"/>
                      </a:endParaRPr>
                    </a:p>
                    <a:p>
                      <a:pPr algn="ctr" indent="0" marL="0">
                        <a:buNone/>
                      </a:pPr>
                      <a:r>
                        <a:rPr lang="en-US" sz="1000" b="1" dirty="0">
                          <a:solidFill>
                            <a:srgbClr val="FFFFFF"/>
                          </a:solidFill>
                          <a:latin typeface="Meiryo UI" pitchFamily="34" charset="0"/>
                          <a:ea typeface="Meiryo UI" pitchFamily="34" charset="-122"/>
                          <a:cs typeface="Meiryo UI" pitchFamily="34" charset="-120"/>
                        </a:rPr>
                        <a:t>1 年遅れる</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84048">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容量 FY30/31/32(GW)</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10.5 / 12.5 / 14.5</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12.5 / 16 / 19.5</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FY28 の 3.5GW</a:t>
                      </a:r>
                      <a:endParaRPr lang="en-US" sz="1000" dirty="0">
                        <a:latin typeface="Meiryo UI" charset="0"/>
                        <a:ea typeface="Meiryo UI" charset="0"/>
                        <a:cs typeface="Meiryo UI" charset="0"/>
                      </a:endParaRPr>
                    </a:p>
                    <a:p>
                      <a:pPr algn="ctr" indent="0" marL="0">
                        <a:buNone/>
                      </a:pPr>
                      <a:r>
                        <a:rPr lang="en-US" sz="1000" dirty="0">
                          <a:solidFill>
                            <a:srgbClr val="333333"/>
                          </a:solidFill>
                          <a:latin typeface="Meiryo UI" pitchFamily="34" charset="0"/>
                          <a:ea typeface="Meiryo UI" pitchFamily="34" charset="-122"/>
                          <a:cs typeface="Meiryo UI" pitchFamily="34" charset="-120"/>
                        </a:rPr>
                        <a:t>が FY29 へ</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84048">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FY29 FCF(億ドル)</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+399</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+200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−290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84048">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格付け(機械判定)</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BBB- を維持</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BBB- を維持</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FY29 に BB+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84048">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理論株価</a:t>
                      </a:r>
                      <a:endParaRPr lang="en-US" sz="1000" dirty="0">
                        <a:latin typeface="Meiryo UI" charset="0"/>
                        <a:ea typeface="Meiryo UI" charset="0"/>
                        <a:cs typeface="Meiryo UI" charset="0"/>
                      </a:endParaRPr>
                    </a:p>
                    <a:p>
                      <a:pPr algn="l" indent="0" marL="0">
                        <a:buNone/>
                      </a:pPr>
                      <a:r>
                        <a:rPr lang="en-US" sz="1000" dirty="0">
                          <a:solidFill>
                            <a:srgbClr val="333333"/>
                          </a:solidFill>
                          <a:latin typeface="Meiryo UI" pitchFamily="34" charset="0"/>
                          <a:ea typeface="Meiryo UI" pitchFamily="34" charset="-122"/>
                          <a:cs typeface="Meiryo UI" pitchFamily="34" charset="-120"/>
                        </a:rPr>
                        <a:t>加重 / DCF</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245 / 229</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275 / 259</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244 / 221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24" name="ovl_takeaway_bg"/>
          <p:cNvSpPr/>
          <p:nvPr/>
        </p:nvSpPr>
        <p:spPr>
          <a:xfrm>
            <a:off x="7132320" y="4343400"/>
            <a:ext cx="4599432" cy="914400"/>
          </a:xfrm>
          <a:prstGeom prst="rect">
            <a:avLst/>
          </a:prstGeom>
          <a:solidFill>
            <a:srgbClr val="EAF4EE"/>
          </a:solidFill>
          <a:ln w="12700">
            <a:solidFill>
              <a:srgbClr val="EAF4EE"/>
            </a:solidFill>
            <a:prstDash val="solid"/>
          </a:ln>
        </p:spPr>
      </p:sp>
      <p:sp>
        <p:nvSpPr>
          <p:cNvPr id="25" name="takeaway"/>
          <p:cNvSpPr txBox="1"/>
          <p:nvPr/>
        </p:nvSpPr>
        <p:spPr>
          <a:xfrm>
            <a:off x="7242048" y="4416552"/>
            <a:ext cx="4379976" cy="76809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建設の遅れは時期のずれで価値への効きは小さい。</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効くのは FY29 FCF の約束と格付けの判定</a:t>
            </a:r>
            <a:endParaRPr lang="en-US" sz="1100" dirty="0"/>
          </a:p>
        </p:txBody>
      </p:sp>
      <p:sp>
        <p:nvSpPr>
          <p:cNvPr id="26" name="Text 22"/>
          <p:cNvSpPr txBox="1"/>
          <p:nvPr/>
        </p:nvSpPr>
        <p:spPr>
          <a:xfrm>
            <a:off x="7132320" y="5349240"/>
            <a:ext cx="4599432" cy="731520"/>
          </a:xfrm>
          <a:prstGeom prst="rect">
            <a:avLst/>
          </a:prstGeom>
          <a:noFill/>
          <a:ln/>
        </p:spPr>
        <p:txBody>
          <a:bodyPr wrap="square" lIns="508" tIns="508" rIns="508" bIns="508" rtlCol="0" anchor="t"/>
          <a:lstStyle/>
          <a:p>
            <a:pPr indent="0" marL="0">
              <a:buNone/>
            </a:pPr>
            <a:r>
              <a:rPr lang="en-US" sz="950" dirty="0">
                <a:solidFill>
                  <a:srgbClr val="333333"/>
                </a:solidFill>
                <a:latin typeface="Meiryo UI" pitchFamily="34" charset="0"/>
                <a:ea typeface="Meiryo UI" pitchFamily="34" charset="-122"/>
                <a:cs typeface="Meiryo UI" pitchFamily="34" charset="-120"/>
              </a:rPr>
              <a:t>強気に寄せる条件: FY31 以降の電力・拠点の開示と、</a:t>
            </a:r>
            <a:endParaRPr lang="en-US" sz="950" dirty="0"/>
          </a:p>
          <a:p>
            <a:pPr indent="0" marL="0">
              <a:buNone/>
            </a:pPr>
            <a:r>
              <a:rPr lang="en-US" sz="950" dirty="0">
                <a:solidFill>
                  <a:srgbClr val="333333"/>
                </a:solidFill>
                <a:latin typeface="Meiryo UI" pitchFamily="34" charset="0"/>
                <a:ea typeface="Meiryo UI" pitchFamily="34" charset="-122"/>
                <a:cs typeface="Meiryo UI" pitchFamily="34" charset="-120"/>
              </a:rPr>
              <a:t>BYOH・前払いで Oracle の capex が減ること</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2-6 成長の前提(2/2)</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398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398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成長の前提</a:t>
            </a:r>
            <a:endParaRPr lang="en-US" sz="1000" dirty="0"/>
          </a:p>
        </p:txBody>
      </p:sp>
      <p:sp>
        <p:nvSpPr>
          <p:cNvPr id="14" name="hdr_why"/>
          <p:cNvSpPr txBox="1"/>
          <p:nvPr/>
        </p:nvSpPr>
        <p:spPr>
          <a:xfrm>
            <a:off x="2001774" y="356616"/>
            <a:ext cx="9732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上積みの 2 事業(SaaS・Database@)をどう前提に置いたかと、その根拠を示す</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SaaS は旧 ERP 顧客の移行で 10% → 14% に加速すると見て、</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Database@ は FY30 に 46 億ドル・1 株 5 ドルの純増と置く</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SaaS の先行指標・製品特性・反証と前提。右: Database@ の伸び(前年同期比)と前提</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research4/T3_saas_products.md、research2/R4_database_at.md、research3/W6_database_at.md、需給エンジン第4.4版(calc/model9.py)</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21</a:t>
            </a:r>
            <a:endParaRPr lang="en-US" sz="800" dirty="0"/>
          </a:p>
        </p:txBody>
      </p:sp>
      <p:sp>
        <p:nvSpPr>
          <p:cNvPr id="19" name="pane_head"/>
          <p:cNvSpPr txBox="1"/>
          <p:nvPr/>
        </p:nvSpPr>
        <p:spPr>
          <a:xfrm>
            <a:off x="457200" y="1481328"/>
            <a:ext cx="5532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SaaS: 製品の特性から加速を読む</a:t>
            </a:r>
            <a:endParaRPr lang="en-US" sz="1200" dirty="0"/>
          </a:p>
        </p:txBody>
      </p:sp>
      <p:graphicFrame>
        <p:nvGraphicFramePr>
          <p:cNvPr id="22" name="tbl"/>
          <p:cNvGraphicFramePr>
            <a:graphicFrameLocks noGrp="1"/>
          </p:cNvGraphicFramePr>
          <p:nvPr>
            <p:extLst>
              <p:ext uri="{D42A27DB-BD31-4B8C-83A1-F6EECF244321}">
                <p14:modId xmlns:p14="http://schemas.microsoft.com/office/powerpoint/2010/main" val="1579011935"/>
              </p:ext>
            </p:extLst>
          </p:nvPr>
        </p:nvGraphicFramePr>
        <p:xfrm>
          <a:off x="457200" y="1828800"/>
          <a:ext cx="5532120" cy="914400"/>
        </p:xfrm>
        <a:graphic>
          <a:graphicData uri="http://schemas.openxmlformats.org/drawingml/2006/table">
            <a:tbl>
              <a:tblPr/>
              <a:tblGrid>
                <a:gridCol w="1325880"/>
                <a:gridCol w="4206240"/>
              </a:tblGrid>
              <a:tr h="402336">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観点</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事実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402336">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実績</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SaaS +10%(Q1 FY27)。直近 5 四半期は</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10〜13% で、まだ加速していない</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402336">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先行指標</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繰延収益 +16% が売上 +10% を上回る(Q4 FY26、要約 1 件)</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402336">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移行の余地</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旧来 ERP の顧客 8,500 社のうち Fusion へ移行済みは約 1,000 社(CEO 発言、時点不明)</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402336">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需要</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エージェント型 AI のソフト支出は 2030 年に 9,850 億ドル(Gartner)</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402336">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同業</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SAP クラウド +22%、ServiceNow 購読 +24.5%、Salesforce +11%</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402336">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反証</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エージェントは追加料金なし。AI で席数が減る懸念(2026-02 に</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ソフト株が急落)</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21" name="ovl_takeaway_bg"/>
          <p:cNvSpPr/>
          <p:nvPr/>
        </p:nvSpPr>
        <p:spPr>
          <a:xfrm>
            <a:off x="457200" y="4754880"/>
            <a:ext cx="5532120" cy="1371600"/>
          </a:xfrm>
          <a:prstGeom prst="rect">
            <a:avLst/>
          </a:prstGeom>
          <a:solidFill>
            <a:srgbClr val="EAF4EE"/>
          </a:solidFill>
          <a:ln w="12700">
            <a:solidFill>
              <a:srgbClr val="EAF4EE"/>
            </a:solidFill>
            <a:prstDash val="solid"/>
          </a:ln>
        </p:spPr>
      </p:sp>
      <p:sp>
        <p:nvSpPr>
          <p:cNvPr id="22" name="takeaway"/>
          <p:cNvSpPr txBox="1"/>
          <p:nvPr/>
        </p:nvSpPr>
        <p:spPr>
          <a:xfrm>
            <a:off x="566928" y="4828032"/>
            <a:ext cx="5312664" cy="122529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前提: FY27 10% → FY31 14% → FY36 に 8%。ERP は取引データと</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実行権限を持つため、エージェントの普及は移行を後押しする。</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反証は弱気シナリオで −2pt として数える</a:t>
            </a:r>
            <a:endParaRPr lang="en-US" sz="1100" dirty="0"/>
          </a:p>
        </p:txBody>
      </p:sp>
      <p:sp>
        <p:nvSpPr>
          <p:cNvPr id="23" name="pane_head"/>
          <p:cNvSpPr txBox="1"/>
          <p:nvPr/>
        </p:nvSpPr>
        <p:spPr>
          <a:xfrm>
            <a:off x="6199632" y="1481328"/>
            <a:ext cx="5532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Database@: 3 桁成長は続くが減速している</a:t>
            </a:r>
            <a:endParaRPr lang="en-US" sz="1200" dirty="0"/>
          </a:p>
        </p:txBody>
      </p:sp>
      <p:graphicFrame>
        <p:nvGraphicFramePr>
          <p:cNvPr id="24" name="chart" descr=""/>
          <p:cNvGraphicFramePr/>
          <p:nvPr/>
        </p:nvGraphicFramePr>
        <p:xfrm>
          <a:off x="6199632" y="1828800"/>
          <a:ext cx="5532120" cy="2377440"/>
        </p:xfrm>
        <a:graphic xmlns:a="http://schemas.openxmlformats.org/drawingml/2006/main">
          <a:graphicData uri="http://schemas.openxmlformats.org/drawingml/2006/chart">
            <c:chart xmlns:c="http://schemas.openxmlformats.org/drawingml/2006/chart" r:id="rId1"/>
          </a:graphicData>
        </a:graphic>
      </p:graphicFrame>
      <p:sp>
        <p:nvSpPr>
          <p:cNvPr id="25" name="bullets"/>
          <p:cNvSpPr txBox="1"/>
          <p:nvPr/>
        </p:nvSpPr>
        <p:spPr>
          <a:xfrm>
            <a:off x="6199632" y="4343400"/>
            <a:ext cx="5532120" cy="1783080"/>
          </a:xfrm>
          <a:prstGeom prst="rect">
            <a:avLst/>
          </a:prstGeom>
          <a:noFill/>
          <a:ln/>
        </p:spPr>
        <p:txBody>
          <a:bodyPr wrap="square" lIns="508" tIns="508" rIns="508" bIns="508" rtlCol="0" anchor="t"/>
          <a:lstStyle/>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70 リージョン・119 AZ(Azure 33・Google 14・AWS 22)、顧客数 +180%</a:t>
            </a:r>
            <a:endParaRPr lang="en-US" sz="1000" dirty="0"/>
          </a:p>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前提: FY30 に 46 億ドル。移行した保守売上(70%)÷ 移行倍率 2.5 を</a:t>
            </a:r>
            <a:br/>
            <a:r>
              <a:rPr lang="en-US" sz="1000" dirty="0">
                <a:solidFill>
                  <a:srgbClr val="333333"/>
                </a:solidFill>
                <a:latin typeface="Meiryo UI" pitchFamily="34" charset="0"/>
                <a:ea typeface="Meiryo UI" pitchFamily="34" charset="-122"/>
                <a:cs typeface="Meiryo UI" pitchFamily="34" charset="-120"/>
              </a:rPr>
              <a:t>保守から差し引いても 1 株 5.4 ドルの純増</a:t>
            </a:r>
            <a:endParaRPr lang="en-US" sz="1000" dirty="0"/>
          </a:p>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会社の FY30 目標(クラウド DB 全体 200 億ドル)より保守的。</a:t>
            </a:r>
            <a:br/>
            <a:r>
              <a:rPr lang="en-US" sz="1000" dirty="0">
                <a:solidFill>
                  <a:srgbClr val="333333"/>
                </a:solidFill>
                <a:latin typeface="Meiryo UI" pitchFamily="34" charset="0"/>
                <a:ea typeface="Meiryo UI" pitchFamily="34" charset="-122"/>
                <a:cs typeface="Meiryo UI" pitchFamily="34" charset="-120"/>
              </a:rPr>
              <a:t>伸びは毎期 5pt ずつ減速させた</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2-7 資金と信用(1/2)</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398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398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資金と信用</a:t>
            </a:r>
            <a:endParaRPr lang="en-US" sz="1000" dirty="0"/>
          </a:p>
        </p:txBody>
      </p:sp>
      <p:sp>
        <p:nvSpPr>
          <p:cNvPr id="14" name="hdr_why"/>
          <p:cNvSpPr txBox="1"/>
          <p:nvPr/>
        </p:nvSpPr>
        <p:spPr>
          <a:xfrm>
            <a:off x="2001774" y="356616"/>
            <a:ext cx="9732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建設資金が尽きないか、格付けと金利が理論株価をどこまで動かすかを確かめる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格付けはエンジンでも BBB- を保ち、FY29 に FCF 399 億ドル。CDS・社債は</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市場の評価で、調達コストには新発債の利回りで効く</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FCF と格付けの経路(需給エンジン、ベース)。右: 金利の経路と理論株価(株主資本コストも同じ前提で変える)</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需給エンジン第4.5版(calc/out/m10_*.json)、research2/R5_credit.md、research3/W4_rates.md</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22</a:t>
            </a:r>
            <a:endParaRPr lang="en-US" sz="800" dirty="0"/>
          </a:p>
        </p:txBody>
      </p:sp>
      <p:sp>
        <p:nvSpPr>
          <p:cNvPr id="19" name="pane_head"/>
          <p:cNvSpPr txBox="1"/>
          <p:nvPr/>
        </p:nvSpPr>
        <p:spPr>
          <a:xfrm>
            <a:off x="457200" y="1481328"/>
            <a:ext cx="57607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FCF(10 億ドル)と格付け</a:t>
            </a:r>
            <a:endParaRPr lang="en-US" sz="1200" dirty="0"/>
          </a:p>
        </p:txBody>
      </p:sp>
      <p:graphicFrame>
        <p:nvGraphicFramePr>
          <p:cNvPr id="20" name="chart" descr=""/>
          <p:cNvGraphicFramePr/>
          <p:nvPr/>
        </p:nvGraphicFramePr>
        <p:xfrm>
          <a:off x="457200" y="1783080"/>
          <a:ext cx="5760720" cy="2834640"/>
        </p:xfrm>
        <a:graphic xmlns:a="http://schemas.openxmlformats.org/drawingml/2006/main">
          <a:graphicData uri="http://schemas.openxmlformats.org/drawingml/2006/chart">
            <c:chart xmlns:c="http://schemas.openxmlformats.org/drawingml/2006/chart" r:id="rId1"/>
          </a:graphicData>
        </a:graphic>
      </p:graphicFrame>
      <p:graphicFrame>
        <p:nvGraphicFramePr>
          <p:cNvPr id="23" name="tbl"/>
          <p:cNvGraphicFramePr>
            <a:graphicFrameLocks noGrp="1"/>
          </p:cNvGraphicFramePr>
          <p:nvPr>
            <p:extLst>
              <p:ext uri="{D42A27DB-BD31-4B8C-83A1-F6EECF244321}">
                <p14:modId xmlns:p14="http://schemas.microsoft.com/office/powerpoint/2010/main" val="1579011935"/>
              </p:ext>
            </p:extLst>
          </p:nvPr>
        </p:nvGraphicFramePr>
        <p:xfrm>
          <a:off x="457200" y="4663440"/>
          <a:ext cx="5760720" cy="914400"/>
        </p:xfrm>
        <a:graphic>
          <a:graphicData uri="http://schemas.openxmlformats.org/drawingml/2006/table">
            <a:tbl>
              <a:tblPr/>
              <a:tblGrid>
                <a:gridCol w="960120"/>
                <a:gridCol w="960120"/>
                <a:gridCol w="960120"/>
                <a:gridCol w="960120"/>
                <a:gridCol w="960120"/>
                <a:gridCol w="960120"/>
              </a:tblGrid>
              <a:tr h="310896">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FY27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FY28</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FY29</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FY30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FY31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FY32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BBB-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BBB-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BBB-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BBB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BBB+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BBB+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2" name="Text 18"/>
          <p:cNvSpPr txBox="1"/>
          <p:nvPr/>
        </p:nvSpPr>
        <p:spPr>
          <a:xfrm>
            <a:off x="457200" y="5349240"/>
            <a:ext cx="5760720" cy="731520"/>
          </a:xfrm>
          <a:prstGeom prst="rect">
            <a:avLst/>
          </a:prstGeom>
          <a:noFill/>
          <a:ln/>
        </p:spPr>
        <p:txBody>
          <a:bodyPr wrap="square" lIns="508" tIns="508" rIns="508" bIns="508" rtlCol="0" anchor="t"/>
          <a:lstStyle/>
          <a:p>
            <a:pPr indent="0" marL="0">
              <a:buNone/>
            </a:pPr>
            <a:r>
              <a:rPr lang="en-US" sz="950" dirty="0">
                <a:solidFill>
                  <a:srgbClr val="333333"/>
                </a:solidFill>
                <a:latin typeface="Meiryo UI" pitchFamily="34" charset="0"/>
                <a:ea typeface="Meiryo UI" pitchFamily="34" charset="-122"/>
                <a:cs typeface="Meiryo UI" pitchFamily="34" charset="-120"/>
              </a:rPr>
              <a:t>S&amp;P の格下げ条件: 調整後レバレッジ 4.5 倍超が続く、FY29 までに FOCF が黒字化しない、</a:t>
            </a:r>
            <a:endParaRPr lang="en-US" sz="950" dirty="0"/>
          </a:p>
          <a:p>
            <a:pPr indent="0" marL="0">
              <a:buNone/>
            </a:pPr>
            <a:r>
              <a:rPr lang="en-US" sz="950" dirty="0">
                <a:solidFill>
                  <a:srgbClr val="333333"/>
                </a:solidFill>
                <a:latin typeface="Meiryo UI" pitchFamily="34" charset="0"/>
                <a:ea typeface="Meiryo UI" pitchFamily="34" charset="-122"/>
                <a:cs typeface="Meiryo UI" pitchFamily="34" charset="-120"/>
              </a:rPr>
              <a:t>AI 戦略への否定的な見方。会社は FY28 下期の黒字化と FY29 の FCF 300 億ドル以上を約束。</a:t>
            </a:r>
            <a:endParaRPr lang="en-US" sz="950" dirty="0"/>
          </a:p>
          <a:p>
            <a:pPr indent="0" marL="0">
              <a:buNone/>
            </a:pPr>
            <a:r>
              <a:rPr lang="en-US" sz="950" dirty="0">
                <a:solidFill>
                  <a:srgbClr val="333333"/>
                </a:solidFill>
                <a:latin typeface="Meiryo UI" pitchFamily="34" charset="0"/>
                <a:ea typeface="Meiryo UI" pitchFamily="34" charset="-122"/>
                <a:cs typeface="Meiryo UI" pitchFamily="34" charset="-120"/>
              </a:rPr>
              <a:t>エンジンは FY29 に 399 億ドル</a:t>
            </a:r>
            <a:endParaRPr lang="en-US" sz="950" dirty="0"/>
          </a:p>
        </p:txBody>
      </p:sp>
      <p:sp>
        <p:nvSpPr>
          <p:cNvPr id="23" name="pane_head"/>
          <p:cNvSpPr txBox="1"/>
          <p:nvPr/>
        </p:nvSpPr>
        <p:spPr>
          <a:xfrm>
            <a:off x="6446520" y="1481328"/>
            <a:ext cx="5285232"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金利の経路と理論株価</a:t>
            </a:r>
            <a:endParaRPr lang="en-US" sz="1200" dirty="0"/>
          </a:p>
        </p:txBody>
      </p:sp>
      <p:graphicFrame>
        <p:nvGraphicFramePr>
          <p:cNvPr id="45" name="tbl"/>
          <p:cNvGraphicFramePr>
            <a:graphicFrameLocks noGrp="1"/>
          </p:cNvGraphicFramePr>
          <p:nvPr>
            <p:extLst>
              <p:ext uri="{D42A27DB-BD31-4B8C-83A1-F6EECF244321}">
                <p14:modId xmlns:p14="http://schemas.microsoft.com/office/powerpoint/2010/main" val="1579011935"/>
              </p:ext>
            </p:extLst>
          </p:nvPr>
        </p:nvGraphicFramePr>
        <p:xfrm>
          <a:off x="6446520" y="1828800"/>
          <a:ext cx="5285232" cy="914400"/>
        </p:xfrm>
        <a:graphic>
          <a:graphicData uri="http://schemas.openxmlformats.org/drawingml/2006/table">
            <a:tbl>
              <a:tblPr/>
              <a:tblGrid>
                <a:gridCol w="2176272"/>
                <a:gridCol w="1005840"/>
                <a:gridCol w="1051560"/>
                <a:gridCol w="1051560"/>
              </a:tblGrid>
              <a:tr h="411480">
                <a:tc>
                  <a:txBody>
                    <a:bodyPr/>
                    <a:lstStyle/>
                    <a:p>
                      <a:pPr algn="l" indent="0" marL="0">
                        <a:buNone/>
                      </a:pPr>
                      <a:r>
                        <a:rPr lang="en-US" sz="1000" b="1" dirty="0">
                          <a:solidFill>
                            <a:srgbClr val="FFFFFF"/>
                          </a:solidFill>
                          <a:latin typeface="Meiryo UI" pitchFamily="34" charset="0"/>
                          <a:ea typeface="Meiryo UI" pitchFamily="34" charset="-122"/>
                          <a:cs typeface="Meiryo UI" pitchFamily="34" charset="-120"/>
                        </a:rPr>
                        <a:t>金利の経路</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株主資本</a:t>
                      </a:r>
                      <a:endParaRPr lang="en-US" sz="1000" dirty="0">
                        <a:latin typeface="Meiryo UI" charset="0"/>
                        <a:ea typeface="Meiryo UI" charset="0"/>
                        <a:cs typeface="Meiryo UI" charset="0"/>
                      </a:endParaRPr>
                    </a:p>
                    <a:p>
                      <a:pPr algn="ctr" indent="0" marL="0">
                        <a:buNone/>
                      </a:pPr>
                      <a:r>
                        <a:rPr lang="en-US" sz="1000" b="1" dirty="0">
                          <a:solidFill>
                            <a:srgbClr val="FFFFFF"/>
                          </a:solidFill>
                          <a:latin typeface="Meiryo UI" pitchFamily="34" charset="0"/>
                          <a:ea typeface="Meiryo UI" pitchFamily="34" charset="-122"/>
                          <a:cs typeface="Meiryo UI" pitchFamily="34" charset="-120"/>
                        </a:rPr>
                        <a:t>コスト</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理論株価</a:t>
                      </a:r>
                      <a:endParaRPr lang="en-US" sz="1000" dirty="0">
                        <a:latin typeface="Meiryo UI" charset="0"/>
                        <a:ea typeface="Meiryo UI" charset="0"/>
                        <a:cs typeface="Meiryo UI" charset="0"/>
                      </a:endParaRPr>
                    </a:p>
                    <a:p>
                      <a:pPr algn="ctr" indent="0" marL="0">
                        <a:buNone/>
                      </a:pPr>
                      <a:r>
                        <a:rPr lang="en-US" sz="1000" b="1" dirty="0">
                          <a:solidFill>
                            <a:srgbClr val="FFFFFF"/>
                          </a:solidFill>
                          <a:latin typeface="Meiryo UI" pitchFamily="34" charset="0"/>
                          <a:ea typeface="Meiryo UI" pitchFamily="34" charset="-122"/>
                          <a:cs typeface="Meiryo UI" pitchFamily="34" charset="-120"/>
                        </a:rPr>
                        <a:t>(加重)</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DCF(加重)</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411480">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市場の曲線(ベース)</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10.63%</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245</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229</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411480">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予測どおり低下</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10.47%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257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264</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411480">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6.0% で高止まり</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11.61%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235</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204</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5" name="bullets"/>
          <p:cNvSpPr txBox="1"/>
          <p:nvPr/>
        </p:nvSpPr>
        <p:spPr>
          <a:xfrm>
            <a:off x="6446520" y="3611880"/>
            <a:ext cx="5285232" cy="1463040"/>
          </a:xfrm>
          <a:prstGeom prst="rect">
            <a:avLst/>
          </a:prstGeom>
          <a:noFill/>
          <a:ln/>
        </p:spPr>
        <p:txBody>
          <a:bodyPr wrap="square" lIns="508" tIns="508" rIns="508" bIns="508" rtlCol="0" anchor="t"/>
          <a:lstStyle/>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ベースは市場の利回り曲線で割り引く</a:t>
            </a:r>
            <a:br/>
            <a:r>
              <a:rPr lang="en-US" sz="1000" dirty="0">
                <a:solidFill>
                  <a:srgbClr val="333333"/>
                </a:solidFill>
                <a:latin typeface="Meiryo UI" pitchFamily="34" charset="0"/>
                <a:ea typeface="Meiryo UI" pitchFamily="34" charset="-122"/>
                <a:cs typeface="Meiryo UI" pitchFamily="34" charset="-120"/>
              </a:rPr>
              <a:t>(2 年金利が FF 金利を上回り、市場は利上げも織り込む)</a:t>
            </a:r>
            <a:endParaRPr lang="en-US" sz="1000" dirty="0"/>
          </a:p>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利下げの見通しはシナリオとして示す。DCF は金利に敏感だが、</a:t>
            </a:r>
            <a:br/>
            <a:r>
              <a:rPr lang="en-US" sz="1000" dirty="0">
                <a:solidFill>
                  <a:srgbClr val="333333"/>
                </a:solidFill>
                <a:latin typeface="Meiryo UI" pitchFamily="34" charset="0"/>
                <a:ea typeface="Meiryo UI" pitchFamily="34" charset="-122"/>
                <a:cs typeface="Meiryo UI" pitchFamily="34" charset="-120"/>
              </a:rPr>
              <a:t>年度別理論株価は近い年度が重いので動きが小さい</a:t>
            </a:r>
            <a:endParaRPr lang="en-US" sz="1000" dirty="0"/>
          </a:p>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CDS・社債のスプレッドは市場の評価で、本当のリスクは別に判断する。</a:t>
            </a:r>
            <a:br/>
            <a:r>
              <a:rPr lang="en-US" sz="1000" dirty="0">
                <a:solidFill>
                  <a:srgbClr val="333333"/>
                </a:solidFill>
                <a:latin typeface="Meiryo UI" pitchFamily="34" charset="0"/>
                <a:ea typeface="Meiryo UI" pitchFamily="34" charset="-122"/>
                <a:cs typeface="Meiryo UI" pitchFamily="34" charset="-120"/>
              </a:rPr>
              <a:t>調達コストには新発債の利回りで効く(社債の金利 +1pt で FY30 EPS −0.44 ドル)</a:t>
            </a:r>
            <a:endParaRPr lang="en-US" sz="1000" dirty="0"/>
          </a:p>
        </p:txBody>
      </p:sp>
      <p:sp>
        <p:nvSpPr>
          <p:cNvPr id="26" name="ovl_takeaway_bg"/>
          <p:cNvSpPr/>
          <p:nvPr/>
        </p:nvSpPr>
        <p:spPr>
          <a:xfrm>
            <a:off x="6446520" y="5166360"/>
            <a:ext cx="5285232" cy="868680"/>
          </a:xfrm>
          <a:prstGeom prst="rect">
            <a:avLst/>
          </a:prstGeom>
          <a:solidFill>
            <a:srgbClr val="EAF4EE"/>
          </a:solidFill>
          <a:ln w="12700">
            <a:solidFill>
              <a:srgbClr val="EAF4EE"/>
            </a:solidFill>
            <a:prstDash val="solid"/>
          </a:ln>
        </p:spPr>
      </p:sp>
      <p:sp>
        <p:nvSpPr>
          <p:cNvPr id="27" name="takeaway"/>
          <p:cNvSpPr txBox="1"/>
          <p:nvPr/>
        </p:nvSpPr>
        <p:spPr>
          <a:xfrm>
            <a:off x="6556248" y="5239512"/>
            <a:ext cx="5065776" cy="72237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どの金利の経路でも、理論株価は株価 139.56 ドルを 68% 以上上回る</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2-7 資金と信用(2/2)</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398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398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資金と信用</a:t>
            </a:r>
            <a:endParaRPr lang="en-US" sz="1000" dirty="0"/>
          </a:p>
        </p:txBody>
      </p:sp>
      <p:sp>
        <p:nvSpPr>
          <p:cNvPr id="14" name="hdr_why"/>
          <p:cNvSpPr txBox="1"/>
          <p:nvPr/>
        </p:nvSpPr>
        <p:spPr>
          <a:xfrm>
            <a:off x="2001774" y="356616"/>
            <a:ext cx="9732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会社の資金の橋渡しが何で成り立ち、FCF がいつ、なぜ山と谷を作るかを確かめる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FY29 の FCF は利益率でなく容量の頭打ちから出る。ベンダー金融は</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借入の別名で、更新の山の時期は再契約の単価が決める</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約 6GW の建設資金(自己資金なら 2,200 億ドル)が何で減り、最後に 200 億ドルが残る道筋。右: FCF と capex の経路(ベース)と FY36〜37 の更新の山</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Investor Day 2026-10-28(CFO 資料 p.18・26・28)、需給エンジン第4.5版(calc/out/m10_all.json)</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23</a:t>
            </a:r>
            <a:endParaRPr lang="en-US" sz="800" dirty="0"/>
          </a:p>
        </p:txBody>
      </p:sp>
      <p:sp>
        <p:nvSpPr>
          <p:cNvPr id="19" name="pane_head"/>
          <p:cNvSpPr txBox="1"/>
          <p:nvPr/>
        </p:nvSpPr>
        <p:spPr>
          <a:xfrm>
            <a:off x="457200" y="1481328"/>
            <a:ext cx="539496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会社の資金の橋渡し(Q2 FY27〜Q4 FY28、億ドル)</a:t>
            </a:r>
            <a:endParaRPr lang="en-US" sz="1200" dirty="0"/>
          </a:p>
        </p:txBody>
      </p:sp>
      <p:graphicFrame>
        <p:nvGraphicFramePr>
          <p:cNvPr id="20" name="chart_bridge" descr=""/>
          <p:cNvGraphicFramePr/>
          <p:nvPr/>
        </p:nvGraphicFramePr>
        <p:xfrm>
          <a:off x="457200" y="1801368"/>
          <a:ext cx="5394960" cy="2880360"/>
        </p:xfrm>
        <a:graphic xmlns:a="http://schemas.openxmlformats.org/drawingml/2006/main">
          <a:graphicData uri="http://schemas.openxmlformats.org/drawingml/2006/chart">
            <c:chart xmlns:c="http://schemas.openxmlformats.org/drawingml/2006/chart" r:id="rId1"/>
          </a:graphicData>
        </a:graphic>
      </p:graphicFrame>
      <p:sp>
        <p:nvSpPr>
          <p:cNvPr id="21" name="ovl_br_val0"/>
          <p:cNvSpPr txBox="1"/>
          <p:nvPr/>
        </p:nvSpPr>
        <p:spPr>
          <a:xfrm>
            <a:off x="672998" y="2056257"/>
            <a:ext cx="827227" cy="182880"/>
          </a:xfrm>
          <a:prstGeom prst="rect">
            <a:avLst/>
          </a:prstGeom>
          <a:noFill/>
          <a:ln/>
        </p:spPr>
        <p:txBody>
          <a:bodyPr wrap="square" lIns="0" tIns="0" rIns="0" bIns="0" rtlCol="0" anchor="b"/>
          <a:lstStyle/>
          <a:p>
            <a:pPr algn="ctr" indent="0" marL="0">
              <a:buNone/>
            </a:pPr>
            <a:r>
              <a:rPr lang="en-US" sz="950" b="1" dirty="0">
                <a:solidFill>
                  <a:srgbClr val="0E4D33"/>
                </a:solidFill>
                <a:latin typeface="Meiryo UI" pitchFamily="34" charset="0"/>
                <a:ea typeface="Meiryo UI" pitchFamily="34" charset="-122"/>
                <a:cs typeface="Meiryo UI" pitchFamily="34" charset="-120"/>
              </a:rPr>
              <a:t>2,200</a:t>
            </a:r>
            <a:endParaRPr lang="en-US" sz="950" dirty="0"/>
          </a:p>
        </p:txBody>
      </p:sp>
      <p:sp>
        <p:nvSpPr>
          <p:cNvPr id="22" name="ovl_br_cat0"/>
          <p:cNvSpPr txBox="1"/>
          <p:nvPr/>
        </p:nvSpPr>
        <p:spPr>
          <a:xfrm>
            <a:off x="672998" y="4160520"/>
            <a:ext cx="827227" cy="3291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約 6GW の</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建設</a:t>
            </a:r>
            <a:endParaRPr lang="en-US" sz="850" dirty="0"/>
          </a:p>
        </p:txBody>
      </p:sp>
      <p:sp>
        <p:nvSpPr>
          <p:cNvPr id="23" name="ovl_br_conn0"/>
          <p:cNvSpPr/>
          <p:nvPr/>
        </p:nvSpPr>
        <p:spPr>
          <a:xfrm>
            <a:off x="1382050" y="2257425"/>
            <a:ext cx="236351" cy="914"/>
          </a:xfrm>
          <a:prstGeom prst="line">
            <a:avLst/>
          </a:prstGeom>
          <a:noFill/>
          <a:ln w="6350">
            <a:solidFill>
              <a:srgbClr val="767676"/>
            </a:solidFill>
            <a:prstDash val="sysDash"/>
          </a:ln>
        </p:spPr>
      </p:sp>
      <p:sp>
        <p:nvSpPr>
          <p:cNvPr id="24" name="ovl_br_val1"/>
          <p:cNvSpPr txBox="1"/>
          <p:nvPr/>
        </p:nvSpPr>
        <p:spPr>
          <a:xfrm>
            <a:off x="1500226" y="2056257"/>
            <a:ext cx="827227" cy="182880"/>
          </a:xfrm>
          <a:prstGeom prst="rect">
            <a:avLst/>
          </a:prstGeom>
          <a:noFill/>
          <a:ln/>
        </p:spPr>
        <p:txBody>
          <a:bodyPr wrap="square" lIns="0" tIns="0" rIns="0" bIns="0" rtlCol="0" anchor="b"/>
          <a:lstStyle/>
          <a:p>
            <a:pPr algn="ctr" indent="0" marL="0">
              <a:buNone/>
            </a:pPr>
            <a:r>
              <a:rPr lang="en-US" sz="950" b="1" dirty="0">
                <a:solidFill>
                  <a:srgbClr val="197A56"/>
                </a:solidFill>
                <a:latin typeface="Meiryo UI" pitchFamily="34" charset="0"/>
                <a:ea typeface="Meiryo UI" pitchFamily="34" charset="-122"/>
                <a:cs typeface="Meiryo UI" pitchFamily="34" charset="-120"/>
              </a:rPr>
              <a:t>−約 380</a:t>
            </a:r>
            <a:endParaRPr lang="en-US" sz="950" dirty="0"/>
          </a:p>
        </p:txBody>
      </p:sp>
      <p:sp>
        <p:nvSpPr>
          <p:cNvPr id="25" name="ovl_br_cat1"/>
          <p:cNvSpPr txBox="1"/>
          <p:nvPr/>
        </p:nvSpPr>
        <p:spPr>
          <a:xfrm>
            <a:off x="1500226" y="4160520"/>
            <a:ext cx="827227" cy="3291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ベンダー</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金融</a:t>
            </a:r>
            <a:endParaRPr lang="en-US" sz="850" dirty="0"/>
          </a:p>
        </p:txBody>
      </p:sp>
      <p:sp>
        <p:nvSpPr>
          <p:cNvPr id="26" name="ovl_br_conn1"/>
          <p:cNvSpPr/>
          <p:nvPr/>
        </p:nvSpPr>
        <p:spPr>
          <a:xfrm>
            <a:off x="2209277" y="2576665"/>
            <a:ext cx="236351" cy="914"/>
          </a:xfrm>
          <a:prstGeom prst="line">
            <a:avLst/>
          </a:prstGeom>
          <a:noFill/>
          <a:ln w="6350">
            <a:solidFill>
              <a:srgbClr val="767676"/>
            </a:solidFill>
            <a:prstDash val="sysDash"/>
          </a:ln>
        </p:spPr>
      </p:sp>
      <p:sp>
        <p:nvSpPr>
          <p:cNvPr id="27" name="ovl_br_val2"/>
          <p:cNvSpPr txBox="1"/>
          <p:nvPr/>
        </p:nvSpPr>
        <p:spPr>
          <a:xfrm>
            <a:off x="2327453" y="2375497"/>
            <a:ext cx="827227" cy="182880"/>
          </a:xfrm>
          <a:prstGeom prst="rect">
            <a:avLst/>
          </a:prstGeom>
          <a:noFill/>
          <a:ln/>
        </p:spPr>
        <p:txBody>
          <a:bodyPr wrap="square" lIns="0" tIns="0" rIns="0" bIns="0" rtlCol="0" anchor="b"/>
          <a:lstStyle/>
          <a:p>
            <a:pPr algn="ctr" indent="0" marL="0">
              <a:buNone/>
            </a:pPr>
            <a:r>
              <a:rPr lang="en-US" sz="950" b="1" dirty="0">
                <a:solidFill>
                  <a:srgbClr val="197A56"/>
                </a:solidFill>
                <a:latin typeface="Meiryo UI" pitchFamily="34" charset="0"/>
                <a:ea typeface="Meiryo UI" pitchFamily="34" charset="-122"/>
                <a:cs typeface="Meiryo UI" pitchFamily="34" charset="-120"/>
              </a:rPr>
              <a:t>−約 380</a:t>
            </a:r>
            <a:endParaRPr lang="en-US" sz="950" dirty="0"/>
          </a:p>
        </p:txBody>
      </p:sp>
      <p:sp>
        <p:nvSpPr>
          <p:cNvPr id="28" name="ovl_br_cat2"/>
          <p:cNvSpPr txBox="1"/>
          <p:nvPr/>
        </p:nvSpPr>
        <p:spPr>
          <a:xfrm>
            <a:off x="2327453" y="4160520"/>
            <a:ext cx="827227" cy="3291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BYOH</a:t>
            </a:r>
            <a:endParaRPr lang="en-US" sz="850" dirty="0"/>
          </a:p>
        </p:txBody>
      </p:sp>
      <p:sp>
        <p:nvSpPr>
          <p:cNvPr id="29" name="ovl_br_conn2"/>
          <p:cNvSpPr/>
          <p:nvPr/>
        </p:nvSpPr>
        <p:spPr>
          <a:xfrm>
            <a:off x="3036505" y="2895905"/>
            <a:ext cx="236351" cy="914"/>
          </a:xfrm>
          <a:prstGeom prst="line">
            <a:avLst/>
          </a:prstGeom>
          <a:noFill/>
          <a:ln w="6350">
            <a:solidFill>
              <a:srgbClr val="767676"/>
            </a:solidFill>
            <a:prstDash val="sysDash"/>
          </a:ln>
        </p:spPr>
      </p:sp>
      <p:sp>
        <p:nvSpPr>
          <p:cNvPr id="30" name="ovl_br_val3"/>
          <p:cNvSpPr txBox="1"/>
          <p:nvPr/>
        </p:nvSpPr>
        <p:spPr>
          <a:xfrm>
            <a:off x="3154680" y="2694737"/>
            <a:ext cx="827227" cy="182880"/>
          </a:xfrm>
          <a:prstGeom prst="rect">
            <a:avLst/>
          </a:prstGeom>
          <a:noFill/>
          <a:ln/>
        </p:spPr>
        <p:txBody>
          <a:bodyPr wrap="square" lIns="0" tIns="0" rIns="0" bIns="0" rtlCol="0" anchor="b"/>
          <a:lstStyle/>
          <a:p>
            <a:pPr algn="ctr" indent="0" marL="0">
              <a:buNone/>
            </a:pPr>
            <a:r>
              <a:rPr lang="en-US" sz="950" b="1" dirty="0">
                <a:solidFill>
                  <a:srgbClr val="197A56"/>
                </a:solidFill>
                <a:latin typeface="Meiryo UI" pitchFamily="34" charset="0"/>
                <a:ea typeface="Meiryo UI" pitchFamily="34" charset="-122"/>
                <a:cs typeface="Meiryo UI" pitchFamily="34" charset="-120"/>
              </a:rPr>
              <a:t>−約 380</a:t>
            </a:r>
            <a:endParaRPr lang="en-US" sz="950" dirty="0"/>
          </a:p>
        </p:txBody>
      </p:sp>
      <p:sp>
        <p:nvSpPr>
          <p:cNvPr id="31" name="ovl_br_cat3"/>
          <p:cNvSpPr txBox="1"/>
          <p:nvPr/>
        </p:nvSpPr>
        <p:spPr>
          <a:xfrm>
            <a:off x="3154680" y="4160520"/>
            <a:ext cx="827227" cy="3291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前払い</a:t>
            </a:r>
            <a:endParaRPr lang="en-US" sz="850" dirty="0"/>
          </a:p>
        </p:txBody>
      </p:sp>
      <p:sp>
        <p:nvSpPr>
          <p:cNvPr id="32" name="ovl_br_conn3"/>
          <p:cNvSpPr/>
          <p:nvPr/>
        </p:nvSpPr>
        <p:spPr>
          <a:xfrm>
            <a:off x="3863732" y="3215145"/>
            <a:ext cx="236351" cy="914"/>
          </a:xfrm>
          <a:prstGeom prst="line">
            <a:avLst/>
          </a:prstGeom>
          <a:noFill/>
          <a:ln w="6350">
            <a:solidFill>
              <a:srgbClr val="767676"/>
            </a:solidFill>
            <a:prstDash val="sysDash"/>
          </a:ln>
        </p:spPr>
      </p:sp>
      <p:sp>
        <p:nvSpPr>
          <p:cNvPr id="33" name="ovl_br_val4"/>
          <p:cNvSpPr txBox="1"/>
          <p:nvPr/>
        </p:nvSpPr>
        <p:spPr>
          <a:xfrm>
            <a:off x="3981907" y="3013977"/>
            <a:ext cx="827227" cy="182880"/>
          </a:xfrm>
          <a:prstGeom prst="rect">
            <a:avLst/>
          </a:prstGeom>
          <a:noFill/>
          <a:ln/>
        </p:spPr>
        <p:txBody>
          <a:bodyPr wrap="square" lIns="0" tIns="0" rIns="0" bIns="0" rtlCol="0" anchor="b"/>
          <a:lstStyle/>
          <a:p>
            <a:pPr algn="ctr" indent="0" marL="0">
              <a:buNone/>
            </a:pPr>
            <a:r>
              <a:rPr lang="en-US" sz="950" b="1" dirty="0">
                <a:solidFill>
                  <a:srgbClr val="197A56"/>
                </a:solidFill>
                <a:latin typeface="Meiryo UI" pitchFamily="34" charset="0"/>
                <a:ea typeface="Meiryo UI" pitchFamily="34" charset="-122"/>
                <a:cs typeface="Meiryo UI" pitchFamily="34" charset="-120"/>
              </a:rPr>
              <a:t>−約 860</a:t>
            </a:r>
            <a:endParaRPr lang="en-US" sz="950" dirty="0"/>
          </a:p>
        </p:txBody>
      </p:sp>
      <p:sp>
        <p:nvSpPr>
          <p:cNvPr id="34" name="ovl_br_cat4"/>
          <p:cNvSpPr txBox="1"/>
          <p:nvPr/>
        </p:nvSpPr>
        <p:spPr>
          <a:xfrm>
            <a:off x="3981907" y="4160520"/>
            <a:ext cx="827227" cy="3291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その他の</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営業 CF</a:t>
            </a:r>
            <a:endParaRPr lang="en-US" sz="850" dirty="0"/>
          </a:p>
        </p:txBody>
      </p:sp>
      <p:sp>
        <p:nvSpPr>
          <p:cNvPr id="35" name="ovl_br_conn4"/>
          <p:cNvSpPr/>
          <p:nvPr/>
        </p:nvSpPr>
        <p:spPr>
          <a:xfrm>
            <a:off x="4690959" y="3937635"/>
            <a:ext cx="236351" cy="914"/>
          </a:xfrm>
          <a:prstGeom prst="line">
            <a:avLst/>
          </a:prstGeom>
          <a:noFill/>
          <a:ln w="6350">
            <a:solidFill>
              <a:srgbClr val="767676"/>
            </a:solidFill>
            <a:prstDash val="sysDash"/>
          </a:ln>
        </p:spPr>
      </p:sp>
      <p:sp>
        <p:nvSpPr>
          <p:cNvPr id="36" name="ovl_br_val5"/>
          <p:cNvSpPr txBox="1"/>
          <p:nvPr/>
        </p:nvSpPr>
        <p:spPr>
          <a:xfrm>
            <a:off x="4809134" y="3736467"/>
            <a:ext cx="827227" cy="182880"/>
          </a:xfrm>
          <a:prstGeom prst="rect">
            <a:avLst/>
          </a:prstGeom>
          <a:noFill/>
          <a:ln/>
        </p:spPr>
        <p:txBody>
          <a:bodyPr wrap="square" lIns="0" tIns="0" rIns="0" bIns="0" rtlCol="0" anchor="b"/>
          <a:lstStyle/>
          <a:p>
            <a:pPr algn="ctr" indent="0" marL="0">
              <a:buNone/>
            </a:pPr>
            <a:r>
              <a:rPr lang="en-US" sz="950" b="1" dirty="0">
                <a:solidFill>
                  <a:srgbClr val="0E4D33"/>
                </a:solidFill>
                <a:latin typeface="Meiryo UI" pitchFamily="34" charset="0"/>
                <a:ea typeface="Meiryo UI" pitchFamily="34" charset="-122"/>
                <a:cs typeface="Meiryo UI" pitchFamily="34" charset="-120"/>
              </a:rPr>
              <a:t>200</a:t>
            </a:r>
            <a:endParaRPr lang="en-US" sz="950" dirty="0"/>
          </a:p>
        </p:txBody>
      </p:sp>
      <p:sp>
        <p:nvSpPr>
          <p:cNvPr id="37" name="ovl_br_cat5"/>
          <p:cNvSpPr txBox="1"/>
          <p:nvPr/>
        </p:nvSpPr>
        <p:spPr>
          <a:xfrm>
            <a:off x="4809134" y="4160520"/>
            <a:ext cx="827227" cy="3291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最後の</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調達</a:t>
            </a:r>
            <a:endParaRPr lang="en-US" sz="850" dirty="0"/>
          </a:p>
        </p:txBody>
      </p:sp>
      <p:sp>
        <p:nvSpPr>
          <p:cNvPr id="38" name="note_bridge"/>
          <p:cNvSpPr txBox="1"/>
          <p:nvPr/>
        </p:nvSpPr>
        <p:spPr>
          <a:xfrm>
            <a:off x="457200" y="4700016"/>
            <a:ext cx="5394960" cy="329184"/>
          </a:xfrm>
          <a:prstGeom prst="rect">
            <a:avLst/>
          </a:prstGeom>
          <a:noFill/>
          <a:ln/>
        </p:spPr>
        <p:txBody>
          <a:bodyPr wrap="square" lIns="0" tIns="0" rIns="0" bIns="0" rtlCol="0" anchor="t"/>
          <a:lstStyle/>
          <a:p>
            <a:pPr indent="0" marL="0">
              <a:buNone/>
            </a:pPr>
            <a:r>
              <a:rPr lang="en-US" sz="800" dirty="0">
                <a:solidFill>
                  <a:srgbClr val="767676"/>
                </a:solidFill>
                <a:latin typeface="Meiryo UI" pitchFamily="34" charset="0"/>
                <a:ea typeface="Meiryo UI" pitchFamily="34" charset="-122"/>
                <a:cs typeface="Meiryo UI" pitchFamily="34" charset="-120"/>
              </a:rPr>
              <a:t>ベンダー金融・BYOH・前払いの額は図の目盛からの概算(各 350〜400 億ドル)。</a:t>
            </a:r>
            <a:endParaRPr lang="en-US" sz="800" dirty="0"/>
          </a:p>
          <a:p>
            <a:pPr indent="0" marL="0">
              <a:buNone/>
            </a:pPr>
            <a:r>
              <a:rPr lang="en-US" sz="800" dirty="0">
                <a:solidFill>
                  <a:srgbClr val="767676"/>
                </a:solidFill>
                <a:latin typeface="Meiryo UI" pitchFamily="34" charset="0"/>
                <a:ea typeface="Meiryo UI" pitchFamily="34" charset="-122"/>
                <a:cs typeface="Meiryo UI" pitchFamily="34" charset="-120"/>
              </a:rPr>
              <a:t>3 項目は各 380 億ドル、その他の営業 CF は 860 億ドルと置き、残りが 200 億ドルになるようにした</a:t>
            </a:r>
            <a:endParaRPr lang="en-US" sz="800" dirty="0"/>
          </a:p>
        </p:txBody>
      </p:sp>
      <p:sp>
        <p:nvSpPr>
          <p:cNvPr id="39" name="pane_head"/>
          <p:cNvSpPr txBox="1"/>
          <p:nvPr/>
        </p:nvSpPr>
        <p:spPr>
          <a:xfrm>
            <a:off x="6172200" y="1481328"/>
            <a:ext cx="5559552"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FCF と capex(ベース、億ドル)</a:t>
            </a:r>
            <a:endParaRPr lang="en-US" sz="1200" dirty="0"/>
          </a:p>
        </p:txBody>
      </p:sp>
      <p:graphicFrame>
        <p:nvGraphicFramePr>
          <p:cNvPr id="40" name="chart_fcf" descr=""/>
          <p:cNvGraphicFramePr/>
          <p:nvPr/>
        </p:nvGraphicFramePr>
        <p:xfrm>
          <a:off x="6172200" y="1801368"/>
          <a:ext cx="5559552" cy="3200400"/>
        </p:xfrm>
        <a:graphic xmlns:a="http://schemas.openxmlformats.org/drawingml/2006/main">
          <a:graphicData uri="http://schemas.openxmlformats.org/drawingml/2006/chart">
            <c:chart xmlns:c="http://schemas.openxmlformats.org/drawingml/2006/chart" r:id="rId2"/>
          </a:graphicData>
        </a:graphic>
      </p:graphicFrame>
      <p:sp>
        <p:nvSpPr>
          <p:cNvPr id="41" name="ovl_fcf_v0"/>
          <p:cNvSpPr txBox="1"/>
          <p:nvPr/>
        </p:nvSpPr>
        <p:spPr>
          <a:xfrm>
            <a:off x="6417551" y="3991429"/>
            <a:ext cx="258219" cy="164592"/>
          </a:xfrm>
          <a:prstGeom prst="rect">
            <a:avLst/>
          </a:prstGeom>
          <a:noFill/>
          <a:ln/>
        </p:spPr>
        <p:txBody>
          <a:bodyPr wrap="none" lIns="0" tIns="0" rIns="0" bIns="0" rtlCol="0" anchor="t"/>
          <a:lstStyle/>
          <a:p>
            <a:pPr algn="ctr" indent="0" marL="0">
              <a:buNone/>
            </a:pPr>
            <a:r>
              <a:rPr lang="en-US" sz="800" b="1" dirty="0">
                <a:solidFill>
                  <a:srgbClr val="C0392B"/>
                </a:solidFill>
                <a:latin typeface="Meiryo UI" pitchFamily="34" charset="0"/>
                <a:ea typeface="Meiryo UI" pitchFamily="34" charset="-122"/>
                <a:cs typeface="Meiryo UI" pitchFamily="34" charset="-120"/>
              </a:rPr>
              <a:t>−484</a:t>
            </a:r>
            <a:endParaRPr lang="en-US" sz="800" dirty="0"/>
          </a:p>
        </p:txBody>
      </p:sp>
      <p:sp>
        <p:nvSpPr>
          <p:cNvPr id="42" name="ovl_cap_v0"/>
          <p:cNvSpPr txBox="1"/>
          <p:nvPr/>
        </p:nvSpPr>
        <p:spPr>
          <a:xfrm>
            <a:off x="6694058" y="2908121"/>
            <a:ext cx="258219" cy="164592"/>
          </a:xfrm>
          <a:prstGeom prst="rect">
            <a:avLst/>
          </a:prstGeom>
          <a:noFill/>
          <a:ln/>
        </p:spPr>
        <p:txBody>
          <a:bodyPr wrap="none" lIns="0" tIns="0" rIns="0" bIns="0" rtlCol="0" anchor="b"/>
          <a:lstStyle/>
          <a:p>
            <a:pPr algn="ctr" indent="0" marL="0">
              <a:buNone/>
            </a:pPr>
            <a:r>
              <a:rPr lang="en-US" sz="800" dirty="0">
                <a:solidFill>
                  <a:srgbClr val="767676"/>
                </a:solidFill>
                <a:latin typeface="Meiryo UI" pitchFamily="34" charset="0"/>
                <a:ea typeface="Meiryo UI" pitchFamily="34" charset="-122"/>
                <a:cs typeface="Meiryo UI" pitchFamily="34" charset="-120"/>
              </a:rPr>
              <a:t>1,072</a:t>
            </a:r>
            <a:endParaRPr lang="en-US" sz="800" dirty="0"/>
          </a:p>
        </p:txBody>
      </p:sp>
      <p:sp>
        <p:nvSpPr>
          <p:cNvPr id="43" name="ovl_fcf_v1"/>
          <p:cNvSpPr txBox="1"/>
          <p:nvPr/>
        </p:nvSpPr>
        <p:spPr>
          <a:xfrm>
            <a:off x="6998216" y="3811146"/>
            <a:ext cx="258219" cy="164592"/>
          </a:xfrm>
          <a:prstGeom prst="rect">
            <a:avLst/>
          </a:prstGeom>
          <a:noFill/>
          <a:ln/>
        </p:spPr>
        <p:txBody>
          <a:bodyPr wrap="none" lIns="0" tIns="0" rIns="0" bIns="0" rtlCol="0" anchor="t"/>
          <a:lstStyle/>
          <a:p>
            <a:pPr algn="ctr" indent="0" marL="0">
              <a:buNone/>
            </a:pPr>
            <a:r>
              <a:rPr lang="en-US" sz="800" b="1" dirty="0">
                <a:solidFill>
                  <a:srgbClr val="C0392B"/>
                </a:solidFill>
                <a:latin typeface="Meiryo UI" pitchFamily="34" charset="0"/>
                <a:ea typeface="Meiryo UI" pitchFamily="34" charset="-122"/>
                <a:cs typeface="Meiryo UI" pitchFamily="34" charset="-120"/>
              </a:rPr>
              <a:t>−166</a:t>
            </a:r>
            <a:endParaRPr lang="en-US" sz="800" dirty="0"/>
          </a:p>
        </p:txBody>
      </p:sp>
      <p:sp>
        <p:nvSpPr>
          <p:cNvPr id="44" name="ovl_cap_v1"/>
          <p:cNvSpPr txBox="1"/>
          <p:nvPr/>
        </p:nvSpPr>
        <p:spPr>
          <a:xfrm>
            <a:off x="7274723" y="3037381"/>
            <a:ext cx="258219" cy="164592"/>
          </a:xfrm>
          <a:prstGeom prst="rect">
            <a:avLst/>
          </a:prstGeom>
          <a:noFill/>
          <a:ln/>
        </p:spPr>
        <p:txBody>
          <a:bodyPr wrap="none" lIns="0" tIns="0" rIns="0" bIns="0" rtlCol="0" anchor="b"/>
          <a:lstStyle/>
          <a:p>
            <a:pPr algn="ctr" indent="0" marL="0">
              <a:buNone/>
            </a:pPr>
            <a:r>
              <a:rPr lang="en-US" sz="800" dirty="0">
                <a:solidFill>
                  <a:srgbClr val="767676"/>
                </a:solidFill>
                <a:latin typeface="Meiryo UI" pitchFamily="34" charset="0"/>
                <a:ea typeface="Meiryo UI" pitchFamily="34" charset="-122"/>
                <a:cs typeface="Meiryo UI" pitchFamily="34" charset="-120"/>
              </a:rPr>
              <a:t>844</a:t>
            </a:r>
            <a:endParaRPr lang="en-US" sz="800" dirty="0"/>
          </a:p>
        </p:txBody>
      </p:sp>
      <p:sp>
        <p:nvSpPr>
          <p:cNvPr id="45" name="ovl_fcf_v2"/>
          <p:cNvSpPr txBox="1"/>
          <p:nvPr/>
        </p:nvSpPr>
        <p:spPr>
          <a:xfrm>
            <a:off x="7578880" y="3499976"/>
            <a:ext cx="258219" cy="164592"/>
          </a:xfrm>
          <a:prstGeom prst="rect">
            <a:avLst/>
          </a:prstGeom>
          <a:noFill/>
          <a:ln/>
        </p:spPr>
        <p:txBody>
          <a:bodyPr wrap="none" lIns="0" tIns="0" rIns="0" bIns="0" rtlCol="0" anchor="t"/>
          <a:lstStyle/>
          <a:p>
            <a:pPr algn="ctr" indent="0" marL="0">
              <a:buNone/>
            </a:pPr>
            <a:r>
              <a:rPr lang="en-US" sz="800" b="1" dirty="0">
                <a:solidFill>
                  <a:srgbClr val="FFFFFF"/>
                </a:solidFill>
                <a:latin typeface="Meiryo UI" pitchFamily="34" charset="0"/>
                <a:ea typeface="Meiryo UI" pitchFamily="34" charset="-122"/>
                <a:cs typeface="Meiryo UI" pitchFamily="34" charset="-120"/>
              </a:rPr>
              <a:t>+399</a:t>
            </a:r>
            <a:endParaRPr lang="en-US" sz="800" dirty="0"/>
          </a:p>
        </p:txBody>
      </p:sp>
      <p:sp>
        <p:nvSpPr>
          <p:cNvPr id="46" name="ovl_cap_v2"/>
          <p:cNvSpPr txBox="1"/>
          <p:nvPr/>
        </p:nvSpPr>
        <p:spPr>
          <a:xfrm>
            <a:off x="7855387" y="3247144"/>
            <a:ext cx="258219" cy="164592"/>
          </a:xfrm>
          <a:prstGeom prst="rect">
            <a:avLst/>
          </a:prstGeom>
          <a:noFill/>
          <a:ln/>
        </p:spPr>
        <p:txBody>
          <a:bodyPr wrap="none" lIns="0" tIns="0" rIns="0" bIns="0" rtlCol="0" anchor="b"/>
          <a:lstStyle/>
          <a:p>
            <a:pPr algn="ctr" indent="0" marL="0">
              <a:buNone/>
            </a:pPr>
            <a:r>
              <a:rPr lang="en-US" sz="800" dirty="0">
                <a:solidFill>
                  <a:srgbClr val="767676"/>
                </a:solidFill>
                <a:latin typeface="Meiryo UI" pitchFamily="34" charset="0"/>
                <a:ea typeface="Meiryo UI" pitchFamily="34" charset="-122"/>
                <a:cs typeface="Meiryo UI" pitchFamily="34" charset="-120"/>
              </a:rPr>
              <a:t>474</a:t>
            </a:r>
            <a:endParaRPr lang="en-US" sz="800" dirty="0"/>
          </a:p>
        </p:txBody>
      </p:sp>
      <p:sp>
        <p:nvSpPr>
          <p:cNvPr id="47" name="ovl_fcf_v3"/>
          <p:cNvSpPr txBox="1"/>
          <p:nvPr/>
        </p:nvSpPr>
        <p:spPr>
          <a:xfrm>
            <a:off x="8159544" y="3459157"/>
            <a:ext cx="258219" cy="164592"/>
          </a:xfrm>
          <a:prstGeom prst="rect">
            <a:avLst/>
          </a:prstGeom>
          <a:noFill/>
          <a:ln/>
        </p:spPr>
        <p:txBody>
          <a:bodyPr wrap="none" lIns="0" tIns="0" rIns="0" bIns="0" rtlCol="0" anchor="t"/>
          <a:lstStyle/>
          <a:p>
            <a:pPr algn="ctr" indent="0" marL="0">
              <a:buNone/>
            </a:pPr>
            <a:r>
              <a:rPr lang="en-US" sz="800" b="1" dirty="0">
                <a:solidFill>
                  <a:srgbClr val="FFFFFF"/>
                </a:solidFill>
                <a:latin typeface="Meiryo UI" pitchFamily="34" charset="0"/>
                <a:ea typeface="Meiryo UI" pitchFamily="34" charset="-122"/>
                <a:cs typeface="Meiryo UI" pitchFamily="34" charset="-120"/>
              </a:rPr>
              <a:t>+471</a:t>
            </a:r>
            <a:endParaRPr lang="en-US" sz="800" dirty="0"/>
          </a:p>
        </p:txBody>
      </p:sp>
      <p:sp>
        <p:nvSpPr>
          <p:cNvPr id="48" name="ovl_cap_v3"/>
          <p:cNvSpPr txBox="1"/>
          <p:nvPr/>
        </p:nvSpPr>
        <p:spPr>
          <a:xfrm>
            <a:off x="8436051" y="3176278"/>
            <a:ext cx="258219" cy="164592"/>
          </a:xfrm>
          <a:prstGeom prst="rect">
            <a:avLst/>
          </a:prstGeom>
          <a:noFill/>
          <a:ln/>
        </p:spPr>
        <p:txBody>
          <a:bodyPr wrap="none" lIns="0" tIns="0" rIns="0" bIns="0" rtlCol="0" anchor="b"/>
          <a:lstStyle/>
          <a:p>
            <a:pPr algn="ctr" indent="0" marL="0">
              <a:buNone/>
            </a:pPr>
            <a:r>
              <a:rPr lang="en-US" sz="800" dirty="0">
                <a:solidFill>
                  <a:srgbClr val="767676"/>
                </a:solidFill>
                <a:latin typeface="Meiryo UI" pitchFamily="34" charset="0"/>
                <a:ea typeface="Meiryo UI" pitchFamily="34" charset="-122"/>
                <a:cs typeface="Meiryo UI" pitchFamily="34" charset="-120"/>
              </a:rPr>
              <a:t>599</a:t>
            </a:r>
            <a:endParaRPr lang="en-US" sz="800" dirty="0"/>
          </a:p>
        </p:txBody>
      </p:sp>
      <p:sp>
        <p:nvSpPr>
          <p:cNvPr id="49" name="ovl_fcf_v4"/>
          <p:cNvSpPr txBox="1"/>
          <p:nvPr/>
        </p:nvSpPr>
        <p:spPr>
          <a:xfrm>
            <a:off x="8740209" y="3473330"/>
            <a:ext cx="258219" cy="164592"/>
          </a:xfrm>
          <a:prstGeom prst="rect">
            <a:avLst/>
          </a:prstGeom>
          <a:noFill/>
          <a:ln/>
        </p:spPr>
        <p:txBody>
          <a:bodyPr wrap="none" lIns="0" tIns="0" rIns="0" bIns="0" rtlCol="0" anchor="t"/>
          <a:lstStyle/>
          <a:p>
            <a:pPr algn="ctr" indent="0" marL="0">
              <a:buNone/>
            </a:pPr>
            <a:r>
              <a:rPr lang="en-US" sz="800" b="1" dirty="0">
                <a:solidFill>
                  <a:srgbClr val="FFFFFF"/>
                </a:solidFill>
                <a:latin typeface="Meiryo UI" pitchFamily="34" charset="0"/>
                <a:ea typeface="Meiryo UI" pitchFamily="34" charset="-122"/>
                <a:cs typeface="Meiryo UI" pitchFamily="34" charset="-120"/>
              </a:rPr>
              <a:t>+446</a:t>
            </a:r>
            <a:endParaRPr lang="en-US" sz="800" dirty="0"/>
          </a:p>
        </p:txBody>
      </p:sp>
      <p:sp>
        <p:nvSpPr>
          <p:cNvPr id="50" name="ovl_cap_v4"/>
          <p:cNvSpPr txBox="1"/>
          <p:nvPr/>
        </p:nvSpPr>
        <p:spPr>
          <a:xfrm>
            <a:off x="9016716" y="3067428"/>
            <a:ext cx="258219" cy="164592"/>
          </a:xfrm>
          <a:prstGeom prst="rect">
            <a:avLst/>
          </a:prstGeom>
          <a:noFill/>
          <a:ln/>
        </p:spPr>
        <p:txBody>
          <a:bodyPr wrap="none" lIns="0" tIns="0" rIns="0" bIns="0" rtlCol="0" anchor="b"/>
          <a:lstStyle/>
          <a:p>
            <a:pPr algn="ctr" indent="0" marL="0">
              <a:buNone/>
            </a:pPr>
            <a:r>
              <a:rPr lang="en-US" sz="800" dirty="0">
                <a:solidFill>
                  <a:srgbClr val="767676"/>
                </a:solidFill>
                <a:latin typeface="Meiryo UI" pitchFamily="34" charset="0"/>
                <a:ea typeface="Meiryo UI" pitchFamily="34" charset="-122"/>
                <a:cs typeface="Meiryo UI" pitchFamily="34" charset="-120"/>
              </a:rPr>
              <a:t>791</a:t>
            </a:r>
            <a:endParaRPr lang="en-US" sz="800" dirty="0"/>
          </a:p>
        </p:txBody>
      </p:sp>
      <p:sp>
        <p:nvSpPr>
          <p:cNvPr id="51" name="ovl_fcf_v5"/>
          <p:cNvSpPr txBox="1"/>
          <p:nvPr/>
        </p:nvSpPr>
        <p:spPr>
          <a:xfrm>
            <a:off x="9320873" y="3342937"/>
            <a:ext cx="258219" cy="164592"/>
          </a:xfrm>
          <a:prstGeom prst="rect">
            <a:avLst/>
          </a:prstGeom>
          <a:noFill/>
          <a:ln/>
        </p:spPr>
        <p:txBody>
          <a:bodyPr wrap="none" lIns="0" tIns="0" rIns="0" bIns="0" rtlCol="0" anchor="t"/>
          <a:lstStyle/>
          <a:p>
            <a:pPr algn="ctr" indent="0" marL="0">
              <a:buNone/>
            </a:pPr>
            <a:r>
              <a:rPr lang="en-US" sz="800" b="1" dirty="0">
                <a:solidFill>
                  <a:srgbClr val="FFFFFF"/>
                </a:solidFill>
                <a:latin typeface="Meiryo UI" pitchFamily="34" charset="0"/>
                <a:ea typeface="Meiryo UI" pitchFamily="34" charset="-122"/>
                <a:cs typeface="Meiryo UI" pitchFamily="34" charset="-120"/>
              </a:rPr>
              <a:t>+676</a:t>
            </a:r>
            <a:endParaRPr lang="en-US" sz="800" dirty="0"/>
          </a:p>
        </p:txBody>
      </p:sp>
      <p:sp>
        <p:nvSpPr>
          <p:cNvPr id="52" name="ovl_cap_v5"/>
          <p:cNvSpPr txBox="1"/>
          <p:nvPr/>
        </p:nvSpPr>
        <p:spPr>
          <a:xfrm>
            <a:off x="9597380" y="3135459"/>
            <a:ext cx="258219" cy="164592"/>
          </a:xfrm>
          <a:prstGeom prst="rect">
            <a:avLst/>
          </a:prstGeom>
          <a:noFill/>
          <a:ln/>
        </p:spPr>
        <p:txBody>
          <a:bodyPr wrap="none" lIns="0" tIns="0" rIns="0" bIns="0" rtlCol="0" anchor="b"/>
          <a:lstStyle/>
          <a:p>
            <a:pPr algn="ctr" indent="0" marL="0">
              <a:buNone/>
            </a:pPr>
            <a:r>
              <a:rPr lang="en-US" sz="800" dirty="0">
                <a:solidFill>
                  <a:srgbClr val="767676"/>
                </a:solidFill>
                <a:latin typeface="Meiryo UI" pitchFamily="34" charset="0"/>
                <a:ea typeface="Meiryo UI" pitchFamily="34" charset="-122"/>
                <a:cs typeface="Meiryo UI" pitchFamily="34" charset="-120"/>
              </a:rPr>
              <a:t>671</a:t>
            </a:r>
            <a:endParaRPr lang="en-US" sz="800" dirty="0"/>
          </a:p>
        </p:txBody>
      </p:sp>
      <p:sp>
        <p:nvSpPr>
          <p:cNvPr id="53" name="ovl_fcf_v6"/>
          <p:cNvSpPr txBox="1"/>
          <p:nvPr/>
        </p:nvSpPr>
        <p:spPr>
          <a:xfrm>
            <a:off x="9901537" y="3223315"/>
            <a:ext cx="258219" cy="164592"/>
          </a:xfrm>
          <a:prstGeom prst="rect">
            <a:avLst/>
          </a:prstGeom>
          <a:noFill/>
          <a:ln/>
        </p:spPr>
        <p:txBody>
          <a:bodyPr wrap="none" lIns="0" tIns="0" rIns="0" bIns="0" rtlCol="0" anchor="t"/>
          <a:lstStyle/>
          <a:p>
            <a:pPr algn="ctr" indent="0" marL="0">
              <a:buNone/>
            </a:pPr>
            <a:r>
              <a:rPr lang="en-US" sz="800" b="1" dirty="0">
                <a:solidFill>
                  <a:srgbClr val="FFFFFF"/>
                </a:solidFill>
                <a:latin typeface="Meiryo UI" pitchFamily="34" charset="0"/>
                <a:ea typeface="Meiryo UI" pitchFamily="34" charset="-122"/>
                <a:cs typeface="Meiryo UI" pitchFamily="34" charset="-120"/>
              </a:rPr>
              <a:t>+887</a:t>
            </a:r>
            <a:endParaRPr lang="en-US" sz="800" dirty="0"/>
          </a:p>
        </p:txBody>
      </p:sp>
      <p:sp>
        <p:nvSpPr>
          <p:cNvPr id="54" name="ovl_cap_v6"/>
          <p:cNvSpPr txBox="1"/>
          <p:nvPr/>
        </p:nvSpPr>
        <p:spPr>
          <a:xfrm>
            <a:off x="10178044" y="3202357"/>
            <a:ext cx="258219" cy="164592"/>
          </a:xfrm>
          <a:prstGeom prst="rect">
            <a:avLst/>
          </a:prstGeom>
          <a:noFill/>
          <a:ln/>
        </p:spPr>
        <p:txBody>
          <a:bodyPr wrap="none" lIns="0" tIns="0" rIns="0" bIns="0" rtlCol="0" anchor="b"/>
          <a:lstStyle/>
          <a:p>
            <a:pPr algn="ctr" indent="0" marL="0">
              <a:buNone/>
            </a:pPr>
            <a:r>
              <a:rPr lang="en-US" sz="800" dirty="0">
                <a:solidFill>
                  <a:srgbClr val="767676"/>
                </a:solidFill>
                <a:latin typeface="Meiryo UI" pitchFamily="34" charset="0"/>
                <a:ea typeface="Meiryo UI" pitchFamily="34" charset="-122"/>
                <a:cs typeface="Meiryo UI" pitchFamily="34" charset="-120"/>
              </a:rPr>
              <a:t>553</a:t>
            </a:r>
            <a:endParaRPr lang="en-US" sz="800" dirty="0"/>
          </a:p>
        </p:txBody>
      </p:sp>
      <p:sp>
        <p:nvSpPr>
          <p:cNvPr id="55" name="ovl_fcf_v7"/>
          <p:cNvSpPr txBox="1"/>
          <p:nvPr/>
        </p:nvSpPr>
        <p:spPr>
          <a:xfrm>
            <a:off x="10482202" y="3335567"/>
            <a:ext cx="258219" cy="164592"/>
          </a:xfrm>
          <a:prstGeom prst="rect">
            <a:avLst/>
          </a:prstGeom>
          <a:noFill/>
          <a:ln/>
        </p:spPr>
        <p:txBody>
          <a:bodyPr wrap="none" lIns="0" tIns="0" rIns="0" bIns="0" rtlCol="0" anchor="t"/>
          <a:lstStyle/>
          <a:p>
            <a:pPr algn="ctr" indent="0" marL="0">
              <a:buNone/>
            </a:pPr>
            <a:r>
              <a:rPr lang="en-US" sz="800" b="1" dirty="0">
                <a:solidFill>
                  <a:srgbClr val="FFFFFF"/>
                </a:solidFill>
                <a:latin typeface="Meiryo UI" pitchFamily="34" charset="0"/>
                <a:ea typeface="Meiryo UI" pitchFamily="34" charset="-122"/>
                <a:cs typeface="Meiryo UI" pitchFamily="34" charset="-120"/>
              </a:rPr>
              <a:t>+689</a:t>
            </a:r>
            <a:endParaRPr lang="en-US" sz="800" dirty="0"/>
          </a:p>
        </p:txBody>
      </p:sp>
      <p:sp>
        <p:nvSpPr>
          <p:cNvPr id="56" name="ovl_cap_v7"/>
          <p:cNvSpPr txBox="1"/>
          <p:nvPr/>
        </p:nvSpPr>
        <p:spPr>
          <a:xfrm>
            <a:off x="10758708" y="3121853"/>
            <a:ext cx="258219" cy="164592"/>
          </a:xfrm>
          <a:prstGeom prst="rect">
            <a:avLst/>
          </a:prstGeom>
          <a:noFill/>
          <a:ln/>
        </p:spPr>
        <p:txBody>
          <a:bodyPr wrap="none" lIns="0" tIns="0" rIns="0" bIns="0" rtlCol="0" anchor="b"/>
          <a:lstStyle/>
          <a:p>
            <a:pPr algn="ctr" indent="0" marL="0">
              <a:buNone/>
            </a:pPr>
            <a:r>
              <a:rPr lang="en-US" sz="800" dirty="0">
                <a:solidFill>
                  <a:srgbClr val="767676"/>
                </a:solidFill>
                <a:latin typeface="Meiryo UI" pitchFamily="34" charset="0"/>
                <a:ea typeface="Meiryo UI" pitchFamily="34" charset="-122"/>
                <a:cs typeface="Meiryo UI" pitchFamily="34" charset="-120"/>
              </a:rPr>
              <a:t>695</a:t>
            </a:r>
            <a:endParaRPr lang="en-US" sz="800" dirty="0"/>
          </a:p>
        </p:txBody>
      </p:sp>
      <p:sp>
        <p:nvSpPr>
          <p:cNvPr id="57" name="ovl_fcf_v8"/>
          <p:cNvSpPr txBox="1"/>
          <p:nvPr/>
        </p:nvSpPr>
        <p:spPr>
          <a:xfrm>
            <a:off x="11062866" y="3963083"/>
            <a:ext cx="258219" cy="164592"/>
          </a:xfrm>
          <a:prstGeom prst="rect">
            <a:avLst/>
          </a:prstGeom>
          <a:noFill/>
          <a:ln/>
        </p:spPr>
        <p:txBody>
          <a:bodyPr wrap="none" lIns="0" tIns="0" rIns="0" bIns="0" rtlCol="0" anchor="t"/>
          <a:lstStyle/>
          <a:p>
            <a:pPr algn="ctr" indent="0" marL="0">
              <a:buNone/>
            </a:pPr>
            <a:r>
              <a:rPr lang="en-US" sz="800" b="1" dirty="0">
                <a:solidFill>
                  <a:srgbClr val="C0392B"/>
                </a:solidFill>
                <a:latin typeface="Meiryo UI" pitchFamily="34" charset="0"/>
                <a:ea typeface="Meiryo UI" pitchFamily="34" charset="-122"/>
                <a:cs typeface="Meiryo UI" pitchFamily="34" charset="-120"/>
              </a:rPr>
              <a:t>−434</a:t>
            </a:r>
            <a:endParaRPr lang="en-US" sz="800" dirty="0"/>
          </a:p>
        </p:txBody>
      </p:sp>
      <p:sp>
        <p:nvSpPr>
          <p:cNvPr id="58" name="ovl_cap_v8"/>
          <p:cNvSpPr txBox="1"/>
          <p:nvPr/>
        </p:nvSpPr>
        <p:spPr>
          <a:xfrm>
            <a:off x="11339373" y="2363303"/>
            <a:ext cx="258219" cy="164592"/>
          </a:xfrm>
          <a:prstGeom prst="rect">
            <a:avLst/>
          </a:prstGeom>
          <a:noFill/>
          <a:ln/>
        </p:spPr>
        <p:txBody>
          <a:bodyPr wrap="none" lIns="0" tIns="0" rIns="0" bIns="0" rtlCol="0" anchor="b"/>
          <a:lstStyle/>
          <a:p>
            <a:pPr algn="ctr" indent="0" marL="0">
              <a:buNone/>
            </a:pPr>
            <a:r>
              <a:rPr lang="en-US" sz="800" dirty="0">
                <a:solidFill>
                  <a:srgbClr val="767676"/>
                </a:solidFill>
                <a:latin typeface="Meiryo UI" pitchFamily="34" charset="0"/>
                <a:ea typeface="Meiryo UI" pitchFamily="34" charset="-122"/>
                <a:cs typeface="Meiryo UI" pitchFamily="34" charset="-120"/>
              </a:rPr>
              <a:t>2,033</a:t>
            </a:r>
            <a:endParaRPr lang="en-US" sz="800" dirty="0"/>
          </a:p>
        </p:txBody>
      </p:sp>
      <p:sp>
        <p:nvSpPr>
          <p:cNvPr id="59" name="ovl_peak_tag"/>
          <p:cNvSpPr/>
          <p:nvPr/>
        </p:nvSpPr>
        <p:spPr>
          <a:xfrm>
            <a:off x="9079992" y="1819656"/>
            <a:ext cx="2651760" cy="329184"/>
          </a:xfrm>
          <a:prstGeom prst="roundRect">
            <a:avLst>
              <a:gd name="adj" fmla="val 13889"/>
            </a:avLst>
          </a:prstGeom>
          <a:solidFill>
            <a:srgbClr val="C0392B"/>
          </a:solidFill>
          <a:ln w="12700">
            <a:solidFill>
              <a:srgbClr val="C0392B"/>
            </a:solidFill>
            <a:prstDash val="solid"/>
          </a:ln>
        </p:spPr>
      </p:sp>
      <p:sp>
        <p:nvSpPr>
          <p:cNvPr id="60" name="ovl_peak_tag_t"/>
          <p:cNvSpPr txBox="1"/>
          <p:nvPr/>
        </p:nvSpPr>
        <p:spPr>
          <a:xfrm>
            <a:off x="9079992" y="1819656"/>
            <a:ext cx="2651760"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更新の山は FY36〜37(再契約しだい)</a:t>
            </a:r>
            <a:endParaRPr lang="en-US" sz="800" dirty="0"/>
          </a:p>
          <a:p>
            <a:pPr algn="ctr" indent="0" marL="0">
              <a:buNone/>
            </a:pPr>
            <a:r>
              <a:rPr lang="en-US" sz="800" b="1" dirty="0">
                <a:solidFill>
                  <a:srgbClr val="FFFFFF"/>
                </a:solidFill>
                <a:latin typeface="Meiryo UI" pitchFamily="34" charset="0"/>
                <a:ea typeface="Meiryo UI" pitchFamily="34" charset="-122"/>
                <a:cs typeface="Meiryo UI" pitchFamily="34" charset="-120"/>
              </a:rPr>
              <a:t>再契約が続くため後ろへずれる</a:t>
            </a:r>
            <a:endParaRPr lang="en-US" sz="800" dirty="0"/>
          </a:p>
        </p:txBody>
      </p:sp>
      <p:sp>
        <p:nvSpPr>
          <p:cNvPr id="61" name="ovl_peak_lead"/>
          <p:cNvSpPr/>
          <p:nvPr/>
        </p:nvSpPr>
        <p:spPr>
          <a:xfrm>
            <a:off x="11330229" y="2148840"/>
            <a:ext cx="914" cy="196175"/>
          </a:xfrm>
          <a:prstGeom prst="line">
            <a:avLst/>
          </a:prstGeom>
          <a:noFill/>
          <a:ln w="12700">
            <a:solidFill>
              <a:srgbClr val="C0392B"/>
            </a:solidFill>
            <a:prstDash val="dash"/>
          </a:ln>
        </p:spPr>
      </p:sp>
      <p:sp>
        <p:nvSpPr>
          <p:cNvPr id="62" name="bullets"/>
          <p:cNvSpPr txBox="1"/>
          <p:nvPr/>
        </p:nvSpPr>
        <p:spPr>
          <a:xfrm>
            <a:off x="457200" y="5166360"/>
            <a:ext cx="11274552" cy="1051560"/>
          </a:xfrm>
          <a:prstGeom prst="rect">
            <a:avLst/>
          </a:prstGeom>
          <a:noFill/>
          <a:ln/>
        </p:spPr>
        <p:txBody>
          <a:bodyPr wrap="square" lIns="508" tIns="508" rIns="508" bIns="508" rtlCol="0" anchor="t"/>
          <a:lstStyle/>
          <a:p>
            <a:pPr marL="152400" indent="-152400">
              <a:spcAft>
                <a:spcPts val="500"/>
              </a:spcAft>
              <a:buSzPct val="100000"/>
              <a:buChar char="•"/>
            </a:pPr>
            <a:r>
              <a:rPr lang="en-US" sz="1150" dirty="0">
                <a:solidFill>
                  <a:srgbClr val="333333"/>
                </a:solidFill>
                <a:latin typeface="Meiryo UI" pitchFamily="34" charset="0"/>
                <a:ea typeface="Meiryo UI" pitchFamily="34" charset="-122"/>
                <a:cs typeface="Meiryo UI" pitchFamily="34" charset="-120"/>
              </a:rPr>
              <a:t>FY29 の FCF は利益率でなく、容量の頭打ちから出る(capex 1,072 億 → 474 億ドル)</a:t>
            </a:r>
            <a:endParaRPr lang="en-US" sz="1150" dirty="0"/>
          </a:p>
          <a:p>
            <a:pPr marL="152400" indent="-152400">
              <a:spcAft>
                <a:spcPts val="500"/>
              </a:spcAft>
              <a:buSzPct val="100000"/>
              <a:buChar char="•"/>
            </a:pPr>
            <a:r>
              <a:rPr lang="en-US" sz="1150" dirty="0">
                <a:solidFill>
                  <a:srgbClr val="333333"/>
                </a:solidFill>
                <a:latin typeface="Meiryo UI" pitchFamily="34" charset="0"/>
                <a:ea typeface="Meiryo UI" pitchFamily="34" charset="-122"/>
                <a:cs typeface="Meiryo UI" pitchFamily="34" charset="-120"/>
              </a:rPr>
              <a:t>ベンダー金融は借入の別名で、会社も純負債に含める。会社の FCF は元本返済の前の数字。</a:t>
            </a:r>
            <a:br/>
            <a:r>
              <a:rPr lang="en-US" sz="1150" dirty="0">
                <a:solidFill>
                  <a:srgbClr val="333333"/>
                </a:solidFill>
                <a:latin typeface="Meiryo UI" pitchFamily="34" charset="0"/>
                <a:ea typeface="Meiryo UI" pitchFamily="34" charset="-122"/>
                <a:cs typeface="Meiryo UI" pitchFamily="34" charset="-120"/>
              </a:rPr>
              <a:t>資金負担を本当に減らすのは BYOH と前払い</a:t>
            </a:r>
            <a:endParaRPr lang="en-US" sz="1150" dirty="0"/>
          </a:p>
          <a:p>
            <a:pPr marL="152400" indent="-152400">
              <a:spcAft>
                <a:spcPts val="500"/>
              </a:spcAft>
              <a:buSzPct val="100000"/>
              <a:buChar char="•"/>
            </a:pPr>
            <a:r>
              <a:rPr lang="en-US" sz="1150" dirty="0">
                <a:solidFill>
                  <a:srgbClr val="333333"/>
                </a:solidFill>
                <a:latin typeface="Meiryo UI" pitchFamily="34" charset="0"/>
                <a:ea typeface="Meiryo UI" pitchFamily="34" charset="-122"/>
                <a:cs typeface="Meiryo UI" pitchFamily="34" charset="-120"/>
              </a:rPr>
              <a:t>更新の山は再契約しだい: 再契約が続けば FY36〜37 に後ろへずれる。</a:t>
            </a:r>
            <a:br/>
            <a:r>
              <a:rPr lang="en-US" sz="1150" dirty="0">
                <a:solidFill>
                  <a:srgbClr val="333333"/>
                </a:solidFill>
                <a:latin typeface="Meiryo UI" pitchFamily="34" charset="0"/>
                <a:ea typeface="Meiryo UI" pitchFamily="34" charset="-122"/>
                <a:cs typeface="Meiryo UI" pitchFamily="34" charset="-120"/>
              </a:rPr>
              <a:t>単価 ±20% で DCF ±35 ドル(FY37 capex 2,033 億ドル・FCF −434 億ドル)</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E4D33"/>
        </a:solidFill>
      </p:bgPr>
    </p:bg>
    <p:spTree>
      <p:nvGrpSpPr>
        <p:cNvPr id="1" name=""/>
        <p:cNvGrpSpPr/>
        <p:nvPr/>
      </p:nvGrpSpPr>
      <p:grpSpPr>
        <a:xfrm>
          <a:off x="0" y="0"/>
          <a:ext cx="0" cy="0"/>
          <a:chOff x="0" y="0"/>
          <a:chExt cx="0" cy="0"/>
        </a:xfrm>
      </p:grpSpPr>
      <p:sp>
        <p:nvSpPr>
          <p:cNvPr id="2" name="bg_agenda"/>
          <p:cNvSpPr/>
          <p:nvPr/>
        </p:nvSpPr>
        <p:spPr>
          <a:xfrm>
            <a:off x="0" y="0"/>
            <a:ext cx="12191695" cy="6858000"/>
          </a:xfrm>
          <a:prstGeom prst="rect">
            <a:avLst/>
          </a:prstGeom>
          <a:solidFill>
            <a:srgbClr val="0E4D33"/>
          </a:solidFill>
          <a:ln w="12700">
            <a:solidFill>
              <a:srgbClr val="0E4D33"/>
            </a:solidFill>
            <a:prstDash val="solid"/>
          </a:ln>
        </p:spPr>
      </p:sp>
      <p:sp>
        <p:nvSpPr>
          <p:cNvPr id="3" name="bg_agenda_lbl"/>
          <p:cNvSpPr txBox="1"/>
          <p:nvPr/>
        </p:nvSpPr>
        <p:spPr>
          <a:xfrm>
            <a:off x="731520" y="502920"/>
            <a:ext cx="2743200" cy="640080"/>
          </a:xfrm>
          <a:prstGeom prst="rect">
            <a:avLst/>
          </a:prstGeom>
          <a:noFill/>
          <a:ln/>
        </p:spPr>
        <p:txBody>
          <a:bodyPr wrap="square" lIns="508" tIns="508" rIns="508" bIns="508" rtlCol="0" anchor="t"/>
          <a:lstStyle/>
          <a:p>
            <a:pPr indent="0" marL="0">
              <a:buNone/>
            </a:pPr>
            <a:r>
              <a:rPr lang="en-US" sz="2600" b="1" dirty="0">
                <a:solidFill>
                  <a:srgbClr val="FFFFFF"/>
                </a:solidFill>
                <a:latin typeface="Meiryo UI" pitchFamily="34" charset="0"/>
                <a:ea typeface="Meiryo UI" pitchFamily="34" charset="-122"/>
                <a:cs typeface="Meiryo UI" pitchFamily="34" charset="-120"/>
              </a:rPr>
              <a:t>目次</a:t>
            </a:r>
            <a:endParaRPr lang="en-US" sz="2600" dirty="0"/>
          </a:p>
        </p:txBody>
      </p:sp>
      <p:sp>
        <p:nvSpPr>
          <p:cNvPr id="4" name="bg_agenda_n0"/>
          <p:cNvSpPr/>
          <p:nvPr/>
        </p:nvSpPr>
        <p:spPr>
          <a:xfrm>
            <a:off x="777240" y="1463040"/>
            <a:ext cx="457200" cy="457200"/>
          </a:xfrm>
          <a:prstGeom prst="ellipse">
            <a:avLst/>
          </a:prstGeom>
          <a:solidFill>
            <a:srgbClr val="0E4D33"/>
          </a:solidFill>
          <a:ln w="12700">
            <a:solidFill>
              <a:srgbClr val="FFFFFF"/>
            </a:solidFill>
            <a:prstDash val="solid"/>
          </a:ln>
        </p:spPr>
      </p:sp>
      <p:sp>
        <p:nvSpPr>
          <p:cNvPr id="5" name="bg_agenda_nt0"/>
          <p:cNvSpPr txBox="1"/>
          <p:nvPr/>
        </p:nvSpPr>
        <p:spPr>
          <a:xfrm>
            <a:off x="777240" y="1463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1</a:t>
            </a:r>
            <a:endParaRPr lang="en-US" sz="1400" dirty="0"/>
          </a:p>
        </p:txBody>
      </p:sp>
      <p:sp>
        <p:nvSpPr>
          <p:cNvPr id="6" name="bg_agenda_ch0"/>
          <p:cNvSpPr txBox="1"/>
          <p:nvPr/>
        </p:nvSpPr>
        <p:spPr>
          <a:xfrm>
            <a:off x="1417320" y="1444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評価総括</a:t>
            </a:r>
            <a:endParaRPr lang="en-US" sz="1800" dirty="0"/>
          </a:p>
        </p:txBody>
      </p:sp>
      <p:sp>
        <p:nvSpPr>
          <p:cNvPr id="7" name="bg_agenda_n1"/>
          <p:cNvSpPr/>
          <p:nvPr/>
        </p:nvSpPr>
        <p:spPr>
          <a:xfrm>
            <a:off x="777240" y="2606040"/>
            <a:ext cx="457200" cy="457200"/>
          </a:xfrm>
          <a:prstGeom prst="ellipse">
            <a:avLst/>
          </a:prstGeom>
          <a:solidFill>
            <a:srgbClr val="0E4D33"/>
          </a:solidFill>
          <a:ln w="12700">
            <a:solidFill>
              <a:srgbClr val="FFFFFF"/>
            </a:solidFill>
            <a:prstDash val="solid"/>
          </a:ln>
        </p:spPr>
      </p:sp>
      <p:sp>
        <p:nvSpPr>
          <p:cNvPr id="8" name="bg_agenda_nt1"/>
          <p:cNvSpPr txBox="1"/>
          <p:nvPr/>
        </p:nvSpPr>
        <p:spPr>
          <a:xfrm>
            <a:off x="777240" y="2606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2</a:t>
            </a:r>
            <a:endParaRPr lang="en-US" sz="1400" dirty="0"/>
          </a:p>
        </p:txBody>
      </p:sp>
      <p:sp>
        <p:nvSpPr>
          <p:cNvPr id="9" name="bg_agenda_ch1"/>
          <p:cNvSpPr txBox="1"/>
          <p:nvPr/>
        </p:nvSpPr>
        <p:spPr>
          <a:xfrm>
            <a:off x="1417320" y="2587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事業・需給・成長</a:t>
            </a:r>
            <a:endParaRPr lang="en-US" sz="1800" dirty="0"/>
          </a:p>
        </p:txBody>
      </p:sp>
      <p:sp>
        <p:nvSpPr>
          <p:cNvPr id="10" name="bg_agenda_n2"/>
          <p:cNvSpPr/>
          <p:nvPr/>
        </p:nvSpPr>
        <p:spPr>
          <a:xfrm>
            <a:off x="777240" y="3749040"/>
            <a:ext cx="457200" cy="457200"/>
          </a:xfrm>
          <a:prstGeom prst="ellipse">
            <a:avLst/>
          </a:prstGeom>
          <a:solidFill>
            <a:srgbClr val="197A56"/>
          </a:solidFill>
          <a:ln w="12700">
            <a:solidFill>
              <a:srgbClr val="FFFFFF"/>
            </a:solidFill>
            <a:prstDash val="solid"/>
          </a:ln>
        </p:spPr>
      </p:sp>
      <p:sp>
        <p:nvSpPr>
          <p:cNvPr id="11" name="bg_agenda_nt2"/>
          <p:cNvSpPr txBox="1"/>
          <p:nvPr/>
        </p:nvSpPr>
        <p:spPr>
          <a:xfrm>
            <a:off x="777240" y="37490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3</a:t>
            </a:r>
            <a:endParaRPr lang="en-US" sz="1400" dirty="0"/>
          </a:p>
        </p:txBody>
      </p:sp>
      <p:sp>
        <p:nvSpPr>
          <p:cNvPr id="12" name="bg_agenda_ch2"/>
          <p:cNvSpPr txBox="1"/>
          <p:nvPr/>
        </p:nvSpPr>
        <p:spPr>
          <a:xfrm>
            <a:off x="1417320" y="3730752"/>
            <a:ext cx="5669280" cy="493776"/>
          </a:xfrm>
          <a:prstGeom prst="rect">
            <a:avLst/>
          </a:prstGeom>
          <a:noFill/>
          <a:ln/>
        </p:spPr>
        <p:txBody>
          <a:bodyPr wrap="square" lIns="0" tIns="0" rIns="0" bIns="0" rtlCol="0" anchor="ctr"/>
          <a:lstStyle/>
          <a:p>
            <a:pPr indent="0" marL="0">
              <a:buNone/>
            </a:pPr>
            <a:r>
              <a:rPr lang="en-US" sz="1800" b="1" dirty="0">
                <a:solidFill>
                  <a:srgbClr val="FFFFFF"/>
                </a:solidFill>
                <a:latin typeface="Meiryo UI" pitchFamily="34" charset="0"/>
                <a:ea typeface="Meiryo UI" pitchFamily="34" charset="-122"/>
                <a:cs typeface="Meiryo UI" pitchFamily="34" charset="-120"/>
              </a:rPr>
              <a:t>13条件の構造分析</a:t>
            </a:r>
            <a:endParaRPr lang="en-US" sz="1800" dirty="0"/>
          </a:p>
        </p:txBody>
      </p:sp>
      <p:sp>
        <p:nvSpPr>
          <p:cNvPr id="13" name="bg_agenda_why2"/>
          <p:cNvSpPr txBox="1"/>
          <p:nvPr/>
        </p:nvSpPr>
        <p:spPr>
          <a:xfrm>
            <a:off x="1417320" y="4224528"/>
            <a:ext cx="5669280" cy="566928"/>
          </a:xfrm>
          <a:prstGeom prst="rect">
            <a:avLst/>
          </a:prstGeom>
          <a:noFill/>
          <a:ln/>
        </p:spPr>
        <p:txBody>
          <a:bodyPr wrap="square" lIns="0" tIns="0" rIns="0" bIns="0" rtlCol="0" anchor="t"/>
          <a:lstStyle/>
          <a:p>
            <a:pPr indent="0" marL="0">
              <a:buNone/>
            </a:pPr>
            <a:r>
              <a:rPr lang="en-US" sz="1050" dirty="0">
                <a:solidFill>
                  <a:srgbClr val="86C99B"/>
                </a:solidFill>
                <a:latin typeface="Meiryo UI" pitchFamily="34" charset="0"/>
                <a:ea typeface="Meiryo UI" pitchFamily="34" charset="-122"/>
                <a:cs typeface="Meiryo UI" pitchFamily="34" charset="-120"/>
              </a:rPr>
              <a:t>長期保有に耐える構造かを 13 の条件で確かめ、構造評価を決める。</a:t>
            </a:r>
            <a:endParaRPr lang="en-US" sz="1050" dirty="0"/>
          </a:p>
          <a:p>
            <a:pPr indent="0" marL="0">
              <a:buNone/>
            </a:pPr>
            <a:r>
              <a:rPr lang="en-US" sz="1050" dirty="0">
                <a:solidFill>
                  <a:srgbClr val="86C99B"/>
                </a:solidFill>
                <a:latin typeface="Meiryo UI" pitchFamily="34" charset="0"/>
                <a:ea typeface="Meiryo UI" pitchFamily="34" charset="-122"/>
                <a:cs typeface="Meiryo UI" pitchFamily="34" charset="-120"/>
              </a:rPr>
              <a:t>構造評価は許容する倍率(PEG)に直結する</a:t>
            </a:r>
            <a:endParaRPr lang="en-US" sz="1050" dirty="0"/>
          </a:p>
        </p:txBody>
      </p:sp>
      <p:sp>
        <p:nvSpPr>
          <p:cNvPr id="14" name="bg_agenda_n3"/>
          <p:cNvSpPr/>
          <p:nvPr/>
        </p:nvSpPr>
        <p:spPr>
          <a:xfrm>
            <a:off x="777240" y="4892040"/>
            <a:ext cx="457200" cy="457200"/>
          </a:xfrm>
          <a:prstGeom prst="ellipse">
            <a:avLst/>
          </a:prstGeom>
          <a:solidFill>
            <a:srgbClr val="0E4D33"/>
          </a:solidFill>
          <a:ln w="12700">
            <a:solidFill>
              <a:srgbClr val="FFFFFF"/>
            </a:solidFill>
            <a:prstDash val="solid"/>
          </a:ln>
        </p:spPr>
      </p:sp>
      <p:sp>
        <p:nvSpPr>
          <p:cNvPr id="15" name="bg_agenda_nt3"/>
          <p:cNvSpPr txBox="1"/>
          <p:nvPr/>
        </p:nvSpPr>
        <p:spPr>
          <a:xfrm>
            <a:off x="777240" y="4892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4</a:t>
            </a:r>
            <a:endParaRPr lang="en-US" sz="1400" dirty="0"/>
          </a:p>
        </p:txBody>
      </p:sp>
      <p:sp>
        <p:nvSpPr>
          <p:cNvPr id="16" name="bg_agenda_ch3"/>
          <p:cNvSpPr txBox="1"/>
          <p:nvPr/>
        </p:nvSpPr>
        <p:spPr>
          <a:xfrm>
            <a:off x="1417320" y="4873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バリュエーション・リスク・投資アクション</a:t>
            </a:r>
            <a:endParaRPr lang="en-US" sz="1800" dirty="0"/>
          </a:p>
        </p:txBody>
      </p:sp>
      <p:sp>
        <p:nvSpPr>
          <p:cNvPr id="17" name="bg_agenda_rule"/>
          <p:cNvSpPr/>
          <p:nvPr/>
        </p:nvSpPr>
        <p:spPr>
          <a:xfrm>
            <a:off x="7543800" y="1463040"/>
            <a:ext cx="0" cy="4389120"/>
          </a:xfrm>
          <a:prstGeom prst="line">
            <a:avLst/>
          </a:prstGeom>
          <a:noFill/>
          <a:ln w="9525">
            <a:solidFill>
              <a:srgbClr val="86C99B"/>
            </a:solidFill>
            <a:prstDash val="solid"/>
          </a:ln>
        </p:spPr>
      </p:sp>
      <p:sp>
        <p:nvSpPr>
          <p:cNvPr id="18" name="bg_agenda_sh"/>
          <p:cNvSpPr txBox="1"/>
          <p:nvPr/>
        </p:nvSpPr>
        <p:spPr>
          <a:xfrm>
            <a:off x="7818120" y="1417320"/>
            <a:ext cx="3840480" cy="365760"/>
          </a:xfrm>
          <a:prstGeom prst="rect">
            <a:avLst/>
          </a:prstGeom>
          <a:noFill/>
          <a:ln/>
        </p:spPr>
        <p:txBody>
          <a:bodyPr wrap="square" lIns="0" tIns="0" rIns="0" bIns="0" rtlCol="0" anchor="t"/>
          <a:lstStyle/>
          <a:p>
            <a:pPr indent="0" marL="0">
              <a:buNone/>
            </a:pPr>
            <a:r>
              <a:rPr lang="en-US" sz="1300" b="1" dirty="0">
                <a:solidFill>
                  <a:srgbClr val="86C99B"/>
                </a:solidFill>
                <a:latin typeface="Meiryo UI" pitchFamily="34" charset="0"/>
                <a:ea typeface="Meiryo UI" pitchFamily="34" charset="-122"/>
                <a:cs typeface="Meiryo UI" pitchFamily="34" charset="-120"/>
              </a:rPr>
              <a:t>第3章の構成</a:t>
            </a:r>
            <a:endParaRPr lang="en-US" sz="1300" dirty="0"/>
          </a:p>
        </p:txBody>
      </p:sp>
      <p:sp>
        <p:nvSpPr>
          <p:cNvPr id="19" name="bg_agenda_s0"/>
          <p:cNvSpPr txBox="1"/>
          <p:nvPr/>
        </p:nvSpPr>
        <p:spPr>
          <a:xfrm>
            <a:off x="7818120" y="19202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3-1  稼ぐ力(条件1〜3)</a:t>
            </a:r>
            <a:endParaRPr lang="en-US" sz="1250" dirty="0"/>
          </a:p>
        </p:txBody>
      </p:sp>
      <p:sp>
        <p:nvSpPr>
          <p:cNvPr id="20" name="bg_agenda_p0"/>
          <p:cNvSpPr txBox="1"/>
          <p:nvPr/>
        </p:nvSpPr>
        <p:spPr>
          <a:xfrm>
            <a:off x="10881360" y="19202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p.25–27</a:t>
            </a:r>
            <a:endParaRPr lang="en-US" sz="1050" dirty="0"/>
          </a:p>
        </p:txBody>
      </p:sp>
      <p:sp>
        <p:nvSpPr>
          <p:cNvPr id="21" name="bg_agenda_s1"/>
          <p:cNvSpPr txBox="1"/>
          <p:nvPr/>
        </p:nvSpPr>
        <p:spPr>
          <a:xfrm>
            <a:off x="7818120" y="23774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3-2  経営(条件5)</a:t>
            </a:r>
            <a:endParaRPr lang="en-US" sz="1250" dirty="0"/>
          </a:p>
        </p:txBody>
      </p:sp>
      <p:sp>
        <p:nvSpPr>
          <p:cNvPr id="22" name="bg_agenda_p1"/>
          <p:cNvSpPr txBox="1"/>
          <p:nvPr/>
        </p:nvSpPr>
        <p:spPr>
          <a:xfrm>
            <a:off x="10881360" y="23774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p.28</a:t>
            </a:r>
            <a:endParaRPr lang="en-US" sz="1050" dirty="0"/>
          </a:p>
        </p:txBody>
      </p:sp>
      <p:sp>
        <p:nvSpPr>
          <p:cNvPr id="23" name="bg_agenda_s2"/>
          <p:cNvSpPr txBox="1"/>
          <p:nvPr/>
        </p:nvSpPr>
        <p:spPr>
          <a:xfrm>
            <a:off x="7818120" y="28346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3-3  成長と割安度(条件6・7)</a:t>
            </a:r>
            <a:endParaRPr lang="en-US" sz="1250" dirty="0"/>
          </a:p>
        </p:txBody>
      </p:sp>
      <p:sp>
        <p:nvSpPr>
          <p:cNvPr id="24" name="bg_agenda_p2"/>
          <p:cNvSpPr txBox="1"/>
          <p:nvPr/>
        </p:nvSpPr>
        <p:spPr>
          <a:xfrm>
            <a:off x="10881360" y="28346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p.29–30</a:t>
            </a:r>
            <a:endParaRPr lang="en-US" sz="1050" dirty="0"/>
          </a:p>
        </p:txBody>
      </p:sp>
      <p:sp>
        <p:nvSpPr>
          <p:cNvPr id="25" name="bg_agenda_s3"/>
          <p:cNvSpPr txBox="1"/>
          <p:nvPr/>
        </p:nvSpPr>
        <p:spPr>
          <a:xfrm>
            <a:off x="7818120" y="32918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3-4  製品と設備の性格(条件8〜12)</a:t>
            </a:r>
            <a:endParaRPr lang="en-US" sz="1250" dirty="0"/>
          </a:p>
        </p:txBody>
      </p:sp>
      <p:sp>
        <p:nvSpPr>
          <p:cNvPr id="26" name="bg_agenda_p3"/>
          <p:cNvSpPr txBox="1"/>
          <p:nvPr/>
        </p:nvSpPr>
        <p:spPr>
          <a:xfrm>
            <a:off x="10881360" y="32918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p.31–35</a:t>
            </a:r>
            <a:endParaRPr lang="en-US" sz="1050" dirty="0"/>
          </a:p>
        </p:txBody>
      </p:sp>
      <p:sp>
        <p:nvSpPr>
          <p:cNvPr id="27" name="bg_agenda_s4"/>
          <p:cNvSpPr txBox="1"/>
          <p:nvPr/>
        </p:nvSpPr>
        <p:spPr>
          <a:xfrm>
            <a:off x="7818120" y="37490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3-5  総合(条件13)</a:t>
            </a:r>
            <a:endParaRPr lang="en-US" sz="1250" dirty="0"/>
          </a:p>
        </p:txBody>
      </p:sp>
      <p:sp>
        <p:nvSpPr>
          <p:cNvPr id="28" name="bg_agenda_p4"/>
          <p:cNvSpPr txBox="1"/>
          <p:nvPr/>
        </p:nvSpPr>
        <p:spPr>
          <a:xfrm>
            <a:off x="10881360" y="37490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p.36</a:t>
            </a:r>
            <a:endParaRPr lang="en-US" sz="1050" dirty="0"/>
          </a:p>
        </p:txBody>
      </p:sp>
      <p:sp>
        <p:nvSpPr>
          <p:cNvPr id="29" name="bg_agenda_note"/>
          <p:cNvSpPr txBox="1"/>
          <p:nvPr/>
        </p:nvSpPr>
        <p:spPr>
          <a:xfrm>
            <a:off x="7818120" y="4343400"/>
            <a:ext cx="3913632" cy="548640"/>
          </a:xfrm>
          <a:prstGeom prst="rect">
            <a:avLst/>
          </a:prstGeom>
          <a:noFill/>
          <a:ln/>
        </p:spPr>
        <p:txBody>
          <a:bodyPr wrap="square" lIns="0" tIns="0" rIns="0" bIns="0" rtlCol="0" anchor="t"/>
          <a:lstStyle/>
          <a:p>
            <a:pPr indent="0" marL="0">
              <a:buNone/>
            </a:pPr>
            <a:r>
              <a:rPr lang="en-US" sz="950" dirty="0">
                <a:solidFill>
                  <a:srgbClr val="86C99B"/>
                </a:solidFill>
                <a:latin typeface="Meiryo UI" pitchFamily="34" charset="0"/>
                <a:ea typeface="Meiryo UI" pitchFamily="34" charset="-122"/>
                <a:cs typeface="Meiryo UI" pitchFamily="34" charset="-120"/>
              </a:rPr>
              <a:t>条件4(上場市場)は審査の前提条件のため、1-2 の評価一覧で扱う</a:t>
            </a:r>
            <a:endParaRPr lang="en-US" sz="950" dirty="0"/>
          </a:p>
        </p:txBody>
      </p:sp>
      <p:sp>
        <p:nvSpPr>
          <p:cNvPr id="30"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86C99B"/>
                </a:solidFill>
                <a:latin typeface="Meiryo UI" pitchFamily="34" charset="0"/>
                <a:ea typeface="Meiryo UI" pitchFamily="34" charset="-122"/>
                <a:cs typeface="Meiryo UI" pitchFamily="34" charset="-120"/>
              </a:rPr>
              <a:t>24</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3-1 稼ぐ力(条件1〜3)(1/3)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211582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21158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競争優位の持続(条件1)</a:t>
            </a:r>
            <a:endParaRPr lang="en-US" sz="1000" dirty="0"/>
          </a:p>
        </p:txBody>
      </p:sp>
      <p:sp>
        <p:nvSpPr>
          <p:cNvPr id="14" name="hdr_why"/>
          <p:cNvSpPr txBox="1"/>
          <p:nvPr/>
        </p:nvSpPr>
        <p:spPr>
          <a:xfrm>
            <a:off x="2719324" y="356616"/>
            <a:ext cx="901517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10 年保有の前提は、利益を守る優位が続くこと。DB と AI 容量で優位の長さが違うかを見る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DB の切替コストは 10 年以上続くが、AI 容量の単価優位は、学習向けでは</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逼迫が続く FY32 までに限られる</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左から: 顧客 → Oracle の事業 → 優位の源泉(壁)← 競合の圧力。下: 優位が続く期間。①〜④ は右と対応</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会社開示(Q1 FY27 説明会)、research4/T5_supply_components.md、research4/T3_saas_products.md、calc/prereg2.md §9(逼迫の終わり FY32)</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25</a:t>
            </a:r>
            <a:endParaRPr lang="en-US" sz="800" dirty="0"/>
          </a:p>
        </p:txBody>
      </p:sp>
      <p:sp>
        <p:nvSpPr>
          <p:cNvPr id="19" name="ovl_badge"/>
          <p:cNvSpPr/>
          <p:nvPr/>
        </p:nvSpPr>
        <p:spPr>
          <a:xfrm>
            <a:off x="10865815" y="649224"/>
            <a:ext cx="868680" cy="677570"/>
          </a:xfrm>
          <a:prstGeom prst="roundRect">
            <a:avLst>
              <a:gd name="adj" fmla="val 10796"/>
            </a:avLst>
          </a:prstGeom>
          <a:solidFill>
            <a:srgbClr val="86C99B"/>
          </a:solidFill>
          <a:ln w="12700">
            <a:solidFill>
              <a:srgbClr val="86C99B"/>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0E4D33"/>
                </a:solidFill>
                <a:latin typeface="Meiryo UI" pitchFamily="34" charset="0"/>
                <a:ea typeface="Meiryo UI" pitchFamily="34" charset="-122"/>
                <a:cs typeface="Meiryo UI" pitchFamily="34" charset="-120"/>
              </a:rPr>
              <a:t>B</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0E4D33"/>
                </a:solidFill>
                <a:latin typeface="Meiryo UI" pitchFamily="34" charset="0"/>
                <a:ea typeface="Meiryo UI" pitchFamily="34" charset="-122"/>
                <a:cs typeface="Meiryo UI" pitchFamily="34" charset="-120"/>
              </a:rPr>
              <a:t>条件1</a:t>
            </a:r>
            <a:endParaRPr lang="en-US" sz="800" dirty="0"/>
          </a:p>
        </p:txBody>
      </p:sp>
      <p:sp>
        <p:nvSpPr>
          <p:cNvPr id="22" name="bg_lane0"/>
          <p:cNvSpPr/>
          <p:nvPr/>
        </p:nvSpPr>
        <p:spPr>
          <a:xfrm>
            <a:off x="347472" y="1517904"/>
            <a:ext cx="1545336" cy="3172968"/>
          </a:xfrm>
          <a:prstGeom prst="rect">
            <a:avLst/>
          </a:prstGeom>
          <a:solidFill>
            <a:srgbClr val="F2F2F2"/>
          </a:solidFill>
          <a:ln w="12700">
            <a:solidFill>
              <a:srgbClr val="F2F2F2"/>
            </a:solidFill>
            <a:prstDash val="solid"/>
          </a:ln>
        </p:spPr>
      </p:sp>
      <p:sp>
        <p:nvSpPr>
          <p:cNvPr id="23" name="bg_laneh0"/>
          <p:cNvSpPr/>
          <p:nvPr/>
        </p:nvSpPr>
        <p:spPr>
          <a:xfrm>
            <a:off x="347472" y="1517904"/>
            <a:ext cx="1545336" cy="274320"/>
          </a:xfrm>
          <a:prstGeom prst="rect">
            <a:avLst/>
          </a:prstGeom>
          <a:solidFill>
            <a:srgbClr val="D9D9D9"/>
          </a:solidFill>
          <a:ln w="12700">
            <a:solidFill>
              <a:srgbClr val="D9D9D9"/>
            </a:solidFill>
            <a:prstDash val="solid"/>
          </a:ln>
        </p:spPr>
      </p:sp>
      <p:sp>
        <p:nvSpPr>
          <p:cNvPr id="24" name="bg_lanet0"/>
          <p:cNvSpPr txBox="1"/>
          <p:nvPr/>
        </p:nvSpPr>
        <p:spPr>
          <a:xfrm>
            <a:off x="347472" y="1517904"/>
            <a:ext cx="154533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顧客</a:t>
            </a:r>
            <a:endParaRPr lang="en-US" sz="950" dirty="0"/>
          </a:p>
        </p:txBody>
      </p:sp>
      <p:sp>
        <p:nvSpPr>
          <p:cNvPr id="25" name="bg_lane1"/>
          <p:cNvSpPr/>
          <p:nvPr/>
        </p:nvSpPr>
        <p:spPr>
          <a:xfrm>
            <a:off x="2572512" y="1517904"/>
            <a:ext cx="3724656" cy="3172968"/>
          </a:xfrm>
          <a:prstGeom prst="rect">
            <a:avLst/>
          </a:prstGeom>
          <a:solidFill>
            <a:srgbClr val="EAF4EE"/>
          </a:solidFill>
          <a:ln w="12700">
            <a:solidFill>
              <a:srgbClr val="EAF4EE"/>
            </a:solidFill>
            <a:prstDash val="solid"/>
          </a:ln>
        </p:spPr>
      </p:sp>
      <p:sp>
        <p:nvSpPr>
          <p:cNvPr id="26" name="bg_laneh1"/>
          <p:cNvSpPr/>
          <p:nvPr/>
        </p:nvSpPr>
        <p:spPr>
          <a:xfrm>
            <a:off x="2572512" y="1517904"/>
            <a:ext cx="3724656" cy="274320"/>
          </a:xfrm>
          <a:prstGeom prst="rect">
            <a:avLst/>
          </a:prstGeom>
          <a:solidFill>
            <a:srgbClr val="197A56"/>
          </a:solidFill>
          <a:ln w="12700">
            <a:solidFill>
              <a:srgbClr val="197A56"/>
            </a:solidFill>
            <a:prstDash val="solid"/>
          </a:ln>
        </p:spPr>
      </p:sp>
      <p:sp>
        <p:nvSpPr>
          <p:cNvPr id="27" name="bg_lanet1"/>
          <p:cNvSpPr txBox="1"/>
          <p:nvPr/>
        </p:nvSpPr>
        <p:spPr>
          <a:xfrm>
            <a:off x="2572512" y="1517904"/>
            <a:ext cx="3724656"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Oracle の事業と優位の源泉</a:t>
            </a:r>
            <a:endParaRPr lang="en-US" sz="950" dirty="0"/>
          </a:p>
        </p:txBody>
      </p:sp>
      <p:sp>
        <p:nvSpPr>
          <p:cNvPr id="28" name="bg_lane2"/>
          <p:cNvSpPr/>
          <p:nvPr/>
        </p:nvSpPr>
        <p:spPr>
          <a:xfrm>
            <a:off x="6976872" y="1517904"/>
            <a:ext cx="1408176" cy="3172968"/>
          </a:xfrm>
          <a:prstGeom prst="rect">
            <a:avLst/>
          </a:prstGeom>
          <a:solidFill>
            <a:srgbClr val="F2F2F2"/>
          </a:solidFill>
          <a:ln w="12700">
            <a:solidFill>
              <a:srgbClr val="F2F2F2"/>
            </a:solidFill>
            <a:prstDash val="solid"/>
          </a:ln>
        </p:spPr>
      </p:sp>
      <p:sp>
        <p:nvSpPr>
          <p:cNvPr id="29" name="bg_laneh2"/>
          <p:cNvSpPr/>
          <p:nvPr/>
        </p:nvSpPr>
        <p:spPr>
          <a:xfrm>
            <a:off x="6976872" y="1517904"/>
            <a:ext cx="1408176" cy="274320"/>
          </a:xfrm>
          <a:prstGeom prst="rect">
            <a:avLst/>
          </a:prstGeom>
          <a:solidFill>
            <a:srgbClr val="D9D9D9"/>
          </a:solidFill>
          <a:ln w="12700">
            <a:solidFill>
              <a:srgbClr val="D9D9D9"/>
            </a:solidFill>
            <a:prstDash val="solid"/>
          </a:ln>
        </p:spPr>
      </p:sp>
      <p:sp>
        <p:nvSpPr>
          <p:cNvPr id="30" name="bg_lanet2"/>
          <p:cNvSpPr txBox="1"/>
          <p:nvPr/>
        </p:nvSpPr>
        <p:spPr>
          <a:xfrm>
            <a:off x="6976872" y="1517904"/>
            <a:ext cx="140817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競合・代替</a:t>
            </a:r>
            <a:endParaRPr lang="en-US" sz="950" dirty="0"/>
          </a:p>
        </p:txBody>
      </p:sp>
      <p:sp>
        <p:nvSpPr>
          <p:cNvPr id="31" name="ovl_grp0"/>
          <p:cNvSpPr/>
          <p:nvPr/>
        </p:nvSpPr>
        <p:spPr>
          <a:xfrm>
            <a:off x="2618232" y="1911096"/>
            <a:ext cx="1408176" cy="2734056"/>
          </a:xfrm>
          <a:prstGeom prst="roundRect">
            <a:avLst>
              <a:gd name="adj" fmla="val 3896"/>
            </a:avLst>
          </a:prstGeom>
          <a:solidFill>
            <a:srgbClr val="FFFFFF">
              <a:alpha val="0"/>
            </a:srgbClr>
          </a:solidFill>
          <a:ln w="12700">
            <a:solidFill>
              <a:srgbClr val="197A56"/>
            </a:solidFill>
            <a:prstDash val="dash"/>
          </a:ln>
        </p:spPr>
      </p:sp>
      <p:sp>
        <p:nvSpPr>
          <p:cNvPr id="32" name="ovl_grp1"/>
          <p:cNvSpPr/>
          <p:nvPr/>
        </p:nvSpPr>
        <p:spPr>
          <a:xfrm>
            <a:off x="4797552" y="1911096"/>
            <a:ext cx="1453896" cy="2734056"/>
          </a:xfrm>
          <a:prstGeom prst="roundRect">
            <a:avLst>
              <a:gd name="adj" fmla="val 3774"/>
            </a:avLst>
          </a:prstGeom>
          <a:solidFill>
            <a:srgbClr val="FFFFFF">
              <a:alpha val="0"/>
            </a:srgbClr>
          </a:solidFill>
          <a:ln w="12700">
            <a:solidFill>
              <a:srgbClr val="197A56"/>
            </a:solidFill>
            <a:prstDash val="dash"/>
          </a:ln>
        </p:spPr>
      </p:sp>
      <p:sp>
        <p:nvSpPr>
          <p:cNvPr id="33" name="ovl_s17_e0_0"/>
          <p:cNvSpPr/>
          <p:nvPr/>
        </p:nvSpPr>
        <p:spPr>
          <a:xfrm>
            <a:off x="1783080" y="2348484"/>
            <a:ext cx="899160" cy="914"/>
          </a:xfrm>
          <a:prstGeom prst="line">
            <a:avLst/>
          </a:prstGeom>
          <a:noFill/>
          <a:ln w="22225">
            <a:solidFill>
              <a:srgbClr val="0E4D33"/>
            </a:solidFill>
            <a:prstDash val="solid"/>
            <a:tailEnd type="triangle"/>
          </a:ln>
        </p:spPr>
      </p:sp>
      <p:sp>
        <p:nvSpPr>
          <p:cNvPr id="34" name="ovl_s17_e1_0"/>
          <p:cNvSpPr/>
          <p:nvPr/>
        </p:nvSpPr>
        <p:spPr>
          <a:xfrm>
            <a:off x="1783080" y="3278124"/>
            <a:ext cx="899160" cy="914"/>
          </a:xfrm>
          <a:prstGeom prst="line">
            <a:avLst/>
          </a:prstGeom>
          <a:noFill/>
          <a:ln w="22225">
            <a:solidFill>
              <a:srgbClr val="0E4D33"/>
            </a:solidFill>
            <a:prstDash val="solid"/>
            <a:tailEnd type="triangle"/>
          </a:ln>
        </p:spPr>
      </p:sp>
      <p:sp>
        <p:nvSpPr>
          <p:cNvPr id="35" name="ovl_s17_e2_0"/>
          <p:cNvSpPr/>
          <p:nvPr/>
        </p:nvSpPr>
        <p:spPr>
          <a:xfrm>
            <a:off x="1783080" y="4207764"/>
            <a:ext cx="899160" cy="914"/>
          </a:xfrm>
          <a:prstGeom prst="line">
            <a:avLst/>
          </a:prstGeom>
          <a:noFill/>
          <a:ln w="22225">
            <a:solidFill>
              <a:srgbClr val="0E4D33"/>
            </a:solidFill>
            <a:prstDash val="solid"/>
            <a:tailEnd type="triangle"/>
          </a:ln>
        </p:spPr>
      </p:sp>
      <p:sp>
        <p:nvSpPr>
          <p:cNvPr id="36" name="ovl_s17_e3_0"/>
          <p:cNvSpPr/>
          <p:nvPr/>
        </p:nvSpPr>
        <p:spPr>
          <a:xfrm flipH="1">
            <a:off x="3962400" y="2348484"/>
            <a:ext cx="899160" cy="914"/>
          </a:xfrm>
          <a:prstGeom prst="line">
            <a:avLst/>
          </a:prstGeom>
          <a:noFill/>
          <a:ln w="12700">
            <a:solidFill>
              <a:srgbClr val="767676"/>
            </a:solidFill>
            <a:prstDash val="sysDash"/>
            <a:tailEnd type="triangle"/>
          </a:ln>
        </p:spPr>
      </p:sp>
      <p:sp>
        <p:nvSpPr>
          <p:cNvPr id="37" name="ovl_s17_e4_0"/>
          <p:cNvSpPr/>
          <p:nvPr/>
        </p:nvSpPr>
        <p:spPr>
          <a:xfrm flipH="1">
            <a:off x="3962400" y="3278124"/>
            <a:ext cx="899160" cy="914"/>
          </a:xfrm>
          <a:prstGeom prst="line">
            <a:avLst/>
          </a:prstGeom>
          <a:noFill/>
          <a:ln w="12700">
            <a:solidFill>
              <a:srgbClr val="767676"/>
            </a:solidFill>
            <a:prstDash val="sysDash"/>
            <a:tailEnd type="triangle"/>
          </a:ln>
        </p:spPr>
      </p:sp>
      <p:sp>
        <p:nvSpPr>
          <p:cNvPr id="38" name="ovl_s17_e5_0"/>
          <p:cNvSpPr/>
          <p:nvPr/>
        </p:nvSpPr>
        <p:spPr>
          <a:xfrm flipH="1">
            <a:off x="3962400" y="4143756"/>
            <a:ext cx="899160" cy="914"/>
          </a:xfrm>
          <a:prstGeom prst="line">
            <a:avLst/>
          </a:prstGeom>
          <a:noFill/>
          <a:ln w="12700">
            <a:solidFill>
              <a:srgbClr val="767676"/>
            </a:solidFill>
            <a:prstDash val="sysDash"/>
            <a:tailEnd type="triangle"/>
          </a:ln>
        </p:spPr>
      </p:sp>
      <p:sp>
        <p:nvSpPr>
          <p:cNvPr id="39" name="ovl_s17_e6_0"/>
          <p:cNvSpPr/>
          <p:nvPr/>
        </p:nvSpPr>
        <p:spPr>
          <a:xfrm flipH="1">
            <a:off x="6187440" y="2348484"/>
            <a:ext cx="899160" cy="914"/>
          </a:xfrm>
          <a:prstGeom prst="line">
            <a:avLst/>
          </a:prstGeom>
          <a:noFill/>
          <a:ln w="15875">
            <a:solidFill>
              <a:srgbClr val="C0392B"/>
            </a:solidFill>
            <a:prstDash val="dash"/>
            <a:tailEnd type="triangle"/>
          </a:ln>
        </p:spPr>
      </p:sp>
      <p:sp>
        <p:nvSpPr>
          <p:cNvPr id="40" name="ovl_s17_e7_0"/>
          <p:cNvSpPr/>
          <p:nvPr/>
        </p:nvSpPr>
        <p:spPr>
          <a:xfrm flipH="1">
            <a:off x="6187440" y="3278124"/>
            <a:ext cx="899160" cy="914"/>
          </a:xfrm>
          <a:prstGeom prst="line">
            <a:avLst/>
          </a:prstGeom>
          <a:noFill/>
          <a:ln w="15875">
            <a:solidFill>
              <a:srgbClr val="C0392B"/>
            </a:solidFill>
            <a:prstDash val="dash"/>
            <a:tailEnd type="triangle"/>
          </a:ln>
        </p:spPr>
      </p:sp>
      <p:sp>
        <p:nvSpPr>
          <p:cNvPr id="41" name="ovl_s17_e8_0"/>
          <p:cNvSpPr/>
          <p:nvPr/>
        </p:nvSpPr>
        <p:spPr>
          <a:xfrm flipH="1">
            <a:off x="6187440" y="4207764"/>
            <a:ext cx="899160" cy="914"/>
          </a:xfrm>
          <a:prstGeom prst="line">
            <a:avLst/>
          </a:prstGeom>
          <a:noFill/>
          <a:ln w="15875">
            <a:solidFill>
              <a:srgbClr val="C0392B"/>
            </a:solidFill>
            <a:prstDash val="dash"/>
            <a:tailEnd type="triangle"/>
          </a:ln>
        </p:spPr>
      </p:sp>
      <p:sp>
        <p:nvSpPr>
          <p:cNvPr id="42" name="ovl_s17_n_ent"/>
          <p:cNvSpPr/>
          <p:nvPr/>
        </p:nvSpPr>
        <p:spPr>
          <a:xfrm>
            <a:off x="457200" y="2019300"/>
            <a:ext cx="1325880" cy="658368"/>
          </a:xfrm>
          <a:prstGeom prst="roundRect">
            <a:avLst>
              <a:gd name="adj" fmla="val 8333"/>
            </a:avLst>
          </a:prstGeom>
          <a:solidFill>
            <a:srgbClr val="FFFFFF"/>
          </a:solidFill>
          <a:ln w="9525">
            <a:solidFill>
              <a:srgbClr val="767676"/>
            </a:solidFill>
            <a:prstDash val="solid"/>
          </a:ln>
        </p:spPr>
      </p:sp>
      <p:sp>
        <p:nvSpPr>
          <p:cNvPr id="43" name="ovl_s17_nt_ent"/>
          <p:cNvSpPr txBox="1"/>
          <p:nvPr/>
        </p:nvSpPr>
        <p:spPr>
          <a:xfrm>
            <a:off x="493776" y="204673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DB の既存顧客</a:t>
            </a:r>
            <a:endParaRPr lang="en-US" sz="1000" dirty="0"/>
          </a:p>
        </p:txBody>
      </p:sp>
      <p:sp>
        <p:nvSpPr>
          <p:cNvPr id="44" name="ovl_s17_ns_ent"/>
          <p:cNvSpPr txBox="1"/>
          <p:nvPr/>
        </p:nvSpPr>
        <p:spPr>
          <a:xfrm>
            <a:off x="502920" y="2252472"/>
            <a:ext cx="1234440" cy="39776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大企業・官公庁</a:t>
            </a:r>
            <a:endParaRPr lang="en-US" sz="850" dirty="0"/>
          </a:p>
        </p:txBody>
      </p:sp>
      <p:sp>
        <p:nvSpPr>
          <p:cNvPr id="45" name="ovl_s17_n_apps"/>
          <p:cNvSpPr/>
          <p:nvPr/>
        </p:nvSpPr>
        <p:spPr>
          <a:xfrm>
            <a:off x="457200" y="2948940"/>
            <a:ext cx="1325880" cy="658368"/>
          </a:xfrm>
          <a:prstGeom prst="roundRect">
            <a:avLst>
              <a:gd name="adj" fmla="val 8333"/>
            </a:avLst>
          </a:prstGeom>
          <a:solidFill>
            <a:srgbClr val="FFFFFF"/>
          </a:solidFill>
          <a:ln w="9525">
            <a:solidFill>
              <a:srgbClr val="767676"/>
            </a:solidFill>
            <a:prstDash val="solid"/>
          </a:ln>
        </p:spPr>
      </p:sp>
      <p:sp>
        <p:nvSpPr>
          <p:cNvPr id="46" name="ovl_s17_nt_apps"/>
          <p:cNvSpPr txBox="1"/>
          <p:nvPr/>
        </p:nvSpPr>
        <p:spPr>
          <a:xfrm>
            <a:off x="493776" y="297637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業務アプリの顧客</a:t>
            </a:r>
            <a:endParaRPr lang="en-US" sz="1000" dirty="0"/>
          </a:p>
        </p:txBody>
      </p:sp>
      <p:sp>
        <p:nvSpPr>
          <p:cNvPr id="47" name="ovl_s17_ns_apps"/>
          <p:cNvSpPr txBox="1"/>
          <p:nvPr/>
        </p:nvSpPr>
        <p:spPr>
          <a:xfrm>
            <a:off x="502920" y="3182112"/>
            <a:ext cx="1234440" cy="39776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ERP・人事</a:t>
            </a:r>
            <a:endParaRPr lang="en-US" sz="850" dirty="0"/>
          </a:p>
        </p:txBody>
      </p:sp>
      <p:sp>
        <p:nvSpPr>
          <p:cNvPr id="48" name="ovl_s17_n_lab"/>
          <p:cNvSpPr/>
          <p:nvPr/>
        </p:nvSpPr>
        <p:spPr>
          <a:xfrm>
            <a:off x="457200" y="3878580"/>
            <a:ext cx="1325880" cy="658368"/>
          </a:xfrm>
          <a:prstGeom prst="roundRect">
            <a:avLst>
              <a:gd name="adj" fmla="val 8333"/>
            </a:avLst>
          </a:prstGeom>
          <a:solidFill>
            <a:srgbClr val="FFFFFF"/>
          </a:solidFill>
          <a:ln w="9525">
            <a:solidFill>
              <a:srgbClr val="767676"/>
            </a:solidFill>
            <a:prstDash val="solid"/>
          </a:ln>
        </p:spPr>
      </p:sp>
      <p:sp>
        <p:nvSpPr>
          <p:cNvPr id="49" name="ovl_s17_nt_lab"/>
          <p:cNvSpPr txBox="1"/>
          <p:nvPr/>
        </p:nvSpPr>
        <p:spPr>
          <a:xfrm>
            <a:off x="493776" y="390601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研究所</a:t>
            </a:r>
            <a:endParaRPr lang="en-US" sz="1000" dirty="0"/>
          </a:p>
        </p:txBody>
      </p:sp>
      <p:sp>
        <p:nvSpPr>
          <p:cNvPr id="50" name="ovl_s17_ns_lab"/>
          <p:cNvSpPr txBox="1"/>
          <p:nvPr/>
        </p:nvSpPr>
        <p:spPr>
          <a:xfrm>
            <a:off x="502920" y="4111752"/>
            <a:ext cx="1234440" cy="39776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OpenAI・Meta・xAI</a:t>
            </a:r>
            <a:endParaRPr lang="en-US" sz="850" dirty="0"/>
          </a:p>
        </p:txBody>
      </p:sp>
      <p:sp>
        <p:nvSpPr>
          <p:cNvPr id="51" name="ovl_s17_n_db"/>
          <p:cNvSpPr/>
          <p:nvPr/>
        </p:nvSpPr>
        <p:spPr>
          <a:xfrm>
            <a:off x="2682240" y="2019300"/>
            <a:ext cx="1280160" cy="658368"/>
          </a:xfrm>
          <a:prstGeom prst="roundRect">
            <a:avLst>
              <a:gd name="adj" fmla="val 8333"/>
            </a:avLst>
          </a:prstGeom>
          <a:solidFill>
            <a:srgbClr val="FFFFFF"/>
          </a:solidFill>
          <a:ln w="19050">
            <a:solidFill>
              <a:srgbClr val="197A56"/>
            </a:solidFill>
            <a:prstDash val="solid"/>
          </a:ln>
        </p:spPr>
      </p:sp>
      <p:sp>
        <p:nvSpPr>
          <p:cNvPr id="52" name="ovl_s17_nt_db"/>
          <p:cNvSpPr txBox="1"/>
          <p:nvPr/>
        </p:nvSpPr>
        <p:spPr>
          <a:xfrm>
            <a:off x="2718816" y="2046732"/>
            <a:ext cx="1207008" cy="205740"/>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DB ライセンス・保守</a:t>
            </a:r>
            <a:endParaRPr lang="en-US" sz="900" dirty="0"/>
          </a:p>
        </p:txBody>
      </p:sp>
      <p:sp>
        <p:nvSpPr>
          <p:cNvPr id="53" name="ovl_s17_ns_db"/>
          <p:cNvSpPr txBox="1"/>
          <p:nvPr/>
        </p:nvSpPr>
        <p:spPr>
          <a:xfrm>
            <a:off x="2727960" y="2252472"/>
            <a:ext cx="1188720" cy="39776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保守は年 22%</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Software −3%</a:t>
            </a:r>
            <a:endParaRPr lang="en-US" sz="850" dirty="0"/>
          </a:p>
        </p:txBody>
      </p:sp>
      <p:sp>
        <p:nvSpPr>
          <p:cNvPr id="54" name="ovl_s17_n_saas"/>
          <p:cNvSpPr/>
          <p:nvPr/>
        </p:nvSpPr>
        <p:spPr>
          <a:xfrm>
            <a:off x="2682240" y="2948940"/>
            <a:ext cx="1280160" cy="658368"/>
          </a:xfrm>
          <a:prstGeom prst="roundRect">
            <a:avLst>
              <a:gd name="adj" fmla="val 8333"/>
            </a:avLst>
          </a:prstGeom>
          <a:solidFill>
            <a:srgbClr val="FFFFFF"/>
          </a:solidFill>
          <a:ln w="19050">
            <a:solidFill>
              <a:srgbClr val="197A56"/>
            </a:solidFill>
            <a:prstDash val="solid"/>
          </a:ln>
        </p:spPr>
      </p:sp>
      <p:sp>
        <p:nvSpPr>
          <p:cNvPr id="55" name="ovl_s17_nt_saas"/>
          <p:cNvSpPr txBox="1"/>
          <p:nvPr/>
        </p:nvSpPr>
        <p:spPr>
          <a:xfrm>
            <a:off x="2718816" y="2976372"/>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SaaS</a:t>
            </a:r>
            <a:endParaRPr lang="en-US" sz="1000" dirty="0"/>
          </a:p>
        </p:txBody>
      </p:sp>
      <p:sp>
        <p:nvSpPr>
          <p:cNvPr id="56" name="ovl_s17_ns_saas"/>
          <p:cNvSpPr txBox="1"/>
          <p:nvPr/>
        </p:nvSpPr>
        <p:spPr>
          <a:xfrm>
            <a:off x="2727960" y="3182112"/>
            <a:ext cx="1188720" cy="39776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+10%</a:t>
            </a:r>
            <a:endParaRPr lang="en-US" sz="850" dirty="0"/>
          </a:p>
        </p:txBody>
      </p:sp>
      <p:sp>
        <p:nvSpPr>
          <p:cNvPr id="57" name="ovl_s17_n_aicap"/>
          <p:cNvSpPr/>
          <p:nvPr/>
        </p:nvSpPr>
        <p:spPr>
          <a:xfrm>
            <a:off x="2682240" y="3878580"/>
            <a:ext cx="1280160" cy="658368"/>
          </a:xfrm>
          <a:prstGeom prst="roundRect">
            <a:avLst>
              <a:gd name="adj" fmla="val 8333"/>
            </a:avLst>
          </a:prstGeom>
          <a:solidFill>
            <a:srgbClr val="FFFFFF"/>
          </a:solidFill>
          <a:ln w="19050">
            <a:solidFill>
              <a:srgbClr val="197A56"/>
            </a:solidFill>
            <a:prstDash val="solid"/>
          </a:ln>
        </p:spPr>
      </p:sp>
      <p:sp>
        <p:nvSpPr>
          <p:cNvPr id="58" name="ovl_s17_nt_aicap"/>
          <p:cNvSpPr txBox="1"/>
          <p:nvPr/>
        </p:nvSpPr>
        <p:spPr>
          <a:xfrm>
            <a:off x="2718816" y="3906012"/>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容量</a:t>
            </a:r>
            <a:endParaRPr lang="en-US" sz="1000" dirty="0"/>
          </a:p>
        </p:txBody>
      </p:sp>
      <p:sp>
        <p:nvSpPr>
          <p:cNvPr id="59" name="ovl_s17_ns_aicap"/>
          <p:cNvSpPr txBox="1"/>
          <p:nvPr/>
        </p:nvSpPr>
        <p:spPr>
          <a:xfrm>
            <a:off x="2727960" y="4111752"/>
            <a:ext cx="1188720" cy="39776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更新は従来比 +20%</a:t>
            </a:r>
            <a:endParaRPr lang="en-US" sz="850" dirty="0"/>
          </a:p>
        </p:txBody>
      </p:sp>
      <p:sp>
        <p:nvSpPr>
          <p:cNvPr id="60" name="ovl_s17_n_sw"/>
          <p:cNvSpPr/>
          <p:nvPr/>
        </p:nvSpPr>
        <p:spPr>
          <a:xfrm>
            <a:off x="4861560" y="2019300"/>
            <a:ext cx="1325880" cy="658368"/>
          </a:xfrm>
          <a:prstGeom prst="roundRect">
            <a:avLst>
              <a:gd name="adj" fmla="val 8333"/>
            </a:avLst>
          </a:prstGeom>
          <a:solidFill>
            <a:srgbClr val="EAF4EE"/>
          </a:solidFill>
          <a:ln w="9525">
            <a:solidFill>
              <a:srgbClr val="86C99B"/>
            </a:solidFill>
            <a:prstDash val="solid"/>
          </a:ln>
        </p:spPr>
      </p:sp>
      <p:sp>
        <p:nvSpPr>
          <p:cNvPr id="61" name="ovl_s17_nt_sw"/>
          <p:cNvSpPr txBox="1"/>
          <p:nvPr/>
        </p:nvSpPr>
        <p:spPr>
          <a:xfrm>
            <a:off x="4898136" y="204673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切替コスト</a:t>
            </a:r>
            <a:endParaRPr lang="en-US" sz="1000" dirty="0"/>
          </a:p>
        </p:txBody>
      </p:sp>
      <p:sp>
        <p:nvSpPr>
          <p:cNvPr id="62" name="ovl_s17_ns_sw"/>
          <p:cNvSpPr txBox="1"/>
          <p:nvPr/>
        </p:nvSpPr>
        <p:spPr>
          <a:xfrm>
            <a:off x="4907280" y="2252472"/>
            <a:ext cx="1234440" cy="39776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データ移行と</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アプリ改修に数年</a:t>
            </a:r>
            <a:endParaRPr lang="en-US" sz="850" dirty="0"/>
          </a:p>
        </p:txBody>
      </p:sp>
      <p:sp>
        <p:nvSpPr>
          <p:cNvPr id="63" name="ovl_s17_n_erp"/>
          <p:cNvSpPr/>
          <p:nvPr/>
        </p:nvSpPr>
        <p:spPr>
          <a:xfrm>
            <a:off x="4861560" y="2948940"/>
            <a:ext cx="1325880" cy="658368"/>
          </a:xfrm>
          <a:prstGeom prst="roundRect">
            <a:avLst>
              <a:gd name="adj" fmla="val 8333"/>
            </a:avLst>
          </a:prstGeom>
          <a:solidFill>
            <a:srgbClr val="EAF4EE"/>
          </a:solidFill>
          <a:ln w="9525">
            <a:solidFill>
              <a:srgbClr val="86C99B"/>
            </a:solidFill>
            <a:prstDash val="solid"/>
          </a:ln>
        </p:spPr>
      </p:sp>
      <p:sp>
        <p:nvSpPr>
          <p:cNvPr id="64" name="ovl_s17_nt_erp"/>
          <p:cNvSpPr txBox="1"/>
          <p:nvPr/>
        </p:nvSpPr>
        <p:spPr>
          <a:xfrm>
            <a:off x="4898136" y="297637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業務データの蓄積</a:t>
            </a:r>
            <a:endParaRPr lang="en-US" sz="1000" dirty="0"/>
          </a:p>
        </p:txBody>
      </p:sp>
      <p:sp>
        <p:nvSpPr>
          <p:cNvPr id="65" name="ovl_s17_ns_erp"/>
          <p:cNvSpPr txBox="1"/>
          <p:nvPr/>
        </p:nvSpPr>
        <p:spPr>
          <a:xfrm>
            <a:off x="4907280" y="3182112"/>
            <a:ext cx="1234440" cy="39776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移行は 8,500 社中</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約 1,000 社</a:t>
            </a:r>
            <a:endParaRPr lang="en-US" sz="850" dirty="0"/>
          </a:p>
        </p:txBody>
      </p:sp>
      <p:sp>
        <p:nvSpPr>
          <p:cNvPr id="66" name="ovl_s17_n_tight"/>
          <p:cNvSpPr/>
          <p:nvPr/>
        </p:nvSpPr>
        <p:spPr>
          <a:xfrm>
            <a:off x="4861560" y="3814572"/>
            <a:ext cx="1325880" cy="658368"/>
          </a:xfrm>
          <a:prstGeom prst="roundRect">
            <a:avLst>
              <a:gd name="adj" fmla="val 8333"/>
            </a:avLst>
          </a:prstGeom>
          <a:solidFill>
            <a:srgbClr val="FFFFFF"/>
          </a:solidFill>
          <a:ln w="19050">
            <a:solidFill>
              <a:srgbClr val="C0392B"/>
            </a:solidFill>
            <a:prstDash val="solid"/>
          </a:ln>
        </p:spPr>
      </p:sp>
      <p:sp>
        <p:nvSpPr>
          <p:cNvPr id="67" name="ovl_s17_nt_tight"/>
          <p:cNvSpPr txBox="1"/>
          <p:nvPr/>
        </p:nvSpPr>
        <p:spPr>
          <a:xfrm>
            <a:off x="4898136" y="3842004"/>
            <a:ext cx="12527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業界全体の逼迫</a:t>
            </a:r>
            <a:endParaRPr lang="en-US" sz="1000" dirty="0"/>
          </a:p>
        </p:txBody>
      </p:sp>
      <p:sp>
        <p:nvSpPr>
          <p:cNvPr id="68" name="ovl_s17_ns_tight"/>
          <p:cNvSpPr txBox="1"/>
          <p:nvPr/>
        </p:nvSpPr>
        <p:spPr>
          <a:xfrm>
            <a:off x="4907280" y="4047744"/>
            <a:ext cx="1234440" cy="39776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電力・部材の不足</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(自社の優位ではない)</a:t>
            </a:r>
            <a:endParaRPr lang="en-US" sz="850" dirty="0"/>
          </a:p>
        </p:txBody>
      </p:sp>
      <p:sp>
        <p:nvSpPr>
          <p:cNvPr id="69" name="ovl_s17_n_hyper"/>
          <p:cNvSpPr/>
          <p:nvPr/>
        </p:nvSpPr>
        <p:spPr>
          <a:xfrm>
            <a:off x="7086600" y="2019300"/>
            <a:ext cx="1188720" cy="658368"/>
          </a:xfrm>
          <a:prstGeom prst="roundRect">
            <a:avLst>
              <a:gd name="adj" fmla="val 8333"/>
            </a:avLst>
          </a:prstGeom>
          <a:solidFill>
            <a:srgbClr val="FFFFFF"/>
          </a:solidFill>
          <a:ln w="9525">
            <a:solidFill>
              <a:srgbClr val="767676"/>
            </a:solidFill>
            <a:prstDash val="solid"/>
          </a:ln>
        </p:spPr>
      </p:sp>
      <p:sp>
        <p:nvSpPr>
          <p:cNvPr id="70" name="ovl_s17_nt_hyper"/>
          <p:cNvSpPr txBox="1"/>
          <p:nvPr/>
        </p:nvSpPr>
        <p:spPr>
          <a:xfrm>
            <a:off x="7123176" y="2046732"/>
            <a:ext cx="1115568" cy="356616"/>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AWS・Azure・</a:t>
            </a:r>
            <a:endParaRPr lang="en-US" sz="900" dirty="0"/>
          </a:p>
          <a:p>
            <a:pPr algn="ctr" indent="0" marL="0">
              <a:buNone/>
            </a:pPr>
            <a:r>
              <a:rPr lang="en-US" sz="900" b="1" dirty="0">
                <a:solidFill>
                  <a:srgbClr val="0E4D33"/>
                </a:solidFill>
                <a:latin typeface="Meiryo UI" pitchFamily="34" charset="0"/>
                <a:ea typeface="Meiryo UI" pitchFamily="34" charset="-122"/>
                <a:cs typeface="Meiryo UI" pitchFamily="34" charset="-120"/>
              </a:rPr>
              <a:t>Google</a:t>
            </a:r>
            <a:endParaRPr lang="en-US" sz="900" dirty="0"/>
          </a:p>
        </p:txBody>
      </p:sp>
      <p:sp>
        <p:nvSpPr>
          <p:cNvPr id="71" name="ovl_s17_ns_hyper"/>
          <p:cNvSpPr txBox="1"/>
          <p:nvPr/>
        </p:nvSpPr>
        <p:spPr>
          <a:xfrm>
            <a:off x="7132320" y="2403348"/>
            <a:ext cx="1097280" cy="24688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DB 移行サービス</a:t>
            </a:r>
            <a:endParaRPr lang="en-US" sz="850" dirty="0"/>
          </a:p>
        </p:txBody>
      </p:sp>
      <p:sp>
        <p:nvSpPr>
          <p:cNvPr id="72" name="ovl_s17_n_sap"/>
          <p:cNvSpPr/>
          <p:nvPr/>
        </p:nvSpPr>
        <p:spPr>
          <a:xfrm>
            <a:off x="7086600" y="2948940"/>
            <a:ext cx="1188720" cy="658368"/>
          </a:xfrm>
          <a:prstGeom prst="roundRect">
            <a:avLst>
              <a:gd name="adj" fmla="val 8333"/>
            </a:avLst>
          </a:prstGeom>
          <a:solidFill>
            <a:srgbClr val="FFFFFF"/>
          </a:solidFill>
          <a:ln w="9525">
            <a:solidFill>
              <a:srgbClr val="767676"/>
            </a:solidFill>
            <a:prstDash val="solid"/>
          </a:ln>
        </p:spPr>
      </p:sp>
      <p:sp>
        <p:nvSpPr>
          <p:cNvPr id="73" name="ovl_s17_nt_sap"/>
          <p:cNvSpPr txBox="1"/>
          <p:nvPr/>
        </p:nvSpPr>
        <p:spPr>
          <a:xfrm>
            <a:off x="7123176" y="2976372"/>
            <a:ext cx="111556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SAP・Workday</a:t>
            </a:r>
            <a:endParaRPr lang="en-US" sz="1000" dirty="0"/>
          </a:p>
        </p:txBody>
      </p:sp>
      <p:sp>
        <p:nvSpPr>
          <p:cNvPr id="74" name="ovl_s17_ns_sap"/>
          <p:cNvSpPr txBox="1"/>
          <p:nvPr/>
        </p:nvSpPr>
        <p:spPr>
          <a:xfrm>
            <a:off x="7132320" y="3182112"/>
            <a:ext cx="1097280" cy="39776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クラウド ERP +25%</a:t>
            </a:r>
            <a:endParaRPr lang="en-US" sz="850" dirty="0"/>
          </a:p>
        </p:txBody>
      </p:sp>
      <p:sp>
        <p:nvSpPr>
          <p:cNvPr id="75" name="ovl_s17_n_neo"/>
          <p:cNvSpPr/>
          <p:nvPr/>
        </p:nvSpPr>
        <p:spPr>
          <a:xfrm>
            <a:off x="7086600" y="3878580"/>
            <a:ext cx="1188720" cy="658368"/>
          </a:xfrm>
          <a:prstGeom prst="roundRect">
            <a:avLst>
              <a:gd name="adj" fmla="val 8333"/>
            </a:avLst>
          </a:prstGeom>
          <a:solidFill>
            <a:srgbClr val="FFFFFF"/>
          </a:solidFill>
          <a:ln w="19050">
            <a:solidFill>
              <a:srgbClr val="C0392B"/>
            </a:solidFill>
            <a:prstDash val="solid"/>
          </a:ln>
        </p:spPr>
      </p:sp>
      <p:sp>
        <p:nvSpPr>
          <p:cNvPr id="76" name="ovl_s17_nt_neo"/>
          <p:cNvSpPr txBox="1"/>
          <p:nvPr/>
        </p:nvSpPr>
        <p:spPr>
          <a:xfrm>
            <a:off x="7123176" y="3906012"/>
            <a:ext cx="1115568" cy="205740"/>
          </a:xfrm>
          <a:prstGeom prst="rect">
            <a:avLst/>
          </a:prstGeom>
          <a:noFill/>
          <a:ln/>
        </p:spPr>
        <p:txBody>
          <a:bodyPr wrap="square" lIns="0" tIns="0" rIns="0" bIns="0" rtlCol="0" anchor="ctr"/>
          <a:lstStyle/>
          <a:p>
            <a:pPr algn="ctr" indent="0" marL="0">
              <a:buNone/>
            </a:pPr>
            <a:r>
              <a:rPr lang="en-US" sz="900" b="1" dirty="0">
                <a:solidFill>
                  <a:srgbClr val="C0392B"/>
                </a:solidFill>
                <a:latin typeface="Meiryo UI" pitchFamily="34" charset="0"/>
                <a:ea typeface="Meiryo UI" pitchFamily="34" charset="-122"/>
                <a:cs typeface="Meiryo UI" pitchFamily="34" charset="-120"/>
              </a:rPr>
              <a:t>ネオクラウド・TPU</a:t>
            </a:r>
            <a:endParaRPr lang="en-US" sz="900" dirty="0"/>
          </a:p>
        </p:txBody>
      </p:sp>
      <p:sp>
        <p:nvSpPr>
          <p:cNvPr id="77" name="ovl_s17_ns_neo"/>
          <p:cNvSpPr txBox="1"/>
          <p:nvPr/>
        </p:nvSpPr>
        <p:spPr>
          <a:xfrm>
            <a:off x="7132320" y="4111752"/>
            <a:ext cx="1097280" cy="39776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H100 実勢は</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約 2.6 倍安い</a:t>
            </a:r>
            <a:endParaRPr lang="en-US" sz="850" dirty="0"/>
          </a:p>
        </p:txBody>
      </p:sp>
      <p:sp>
        <p:nvSpPr>
          <p:cNvPr id="78" name="ovl_s17_tag_sw"/>
          <p:cNvSpPr/>
          <p:nvPr/>
        </p:nvSpPr>
        <p:spPr>
          <a:xfrm>
            <a:off x="5280660" y="2705100"/>
            <a:ext cx="487680" cy="182880"/>
          </a:xfrm>
          <a:prstGeom prst="roundRect">
            <a:avLst>
              <a:gd name="adj" fmla="val 20000"/>
            </a:avLst>
          </a:prstGeom>
          <a:solidFill>
            <a:srgbClr val="197A56"/>
          </a:solidFill>
          <a:ln w="12700">
            <a:solidFill>
              <a:srgbClr val="197A56"/>
            </a:solidFill>
            <a:prstDash val="solid"/>
          </a:ln>
        </p:spPr>
      </p:sp>
      <p:sp>
        <p:nvSpPr>
          <p:cNvPr id="79" name="ovl_s17_tagt_sw"/>
          <p:cNvSpPr txBox="1"/>
          <p:nvPr/>
        </p:nvSpPr>
        <p:spPr>
          <a:xfrm>
            <a:off x="5280660" y="2705100"/>
            <a:ext cx="48768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数十年</a:t>
            </a:r>
            <a:endParaRPr lang="en-US" sz="800" dirty="0"/>
          </a:p>
        </p:txBody>
      </p:sp>
      <p:sp>
        <p:nvSpPr>
          <p:cNvPr id="80" name="ovl_s17_tag_erp"/>
          <p:cNvSpPr/>
          <p:nvPr/>
        </p:nvSpPr>
        <p:spPr>
          <a:xfrm>
            <a:off x="5382260" y="3634740"/>
            <a:ext cx="284480" cy="182880"/>
          </a:xfrm>
          <a:prstGeom prst="roundRect">
            <a:avLst>
              <a:gd name="adj" fmla="val 20000"/>
            </a:avLst>
          </a:prstGeom>
          <a:solidFill>
            <a:srgbClr val="D68910"/>
          </a:solidFill>
          <a:ln w="12700">
            <a:solidFill>
              <a:srgbClr val="D68910"/>
            </a:solidFill>
            <a:prstDash val="solid"/>
          </a:ln>
        </p:spPr>
      </p:sp>
      <p:sp>
        <p:nvSpPr>
          <p:cNvPr id="81" name="ovl_s17_tagt_erp"/>
          <p:cNvSpPr txBox="1"/>
          <p:nvPr/>
        </p:nvSpPr>
        <p:spPr>
          <a:xfrm>
            <a:off x="5382260" y="3634740"/>
            <a:ext cx="28448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中</a:t>
            </a:r>
            <a:endParaRPr lang="en-US" sz="800" dirty="0"/>
          </a:p>
        </p:txBody>
      </p:sp>
      <p:sp>
        <p:nvSpPr>
          <p:cNvPr id="82" name="ovl_s17_tag_tight"/>
          <p:cNvSpPr/>
          <p:nvPr/>
        </p:nvSpPr>
        <p:spPr>
          <a:xfrm>
            <a:off x="5204460" y="4500372"/>
            <a:ext cx="640080" cy="182880"/>
          </a:xfrm>
          <a:prstGeom prst="roundRect">
            <a:avLst>
              <a:gd name="adj" fmla="val 20000"/>
            </a:avLst>
          </a:prstGeom>
          <a:solidFill>
            <a:srgbClr val="C0392B"/>
          </a:solidFill>
          <a:ln w="12700">
            <a:solidFill>
              <a:srgbClr val="C0392B"/>
            </a:solidFill>
            <a:prstDash val="solid"/>
          </a:ln>
        </p:spPr>
      </p:sp>
      <p:sp>
        <p:nvSpPr>
          <p:cNvPr id="83" name="ovl_s17_tagt_tight"/>
          <p:cNvSpPr txBox="1"/>
          <p:nvPr/>
        </p:nvSpPr>
        <p:spPr>
          <a:xfrm>
            <a:off x="5204460" y="4500372"/>
            <a:ext cx="64008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FY32 まで</a:t>
            </a:r>
            <a:endParaRPr lang="en-US" sz="800" dirty="0"/>
          </a:p>
        </p:txBody>
      </p:sp>
      <p:sp>
        <p:nvSpPr>
          <p:cNvPr id="84" name="ovl_s17_lab0"/>
          <p:cNvSpPr txBox="1"/>
          <p:nvPr/>
        </p:nvSpPr>
        <p:spPr>
          <a:xfrm>
            <a:off x="1927136" y="2115312"/>
            <a:ext cx="611048"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0E4D33"/>
                </a:solidFill>
                <a:latin typeface="Meiryo UI" pitchFamily="34" charset="0"/>
                <a:ea typeface="Meiryo UI" pitchFamily="34" charset="-122"/>
                <a:cs typeface="Meiryo UI" pitchFamily="34" charset="-120"/>
              </a:rPr>
              <a:t>① </a:t>
            </a:r>
            <a:r>
              <a:rPr lang="en-US" sz="850" dirty="0">
                <a:solidFill>
                  <a:srgbClr val="0E4D33"/>
                </a:solidFill>
                <a:latin typeface="Meiryo UI" pitchFamily="34" charset="0"/>
                <a:ea typeface="Meiryo UI" pitchFamily="34" charset="-122"/>
                <a:cs typeface="Meiryo UI" pitchFamily="34" charset="-120"/>
              </a:rPr>
              <a:t>保守料</a:t>
            </a:r>
            <a:endParaRPr lang="en-US" sz="850" dirty="0"/>
          </a:p>
        </p:txBody>
      </p:sp>
      <p:sp>
        <p:nvSpPr>
          <p:cNvPr id="85" name="ovl_s17_lab1"/>
          <p:cNvSpPr txBox="1"/>
          <p:nvPr/>
        </p:nvSpPr>
        <p:spPr>
          <a:xfrm>
            <a:off x="1927136" y="3044952"/>
            <a:ext cx="611048"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0E4D33"/>
                </a:solidFill>
                <a:latin typeface="Meiryo UI" pitchFamily="34" charset="0"/>
                <a:ea typeface="Meiryo UI" pitchFamily="34" charset="-122"/>
                <a:cs typeface="Meiryo UI" pitchFamily="34" charset="-120"/>
              </a:rPr>
              <a:t>② </a:t>
            </a:r>
            <a:r>
              <a:rPr lang="en-US" sz="850" dirty="0">
                <a:solidFill>
                  <a:srgbClr val="0E4D33"/>
                </a:solidFill>
                <a:latin typeface="Meiryo UI" pitchFamily="34" charset="0"/>
                <a:ea typeface="Meiryo UI" pitchFamily="34" charset="-122"/>
                <a:cs typeface="Meiryo UI" pitchFamily="34" charset="-120"/>
              </a:rPr>
              <a:t>購読料</a:t>
            </a:r>
            <a:endParaRPr lang="en-US" sz="850" dirty="0"/>
          </a:p>
        </p:txBody>
      </p:sp>
      <p:sp>
        <p:nvSpPr>
          <p:cNvPr id="86" name="ovl_s17_lab2"/>
          <p:cNvSpPr txBox="1"/>
          <p:nvPr/>
        </p:nvSpPr>
        <p:spPr>
          <a:xfrm>
            <a:off x="1819656" y="3832860"/>
            <a:ext cx="826008" cy="347472"/>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0E4D33"/>
                </a:solidFill>
                <a:latin typeface="Meiryo UI" pitchFamily="34" charset="0"/>
                <a:ea typeface="Meiryo UI" pitchFamily="34" charset="-122"/>
                <a:cs typeface="Meiryo UI" pitchFamily="34" charset="-120"/>
              </a:rPr>
              <a:t>③ </a:t>
            </a:r>
            <a:r>
              <a:rPr lang="en-US" sz="850" dirty="0">
                <a:solidFill>
                  <a:srgbClr val="0E4D33"/>
                </a:solidFill>
                <a:latin typeface="Meiryo UI" pitchFamily="34" charset="0"/>
                <a:ea typeface="Meiryo UI" pitchFamily="34" charset="-122"/>
                <a:cs typeface="Meiryo UI" pitchFamily="34" charset="-120"/>
              </a:rPr>
              <a:t>容量料</a:t>
            </a:r>
            <a:endParaRPr lang="en-US" sz="850" dirty="0"/>
          </a:p>
          <a:p>
            <a:pPr algn="ctr" indent="0" marL="0">
              <a:buNone/>
            </a:pPr>
            <a:r>
              <a:rPr lang="en-US" sz="850" dirty="0">
                <a:solidFill>
                  <a:srgbClr val="0E4D33"/>
                </a:solidFill>
                <a:latin typeface="Meiryo UI" pitchFamily="34" charset="0"/>
                <a:ea typeface="Meiryo UI" pitchFamily="34" charset="-122"/>
                <a:cs typeface="Meiryo UI" pitchFamily="34" charset="-120"/>
              </a:rPr>
              <a:t>+5%/年</a:t>
            </a:r>
            <a:endParaRPr lang="en-US" sz="850" dirty="0"/>
          </a:p>
        </p:txBody>
      </p:sp>
      <p:sp>
        <p:nvSpPr>
          <p:cNvPr id="87" name="ovl_s17_lab3"/>
          <p:cNvSpPr txBox="1"/>
          <p:nvPr/>
        </p:nvSpPr>
        <p:spPr>
          <a:xfrm>
            <a:off x="4065651" y="2115312"/>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顧客を囲う</a:t>
            </a:r>
            <a:endParaRPr lang="en-US" sz="850" dirty="0"/>
          </a:p>
        </p:txBody>
      </p:sp>
      <p:sp>
        <p:nvSpPr>
          <p:cNvPr id="88" name="ovl_s17_lab4"/>
          <p:cNvSpPr txBox="1"/>
          <p:nvPr/>
        </p:nvSpPr>
        <p:spPr>
          <a:xfrm>
            <a:off x="4065651" y="3044952"/>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移行を促す</a:t>
            </a:r>
            <a:endParaRPr lang="en-US" sz="850" dirty="0"/>
          </a:p>
        </p:txBody>
      </p:sp>
      <p:sp>
        <p:nvSpPr>
          <p:cNvPr id="89" name="ovl_s17_lab5"/>
          <p:cNvSpPr txBox="1"/>
          <p:nvPr/>
        </p:nvSpPr>
        <p:spPr>
          <a:xfrm>
            <a:off x="4007358" y="3910584"/>
            <a:ext cx="809244"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値上げを許す</a:t>
            </a:r>
            <a:endParaRPr lang="en-US" sz="850" dirty="0"/>
          </a:p>
        </p:txBody>
      </p:sp>
      <p:sp>
        <p:nvSpPr>
          <p:cNvPr id="90" name="ovl_s17_lab6"/>
          <p:cNvSpPr txBox="1"/>
          <p:nvPr/>
        </p:nvSpPr>
        <p:spPr>
          <a:xfrm>
            <a:off x="6290691" y="2115312"/>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移行の誘い</a:t>
            </a:r>
            <a:endParaRPr lang="en-US" sz="850" dirty="0"/>
          </a:p>
        </p:txBody>
      </p:sp>
      <p:sp>
        <p:nvSpPr>
          <p:cNvPr id="91" name="ovl_s17_lab7"/>
          <p:cNvSpPr txBox="1"/>
          <p:nvPr/>
        </p:nvSpPr>
        <p:spPr>
          <a:xfrm>
            <a:off x="6224016" y="2903220"/>
            <a:ext cx="826008" cy="347472"/>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乗り換えの誘い</a:t>
            </a:r>
            <a:endParaRPr lang="en-US" sz="850" dirty="0"/>
          </a:p>
        </p:txBody>
      </p:sp>
      <p:sp>
        <p:nvSpPr>
          <p:cNvPr id="92" name="ovl_s17_lab8"/>
          <p:cNvSpPr txBox="1"/>
          <p:nvPr/>
        </p:nvSpPr>
        <p:spPr>
          <a:xfrm>
            <a:off x="6224016" y="3832860"/>
            <a:ext cx="826008" cy="347472"/>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C0392B"/>
                </a:solidFill>
                <a:latin typeface="Meiryo UI" pitchFamily="34" charset="0"/>
                <a:ea typeface="Meiryo UI" pitchFamily="34" charset="-122"/>
                <a:cs typeface="Meiryo UI" pitchFamily="34" charset="-120"/>
              </a:rPr>
              <a:t>④ </a:t>
            </a:r>
            <a:r>
              <a:rPr lang="en-US" sz="850" dirty="0">
                <a:solidFill>
                  <a:srgbClr val="C0392B"/>
                </a:solidFill>
                <a:latin typeface="Meiryo UI" pitchFamily="34" charset="0"/>
                <a:ea typeface="Meiryo UI" pitchFamily="34" charset="-122"/>
                <a:cs typeface="Meiryo UI" pitchFamily="34" charset="-120"/>
              </a:rPr>
              <a:t>緩和後の</a:t>
            </a:r>
            <a:endParaRPr lang="en-US" sz="850" dirty="0"/>
          </a:p>
          <a:p>
            <a:pPr algn="ctr" indent="0" marL="0">
              <a:buNone/>
            </a:pPr>
            <a:r>
              <a:rPr lang="en-US" sz="850" dirty="0">
                <a:solidFill>
                  <a:srgbClr val="C0392B"/>
                </a:solidFill>
                <a:latin typeface="Meiryo UI" pitchFamily="34" charset="0"/>
                <a:ea typeface="Meiryo UI" pitchFamily="34" charset="-122"/>
                <a:cs typeface="Meiryo UI" pitchFamily="34" charset="-120"/>
              </a:rPr>
              <a:t>値下げ</a:t>
            </a:r>
            <a:endParaRPr lang="en-US" sz="850" dirty="0"/>
          </a:p>
        </p:txBody>
      </p:sp>
      <p:sp>
        <p:nvSpPr>
          <p:cNvPr id="93" name="ovl_s17_glab0"/>
          <p:cNvSpPr txBox="1"/>
          <p:nvPr/>
        </p:nvSpPr>
        <p:spPr>
          <a:xfrm>
            <a:off x="2709672" y="1828800"/>
            <a:ext cx="349504" cy="164592"/>
          </a:xfrm>
          <a:prstGeom prst="rect">
            <a:avLst/>
          </a:prstGeom>
          <a:solidFill>
            <a:srgbClr val="FFFFFF"/>
          </a:solidFill>
          <a:ln/>
        </p:spPr>
        <p:txBody>
          <a:bodyPr wrap="square" lIns="0" tIns="0" rIns="0" bIns="0" rtlCol="0" anchor="ctr"/>
          <a:lstStyle/>
          <a:p>
            <a:pPr algn="ctr" indent="0" marL="0">
              <a:buNone/>
            </a:pPr>
            <a:r>
              <a:rPr lang="en-US" sz="800" b="1" dirty="0">
                <a:solidFill>
                  <a:srgbClr val="197A56"/>
                </a:solidFill>
                <a:latin typeface="Meiryo UI" pitchFamily="34" charset="0"/>
                <a:ea typeface="Meiryo UI" pitchFamily="34" charset="-122"/>
                <a:cs typeface="Meiryo UI" pitchFamily="34" charset="-120"/>
              </a:rPr>
              <a:t>事業</a:t>
            </a:r>
            <a:endParaRPr lang="en-US" sz="800" dirty="0"/>
          </a:p>
        </p:txBody>
      </p:sp>
      <p:sp>
        <p:nvSpPr>
          <p:cNvPr id="94" name="ovl_s17_glab1"/>
          <p:cNvSpPr txBox="1"/>
          <p:nvPr/>
        </p:nvSpPr>
        <p:spPr>
          <a:xfrm>
            <a:off x="4888992" y="1828800"/>
            <a:ext cx="867664" cy="164592"/>
          </a:xfrm>
          <a:prstGeom prst="rect">
            <a:avLst/>
          </a:prstGeom>
          <a:solidFill>
            <a:srgbClr val="FFFFFF"/>
          </a:solidFill>
          <a:ln/>
        </p:spPr>
        <p:txBody>
          <a:bodyPr wrap="square" lIns="0" tIns="0" rIns="0" bIns="0" rtlCol="0" anchor="ctr"/>
          <a:lstStyle/>
          <a:p>
            <a:pPr algn="ctr" indent="0" marL="0">
              <a:buNone/>
            </a:pPr>
            <a:r>
              <a:rPr lang="en-US" sz="800" b="1" dirty="0">
                <a:solidFill>
                  <a:srgbClr val="197A56"/>
                </a:solidFill>
                <a:latin typeface="Meiryo UI" pitchFamily="34" charset="0"/>
                <a:ea typeface="Meiryo UI" pitchFamily="34" charset="-122"/>
                <a:cs typeface="Meiryo UI" pitchFamily="34" charset="-120"/>
              </a:rPr>
              <a:t>優位の源泉(壁)</a:t>
            </a:r>
            <a:endParaRPr lang="en-US" sz="800" dirty="0"/>
          </a:p>
        </p:txBody>
      </p:sp>
      <p:sp>
        <p:nvSpPr>
          <p:cNvPr id="95" name="ovl_s17_leg0"/>
          <p:cNvSpPr/>
          <p:nvPr/>
        </p:nvSpPr>
        <p:spPr>
          <a:xfrm>
            <a:off x="457200" y="4828032"/>
            <a:ext cx="365760" cy="914"/>
          </a:xfrm>
          <a:prstGeom prst="line">
            <a:avLst/>
          </a:prstGeom>
          <a:noFill/>
          <a:ln w="22225">
            <a:solidFill>
              <a:srgbClr val="0E4D33"/>
            </a:solidFill>
            <a:prstDash val="solid"/>
            <a:tailEnd type="triangle"/>
          </a:ln>
        </p:spPr>
      </p:sp>
      <p:sp>
        <p:nvSpPr>
          <p:cNvPr id="96" name="ovl_s17_legt0"/>
          <p:cNvSpPr txBox="1"/>
          <p:nvPr/>
        </p:nvSpPr>
        <p:spPr>
          <a:xfrm>
            <a:off x="877824" y="4727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カネ</a:t>
            </a:r>
            <a:endParaRPr lang="en-US" sz="800" dirty="0"/>
          </a:p>
        </p:txBody>
      </p:sp>
      <p:sp>
        <p:nvSpPr>
          <p:cNvPr id="97" name="ovl_s17_leg1"/>
          <p:cNvSpPr/>
          <p:nvPr/>
        </p:nvSpPr>
        <p:spPr>
          <a:xfrm>
            <a:off x="1874520" y="4828032"/>
            <a:ext cx="365760" cy="914"/>
          </a:xfrm>
          <a:prstGeom prst="line">
            <a:avLst/>
          </a:prstGeom>
          <a:noFill/>
          <a:ln w="15875">
            <a:solidFill>
              <a:srgbClr val="C0392B"/>
            </a:solidFill>
            <a:prstDash val="dash"/>
            <a:tailEnd type="triangle"/>
          </a:ln>
        </p:spPr>
      </p:sp>
      <p:sp>
        <p:nvSpPr>
          <p:cNvPr id="98" name="ovl_s17_legt1"/>
          <p:cNvSpPr txBox="1"/>
          <p:nvPr/>
        </p:nvSpPr>
        <p:spPr>
          <a:xfrm>
            <a:off x="2295144" y="4727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リスク</a:t>
            </a:r>
            <a:endParaRPr lang="en-US" sz="800" dirty="0"/>
          </a:p>
        </p:txBody>
      </p:sp>
      <p:sp>
        <p:nvSpPr>
          <p:cNvPr id="99" name="ovl_s17_leg2"/>
          <p:cNvSpPr/>
          <p:nvPr/>
        </p:nvSpPr>
        <p:spPr>
          <a:xfrm>
            <a:off x="3291840" y="4828032"/>
            <a:ext cx="365760" cy="914"/>
          </a:xfrm>
          <a:prstGeom prst="line">
            <a:avLst/>
          </a:prstGeom>
          <a:noFill/>
          <a:ln w="12700">
            <a:solidFill>
              <a:srgbClr val="767676"/>
            </a:solidFill>
            <a:prstDash val="sysDash"/>
            <a:tailEnd type="triangle"/>
          </a:ln>
        </p:spPr>
      </p:sp>
      <p:sp>
        <p:nvSpPr>
          <p:cNvPr id="100" name="ovl_s17_legt2"/>
          <p:cNvSpPr txBox="1"/>
          <p:nvPr/>
        </p:nvSpPr>
        <p:spPr>
          <a:xfrm>
            <a:off x="3712464" y="4727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契約・統治</a:t>
            </a:r>
            <a:endParaRPr lang="en-US" sz="800" dirty="0"/>
          </a:p>
        </p:txBody>
      </p:sp>
      <p:sp>
        <p:nvSpPr>
          <p:cNvPr id="101" name="ovl_s17_legn"/>
          <p:cNvSpPr txBox="1"/>
          <p:nvPr/>
        </p:nvSpPr>
        <p:spPr>
          <a:xfrm>
            <a:off x="6126480" y="4727448"/>
            <a:ext cx="2148840" cy="201168"/>
          </a:xfrm>
          <a:prstGeom prst="rect">
            <a:avLst/>
          </a:prstGeom>
          <a:noFill/>
          <a:ln/>
        </p:spPr>
        <p:txBody>
          <a:bodyPr wrap="square" lIns="0" tIns="0" rIns="0" bIns="0" rtlCol="0" anchor="ctr"/>
          <a:lstStyle/>
          <a:p>
            <a:pPr algn="r" indent="0" marL="0">
              <a:buNone/>
            </a:pPr>
            <a:r>
              <a:rPr lang="en-US" sz="800" dirty="0">
                <a:solidFill>
                  <a:srgbClr val="767676"/>
                </a:solidFill>
                <a:latin typeface="Meiryo UI" pitchFamily="34" charset="0"/>
                <a:ea typeface="Meiryo UI" pitchFamily="34" charset="-122"/>
                <a:cs typeface="Meiryo UI" pitchFamily="34" charset="-120"/>
              </a:rPr>
              <a:t>①② … は右の「仕組み」の番号</a:t>
            </a:r>
            <a:endParaRPr lang="en-US" sz="800" dirty="0"/>
          </a:p>
        </p:txBody>
      </p:sp>
      <p:sp>
        <p:nvSpPr>
          <p:cNvPr id="102" name="ovl_s17_tbhead"/>
          <p:cNvSpPr txBox="1"/>
          <p:nvPr/>
        </p:nvSpPr>
        <p:spPr>
          <a:xfrm>
            <a:off x="457200" y="5029200"/>
            <a:ext cx="1325880" cy="182880"/>
          </a:xfrm>
          <a:prstGeom prst="rect">
            <a:avLst/>
          </a:prstGeom>
          <a:noFill/>
          <a:ln/>
        </p:spPr>
        <p:txBody>
          <a:bodyPr wrap="square" lIns="0" tIns="0" rIns="0" bIns="0" rtlCol="0" anchor="ctr"/>
          <a:lstStyle/>
          <a:p>
            <a:pPr indent="0" marL="0">
              <a:buNone/>
            </a:pPr>
            <a:r>
              <a:rPr lang="en-US" sz="850" b="1" dirty="0">
                <a:solidFill>
                  <a:srgbClr val="197A56"/>
                </a:solidFill>
                <a:latin typeface="Meiryo UI" pitchFamily="34" charset="0"/>
                <a:ea typeface="Meiryo UI" pitchFamily="34" charset="-122"/>
                <a:cs typeface="Meiryo UI" pitchFamily="34" charset="-120"/>
              </a:rPr>
              <a:t>優位が続く期間</a:t>
            </a:r>
            <a:endParaRPr lang="en-US" sz="850" dirty="0"/>
          </a:p>
        </p:txBody>
      </p:sp>
      <p:sp>
        <p:nvSpPr>
          <p:cNvPr id="103" name="ovl_s17tb_tk2027"/>
          <p:cNvSpPr txBox="1"/>
          <p:nvPr/>
        </p:nvSpPr>
        <p:spPr>
          <a:xfrm>
            <a:off x="1600200" y="5029200"/>
            <a:ext cx="548640" cy="182880"/>
          </a:xfrm>
          <a:prstGeom prst="rect">
            <a:avLst/>
          </a:prstGeom>
          <a:noFill/>
          <a:ln/>
        </p:spPr>
        <p:txBody>
          <a:bodyPr wrap="square" lIns="0" tIns="0" rIns="0" bIns="0" rtlCol="0" anchor="t"/>
          <a:lstStyle/>
          <a:p>
            <a:pPr algn="ctr" indent="0" marL="0">
              <a:buNone/>
            </a:pPr>
            <a:r>
              <a:rPr lang="en-US" sz="800" dirty="0">
                <a:solidFill>
                  <a:srgbClr val="767676"/>
                </a:solidFill>
                <a:latin typeface="Meiryo UI" pitchFamily="34" charset="0"/>
                <a:ea typeface="Meiryo UI" pitchFamily="34" charset="-122"/>
                <a:cs typeface="Meiryo UI" pitchFamily="34" charset="-120"/>
              </a:rPr>
              <a:t>FY27</a:t>
            </a:r>
            <a:endParaRPr lang="en-US" sz="800" dirty="0"/>
          </a:p>
        </p:txBody>
      </p:sp>
      <p:sp>
        <p:nvSpPr>
          <p:cNvPr id="104" name="ovl_s17tb_gl2027"/>
          <p:cNvSpPr/>
          <p:nvPr/>
        </p:nvSpPr>
        <p:spPr>
          <a:xfrm>
            <a:off x="1874520" y="5212080"/>
            <a:ext cx="914" cy="822960"/>
          </a:xfrm>
          <a:prstGeom prst="line">
            <a:avLst/>
          </a:prstGeom>
          <a:noFill/>
          <a:ln w="6350">
            <a:solidFill>
              <a:srgbClr val="D9D9D9"/>
            </a:solidFill>
            <a:prstDash val="dash"/>
          </a:ln>
        </p:spPr>
      </p:sp>
      <p:sp>
        <p:nvSpPr>
          <p:cNvPr id="105" name="ovl_s17tb_tk2032"/>
          <p:cNvSpPr txBox="1"/>
          <p:nvPr/>
        </p:nvSpPr>
        <p:spPr>
          <a:xfrm>
            <a:off x="3200400" y="5029200"/>
            <a:ext cx="548640" cy="182880"/>
          </a:xfrm>
          <a:prstGeom prst="rect">
            <a:avLst/>
          </a:prstGeom>
          <a:noFill/>
          <a:ln/>
        </p:spPr>
        <p:txBody>
          <a:bodyPr wrap="square" lIns="0" tIns="0" rIns="0" bIns="0" rtlCol="0" anchor="t"/>
          <a:lstStyle/>
          <a:p>
            <a:pPr algn="ctr" indent="0" marL="0">
              <a:buNone/>
            </a:pPr>
            <a:r>
              <a:rPr lang="en-US" sz="800" dirty="0">
                <a:solidFill>
                  <a:srgbClr val="767676"/>
                </a:solidFill>
                <a:latin typeface="Meiryo UI" pitchFamily="34" charset="0"/>
                <a:ea typeface="Meiryo UI" pitchFamily="34" charset="-122"/>
                <a:cs typeface="Meiryo UI" pitchFamily="34" charset="-120"/>
              </a:rPr>
              <a:t>FY32</a:t>
            </a:r>
            <a:endParaRPr lang="en-US" sz="800" dirty="0"/>
          </a:p>
        </p:txBody>
      </p:sp>
      <p:sp>
        <p:nvSpPr>
          <p:cNvPr id="106" name="ovl_s17tb_gl2032"/>
          <p:cNvSpPr/>
          <p:nvPr/>
        </p:nvSpPr>
        <p:spPr>
          <a:xfrm>
            <a:off x="3474720" y="5212080"/>
            <a:ext cx="914" cy="822960"/>
          </a:xfrm>
          <a:prstGeom prst="line">
            <a:avLst/>
          </a:prstGeom>
          <a:noFill/>
          <a:ln w="6350">
            <a:solidFill>
              <a:srgbClr val="D9D9D9"/>
            </a:solidFill>
            <a:prstDash val="dash"/>
          </a:ln>
        </p:spPr>
      </p:sp>
      <p:sp>
        <p:nvSpPr>
          <p:cNvPr id="107" name="ovl_s17tb_tk2037"/>
          <p:cNvSpPr txBox="1"/>
          <p:nvPr/>
        </p:nvSpPr>
        <p:spPr>
          <a:xfrm>
            <a:off x="4800600" y="5029200"/>
            <a:ext cx="548640" cy="182880"/>
          </a:xfrm>
          <a:prstGeom prst="rect">
            <a:avLst/>
          </a:prstGeom>
          <a:noFill/>
          <a:ln/>
        </p:spPr>
        <p:txBody>
          <a:bodyPr wrap="square" lIns="0" tIns="0" rIns="0" bIns="0" rtlCol="0" anchor="t"/>
          <a:lstStyle/>
          <a:p>
            <a:pPr algn="ctr" indent="0" marL="0">
              <a:buNone/>
            </a:pPr>
            <a:r>
              <a:rPr lang="en-US" sz="800" dirty="0">
                <a:solidFill>
                  <a:srgbClr val="767676"/>
                </a:solidFill>
                <a:latin typeface="Meiryo UI" pitchFamily="34" charset="0"/>
                <a:ea typeface="Meiryo UI" pitchFamily="34" charset="-122"/>
                <a:cs typeface="Meiryo UI" pitchFamily="34" charset="-120"/>
              </a:rPr>
              <a:t>FY37</a:t>
            </a:r>
            <a:endParaRPr lang="en-US" sz="800" dirty="0"/>
          </a:p>
        </p:txBody>
      </p:sp>
      <p:sp>
        <p:nvSpPr>
          <p:cNvPr id="108" name="ovl_s17tb_gl2037"/>
          <p:cNvSpPr/>
          <p:nvPr/>
        </p:nvSpPr>
        <p:spPr>
          <a:xfrm>
            <a:off x="5074920" y="5212080"/>
            <a:ext cx="914" cy="822960"/>
          </a:xfrm>
          <a:prstGeom prst="line">
            <a:avLst/>
          </a:prstGeom>
          <a:noFill/>
          <a:ln w="6350">
            <a:solidFill>
              <a:srgbClr val="D9D9D9"/>
            </a:solidFill>
            <a:prstDash val="dash"/>
          </a:ln>
        </p:spPr>
      </p:sp>
      <p:sp>
        <p:nvSpPr>
          <p:cNvPr id="109" name="ovl_s17tb_tk2042"/>
          <p:cNvSpPr txBox="1"/>
          <p:nvPr/>
        </p:nvSpPr>
        <p:spPr>
          <a:xfrm>
            <a:off x="6400800" y="5029200"/>
            <a:ext cx="548640" cy="182880"/>
          </a:xfrm>
          <a:prstGeom prst="rect">
            <a:avLst/>
          </a:prstGeom>
          <a:noFill/>
          <a:ln/>
        </p:spPr>
        <p:txBody>
          <a:bodyPr wrap="square" lIns="0" tIns="0" rIns="0" bIns="0" rtlCol="0" anchor="t"/>
          <a:lstStyle/>
          <a:p>
            <a:pPr algn="ctr" indent="0" marL="0">
              <a:buNone/>
            </a:pPr>
            <a:r>
              <a:rPr lang="en-US" sz="800" dirty="0">
                <a:solidFill>
                  <a:srgbClr val="767676"/>
                </a:solidFill>
                <a:latin typeface="Meiryo UI" pitchFamily="34" charset="0"/>
                <a:ea typeface="Meiryo UI" pitchFamily="34" charset="-122"/>
                <a:cs typeface="Meiryo UI" pitchFamily="34" charset="-120"/>
              </a:rPr>
              <a:t>FY42</a:t>
            </a:r>
            <a:endParaRPr lang="en-US" sz="800" dirty="0"/>
          </a:p>
        </p:txBody>
      </p:sp>
      <p:sp>
        <p:nvSpPr>
          <p:cNvPr id="110" name="ovl_s17tb_gl2042"/>
          <p:cNvSpPr/>
          <p:nvPr/>
        </p:nvSpPr>
        <p:spPr>
          <a:xfrm>
            <a:off x="6675120" y="5212080"/>
            <a:ext cx="914" cy="822960"/>
          </a:xfrm>
          <a:prstGeom prst="line">
            <a:avLst/>
          </a:prstGeom>
          <a:noFill/>
          <a:ln w="6350">
            <a:solidFill>
              <a:srgbClr val="D9D9D9"/>
            </a:solidFill>
            <a:prstDash val="dash"/>
          </a:ln>
        </p:spPr>
      </p:sp>
      <p:sp>
        <p:nvSpPr>
          <p:cNvPr id="111" name="ovl_s17tb_tk2047"/>
          <p:cNvSpPr txBox="1"/>
          <p:nvPr/>
        </p:nvSpPr>
        <p:spPr>
          <a:xfrm>
            <a:off x="8001000" y="5029200"/>
            <a:ext cx="548640" cy="182880"/>
          </a:xfrm>
          <a:prstGeom prst="rect">
            <a:avLst/>
          </a:prstGeom>
          <a:noFill/>
          <a:ln/>
        </p:spPr>
        <p:txBody>
          <a:bodyPr wrap="square" lIns="0" tIns="0" rIns="0" bIns="0" rtlCol="0" anchor="t"/>
          <a:lstStyle/>
          <a:p>
            <a:pPr algn="ctr" indent="0" marL="0">
              <a:buNone/>
            </a:pPr>
            <a:r>
              <a:rPr lang="en-US" sz="800" dirty="0">
                <a:solidFill>
                  <a:srgbClr val="767676"/>
                </a:solidFill>
                <a:latin typeface="Meiryo UI" pitchFamily="34" charset="0"/>
                <a:ea typeface="Meiryo UI" pitchFamily="34" charset="-122"/>
                <a:cs typeface="Meiryo UI" pitchFamily="34" charset="-120"/>
              </a:rPr>
              <a:t>FY47</a:t>
            </a:r>
            <a:endParaRPr lang="en-US" sz="800" dirty="0"/>
          </a:p>
        </p:txBody>
      </p:sp>
      <p:sp>
        <p:nvSpPr>
          <p:cNvPr id="112" name="ovl_s17tb_gl2047"/>
          <p:cNvSpPr/>
          <p:nvPr/>
        </p:nvSpPr>
        <p:spPr>
          <a:xfrm>
            <a:off x="8275320" y="5212080"/>
            <a:ext cx="914" cy="822960"/>
          </a:xfrm>
          <a:prstGeom prst="line">
            <a:avLst/>
          </a:prstGeom>
          <a:noFill/>
          <a:ln w="6350">
            <a:solidFill>
              <a:srgbClr val="D9D9D9"/>
            </a:solidFill>
            <a:prstDash val="dash"/>
          </a:ln>
        </p:spPr>
      </p:sp>
      <p:sp>
        <p:nvSpPr>
          <p:cNvPr id="113" name="ovl_s17tb_l0"/>
          <p:cNvSpPr txBox="1"/>
          <p:nvPr/>
        </p:nvSpPr>
        <p:spPr>
          <a:xfrm>
            <a:off x="457200" y="5248656"/>
            <a:ext cx="1344168" cy="262128"/>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DB の切替コスト</a:t>
            </a:r>
            <a:endParaRPr lang="en-US" sz="850" dirty="0"/>
          </a:p>
        </p:txBody>
      </p:sp>
      <p:sp>
        <p:nvSpPr>
          <p:cNvPr id="114" name="ovl_s17tb_b0"/>
          <p:cNvSpPr/>
          <p:nvPr/>
        </p:nvSpPr>
        <p:spPr>
          <a:xfrm>
            <a:off x="1874520" y="5285354"/>
            <a:ext cx="6400800" cy="188732"/>
          </a:xfrm>
          <a:prstGeom prst="rect">
            <a:avLst/>
          </a:prstGeom>
          <a:solidFill>
            <a:srgbClr val="0E4D33"/>
          </a:solidFill>
          <a:ln w="12700">
            <a:solidFill>
              <a:srgbClr val="0E4D33"/>
            </a:solidFill>
            <a:prstDash val="solid"/>
          </a:ln>
        </p:spPr>
      </p:sp>
      <p:sp>
        <p:nvSpPr>
          <p:cNvPr id="115" name="ovl_s17tb_t0"/>
          <p:cNvSpPr txBox="1"/>
          <p:nvPr/>
        </p:nvSpPr>
        <p:spPr>
          <a:xfrm>
            <a:off x="1874520" y="5285354"/>
            <a:ext cx="6400800" cy="188732"/>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数十年</a:t>
            </a:r>
            <a:endParaRPr lang="en-US" sz="800" dirty="0"/>
          </a:p>
        </p:txBody>
      </p:sp>
      <p:sp>
        <p:nvSpPr>
          <p:cNvPr id="116" name="ovl_s17tb_l1"/>
          <p:cNvSpPr txBox="1"/>
          <p:nvPr/>
        </p:nvSpPr>
        <p:spPr>
          <a:xfrm>
            <a:off x="457200" y="5510784"/>
            <a:ext cx="1344168" cy="262128"/>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AI 容量の単価優位</a:t>
            </a:r>
            <a:endParaRPr lang="en-US" sz="850" dirty="0"/>
          </a:p>
        </p:txBody>
      </p:sp>
      <p:sp>
        <p:nvSpPr>
          <p:cNvPr id="117" name="ovl_s17tb_b1"/>
          <p:cNvSpPr/>
          <p:nvPr/>
        </p:nvSpPr>
        <p:spPr>
          <a:xfrm>
            <a:off x="1874520" y="5547482"/>
            <a:ext cx="1600200" cy="188732"/>
          </a:xfrm>
          <a:prstGeom prst="rect">
            <a:avLst/>
          </a:prstGeom>
          <a:solidFill>
            <a:srgbClr val="C0392B"/>
          </a:solidFill>
          <a:ln w="12700">
            <a:solidFill>
              <a:srgbClr val="C0392B"/>
            </a:solidFill>
            <a:prstDash val="solid"/>
          </a:ln>
        </p:spPr>
      </p:sp>
      <p:sp>
        <p:nvSpPr>
          <p:cNvPr id="118" name="ovl_s17tb_t1"/>
          <p:cNvSpPr txBox="1"/>
          <p:nvPr/>
        </p:nvSpPr>
        <p:spPr>
          <a:xfrm>
            <a:off x="1874520" y="5547482"/>
            <a:ext cx="1600200" cy="188732"/>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逼迫が終わる FY32 まで</a:t>
            </a:r>
            <a:endParaRPr lang="en-US" sz="800" dirty="0"/>
          </a:p>
        </p:txBody>
      </p:sp>
      <p:sp>
        <p:nvSpPr>
          <p:cNvPr id="119" name="ovl_s17tb_l2"/>
          <p:cNvSpPr txBox="1"/>
          <p:nvPr/>
        </p:nvSpPr>
        <p:spPr>
          <a:xfrm>
            <a:off x="457200" y="5772912"/>
            <a:ext cx="1344168" cy="262128"/>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建屋の賃料の固定</a:t>
            </a:r>
            <a:endParaRPr lang="en-US" sz="850" dirty="0"/>
          </a:p>
        </p:txBody>
      </p:sp>
      <p:sp>
        <p:nvSpPr>
          <p:cNvPr id="120" name="ovl_s17tb_b2"/>
          <p:cNvSpPr/>
          <p:nvPr/>
        </p:nvSpPr>
        <p:spPr>
          <a:xfrm>
            <a:off x="1874520" y="5809610"/>
            <a:ext cx="6400800" cy="188732"/>
          </a:xfrm>
          <a:prstGeom prst="rect">
            <a:avLst/>
          </a:prstGeom>
          <a:solidFill>
            <a:srgbClr val="86C99B"/>
          </a:solidFill>
          <a:ln w="12700">
            <a:solidFill>
              <a:srgbClr val="86C99B"/>
            </a:solidFill>
            <a:prstDash val="solid"/>
          </a:ln>
        </p:spPr>
      </p:sp>
      <p:sp>
        <p:nvSpPr>
          <p:cNvPr id="121" name="ovl_s17tb_t2"/>
          <p:cNvSpPr txBox="1"/>
          <p:nvPr/>
        </p:nvSpPr>
        <p:spPr>
          <a:xfrm>
            <a:off x="1874520" y="5809610"/>
            <a:ext cx="6400800" cy="188732"/>
          </a:xfrm>
          <a:prstGeom prst="rect">
            <a:avLst/>
          </a:prstGeom>
          <a:noFill/>
          <a:ln/>
        </p:spPr>
        <p:txBody>
          <a:bodyPr wrap="square" lIns="0" tIns="0" rIns="0" bIns="0" rtlCol="0" anchor="ctr"/>
          <a:lstStyle/>
          <a:p>
            <a:pPr algn="ctr" indent="0" marL="0">
              <a:buNone/>
            </a:pPr>
            <a:r>
              <a:rPr lang="en-US" sz="800" b="1" dirty="0">
                <a:solidFill>
                  <a:srgbClr val="0E4D33"/>
                </a:solidFill>
                <a:latin typeface="Meiryo UI" pitchFamily="34" charset="0"/>
                <a:ea typeface="Meiryo UI" pitchFamily="34" charset="-122"/>
                <a:cs typeface="Meiryo UI" pitchFamily="34" charset="-120"/>
              </a:rPr>
              <a:t>長期リースで FY47 まで</a:t>
            </a:r>
            <a:endParaRPr lang="en-US" sz="800" dirty="0"/>
          </a:p>
        </p:txBody>
      </p:sp>
      <p:sp>
        <p:nvSpPr>
          <p:cNvPr id="122" name="mech_head"/>
          <p:cNvSpPr txBox="1"/>
          <p:nvPr/>
        </p:nvSpPr>
        <p:spPr>
          <a:xfrm>
            <a:off x="8458200" y="1481328"/>
            <a:ext cx="3276295"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仕組み(図の ①② … と対応)</a:t>
            </a:r>
            <a:endParaRPr lang="en-US" sz="1200" dirty="0"/>
          </a:p>
        </p:txBody>
      </p:sp>
      <p:sp>
        <p:nvSpPr>
          <p:cNvPr id="123" name="mech"/>
          <p:cNvSpPr txBox="1"/>
          <p:nvPr/>
        </p:nvSpPr>
        <p:spPr>
          <a:xfrm>
            <a:off x="8458200" y="1810512"/>
            <a:ext cx="3276295" cy="1835912"/>
          </a:xfrm>
          <a:prstGeom prst="rect">
            <a:avLst/>
          </a:prstGeom>
          <a:noFill/>
          <a:ln/>
        </p:spPr>
        <p:txBody>
          <a:bodyPr wrap="square" lIns="381" tIns="381" rIns="381" bIns="381" rtlCol="0" anchor="t"/>
          <a:lstStyle/>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① </a:t>
            </a:r>
            <a:r>
              <a:rPr lang="en-US" sz="1100" dirty="0">
                <a:solidFill>
                  <a:srgbClr val="333333"/>
                </a:solidFill>
                <a:latin typeface="Meiryo UI" pitchFamily="34" charset="0"/>
                <a:ea typeface="Meiryo UI" pitchFamily="34" charset="-122"/>
                <a:cs typeface="Meiryo UI" pitchFamily="34" charset="-120"/>
              </a:rPr>
              <a:t>DB の顧客はデータ移行とアプリ改修に数年かかり、保守料(年 22%)を払い続ける</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② </a:t>
            </a:r>
            <a:r>
              <a:rPr lang="en-US" sz="1100" dirty="0">
                <a:solidFill>
                  <a:srgbClr val="333333"/>
                </a:solidFill>
                <a:latin typeface="Meiryo UI" pitchFamily="34" charset="0"/>
                <a:ea typeface="Meiryo UI" pitchFamily="34" charset="-122"/>
                <a:cs typeface="Meiryo UI" pitchFamily="34" charset="-120"/>
              </a:rPr>
              <a:t>SaaS は旧 ERP 顧客の移行で伸びるが +10% で、SAP のクラウド ERP(+25%)より遅い</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③ </a:t>
            </a:r>
            <a:r>
              <a:rPr lang="en-US" sz="1100" dirty="0">
                <a:solidFill>
                  <a:srgbClr val="333333"/>
                </a:solidFill>
                <a:latin typeface="Meiryo UI" pitchFamily="34" charset="0"/>
                <a:ea typeface="Meiryo UI" pitchFamily="34" charset="-122"/>
                <a:cs typeface="Meiryo UI" pitchFamily="34" charset="-120"/>
              </a:rPr>
              <a:t>AI 容量は更新期の GPU を従来比 +20% で更新・再販。ただし業界全体の値上げ(AWS +15〜20%)の一部</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④ </a:t>
            </a:r>
            <a:r>
              <a:rPr lang="en-US" sz="1100" dirty="0">
                <a:solidFill>
                  <a:srgbClr val="333333"/>
                </a:solidFill>
                <a:latin typeface="Meiryo UI" pitchFamily="34" charset="0"/>
                <a:ea typeface="Meiryo UI" pitchFamily="34" charset="-122"/>
                <a:cs typeface="Meiryo UI" pitchFamily="34" charset="-120"/>
              </a:rPr>
              <a:t>逼迫が緩む FY32 以降は、ネオクラウド・TPU との価格競争で超過利益はベースで 0%</a:t>
            </a:r>
            <a:endParaRPr lang="en-US" sz="1100" dirty="0"/>
          </a:p>
        </p:txBody>
      </p:sp>
      <p:sp>
        <p:nvSpPr>
          <p:cNvPr id="124" name="ovl_takeaway_bg"/>
          <p:cNvSpPr/>
          <p:nvPr/>
        </p:nvSpPr>
        <p:spPr>
          <a:xfrm>
            <a:off x="8458200" y="4396740"/>
            <a:ext cx="3276295" cy="1158240"/>
          </a:xfrm>
          <a:prstGeom prst="rect">
            <a:avLst/>
          </a:prstGeom>
          <a:solidFill>
            <a:srgbClr val="EAF4EE"/>
          </a:solidFill>
          <a:ln w="12700">
            <a:solidFill>
              <a:srgbClr val="EAF4EE"/>
            </a:solidFill>
            <a:prstDash val="solid"/>
          </a:ln>
        </p:spPr>
      </p:sp>
      <p:sp>
        <p:nvSpPr>
          <p:cNvPr id="125" name="takeaway"/>
          <p:cNvSpPr txBox="1"/>
          <p:nvPr/>
        </p:nvSpPr>
        <p:spPr>
          <a:xfrm>
            <a:off x="8567928" y="4469892"/>
            <a:ext cx="3056839" cy="1011936"/>
          </a:xfrm>
          <a:prstGeom prst="rect">
            <a:avLst/>
          </a:prstGeom>
          <a:noFill/>
          <a:ln/>
        </p:spPr>
        <p:txBody>
          <a:bodyPr wrap="square" lIns="508" tIns="508" rIns="508" bIns="508"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DB の優位は数十年続くが、</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価値の 44% を占める AI 容量のうち</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学習向けの優位は逼迫が続く FY32 までに</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限られるため B</a:t>
            </a:r>
            <a:endParaRPr lang="en-US" sz="1000" dirty="0"/>
          </a:p>
        </p:txBody>
      </p:sp>
      <p:sp>
        <p:nvSpPr>
          <p:cNvPr id="126" name="updown"/>
          <p:cNvSpPr txBox="1"/>
          <p:nvPr/>
        </p:nvSpPr>
        <p:spPr>
          <a:xfrm>
            <a:off x="8458200" y="5628132"/>
            <a:ext cx="3276295" cy="461772"/>
          </a:xfrm>
          <a:prstGeom prst="rect">
            <a:avLst/>
          </a:prstGeom>
          <a:noFill/>
          <a:ln/>
        </p:spPr>
        <p:txBody>
          <a:bodyPr wrap="square" lIns="381" tIns="381" rIns="381" bIns="381" rtlCol="0" anchor="t"/>
          <a:lstStyle/>
          <a:p>
            <a:pPr indent="0" marL="0">
              <a:buNone/>
            </a:pPr>
            <a:r>
              <a:rPr lang="en-US" sz="850" b="1" dirty="0">
                <a:solidFill>
                  <a:srgbClr val="197A56"/>
                </a:solidFill>
                <a:latin typeface="Meiryo UI" pitchFamily="34" charset="0"/>
                <a:ea typeface="Meiryo UI" pitchFamily="34" charset="-122"/>
                <a:cs typeface="Meiryo UI" pitchFamily="34" charset="-120"/>
              </a:rPr>
              <a:t>上がる条件  </a:t>
            </a:r>
            <a:r>
              <a:rPr lang="en-US" sz="850" dirty="0">
                <a:solidFill>
                  <a:srgbClr val="333333"/>
                </a:solidFill>
                <a:latin typeface="Meiryo UI" pitchFamily="34" charset="0"/>
                <a:ea typeface="Meiryo UI" pitchFamily="34" charset="-122"/>
                <a:cs typeface="Meiryo UI" pitchFamily="34" charset="-120"/>
              </a:rPr>
              <a:t>緩和の兆しが出ても</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AI 容量の更新プレミアムが正のまま続けば A</a:t>
            </a:r>
            <a:endParaRPr lang="en-US" sz="850" dirty="0"/>
          </a:p>
          <a:p>
            <a:pPr indent="0" marL="0">
              <a:buNone/>
            </a:pPr>
            <a:r>
              <a:rPr lang="en-US" sz="850" b="1" dirty="0">
                <a:solidFill>
                  <a:srgbClr val="C0392B"/>
                </a:solidFill>
                <a:latin typeface="Meiryo UI" pitchFamily="34" charset="0"/>
                <a:ea typeface="Meiryo UI" pitchFamily="34" charset="-122"/>
                <a:cs typeface="Meiryo UI" pitchFamily="34" charset="-120"/>
              </a:rPr>
              <a:t>下がる条件  </a:t>
            </a:r>
            <a:r>
              <a:rPr lang="en-US" sz="850" dirty="0">
                <a:solidFill>
                  <a:srgbClr val="333333"/>
                </a:solidFill>
                <a:latin typeface="Meiryo UI" pitchFamily="34" charset="0"/>
                <a:ea typeface="Meiryo UI" pitchFamily="34" charset="-122"/>
                <a:cs typeface="Meiryo UI" pitchFamily="34" charset="-120"/>
              </a:rPr>
              <a:t>Software の減収が −5% を超えて加速すれば C</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3-1 稼ぐ力(条件1〜3)(2/3)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236982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23698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コア事業の現金創出(条件2)</a:t>
            </a:r>
            <a:endParaRPr lang="en-US" sz="1000" dirty="0"/>
          </a:p>
        </p:txBody>
      </p:sp>
      <p:sp>
        <p:nvSpPr>
          <p:cNvPr id="14" name="hdr_why"/>
          <p:cNvSpPr txBox="1"/>
          <p:nvPr/>
        </p:nvSpPr>
        <p:spPr>
          <a:xfrm>
            <a:off x="2973324" y="356616"/>
            <a:ext cx="876117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AI 投資を本業の現金で賄えるかが、増資や格下げなしに成長できるかを決める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コア事業は税引後 230 億ドルを稼ぎ、AI の投資は前払いと長期リースで</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外部化する。全社 FCF はエンジンで FY29 に 399 億ドル</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左から: 資金の出し手 → Oracle の資金の源 → 使い道 → 結果。①〜⑤ は右と対応。金額は FY27(需給エンジン第4.5版・会社開示)</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会社開示(Q1 FY27、10-Q)、需給エンジン第4.5版(calc/out/m10_*.json)、research2/R7_capital_power.md、S&amp;P(2026-07)</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26</a:t>
            </a:r>
            <a:endParaRPr lang="en-US" sz="800" dirty="0"/>
          </a:p>
        </p:txBody>
      </p:sp>
      <p:sp>
        <p:nvSpPr>
          <p:cNvPr id="19" name="ovl_badge"/>
          <p:cNvSpPr/>
          <p:nvPr/>
        </p:nvSpPr>
        <p:spPr>
          <a:xfrm>
            <a:off x="10865815" y="649224"/>
            <a:ext cx="868680" cy="677570"/>
          </a:xfrm>
          <a:prstGeom prst="roundRect">
            <a:avLst>
              <a:gd name="adj" fmla="val 10796"/>
            </a:avLst>
          </a:prstGeom>
          <a:solidFill>
            <a:srgbClr val="86C99B"/>
          </a:solidFill>
          <a:ln w="12700">
            <a:solidFill>
              <a:srgbClr val="86C99B"/>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0E4D33"/>
                </a:solidFill>
                <a:latin typeface="Meiryo UI" pitchFamily="34" charset="0"/>
                <a:ea typeface="Meiryo UI" pitchFamily="34" charset="-122"/>
                <a:cs typeface="Meiryo UI" pitchFamily="34" charset="-120"/>
              </a:rPr>
              <a:t>B</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0E4D33"/>
                </a:solidFill>
                <a:latin typeface="Meiryo UI" pitchFamily="34" charset="0"/>
                <a:ea typeface="Meiryo UI" pitchFamily="34" charset="-122"/>
                <a:cs typeface="Meiryo UI" pitchFamily="34" charset="-120"/>
              </a:rPr>
              <a:t>条件2</a:t>
            </a:r>
            <a:endParaRPr lang="en-US" sz="800" dirty="0"/>
          </a:p>
        </p:txBody>
      </p:sp>
      <p:sp>
        <p:nvSpPr>
          <p:cNvPr id="22" name="bg_lane0"/>
          <p:cNvSpPr/>
          <p:nvPr/>
        </p:nvSpPr>
        <p:spPr>
          <a:xfrm>
            <a:off x="347472" y="1517904"/>
            <a:ext cx="1453896" cy="4315968"/>
          </a:xfrm>
          <a:prstGeom prst="rect">
            <a:avLst/>
          </a:prstGeom>
          <a:solidFill>
            <a:srgbClr val="F2F2F2"/>
          </a:solidFill>
          <a:ln w="12700">
            <a:solidFill>
              <a:srgbClr val="F2F2F2"/>
            </a:solidFill>
            <a:prstDash val="solid"/>
          </a:ln>
        </p:spPr>
      </p:sp>
      <p:sp>
        <p:nvSpPr>
          <p:cNvPr id="23" name="bg_laneh0"/>
          <p:cNvSpPr/>
          <p:nvPr/>
        </p:nvSpPr>
        <p:spPr>
          <a:xfrm>
            <a:off x="347472" y="1517904"/>
            <a:ext cx="1453896" cy="274320"/>
          </a:xfrm>
          <a:prstGeom prst="rect">
            <a:avLst/>
          </a:prstGeom>
          <a:solidFill>
            <a:srgbClr val="D9D9D9"/>
          </a:solidFill>
          <a:ln w="12700">
            <a:solidFill>
              <a:srgbClr val="D9D9D9"/>
            </a:solidFill>
            <a:prstDash val="solid"/>
          </a:ln>
        </p:spPr>
      </p:sp>
      <p:sp>
        <p:nvSpPr>
          <p:cNvPr id="24" name="bg_lanet0"/>
          <p:cNvSpPr txBox="1"/>
          <p:nvPr/>
        </p:nvSpPr>
        <p:spPr>
          <a:xfrm>
            <a:off x="347472" y="1517904"/>
            <a:ext cx="145389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資金の出し手</a:t>
            </a:r>
            <a:endParaRPr lang="en-US" sz="950" dirty="0"/>
          </a:p>
        </p:txBody>
      </p:sp>
      <p:sp>
        <p:nvSpPr>
          <p:cNvPr id="25" name="bg_lane1"/>
          <p:cNvSpPr/>
          <p:nvPr/>
        </p:nvSpPr>
        <p:spPr>
          <a:xfrm>
            <a:off x="2481072" y="1517904"/>
            <a:ext cx="3770376" cy="4315968"/>
          </a:xfrm>
          <a:prstGeom prst="rect">
            <a:avLst/>
          </a:prstGeom>
          <a:solidFill>
            <a:srgbClr val="EAF4EE"/>
          </a:solidFill>
          <a:ln w="12700">
            <a:solidFill>
              <a:srgbClr val="EAF4EE"/>
            </a:solidFill>
            <a:prstDash val="solid"/>
          </a:ln>
        </p:spPr>
      </p:sp>
      <p:sp>
        <p:nvSpPr>
          <p:cNvPr id="26" name="bg_laneh1"/>
          <p:cNvSpPr/>
          <p:nvPr/>
        </p:nvSpPr>
        <p:spPr>
          <a:xfrm>
            <a:off x="2481072" y="1517904"/>
            <a:ext cx="3770376" cy="274320"/>
          </a:xfrm>
          <a:prstGeom prst="rect">
            <a:avLst/>
          </a:prstGeom>
          <a:solidFill>
            <a:srgbClr val="197A56"/>
          </a:solidFill>
          <a:ln w="12700">
            <a:solidFill>
              <a:srgbClr val="197A56"/>
            </a:solidFill>
            <a:prstDash val="solid"/>
          </a:ln>
        </p:spPr>
      </p:sp>
      <p:sp>
        <p:nvSpPr>
          <p:cNvPr id="27" name="bg_lanet1"/>
          <p:cNvSpPr txBox="1"/>
          <p:nvPr/>
        </p:nvSpPr>
        <p:spPr>
          <a:xfrm>
            <a:off x="2481072" y="1517904"/>
            <a:ext cx="3770376"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Oracle</a:t>
            </a:r>
            <a:endParaRPr lang="en-US" sz="950" dirty="0"/>
          </a:p>
        </p:txBody>
      </p:sp>
      <p:sp>
        <p:nvSpPr>
          <p:cNvPr id="28" name="bg_lane2"/>
          <p:cNvSpPr/>
          <p:nvPr/>
        </p:nvSpPr>
        <p:spPr>
          <a:xfrm>
            <a:off x="6931152" y="1517904"/>
            <a:ext cx="1453896" cy="4315968"/>
          </a:xfrm>
          <a:prstGeom prst="rect">
            <a:avLst/>
          </a:prstGeom>
          <a:solidFill>
            <a:srgbClr val="F2F2F2"/>
          </a:solidFill>
          <a:ln w="12700">
            <a:solidFill>
              <a:srgbClr val="F2F2F2"/>
            </a:solidFill>
            <a:prstDash val="solid"/>
          </a:ln>
        </p:spPr>
      </p:sp>
      <p:sp>
        <p:nvSpPr>
          <p:cNvPr id="29" name="bg_laneh2"/>
          <p:cNvSpPr/>
          <p:nvPr/>
        </p:nvSpPr>
        <p:spPr>
          <a:xfrm>
            <a:off x="6931152" y="1517904"/>
            <a:ext cx="1453896" cy="274320"/>
          </a:xfrm>
          <a:prstGeom prst="rect">
            <a:avLst/>
          </a:prstGeom>
          <a:solidFill>
            <a:srgbClr val="D9D9D9"/>
          </a:solidFill>
          <a:ln w="12700">
            <a:solidFill>
              <a:srgbClr val="D9D9D9"/>
            </a:solidFill>
            <a:prstDash val="solid"/>
          </a:ln>
        </p:spPr>
      </p:sp>
      <p:sp>
        <p:nvSpPr>
          <p:cNvPr id="30" name="bg_lanet2"/>
          <p:cNvSpPr txBox="1"/>
          <p:nvPr/>
        </p:nvSpPr>
        <p:spPr>
          <a:xfrm>
            <a:off x="6931152" y="1517904"/>
            <a:ext cx="145389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支払先・評価者</a:t>
            </a:r>
            <a:endParaRPr lang="en-US" sz="950" dirty="0"/>
          </a:p>
        </p:txBody>
      </p:sp>
      <p:sp>
        <p:nvSpPr>
          <p:cNvPr id="31" name="ovl_grp0"/>
          <p:cNvSpPr/>
          <p:nvPr/>
        </p:nvSpPr>
        <p:spPr>
          <a:xfrm>
            <a:off x="2526792" y="1911096"/>
            <a:ext cx="1453896" cy="3877056"/>
          </a:xfrm>
          <a:prstGeom prst="roundRect">
            <a:avLst>
              <a:gd name="adj" fmla="val 3774"/>
            </a:avLst>
          </a:prstGeom>
          <a:solidFill>
            <a:srgbClr val="FFFFFF">
              <a:alpha val="0"/>
            </a:srgbClr>
          </a:solidFill>
          <a:ln w="12700">
            <a:solidFill>
              <a:srgbClr val="197A56"/>
            </a:solidFill>
            <a:prstDash val="dash"/>
          </a:ln>
        </p:spPr>
      </p:sp>
      <p:sp>
        <p:nvSpPr>
          <p:cNvPr id="32" name="ovl_grp1"/>
          <p:cNvSpPr/>
          <p:nvPr/>
        </p:nvSpPr>
        <p:spPr>
          <a:xfrm>
            <a:off x="4751832" y="1911096"/>
            <a:ext cx="1453896" cy="3877056"/>
          </a:xfrm>
          <a:prstGeom prst="roundRect">
            <a:avLst>
              <a:gd name="adj" fmla="val 3774"/>
            </a:avLst>
          </a:prstGeom>
          <a:solidFill>
            <a:srgbClr val="FFFFFF">
              <a:alpha val="0"/>
            </a:srgbClr>
          </a:solidFill>
          <a:ln w="12700">
            <a:solidFill>
              <a:srgbClr val="197A56"/>
            </a:solidFill>
            <a:prstDash val="dash"/>
          </a:ln>
        </p:spPr>
      </p:sp>
      <p:sp>
        <p:nvSpPr>
          <p:cNvPr id="33" name="ovl_s18_e0_0"/>
          <p:cNvSpPr/>
          <p:nvPr/>
        </p:nvSpPr>
        <p:spPr>
          <a:xfrm>
            <a:off x="1691640" y="2375154"/>
            <a:ext cx="899160" cy="914"/>
          </a:xfrm>
          <a:prstGeom prst="line">
            <a:avLst/>
          </a:prstGeom>
          <a:noFill/>
          <a:ln w="22225">
            <a:solidFill>
              <a:srgbClr val="0E4D33"/>
            </a:solidFill>
            <a:prstDash val="solid"/>
            <a:tailEnd type="triangle"/>
          </a:ln>
        </p:spPr>
      </p:sp>
      <p:sp>
        <p:nvSpPr>
          <p:cNvPr id="34" name="ovl_s18_e1_0"/>
          <p:cNvSpPr/>
          <p:nvPr/>
        </p:nvSpPr>
        <p:spPr>
          <a:xfrm>
            <a:off x="3916680" y="2375154"/>
            <a:ext cx="899160" cy="914"/>
          </a:xfrm>
          <a:prstGeom prst="line">
            <a:avLst/>
          </a:prstGeom>
          <a:noFill/>
          <a:ln w="22225">
            <a:solidFill>
              <a:srgbClr val="0E4D33"/>
            </a:solidFill>
            <a:prstDash val="solid"/>
            <a:tailEnd type="triangle"/>
          </a:ln>
        </p:spPr>
      </p:sp>
      <p:sp>
        <p:nvSpPr>
          <p:cNvPr id="35" name="ovl_s18_e2_0"/>
          <p:cNvSpPr/>
          <p:nvPr/>
        </p:nvSpPr>
        <p:spPr>
          <a:xfrm>
            <a:off x="1691640" y="3358134"/>
            <a:ext cx="899160" cy="914"/>
          </a:xfrm>
          <a:prstGeom prst="line">
            <a:avLst/>
          </a:prstGeom>
          <a:noFill/>
          <a:ln w="22225">
            <a:solidFill>
              <a:srgbClr val="0E4D33"/>
            </a:solidFill>
            <a:prstDash val="solid"/>
            <a:tailEnd type="triangle"/>
          </a:ln>
        </p:spPr>
      </p:sp>
      <p:sp>
        <p:nvSpPr>
          <p:cNvPr id="36" name="ovl_s18_e3_0"/>
          <p:cNvSpPr/>
          <p:nvPr/>
        </p:nvSpPr>
        <p:spPr>
          <a:xfrm>
            <a:off x="3916680" y="3358134"/>
            <a:ext cx="899160" cy="914"/>
          </a:xfrm>
          <a:prstGeom prst="line">
            <a:avLst/>
          </a:prstGeom>
          <a:noFill/>
          <a:ln w="22225">
            <a:solidFill>
              <a:srgbClr val="0E4D33"/>
            </a:solidFill>
            <a:prstDash val="solid"/>
            <a:tailEnd type="triangle"/>
          </a:ln>
        </p:spPr>
      </p:sp>
      <p:sp>
        <p:nvSpPr>
          <p:cNvPr id="37" name="ovl_s18_e4_0"/>
          <p:cNvSpPr/>
          <p:nvPr/>
        </p:nvSpPr>
        <p:spPr>
          <a:xfrm>
            <a:off x="1691640" y="4341114"/>
            <a:ext cx="899160" cy="914"/>
          </a:xfrm>
          <a:prstGeom prst="line">
            <a:avLst/>
          </a:prstGeom>
          <a:noFill/>
          <a:ln w="19050">
            <a:solidFill>
              <a:srgbClr val="1BA1A6"/>
            </a:solidFill>
            <a:prstDash val="solid"/>
            <a:tailEnd type="triangle"/>
          </a:ln>
        </p:spPr>
      </p:sp>
      <p:sp>
        <p:nvSpPr>
          <p:cNvPr id="38" name="ovl_s18_e5_0"/>
          <p:cNvSpPr/>
          <p:nvPr/>
        </p:nvSpPr>
        <p:spPr>
          <a:xfrm>
            <a:off x="3916680" y="4341114"/>
            <a:ext cx="899160" cy="914"/>
          </a:xfrm>
          <a:prstGeom prst="line">
            <a:avLst/>
          </a:prstGeom>
          <a:noFill/>
          <a:ln w="22225">
            <a:solidFill>
              <a:srgbClr val="0E4D33"/>
            </a:solidFill>
            <a:prstDash val="solid"/>
            <a:tailEnd type="triangle"/>
          </a:ln>
        </p:spPr>
      </p:sp>
      <p:sp>
        <p:nvSpPr>
          <p:cNvPr id="39" name="ovl_s18_e6_0"/>
          <p:cNvSpPr/>
          <p:nvPr/>
        </p:nvSpPr>
        <p:spPr>
          <a:xfrm>
            <a:off x="1691640" y="5324094"/>
            <a:ext cx="899160" cy="914"/>
          </a:xfrm>
          <a:prstGeom prst="line">
            <a:avLst/>
          </a:prstGeom>
          <a:noFill/>
          <a:ln w="22225">
            <a:solidFill>
              <a:srgbClr val="0E4D33"/>
            </a:solidFill>
            <a:prstDash val="solid"/>
            <a:tailEnd type="triangle"/>
          </a:ln>
        </p:spPr>
      </p:sp>
      <p:sp>
        <p:nvSpPr>
          <p:cNvPr id="40" name="ovl_s18_e7_0"/>
          <p:cNvSpPr/>
          <p:nvPr/>
        </p:nvSpPr>
        <p:spPr>
          <a:xfrm>
            <a:off x="3916680" y="5324094"/>
            <a:ext cx="899160" cy="914"/>
          </a:xfrm>
          <a:prstGeom prst="line">
            <a:avLst/>
          </a:prstGeom>
          <a:noFill/>
          <a:ln w="22225">
            <a:solidFill>
              <a:srgbClr val="0E4D33"/>
            </a:solidFill>
            <a:prstDash val="solid"/>
            <a:tailEnd type="triangle"/>
          </a:ln>
        </p:spPr>
      </p:sp>
      <p:sp>
        <p:nvSpPr>
          <p:cNvPr id="41" name="ovl_s18_e8_0"/>
          <p:cNvSpPr/>
          <p:nvPr/>
        </p:nvSpPr>
        <p:spPr>
          <a:xfrm>
            <a:off x="6141720" y="2375154"/>
            <a:ext cx="899160" cy="914"/>
          </a:xfrm>
          <a:prstGeom prst="line">
            <a:avLst/>
          </a:prstGeom>
          <a:noFill/>
          <a:ln w="22225">
            <a:solidFill>
              <a:srgbClr val="0E4D33"/>
            </a:solidFill>
            <a:prstDash val="solid"/>
            <a:tailEnd type="triangle"/>
          </a:ln>
        </p:spPr>
      </p:sp>
      <p:sp>
        <p:nvSpPr>
          <p:cNvPr id="42" name="ovl_s18_e9_0"/>
          <p:cNvSpPr/>
          <p:nvPr/>
        </p:nvSpPr>
        <p:spPr>
          <a:xfrm>
            <a:off x="6141720" y="5324094"/>
            <a:ext cx="899160" cy="914"/>
          </a:xfrm>
          <a:prstGeom prst="line">
            <a:avLst/>
          </a:prstGeom>
          <a:noFill/>
          <a:ln w="12700">
            <a:solidFill>
              <a:srgbClr val="767676"/>
            </a:solidFill>
            <a:prstDash val="sysDash"/>
            <a:tailEnd type="triangle"/>
          </a:ln>
        </p:spPr>
      </p:sp>
      <p:sp>
        <p:nvSpPr>
          <p:cNvPr id="43" name="ovl_s18_n_cust"/>
          <p:cNvSpPr/>
          <p:nvPr/>
        </p:nvSpPr>
        <p:spPr>
          <a:xfrm>
            <a:off x="457200" y="2000250"/>
            <a:ext cx="1234440" cy="749808"/>
          </a:xfrm>
          <a:prstGeom prst="roundRect">
            <a:avLst>
              <a:gd name="adj" fmla="val 7317"/>
            </a:avLst>
          </a:prstGeom>
          <a:solidFill>
            <a:srgbClr val="FFFFFF"/>
          </a:solidFill>
          <a:ln w="9525">
            <a:solidFill>
              <a:srgbClr val="767676"/>
            </a:solidFill>
            <a:prstDash val="solid"/>
          </a:ln>
        </p:spPr>
      </p:sp>
      <p:sp>
        <p:nvSpPr>
          <p:cNvPr id="44" name="ovl_s18_nt_cust"/>
          <p:cNvSpPr txBox="1"/>
          <p:nvPr/>
        </p:nvSpPr>
        <p:spPr>
          <a:xfrm>
            <a:off x="493776" y="2027682"/>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DB・SaaS の顧客</a:t>
            </a:r>
            <a:endParaRPr lang="en-US" sz="1000" dirty="0"/>
          </a:p>
        </p:txBody>
      </p:sp>
      <p:sp>
        <p:nvSpPr>
          <p:cNvPr id="45" name="ovl_s18_ns_cust"/>
          <p:cNvSpPr txBox="1"/>
          <p:nvPr/>
        </p:nvSpPr>
        <p:spPr>
          <a:xfrm>
            <a:off x="502920" y="2233422"/>
            <a:ext cx="114300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保守料・購読料</a:t>
            </a:r>
            <a:endParaRPr lang="en-US" sz="850" dirty="0"/>
          </a:p>
        </p:txBody>
      </p:sp>
      <p:sp>
        <p:nvSpPr>
          <p:cNvPr id="46" name="ovl_s18_n_lab"/>
          <p:cNvSpPr/>
          <p:nvPr/>
        </p:nvSpPr>
        <p:spPr>
          <a:xfrm>
            <a:off x="457200" y="2983230"/>
            <a:ext cx="1234440" cy="749808"/>
          </a:xfrm>
          <a:prstGeom prst="roundRect">
            <a:avLst>
              <a:gd name="adj" fmla="val 7317"/>
            </a:avLst>
          </a:prstGeom>
          <a:solidFill>
            <a:srgbClr val="FFFFFF"/>
          </a:solidFill>
          <a:ln w="9525">
            <a:solidFill>
              <a:srgbClr val="767676"/>
            </a:solidFill>
            <a:prstDash val="solid"/>
          </a:ln>
        </p:spPr>
      </p:sp>
      <p:sp>
        <p:nvSpPr>
          <p:cNvPr id="47" name="ovl_s18_nt_lab"/>
          <p:cNvSpPr txBox="1"/>
          <p:nvPr/>
        </p:nvSpPr>
        <p:spPr>
          <a:xfrm>
            <a:off x="493776" y="3010662"/>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研究所</a:t>
            </a:r>
            <a:endParaRPr lang="en-US" sz="1000" dirty="0"/>
          </a:p>
        </p:txBody>
      </p:sp>
      <p:sp>
        <p:nvSpPr>
          <p:cNvPr id="48" name="ovl_s18_ns_lab"/>
          <p:cNvSpPr txBox="1"/>
          <p:nvPr/>
        </p:nvSpPr>
        <p:spPr>
          <a:xfrm>
            <a:off x="502920" y="3216402"/>
            <a:ext cx="114300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GPU 代の前払い</a:t>
            </a:r>
            <a:endParaRPr lang="en-US" sz="850" dirty="0"/>
          </a:p>
        </p:txBody>
      </p:sp>
      <p:sp>
        <p:nvSpPr>
          <p:cNvPr id="49" name="ovl_s18_n_dev"/>
          <p:cNvSpPr/>
          <p:nvPr/>
        </p:nvSpPr>
        <p:spPr>
          <a:xfrm>
            <a:off x="457200" y="3966210"/>
            <a:ext cx="1234440" cy="749808"/>
          </a:xfrm>
          <a:prstGeom prst="roundRect">
            <a:avLst>
              <a:gd name="adj" fmla="val 7317"/>
            </a:avLst>
          </a:prstGeom>
          <a:solidFill>
            <a:srgbClr val="EAF4EE"/>
          </a:solidFill>
          <a:ln w="9525">
            <a:solidFill>
              <a:srgbClr val="86C99B"/>
            </a:solidFill>
            <a:prstDash val="solid"/>
          </a:ln>
        </p:spPr>
      </p:sp>
      <p:sp>
        <p:nvSpPr>
          <p:cNvPr id="50" name="ovl_s18_nt_dev"/>
          <p:cNvSpPr txBox="1"/>
          <p:nvPr/>
        </p:nvSpPr>
        <p:spPr>
          <a:xfrm>
            <a:off x="493776" y="3993642"/>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DC 開発事業者</a:t>
            </a:r>
            <a:endParaRPr lang="en-US" sz="1000" dirty="0"/>
          </a:p>
        </p:txBody>
      </p:sp>
      <p:sp>
        <p:nvSpPr>
          <p:cNvPr id="51" name="ovl_s18_ns_dev"/>
          <p:cNvSpPr txBox="1"/>
          <p:nvPr/>
        </p:nvSpPr>
        <p:spPr>
          <a:xfrm>
            <a:off x="502920" y="4199382"/>
            <a:ext cx="114300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10GW の 90% 超の</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建屋を負担</a:t>
            </a:r>
            <a:endParaRPr lang="en-US" sz="850" dirty="0"/>
          </a:p>
        </p:txBody>
      </p:sp>
      <p:sp>
        <p:nvSpPr>
          <p:cNvPr id="52" name="ovl_s18_n_inv"/>
          <p:cNvSpPr/>
          <p:nvPr/>
        </p:nvSpPr>
        <p:spPr>
          <a:xfrm>
            <a:off x="457200" y="4949190"/>
            <a:ext cx="1234440" cy="749808"/>
          </a:xfrm>
          <a:prstGeom prst="roundRect">
            <a:avLst>
              <a:gd name="adj" fmla="val 7317"/>
            </a:avLst>
          </a:prstGeom>
          <a:solidFill>
            <a:srgbClr val="FFFFFF"/>
          </a:solidFill>
          <a:ln w="9525">
            <a:solidFill>
              <a:srgbClr val="767676"/>
            </a:solidFill>
            <a:prstDash val="solid"/>
          </a:ln>
        </p:spPr>
      </p:sp>
      <p:sp>
        <p:nvSpPr>
          <p:cNvPr id="53" name="ovl_s18_nt_inv"/>
          <p:cNvSpPr txBox="1"/>
          <p:nvPr/>
        </p:nvSpPr>
        <p:spPr>
          <a:xfrm>
            <a:off x="493776" y="4976622"/>
            <a:ext cx="1161288" cy="205740"/>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社債・株式の投資家</a:t>
            </a:r>
            <a:endParaRPr lang="en-US" sz="900" dirty="0"/>
          </a:p>
        </p:txBody>
      </p:sp>
      <p:sp>
        <p:nvSpPr>
          <p:cNvPr id="54" name="ovl_s18_ns_inv"/>
          <p:cNvSpPr txBox="1"/>
          <p:nvPr/>
        </p:nvSpPr>
        <p:spPr>
          <a:xfrm>
            <a:off x="502920" y="5182362"/>
            <a:ext cx="114300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社債 430 億ドル</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優先株 50 億・</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ATM 200 億ドル</a:t>
            </a:r>
            <a:endParaRPr lang="en-US" sz="850" dirty="0"/>
          </a:p>
        </p:txBody>
      </p:sp>
      <p:sp>
        <p:nvSpPr>
          <p:cNvPr id="55" name="ovl_s18_n_core"/>
          <p:cNvSpPr/>
          <p:nvPr/>
        </p:nvSpPr>
        <p:spPr>
          <a:xfrm>
            <a:off x="2590800" y="2000250"/>
            <a:ext cx="1325880" cy="749808"/>
          </a:xfrm>
          <a:prstGeom prst="roundRect">
            <a:avLst>
              <a:gd name="adj" fmla="val 7317"/>
            </a:avLst>
          </a:prstGeom>
          <a:solidFill>
            <a:srgbClr val="FFFFFF"/>
          </a:solidFill>
          <a:ln w="19050">
            <a:solidFill>
              <a:srgbClr val="197A56"/>
            </a:solidFill>
            <a:prstDash val="solid"/>
          </a:ln>
        </p:spPr>
      </p:sp>
      <p:sp>
        <p:nvSpPr>
          <p:cNvPr id="56" name="ovl_s18_nt_core"/>
          <p:cNvSpPr txBox="1"/>
          <p:nvPr/>
        </p:nvSpPr>
        <p:spPr>
          <a:xfrm>
            <a:off x="2627376" y="202768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コアの利益</a:t>
            </a:r>
            <a:endParaRPr lang="en-US" sz="1000" dirty="0"/>
          </a:p>
        </p:txBody>
      </p:sp>
      <p:sp>
        <p:nvSpPr>
          <p:cNvPr id="57" name="ovl_s18_ns_core"/>
          <p:cNvSpPr txBox="1"/>
          <p:nvPr/>
        </p:nvSpPr>
        <p:spPr>
          <a:xfrm>
            <a:off x="2636520" y="223342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税引後 230 億ドル</a:t>
            </a:r>
            <a:endParaRPr lang="en-US" sz="850" dirty="0"/>
          </a:p>
        </p:txBody>
      </p:sp>
      <p:sp>
        <p:nvSpPr>
          <p:cNvPr id="58" name="ovl_s18_n_prepay"/>
          <p:cNvSpPr/>
          <p:nvPr/>
        </p:nvSpPr>
        <p:spPr>
          <a:xfrm>
            <a:off x="2590800" y="2983230"/>
            <a:ext cx="1325880" cy="749808"/>
          </a:xfrm>
          <a:prstGeom prst="roundRect">
            <a:avLst>
              <a:gd name="adj" fmla="val 7317"/>
            </a:avLst>
          </a:prstGeom>
          <a:solidFill>
            <a:srgbClr val="EAF4EE"/>
          </a:solidFill>
          <a:ln w="9525">
            <a:solidFill>
              <a:srgbClr val="86C99B"/>
            </a:solidFill>
            <a:prstDash val="solid"/>
          </a:ln>
        </p:spPr>
      </p:sp>
      <p:sp>
        <p:nvSpPr>
          <p:cNvPr id="59" name="ovl_s18_nt_prepay"/>
          <p:cNvSpPr txBox="1"/>
          <p:nvPr/>
        </p:nvSpPr>
        <p:spPr>
          <a:xfrm>
            <a:off x="2627376" y="301066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前受収益</a:t>
            </a:r>
            <a:endParaRPr lang="en-US" sz="1000" dirty="0"/>
          </a:p>
        </p:txBody>
      </p:sp>
      <p:sp>
        <p:nvSpPr>
          <p:cNvPr id="60" name="ovl_s18_ns_prepay"/>
          <p:cNvSpPr txBox="1"/>
          <p:nvPr/>
        </p:nvSpPr>
        <p:spPr>
          <a:xfrm>
            <a:off x="2636520" y="321640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154 → 308 億ドル</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(1 年で倍増)</a:t>
            </a:r>
            <a:endParaRPr lang="en-US" sz="850" dirty="0"/>
          </a:p>
        </p:txBody>
      </p:sp>
      <p:sp>
        <p:nvSpPr>
          <p:cNvPr id="61" name="ovl_s18_n_lease"/>
          <p:cNvSpPr/>
          <p:nvPr/>
        </p:nvSpPr>
        <p:spPr>
          <a:xfrm>
            <a:off x="2590800" y="3966210"/>
            <a:ext cx="1325880" cy="749808"/>
          </a:xfrm>
          <a:prstGeom prst="roundRect">
            <a:avLst>
              <a:gd name="adj" fmla="val 7317"/>
            </a:avLst>
          </a:prstGeom>
          <a:solidFill>
            <a:srgbClr val="EAF4EE"/>
          </a:solidFill>
          <a:ln w="9525">
            <a:solidFill>
              <a:srgbClr val="86C99B"/>
            </a:solidFill>
            <a:prstDash val="solid"/>
          </a:ln>
        </p:spPr>
      </p:sp>
      <p:sp>
        <p:nvSpPr>
          <p:cNvPr id="62" name="ovl_s18_nt_lease"/>
          <p:cNvSpPr txBox="1"/>
          <p:nvPr/>
        </p:nvSpPr>
        <p:spPr>
          <a:xfrm>
            <a:off x="2627376" y="399364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長期リース</a:t>
            </a:r>
            <a:endParaRPr lang="en-US" sz="1000" dirty="0"/>
          </a:p>
        </p:txBody>
      </p:sp>
      <p:sp>
        <p:nvSpPr>
          <p:cNvPr id="63" name="ovl_s18_ns_lease"/>
          <p:cNvSpPr txBox="1"/>
          <p:nvPr/>
        </p:nvSpPr>
        <p:spPr>
          <a:xfrm>
            <a:off x="2636520" y="419938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未開始 2,880 億ドル</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15〜19 年</a:t>
            </a:r>
            <a:endParaRPr lang="en-US" sz="850" dirty="0"/>
          </a:p>
        </p:txBody>
      </p:sp>
      <p:sp>
        <p:nvSpPr>
          <p:cNvPr id="64" name="ovl_s18_n_debt"/>
          <p:cNvSpPr/>
          <p:nvPr/>
        </p:nvSpPr>
        <p:spPr>
          <a:xfrm>
            <a:off x="2590800" y="4949190"/>
            <a:ext cx="1325880" cy="749808"/>
          </a:xfrm>
          <a:prstGeom prst="roundRect">
            <a:avLst>
              <a:gd name="adj" fmla="val 7317"/>
            </a:avLst>
          </a:prstGeom>
          <a:solidFill>
            <a:srgbClr val="FFFFFF"/>
          </a:solidFill>
          <a:ln w="19050">
            <a:solidFill>
              <a:srgbClr val="C0392B"/>
            </a:solidFill>
            <a:prstDash val="solid"/>
          </a:ln>
        </p:spPr>
      </p:sp>
      <p:sp>
        <p:nvSpPr>
          <p:cNvPr id="65" name="ovl_s18_nt_debt"/>
          <p:cNvSpPr txBox="1"/>
          <p:nvPr/>
        </p:nvSpPr>
        <p:spPr>
          <a:xfrm>
            <a:off x="2627376" y="4976622"/>
            <a:ext cx="12527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借入・株式</a:t>
            </a:r>
            <a:endParaRPr lang="en-US" sz="1000" dirty="0"/>
          </a:p>
        </p:txBody>
      </p:sp>
      <p:sp>
        <p:nvSpPr>
          <p:cNvPr id="66" name="ovl_s18_ns_debt"/>
          <p:cNvSpPr txBox="1"/>
          <p:nvPr/>
        </p:nvSpPr>
        <p:spPr>
          <a:xfrm>
            <a:off x="2636520" y="518236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BBB−(S&amp;P)</a:t>
            </a:r>
            <a:endParaRPr lang="en-US" sz="850" dirty="0"/>
          </a:p>
        </p:txBody>
      </p:sp>
      <p:sp>
        <p:nvSpPr>
          <p:cNvPr id="67" name="ovl_s18_n_capex"/>
          <p:cNvSpPr/>
          <p:nvPr/>
        </p:nvSpPr>
        <p:spPr>
          <a:xfrm>
            <a:off x="4815840" y="1984248"/>
            <a:ext cx="1325880" cy="1764792"/>
          </a:xfrm>
          <a:prstGeom prst="roundRect">
            <a:avLst>
              <a:gd name="adj" fmla="val 4138"/>
            </a:avLst>
          </a:prstGeom>
          <a:solidFill>
            <a:srgbClr val="0E4D33"/>
          </a:solidFill>
          <a:ln w="9525">
            <a:solidFill>
              <a:srgbClr val="0E4D33"/>
            </a:solidFill>
            <a:prstDash val="solid"/>
          </a:ln>
        </p:spPr>
      </p:sp>
      <p:sp>
        <p:nvSpPr>
          <p:cNvPr id="68" name="ovl_s18_nt_capex"/>
          <p:cNvSpPr txBox="1"/>
          <p:nvPr/>
        </p:nvSpPr>
        <p:spPr>
          <a:xfrm>
            <a:off x="4852416" y="2011680"/>
            <a:ext cx="1252728" cy="20574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capex(FY27)</a:t>
            </a:r>
            <a:endParaRPr lang="en-US" sz="1000" dirty="0"/>
          </a:p>
        </p:txBody>
      </p:sp>
      <p:sp>
        <p:nvSpPr>
          <p:cNvPr id="69" name="ovl_s18_ns_capex"/>
          <p:cNvSpPr txBox="1"/>
          <p:nvPr/>
        </p:nvSpPr>
        <p:spPr>
          <a:xfrm>
            <a:off x="4861560" y="2217420"/>
            <a:ext cx="1234440" cy="1504188"/>
          </a:xfrm>
          <a:prstGeom prst="rect">
            <a:avLst/>
          </a:prstGeom>
          <a:noFill/>
          <a:ln/>
        </p:spPr>
        <p:txBody>
          <a:bodyPr wrap="square" lIns="0" tIns="0" rIns="0" bIns="0" rtlCol="0" anchor="t"/>
          <a:lstStyle/>
          <a:p>
            <a:pPr algn="ctr" indent="0" marL="0">
              <a:buNone/>
            </a:pPr>
            <a:r>
              <a:rPr lang="en-US" sz="850" dirty="0">
                <a:solidFill>
                  <a:srgbClr val="FFFFFF"/>
                </a:solidFill>
                <a:latin typeface="Meiryo UI" pitchFamily="34" charset="0"/>
                <a:ea typeface="Meiryo UI" pitchFamily="34" charset="-122"/>
                <a:cs typeface="Meiryo UI" pitchFamily="34" charset="-120"/>
              </a:rPr>
              <a:t>総額 900〜950 億ドル</a:t>
            </a:r>
            <a:endParaRPr lang="en-US" sz="850" dirty="0"/>
          </a:p>
          <a:p>
            <a:pPr algn="ctr" indent="0" marL="0">
              <a:buNone/>
            </a:pPr>
            <a:endParaRPr lang="en-US" sz="850" dirty="0"/>
          </a:p>
          <a:p>
            <a:pPr algn="ctr" indent="0" marL="0">
              <a:buNone/>
            </a:pP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前払いが</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約 24% を賄う</a:t>
            </a:r>
            <a:endParaRPr lang="en-US" sz="850" dirty="0"/>
          </a:p>
          <a:p>
            <a:pPr algn="ctr" indent="0" marL="0">
              <a:buNone/>
            </a:pPr>
            <a:endParaRPr lang="en-US" sz="850" dirty="0"/>
          </a:p>
          <a:p>
            <a:pPr algn="ctr" indent="0" marL="0">
              <a:buNone/>
            </a:pP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純現金 700 億ドル以下</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(会社の見通し)</a:t>
            </a:r>
            <a:endParaRPr lang="en-US" sz="850" dirty="0"/>
          </a:p>
        </p:txBody>
      </p:sp>
      <p:sp>
        <p:nvSpPr>
          <p:cNvPr id="70" name="ovl_s18_n_rent"/>
          <p:cNvSpPr/>
          <p:nvPr/>
        </p:nvSpPr>
        <p:spPr>
          <a:xfrm>
            <a:off x="4815840" y="3966210"/>
            <a:ext cx="1325880" cy="749808"/>
          </a:xfrm>
          <a:prstGeom prst="roundRect">
            <a:avLst>
              <a:gd name="adj" fmla="val 7317"/>
            </a:avLst>
          </a:prstGeom>
          <a:solidFill>
            <a:srgbClr val="FFFFFF"/>
          </a:solidFill>
          <a:ln w="19050">
            <a:solidFill>
              <a:srgbClr val="C0392B"/>
            </a:solidFill>
            <a:prstDash val="solid"/>
          </a:ln>
        </p:spPr>
      </p:sp>
      <p:sp>
        <p:nvSpPr>
          <p:cNvPr id="71" name="ovl_s18_nt_rent"/>
          <p:cNvSpPr txBox="1"/>
          <p:nvPr/>
        </p:nvSpPr>
        <p:spPr>
          <a:xfrm>
            <a:off x="4852416" y="3993642"/>
            <a:ext cx="12527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賃料</a:t>
            </a:r>
            <a:endParaRPr lang="en-US" sz="1000" dirty="0"/>
          </a:p>
        </p:txBody>
      </p:sp>
      <p:sp>
        <p:nvSpPr>
          <p:cNvPr id="72" name="ovl_s18_ns_rent"/>
          <p:cNvSpPr txBox="1"/>
          <p:nvPr/>
        </p:nvSpPr>
        <p:spPr>
          <a:xfrm>
            <a:off x="4861560" y="419938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固定費として</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15〜19 年続く</a:t>
            </a:r>
            <a:endParaRPr lang="en-US" sz="850" dirty="0"/>
          </a:p>
        </p:txBody>
      </p:sp>
      <p:sp>
        <p:nvSpPr>
          <p:cNvPr id="73" name="ovl_s18_n_fcf"/>
          <p:cNvSpPr/>
          <p:nvPr/>
        </p:nvSpPr>
        <p:spPr>
          <a:xfrm>
            <a:off x="4815840" y="4949190"/>
            <a:ext cx="1325880" cy="749808"/>
          </a:xfrm>
          <a:prstGeom prst="roundRect">
            <a:avLst>
              <a:gd name="adj" fmla="val 7317"/>
            </a:avLst>
          </a:prstGeom>
          <a:solidFill>
            <a:srgbClr val="FFFFFF"/>
          </a:solidFill>
          <a:ln w="19050">
            <a:solidFill>
              <a:srgbClr val="C0392B"/>
            </a:solidFill>
            <a:prstDash val="solid"/>
          </a:ln>
        </p:spPr>
      </p:sp>
      <p:sp>
        <p:nvSpPr>
          <p:cNvPr id="74" name="ovl_s18_nt_fcf"/>
          <p:cNvSpPr txBox="1"/>
          <p:nvPr/>
        </p:nvSpPr>
        <p:spPr>
          <a:xfrm>
            <a:off x="4852416" y="4976622"/>
            <a:ext cx="1252728" cy="356616"/>
          </a:xfrm>
          <a:prstGeom prst="rect">
            <a:avLst/>
          </a:prstGeom>
          <a:noFill/>
          <a:ln/>
        </p:spPr>
        <p:txBody>
          <a:bodyPr wrap="square" lIns="0" tIns="0" rIns="0" bIns="0" rtlCol="0" anchor="ctr"/>
          <a:lstStyle/>
          <a:p>
            <a:pPr algn="ctr" indent="0" marL="0">
              <a:buNone/>
            </a:pPr>
            <a:r>
              <a:rPr lang="en-US" sz="900" b="1" dirty="0">
                <a:solidFill>
                  <a:srgbClr val="C0392B"/>
                </a:solidFill>
                <a:latin typeface="Meiryo UI" pitchFamily="34" charset="0"/>
                <a:ea typeface="Meiryo UI" pitchFamily="34" charset="-122"/>
                <a:cs typeface="Meiryo UI" pitchFamily="34" charset="-120"/>
              </a:rPr>
              <a:t>全社 FCF</a:t>
            </a:r>
            <a:endParaRPr lang="en-US" sz="900" dirty="0"/>
          </a:p>
          <a:p>
            <a:pPr algn="ctr" indent="0" marL="0">
              <a:buNone/>
            </a:pPr>
            <a:r>
              <a:rPr lang="en-US" sz="900" b="1" dirty="0">
                <a:solidFill>
                  <a:srgbClr val="C0392B"/>
                </a:solidFill>
                <a:latin typeface="Meiryo UI" pitchFamily="34" charset="0"/>
                <a:ea typeface="Meiryo UI" pitchFamily="34" charset="-122"/>
                <a:cs typeface="Meiryo UI" pitchFamily="34" charset="-120"/>
              </a:rPr>
              <a:t>(エンジン)</a:t>
            </a:r>
            <a:endParaRPr lang="en-US" sz="900" dirty="0"/>
          </a:p>
        </p:txBody>
      </p:sp>
      <p:sp>
        <p:nvSpPr>
          <p:cNvPr id="75" name="ovl_s18_ns_fcf"/>
          <p:cNvSpPr txBox="1"/>
          <p:nvPr/>
        </p:nvSpPr>
        <p:spPr>
          <a:xfrm>
            <a:off x="4861560" y="5333238"/>
            <a:ext cx="1234440" cy="3383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FY27 −484 億</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FY29 +399 億ドル</a:t>
            </a:r>
            <a:endParaRPr lang="en-US" sz="850" dirty="0"/>
          </a:p>
        </p:txBody>
      </p:sp>
      <p:sp>
        <p:nvSpPr>
          <p:cNvPr id="76" name="ovl_s18_n_nv"/>
          <p:cNvSpPr/>
          <p:nvPr/>
        </p:nvSpPr>
        <p:spPr>
          <a:xfrm>
            <a:off x="7040880" y="2000250"/>
            <a:ext cx="1234440" cy="749808"/>
          </a:xfrm>
          <a:prstGeom prst="roundRect">
            <a:avLst>
              <a:gd name="adj" fmla="val 7317"/>
            </a:avLst>
          </a:prstGeom>
          <a:solidFill>
            <a:srgbClr val="FFFFFF"/>
          </a:solidFill>
          <a:ln w="9525">
            <a:solidFill>
              <a:srgbClr val="767676"/>
            </a:solidFill>
            <a:prstDash val="solid"/>
          </a:ln>
        </p:spPr>
      </p:sp>
      <p:sp>
        <p:nvSpPr>
          <p:cNvPr id="77" name="ovl_s18_nt_nv"/>
          <p:cNvSpPr txBox="1"/>
          <p:nvPr/>
        </p:nvSpPr>
        <p:spPr>
          <a:xfrm>
            <a:off x="7077456" y="2027682"/>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NVIDIA・部材</a:t>
            </a:r>
            <a:endParaRPr lang="en-US" sz="1000" dirty="0"/>
          </a:p>
        </p:txBody>
      </p:sp>
      <p:sp>
        <p:nvSpPr>
          <p:cNvPr id="78" name="ovl_s18_ns_nv"/>
          <p:cNvSpPr txBox="1"/>
          <p:nvPr/>
        </p:nvSpPr>
        <p:spPr>
          <a:xfrm>
            <a:off x="7086600" y="2233422"/>
            <a:ext cx="114300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GPU・網・メモリ</a:t>
            </a:r>
            <a:endParaRPr lang="en-US" sz="850" dirty="0"/>
          </a:p>
        </p:txBody>
      </p:sp>
      <p:sp>
        <p:nvSpPr>
          <p:cNvPr id="79" name="ovl_s18_n_sp"/>
          <p:cNvSpPr/>
          <p:nvPr/>
        </p:nvSpPr>
        <p:spPr>
          <a:xfrm>
            <a:off x="7040880" y="4949190"/>
            <a:ext cx="1234440" cy="749808"/>
          </a:xfrm>
          <a:prstGeom prst="roundRect">
            <a:avLst>
              <a:gd name="adj" fmla="val 7317"/>
            </a:avLst>
          </a:prstGeom>
          <a:solidFill>
            <a:srgbClr val="FFFFFF"/>
          </a:solidFill>
          <a:ln w="9525">
            <a:solidFill>
              <a:srgbClr val="767676"/>
            </a:solidFill>
            <a:prstDash val="solid"/>
          </a:ln>
        </p:spPr>
      </p:sp>
      <p:sp>
        <p:nvSpPr>
          <p:cNvPr id="80" name="ovl_s18_nt_sp"/>
          <p:cNvSpPr txBox="1"/>
          <p:nvPr/>
        </p:nvSpPr>
        <p:spPr>
          <a:xfrm>
            <a:off x="7077456" y="4976622"/>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S&amp;P</a:t>
            </a:r>
            <a:endParaRPr lang="en-US" sz="1000" dirty="0"/>
          </a:p>
        </p:txBody>
      </p:sp>
      <p:sp>
        <p:nvSpPr>
          <p:cNvPr id="81" name="ovl_s18_ns_sp"/>
          <p:cNvSpPr txBox="1"/>
          <p:nvPr/>
        </p:nvSpPr>
        <p:spPr>
          <a:xfrm>
            <a:off x="7086600" y="5182362"/>
            <a:ext cx="114300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FY29 までの</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FOCF 黒字を要求</a:t>
            </a:r>
            <a:endParaRPr lang="en-US" sz="850" dirty="0"/>
          </a:p>
        </p:txBody>
      </p:sp>
      <p:sp>
        <p:nvSpPr>
          <p:cNvPr id="82" name="ovl_s18_lab0"/>
          <p:cNvSpPr txBox="1"/>
          <p:nvPr/>
        </p:nvSpPr>
        <p:spPr>
          <a:xfrm>
            <a:off x="1728216" y="2000250"/>
            <a:ext cx="826008" cy="347472"/>
          </a:xfrm>
          <a:prstGeom prst="rect">
            <a:avLst/>
          </a:prstGeom>
          <a:solidFill>
            <a:srgbClr val="FFFFFF"/>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保守料・</a:t>
            </a:r>
            <a:endParaRPr lang="en-US" sz="850" dirty="0"/>
          </a:p>
          <a:p>
            <a:pPr algn="ctr" indent="0" marL="0">
              <a:buNone/>
            </a:pPr>
            <a:r>
              <a:rPr lang="en-US" sz="850" dirty="0">
                <a:solidFill>
                  <a:srgbClr val="0E4D33"/>
                </a:solidFill>
                <a:latin typeface="Meiryo UI" pitchFamily="34" charset="0"/>
                <a:ea typeface="Meiryo UI" pitchFamily="34" charset="-122"/>
                <a:cs typeface="Meiryo UI" pitchFamily="34" charset="-120"/>
              </a:rPr>
              <a:t>購読料</a:t>
            </a:r>
            <a:endParaRPr lang="en-US" sz="850" dirty="0"/>
          </a:p>
        </p:txBody>
      </p:sp>
      <p:sp>
        <p:nvSpPr>
          <p:cNvPr id="83" name="ovl_s18_num1"/>
          <p:cNvSpPr/>
          <p:nvPr/>
        </p:nvSpPr>
        <p:spPr>
          <a:xfrm>
            <a:off x="4247388" y="2256282"/>
            <a:ext cx="237744" cy="237744"/>
          </a:xfrm>
          <a:prstGeom prst="ellipse">
            <a:avLst/>
          </a:prstGeom>
          <a:solidFill>
            <a:srgbClr val="0E4D33"/>
          </a:solidFill>
          <a:ln w="12700">
            <a:solidFill>
              <a:srgbClr val="FFFFFF"/>
            </a:solidFill>
            <a:prstDash val="solid"/>
          </a:ln>
        </p:spPr>
      </p:sp>
      <p:sp>
        <p:nvSpPr>
          <p:cNvPr id="84" name="ovl_s18_numt1"/>
          <p:cNvSpPr txBox="1"/>
          <p:nvPr/>
        </p:nvSpPr>
        <p:spPr>
          <a:xfrm>
            <a:off x="4247388" y="225628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1</a:t>
            </a:r>
            <a:endParaRPr lang="en-US" sz="900" dirty="0"/>
          </a:p>
        </p:txBody>
      </p:sp>
      <p:sp>
        <p:nvSpPr>
          <p:cNvPr id="85" name="ovl_s18_lab2"/>
          <p:cNvSpPr txBox="1"/>
          <p:nvPr/>
        </p:nvSpPr>
        <p:spPr>
          <a:xfrm>
            <a:off x="1835696" y="3124962"/>
            <a:ext cx="611048"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0E4D33"/>
                </a:solidFill>
                <a:latin typeface="Meiryo UI" pitchFamily="34" charset="0"/>
                <a:ea typeface="Meiryo UI" pitchFamily="34" charset="-122"/>
                <a:cs typeface="Meiryo UI" pitchFamily="34" charset="-120"/>
              </a:rPr>
              <a:t>② </a:t>
            </a:r>
            <a:r>
              <a:rPr lang="en-US" sz="850" dirty="0">
                <a:solidFill>
                  <a:srgbClr val="0E4D33"/>
                </a:solidFill>
                <a:latin typeface="Meiryo UI" pitchFamily="34" charset="0"/>
                <a:ea typeface="Meiryo UI" pitchFamily="34" charset="-122"/>
                <a:cs typeface="Meiryo UI" pitchFamily="34" charset="-120"/>
              </a:rPr>
              <a:t>前払い</a:t>
            </a:r>
            <a:endParaRPr lang="en-US" sz="850" dirty="0"/>
          </a:p>
        </p:txBody>
      </p:sp>
      <p:sp>
        <p:nvSpPr>
          <p:cNvPr id="86" name="ovl_s18_num3"/>
          <p:cNvSpPr/>
          <p:nvPr/>
        </p:nvSpPr>
        <p:spPr>
          <a:xfrm>
            <a:off x="4247388" y="3239262"/>
            <a:ext cx="237744" cy="237744"/>
          </a:xfrm>
          <a:prstGeom prst="ellipse">
            <a:avLst/>
          </a:prstGeom>
          <a:solidFill>
            <a:srgbClr val="0E4D33"/>
          </a:solidFill>
          <a:ln w="12700">
            <a:solidFill>
              <a:srgbClr val="FFFFFF"/>
            </a:solidFill>
            <a:prstDash val="solid"/>
          </a:ln>
        </p:spPr>
      </p:sp>
      <p:sp>
        <p:nvSpPr>
          <p:cNvPr id="87" name="ovl_s18_numt3"/>
          <p:cNvSpPr txBox="1"/>
          <p:nvPr/>
        </p:nvSpPr>
        <p:spPr>
          <a:xfrm>
            <a:off x="4247388" y="323926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2</a:t>
            </a:r>
            <a:endParaRPr lang="en-US" sz="900" dirty="0"/>
          </a:p>
        </p:txBody>
      </p:sp>
      <p:sp>
        <p:nvSpPr>
          <p:cNvPr id="88" name="ovl_s18_lab4"/>
          <p:cNvSpPr txBox="1"/>
          <p:nvPr/>
        </p:nvSpPr>
        <p:spPr>
          <a:xfrm>
            <a:off x="1719110" y="4107942"/>
            <a:ext cx="844220"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1BA1A6"/>
                </a:solidFill>
                <a:latin typeface="Meiryo UI" pitchFamily="34" charset="0"/>
                <a:ea typeface="Meiryo UI" pitchFamily="34" charset="-122"/>
                <a:cs typeface="Meiryo UI" pitchFamily="34" charset="-120"/>
              </a:rPr>
              <a:t>③ </a:t>
            </a:r>
            <a:r>
              <a:rPr lang="en-US" sz="850" dirty="0">
                <a:solidFill>
                  <a:srgbClr val="1BA1A6"/>
                </a:solidFill>
                <a:latin typeface="Meiryo UI" pitchFamily="34" charset="0"/>
                <a:ea typeface="Meiryo UI" pitchFamily="34" charset="-122"/>
                <a:cs typeface="Meiryo UI" pitchFamily="34" charset="-120"/>
              </a:rPr>
              <a:t>建屋を賃貸</a:t>
            </a:r>
            <a:endParaRPr lang="en-US" sz="850" dirty="0"/>
          </a:p>
        </p:txBody>
      </p:sp>
      <p:sp>
        <p:nvSpPr>
          <p:cNvPr id="89" name="ovl_s18_lab6"/>
          <p:cNvSpPr txBox="1"/>
          <p:nvPr/>
        </p:nvSpPr>
        <p:spPr>
          <a:xfrm>
            <a:off x="1719110" y="5090922"/>
            <a:ext cx="844220"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0E4D33"/>
                </a:solidFill>
                <a:latin typeface="Meiryo UI" pitchFamily="34" charset="0"/>
                <a:ea typeface="Meiryo UI" pitchFamily="34" charset="-122"/>
                <a:cs typeface="Meiryo UI" pitchFamily="34" charset="-120"/>
              </a:rPr>
              <a:t>④ </a:t>
            </a:r>
            <a:r>
              <a:rPr lang="en-US" sz="850" dirty="0">
                <a:solidFill>
                  <a:srgbClr val="0E4D33"/>
                </a:solidFill>
                <a:latin typeface="Meiryo UI" pitchFamily="34" charset="0"/>
                <a:ea typeface="Meiryo UI" pitchFamily="34" charset="-122"/>
                <a:cs typeface="Meiryo UI" pitchFamily="34" charset="-120"/>
              </a:rPr>
              <a:t>社債・株式</a:t>
            </a:r>
            <a:endParaRPr lang="en-US" sz="850" dirty="0"/>
          </a:p>
        </p:txBody>
      </p:sp>
      <p:sp>
        <p:nvSpPr>
          <p:cNvPr id="90" name="ovl_s18_lab7"/>
          <p:cNvSpPr txBox="1"/>
          <p:nvPr/>
        </p:nvSpPr>
        <p:spPr>
          <a:xfrm>
            <a:off x="3961638" y="5090922"/>
            <a:ext cx="809244"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不足を埋める</a:t>
            </a:r>
            <a:endParaRPr lang="en-US" sz="850" dirty="0"/>
          </a:p>
        </p:txBody>
      </p:sp>
      <p:sp>
        <p:nvSpPr>
          <p:cNvPr id="91" name="ovl_s18_lab8"/>
          <p:cNvSpPr txBox="1"/>
          <p:nvPr/>
        </p:nvSpPr>
        <p:spPr>
          <a:xfrm>
            <a:off x="6364472" y="2141982"/>
            <a:ext cx="453657"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GPU 代</a:t>
            </a:r>
            <a:endParaRPr lang="en-US" sz="850" dirty="0"/>
          </a:p>
        </p:txBody>
      </p:sp>
      <p:sp>
        <p:nvSpPr>
          <p:cNvPr id="92" name="ovl_s18_lab9"/>
          <p:cNvSpPr txBox="1"/>
          <p:nvPr/>
        </p:nvSpPr>
        <p:spPr>
          <a:xfrm>
            <a:off x="6143244" y="4949190"/>
            <a:ext cx="896112" cy="347472"/>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767676"/>
                </a:solidFill>
                <a:latin typeface="Meiryo UI" pitchFamily="34" charset="0"/>
                <a:ea typeface="Meiryo UI" pitchFamily="34" charset="-122"/>
                <a:cs typeface="Meiryo UI" pitchFamily="34" charset="-120"/>
              </a:rPr>
              <a:t>⑤ </a:t>
            </a:r>
            <a:r>
              <a:rPr lang="en-US" sz="850" dirty="0">
                <a:solidFill>
                  <a:srgbClr val="767676"/>
                </a:solidFill>
                <a:latin typeface="Meiryo UI" pitchFamily="34" charset="0"/>
                <a:ea typeface="Meiryo UI" pitchFamily="34" charset="-122"/>
                <a:cs typeface="Meiryo UI" pitchFamily="34" charset="-120"/>
              </a:rPr>
              <a:t>格付けの条件</a:t>
            </a:r>
            <a:endParaRPr lang="en-US" sz="850" dirty="0"/>
          </a:p>
        </p:txBody>
      </p:sp>
      <p:sp>
        <p:nvSpPr>
          <p:cNvPr id="93" name="ovl_s18_glab0"/>
          <p:cNvSpPr txBox="1"/>
          <p:nvPr/>
        </p:nvSpPr>
        <p:spPr>
          <a:xfrm>
            <a:off x="2618232" y="1828800"/>
            <a:ext cx="552704" cy="164592"/>
          </a:xfrm>
          <a:prstGeom prst="rect">
            <a:avLst/>
          </a:prstGeom>
          <a:solidFill>
            <a:srgbClr val="FFFFFF"/>
          </a:solidFill>
          <a:ln/>
        </p:spPr>
        <p:txBody>
          <a:bodyPr wrap="square" lIns="0" tIns="0" rIns="0" bIns="0" rtlCol="0" anchor="ctr"/>
          <a:lstStyle/>
          <a:p>
            <a:pPr algn="ctr" indent="0" marL="0">
              <a:buNone/>
            </a:pPr>
            <a:r>
              <a:rPr lang="en-US" sz="800" b="1" dirty="0">
                <a:solidFill>
                  <a:srgbClr val="197A56"/>
                </a:solidFill>
                <a:latin typeface="Meiryo UI" pitchFamily="34" charset="0"/>
                <a:ea typeface="Meiryo UI" pitchFamily="34" charset="-122"/>
                <a:cs typeface="Meiryo UI" pitchFamily="34" charset="-120"/>
              </a:rPr>
              <a:t>資金の源</a:t>
            </a:r>
            <a:endParaRPr lang="en-US" sz="800" dirty="0"/>
          </a:p>
        </p:txBody>
      </p:sp>
      <p:sp>
        <p:nvSpPr>
          <p:cNvPr id="94" name="ovl_s18_glab1"/>
          <p:cNvSpPr txBox="1"/>
          <p:nvPr/>
        </p:nvSpPr>
        <p:spPr>
          <a:xfrm>
            <a:off x="4843272" y="1828800"/>
            <a:ext cx="755904" cy="164592"/>
          </a:xfrm>
          <a:prstGeom prst="rect">
            <a:avLst/>
          </a:prstGeom>
          <a:solidFill>
            <a:srgbClr val="FFFFFF"/>
          </a:solidFill>
          <a:ln/>
        </p:spPr>
        <p:txBody>
          <a:bodyPr wrap="square" lIns="0" tIns="0" rIns="0" bIns="0" rtlCol="0" anchor="ctr"/>
          <a:lstStyle/>
          <a:p>
            <a:pPr algn="ctr" indent="0" marL="0">
              <a:buNone/>
            </a:pPr>
            <a:r>
              <a:rPr lang="en-US" sz="800" b="1" dirty="0">
                <a:solidFill>
                  <a:srgbClr val="197A56"/>
                </a:solidFill>
                <a:latin typeface="Meiryo UI" pitchFamily="34" charset="0"/>
                <a:ea typeface="Meiryo UI" pitchFamily="34" charset="-122"/>
                <a:cs typeface="Meiryo UI" pitchFamily="34" charset="-120"/>
              </a:rPr>
              <a:t>使い道と結果</a:t>
            </a:r>
            <a:endParaRPr lang="en-US" sz="800" dirty="0"/>
          </a:p>
        </p:txBody>
      </p:sp>
      <p:sp>
        <p:nvSpPr>
          <p:cNvPr id="95" name="ovl_s18_leg0"/>
          <p:cNvSpPr/>
          <p:nvPr/>
        </p:nvSpPr>
        <p:spPr>
          <a:xfrm>
            <a:off x="457200" y="5971032"/>
            <a:ext cx="365760" cy="914"/>
          </a:xfrm>
          <a:prstGeom prst="line">
            <a:avLst/>
          </a:prstGeom>
          <a:noFill/>
          <a:ln w="22225">
            <a:solidFill>
              <a:srgbClr val="0E4D33"/>
            </a:solidFill>
            <a:prstDash val="solid"/>
            <a:tailEnd type="triangle"/>
          </a:ln>
        </p:spPr>
      </p:sp>
      <p:sp>
        <p:nvSpPr>
          <p:cNvPr id="96" name="ovl_s18_legt0"/>
          <p:cNvSpPr txBox="1"/>
          <p:nvPr/>
        </p:nvSpPr>
        <p:spPr>
          <a:xfrm>
            <a:off x="87782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カネ</a:t>
            </a:r>
            <a:endParaRPr lang="en-US" sz="800" dirty="0"/>
          </a:p>
        </p:txBody>
      </p:sp>
      <p:sp>
        <p:nvSpPr>
          <p:cNvPr id="97" name="ovl_s18_leg1"/>
          <p:cNvSpPr/>
          <p:nvPr/>
        </p:nvSpPr>
        <p:spPr>
          <a:xfrm>
            <a:off x="1874520" y="5971032"/>
            <a:ext cx="365760" cy="914"/>
          </a:xfrm>
          <a:prstGeom prst="line">
            <a:avLst/>
          </a:prstGeom>
          <a:noFill/>
          <a:ln w="19050">
            <a:solidFill>
              <a:srgbClr val="1BA1A6"/>
            </a:solidFill>
            <a:prstDash val="solid"/>
            <a:tailEnd type="triangle"/>
          </a:ln>
        </p:spPr>
      </p:sp>
      <p:sp>
        <p:nvSpPr>
          <p:cNvPr id="98" name="ovl_s18_legt1"/>
          <p:cNvSpPr txBox="1"/>
          <p:nvPr/>
        </p:nvSpPr>
        <p:spPr>
          <a:xfrm>
            <a:off x="229514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モノ・サービス</a:t>
            </a:r>
            <a:endParaRPr lang="en-US" sz="800" dirty="0"/>
          </a:p>
        </p:txBody>
      </p:sp>
      <p:sp>
        <p:nvSpPr>
          <p:cNvPr id="99" name="ovl_s18_leg2"/>
          <p:cNvSpPr/>
          <p:nvPr/>
        </p:nvSpPr>
        <p:spPr>
          <a:xfrm>
            <a:off x="3291840" y="5971032"/>
            <a:ext cx="365760" cy="914"/>
          </a:xfrm>
          <a:prstGeom prst="line">
            <a:avLst/>
          </a:prstGeom>
          <a:noFill/>
          <a:ln w="12700">
            <a:solidFill>
              <a:srgbClr val="767676"/>
            </a:solidFill>
            <a:prstDash val="sysDash"/>
            <a:tailEnd type="triangle"/>
          </a:ln>
        </p:spPr>
      </p:sp>
      <p:sp>
        <p:nvSpPr>
          <p:cNvPr id="100" name="ovl_s18_legt2"/>
          <p:cNvSpPr txBox="1"/>
          <p:nvPr/>
        </p:nvSpPr>
        <p:spPr>
          <a:xfrm>
            <a:off x="371246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契約・統治</a:t>
            </a:r>
            <a:endParaRPr lang="en-US" sz="800" dirty="0"/>
          </a:p>
        </p:txBody>
      </p:sp>
      <p:sp>
        <p:nvSpPr>
          <p:cNvPr id="101" name="ovl_s18_legn"/>
          <p:cNvSpPr txBox="1"/>
          <p:nvPr/>
        </p:nvSpPr>
        <p:spPr>
          <a:xfrm>
            <a:off x="6126480" y="5870448"/>
            <a:ext cx="2148840" cy="201168"/>
          </a:xfrm>
          <a:prstGeom prst="rect">
            <a:avLst/>
          </a:prstGeom>
          <a:noFill/>
          <a:ln/>
        </p:spPr>
        <p:txBody>
          <a:bodyPr wrap="square" lIns="0" tIns="0" rIns="0" bIns="0" rtlCol="0" anchor="ctr"/>
          <a:lstStyle/>
          <a:p>
            <a:pPr algn="r" indent="0" marL="0">
              <a:buNone/>
            </a:pPr>
            <a:r>
              <a:rPr lang="en-US" sz="800" dirty="0">
                <a:solidFill>
                  <a:srgbClr val="767676"/>
                </a:solidFill>
                <a:latin typeface="Meiryo UI" pitchFamily="34" charset="0"/>
                <a:ea typeface="Meiryo UI" pitchFamily="34" charset="-122"/>
                <a:cs typeface="Meiryo UI" pitchFamily="34" charset="-120"/>
              </a:rPr>
              <a:t>①② … は右の「仕組み」の番号</a:t>
            </a:r>
            <a:endParaRPr lang="en-US" sz="800" dirty="0"/>
          </a:p>
        </p:txBody>
      </p:sp>
      <p:sp>
        <p:nvSpPr>
          <p:cNvPr id="102" name="mech_head"/>
          <p:cNvSpPr txBox="1"/>
          <p:nvPr/>
        </p:nvSpPr>
        <p:spPr>
          <a:xfrm>
            <a:off x="8458200" y="1481328"/>
            <a:ext cx="3276295"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仕組み(図の ①② … と対応)</a:t>
            </a:r>
            <a:endParaRPr lang="en-US" sz="1200" dirty="0"/>
          </a:p>
        </p:txBody>
      </p:sp>
      <p:sp>
        <p:nvSpPr>
          <p:cNvPr id="103" name="mech"/>
          <p:cNvSpPr txBox="1"/>
          <p:nvPr/>
        </p:nvSpPr>
        <p:spPr>
          <a:xfrm>
            <a:off x="8458200" y="1810512"/>
            <a:ext cx="3276295" cy="2790952"/>
          </a:xfrm>
          <a:prstGeom prst="rect">
            <a:avLst/>
          </a:prstGeom>
          <a:noFill/>
          <a:ln/>
        </p:spPr>
        <p:txBody>
          <a:bodyPr wrap="square" lIns="381" tIns="381" rIns="381" bIns="381" rtlCol="0" anchor="t"/>
          <a:lstStyle/>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① </a:t>
            </a:r>
            <a:r>
              <a:rPr lang="en-US" sz="1050" dirty="0">
                <a:solidFill>
                  <a:srgbClr val="333333"/>
                </a:solidFill>
                <a:latin typeface="Meiryo UI" pitchFamily="34" charset="0"/>
                <a:ea typeface="Meiryo UI" pitchFamily="34" charset="-122"/>
                <a:cs typeface="Meiryo UI" pitchFamily="34" charset="-120"/>
              </a:rPr>
              <a:t>コアの利益(税引後 230 億ドル)が capex の自己資金の柱になる</a:t>
            </a:r>
            <a:endParaRPr lang="en-US" sz="1050" dirty="0"/>
          </a:p>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② </a:t>
            </a:r>
            <a:r>
              <a:rPr lang="en-US" sz="1050" dirty="0">
                <a:solidFill>
                  <a:srgbClr val="333333"/>
                </a:solidFill>
                <a:latin typeface="Meiryo UI" pitchFamily="34" charset="0"/>
                <a:ea typeface="Meiryo UI" pitchFamily="34" charset="-122"/>
                <a:cs typeface="Meiryo UI" pitchFamily="34" charset="-120"/>
              </a:rPr>
              <a:t>AI 研究所が GPU 代の約 24% を前払いし、前受収益は 1 年で倍増(154 → 308 億ドル)</a:t>
            </a:r>
            <a:endParaRPr lang="en-US" sz="1050" dirty="0"/>
          </a:p>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③ </a:t>
            </a:r>
            <a:r>
              <a:rPr lang="en-US" sz="1050" dirty="0">
                <a:solidFill>
                  <a:srgbClr val="333333"/>
                </a:solidFill>
                <a:latin typeface="Meiryo UI" pitchFamily="34" charset="0"/>
                <a:ea typeface="Meiryo UI" pitchFamily="34" charset="-122"/>
                <a:cs typeface="Meiryo UI" pitchFamily="34" charset="-120"/>
              </a:rPr>
              <a:t>建屋と電力は開発事業者が資金を出し、Oracle は 15〜19 年の賃料で借りる(未開始 2,880 億ドル)</a:t>
            </a:r>
            <a:endParaRPr lang="en-US" sz="1050" dirty="0"/>
          </a:p>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④ </a:t>
            </a:r>
            <a:r>
              <a:rPr lang="en-US" sz="1050" dirty="0">
                <a:solidFill>
                  <a:srgbClr val="333333"/>
                </a:solidFill>
                <a:latin typeface="Meiryo UI" pitchFamily="34" charset="0"/>
                <a:ea typeface="Meiryo UI" pitchFamily="34" charset="-122"/>
                <a:cs typeface="Meiryo UI" pitchFamily="34" charset="-120"/>
              </a:rPr>
              <a:t>残りは社債・優先株・ATM で調達(ATM 200 億ドルは Q1 で完了)。</a:t>
            </a:r>
            <a:br/>
            <a:r>
              <a:rPr lang="en-US" sz="1050" dirty="0">
                <a:solidFill>
                  <a:srgbClr val="333333"/>
                </a:solidFill>
                <a:latin typeface="Meiryo UI" pitchFamily="34" charset="0"/>
                <a:ea typeface="Meiryo UI" pitchFamily="34" charset="-122"/>
                <a:cs typeface="Meiryo UI" pitchFamily="34" charset="-120"/>
              </a:rPr>
              <a:t>追加は 200 億ドルが上限。</a:t>
            </a:r>
            <a:br/>
            <a:r>
              <a:rPr lang="en-US" sz="1050" dirty="0">
                <a:solidFill>
                  <a:srgbClr val="333333"/>
                </a:solidFill>
                <a:latin typeface="Meiryo UI" pitchFamily="34" charset="0"/>
                <a:ea typeface="Meiryo UI" pitchFamily="34" charset="-122"/>
                <a:cs typeface="Meiryo UI" pitchFamily="34" charset="-120"/>
              </a:rPr>
              <a:t>全社 FCF はエンジンで FY28 −166 億ドル、</a:t>
            </a:r>
            <a:br/>
            <a:r>
              <a:rPr lang="en-US" sz="1050" dirty="0">
                <a:solidFill>
                  <a:srgbClr val="333333"/>
                </a:solidFill>
                <a:latin typeface="Meiryo UI" pitchFamily="34" charset="0"/>
                <a:ea typeface="Meiryo UI" pitchFamily="34" charset="-122"/>
                <a:cs typeface="Meiryo UI" pitchFamily="34" charset="-120"/>
              </a:rPr>
              <a:t>FY29 に 399 億ドル</a:t>
            </a:r>
            <a:endParaRPr lang="en-US" sz="1050" dirty="0"/>
          </a:p>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⑤ </a:t>
            </a:r>
            <a:r>
              <a:rPr lang="en-US" sz="1050" dirty="0">
                <a:solidFill>
                  <a:srgbClr val="333333"/>
                </a:solidFill>
                <a:latin typeface="Meiryo UI" pitchFamily="34" charset="0"/>
                <a:ea typeface="Meiryo UI" pitchFamily="34" charset="-122"/>
                <a:cs typeface="Meiryo UI" pitchFamily="34" charset="-120"/>
              </a:rPr>
              <a:t>S&amp;P は FY29 までの FOCF 黒字化を、格付け維持の条件にする。</a:t>
            </a:r>
            <a:br/>
            <a:r>
              <a:rPr lang="en-US" sz="1050" dirty="0">
                <a:solidFill>
                  <a:srgbClr val="333333"/>
                </a:solidFill>
                <a:latin typeface="Meiryo UI" pitchFamily="34" charset="0"/>
                <a:ea typeface="Meiryo UI" pitchFamily="34" charset="-122"/>
                <a:cs typeface="Meiryo UI" pitchFamily="34" charset="-120"/>
              </a:rPr>
              <a:t>S&amp;P とコンセンサスは FY29 に黒字</a:t>
            </a:r>
            <a:endParaRPr lang="en-US" sz="1050" dirty="0"/>
          </a:p>
        </p:txBody>
      </p:sp>
      <p:sp>
        <p:nvSpPr>
          <p:cNvPr id="104" name="ovl_takeaway_bg"/>
          <p:cNvSpPr/>
          <p:nvPr/>
        </p:nvSpPr>
        <p:spPr>
          <a:xfrm>
            <a:off x="8458200" y="4674616"/>
            <a:ext cx="3276295" cy="750824"/>
          </a:xfrm>
          <a:prstGeom prst="rect">
            <a:avLst/>
          </a:prstGeom>
          <a:solidFill>
            <a:srgbClr val="EAF4EE"/>
          </a:solidFill>
          <a:ln w="12700">
            <a:solidFill>
              <a:srgbClr val="EAF4EE"/>
            </a:solidFill>
            <a:prstDash val="solid"/>
          </a:ln>
        </p:spPr>
      </p:sp>
      <p:sp>
        <p:nvSpPr>
          <p:cNvPr id="105" name="takeaway"/>
          <p:cNvSpPr txBox="1"/>
          <p:nvPr/>
        </p:nvSpPr>
        <p:spPr>
          <a:xfrm>
            <a:off x="8567928" y="4747768"/>
            <a:ext cx="3056839" cy="604520"/>
          </a:xfrm>
          <a:prstGeom prst="rect">
            <a:avLst/>
          </a:prstGeom>
          <a:noFill/>
          <a:ln/>
        </p:spPr>
        <p:txBody>
          <a:bodyPr wrap="square" lIns="508" tIns="508" rIns="508" bIns="508"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コアの現金は潤沢で、投資の多くは</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外部化されている。ただし自己資金で</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賄えない期間が FY29 まで続くため B</a:t>
            </a:r>
            <a:endParaRPr lang="en-US" sz="1000" dirty="0"/>
          </a:p>
        </p:txBody>
      </p:sp>
      <p:sp>
        <p:nvSpPr>
          <p:cNvPr id="106" name="updown"/>
          <p:cNvSpPr txBox="1"/>
          <p:nvPr/>
        </p:nvSpPr>
        <p:spPr>
          <a:xfrm>
            <a:off x="8458200" y="5498592"/>
            <a:ext cx="3276295" cy="591312"/>
          </a:xfrm>
          <a:prstGeom prst="rect">
            <a:avLst/>
          </a:prstGeom>
          <a:noFill/>
          <a:ln/>
        </p:spPr>
        <p:txBody>
          <a:bodyPr wrap="square" lIns="381" tIns="381" rIns="381" bIns="381" rtlCol="0" anchor="t"/>
          <a:lstStyle/>
          <a:p>
            <a:pPr indent="0" marL="0">
              <a:buNone/>
            </a:pPr>
            <a:r>
              <a:rPr lang="en-US" sz="850" b="1" dirty="0">
                <a:solidFill>
                  <a:srgbClr val="197A56"/>
                </a:solidFill>
                <a:latin typeface="Meiryo UI" pitchFamily="34" charset="0"/>
                <a:ea typeface="Meiryo UI" pitchFamily="34" charset="-122"/>
                <a:cs typeface="Meiryo UI" pitchFamily="34" charset="-120"/>
              </a:rPr>
              <a:t>上がる条件  </a:t>
            </a:r>
            <a:r>
              <a:rPr lang="en-US" sz="850" dirty="0">
                <a:solidFill>
                  <a:srgbClr val="333333"/>
                </a:solidFill>
                <a:latin typeface="Meiryo UI" pitchFamily="34" charset="0"/>
                <a:ea typeface="Meiryo UI" pitchFamily="34" charset="-122"/>
                <a:cs typeface="Meiryo UI" pitchFamily="34" charset="-120"/>
              </a:rPr>
              <a:t>前払いの比率が 30% を超え、FCF の黒字化が FY28 下期に確認されれば A</a:t>
            </a:r>
            <a:endParaRPr lang="en-US" sz="850" dirty="0"/>
          </a:p>
          <a:p>
            <a:pPr indent="0" marL="0">
              <a:buNone/>
            </a:pPr>
            <a:r>
              <a:rPr lang="en-US" sz="850" b="1" dirty="0">
                <a:solidFill>
                  <a:srgbClr val="C0392B"/>
                </a:solidFill>
                <a:latin typeface="Meiryo UI" pitchFamily="34" charset="0"/>
                <a:ea typeface="Meiryo UI" pitchFamily="34" charset="-122"/>
                <a:cs typeface="Meiryo UI" pitchFamily="34" charset="-120"/>
              </a:rPr>
              <a:t>下がる条件  </a:t>
            </a:r>
            <a:r>
              <a:rPr lang="en-US" sz="850" dirty="0">
                <a:solidFill>
                  <a:srgbClr val="333333"/>
                </a:solidFill>
                <a:latin typeface="Meiryo UI" pitchFamily="34" charset="0"/>
                <a:ea typeface="Meiryo UI" pitchFamily="34" charset="-122"/>
                <a:cs typeface="Meiryo UI" pitchFamily="34" charset="-120"/>
              </a:rPr>
              <a:t>FY29 の FCF が赤字のまま</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BB+ に格下げされれば C</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3-1 稼ぐ力(条件1〜3)(3/3)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207772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20777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技術の AI 転用(条件3)</a:t>
            </a:r>
            <a:endParaRPr lang="en-US" sz="1000" dirty="0"/>
          </a:p>
        </p:txBody>
      </p:sp>
      <p:sp>
        <p:nvSpPr>
          <p:cNvPr id="14" name="hdr_why"/>
          <p:cNvSpPr txBox="1"/>
          <p:nvPr/>
        </p:nvSpPr>
        <p:spPr>
          <a:xfrm>
            <a:off x="2681224" y="356616"/>
            <a:ext cx="905327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既存の技術と顧客が AI 事業で成果を生んでいれば、新規参入より有利に伸びる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DB とネットワークの技術が OCI(+121%)と Database@(+353%)に</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転用され、増収の主因になった</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左から: 既存の資産 → 転用の経路 → 新しい収益 ← 顧客。①〜④ は右と対応。数値は Q1 FY27</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会社開示(Q1 FY27)、research3/W6_database_at.md、research3/W8_aws_vs_commodity.md、report/r3_sections_5w1h_f20.md §2-0</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27</a:t>
            </a:r>
            <a:endParaRPr lang="en-US" sz="800" dirty="0"/>
          </a:p>
        </p:txBody>
      </p:sp>
      <p:sp>
        <p:nvSpPr>
          <p:cNvPr id="19" name="ovl_badge"/>
          <p:cNvSpPr/>
          <p:nvPr/>
        </p:nvSpPr>
        <p:spPr>
          <a:xfrm>
            <a:off x="10865815" y="649224"/>
            <a:ext cx="868680" cy="677570"/>
          </a:xfrm>
          <a:prstGeom prst="roundRect">
            <a:avLst>
              <a:gd name="adj" fmla="val 10796"/>
            </a:avLst>
          </a:prstGeom>
          <a:solidFill>
            <a:srgbClr val="197A56"/>
          </a:solidFill>
          <a:ln w="12700">
            <a:solidFill>
              <a:srgbClr val="197A56"/>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FFFFFF"/>
                </a:solidFill>
                <a:latin typeface="Meiryo UI" pitchFamily="34" charset="0"/>
                <a:ea typeface="Meiryo UI" pitchFamily="34" charset="-122"/>
                <a:cs typeface="Meiryo UI" pitchFamily="34" charset="-120"/>
              </a:rPr>
              <a:t>A</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FFFFFF"/>
                </a:solidFill>
                <a:latin typeface="Meiryo UI" pitchFamily="34" charset="0"/>
                <a:ea typeface="Meiryo UI" pitchFamily="34" charset="-122"/>
                <a:cs typeface="Meiryo UI" pitchFamily="34" charset="-120"/>
              </a:rPr>
              <a:t>条件3</a:t>
            </a:r>
            <a:endParaRPr lang="en-US" sz="800" dirty="0"/>
          </a:p>
        </p:txBody>
      </p:sp>
      <p:sp>
        <p:nvSpPr>
          <p:cNvPr id="22" name="bg_lane0"/>
          <p:cNvSpPr/>
          <p:nvPr/>
        </p:nvSpPr>
        <p:spPr>
          <a:xfrm>
            <a:off x="347472" y="1517904"/>
            <a:ext cx="1453896" cy="4315968"/>
          </a:xfrm>
          <a:prstGeom prst="rect">
            <a:avLst/>
          </a:prstGeom>
          <a:solidFill>
            <a:srgbClr val="F2F2F2"/>
          </a:solidFill>
          <a:ln w="12700">
            <a:solidFill>
              <a:srgbClr val="F2F2F2"/>
            </a:solidFill>
            <a:prstDash val="solid"/>
          </a:ln>
        </p:spPr>
      </p:sp>
      <p:sp>
        <p:nvSpPr>
          <p:cNvPr id="23" name="bg_laneh0"/>
          <p:cNvSpPr/>
          <p:nvPr/>
        </p:nvSpPr>
        <p:spPr>
          <a:xfrm>
            <a:off x="347472" y="1517904"/>
            <a:ext cx="1453896" cy="274320"/>
          </a:xfrm>
          <a:prstGeom prst="rect">
            <a:avLst/>
          </a:prstGeom>
          <a:solidFill>
            <a:srgbClr val="D9D9D9"/>
          </a:solidFill>
          <a:ln w="12700">
            <a:solidFill>
              <a:srgbClr val="D9D9D9"/>
            </a:solidFill>
            <a:prstDash val="solid"/>
          </a:ln>
        </p:spPr>
      </p:sp>
      <p:sp>
        <p:nvSpPr>
          <p:cNvPr id="24" name="bg_lanet0"/>
          <p:cNvSpPr txBox="1"/>
          <p:nvPr/>
        </p:nvSpPr>
        <p:spPr>
          <a:xfrm>
            <a:off x="347472" y="1517904"/>
            <a:ext cx="145389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既存の資産</a:t>
            </a:r>
            <a:endParaRPr lang="en-US" sz="950" dirty="0"/>
          </a:p>
        </p:txBody>
      </p:sp>
      <p:sp>
        <p:nvSpPr>
          <p:cNvPr id="25" name="bg_lane1"/>
          <p:cNvSpPr/>
          <p:nvPr/>
        </p:nvSpPr>
        <p:spPr>
          <a:xfrm>
            <a:off x="2542032" y="1517904"/>
            <a:ext cx="3739896" cy="4315968"/>
          </a:xfrm>
          <a:prstGeom prst="rect">
            <a:avLst/>
          </a:prstGeom>
          <a:solidFill>
            <a:srgbClr val="EAF4EE"/>
          </a:solidFill>
          <a:ln w="12700">
            <a:solidFill>
              <a:srgbClr val="EAF4EE"/>
            </a:solidFill>
            <a:prstDash val="solid"/>
          </a:ln>
        </p:spPr>
      </p:sp>
      <p:sp>
        <p:nvSpPr>
          <p:cNvPr id="26" name="bg_laneh1"/>
          <p:cNvSpPr/>
          <p:nvPr/>
        </p:nvSpPr>
        <p:spPr>
          <a:xfrm>
            <a:off x="2542032" y="1517904"/>
            <a:ext cx="3739896" cy="274320"/>
          </a:xfrm>
          <a:prstGeom prst="rect">
            <a:avLst/>
          </a:prstGeom>
          <a:solidFill>
            <a:srgbClr val="197A56"/>
          </a:solidFill>
          <a:ln w="12700">
            <a:solidFill>
              <a:srgbClr val="197A56"/>
            </a:solidFill>
            <a:prstDash val="solid"/>
          </a:ln>
        </p:spPr>
      </p:sp>
      <p:sp>
        <p:nvSpPr>
          <p:cNvPr id="27" name="bg_lanet1"/>
          <p:cNvSpPr txBox="1"/>
          <p:nvPr/>
        </p:nvSpPr>
        <p:spPr>
          <a:xfrm>
            <a:off x="2542032" y="1517904"/>
            <a:ext cx="3739896"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Oracle の転用と成果</a:t>
            </a:r>
            <a:endParaRPr lang="en-US" sz="950" dirty="0"/>
          </a:p>
        </p:txBody>
      </p:sp>
      <p:sp>
        <p:nvSpPr>
          <p:cNvPr id="28" name="bg_lane2"/>
          <p:cNvSpPr/>
          <p:nvPr/>
        </p:nvSpPr>
        <p:spPr>
          <a:xfrm>
            <a:off x="7022592" y="1517904"/>
            <a:ext cx="1362456" cy="4315968"/>
          </a:xfrm>
          <a:prstGeom prst="rect">
            <a:avLst/>
          </a:prstGeom>
          <a:solidFill>
            <a:srgbClr val="F2F2F2"/>
          </a:solidFill>
          <a:ln w="12700">
            <a:solidFill>
              <a:srgbClr val="F2F2F2"/>
            </a:solidFill>
            <a:prstDash val="solid"/>
          </a:ln>
        </p:spPr>
      </p:sp>
      <p:sp>
        <p:nvSpPr>
          <p:cNvPr id="29" name="bg_laneh2"/>
          <p:cNvSpPr/>
          <p:nvPr/>
        </p:nvSpPr>
        <p:spPr>
          <a:xfrm>
            <a:off x="7022592" y="1517904"/>
            <a:ext cx="1362456" cy="274320"/>
          </a:xfrm>
          <a:prstGeom prst="rect">
            <a:avLst/>
          </a:prstGeom>
          <a:solidFill>
            <a:srgbClr val="D9D9D9"/>
          </a:solidFill>
          <a:ln w="12700">
            <a:solidFill>
              <a:srgbClr val="D9D9D9"/>
            </a:solidFill>
            <a:prstDash val="solid"/>
          </a:ln>
        </p:spPr>
      </p:sp>
      <p:sp>
        <p:nvSpPr>
          <p:cNvPr id="30" name="bg_lanet2"/>
          <p:cNvSpPr txBox="1"/>
          <p:nvPr/>
        </p:nvSpPr>
        <p:spPr>
          <a:xfrm>
            <a:off x="7022592" y="1517904"/>
            <a:ext cx="136245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顧客</a:t>
            </a:r>
            <a:endParaRPr lang="en-US" sz="950" dirty="0"/>
          </a:p>
        </p:txBody>
      </p:sp>
      <p:sp>
        <p:nvSpPr>
          <p:cNvPr id="31" name="ovl_grp0"/>
          <p:cNvSpPr/>
          <p:nvPr/>
        </p:nvSpPr>
        <p:spPr>
          <a:xfrm>
            <a:off x="2587752" y="1911096"/>
            <a:ext cx="1408176" cy="3877056"/>
          </a:xfrm>
          <a:prstGeom prst="roundRect">
            <a:avLst>
              <a:gd name="adj" fmla="val 3896"/>
            </a:avLst>
          </a:prstGeom>
          <a:solidFill>
            <a:srgbClr val="FFFFFF">
              <a:alpha val="0"/>
            </a:srgbClr>
          </a:solidFill>
          <a:ln w="12700">
            <a:solidFill>
              <a:srgbClr val="197A56"/>
            </a:solidFill>
            <a:prstDash val="dash"/>
          </a:ln>
        </p:spPr>
      </p:sp>
      <p:sp>
        <p:nvSpPr>
          <p:cNvPr id="32" name="ovl_grp1"/>
          <p:cNvSpPr/>
          <p:nvPr/>
        </p:nvSpPr>
        <p:spPr>
          <a:xfrm>
            <a:off x="4828032" y="1911096"/>
            <a:ext cx="1408176" cy="3877056"/>
          </a:xfrm>
          <a:prstGeom prst="roundRect">
            <a:avLst>
              <a:gd name="adj" fmla="val 3896"/>
            </a:avLst>
          </a:prstGeom>
          <a:solidFill>
            <a:srgbClr val="FFFFFF">
              <a:alpha val="0"/>
            </a:srgbClr>
          </a:solidFill>
          <a:ln w="12700">
            <a:solidFill>
              <a:srgbClr val="197A56"/>
            </a:solidFill>
            <a:prstDash val="dash"/>
          </a:ln>
        </p:spPr>
      </p:sp>
      <p:sp>
        <p:nvSpPr>
          <p:cNvPr id="33" name="ovl_s19_e0_0"/>
          <p:cNvSpPr/>
          <p:nvPr/>
        </p:nvSpPr>
        <p:spPr>
          <a:xfrm>
            <a:off x="1691640" y="2538984"/>
            <a:ext cx="960120" cy="914"/>
          </a:xfrm>
          <a:prstGeom prst="line">
            <a:avLst/>
          </a:prstGeom>
          <a:noFill/>
          <a:ln w="19050">
            <a:solidFill>
              <a:srgbClr val="1BA1A6"/>
            </a:solidFill>
            <a:prstDash val="solid"/>
            <a:tailEnd type="triangle"/>
          </a:ln>
        </p:spPr>
      </p:sp>
      <p:sp>
        <p:nvSpPr>
          <p:cNvPr id="34" name="ovl_s19_e1_0"/>
          <p:cNvSpPr/>
          <p:nvPr/>
        </p:nvSpPr>
        <p:spPr>
          <a:xfrm>
            <a:off x="1691640" y="3849624"/>
            <a:ext cx="960120" cy="914"/>
          </a:xfrm>
          <a:prstGeom prst="line">
            <a:avLst/>
          </a:prstGeom>
          <a:noFill/>
          <a:ln w="19050">
            <a:solidFill>
              <a:srgbClr val="1BA1A6"/>
            </a:solidFill>
            <a:prstDash val="solid"/>
            <a:tailEnd type="triangle"/>
          </a:ln>
        </p:spPr>
      </p:sp>
      <p:sp>
        <p:nvSpPr>
          <p:cNvPr id="35" name="ovl_s19_e2_0"/>
          <p:cNvSpPr/>
          <p:nvPr/>
        </p:nvSpPr>
        <p:spPr>
          <a:xfrm>
            <a:off x="1691640" y="5160264"/>
            <a:ext cx="960120" cy="914"/>
          </a:xfrm>
          <a:prstGeom prst="line">
            <a:avLst/>
          </a:prstGeom>
          <a:noFill/>
          <a:ln w="19050">
            <a:solidFill>
              <a:srgbClr val="1BA1A6"/>
            </a:solidFill>
            <a:prstDash val="solid"/>
            <a:tailEnd type="triangle"/>
          </a:ln>
        </p:spPr>
      </p:sp>
      <p:sp>
        <p:nvSpPr>
          <p:cNvPr id="36" name="ovl_s19_e3_0"/>
          <p:cNvSpPr/>
          <p:nvPr/>
        </p:nvSpPr>
        <p:spPr>
          <a:xfrm>
            <a:off x="3931920" y="2538984"/>
            <a:ext cx="960120" cy="914"/>
          </a:xfrm>
          <a:prstGeom prst="line">
            <a:avLst/>
          </a:prstGeom>
          <a:noFill/>
          <a:ln w="22225">
            <a:solidFill>
              <a:srgbClr val="0E4D33"/>
            </a:solidFill>
            <a:prstDash val="solid"/>
            <a:tailEnd type="triangle"/>
          </a:ln>
        </p:spPr>
      </p:sp>
      <p:sp>
        <p:nvSpPr>
          <p:cNvPr id="37" name="ovl_s19_e4_0"/>
          <p:cNvSpPr/>
          <p:nvPr/>
        </p:nvSpPr>
        <p:spPr>
          <a:xfrm>
            <a:off x="3931920" y="3849624"/>
            <a:ext cx="960120" cy="914"/>
          </a:xfrm>
          <a:prstGeom prst="line">
            <a:avLst/>
          </a:prstGeom>
          <a:noFill/>
          <a:ln w="22225">
            <a:solidFill>
              <a:srgbClr val="0E4D33"/>
            </a:solidFill>
            <a:prstDash val="solid"/>
            <a:tailEnd type="triangle"/>
          </a:ln>
        </p:spPr>
      </p:sp>
      <p:sp>
        <p:nvSpPr>
          <p:cNvPr id="38" name="ovl_s19_e5_0"/>
          <p:cNvSpPr/>
          <p:nvPr/>
        </p:nvSpPr>
        <p:spPr>
          <a:xfrm>
            <a:off x="3931920" y="5160264"/>
            <a:ext cx="960120" cy="914"/>
          </a:xfrm>
          <a:prstGeom prst="line">
            <a:avLst/>
          </a:prstGeom>
          <a:noFill/>
          <a:ln w="22225">
            <a:solidFill>
              <a:srgbClr val="0E4D33"/>
            </a:solidFill>
            <a:prstDash val="solid"/>
            <a:tailEnd type="triangle"/>
          </a:ln>
        </p:spPr>
      </p:sp>
      <p:sp>
        <p:nvSpPr>
          <p:cNvPr id="39" name="ovl_s19_e6_0"/>
          <p:cNvSpPr/>
          <p:nvPr/>
        </p:nvSpPr>
        <p:spPr>
          <a:xfrm flipH="1">
            <a:off x="6172200" y="2538984"/>
            <a:ext cx="960120" cy="914"/>
          </a:xfrm>
          <a:prstGeom prst="line">
            <a:avLst/>
          </a:prstGeom>
          <a:noFill/>
          <a:ln w="22225">
            <a:solidFill>
              <a:srgbClr val="0E4D33"/>
            </a:solidFill>
            <a:prstDash val="solid"/>
            <a:tailEnd type="triangle"/>
          </a:ln>
        </p:spPr>
      </p:sp>
      <p:sp>
        <p:nvSpPr>
          <p:cNvPr id="40" name="ovl_s19_e7_0"/>
          <p:cNvSpPr/>
          <p:nvPr/>
        </p:nvSpPr>
        <p:spPr>
          <a:xfrm flipH="1">
            <a:off x="6172200" y="3849624"/>
            <a:ext cx="960120" cy="914"/>
          </a:xfrm>
          <a:prstGeom prst="line">
            <a:avLst/>
          </a:prstGeom>
          <a:noFill/>
          <a:ln w="22225">
            <a:solidFill>
              <a:srgbClr val="0E4D33"/>
            </a:solidFill>
            <a:prstDash val="solid"/>
            <a:tailEnd type="triangle"/>
          </a:ln>
        </p:spPr>
      </p:sp>
      <p:sp>
        <p:nvSpPr>
          <p:cNvPr id="41" name="ovl_s19_e8_0"/>
          <p:cNvSpPr/>
          <p:nvPr/>
        </p:nvSpPr>
        <p:spPr>
          <a:xfrm flipH="1">
            <a:off x="6172200" y="5160264"/>
            <a:ext cx="960120" cy="914"/>
          </a:xfrm>
          <a:prstGeom prst="line">
            <a:avLst/>
          </a:prstGeom>
          <a:noFill/>
          <a:ln w="22225">
            <a:solidFill>
              <a:srgbClr val="0E4D33"/>
            </a:solidFill>
            <a:prstDash val="solid"/>
            <a:tailEnd type="triangle"/>
          </a:ln>
        </p:spPr>
      </p:sp>
      <p:sp>
        <p:nvSpPr>
          <p:cNvPr id="42" name="ovl_s19_n_dbt"/>
          <p:cNvSpPr/>
          <p:nvPr/>
        </p:nvSpPr>
        <p:spPr>
          <a:xfrm>
            <a:off x="457200" y="2136648"/>
            <a:ext cx="1234440" cy="804672"/>
          </a:xfrm>
          <a:prstGeom prst="roundRect">
            <a:avLst>
              <a:gd name="adj" fmla="val 6818"/>
            </a:avLst>
          </a:prstGeom>
          <a:solidFill>
            <a:srgbClr val="EAF4EE"/>
          </a:solidFill>
          <a:ln w="9525">
            <a:solidFill>
              <a:srgbClr val="86C99B"/>
            </a:solidFill>
            <a:prstDash val="solid"/>
          </a:ln>
        </p:spPr>
      </p:sp>
      <p:sp>
        <p:nvSpPr>
          <p:cNvPr id="43" name="ovl_s19_nt_dbt"/>
          <p:cNvSpPr txBox="1"/>
          <p:nvPr/>
        </p:nvSpPr>
        <p:spPr>
          <a:xfrm>
            <a:off x="493776" y="2164080"/>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Oracle Database</a:t>
            </a:r>
            <a:endParaRPr lang="en-US" sz="1000" dirty="0"/>
          </a:p>
        </p:txBody>
      </p:sp>
      <p:sp>
        <p:nvSpPr>
          <p:cNvPr id="44" name="ovl_s19_ns_dbt"/>
          <p:cNvSpPr txBox="1"/>
          <p:nvPr/>
        </p:nvSpPr>
        <p:spPr>
          <a:xfrm>
            <a:off x="502920" y="2369820"/>
            <a:ext cx="1143000" cy="54406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Exadata・</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Autonomous</a:t>
            </a:r>
            <a:endParaRPr lang="en-US" sz="850" dirty="0"/>
          </a:p>
        </p:txBody>
      </p:sp>
      <p:sp>
        <p:nvSpPr>
          <p:cNvPr id="45" name="ovl_s19_n_net"/>
          <p:cNvSpPr/>
          <p:nvPr/>
        </p:nvSpPr>
        <p:spPr>
          <a:xfrm>
            <a:off x="457200" y="3447288"/>
            <a:ext cx="1234440" cy="804672"/>
          </a:xfrm>
          <a:prstGeom prst="roundRect">
            <a:avLst>
              <a:gd name="adj" fmla="val 6818"/>
            </a:avLst>
          </a:prstGeom>
          <a:solidFill>
            <a:srgbClr val="EAF4EE"/>
          </a:solidFill>
          <a:ln w="9525">
            <a:solidFill>
              <a:srgbClr val="86C99B"/>
            </a:solidFill>
            <a:prstDash val="solid"/>
          </a:ln>
        </p:spPr>
      </p:sp>
      <p:sp>
        <p:nvSpPr>
          <p:cNvPr id="46" name="ovl_s19_nt_net"/>
          <p:cNvSpPr txBox="1"/>
          <p:nvPr/>
        </p:nvSpPr>
        <p:spPr>
          <a:xfrm>
            <a:off x="493776" y="3474720"/>
            <a:ext cx="1161288" cy="205740"/>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RDMA ネットワーク</a:t>
            </a:r>
            <a:endParaRPr lang="en-US" sz="900" dirty="0"/>
          </a:p>
        </p:txBody>
      </p:sp>
      <p:sp>
        <p:nvSpPr>
          <p:cNvPr id="47" name="ovl_s19_ns_net"/>
          <p:cNvSpPr txBox="1"/>
          <p:nvPr/>
        </p:nvSpPr>
        <p:spPr>
          <a:xfrm>
            <a:off x="502920" y="3680460"/>
            <a:ext cx="1143000" cy="54406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Exadata 由来の</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低遅延の網</a:t>
            </a:r>
            <a:endParaRPr lang="en-US" sz="850" dirty="0"/>
          </a:p>
        </p:txBody>
      </p:sp>
      <p:sp>
        <p:nvSpPr>
          <p:cNvPr id="48" name="ovl_s19_n_data"/>
          <p:cNvSpPr/>
          <p:nvPr/>
        </p:nvSpPr>
        <p:spPr>
          <a:xfrm>
            <a:off x="457200" y="4757928"/>
            <a:ext cx="1234440" cy="804672"/>
          </a:xfrm>
          <a:prstGeom prst="roundRect">
            <a:avLst>
              <a:gd name="adj" fmla="val 6818"/>
            </a:avLst>
          </a:prstGeom>
          <a:solidFill>
            <a:srgbClr val="EAF4EE"/>
          </a:solidFill>
          <a:ln w="9525">
            <a:solidFill>
              <a:srgbClr val="86C99B"/>
            </a:solidFill>
            <a:prstDash val="solid"/>
          </a:ln>
        </p:spPr>
      </p:sp>
      <p:sp>
        <p:nvSpPr>
          <p:cNvPr id="49" name="ovl_s19_nt_data"/>
          <p:cNvSpPr txBox="1"/>
          <p:nvPr/>
        </p:nvSpPr>
        <p:spPr>
          <a:xfrm>
            <a:off x="493776" y="4785360"/>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既存顧客のデータ</a:t>
            </a:r>
            <a:endParaRPr lang="en-US" sz="1000" dirty="0"/>
          </a:p>
        </p:txBody>
      </p:sp>
      <p:sp>
        <p:nvSpPr>
          <p:cNvPr id="50" name="ovl_s19_ns_data"/>
          <p:cNvSpPr txBox="1"/>
          <p:nvPr/>
        </p:nvSpPr>
        <p:spPr>
          <a:xfrm>
            <a:off x="502920" y="4991100"/>
            <a:ext cx="1143000" cy="54406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DB 内の基幹データ</a:t>
            </a:r>
            <a:endParaRPr lang="en-US" sz="850" dirty="0"/>
          </a:p>
        </p:txBody>
      </p:sp>
      <p:sp>
        <p:nvSpPr>
          <p:cNvPr id="51" name="ovl_s19_n_dbat"/>
          <p:cNvSpPr/>
          <p:nvPr/>
        </p:nvSpPr>
        <p:spPr>
          <a:xfrm>
            <a:off x="2651760" y="2136648"/>
            <a:ext cx="1280160" cy="804672"/>
          </a:xfrm>
          <a:prstGeom prst="roundRect">
            <a:avLst>
              <a:gd name="adj" fmla="val 6818"/>
            </a:avLst>
          </a:prstGeom>
          <a:solidFill>
            <a:srgbClr val="FFFFFF"/>
          </a:solidFill>
          <a:ln w="19050">
            <a:solidFill>
              <a:srgbClr val="197A56"/>
            </a:solidFill>
            <a:prstDash val="solid"/>
          </a:ln>
        </p:spPr>
      </p:sp>
      <p:sp>
        <p:nvSpPr>
          <p:cNvPr id="52" name="ovl_s19_nt_dbat"/>
          <p:cNvSpPr txBox="1"/>
          <p:nvPr/>
        </p:nvSpPr>
        <p:spPr>
          <a:xfrm>
            <a:off x="2688336" y="2164080"/>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Database@</a:t>
            </a:r>
            <a:endParaRPr lang="en-US" sz="1000" dirty="0"/>
          </a:p>
        </p:txBody>
      </p:sp>
      <p:sp>
        <p:nvSpPr>
          <p:cNvPr id="53" name="ovl_s19_ns_dbat"/>
          <p:cNvSpPr txBox="1"/>
          <p:nvPr/>
        </p:nvSpPr>
        <p:spPr>
          <a:xfrm>
            <a:off x="2697480" y="2369820"/>
            <a:ext cx="1188720" cy="54406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他社の DC に</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Exadata を設置</a:t>
            </a:r>
            <a:endParaRPr lang="en-US" sz="850" dirty="0"/>
          </a:p>
        </p:txBody>
      </p:sp>
      <p:sp>
        <p:nvSpPr>
          <p:cNvPr id="54" name="ovl_s19_n_cluster"/>
          <p:cNvSpPr/>
          <p:nvPr/>
        </p:nvSpPr>
        <p:spPr>
          <a:xfrm>
            <a:off x="2651760" y="3447288"/>
            <a:ext cx="1280160" cy="804672"/>
          </a:xfrm>
          <a:prstGeom prst="roundRect">
            <a:avLst>
              <a:gd name="adj" fmla="val 6818"/>
            </a:avLst>
          </a:prstGeom>
          <a:solidFill>
            <a:srgbClr val="FFFFFF"/>
          </a:solidFill>
          <a:ln w="19050">
            <a:solidFill>
              <a:srgbClr val="197A56"/>
            </a:solidFill>
            <a:prstDash val="solid"/>
          </a:ln>
        </p:spPr>
      </p:sp>
      <p:sp>
        <p:nvSpPr>
          <p:cNvPr id="55" name="ovl_s19_nt_cluster"/>
          <p:cNvSpPr txBox="1"/>
          <p:nvPr/>
        </p:nvSpPr>
        <p:spPr>
          <a:xfrm>
            <a:off x="2688336" y="3474720"/>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GPU クラスタ</a:t>
            </a:r>
            <a:endParaRPr lang="en-US" sz="1000" dirty="0"/>
          </a:p>
        </p:txBody>
      </p:sp>
      <p:sp>
        <p:nvSpPr>
          <p:cNvPr id="56" name="ovl_s19_ns_cluster"/>
          <p:cNvSpPr txBox="1"/>
          <p:nvPr/>
        </p:nvSpPr>
        <p:spPr>
          <a:xfrm>
            <a:off x="2697480" y="3680460"/>
            <a:ext cx="1188720" cy="54406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RDMA で GPU を</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大規模につなぐ</a:t>
            </a:r>
            <a:endParaRPr lang="en-US" sz="850" dirty="0"/>
          </a:p>
        </p:txBody>
      </p:sp>
      <p:sp>
        <p:nvSpPr>
          <p:cNvPr id="57" name="ovl_s19_n_aidb"/>
          <p:cNvSpPr/>
          <p:nvPr/>
        </p:nvSpPr>
        <p:spPr>
          <a:xfrm>
            <a:off x="2651760" y="4757928"/>
            <a:ext cx="1280160" cy="804672"/>
          </a:xfrm>
          <a:prstGeom prst="roundRect">
            <a:avLst>
              <a:gd name="adj" fmla="val 6818"/>
            </a:avLst>
          </a:prstGeom>
          <a:solidFill>
            <a:srgbClr val="FFFFFF"/>
          </a:solidFill>
          <a:ln w="19050">
            <a:solidFill>
              <a:srgbClr val="197A56"/>
            </a:solidFill>
            <a:prstDash val="solid"/>
          </a:ln>
        </p:spPr>
      </p:sp>
      <p:sp>
        <p:nvSpPr>
          <p:cNvPr id="58" name="ovl_s19_nt_aidb"/>
          <p:cNvSpPr txBox="1"/>
          <p:nvPr/>
        </p:nvSpPr>
        <p:spPr>
          <a:xfrm>
            <a:off x="2688336" y="4785360"/>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Database 26ai</a:t>
            </a:r>
            <a:endParaRPr lang="en-US" sz="1000" dirty="0"/>
          </a:p>
        </p:txBody>
      </p:sp>
      <p:sp>
        <p:nvSpPr>
          <p:cNvPr id="59" name="ovl_s19_ns_aidb"/>
          <p:cNvSpPr txBox="1"/>
          <p:nvPr/>
        </p:nvSpPr>
        <p:spPr>
          <a:xfrm>
            <a:off x="2697480" y="4991100"/>
            <a:ext cx="1188720" cy="54406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DB にベクトル検索・</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エージェントを内蔵</a:t>
            </a:r>
            <a:endParaRPr lang="en-US" sz="850" dirty="0"/>
          </a:p>
        </p:txBody>
      </p:sp>
      <p:sp>
        <p:nvSpPr>
          <p:cNvPr id="60" name="ovl_s19_n_rev1"/>
          <p:cNvSpPr/>
          <p:nvPr/>
        </p:nvSpPr>
        <p:spPr>
          <a:xfrm>
            <a:off x="4892040" y="2136648"/>
            <a:ext cx="1280160" cy="804672"/>
          </a:xfrm>
          <a:prstGeom prst="roundRect">
            <a:avLst>
              <a:gd name="adj" fmla="val 6818"/>
            </a:avLst>
          </a:prstGeom>
          <a:solidFill>
            <a:srgbClr val="197A56"/>
          </a:solidFill>
          <a:ln w="9525">
            <a:solidFill>
              <a:srgbClr val="197A56"/>
            </a:solidFill>
            <a:prstDash val="solid"/>
          </a:ln>
        </p:spPr>
      </p:sp>
      <p:sp>
        <p:nvSpPr>
          <p:cNvPr id="61" name="ovl_s19_nt_rev1"/>
          <p:cNvSpPr txBox="1"/>
          <p:nvPr/>
        </p:nvSpPr>
        <p:spPr>
          <a:xfrm>
            <a:off x="4928616" y="2164080"/>
            <a:ext cx="1207008" cy="20574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マルチクラウド DB</a:t>
            </a:r>
            <a:endParaRPr lang="en-US" sz="1000" dirty="0"/>
          </a:p>
        </p:txBody>
      </p:sp>
      <p:sp>
        <p:nvSpPr>
          <p:cNvPr id="62" name="ovl_s19_ns_rev1"/>
          <p:cNvSpPr txBox="1"/>
          <p:nvPr/>
        </p:nvSpPr>
        <p:spPr>
          <a:xfrm>
            <a:off x="4937760" y="2369820"/>
            <a:ext cx="1188720" cy="544068"/>
          </a:xfrm>
          <a:prstGeom prst="rect">
            <a:avLst/>
          </a:prstGeom>
          <a:noFill/>
          <a:ln/>
        </p:spPr>
        <p:txBody>
          <a:bodyPr wrap="square" lIns="0" tIns="0" rIns="0" bIns="0" rtlCol="0" anchor="t"/>
          <a:lstStyle/>
          <a:p>
            <a:pPr algn="ctr" indent="0" marL="0">
              <a:buNone/>
            </a:pPr>
            <a:r>
              <a:rPr lang="en-US" sz="850" dirty="0">
                <a:solidFill>
                  <a:srgbClr val="FFFFFF"/>
                </a:solidFill>
                <a:latin typeface="Meiryo UI" pitchFamily="34" charset="0"/>
                <a:ea typeface="Meiryo UI" pitchFamily="34" charset="-122"/>
                <a:cs typeface="Meiryo UI" pitchFamily="34" charset="-120"/>
              </a:rPr>
              <a:t>売上 +353%</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顧客 +180%</a:t>
            </a:r>
            <a:endParaRPr lang="en-US" sz="850" dirty="0"/>
          </a:p>
        </p:txBody>
      </p:sp>
      <p:sp>
        <p:nvSpPr>
          <p:cNvPr id="63" name="ovl_s19_n_rev2"/>
          <p:cNvSpPr/>
          <p:nvPr/>
        </p:nvSpPr>
        <p:spPr>
          <a:xfrm>
            <a:off x="4892040" y="3447288"/>
            <a:ext cx="1280160" cy="804672"/>
          </a:xfrm>
          <a:prstGeom prst="roundRect">
            <a:avLst>
              <a:gd name="adj" fmla="val 6818"/>
            </a:avLst>
          </a:prstGeom>
          <a:solidFill>
            <a:srgbClr val="197A56"/>
          </a:solidFill>
          <a:ln w="9525">
            <a:solidFill>
              <a:srgbClr val="197A56"/>
            </a:solidFill>
            <a:prstDash val="solid"/>
          </a:ln>
        </p:spPr>
      </p:sp>
      <p:sp>
        <p:nvSpPr>
          <p:cNvPr id="64" name="ovl_s19_nt_rev2"/>
          <p:cNvSpPr txBox="1"/>
          <p:nvPr/>
        </p:nvSpPr>
        <p:spPr>
          <a:xfrm>
            <a:off x="4928616" y="3474720"/>
            <a:ext cx="1207008" cy="20574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OCI</a:t>
            </a:r>
            <a:endParaRPr lang="en-US" sz="1000" dirty="0"/>
          </a:p>
        </p:txBody>
      </p:sp>
      <p:sp>
        <p:nvSpPr>
          <p:cNvPr id="65" name="ovl_s19_ns_rev2"/>
          <p:cNvSpPr txBox="1"/>
          <p:nvPr/>
        </p:nvSpPr>
        <p:spPr>
          <a:xfrm>
            <a:off x="4937760" y="3680460"/>
            <a:ext cx="1188720" cy="544068"/>
          </a:xfrm>
          <a:prstGeom prst="rect">
            <a:avLst/>
          </a:prstGeom>
          <a:noFill/>
          <a:ln/>
        </p:spPr>
        <p:txBody>
          <a:bodyPr wrap="square" lIns="0" tIns="0" rIns="0" bIns="0" rtlCol="0" anchor="t"/>
          <a:lstStyle/>
          <a:p>
            <a:pPr algn="ctr" indent="0" marL="0">
              <a:buNone/>
            </a:pPr>
            <a:r>
              <a:rPr lang="en-US" sz="850" dirty="0">
                <a:solidFill>
                  <a:srgbClr val="FFFFFF"/>
                </a:solidFill>
                <a:latin typeface="Meiryo UI" pitchFamily="34" charset="0"/>
                <a:ea typeface="Meiryo UI" pitchFamily="34" charset="-122"/>
                <a:cs typeface="Meiryo UI" pitchFamily="34" charset="-120"/>
              </a:rPr>
              <a:t>売上 74 億ドル</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(+121%)</a:t>
            </a:r>
            <a:endParaRPr lang="en-US" sz="850" dirty="0"/>
          </a:p>
        </p:txBody>
      </p:sp>
      <p:sp>
        <p:nvSpPr>
          <p:cNvPr id="66" name="ovl_s19_n_rev3"/>
          <p:cNvSpPr/>
          <p:nvPr/>
        </p:nvSpPr>
        <p:spPr>
          <a:xfrm>
            <a:off x="4892040" y="4757928"/>
            <a:ext cx="1280160" cy="804672"/>
          </a:xfrm>
          <a:prstGeom prst="roundRect">
            <a:avLst>
              <a:gd name="adj" fmla="val 6818"/>
            </a:avLst>
          </a:prstGeom>
          <a:solidFill>
            <a:srgbClr val="FFFFFF"/>
          </a:solidFill>
          <a:ln w="9525">
            <a:solidFill>
              <a:srgbClr val="767676"/>
            </a:solidFill>
            <a:prstDash val="solid"/>
          </a:ln>
        </p:spPr>
      </p:sp>
      <p:sp>
        <p:nvSpPr>
          <p:cNvPr id="67" name="ovl_s19_nt_rev3"/>
          <p:cNvSpPr txBox="1"/>
          <p:nvPr/>
        </p:nvSpPr>
        <p:spPr>
          <a:xfrm>
            <a:off x="4928616" y="4785360"/>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企業 AI 推論</a:t>
            </a:r>
            <a:endParaRPr lang="en-US" sz="1000" dirty="0"/>
          </a:p>
        </p:txBody>
      </p:sp>
      <p:sp>
        <p:nvSpPr>
          <p:cNvPr id="68" name="ovl_s19_ns_rev3"/>
          <p:cNvSpPr txBox="1"/>
          <p:nvPr/>
        </p:nvSpPr>
        <p:spPr>
          <a:xfrm>
            <a:off x="4937760" y="4991100"/>
            <a:ext cx="1188720" cy="54406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売上は非開示</a:t>
            </a:r>
            <a:endParaRPr lang="en-US" sz="850" dirty="0"/>
          </a:p>
        </p:txBody>
      </p:sp>
      <p:sp>
        <p:nvSpPr>
          <p:cNvPr id="69" name="ovl_s19_n_hyper"/>
          <p:cNvSpPr/>
          <p:nvPr/>
        </p:nvSpPr>
        <p:spPr>
          <a:xfrm>
            <a:off x="7132320" y="2136648"/>
            <a:ext cx="1143000" cy="804672"/>
          </a:xfrm>
          <a:prstGeom prst="roundRect">
            <a:avLst>
              <a:gd name="adj" fmla="val 6818"/>
            </a:avLst>
          </a:prstGeom>
          <a:solidFill>
            <a:srgbClr val="FFFFFF"/>
          </a:solidFill>
          <a:ln w="9525">
            <a:solidFill>
              <a:srgbClr val="767676"/>
            </a:solidFill>
            <a:prstDash val="solid"/>
          </a:ln>
        </p:spPr>
      </p:sp>
      <p:sp>
        <p:nvSpPr>
          <p:cNvPr id="70" name="ovl_s19_nt_hyper"/>
          <p:cNvSpPr txBox="1"/>
          <p:nvPr/>
        </p:nvSpPr>
        <p:spPr>
          <a:xfrm>
            <a:off x="7168896" y="2164080"/>
            <a:ext cx="1069848" cy="356616"/>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AWS・Azure・</a:t>
            </a:r>
            <a:endParaRPr lang="en-US" sz="900" dirty="0"/>
          </a:p>
          <a:p>
            <a:pPr algn="ctr" indent="0" marL="0">
              <a:buNone/>
            </a:pPr>
            <a:r>
              <a:rPr lang="en-US" sz="900" b="1" dirty="0">
                <a:solidFill>
                  <a:srgbClr val="0E4D33"/>
                </a:solidFill>
                <a:latin typeface="Meiryo UI" pitchFamily="34" charset="0"/>
                <a:ea typeface="Meiryo UI" pitchFamily="34" charset="-122"/>
                <a:cs typeface="Meiryo UI" pitchFamily="34" charset="-120"/>
              </a:rPr>
              <a:t>Google</a:t>
            </a:r>
            <a:endParaRPr lang="en-US" sz="900" dirty="0"/>
          </a:p>
        </p:txBody>
      </p:sp>
      <p:sp>
        <p:nvSpPr>
          <p:cNvPr id="71" name="ovl_s19_ns_hyper"/>
          <p:cNvSpPr txBox="1"/>
          <p:nvPr/>
        </p:nvSpPr>
        <p:spPr>
          <a:xfrm>
            <a:off x="7178040" y="2520696"/>
            <a:ext cx="1051560" cy="39319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70 リージョン</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119 AZ</a:t>
            </a:r>
            <a:endParaRPr lang="en-US" sz="850" dirty="0"/>
          </a:p>
        </p:txBody>
      </p:sp>
      <p:sp>
        <p:nvSpPr>
          <p:cNvPr id="72" name="ovl_s19_n_lab"/>
          <p:cNvSpPr/>
          <p:nvPr/>
        </p:nvSpPr>
        <p:spPr>
          <a:xfrm>
            <a:off x="7132320" y="3447288"/>
            <a:ext cx="1143000" cy="804672"/>
          </a:xfrm>
          <a:prstGeom prst="roundRect">
            <a:avLst>
              <a:gd name="adj" fmla="val 6818"/>
            </a:avLst>
          </a:prstGeom>
          <a:solidFill>
            <a:srgbClr val="FFFFFF"/>
          </a:solidFill>
          <a:ln w="9525">
            <a:solidFill>
              <a:srgbClr val="767676"/>
            </a:solidFill>
            <a:prstDash val="solid"/>
          </a:ln>
        </p:spPr>
      </p:sp>
      <p:sp>
        <p:nvSpPr>
          <p:cNvPr id="73" name="ovl_s19_nt_lab"/>
          <p:cNvSpPr txBox="1"/>
          <p:nvPr/>
        </p:nvSpPr>
        <p:spPr>
          <a:xfrm>
            <a:off x="7168896" y="3474720"/>
            <a:ext cx="10698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研究所</a:t>
            </a:r>
            <a:endParaRPr lang="en-US" sz="1000" dirty="0"/>
          </a:p>
        </p:txBody>
      </p:sp>
      <p:sp>
        <p:nvSpPr>
          <p:cNvPr id="74" name="ovl_s19_ns_lab"/>
          <p:cNvSpPr txBox="1"/>
          <p:nvPr/>
        </p:nvSpPr>
        <p:spPr>
          <a:xfrm>
            <a:off x="7178040" y="3680460"/>
            <a:ext cx="1051560" cy="54406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学習・推論</a:t>
            </a:r>
            <a:endParaRPr lang="en-US" sz="850" dirty="0"/>
          </a:p>
        </p:txBody>
      </p:sp>
      <p:sp>
        <p:nvSpPr>
          <p:cNvPr id="75" name="ovl_s19_n_ent"/>
          <p:cNvSpPr/>
          <p:nvPr/>
        </p:nvSpPr>
        <p:spPr>
          <a:xfrm>
            <a:off x="7132320" y="4757928"/>
            <a:ext cx="1143000" cy="804672"/>
          </a:xfrm>
          <a:prstGeom prst="roundRect">
            <a:avLst>
              <a:gd name="adj" fmla="val 6818"/>
            </a:avLst>
          </a:prstGeom>
          <a:solidFill>
            <a:srgbClr val="FFFFFF"/>
          </a:solidFill>
          <a:ln w="9525">
            <a:solidFill>
              <a:srgbClr val="767676"/>
            </a:solidFill>
            <a:prstDash val="solid"/>
          </a:ln>
        </p:spPr>
      </p:sp>
      <p:sp>
        <p:nvSpPr>
          <p:cNvPr id="76" name="ovl_s19_nt_ent"/>
          <p:cNvSpPr txBox="1"/>
          <p:nvPr/>
        </p:nvSpPr>
        <p:spPr>
          <a:xfrm>
            <a:off x="7168896" y="4785360"/>
            <a:ext cx="10698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企業</a:t>
            </a:r>
            <a:endParaRPr lang="en-US" sz="1000" dirty="0"/>
          </a:p>
        </p:txBody>
      </p:sp>
      <p:sp>
        <p:nvSpPr>
          <p:cNvPr id="77" name="ovl_s19_ns_ent"/>
          <p:cNvSpPr txBox="1"/>
          <p:nvPr/>
        </p:nvSpPr>
        <p:spPr>
          <a:xfrm>
            <a:off x="7178040" y="4991100"/>
            <a:ext cx="1051560" cy="54406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自社データで推論</a:t>
            </a:r>
            <a:endParaRPr lang="en-US" sz="850" dirty="0"/>
          </a:p>
        </p:txBody>
      </p:sp>
      <p:sp>
        <p:nvSpPr>
          <p:cNvPr id="78" name="ovl_s19_lab0"/>
          <p:cNvSpPr txBox="1"/>
          <p:nvPr/>
        </p:nvSpPr>
        <p:spPr>
          <a:xfrm>
            <a:off x="1714500" y="2164080"/>
            <a:ext cx="914400" cy="347472"/>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1BA1A6"/>
                </a:solidFill>
                <a:latin typeface="Meiryo UI" pitchFamily="34" charset="0"/>
                <a:ea typeface="Meiryo UI" pitchFamily="34" charset="-122"/>
                <a:cs typeface="Meiryo UI" pitchFamily="34" charset="-120"/>
              </a:rPr>
              <a:t>① </a:t>
            </a:r>
            <a:r>
              <a:rPr lang="en-US" sz="850" dirty="0">
                <a:solidFill>
                  <a:srgbClr val="1BA1A6"/>
                </a:solidFill>
                <a:latin typeface="Meiryo UI" pitchFamily="34" charset="0"/>
                <a:ea typeface="Meiryo UI" pitchFamily="34" charset="-122"/>
                <a:cs typeface="Meiryo UI" pitchFamily="34" charset="-120"/>
              </a:rPr>
              <a:t>そのまま提供</a:t>
            </a:r>
            <a:endParaRPr lang="en-US" sz="850" dirty="0"/>
          </a:p>
        </p:txBody>
      </p:sp>
      <p:sp>
        <p:nvSpPr>
          <p:cNvPr id="79" name="ovl_s19_lab1"/>
          <p:cNvSpPr txBox="1"/>
          <p:nvPr/>
        </p:nvSpPr>
        <p:spPr>
          <a:xfrm>
            <a:off x="1714500" y="3474720"/>
            <a:ext cx="914400" cy="347472"/>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1BA1A6"/>
                </a:solidFill>
                <a:latin typeface="Meiryo UI" pitchFamily="34" charset="0"/>
                <a:ea typeface="Meiryo UI" pitchFamily="34" charset="-122"/>
                <a:cs typeface="Meiryo UI" pitchFamily="34" charset="-120"/>
              </a:rPr>
              <a:t>② </a:t>
            </a:r>
            <a:r>
              <a:rPr lang="en-US" sz="850" dirty="0">
                <a:solidFill>
                  <a:srgbClr val="1BA1A6"/>
                </a:solidFill>
                <a:latin typeface="Meiryo UI" pitchFamily="34" charset="0"/>
                <a:ea typeface="Meiryo UI" pitchFamily="34" charset="-122"/>
                <a:cs typeface="Meiryo UI" pitchFamily="34" charset="-120"/>
              </a:rPr>
              <a:t>GPU 間の網に</a:t>
            </a:r>
            <a:endParaRPr lang="en-US" sz="850" dirty="0"/>
          </a:p>
        </p:txBody>
      </p:sp>
      <p:sp>
        <p:nvSpPr>
          <p:cNvPr id="80" name="ovl_s19_lab2"/>
          <p:cNvSpPr txBox="1"/>
          <p:nvPr/>
        </p:nvSpPr>
        <p:spPr>
          <a:xfrm>
            <a:off x="1784566" y="4927092"/>
            <a:ext cx="774268"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1BA1A6"/>
                </a:solidFill>
                <a:latin typeface="Meiryo UI" pitchFamily="34" charset="0"/>
                <a:ea typeface="Meiryo UI" pitchFamily="34" charset="-122"/>
                <a:cs typeface="Meiryo UI" pitchFamily="34" charset="-120"/>
              </a:rPr>
              <a:t>③ </a:t>
            </a:r>
            <a:r>
              <a:rPr lang="en-US" sz="850" dirty="0">
                <a:solidFill>
                  <a:srgbClr val="1BA1A6"/>
                </a:solidFill>
                <a:latin typeface="Meiryo UI" pitchFamily="34" charset="0"/>
                <a:ea typeface="Meiryo UI" pitchFamily="34" charset="-122"/>
                <a:cs typeface="Meiryo UI" pitchFamily="34" charset="-120"/>
              </a:rPr>
              <a:t>AI を直結</a:t>
            </a:r>
            <a:endParaRPr lang="en-US" sz="850" dirty="0"/>
          </a:p>
        </p:txBody>
      </p:sp>
      <p:sp>
        <p:nvSpPr>
          <p:cNvPr id="81" name="ovl_s19_lab6"/>
          <p:cNvSpPr txBox="1"/>
          <p:nvPr/>
        </p:nvSpPr>
        <p:spPr>
          <a:xfrm>
            <a:off x="6247638" y="2305812"/>
            <a:ext cx="809244"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契約枠で購入</a:t>
            </a:r>
            <a:endParaRPr lang="en-US" sz="850" dirty="0"/>
          </a:p>
        </p:txBody>
      </p:sp>
      <p:sp>
        <p:nvSpPr>
          <p:cNvPr id="82" name="ovl_s19_lab7"/>
          <p:cNvSpPr txBox="1"/>
          <p:nvPr/>
        </p:nvSpPr>
        <p:spPr>
          <a:xfrm>
            <a:off x="6346736" y="3616452"/>
            <a:ext cx="611048"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0E4D33"/>
                </a:solidFill>
                <a:latin typeface="Meiryo UI" pitchFamily="34" charset="0"/>
                <a:ea typeface="Meiryo UI" pitchFamily="34" charset="-122"/>
                <a:cs typeface="Meiryo UI" pitchFamily="34" charset="-120"/>
              </a:rPr>
              <a:t>④ </a:t>
            </a:r>
            <a:r>
              <a:rPr lang="en-US" sz="850" dirty="0">
                <a:solidFill>
                  <a:srgbClr val="0E4D33"/>
                </a:solidFill>
                <a:latin typeface="Meiryo UI" pitchFamily="34" charset="0"/>
                <a:ea typeface="Meiryo UI" pitchFamily="34" charset="-122"/>
                <a:cs typeface="Meiryo UI" pitchFamily="34" charset="-120"/>
              </a:rPr>
              <a:t>容量料</a:t>
            </a:r>
            <a:endParaRPr lang="en-US" sz="850" dirty="0"/>
          </a:p>
        </p:txBody>
      </p:sp>
      <p:sp>
        <p:nvSpPr>
          <p:cNvPr id="83" name="ovl_s19_lab8"/>
          <p:cNvSpPr txBox="1"/>
          <p:nvPr/>
        </p:nvSpPr>
        <p:spPr>
          <a:xfrm>
            <a:off x="6480810" y="4927092"/>
            <a:ext cx="342900"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利用</a:t>
            </a:r>
            <a:endParaRPr lang="en-US" sz="850" dirty="0"/>
          </a:p>
        </p:txBody>
      </p:sp>
      <p:sp>
        <p:nvSpPr>
          <p:cNvPr id="84" name="ovl_s19_glab0"/>
          <p:cNvSpPr txBox="1"/>
          <p:nvPr/>
        </p:nvSpPr>
        <p:spPr>
          <a:xfrm>
            <a:off x="2679192" y="1828800"/>
            <a:ext cx="654304" cy="164592"/>
          </a:xfrm>
          <a:prstGeom prst="rect">
            <a:avLst/>
          </a:prstGeom>
          <a:solidFill>
            <a:srgbClr val="FFFFFF"/>
          </a:solidFill>
          <a:ln/>
        </p:spPr>
        <p:txBody>
          <a:bodyPr wrap="square" lIns="0" tIns="0" rIns="0" bIns="0" rtlCol="0" anchor="ctr"/>
          <a:lstStyle/>
          <a:p>
            <a:pPr algn="ctr" indent="0" marL="0">
              <a:buNone/>
            </a:pPr>
            <a:r>
              <a:rPr lang="en-US" sz="800" b="1" dirty="0">
                <a:solidFill>
                  <a:srgbClr val="197A56"/>
                </a:solidFill>
                <a:latin typeface="Meiryo UI" pitchFamily="34" charset="0"/>
                <a:ea typeface="Meiryo UI" pitchFamily="34" charset="-122"/>
                <a:cs typeface="Meiryo UI" pitchFamily="34" charset="-120"/>
              </a:rPr>
              <a:t>転用の経路</a:t>
            </a:r>
            <a:endParaRPr lang="en-US" sz="800" dirty="0"/>
          </a:p>
        </p:txBody>
      </p:sp>
      <p:sp>
        <p:nvSpPr>
          <p:cNvPr id="85" name="ovl_s19_glab1"/>
          <p:cNvSpPr txBox="1"/>
          <p:nvPr/>
        </p:nvSpPr>
        <p:spPr>
          <a:xfrm>
            <a:off x="4919472" y="1828800"/>
            <a:ext cx="654304" cy="164592"/>
          </a:xfrm>
          <a:prstGeom prst="rect">
            <a:avLst/>
          </a:prstGeom>
          <a:solidFill>
            <a:srgbClr val="FFFFFF"/>
          </a:solidFill>
          <a:ln/>
        </p:spPr>
        <p:txBody>
          <a:bodyPr wrap="square" lIns="0" tIns="0" rIns="0" bIns="0" rtlCol="0" anchor="ctr"/>
          <a:lstStyle/>
          <a:p>
            <a:pPr algn="ctr" indent="0" marL="0">
              <a:buNone/>
            </a:pPr>
            <a:r>
              <a:rPr lang="en-US" sz="800" b="1" dirty="0">
                <a:solidFill>
                  <a:srgbClr val="197A56"/>
                </a:solidFill>
                <a:latin typeface="Meiryo UI" pitchFamily="34" charset="0"/>
                <a:ea typeface="Meiryo UI" pitchFamily="34" charset="-122"/>
                <a:cs typeface="Meiryo UI" pitchFamily="34" charset="-120"/>
              </a:rPr>
              <a:t>新しい収益</a:t>
            </a:r>
            <a:endParaRPr lang="en-US" sz="800" dirty="0"/>
          </a:p>
        </p:txBody>
      </p:sp>
      <p:sp>
        <p:nvSpPr>
          <p:cNvPr id="86" name="ovl_s19_leg0"/>
          <p:cNvSpPr/>
          <p:nvPr/>
        </p:nvSpPr>
        <p:spPr>
          <a:xfrm>
            <a:off x="457200" y="5971032"/>
            <a:ext cx="365760" cy="914"/>
          </a:xfrm>
          <a:prstGeom prst="line">
            <a:avLst/>
          </a:prstGeom>
          <a:noFill/>
          <a:ln w="22225">
            <a:solidFill>
              <a:srgbClr val="0E4D33"/>
            </a:solidFill>
            <a:prstDash val="solid"/>
            <a:tailEnd type="triangle"/>
          </a:ln>
        </p:spPr>
      </p:sp>
      <p:sp>
        <p:nvSpPr>
          <p:cNvPr id="87" name="ovl_s19_legt0"/>
          <p:cNvSpPr txBox="1"/>
          <p:nvPr/>
        </p:nvSpPr>
        <p:spPr>
          <a:xfrm>
            <a:off x="87782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カネ</a:t>
            </a:r>
            <a:endParaRPr lang="en-US" sz="800" dirty="0"/>
          </a:p>
        </p:txBody>
      </p:sp>
      <p:sp>
        <p:nvSpPr>
          <p:cNvPr id="88" name="ovl_s19_leg1"/>
          <p:cNvSpPr/>
          <p:nvPr/>
        </p:nvSpPr>
        <p:spPr>
          <a:xfrm>
            <a:off x="1874520" y="5971032"/>
            <a:ext cx="365760" cy="914"/>
          </a:xfrm>
          <a:prstGeom prst="line">
            <a:avLst/>
          </a:prstGeom>
          <a:noFill/>
          <a:ln w="19050">
            <a:solidFill>
              <a:srgbClr val="1BA1A6"/>
            </a:solidFill>
            <a:prstDash val="solid"/>
            <a:tailEnd type="triangle"/>
          </a:ln>
        </p:spPr>
      </p:sp>
      <p:sp>
        <p:nvSpPr>
          <p:cNvPr id="89" name="ovl_s19_legt1"/>
          <p:cNvSpPr txBox="1"/>
          <p:nvPr/>
        </p:nvSpPr>
        <p:spPr>
          <a:xfrm>
            <a:off x="229514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モノ・サービス</a:t>
            </a:r>
            <a:endParaRPr lang="en-US" sz="800" dirty="0"/>
          </a:p>
        </p:txBody>
      </p:sp>
      <p:sp>
        <p:nvSpPr>
          <p:cNvPr id="90" name="ovl_s19_legn"/>
          <p:cNvSpPr txBox="1"/>
          <p:nvPr/>
        </p:nvSpPr>
        <p:spPr>
          <a:xfrm>
            <a:off x="6126480" y="5870448"/>
            <a:ext cx="2148840" cy="201168"/>
          </a:xfrm>
          <a:prstGeom prst="rect">
            <a:avLst/>
          </a:prstGeom>
          <a:noFill/>
          <a:ln/>
        </p:spPr>
        <p:txBody>
          <a:bodyPr wrap="square" lIns="0" tIns="0" rIns="0" bIns="0" rtlCol="0" anchor="ctr"/>
          <a:lstStyle/>
          <a:p>
            <a:pPr algn="r" indent="0" marL="0">
              <a:buNone/>
            </a:pPr>
            <a:r>
              <a:rPr lang="en-US" sz="800" dirty="0">
                <a:solidFill>
                  <a:srgbClr val="767676"/>
                </a:solidFill>
                <a:latin typeface="Meiryo UI" pitchFamily="34" charset="0"/>
                <a:ea typeface="Meiryo UI" pitchFamily="34" charset="-122"/>
                <a:cs typeface="Meiryo UI" pitchFamily="34" charset="-120"/>
              </a:rPr>
              <a:t>①② … は右の「仕組み」の番号</a:t>
            </a:r>
            <a:endParaRPr lang="en-US" sz="800" dirty="0"/>
          </a:p>
        </p:txBody>
      </p:sp>
      <p:sp>
        <p:nvSpPr>
          <p:cNvPr id="91" name="mech_head"/>
          <p:cNvSpPr txBox="1"/>
          <p:nvPr/>
        </p:nvSpPr>
        <p:spPr>
          <a:xfrm>
            <a:off x="8458200" y="1481328"/>
            <a:ext cx="3276295"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仕組み(図の ①② … と対応)</a:t>
            </a:r>
            <a:endParaRPr lang="en-US" sz="1200" dirty="0"/>
          </a:p>
        </p:txBody>
      </p:sp>
      <p:sp>
        <p:nvSpPr>
          <p:cNvPr id="92" name="mech"/>
          <p:cNvSpPr txBox="1"/>
          <p:nvPr/>
        </p:nvSpPr>
        <p:spPr>
          <a:xfrm>
            <a:off x="8458200" y="1810512"/>
            <a:ext cx="3276295" cy="1668272"/>
          </a:xfrm>
          <a:prstGeom prst="rect">
            <a:avLst/>
          </a:prstGeom>
          <a:noFill/>
          <a:ln/>
        </p:spPr>
        <p:txBody>
          <a:bodyPr wrap="square" lIns="381" tIns="381" rIns="381" bIns="381" rtlCol="0" anchor="t"/>
          <a:lstStyle/>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① </a:t>
            </a:r>
            <a:r>
              <a:rPr lang="en-US" sz="1100" dirty="0">
                <a:solidFill>
                  <a:srgbClr val="333333"/>
                </a:solidFill>
                <a:latin typeface="Meiryo UI" pitchFamily="34" charset="0"/>
                <a:ea typeface="Meiryo UI" pitchFamily="34" charset="-122"/>
                <a:cs typeface="Meiryo UI" pitchFamily="34" charset="-120"/>
              </a:rPr>
              <a:t>DB をそのまま他社の DC に置く(Database@)。追加の開発は小さく、売上 +353%</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② </a:t>
            </a:r>
            <a:r>
              <a:rPr lang="en-US" sz="1100" dirty="0">
                <a:solidFill>
                  <a:srgbClr val="333333"/>
                </a:solidFill>
                <a:latin typeface="Meiryo UI" pitchFamily="34" charset="0"/>
                <a:ea typeface="Meiryo UI" pitchFamily="34" charset="-122"/>
                <a:cs typeface="Meiryo UI" pitchFamily="34" charset="-120"/>
              </a:rPr>
              <a:t>Exadata 由来の RDMA 網で GPU を大規模につなぎ、OCI +121% の土台になった</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③ </a:t>
            </a:r>
            <a:r>
              <a:rPr lang="en-US" sz="1100" dirty="0">
                <a:solidFill>
                  <a:srgbClr val="333333"/>
                </a:solidFill>
                <a:latin typeface="Meiryo UI" pitchFamily="34" charset="0"/>
                <a:ea typeface="Meiryo UI" pitchFamily="34" charset="-122"/>
                <a:cs typeface="Meiryo UI" pitchFamily="34" charset="-120"/>
              </a:rPr>
              <a:t>26ai は DB の中に AI 検索を内蔵し、企業データの AI 需要を DB に取り込む(売上は非開示)</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④ </a:t>
            </a:r>
            <a:r>
              <a:rPr lang="en-US" sz="1100" dirty="0">
                <a:solidFill>
                  <a:srgbClr val="333333"/>
                </a:solidFill>
                <a:latin typeface="Meiryo UI" pitchFamily="34" charset="0"/>
                <a:ea typeface="Meiryo UI" pitchFamily="34" charset="-122"/>
                <a:cs typeface="Meiryo UI" pitchFamily="34" charset="-120"/>
              </a:rPr>
              <a:t>ただし OCI の伸びの主因は GPU の貸し出しで、DB の転用による収益が過半ではない</a:t>
            </a:r>
            <a:endParaRPr lang="en-US" sz="1100" dirty="0"/>
          </a:p>
        </p:txBody>
      </p:sp>
      <p:sp>
        <p:nvSpPr>
          <p:cNvPr id="93" name="ovl_takeaway_bg"/>
          <p:cNvSpPr/>
          <p:nvPr/>
        </p:nvSpPr>
        <p:spPr>
          <a:xfrm>
            <a:off x="8458200" y="4419600"/>
            <a:ext cx="3276295" cy="1005840"/>
          </a:xfrm>
          <a:prstGeom prst="rect">
            <a:avLst/>
          </a:prstGeom>
          <a:solidFill>
            <a:srgbClr val="EAF4EE"/>
          </a:solidFill>
          <a:ln w="12700">
            <a:solidFill>
              <a:srgbClr val="EAF4EE"/>
            </a:solidFill>
            <a:prstDash val="solid"/>
          </a:ln>
        </p:spPr>
      </p:sp>
      <p:sp>
        <p:nvSpPr>
          <p:cNvPr id="94" name="takeaway"/>
          <p:cNvSpPr txBox="1"/>
          <p:nvPr/>
        </p:nvSpPr>
        <p:spPr>
          <a:xfrm>
            <a:off x="8567928" y="4492752"/>
            <a:ext cx="3056839" cy="859536"/>
          </a:xfrm>
          <a:prstGeom prst="rect">
            <a:avLst/>
          </a:prstGeom>
          <a:noFill/>
          <a:ln/>
        </p:spPr>
        <p:txBody>
          <a:bodyPr wrap="square" lIns="508" tIns="508" rIns="508" bIns="508"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転用先が全社の増収の主因になったため A。</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主因は GPU の貸し出しで、DB 転用の収益が</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過半ではないため S ではない</a:t>
            </a:r>
            <a:endParaRPr lang="en-US" sz="1000" dirty="0"/>
          </a:p>
        </p:txBody>
      </p:sp>
      <p:sp>
        <p:nvSpPr>
          <p:cNvPr id="95" name="updown"/>
          <p:cNvSpPr txBox="1"/>
          <p:nvPr/>
        </p:nvSpPr>
        <p:spPr>
          <a:xfrm>
            <a:off x="8458200" y="5498592"/>
            <a:ext cx="3276295" cy="591312"/>
          </a:xfrm>
          <a:prstGeom prst="rect">
            <a:avLst/>
          </a:prstGeom>
          <a:noFill/>
          <a:ln/>
        </p:spPr>
        <p:txBody>
          <a:bodyPr wrap="square" lIns="381" tIns="381" rIns="381" bIns="381" rtlCol="0" anchor="t"/>
          <a:lstStyle/>
          <a:p>
            <a:pPr indent="0" marL="0">
              <a:buNone/>
            </a:pPr>
            <a:r>
              <a:rPr lang="en-US" sz="850" b="1" dirty="0">
                <a:solidFill>
                  <a:srgbClr val="197A56"/>
                </a:solidFill>
                <a:latin typeface="Meiryo UI" pitchFamily="34" charset="0"/>
                <a:ea typeface="Meiryo UI" pitchFamily="34" charset="-122"/>
                <a:cs typeface="Meiryo UI" pitchFamily="34" charset="-120"/>
              </a:rPr>
              <a:t>上がる条件  </a:t>
            </a:r>
            <a:r>
              <a:rPr lang="en-US" sz="850" dirty="0">
                <a:solidFill>
                  <a:srgbClr val="333333"/>
                </a:solidFill>
                <a:latin typeface="Meiryo UI" pitchFamily="34" charset="0"/>
                <a:ea typeface="Meiryo UI" pitchFamily="34" charset="-122"/>
                <a:cs typeface="Meiryo UI" pitchFamily="34" charset="-120"/>
              </a:rPr>
              <a:t>AI 容量の顧客が DB やアプリも買う証拠</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(クロスセル)が出れば S</a:t>
            </a:r>
            <a:endParaRPr lang="en-US" sz="850" dirty="0"/>
          </a:p>
          <a:p>
            <a:pPr indent="0" marL="0">
              <a:buNone/>
            </a:pPr>
            <a:r>
              <a:rPr lang="en-US" sz="850" b="1" dirty="0">
                <a:solidFill>
                  <a:srgbClr val="C0392B"/>
                </a:solidFill>
                <a:latin typeface="Meiryo UI" pitchFamily="34" charset="0"/>
                <a:ea typeface="Meiryo UI" pitchFamily="34" charset="-122"/>
                <a:cs typeface="Meiryo UI" pitchFamily="34" charset="-120"/>
              </a:rPr>
              <a:t>下がる条件  </a:t>
            </a:r>
            <a:r>
              <a:rPr lang="en-US" sz="850" dirty="0">
                <a:solidFill>
                  <a:srgbClr val="333333"/>
                </a:solidFill>
                <a:latin typeface="Meiryo UI" pitchFamily="34" charset="0"/>
                <a:ea typeface="Meiryo UI" pitchFamily="34" charset="-122"/>
                <a:cs typeface="Meiryo UI" pitchFamily="34" charset="-120"/>
              </a:rPr>
              <a:t>Database@ の伸びが 100% を割り、OCI の伸びが AI 容量だけになれば B</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3-2 経営(条件5)</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98882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9888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経営者の能力(条件5)</a:t>
            </a:r>
            <a:endParaRPr lang="en-US" sz="1000" dirty="0"/>
          </a:p>
        </p:txBody>
      </p:sp>
      <p:sp>
        <p:nvSpPr>
          <p:cNvPr id="14" name="hdr_why"/>
          <p:cNvSpPr txBox="1"/>
          <p:nvPr/>
        </p:nvSpPr>
        <p:spPr>
          <a:xfrm>
            <a:off x="2592324" y="356616"/>
            <a:ext cx="914217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巨額の投資を任せる経営陣が、その事業を築いた経験と資本配分の規律を持つかを経歴から確かめる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CEO は OCI を設計から築いた当事者、CFO は電力インフラ企業の財務出身で、</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経歴は事業に合う。ただし CEO 在任 1 年で capex は見通しを超え続けた</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左から: 経歴(どこで何を築いたか)→ 現職 → 担う事業 → 結果。①〜⑤ は右と対応。経歴は報道・会社発表の要約に基づく</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research4/T7_executives.md(Oracle 発表・8-K 2025-09-22・2026-04-06、Bloomberg・Reuters ほか)、DEF 14A(報酬)、会社開示(FY26〜27 のガイダンス)</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28</a:t>
            </a:r>
            <a:endParaRPr lang="en-US" sz="800" dirty="0"/>
          </a:p>
        </p:txBody>
      </p:sp>
      <p:sp>
        <p:nvSpPr>
          <p:cNvPr id="19" name="ovl_badge"/>
          <p:cNvSpPr/>
          <p:nvPr/>
        </p:nvSpPr>
        <p:spPr>
          <a:xfrm>
            <a:off x="10865815" y="649224"/>
            <a:ext cx="868680" cy="677570"/>
          </a:xfrm>
          <a:prstGeom prst="roundRect">
            <a:avLst>
              <a:gd name="adj" fmla="val 10796"/>
            </a:avLst>
          </a:prstGeom>
          <a:solidFill>
            <a:srgbClr val="86C99B"/>
          </a:solidFill>
          <a:ln w="12700">
            <a:solidFill>
              <a:srgbClr val="86C99B"/>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0E4D33"/>
                </a:solidFill>
                <a:latin typeface="Meiryo UI" pitchFamily="34" charset="0"/>
                <a:ea typeface="Meiryo UI" pitchFamily="34" charset="-122"/>
                <a:cs typeface="Meiryo UI" pitchFamily="34" charset="-120"/>
              </a:rPr>
              <a:t>B</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0E4D33"/>
                </a:solidFill>
                <a:latin typeface="Meiryo UI" pitchFamily="34" charset="0"/>
                <a:ea typeface="Meiryo UI" pitchFamily="34" charset="-122"/>
                <a:cs typeface="Meiryo UI" pitchFamily="34" charset="-120"/>
              </a:rPr>
              <a:t>条件5</a:t>
            </a:r>
            <a:endParaRPr lang="en-US" sz="800" dirty="0"/>
          </a:p>
        </p:txBody>
      </p:sp>
      <p:sp>
        <p:nvSpPr>
          <p:cNvPr id="22" name="bg_lane0"/>
          <p:cNvSpPr/>
          <p:nvPr/>
        </p:nvSpPr>
        <p:spPr>
          <a:xfrm>
            <a:off x="347472" y="1517904"/>
            <a:ext cx="1591056" cy="4315968"/>
          </a:xfrm>
          <a:prstGeom prst="rect">
            <a:avLst/>
          </a:prstGeom>
          <a:solidFill>
            <a:srgbClr val="F2F2F2"/>
          </a:solidFill>
          <a:ln w="12700">
            <a:solidFill>
              <a:srgbClr val="F2F2F2"/>
            </a:solidFill>
            <a:prstDash val="solid"/>
          </a:ln>
        </p:spPr>
      </p:sp>
      <p:sp>
        <p:nvSpPr>
          <p:cNvPr id="23" name="bg_laneh0"/>
          <p:cNvSpPr/>
          <p:nvPr/>
        </p:nvSpPr>
        <p:spPr>
          <a:xfrm>
            <a:off x="347472" y="1517904"/>
            <a:ext cx="1591056" cy="274320"/>
          </a:xfrm>
          <a:prstGeom prst="rect">
            <a:avLst/>
          </a:prstGeom>
          <a:solidFill>
            <a:srgbClr val="D9D9D9"/>
          </a:solidFill>
          <a:ln w="12700">
            <a:solidFill>
              <a:srgbClr val="D9D9D9"/>
            </a:solidFill>
            <a:prstDash val="solid"/>
          </a:ln>
        </p:spPr>
      </p:sp>
      <p:sp>
        <p:nvSpPr>
          <p:cNvPr id="24" name="bg_lanet0"/>
          <p:cNvSpPr txBox="1"/>
          <p:nvPr/>
        </p:nvSpPr>
        <p:spPr>
          <a:xfrm>
            <a:off x="347472" y="1517904"/>
            <a:ext cx="159105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経歴</a:t>
            </a:r>
            <a:endParaRPr lang="en-US" sz="950" dirty="0"/>
          </a:p>
        </p:txBody>
      </p:sp>
      <p:sp>
        <p:nvSpPr>
          <p:cNvPr id="25" name="bg_lane1"/>
          <p:cNvSpPr/>
          <p:nvPr/>
        </p:nvSpPr>
        <p:spPr>
          <a:xfrm>
            <a:off x="2557272" y="1517904"/>
            <a:ext cx="3663696" cy="4315968"/>
          </a:xfrm>
          <a:prstGeom prst="rect">
            <a:avLst/>
          </a:prstGeom>
          <a:solidFill>
            <a:srgbClr val="EAF4EE"/>
          </a:solidFill>
          <a:ln w="12700">
            <a:solidFill>
              <a:srgbClr val="EAF4EE"/>
            </a:solidFill>
            <a:prstDash val="solid"/>
          </a:ln>
        </p:spPr>
      </p:sp>
      <p:sp>
        <p:nvSpPr>
          <p:cNvPr id="26" name="bg_laneh1"/>
          <p:cNvSpPr/>
          <p:nvPr/>
        </p:nvSpPr>
        <p:spPr>
          <a:xfrm>
            <a:off x="2557272" y="1517904"/>
            <a:ext cx="3663696" cy="274320"/>
          </a:xfrm>
          <a:prstGeom prst="rect">
            <a:avLst/>
          </a:prstGeom>
          <a:solidFill>
            <a:srgbClr val="197A56"/>
          </a:solidFill>
          <a:ln w="12700">
            <a:solidFill>
              <a:srgbClr val="197A56"/>
            </a:solidFill>
            <a:prstDash val="solid"/>
          </a:ln>
        </p:spPr>
      </p:sp>
      <p:sp>
        <p:nvSpPr>
          <p:cNvPr id="27" name="bg_lanet1"/>
          <p:cNvSpPr txBox="1"/>
          <p:nvPr/>
        </p:nvSpPr>
        <p:spPr>
          <a:xfrm>
            <a:off x="2557272" y="1517904"/>
            <a:ext cx="3663696"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経営陣と担う事業</a:t>
            </a:r>
            <a:endParaRPr lang="en-US" sz="950" dirty="0"/>
          </a:p>
        </p:txBody>
      </p:sp>
      <p:sp>
        <p:nvSpPr>
          <p:cNvPr id="28" name="bg_lane2"/>
          <p:cNvSpPr/>
          <p:nvPr/>
        </p:nvSpPr>
        <p:spPr>
          <a:xfrm>
            <a:off x="6839712" y="1517904"/>
            <a:ext cx="1545336" cy="4315968"/>
          </a:xfrm>
          <a:prstGeom prst="rect">
            <a:avLst/>
          </a:prstGeom>
          <a:solidFill>
            <a:srgbClr val="F2F2F2"/>
          </a:solidFill>
          <a:ln w="12700">
            <a:solidFill>
              <a:srgbClr val="F2F2F2"/>
            </a:solidFill>
            <a:prstDash val="solid"/>
          </a:ln>
        </p:spPr>
      </p:sp>
      <p:sp>
        <p:nvSpPr>
          <p:cNvPr id="29" name="bg_laneh2"/>
          <p:cNvSpPr/>
          <p:nvPr/>
        </p:nvSpPr>
        <p:spPr>
          <a:xfrm>
            <a:off x="6839712" y="1517904"/>
            <a:ext cx="1545336" cy="274320"/>
          </a:xfrm>
          <a:prstGeom prst="rect">
            <a:avLst/>
          </a:prstGeom>
          <a:solidFill>
            <a:srgbClr val="D9D9D9"/>
          </a:solidFill>
          <a:ln w="12700">
            <a:solidFill>
              <a:srgbClr val="D9D9D9"/>
            </a:solidFill>
            <a:prstDash val="solid"/>
          </a:ln>
        </p:spPr>
      </p:sp>
      <p:sp>
        <p:nvSpPr>
          <p:cNvPr id="30" name="bg_lanet2"/>
          <p:cNvSpPr txBox="1"/>
          <p:nvPr/>
        </p:nvSpPr>
        <p:spPr>
          <a:xfrm>
            <a:off x="6839712" y="1517904"/>
            <a:ext cx="154533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結果</a:t>
            </a:r>
            <a:endParaRPr lang="en-US" sz="950" dirty="0"/>
          </a:p>
        </p:txBody>
      </p:sp>
      <p:sp>
        <p:nvSpPr>
          <p:cNvPr id="31" name="ovl_s21_e0_0"/>
          <p:cNvSpPr/>
          <p:nvPr/>
        </p:nvSpPr>
        <p:spPr>
          <a:xfrm>
            <a:off x="1828800" y="2375154"/>
            <a:ext cx="838200" cy="914"/>
          </a:xfrm>
          <a:prstGeom prst="line">
            <a:avLst/>
          </a:prstGeom>
          <a:noFill/>
          <a:ln w="12700">
            <a:solidFill>
              <a:srgbClr val="767676"/>
            </a:solidFill>
            <a:prstDash val="sysDash"/>
            <a:tailEnd type="triangle"/>
          </a:ln>
        </p:spPr>
      </p:sp>
      <p:sp>
        <p:nvSpPr>
          <p:cNvPr id="32" name="ovl_s21_e1_0"/>
          <p:cNvSpPr/>
          <p:nvPr/>
        </p:nvSpPr>
        <p:spPr>
          <a:xfrm>
            <a:off x="1828800" y="3358134"/>
            <a:ext cx="838200" cy="914"/>
          </a:xfrm>
          <a:prstGeom prst="line">
            <a:avLst/>
          </a:prstGeom>
          <a:noFill/>
          <a:ln w="12700">
            <a:solidFill>
              <a:srgbClr val="767676"/>
            </a:solidFill>
            <a:prstDash val="sysDash"/>
            <a:tailEnd type="triangle"/>
          </a:ln>
        </p:spPr>
      </p:sp>
      <p:sp>
        <p:nvSpPr>
          <p:cNvPr id="33" name="ovl_s21_e2_0"/>
          <p:cNvSpPr/>
          <p:nvPr/>
        </p:nvSpPr>
        <p:spPr>
          <a:xfrm>
            <a:off x="1828800" y="4341114"/>
            <a:ext cx="838200" cy="914"/>
          </a:xfrm>
          <a:prstGeom prst="line">
            <a:avLst/>
          </a:prstGeom>
          <a:noFill/>
          <a:ln w="12700">
            <a:solidFill>
              <a:srgbClr val="767676"/>
            </a:solidFill>
            <a:prstDash val="sysDash"/>
            <a:tailEnd type="triangle"/>
          </a:ln>
        </p:spPr>
      </p:sp>
      <p:sp>
        <p:nvSpPr>
          <p:cNvPr id="34" name="ovl_s21_e3_0"/>
          <p:cNvSpPr/>
          <p:nvPr/>
        </p:nvSpPr>
        <p:spPr>
          <a:xfrm>
            <a:off x="1828800" y="5324094"/>
            <a:ext cx="838200" cy="914"/>
          </a:xfrm>
          <a:prstGeom prst="line">
            <a:avLst/>
          </a:prstGeom>
          <a:noFill/>
          <a:ln w="12700">
            <a:solidFill>
              <a:srgbClr val="767676"/>
            </a:solidFill>
            <a:prstDash val="sysDash"/>
            <a:tailEnd type="triangle"/>
          </a:ln>
        </p:spPr>
      </p:sp>
      <p:sp>
        <p:nvSpPr>
          <p:cNvPr id="35" name="ovl_s21_e4_0"/>
          <p:cNvSpPr/>
          <p:nvPr/>
        </p:nvSpPr>
        <p:spPr>
          <a:xfrm>
            <a:off x="3992880" y="2375154"/>
            <a:ext cx="838200" cy="914"/>
          </a:xfrm>
          <a:prstGeom prst="line">
            <a:avLst/>
          </a:prstGeom>
          <a:noFill/>
          <a:ln w="12700">
            <a:solidFill>
              <a:srgbClr val="767676"/>
            </a:solidFill>
            <a:prstDash val="sysDash"/>
            <a:tailEnd type="triangle"/>
          </a:ln>
        </p:spPr>
      </p:sp>
      <p:sp>
        <p:nvSpPr>
          <p:cNvPr id="36" name="ovl_s21_e5_0"/>
          <p:cNvSpPr/>
          <p:nvPr/>
        </p:nvSpPr>
        <p:spPr>
          <a:xfrm>
            <a:off x="3992880" y="3358134"/>
            <a:ext cx="838200" cy="914"/>
          </a:xfrm>
          <a:prstGeom prst="line">
            <a:avLst/>
          </a:prstGeom>
          <a:noFill/>
          <a:ln w="12700">
            <a:solidFill>
              <a:srgbClr val="767676"/>
            </a:solidFill>
            <a:prstDash val="sysDash"/>
            <a:tailEnd type="triangle"/>
          </a:ln>
        </p:spPr>
      </p:sp>
      <p:sp>
        <p:nvSpPr>
          <p:cNvPr id="37" name="ovl_s21_e6_0"/>
          <p:cNvSpPr/>
          <p:nvPr/>
        </p:nvSpPr>
        <p:spPr>
          <a:xfrm>
            <a:off x="3992880" y="4341114"/>
            <a:ext cx="838200" cy="914"/>
          </a:xfrm>
          <a:prstGeom prst="line">
            <a:avLst/>
          </a:prstGeom>
          <a:noFill/>
          <a:ln w="12700">
            <a:solidFill>
              <a:srgbClr val="767676"/>
            </a:solidFill>
            <a:prstDash val="sysDash"/>
            <a:tailEnd type="triangle"/>
          </a:ln>
        </p:spPr>
      </p:sp>
      <p:sp>
        <p:nvSpPr>
          <p:cNvPr id="38" name="ovl_s21_e7_0"/>
          <p:cNvSpPr/>
          <p:nvPr/>
        </p:nvSpPr>
        <p:spPr>
          <a:xfrm>
            <a:off x="3992880" y="5324094"/>
            <a:ext cx="838200" cy="914"/>
          </a:xfrm>
          <a:prstGeom prst="line">
            <a:avLst/>
          </a:prstGeom>
          <a:noFill/>
          <a:ln w="12700">
            <a:solidFill>
              <a:srgbClr val="767676"/>
            </a:solidFill>
            <a:prstDash val="sysDash"/>
            <a:tailEnd type="triangle"/>
          </a:ln>
        </p:spPr>
      </p:sp>
      <p:sp>
        <p:nvSpPr>
          <p:cNvPr id="39" name="ovl_s21_e8_0"/>
          <p:cNvSpPr/>
          <p:nvPr/>
        </p:nvSpPr>
        <p:spPr>
          <a:xfrm>
            <a:off x="6111240" y="2375154"/>
            <a:ext cx="838200" cy="914"/>
          </a:xfrm>
          <a:prstGeom prst="line">
            <a:avLst/>
          </a:prstGeom>
          <a:noFill/>
          <a:ln w="19050">
            <a:solidFill>
              <a:srgbClr val="1BA1A6"/>
            </a:solidFill>
            <a:prstDash val="solid"/>
            <a:tailEnd type="triangle"/>
          </a:ln>
        </p:spPr>
      </p:sp>
      <p:sp>
        <p:nvSpPr>
          <p:cNvPr id="40" name="ovl_s21_e9_0"/>
          <p:cNvSpPr/>
          <p:nvPr/>
        </p:nvSpPr>
        <p:spPr>
          <a:xfrm>
            <a:off x="6111240" y="3358134"/>
            <a:ext cx="838200" cy="914"/>
          </a:xfrm>
          <a:prstGeom prst="line">
            <a:avLst/>
          </a:prstGeom>
          <a:noFill/>
          <a:ln w="15875">
            <a:solidFill>
              <a:srgbClr val="C0392B"/>
            </a:solidFill>
            <a:prstDash val="dash"/>
            <a:tailEnd type="triangle"/>
          </a:ln>
        </p:spPr>
      </p:sp>
      <p:sp>
        <p:nvSpPr>
          <p:cNvPr id="41" name="ovl_s21_e10_0"/>
          <p:cNvSpPr/>
          <p:nvPr/>
        </p:nvSpPr>
        <p:spPr>
          <a:xfrm>
            <a:off x="6111240" y="4341114"/>
            <a:ext cx="838200" cy="914"/>
          </a:xfrm>
          <a:prstGeom prst="line">
            <a:avLst/>
          </a:prstGeom>
          <a:noFill/>
          <a:ln w="15875">
            <a:solidFill>
              <a:srgbClr val="C0392B"/>
            </a:solidFill>
            <a:prstDash val="dash"/>
            <a:tailEnd type="triangle"/>
          </a:ln>
        </p:spPr>
      </p:sp>
      <p:sp>
        <p:nvSpPr>
          <p:cNvPr id="42" name="ovl_s21_e11_0"/>
          <p:cNvSpPr/>
          <p:nvPr/>
        </p:nvSpPr>
        <p:spPr>
          <a:xfrm>
            <a:off x="6111240" y="5324094"/>
            <a:ext cx="838200" cy="914"/>
          </a:xfrm>
          <a:prstGeom prst="line">
            <a:avLst/>
          </a:prstGeom>
          <a:noFill/>
          <a:ln w="15875">
            <a:solidFill>
              <a:srgbClr val="C0392B"/>
            </a:solidFill>
            <a:prstDash val="dash"/>
            <a:tailEnd type="triangle"/>
          </a:ln>
        </p:spPr>
      </p:sp>
      <p:sp>
        <p:nvSpPr>
          <p:cNvPr id="43" name="ovl_s21_n_aws"/>
          <p:cNvSpPr/>
          <p:nvPr/>
        </p:nvSpPr>
        <p:spPr>
          <a:xfrm>
            <a:off x="457200" y="2000250"/>
            <a:ext cx="1371600" cy="749808"/>
          </a:xfrm>
          <a:prstGeom prst="roundRect">
            <a:avLst>
              <a:gd name="adj" fmla="val 7317"/>
            </a:avLst>
          </a:prstGeom>
          <a:solidFill>
            <a:srgbClr val="FFFFFF"/>
          </a:solidFill>
          <a:ln w="9525">
            <a:solidFill>
              <a:srgbClr val="767676"/>
            </a:solidFill>
            <a:prstDash val="solid"/>
          </a:ln>
        </p:spPr>
      </p:sp>
      <p:sp>
        <p:nvSpPr>
          <p:cNvPr id="44" name="ovl_s21_nt_aws"/>
          <p:cNvSpPr txBox="1"/>
          <p:nvPr/>
        </p:nvSpPr>
        <p:spPr>
          <a:xfrm>
            <a:off x="493776" y="2027682"/>
            <a:ext cx="12984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AWS(〜2014)</a:t>
            </a:r>
            <a:endParaRPr lang="en-US" sz="1000" dirty="0"/>
          </a:p>
        </p:txBody>
      </p:sp>
      <p:sp>
        <p:nvSpPr>
          <p:cNvPr id="45" name="ovl_s21_ns_aws"/>
          <p:cNvSpPr txBox="1"/>
          <p:nvPr/>
        </p:nvSpPr>
        <p:spPr>
          <a:xfrm>
            <a:off x="502920" y="2233422"/>
            <a:ext cx="128016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クラウド基盤の</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技術者 約 6〜7 年</a:t>
            </a:r>
            <a:endParaRPr lang="en-US" sz="850" dirty="0"/>
          </a:p>
        </p:txBody>
      </p:sp>
      <p:sp>
        <p:nvSpPr>
          <p:cNvPr id="46" name="ovl_s21_n_prim"/>
          <p:cNvSpPr/>
          <p:nvPr/>
        </p:nvSpPr>
        <p:spPr>
          <a:xfrm>
            <a:off x="457200" y="2983230"/>
            <a:ext cx="1371600" cy="749808"/>
          </a:xfrm>
          <a:prstGeom prst="roundRect">
            <a:avLst>
              <a:gd name="adj" fmla="val 7317"/>
            </a:avLst>
          </a:prstGeom>
          <a:solidFill>
            <a:srgbClr val="FFFFFF"/>
          </a:solidFill>
          <a:ln w="9525">
            <a:solidFill>
              <a:srgbClr val="767676"/>
            </a:solidFill>
            <a:prstDash val="solid"/>
          </a:ln>
        </p:spPr>
      </p:sp>
      <p:sp>
        <p:nvSpPr>
          <p:cNvPr id="47" name="ovl_s21_nt_prim"/>
          <p:cNvSpPr txBox="1"/>
          <p:nvPr/>
        </p:nvSpPr>
        <p:spPr>
          <a:xfrm>
            <a:off x="493776" y="3010662"/>
            <a:ext cx="1298448" cy="205740"/>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Primavera(1993〜)</a:t>
            </a:r>
            <a:endParaRPr lang="en-US" sz="900" dirty="0"/>
          </a:p>
        </p:txBody>
      </p:sp>
      <p:sp>
        <p:nvSpPr>
          <p:cNvPr id="48" name="ovl_s21_ns_prim"/>
          <p:cNvSpPr txBox="1"/>
          <p:nvPr/>
        </p:nvSpPr>
        <p:spPr>
          <a:xfrm>
            <a:off x="502920" y="3216402"/>
            <a:ext cx="128016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技術者 → CTO</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2008 年に</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Oracle が買収</a:t>
            </a:r>
            <a:endParaRPr lang="en-US" sz="850" dirty="0"/>
          </a:p>
        </p:txBody>
      </p:sp>
      <p:sp>
        <p:nvSpPr>
          <p:cNvPr id="49" name="ovl_s21_n_aes"/>
          <p:cNvSpPr/>
          <p:nvPr/>
        </p:nvSpPr>
        <p:spPr>
          <a:xfrm>
            <a:off x="457200" y="3966210"/>
            <a:ext cx="1371600" cy="749808"/>
          </a:xfrm>
          <a:prstGeom prst="roundRect">
            <a:avLst>
              <a:gd name="adj" fmla="val 7317"/>
            </a:avLst>
          </a:prstGeom>
          <a:solidFill>
            <a:srgbClr val="EAF4EE"/>
          </a:solidFill>
          <a:ln w="9525">
            <a:solidFill>
              <a:srgbClr val="86C99B"/>
            </a:solidFill>
            <a:prstDash val="solid"/>
          </a:ln>
        </p:spPr>
      </p:sp>
      <p:sp>
        <p:nvSpPr>
          <p:cNvPr id="50" name="ovl_s21_nt_aes"/>
          <p:cNvSpPr txBox="1"/>
          <p:nvPr/>
        </p:nvSpPr>
        <p:spPr>
          <a:xfrm>
            <a:off x="493776" y="3993642"/>
            <a:ext cx="12984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AES・Schneider</a:t>
            </a:r>
            <a:endParaRPr lang="en-US" sz="1000" dirty="0"/>
          </a:p>
        </p:txBody>
      </p:sp>
      <p:sp>
        <p:nvSpPr>
          <p:cNvPr id="51" name="ovl_s21_ns_aes"/>
          <p:cNvSpPr txBox="1"/>
          <p:nvPr/>
        </p:nvSpPr>
        <p:spPr>
          <a:xfrm>
            <a:off x="502920" y="4199382"/>
            <a:ext cx="128016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電力・インフラ企業の</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財務 約 12 年・約 10 年</a:t>
            </a:r>
            <a:endParaRPr lang="en-US" sz="850" dirty="0"/>
          </a:p>
        </p:txBody>
      </p:sp>
      <p:sp>
        <p:nvSpPr>
          <p:cNvPr id="52" name="ovl_s21_n_found"/>
          <p:cNvSpPr/>
          <p:nvPr/>
        </p:nvSpPr>
        <p:spPr>
          <a:xfrm>
            <a:off x="457200" y="4949190"/>
            <a:ext cx="1371600" cy="749808"/>
          </a:xfrm>
          <a:prstGeom prst="roundRect">
            <a:avLst>
              <a:gd name="adj" fmla="val 7317"/>
            </a:avLst>
          </a:prstGeom>
          <a:solidFill>
            <a:srgbClr val="FFFFFF"/>
          </a:solidFill>
          <a:ln w="9525">
            <a:solidFill>
              <a:srgbClr val="767676"/>
            </a:solidFill>
            <a:prstDash val="solid"/>
          </a:ln>
        </p:spPr>
      </p:sp>
      <p:sp>
        <p:nvSpPr>
          <p:cNvPr id="53" name="ovl_s21_nt_found"/>
          <p:cNvSpPr txBox="1"/>
          <p:nvPr/>
        </p:nvSpPr>
        <p:spPr>
          <a:xfrm>
            <a:off x="493776" y="4976622"/>
            <a:ext cx="12984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Oracle 創業(1977)</a:t>
            </a:r>
            <a:endParaRPr lang="en-US" sz="1000" dirty="0"/>
          </a:p>
        </p:txBody>
      </p:sp>
      <p:sp>
        <p:nvSpPr>
          <p:cNvPr id="54" name="ovl_s21_ns_found"/>
          <p:cNvSpPr txBox="1"/>
          <p:nvPr/>
        </p:nvSpPr>
        <p:spPr>
          <a:xfrm>
            <a:off x="502920" y="5182362"/>
            <a:ext cx="128016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DB 事業を起こす</a:t>
            </a:r>
            <a:endParaRPr lang="en-US" sz="850" dirty="0"/>
          </a:p>
        </p:txBody>
      </p:sp>
      <p:sp>
        <p:nvSpPr>
          <p:cNvPr id="55" name="ovl_s21_n_mag"/>
          <p:cNvSpPr/>
          <p:nvPr/>
        </p:nvSpPr>
        <p:spPr>
          <a:xfrm>
            <a:off x="2667000" y="2000250"/>
            <a:ext cx="1325880" cy="749808"/>
          </a:xfrm>
          <a:prstGeom prst="roundRect">
            <a:avLst>
              <a:gd name="adj" fmla="val 7317"/>
            </a:avLst>
          </a:prstGeom>
          <a:solidFill>
            <a:srgbClr val="197A56"/>
          </a:solidFill>
          <a:ln w="9525">
            <a:solidFill>
              <a:srgbClr val="197A56"/>
            </a:solidFill>
            <a:prstDash val="solid"/>
          </a:ln>
        </p:spPr>
      </p:sp>
      <p:sp>
        <p:nvSpPr>
          <p:cNvPr id="56" name="ovl_s21_nt_mag"/>
          <p:cNvSpPr txBox="1"/>
          <p:nvPr/>
        </p:nvSpPr>
        <p:spPr>
          <a:xfrm>
            <a:off x="2703576" y="2027682"/>
            <a:ext cx="1252728" cy="356616"/>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Magouyrk</a:t>
            </a:r>
            <a:endParaRPr lang="en-US" sz="900" dirty="0"/>
          </a:p>
          <a:p>
            <a:pPr algn="ctr" indent="0" marL="0">
              <a:buNone/>
            </a:pPr>
            <a:r>
              <a:rPr lang="en-US" sz="900" b="1" dirty="0">
                <a:solidFill>
                  <a:srgbClr val="FFFFFF"/>
                </a:solidFill>
                <a:latin typeface="Meiryo UI" pitchFamily="34" charset="0"/>
                <a:ea typeface="Meiryo UI" pitchFamily="34" charset="-122"/>
                <a:cs typeface="Meiryo UI" pitchFamily="34" charset="-120"/>
              </a:rPr>
              <a:t>(共同 CEO)</a:t>
            </a:r>
            <a:endParaRPr lang="en-US" sz="900" dirty="0"/>
          </a:p>
        </p:txBody>
      </p:sp>
      <p:sp>
        <p:nvSpPr>
          <p:cNvPr id="57" name="ovl_s21_ns_mag"/>
          <p:cNvSpPr txBox="1"/>
          <p:nvPr/>
        </p:nvSpPr>
        <p:spPr>
          <a:xfrm>
            <a:off x="2712720" y="2384298"/>
            <a:ext cx="1234440" cy="338328"/>
          </a:xfrm>
          <a:prstGeom prst="rect">
            <a:avLst/>
          </a:prstGeom>
          <a:noFill/>
          <a:ln/>
        </p:spPr>
        <p:txBody>
          <a:bodyPr wrap="square" lIns="0" tIns="0" rIns="0" bIns="0" rtlCol="0" anchor="t"/>
          <a:lstStyle/>
          <a:p>
            <a:pPr algn="ctr" indent="0" marL="0">
              <a:buNone/>
            </a:pPr>
            <a:r>
              <a:rPr lang="en-US" sz="850" dirty="0">
                <a:solidFill>
                  <a:srgbClr val="FFFFFF"/>
                </a:solidFill>
                <a:latin typeface="Meiryo UI" pitchFamily="34" charset="0"/>
                <a:ea typeface="Meiryo UI" pitchFamily="34" charset="-122"/>
                <a:cs typeface="Meiryo UI" pitchFamily="34" charset="-120"/>
              </a:rPr>
              <a:t>2014 年に OCI を創設</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Gen2 を設計・統括</a:t>
            </a:r>
            <a:endParaRPr lang="en-US" sz="850" dirty="0"/>
          </a:p>
        </p:txBody>
      </p:sp>
      <p:sp>
        <p:nvSpPr>
          <p:cNvPr id="58" name="ovl_s21_n_sic"/>
          <p:cNvSpPr/>
          <p:nvPr/>
        </p:nvSpPr>
        <p:spPr>
          <a:xfrm>
            <a:off x="2667000" y="2983230"/>
            <a:ext cx="1325880" cy="749808"/>
          </a:xfrm>
          <a:prstGeom prst="roundRect">
            <a:avLst>
              <a:gd name="adj" fmla="val 7317"/>
            </a:avLst>
          </a:prstGeom>
          <a:solidFill>
            <a:srgbClr val="197A56"/>
          </a:solidFill>
          <a:ln w="9525">
            <a:solidFill>
              <a:srgbClr val="197A56"/>
            </a:solidFill>
            <a:prstDash val="solid"/>
          </a:ln>
        </p:spPr>
      </p:sp>
      <p:sp>
        <p:nvSpPr>
          <p:cNvPr id="59" name="ovl_s21_nt_sic"/>
          <p:cNvSpPr txBox="1"/>
          <p:nvPr/>
        </p:nvSpPr>
        <p:spPr>
          <a:xfrm>
            <a:off x="2703576" y="3010662"/>
            <a:ext cx="1252728" cy="356616"/>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Sicilia</a:t>
            </a:r>
            <a:endParaRPr lang="en-US" sz="900" dirty="0"/>
          </a:p>
          <a:p>
            <a:pPr algn="ctr" indent="0" marL="0">
              <a:buNone/>
            </a:pPr>
            <a:r>
              <a:rPr lang="en-US" sz="900" b="1" dirty="0">
                <a:solidFill>
                  <a:srgbClr val="FFFFFF"/>
                </a:solidFill>
                <a:latin typeface="Meiryo UI" pitchFamily="34" charset="0"/>
                <a:ea typeface="Meiryo UI" pitchFamily="34" charset="-122"/>
                <a:cs typeface="Meiryo UI" pitchFamily="34" charset="-120"/>
              </a:rPr>
              <a:t>(共同 CEO)</a:t>
            </a:r>
            <a:endParaRPr lang="en-US" sz="900" dirty="0"/>
          </a:p>
        </p:txBody>
      </p:sp>
      <p:sp>
        <p:nvSpPr>
          <p:cNvPr id="60" name="ovl_s21_ns_sic"/>
          <p:cNvSpPr txBox="1"/>
          <p:nvPr/>
        </p:nvSpPr>
        <p:spPr>
          <a:xfrm>
            <a:off x="2712720" y="3367278"/>
            <a:ext cx="1234440" cy="338328"/>
          </a:xfrm>
          <a:prstGeom prst="rect">
            <a:avLst/>
          </a:prstGeom>
          <a:noFill/>
          <a:ln/>
        </p:spPr>
        <p:txBody>
          <a:bodyPr wrap="square" lIns="0" tIns="0" rIns="0" bIns="0" rtlCol="0" anchor="t"/>
          <a:lstStyle/>
          <a:p>
            <a:pPr algn="ctr" indent="0" marL="0">
              <a:buNone/>
            </a:pPr>
            <a:r>
              <a:rPr lang="en-US" sz="850" dirty="0">
                <a:solidFill>
                  <a:srgbClr val="FFFFFF"/>
                </a:solidFill>
                <a:latin typeface="Meiryo UI" pitchFamily="34" charset="0"/>
                <a:ea typeface="Meiryo UI" pitchFamily="34" charset="-122"/>
                <a:cs typeface="Meiryo UI" pitchFamily="34" charset="-120"/>
              </a:rPr>
              <a:t>業種別事業を統括</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アプリを AI で再構築</a:t>
            </a:r>
            <a:endParaRPr lang="en-US" sz="850" dirty="0"/>
          </a:p>
        </p:txBody>
      </p:sp>
      <p:sp>
        <p:nvSpPr>
          <p:cNvPr id="61" name="ovl_s21_n_max"/>
          <p:cNvSpPr/>
          <p:nvPr/>
        </p:nvSpPr>
        <p:spPr>
          <a:xfrm>
            <a:off x="2667000" y="3966210"/>
            <a:ext cx="1325880" cy="749808"/>
          </a:xfrm>
          <a:prstGeom prst="roundRect">
            <a:avLst>
              <a:gd name="adj" fmla="val 7317"/>
            </a:avLst>
          </a:prstGeom>
          <a:solidFill>
            <a:srgbClr val="197A56"/>
          </a:solidFill>
          <a:ln w="9525">
            <a:solidFill>
              <a:srgbClr val="197A56"/>
            </a:solidFill>
            <a:prstDash val="solid"/>
          </a:ln>
        </p:spPr>
      </p:sp>
      <p:sp>
        <p:nvSpPr>
          <p:cNvPr id="62" name="ovl_s21_nt_max"/>
          <p:cNvSpPr txBox="1"/>
          <p:nvPr/>
        </p:nvSpPr>
        <p:spPr>
          <a:xfrm>
            <a:off x="2703576" y="3993642"/>
            <a:ext cx="1252728" cy="356616"/>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Maxson</a:t>
            </a:r>
            <a:endParaRPr lang="en-US" sz="900" dirty="0"/>
          </a:p>
          <a:p>
            <a:pPr algn="ctr" indent="0" marL="0">
              <a:buNone/>
            </a:pPr>
            <a:r>
              <a:rPr lang="en-US" sz="900" b="1" dirty="0">
                <a:solidFill>
                  <a:srgbClr val="FFFFFF"/>
                </a:solidFill>
                <a:latin typeface="Meiryo UI" pitchFamily="34" charset="0"/>
                <a:ea typeface="Meiryo UI" pitchFamily="34" charset="-122"/>
                <a:cs typeface="Meiryo UI" pitchFamily="34" charset="-120"/>
              </a:rPr>
              <a:t>(CFO)</a:t>
            </a:r>
            <a:endParaRPr lang="en-US" sz="900" dirty="0"/>
          </a:p>
        </p:txBody>
      </p:sp>
      <p:sp>
        <p:nvSpPr>
          <p:cNvPr id="63" name="ovl_s21_ns_max"/>
          <p:cNvSpPr txBox="1"/>
          <p:nvPr/>
        </p:nvSpPr>
        <p:spPr>
          <a:xfrm>
            <a:off x="2712720" y="4350258"/>
            <a:ext cx="1234440" cy="338328"/>
          </a:xfrm>
          <a:prstGeom prst="rect">
            <a:avLst/>
          </a:prstGeom>
          <a:noFill/>
          <a:ln/>
        </p:spPr>
        <p:txBody>
          <a:bodyPr wrap="square" lIns="0" tIns="0" rIns="0" bIns="0" rtlCol="0" anchor="t"/>
          <a:lstStyle/>
          <a:p>
            <a:pPr algn="ctr" indent="0" marL="0">
              <a:buNone/>
            </a:pPr>
            <a:r>
              <a:rPr lang="en-US" sz="850" dirty="0">
                <a:solidFill>
                  <a:srgbClr val="FFFFFF"/>
                </a:solidFill>
                <a:latin typeface="Meiryo UI" pitchFamily="34" charset="0"/>
                <a:ea typeface="Meiryo UI" pitchFamily="34" charset="-122"/>
                <a:cs typeface="Meiryo UI" pitchFamily="34" charset="-120"/>
              </a:rPr>
              <a:t>2026-04 就任</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CEO に報告</a:t>
            </a:r>
            <a:endParaRPr lang="en-US" sz="850" dirty="0"/>
          </a:p>
        </p:txBody>
      </p:sp>
      <p:sp>
        <p:nvSpPr>
          <p:cNvPr id="64" name="ovl_s21_n_ell"/>
          <p:cNvSpPr/>
          <p:nvPr/>
        </p:nvSpPr>
        <p:spPr>
          <a:xfrm>
            <a:off x="2667000" y="4949190"/>
            <a:ext cx="1325880" cy="749808"/>
          </a:xfrm>
          <a:prstGeom prst="roundRect">
            <a:avLst>
              <a:gd name="adj" fmla="val 7317"/>
            </a:avLst>
          </a:prstGeom>
          <a:solidFill>
            <a:srgbClr val="FFFFFF"/>
          </a:solidFill>
          <a:ln w="9525">
            <a:solidFill>
              <a:srgbClr val="767676"/>
            </a:solidFill>
            <a:prstDash val="solid"/>
          </a:ln>
        </p:spPr>
      </p:sp>
      <p:sp>
        <p:nvSpPr>
          <p:cNvPr id="65" name="ovl_s21_nt_ell"/>
          <p:cNvSpPr txBox="1"/>
          <p:nvPr/>
        </p:nvSpPr>
        <p:spPr>
          <a:xfrm>
            <a:off x="2703576" y="4976622"/>
            <a:ext cx="1252728" cy="356616"/>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Ellison</a:t>
            </a:r>
            <a:endParaRPr lang="en-US" sz="900" dirty="0"/>
          </a:p>
          <a:p>
            <a:pPr algn="ctr" indent="0" marL="0">
              <a:buNone/>
            </a:pPr>
            <a:r>
              <a:rPr lang="en-US" sz="900" b="1" dirty="0">
                <a:solidFill>
                  <a:srgbClr val="0E4D33"/>
                </a:solidFill>
                <a:latin typeface="Meiryo UI" pitchFamily="34" charset="0"/>
                <a:ea typeface="Meiryo UI" pitchFamily="34" charset="-122"/>
                <a:cs typeface="Meiryo UI" pitchFamily="34" charset="-120"/>
              </a:rPr>
              <a:t>(会長・CTO)</a:t>
            </a:r>
            <a:endParaRPr lang="en-US" sz="900" dirty="0"/>
          </a:p>
        </p:txBody>
      </p:sp>
      <p:sp>
        <p:nvSpPr>
          <p:cNvPr id="66" name="ovl_s21_ns_ell"/>
          <p:cNvSpPr txBox="1"/>
          <p:nvPr/>
        </p:nvSpPr>
        <p:spPr>
          <a:xfrm>
            <a:off x="2712720" y="5333238"/>
            <a:ext cx="1234440" cy="3383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株式 約 41%</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キーパーソン</a:t>
            </a:r>
            <a:endParaRPr lang="en-US" sz="850" dirty="0"/>
          </a:p>
        </p:txBody>
      </p:sp>
      <p:sp>
        <p:nvSpPr>
          <p:cNvPr id="67" name="ovl_s21_n_oci"/>
          <p:cNvSpPr/>
          <p:nvPr/>
        </p:nvSpPr>
        <p:spPr>
          <a:xfrm>
            <a:off x="4831080" y="2000250"/>
            <a:ext cx="1280160" cy="749808"/>
          </a:xfrm>
          <a:prstGeom prst="roundRect">
            <a:avLst>
              <a:gd name="adj" fmla="val 7317"/>
            </a:avLst>
          </a:prstGeom>
          <a:solidFill>
            <a:srgbClr val="FFFFFF"/>
          </a:solidFill>
          <a:ln w="19050">
            <a:solidFill>
              <a:srgbClr val="197A56"/>
            </a:solidFill>
            <a:prstDash val="solid"/>
          </a:ln>
        </p:spPr>
      </p:sp>
      <p:sp>
        <p:nvSpPr>
          <p:cNvPr id="68" name="ovl_s21_nt_oci"/>
          <p:cNvSpPr txBox="1"/>
          <p:nvPr/>
        </p:nvSpPr>
        <p:spPr>
          <a:xfrm>
            <a:off x="4867656" y="2027682"/>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OCI・AI 容量</a:t>
            </a:r>
            <a:endParaRPr lang="en-US" sz="1000" dirty="0"/>
          </a:p>
        </p:txBody>
      </p:sp>
      <p:sp>
        <p:nvSpPr>
          <p:cNvPr id="69" name="ovl_s21_ns_oci"/>
          <p:cNvSpPr txBox="1"/>
          <p:nvPr/>
        </p:nvSpPr>
        <p:spPr>
          <a:xfrm>
            <a:off x="4876800" y="2233422"/>
            <a:ext cx="118872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IaaS +121%</a:t>
            </a:r>
            <a:endParaRPr lang="en-US" sz="850" dirty="0"/>
          </a:p>
        </p:txBody>
      </p:sp>
      <p:sp>
        <p:nvSpPr>
          <p:cNvPr id="70" name="ovl_s21_n_app"/>
          <p:cNvSpPr/>
          <p:nvPr/>
        </p:nvSpPr>
        <p:spPr>
          <a:xfrm>
            <a:off x="4831080" y="2983230"/>
            <a:ext cx="1280160" cy="749808"/>
          </a:xfrm>
          <a:prstGeom prst="roundRect">
            <a:avLst>
              <a:gd name="adj" fmla="val 7317"/>
            </a:avLst>
          </a:prstGeom>
          <a:solidFill>
            <a:srgbClr val="FFFFFF"/>
          </a:solidFill>
          <a:ln w="19050">
            <a:solidFill>
              <a:srgbClr val="197A56"/>
            </a:solidFill>
            <a:prstDash val="solid"/>
          </a:ln>
        </p:spPr>
      </p:sp>
      <p:sp>
        <p:nvSpPr>
          <p:cNvPr id="71" name="ovl_s21_nt_app"/>
          <p:cNvSpPr txBox="1"/>
          <p:nvPr/>
        </p:nvSpPr>
        <p:spPr>
          <a:xfrm>
            <a:off x="4867656" y="3010662"/>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アプリ・業種別</a:t>
            </a:r>
            <a:endParaRPr lang="en-US" sz="1000" dirty="0"/>
          </a:p>
        </p:txBody>
      </p:sp>
      <p:sp>
        <p:nvSpPr>
          <p:cNvPr id="72" name="ovl_s21_ns_app"/>
          <p:cNvSpPr txBox="1"/>
          <p:nvPr/>
        </p:nvSpPr>
        <p:spPr>
          <a:xfrm>
            <a:off x="4876800" y="3216402"/>
            <a:ext cx="118872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SaaS +10%</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Oracle Health</a:t>
            </a:r>
            <a:endParaRPr lang="en-US" sz="850" dirty="0"/>
          </a:p>
        </p:txBody>
      </p:sp>
      <p:sp>
        <p:nvSpPr>
          <p:cNvPr id="73" name="ovl_s21_n_cap"/>
          <p:cNvSpPr/>
          <p:nvPr/>
        </p:nvSpPr>
        <p:spPr>
          <a:xfrm>
            <a:off x="4831080" y="3966210"/>
            <a:ext cx="1280160" cy="749808"/>
          </a:xfrm>
          <a:prstGeom prst="roundRect">
            <a:avLst>
              <a:gd name="adj" fmla="val 7317"/>
            </a:avLst>
          </a:prstGeom>
          <a:solidFill>
            <a:srgbClr val="FFFFFF"/>
          </a:solidFill>
          <a:ln w="19050">
            <a:solidFill>
              <a:srgbClr val="197A56"/>
            </a:solidFill>
            <a:prstDash val="solid"/>
          </a:ln>
        </p:spPr>
      </p:sp>
      <p:sp>
        <p:nvSpPr>
          <p:cNvPr id="74" name="ovl_s21_nt_cap"/>
          <p:cNvSpPr txBox="1"/>
          <p:nvPr/>
        </p:nvSpPr>
        <p:spPr>
          <a:xfrm>
            <a:off x="4867656" y="3993642"/>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capex と資金調達</a:t>
            </a:r>
            <a:endParaRPr lang="en-US" sz="1000" dirty="0"/>
          </a:p>
        </p:txBody>
      </p:sp>
      <p:sp>
        <p:nvSpPr>
          <p:cNvPr id="75" name="ovl_s21_ns_cap"/>
          <p:cNvSpPr txBox="1"/>
          <p:nvPr/>
        </p:nvSpPr>
        <p:spPr>
          <a:xfrm>
            <a:off x="4876800" y="4199382"/>
            <a:ext cx="118872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FY27 総額</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900〜950 億ドル</a:t>
            </a:r>
            <a:endParaRPr lang="en-US" sz="850" dirty="0"/>
          </a:p>
        </p:txBody>
      </p:sp>
      <p:sp>
        <p:nvSpPr>
          <p:cNvPr id="76" name="ovl_s21_n_pay"/>
          <p:cNvSpPr/>
          <p:nvPr/>
        </p:nvSpPr>
        <p:spPr>
          <a:xfrm>
            <a:off x="4831080" y="4949190"/>
            <a:ext cx="1280160" cy="749808"/>
          </a:xfrm>
          <a:prstGeom prst="roundRect">
            <a:avLst>
              <a:gd name="adj" fmla="val 7317"/>
            </a:avLst>
          </a:prstGeom>
          <a:solidFill>
            <a:srgbClr val="FFFFFF"/>
          </a:solidFill>
          <a:ln w="19050">
            <a:solidFill>
              <a:srgbClr val="C0392B"/>
            </a:solidFill>
            <a:prstDash val="solid"/>
          </a:ln>
        </p:spPr>
      </p:sp>
      <p:sp>
        <p:nvSpPr>
          <p:cNvPr id="77" name="ovl_s21_nt_pay"/>
          <p:cNvSpPr txBox="1"/>
          <p:nvPr/>
        </p:nvSpPr>
        <p:spPr>
          <a:xfrm>
            <a:off x="4867656" y="4976622"/>
            <a:ext cx="1207008" cy="356616"/>
          </a:xfrm>
          <a:prstGeom prst="rect">
            <a:avLst/>
          </a:prstGeom>
          <a:noFill/>
          <a:ln/>
        </p:spPr>
        <p:txBody>
          <a:bodyPr wrap="square" lIns="0" tIns="0" rIns="0" bIns="0" rtlCol="0" anchor="ctr"/>
          <a:lstStyle/>
          <a:p>
            <a:pPr algn="ctr" indent="0" marL="0">
              <a:buNone/>
            </a:pPr>
            <a:r>
              <a:rPr lang="en-US" sz="900" b="1" dirty="0">
                <a:solidFill>
                  <a:srgbClr val="C0392B"/>
                </a:solidFill>
                <a:latin typeface="Meiryo UI" pitchFamily="34" charset="0"/>
                <a:ea typeface="Meiryo UI" pitchFamily="34" charset="-122"/>
                <a:cs typeface="Meiryo UI" pitchFamily="34" charset="-120"/>
              </a:rPr>
              <a:t>業績連動の報酬</a:t>
            </a:r>
            <a:endParaRPr lang="en-US" sz="900" dirty="0"/>
          </a:p>
          <a:p>
            <a:pPr algn="ctr" indent="0" marL="0">
              <a:buNone/>
            </a:pPr>
            <a:r>
              <a:rPr lang="en-US" sz="900" b="1" dirty="0">
                <a:solidFill>
                  <a:srgbClr val="C0392B"/>
                </a:solidFill>
                <a:latin typeface="Meiryo UI" pitchFamily="34" charset="0"/>
                <a:ea typeface="Meiryo UI" pitchFamily="34" charset="-122"/>
                <a:cs typeface="Meiryo UI" pitchFamily="34" charset="-120"/>
              </a:rPr>
              <a:t>(PSO)</a:t>
            </a:r>
            <a:endParaRPr lang="en-US" sz="900" dirty="0"/>
          </a:p>
        </p:txBody>
      </p:sp>
      <p:sp>
        <p:nvSpPr>
          <p:cNvPr id="78" name="ovl_s21_ns_pay"/>
          <p:cNvSpPr txBox="1"/>
          <p:nvPr/>
        </p:nvSpPr>
        <p:spPr>
          <a:xfrm>
            <a:off x="4876800" y="5333238"/>
            <a:ext cx="1188720" cy="3383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KPI は FY28 総売上</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(1 株指標ではない)</a:t>
            </a:r>
            <a:endParaRPr lang="en-US" sz="850" dirty="0"/>
          </a:p>
        </p:txBody>
      </p:sp>
      <p:sp>
        <p:nvSpPr>
          <p:cNvPr id="79" name="ovl_s21_n_rpo"/>
          <p:cNvSpPr/>
          <p:nvPr/>
        </p:nvSpPr>
        <p:spPr>
          <a:xfrm>
            <a:off x="6949440" y="2000250"/>
            <a:ext cx="1325880" cy="749808"/>
          </a:xfrm>
          <a:prstGeom prst="roundRect">
            <a:avLst>
              <a:gd name="adj" fmla="val 7317"/>
            </a:avLst>
          </a:prstGeom>
          <a:solidFill>
            <a:srgbClr val="EAF4EE"/>
          </a:solidFill>
          <a:ln w="9525">
            <a:solidFill>
              <a:srgbClr val="86C99B"/>
            </a:solidFill>
            <a:prstDash val="solid"/>
          </a:ln>
        </p:spPr>
      </p:sp>
      <p:sp>
        <p:nvSpPr>
          <p:cNvPr id="80" name="ovl_s21_nt_rpo"/>
          <p:cNvSpPr txBox="1"/>
          <p:nvPr/>
        </p:nvSpPr>
        <p:spPr>
          <a:xfrm>
            <a:off x="6986016" y="2027682"/>
            <a:ext cx="1252728" cy="356616"/>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受注残</a:t>
            </a:r>
            <a:endParaRPr lang="en-US" sz="900" dirty="0"/>
          </a:p>
          <a:p>
            <a:pPr algn="ctr" indent="0" marL="0">
              <a:buNone/>
            </a:pPr>
            <a:r>
              <a:rPr lang="en-US" sz="900" b="1" dirty="0">
                <a:solidFill>
                  <a:srgbClr val="0E4D33"/>
                </a:solidFill>
                <a:latin typeface="Meiryo UI" pitchFamily="34" charset="0"/>
                <a:ea typeface="Meiryo UI" pitchFamily="34" charset="-122"/>
                <a:cs typeface="Meiryo UI" pitchFamily="34" charset="-120"/>
              </a:rPr>
              <a:t>6,640 億ドル</a:t>
            </a:r>
            <a:endParaRPr lang="en-US" sz="900" dirty="0"/>
          </a:p>
        </p:txBody>
      </p:sp>
      <p:sp>
        <p:nvSpPr>
          <p:cNvPr id="81" name="ovl_s21_ns_rpo"/>
          <p:cNvSpPr txBox="1"/>
          <p:nvPr/>
        </p:nvSpPr>
        <p:spPr>
          <a:xfrm>
            <a:off x="6995160" y="2384298"/>
            <a:ext cx="1234440" cy="3383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GPU 更新 +20%</a:t>
            </a:r>
            <a:endParaRPr lang="en-US" sz="850" dirty="0"/>
          </a:p>
        </p:txBody>
      </p:sp>
      <p:sp>
        <p:nvSpPr>
          <p:cNvPr id="82" name="ovl_s21_n_va"/>
          <p:cNvSpPr/>
          <p:nvPr/>
        </p:nvSpPr>
        <p:spPr>
          <a:xfrm>
            <a:off x="6949440" y="2983230"/>
            <a:ext cx="1325880" cy="749808"/>
          </a:xfrm>
          <a:prstGeom prst="roundRect">
            <a:avLst>
              <a:gd name="adj" fmla="val 7317"/>
            </a:avLst>
          </a:prstGeom>
          <a:solidFill>
            <a:srgbClr val="FFFFFF"/>
          </a:solidFill>
          <a:ln w="19050">
            <a:solidFill>
              <a:srgbClr val="C0392B"/>
            </a:solidFill>
            <a:prstDash val="solid"/>
          </a:ln>
        </p:spPr>
      </p:sp>
      <p:sp>
        <p:nvSpPr>
          <p:cNvPr id="83" name="ovl_s21_nt_va"/>
          <p:cNvSpPr txBox="1"/>
          <p:nvPr/>
        </p:nvSpPr>
        <p:spPr>
          <a:xfrm>
            <a:off x="6986016" y="3010662"/>
            <a:ext cx="12527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VA の電子カルテ</a:t>
            </a:r>
            <a:endParaRPr lang="en-US" sz="1000" dirty="0"/>
          </a:p>
        </p:txBody>
      </p:sp>
      <p:sp>
        <p:nvSpPr>
          <p:cNvPr id="84" name="ovl_s21_ns_va"/>
          <p:cNvSpPr txBox="1"/>
          <p:nvPr/>
        </p:nvSpPr>
        <p:spPr>
          <a:xfrm>
            <a:off x="6995160" y="321640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2026-03 に全国障害</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上限 100 億ドルを</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早期消化</a:t>
            </a:r>
            <a:endParaRPr lang="en-US" sz="850" dirty="0"/>
          </a:p>
        </p:txBody>
      </p:sp>
      <p:sp>
        <p:nvSpPr>
          <p:cNvPr id="85" name="ovl_s21_n_over"/>
          <p:cNvSpPr/>
          <p:nvPr/>
        </p:nvSpPr>
        <p:spPr>
          <a:xfrm>
            <a:off x="6949440" y="3966210"/>
            <a:ext cx="1325880" cy="749808"/>
          </a:xfrm>
          <a:prstGeom prst="roundRect">
            <a:avLst>
              <a:gd name="adj" fmla="val 7317"/>
            </a:avLst>
          </a:prstGeom>
          <a:solidFill>
            <a:srgbClr val="FFFFFF"/>
          </a:solidFill>
          <a:ln w="19050">
            <a:solidFill>
              <a:srgbClr val="C0392B"/>
            </a:solidFill>
            <a:prstDash val="solid"/>
          </a:ln>
        </p:spPr>
      </p:sp>
      <p:sp>
        <p:nvSpPr>
          <p:cNvPr id="86" name="ovl_s21_nt_over"/>
          <p:cNvSpPr txBox="1"/>
          <p:nvPr/>
        </p:nvSpPr>
        <p:spPr>
          <a:xfrm>
            <a:off x="6986016" y="3993642"/>
            <a:ext cx="12527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capex の超過</a:t>
            </a:r>
            <a:endParaRPr lang="en-US" sz="1000" dirty="0"/>
          </a:p>
        </p:txBody>
      </p:sp>
      <p:sp>
        <p:nvSpPr>
          <p:cNvPr id="87" name="ovl_s21_ns_over"/>
          <p:cNvSpPr txBox="1"/>
          <p:nvPr/>
        </p:nvSpPr>
        <p:spPr>
          <a:xfrm>
            <a:off x="6995160" y="419938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FY26 見通し</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350 → 500 → 実績</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557 億ドル</a:t>
            </a:r>
            <a:endParaRPr lang="en-US" sz="850" dirty="0"/>
          </a:p>
        </p:txBody>
      </p:sp>
      <p:sp>
        <p:nvSpPr>
          <p:cNvPr id="88" name="ovl_s21_n_gap"/>
          <p:cNvSpPr/>
          <p:nvPr/>
        </p:nvSpPr>
        <p:spPr>
          <a:xfrm>
            <a:off x="6949440" y="4949190"/>
            <a:ext cx="1325880" cy="749808"/>
          </a:xfrm>
          <a:prstGeom prst="roundRect">
            <a:avLst>
              <a:gd name="adj" fmla="val 7317"/>
            </a:avLst>
          </a:prstGeom>
          <a:solidFill>
            <a:srgbClr val="FFFFFF"/>
          </a:solidFill>
          <a:ln w="19050">
            <a:solidFill>
              <a:srgbClr val="C0392B"/>
            </a:solidFill>
            <a:prstDash val="solid"/>
          </a:ln>
        </p:spPr>
      </p:sp>
      <p:sp>
        <p:nvSpPr>
          <p:cNvPr id="89" name="ovl_s21_nt_gap"/>
          <p:cNvSpPr txBox="1"/>
          <p:nvPr/>
        </p:nvSpPr>
        <p:spPr>
          <a:xfrm>
            <a:off x="6986016" y="4976622"/>
            <a:ext cx="12527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1 株価値とのずれ</a:t>
            </a:r>
            <a:endParaRPr lang="en-US" sz="1000" dirty="0"/>
          </a:p>
        </p:txBody>
      </p:sp>
      <p:sp>
        <p:nvSpPr>
          <p:cNvPr id="90" name="ovl_s21_ns_gap"/>
          <p:cNvSpPr txBox="1"/>
          <p:nvPr/>
        </p:nvSpPr>
        <p:spPr>
          <a:xfrm>
            <a:off x="6995160" y="518236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総額の拡大に</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報酬が連動</a:t>
            </a:r>
            <a:endParaRPr lang="en-US" sz="850" dirty="0"/>
          </a:p>
        </p:txBody>
      </p:sp>
      <p:sp>
        <p:nvSpPr>
          <p:cNvPr id="91" name="ovl_s21_lab0"/>
          <p:cNvSpPr txBox="1"/>
          <p:nvPr/>
        </p:nvSpPr>
        <p:spPr>
          <a:xfrm>
            <a:off x="1825790" y="2141982"/>
            <a:ext cx="844220"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767676"/>
                </a:solidFill>
                <a:latin typeface="Meiryo UI" pitchFamily="34" charset="0"/>
                <a:ea typeface="Meiryo UI" pitchFamily="34" charset="-122"/>
                <a:cs typeface="Meiryo UI" pitchFamily="34" charset="-120"/>
              </a:rPr>
              <a:t>① </a:t>
            </a:r>
            <a:r>
              <a:rPr lang="en-US" sz="850" dirty="0">
                <a:solidFill>
                  <a:srgbClr val="767676"/>
                </a:solidFill>
                <a:latin typeface="Meiryo UI" pitchFamily="34" charset="0"/>
                <a:ea typeface="Meiryo UI" pitchFamily="34" charset="-122"/>
                <a:cs typeface="Meiryo UI" pitchFamily="34" charset="-120"/>
              </a:rPr>
              <a:t>基盤の技術</a:t>
            </a:r>
            <a:endParaRPr lang="en-US" sz="850" dirty="0"/>
          </a:p>
        </p:txBody>
      </p:sp>
      <p:sp>
        <p:nvSpPr>
          <p:cNvPr id="92" name="ovl_s21_lab1"/>
          <p:cNvSpPr txBox="1"/>
          <p:nvPr/>
        </p:nvSpPr>
        <p:spPr>
          <a:xfrm>
            <a:off x="1973580" y="2983230"/>
            <a:ext cx="548640" cy="347472"/>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767676"/>
                </a:solidFill>
                <a:latin typeface="Meiryo UI" pitchFamily="34" charset="0"/>
                <a:ea typeface="Meiryo UI" pitchFamily="34" charset="-122"/>
                <a:cs typeface="Meiryo UI" pitchFamily="34" charset="-120"/>
              </a:rPr>
              <a:t>② </a:t>
            </a:r>
            <a:r>
              <a:rPr lang="en-US" sz="850" dirty="0">
                <a:solidFill>
                  <a:srgbClr val="767676"/>
                </a:solidFill>
                <a:latin typeface="Meiryo UI" pitchFamily="34" charset="0"/>
                <a:ea typeface="Meiryo UI" pitchFamily="34" charset="-122"/>
                <a:cs typeface="Meiryo UI" pitchFamily="34" charset="-120"/>
              </a:rPr>
              <a:t>業種別ソフト</a:t>
            </a:r>
            <a:endParaRPr lang="en-US" sz="850" dirty="0"/>
          </a:p>
        </p:txBody>
      </p:sp>
      <p:sp>
        <p:nvSpPr>
          <p:cNvPr id="93" name="ovl_s21_lab2"/>
          <p:cNvSpPr txBox="1"/>
          <p:nvPr/>
        </p:nvSpPr>
        <p:spPr>
          <a:xfrm>
            <a:off x="1825790" y="4107942"/>
            <a:ext cx="844220"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767676"/>
                </a:solidFill>
                <a:latin typeface="Meiryo UI" pitchFamily="34" charset="0"/>
                <a:ea typeface="Meiryo UI" pitchFamily="34" charset="-122"/>
                <a:cs typeface="Meiryo UI" pitchFamily="34" charset="-120"/>
              </a:rPr>
              <a:t>③ </a:t>
            </a:r>
            <a:r>
              <a:rPr lang="en-US" sz="850" dirty="0">
                <a:solidFill>
                  <a:srgbClr val="767676"/>
                </a:solidFill>
                <a:latin typeface="Meiryo UI" pitchFamily="34" charset="0"/>
                <a:ea typeface="Meiryo UI" pitchFamily="34" charset="-122"/>
                <a:cs typeface="Meiryo UI" pitchFamily="34" charset="-120"/>
              </a:rPr>
              <a:t>電力の財務</a:t>
            </a:r>
            <a:endParaRPr lang="en-US" sz="850" dirty="0"/>
          </a:p>
        </p:txBody>
      </p:sp>
      <p:sp>
        <p:nvSpPr>
          <p:cNvPr id="94" name="ovl_s21_lab7"/>
          <p:cNvSpPr txBox="1"/>
          <p:nvPr/>
        </p:nvSpPr>
        <p:spPr>
          <a:xfrm>
            <a:off x="4123944" y="5090922"/>
            <a:ext cx="576072"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取締役会</a:t>
            </a:r>
            <a:endParaRPr lang="en-US" sz="850" dirty="0"/>
          </a:p>
        </p:txBody>
      </p:sp>
      <p:sp>
        <p:nvSpPr>
          <p:cNvPr id="95" name="ovl_s21_lab8"/>
          <p:cNvSpPr txBox="1"/>
          <p:nvPr/>
        </p:nvSpPr>
        <p:spPr>
          <a:xfrm>
            <a:off x="6184011" y="2141982"/>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1BA1A6"/>
                </a:solidFill>
                <a:latin typeface="Meiryo UI" pitchFamily="34" charset="0"/>
                <a:ea typeface="Meiryo UI" pitchFamily="34" charset="-122"/>
                <a:cs typeface="Meiryo UI" pitchFamily="34" charset="-120"/>
              </a:rPr>
              <a:t>受注と更新</a:t>
            </a:r>
            <a:endParaRPr lang="en-US" sz="850" dirty="0"/>
          </a:p>
        </p:txBody>
      </p:sp>
      <p:sp>
        <p:nvSpPr>
          <p:cNvPr id="96" name="ovl_s21_lab9"/>
          <p:cNvSpPr txBox="1"/>
          <p:nvPr/>
        </p:nvSpPr>
        <p:spPr>
          <a:xfrm>
            <a:off x="6184011" y="3124962"/>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導入の遅れ</a:t>
            </a:r>
            <a:endParaRPr lang="en-US" sz="850" dirty="0"/>
          </a:p>
        </p:txBody>
      </p:sp>
      <p:sp>
        <p:nvSpPr>
          <p:cNvPr id="97" name="ovl_s21_num10"/>
          <p:cNvSpPr/>
          <p:nvPr/>
        </p:nvSpPr>
        <p:spPr>
          <a:xfrm>
            <a:off x="6411468" y="4222242"/>
            <a:ext cx="237744" cy="237744"/>
          </a:xfrm>
          <a:prstGeom prst="ellipse">
            <a:avLst/>
          </a:prstGeom>
          <a:solidFill>
            <a:srgbClr val="C0392B"/>
          </a:solidFill>
          <a:ln w="12700">
            <a:solidFill>
              <a:srgbClr val="FFFFFF"/>
            </a:solidFill>
            <a:prstDash val="solid"/>
          </a:ln>
        </p:spPr>
      </p:sp>
      <p:sp>
        <p:nvSpPr>
          <p:cNvPr id="98" name="ovl_s21_numt10"/>
          <p:cNvSpPr txBox="1"/>
          <p:nvPr/>
        </p:nvSpPr>
        <p:spPr>
          <a:xfrm>
            <a:off x="6411468" y="422224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4</a:t>
            </a:r>
            <a:endParaRPr lang="en-US" sz="900" dirty="0"/>
          </a:p>
        </p:txBody>
      </p:sp>
      <p:sp>
        <p:nvSpPr>
          <p:cNvPr id="99" name="ovl_s21_num11"/>
          <p:cNvSpPr/>
          <p:nvPr/>
        </p:nvSpPr>
        <p:spPr>
          <a:xfrm>
            <a:off x="6411468" y="5205222"/>
            <a:ext cx="237744" cy="237744"/>
          </a:xfrm>
          <a:prstGeom prst="ellipse">
            <a:avLst/>
          </a:prstGeom>
          <a:solidFill>
            <a:srgbClr val="C0392B"/>
          </a:solidFill>
          <a:ln w="12700">
            <a:solidFill>
              <a:srgbClr val="FFFFFF"/>
            </a:solidFill>
            <a:prstDash val="solid"/>
          </a:ln>
        </p:spPr>
      </p:sp>
      <p:sp>
        <p:nvSpPr>
          <p:cNvPr id="100" name="ovl_s21_numt11"/>
          <p:cNvSpPr txBox="1"/>
          <p:nvPr/>
        </p:nvSpPr>
        <p:spPr>
          <a:xfrm>
            <a:off x="6411468" y="520522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5</a:t>
            </a:r>
            <a:endParaRPr lang="en-US" sz="900" dirty="0"/>
          </a:p>
        </p:txBody>
      </p:sp>
      <p:sp>
        <p:nvSpPr>
          <p:cNvPr id="101" name="ovl_s21_leg0"/>
          <p:cNvSpPr/>
          <p:nvPr/>
        </p:nvSpPr>
        <p:spPr>
          <a:xfrm>
            <a:off x="457200" y="5971032"/>
            <a:ext cx="365760" cy="914"/>
          </a:xfrm>
          <a:prstGeom prst="line">
            <a:avLst/>
          </a:prstGeom>
          <a:noFill/>
          <a:ln w="19050">
            <a:solidFill>
              <a:srgbClr val="1BA1A6"/>
            </a:solidFill>
            <a:prstDash val="solid"/>
            <a:tailEnd type="triangle"/>
          </a:ln>
        </p:spPr>
      </p:sp>
      <p:sp>
        <p:nvSpPr>
          <p:cNvPr id="102" name="ovl_s21_legt0"/>
          <p:cNvSpPr txBox="1"/>
          <p:nvPr/>
        </p:nvSpPr>
        <p:spPr>
          <a:xfrm>
            <a:off x="87782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モノ・サービス</a:t>
            </a:r>
            <a:endParaRPr lang="en-US" sz="800" dirty="0"/>
          </a:p>
        </p:txBody>
      </p:sp>
      <p:sp>
        <p:nvSpPr>
          <p:cNvPr id="103" name="ovl_s21_leg1"/>
          <p:cNvSpPr/>
          <p:nvPr/>
        </p:nvSpPr>
        <p:spPr>
          <a:xfrm>
            <a:off x="1874520" y="5971032"/>
            <a:ext cx="365760" cy="914"/>
          </a:xfrm>
          <a:prstGeom prst="line">
            <a:avLst/>
          </a:prstGeom>
          <a:noFill/>
          <a:ln w="15875">
            <a:solidFill>
              <a:srgbClr val="C0392B"/>
            </a:solidFill>
            <a:prstDash val="dash"/>
            <a:tailEnd type="triangle"/>
          </a:ln>
        </p:spPr>
      </p:sp>
      <p:sp>
        <p:nvSpPr>
          <p:cNvPr id="104" name="ovl_s21_legt1"/>
          <p:cNvSpPr txBox="1"/>
          <p:nvPr/>
        </p:nvSpPr>
        <p:spPr>
          <a:xfrm>
            <a:off x="229514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リスク</a:t>
            </a:r>
            <a:endParaRPr lang="en-US" sz="800" dirty="0"/>
          </a:p>
        </p:txBody>
      </p:sp>
      <p:sp>
        <p:nvSpPr>
          <p:cNvPr id="105" name="ovl_s21_leg2"/>
          <p:cNvSpPr/>
          <p:nvPr/>
        </p:nvSpPr>
        <p:spPr>
          <a:xfrm>
            <a:off x="3291840" y="5971032"/>
            <a:ext cx="365760" cy="914"/>
          </a:xfrm>
          <a:prstGeom prst="line">
            <a:avLst/>
          </a:prstGeom>
          <a:noFill/>
          <a:ln w="12700">
            <a:solidFill>
              <a:srgbClr val="767676"/>
            </a:solidFill>
            <a:prstDash val="sysDash"/>
            <a:tailEnd type="triangle"/>
          </a:ln>
        </p:spPr>
      </p:sp>
      <p:sp>
        <p:nvSpPr>
          <p:cNvPr id="106" name="ovl_s21_legt2"/>
          <p:cNvSpPr txBox="1"/>
          <p:nvPr/>
        </p:nvSpPr>
        <p:spPr>
          <a:xfrm>
            <a:off x="371246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契約・統治</a:t>
            </a:r>
            <a:endParaRPr lang="en-US" sz="800" dirty="0"/>
          </a:p>
        </p:txBody>
      </p:sp>
      <p:sp>
        <p:nvSpPr>
          <p:cNvPr id="107" name="ovl_s21_legn"/>
          <p:cNvSpPr txBox="1"/>
          <p:nvPr/>
        </p:nvSpPr>
        <p:spPr>
          <a:xfrm>
            <a:off x="6126480" y="5870448"/>
            <a:ext cx="2148840" cy="201168"/>
          </a:xfrm>
          <a:prstGeom prst="rect">
            <a:avLst/>
          </a:prstGeom>
          <a:noFill/>
          <a:ln/>
        </p:spPr>
        <p:txBody>
          <a:bodyPr wrap="square" lIns="0" tIns="0" rIns="0" bIns="0" rtlCol="0" anchor="ctr"/>
          <a:lstStyle/>
          <a:p>
            <a:pPr algn="r" indent="0" marL="0">
              <a:buNone/>
            </a:pPr>
            <a:r>
              <a:rPr lang="en-US" sz="800" dirty="0">
                <a:solidFill>
                  <a:srgbClr val="767676"/>
                </a:solidFill>
                <a:latin typeface="Meiryo UI" pitchFamily="34" charset="0"/>
                <a:ea typeface="Meiryo UI" pitchFamily="34" charset="-122"/>
                <a:cs typeface="Meiryo UI" pitchFamily="34" charset="-120"/>
              </a:rPr>
              <a:t>①② … は右の「仕組み」の番号</a:t>
            </a:r>
            <a:endParaRPr lang="en-US" sz="800" dirty="0"/>
          </a:p>
        </p:txBody>
      </p:sp>
      <p:sp>
        <p:nvSpPr>
          <p:cNvPr id="108" name="mech_head"/>
          <p:cNvSpPr txBox="1"/>
          <p:nvPr/>
        </p:nvSpPr>
        <p:spPr>
          <a:xfrm>
            <a:off x="8458200" y="1481328"/>
            <a:ext cx="3276295"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仕組み(図の ①② … と対応)</a:t>
            </a:r>
            <a:endParaRPr lang="en-US" sz="1200" dirty="0"/>
          </a:p>
        </p:txBody>
      </p:sp>
      <p:sp>
        <p:nvSpPr>
          <p:cNvPr id="109" name="mech"/>
          <p:cNvSpPr txBox="1"/>
          <p:nvPr/>
        </p:nvSpPr>
        <p:spPr>
          <a:xfrm>
            <a:off x="8458200" y="1810512"/>
            <a:ext cx="3276295" cy="2737612"/>
          </a:xfrm>
          <a:prstGeom prst="rect">
            <a:avLst/>
          </a:prstGeom>
          <a:noFill/>
          <a:ln/>
        </p:spPr>
        <p:txBody>
          <a:bodyPr wrap="square" lIns="381" tIns="381" rIns="381" bIns="381" rtlCol="0" anchor="t"/>
          <a:lstStyle/>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① </a:t>
            </a:r>
            <a:r>
              <a:rPr lang="en-US" sz="1100" dirty="0">
                <a:solidFill>
                  <a:srgbClr val="333333"/>
                </a:solidFill>
                <a:latin typeface="Meiryo UI" pitchFamily="34" charset="0"/>
                <a:ea typeface="Meiryo UI" pitchFamily="34" charset="-122"/>
                <a:cs typeface="Meiryo UI" pitchFamily="34" charset="-120"/>
              </a:rPr>
              <a:t>Magouyrk は AWS でクラウド基盤を担い、2014 年に OCI を創設。</a:t>
            </a:r>
            <a:br/>
            <a:r>
              <a:rPr lang="en-US" sz="1100" dirty="0">
                <a:solidFill>
                  <a:srgbClr val="333333"/>
                </a:solidFill>
                <a:latin typeface="Meiryo UI" pitchFamily="34" charset="0"/>
                <a:ea typeface="Meiryo UI" pitchFamily="34" charset="-122"/>
                <a:cs typeface="Meiryo UI" pitchFamily="34" charset="-120"/>
              </a:rPr>
              <a:t>今の成長エンジンを設計した当事者</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② </a:t>
            </a:r>
            <a:r>
              <a:rPr lang="en-US" sz="1100" dirty="0">
                <a:solidFill>
                  <a:srgbClr val="333333"/>
                </a:solidFill>
                <a:latin typeface="Meiryo UI" pitchFamily="34" charset="0"/>
                <a:ea typeface="Meiryo UI" pitchFamily="34" charset="-122"/>
                <a:cs typeface="Meiryo UI" pitchFamily="34" charset="-120"/>
              </a:rPr>
              <a:t>Sicilia は Primavera の技術者から CTO。</a:t>
            </a:r>
            <a:br/>
            <a:r>
              <a:rPr lang="en-US" sz="1100" dirty="0">
                <a:solidFill>
                  <a:srgbClr val="333333"/>
                </a:solidFill>
                <a:latin typeface="Meiryo UI" pitchFamily="34" charset="0"/>
                <a:ea typeface="Meiryo UI" pitchFamily="34" charset="-122"/>
                <a:cs typeface="Meiryo UI" pitchFamily="34" charset="-120"/>
              </a:rPr>
              <a:t>買収後は業種別アプリを統括。Oracle Health(VA)は障害と遅れが続く</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③ </a:t>
            </a:r>
            <a:r>
              <a:rPr lang="en-US" sz="1100" dirty="0">
                <a:solidFill>
                  <a:srgbClr val="333333"/>
                </a:solidFill>
                <a:latin typeface="Meiryo UI" pitchFamily="34" charset="0"/>
                <a:ea typeface="Meiryo UI" pitchFamily="34" charset="-122"/>
                <a:cs typeface="Meiryo UI" pitchFamily="34" charset="-120"/>
              </a:rPr>
              <a:t>CFO の Maxson は電力会社の AES と電機の Schneider で財務を約 22 年。</a:t>
            </a:r>
            <a:br/>
            <a:r>
              <a:rPr lang="en-US" sz="1100" dirty="0">
                <a:solidFill>
                  <a:srgbClr val="333333"/>
                </a:solidFill>
                <a:latin typeface="Meiryo UI" pitchFamily="34" charset="0"/>
                <a:ea typeface="Meiryo UI" pitchFamily="34" charset="-122"/>
                <a:cs typeface="Meiryo UI" pitchFamily="34" charset="-120"/>
              </a:rPr>
              <a:t>設備と電力の資金計画に合うが、就任 6 か月</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④ </a:t>
            </a:r>
            <a:r>
              <a:rPr lang="en-US" sz="1100" dirty="0">
                <a:solidFill>
                  <a:srgbClr val="333333"/>
                </a:solidFill>
                <a:latin typeface="Meiryo UI" pitchFamily="34" charset="0"/>
                <a:ea typeface="Meiryo UI" pitchFamily="34" charset="-122"/>
                <a:cs typeface="Meiryo UI" pitchFamily="34" charset="-120"/>
              </a:rPr>
              <a:t>capex は FY26 に見通し 350 → 500 → 実績 557 億ドル。</a:t>
            </a:r>
            <a:br/>
            <a:r>
              <a:rPr lang="en-US" sz="1100" dirty="0">
                <a:solidFill>
                  <a:srgbClr val="333333"/>
                </a:solidFill>
                <a:latin typeface="Meiryo UI" pitchFamily="34" charset="0"/>
                <a:ea typeface="Meiryo UI" pitchFamily="34" charset="-122"/>
                <a:cs typeface="Meiryo UI" pitchFamily="34" charset="-120"/>
              </a:rPr>
              <a:t>共同 CEO の資本配分の実績はまだ 1 年</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⑤ </a:t>
            </a:r>
            <a:r>
              <a:rPr lang="en-US" sz="1100" dirty="0">
                <a:solidFill>
                  <a:srgbClr val="333333"/>
                </a:solidFill>
                <a:latin typeface="Meiryo UI" pitchFamily="34" charset="0"/>
                <a:ea typeface="Meiryo UI" pitchFamily="34" charset="-122"/>
                <a:cs typeface="Meiryo UI" pitchFamily="34" charset="-120"/>
              </a:rPr>
              <a:t>業績連動の報酬の KPI は FY28 の総売上で、1 株当たりの指標ではない(80% は時間ベース)</a:t>
            </a:r>
            <a:endParaRPr lang="en-US" sz="1100" dirty="0"/>
          </a:p>
        </p:txBody>
      </p:sp>
      <p:sp>
        <p:nvSpPr>
          <p:cNvPr id="110" name="ovl_takeaway_bg"/>
          <p:cNvSpPr/>
          <p:nvPr/>
        </p:nvSpPr>
        <p:spPr>
          <a:xfrm>
            <a:off x="8458200" y="4621276"/>
            <a:ext cx="3276295" cy="804164"/>
          </a:xfrm>
          <a:prstGeom prst="rect">
            <a:avLst/>
          </a:prstGeom>
          <a:solidFill>
            <a:srgbClr val="EAF4EE"/>
          </a:solidFill>
          <a:ln w="12700">
            <a:solidFill>
              <a:srgbClr val="EAF4EE"/>
            </a:solidFill>
            <a:prstDash val="solid"/>
          </a:ln>
        </p:spPr>
      </p:sp>
      <p:sp>
        <p:nvSpPr>
          <p:cNvPr id="111" name="takeaway"/>
          <p:cNvSpPr txBox="1"/>
          <p:nvPr/>
        </p:nvSpPr>
        <p:spPr>
          <a:xfrm>
            <a:off x="8567928" y="4694428"/>
            <a:ext cx="3056839" cy="657860"/>
          </a:xfrm>
          <a:prstGeom prst="rect">
            <a:avLst/>
          </a:prstGeom>
          <a:noFill/>
          <a:ln/>
        </p:spPr>
        <p:txBody>
          <a:bodyPr wrap="square" lIns="508" tIns="508" rIns="508" bIns="508"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経歴と事業の適合は高い(A 相当)。ただし CEO としての資本配分の実績が 1 年と短く、capex の超過と総額 KPI の報酬が残るため B(A との境界)</a:t>
            </a:r>
            <a:endParaRPr lang="en-US" sz="1000" dirty="0"/>
          </a:p>
        </p:txBody>
      </p:sp>
      <p:sp>
        <p:nvSpPr>
          <p:cNvPr id="112" name="updown"/>
          <p:cNvSpPr txBox="1"/>
          <p:nvPr/>
        </p:nvSpPr>
        <p:spPr>
          <a:xfrm>
            <a:off x="8458200" y="5498592"/>
            <a:ext cx="3276295" cy="591312"/>
          </a:xfrm>
          <a:prstGeom prst="rect">
            <a:avLst/>
          </a:prstGeom>
          <a:noFill/>
          <a:ln/>
        </p:spPr>
        <p:txBody>
          <a:bodyPr wrap="square" lIns="381" tIns="381" rIns="381" bIns="381" rtlCol="0" anchor="t"/>
          <a:lstStyle/>
          <a:p>
            <a:pPr indent="0" marL="0">
              <a:buNone/>
            </a:pPr>
            <a:r>
              <a:rPr lang="en-US" sz="850" b="1" dirty="0">
                <a:solidFill>
                  <a:srgbClr val="197A56"/>
                </a:solidFill>
                <a:latin typeface="Meiryo UI" pitchFamily="34" charset="0"/>
                <a:ea typeface="Meiryo UI" pitchFamily="34" charset="-122"/>
                <a:cs typeface="Meiryo UI" pitchFamily="34" charset="-120"/>
              </a:rPr>
              <a:t>上がる条件  </a:t>
            </a:r>
            <a:r>
              <a:rPr lang="en-US" sz="850" dirty="0">
                <a:solidFill>
                  <a:srgbClr val="333333"/>
                </a:solidFill>
                <a:latin typeface="Meiryo UI" pitchFamily="34" charset="0"/>
                <a:ea typeface="Meiryo UI" pitchFamily="34" charset="-122"/>
                <a:cs typeface="Meiryo UI" pitchFamily="34" charset="-120"/>
              </a:rPr>
              <a:t>FY27 の capex が見通しの範囲に収まり、FCF の黒字化の時期を示せば A</a:t>
            </a:r>
            <a:endParaRPr lang="en-US" sz="850" dirty="0"/>
          </a:p>
          <a:p>
            <a:pPr indent="0" marL="0">
              <a:buNone/>
            </a:pPr>
            <a:r>
              <a:rPr lang="en-US" sz="850" b="1" dirty="0">
                <a:solidFill>
                  <a:srgbClr val="C0392B"/>
                </a:solidFill>
                <a:latin typeface="Meiryo UI" pitchFamily="34" charset="0"/>
                <a:ea typeface="Meiryo UI" pitchFamily="34" charset="-122"/>
                <a:cs typeface="Meiryo UI" pitchFamily="34" charset="-120"/>
              </a:rPr>
              <a:t>下がる条件  </a:t>
            </a:r>
            <a:r>
              <a:rPr lang="en-US" sz="850" dirty="0">
                <a:solidFill>
                  <a:srgbClr val="333333"/>
                </a:solidFill>
                <a:latin typeface="Meiryo UI" pitchFamily="34" charset="0"/>
                <a:ea typeface="Meiryo UI" pitchFamily="34" charset="-122"/>
                <a:cs typeface="Meiryo UI" pitchFamily="34" charset="-120"/>
              </a:rPr>
              <a:t>capex が再び見通しを 10% 超上回るか、VA の契約で損失が出れば C</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3-3 成長と割安度(条件6・7)(1/2)</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98882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9888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成長と割安度(条件6)</a:t>
            </a:r>
            <a:endParaRPr lang="en-US" sz="1000" dirty="0"/>
          </a:p>
        </p:txBody>
      </p:sp>
      <p:sp>
        <p:nvSpPr>
          <p:cNvPr id="14" name="hdr_why"/>
          <p:cNvSpPr txBox="1"/>
          <p:nvPr/>
        </p:nvSpPr>
        <p:spPr>
          <a:xfrm>
            <a:off x="2592324" y="356616"/>
            <a:ext cx="914217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成長の割に安いか(PEG&lt;1)は、長期保有で超過リターンを得る前提になる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事業実態 EPS の 5 年成長率は 29.1〜31.0%、PEG は 0.65〜0.70。</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閾値 30% の前後で余裕はなく、エンジンの経路だけが 30% を下回る</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条件6 5年後 EPS 成長率で PEG&lt;1(EPS CAGR 30% 以上)。事業実態 EPS = 非GAAP EPS − 株式報酬の税引後</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コンセンサス(Yahoo・FactSet・tickflow)、会社の FY30 目標(Investor Day 2026-10-28)、需給エンジン第4.5版(calc/out/m10_*.json)。株価 139.56 ドル(2026-10-29 終値)</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29</a:t>
            </a:r>
            <a:endParaRPr lang="en-US" sz="800" dirty="0"/>
          </a:p>
        </p:txBody>
      </p:sp>
      <p:sp>
        <p:nvSpPr>
          <p:cNvPr id="19" name="ovl_badge"/>
          <p:cNvSpPr/>
          <p:nvPr/>
        </p:nvSpPr>
        <p:spPr>
          <a:xfrm>
            <a:off x="10865815" y="649224"/>
            <a:ext cx="868680" cy="677570"/>
          </a:xfrm>
          <a:prstGeom prst="roundRect">
            <a:avLst>
              <a:gd name="adj" fmla="val 10796"/>
            </a:avLst>
          </a:prstGeom>
          <a:solidFill>
            <a:srgbClr val="86C99B"/>
          </a:solidFill>
          <a:ln w="12700">
            <a:solidFill>
              <a:srgbClr val="86C99B"/>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0E4D33"/>
                </a:solidFill>
                <a:latin typeface="Meiryo UI" pitchFamily="34" charset="0"/>
                <a:ea typeface="Meiryo UI" pitchFamily="34" charset="-122"/>
                <a:cs typeface="Meiryo UI" pitchFamily="34" charset="-120"/>
              </a:rPr>
              <a:t>B</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0E4D33"/>
                </a:solidFill>
                <a:latin typeface="Meiryo UI" pitchFamily="34" charset="0"/>
                <a:ea typeface="Meiryo UI" pitchFamily="34" charset="-122"/>
                <a:cs typeface="Meiryo UI" pitchFamily="34" charset="-120"/>
              </a:rPr>
              <a:t>条件6</a:t>
            </a:r>
            <a:endParaRPr lang="en-US" sz="800" dirty="0"/>
          </a:p>
        </p:txBody>
      </p:sp>
      <p:graphicFrame>
        <p:nvGraphicFramePr>
          <p:cNvPr id="30" name="tbl"/>
          <p:cNvGraphicFramePr>
            <a:graphicFrameLocks noGrp="1"/>
          </p:cNvGraphicFramePr>
          <p:nvPr>
            <p:extLst>
              <p:ext uri="{D42A27DB-BD31-4B8C-83A1-F6EECF244321}">
                <p14:modId xmlns:p14="http://schemas.microsoft.com/office/powerpoint/2010/main" val="1579011935"/>
              </p:ext>
            </p:extLst>
          </p:nvPr>
        </p:nvGraphicFramePr>
        <p:xfrm>
          <a:off x="457200" y="1600200"/>
          <a:ext cx="7589520" cy="914400"/>
        </p:xfrm>
        <a:graphic>
          <a:graphicData uri="http://schemas.openxmlformats.org/drawingml/2006/table">
            <a:tbl>
              <a:tblPr/>
              <a:tblGrid>
                <a:gridCol w="2834640"/>
                <a:gridCol w="1554480"/>
                <a:gridCol w="1371600"/>
                <a:gridCol w="1828800"/>
              </a:tblGrid>
              <a:tr h="384048">
                <a:tc>
                  <a:txBody>
                    <a:bodyPr/>
                    <a:lstStyle/>
                    <a:p>
                      <a:pPr algn="l" indent="0" marL="0">
                        <a:buNone/>
                      </a:pPr>
                      <a:r>
                        <a:rPr lang="en-US" sz="1100" b="1" dirty="0">
                          <a:solidFill>
                            <a:srgbClr val="FFFFFF"/>
                          </a:solidFill>
                          <a:latin typeface="Meiryo UI" pitchFamily="34" charset="0"/>
                          <a:ea typeface="Meiryo UI" pitchFamily="34" charset="-122"/>
                          <a:cs typeface="Meiryo UI" pitchFamily="34" charset="-120"/>
                        </a:rPr>
                        <a:t>経路</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100" b="1" dirty="0">
                          <a:solidFill>
                            <a:srgbClr val="FFFFFF"/>
                          </a:solidFill>
                          <a:latin typeface="Meiryo UI" pitchFamily="34" charset="0"/>
                          <a:ea typeface="Meiryo UI" pitchFamily="34" charset="-122"/>
                          <a:cs typeface="Meiryo UI" pitchFamily="34" charset="-120"/>
                        </a:rPr>
                        <a:t>5 年 CAGR</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100" b="1" dirty="0">
                          <a:solidFill>
                            <a:srgbClr val="FFFFFF"/>
                          </a:solidFill>
                          <a:latin typeface="Meiryo UI" pitchFamily="34" charset="0"/>
                          <a:ea typeface="Meiryo UI" pitchFamily="34" charset="-122"/>
                          <a:cs typeface="Meiryo UI" pitchFamily="34" charset="-120"/>
                        </a:rPr>
                        <a:t>PEG</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100" b="1" dirty="0">
                          <a:solidFill>
                            <a:srgbClr val="FFFFFF"/>
                          </a:solidFill>
                          <a:latin typeface="Meiryo UI" pitchFamily="34" charset="0"/>
                          <a:ea typeface="Meiryo UI" pitchFamily="34" charset="-122"/>
                          <a:cs typeface="Meiryo UI" pitchFamily="34" charset="-120"/>
                        </a:rPr>
                        <a:t>閾値 30% との差</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84048">
                <a:tc>
                  <a:txBody>
                    <a:bodyPr/>
                    <a:lstStyle/>
                    <a:p>
                      <a:pPr algn="l" indent="0" marL="0">
                        <a:buNone/>
                      </a:pPr>
                      <a:r>
                        <a:rPr lang="en-US" sz="1100" dirty="0">
                          <a:solidFill>
                            <a:srgbClr val="333333"/>
                          </a:solidFill>
                          <a:latin typeface="Meiryo UI" pitchFamily="34" charset="0"/>
                          <a:ea typeface="Meiryo UI" pitchFamily="34" charset="-122"/>
                          <a:cs typeface="Meiryo UI" pitchFamily="34" charset="-120"/>
                        </a:rPr>
                        <a:t>会社(FY30 目標 21 ドル)</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latin typeface="Meiryo UI" pitchFamily="34" charset="0"/>
                          <a:ea typeface="Meiryo UI" pitchFamily="34" charset="-122"/>
                          <a:cs typeface="Meiryo UI" pitchFamily="34" charset="-120"/>
                        </a:rPr>
                        <a:t>31.0%</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latin typeface="Meiryo UI" pitchFamily="34" charset="0"/>
                          <a:ea typeface="Meiryo UI" pitchFamily="34" charset="-122"/>
                          <a:cs typeface="Meiryo UI" pitchFamily="34" charset="-120"/>
                        </a:rPr>
                        <a:t>0.65</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latin typeface="Meiryo UI" pitchFamily="34" charset="0"/>
                          <a:ea typeface="Meiryo UI" pitchFamily="34" charset="-122"/>
                          <a:cs typeface="Meiryo UI" pitchFamily="34" charset="-120"/>
                        </a:rPr>
                        <a:t>+1.0pt</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333333"/>
                          </a:solidFill>
                          <a:latin typeface="Meiryo UI" pitchFamily="34" charset="0"/>
                          <a:ea typeface="Meiryo UI" pitchFamily="34" charset="-122"/>
                          <a:cs typeface="Meiryo UI" pitchFamily="34" charset="-120"/>
                        </a:rPr>
                        <a:t>コンセンサス(説明会の前)</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100" dirty="0">
                          <a:solidFill>
                            <a:srgbClr val="333333"/>
                          </a:solidFill>
                          <a:latin typeface="Meiryo UI" pitchFamily="34" charset="0"/>
                          <a:ea typeface="Meiryo UI" pitchFamily="34" charset="-122"/>
                          <a:cs typeface="Meiryo UI" pitchFamily="34" charset="-120"/>
                        </a:rPr>
                        <a:t>30.3%</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100" dirty="0">
                          <a:solidFill>
                            <a:srgbClr val="333333"/>
                          </a:solidFill>
                          <a:latin typeface="Meiryo UI" pitchFamily="34" charset="0"/>
                          <a:ea typeface="Meiryo UI" pitchFamily="34" charset="-122"/>
                          <a:cs typeface="Meiryo UI" pitchFamily="34" charset="-120"/>
                        </a:rPr>
                        <a:t>0.67</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100" dirty="0">
                          <a:solidFill>
                            <a:srgbClr val="333333"/>
                          </a:solidFill>
                          <a:latin typeface="Meiryo UI" pitchFamily="34" charset="0"/>
                          <a:ea typeface="Meiryo UI" pitchFamily="34" charset="-122"/>
                          <a:cs typeface="Meiryo UI" pitchFamily="34" charset="-120"/>
                        </a:rPr>
                        <a:t>+0.3pt</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84048">
                <a:tc>
                  <a:txBody>
                    <a:bodyPr/>
                    <a:lstStyle/>
                    <a:p>
                      <a:pPr algn="l" indent="0" marL="0">
                        <a:buNone/>
                      </a:pPr>
                      <a:r>
                        <a:rPr lang="en-US" sz="1100" dirty="0">
                          <a:solidFill>
                            <a:srgbClr val="333333"/>
                          </a:solidFill>
                          <a:latin typeface="Meiryo UI" pitchFamily="34" charset="0"/>
                          <a:ea typeface="Meiryo UI" pitchFamily="34" charset="-122"/>
                          <a:cs typeface="Meiryo UI" pitchFamily="34" charset="-120"/>
                        </a:rPr>
                        <a:t>需給エンジン</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latin typeface="Meiryo UI" pitchFamily="34" charset="0"/>
                          <a:ea typeface="Meiryo UI" pitchFamily="34" charset="-122"/>
                          <a:cs typeface="Meiryo UI" pitchFamily="34" charset="-120"/>
                        </a:rPr>
                        <a:t>29.1%</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latin typeface="Meiryo UI" pitchFamily="34" charset="0"/>
                          <a:ea typeface="Meiryo UI" pitchFamily="34" charset="-122"/>
                          <a:cs typeface="Meiryo UI" pitchFamily="34" charset="-120"/>
                        </a:rPr>
                        <a:t>0.70</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latin typeface="Meiryo UI" pitchFamily="34" charset="0"/>
                          <a:ea typeface="Meiryo UI" pitchFamily="34" charset="-122"/>
                          <a:cs typeface="Meiryo UI" pitchFamily="34" charset="-120"/>
                        </a:rPr>
                        <a:t>−0.9pt</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3" name="bullets"/>
          <p:cNvSpPr txBox="1"/>
          <p:nvPr/>
        </p:nvSpPr>
        <p:spPr>
          <a:xfrm>
            <a:off x="457200" y="3383280"/>
            <a:ext cx="7589520" cy="914400"/>
          </a:xfrm>
          <a:prstGeom prst="rect">
            <a:avLst/>
          </a:prstGeom>
          <a:noFill/>
          <a:ln/>
        </p:spPr>
        <p:txBody>
          <a:bodyPr wrap="square" lIns="508" tIns="508" rIns="508" bIns="508" rtlCol="0" anchor="t"/>
          <a:lstStyle/>
          <a:p>
            <a:pPr marL="152400" indent="-152400">
              <a:spcAft>
                <a:spcPts val="400"/>
              </a:spcAft>
              <a:buSzPct val="100000"/>
              <a:buChar char="•"/>
            </a:pPr>
            <a:r>
              <a:rPr lang="en-US" sz="1050" dirty="0">
                <a:solidFill>
                  <a:srgbClr val="333333"/>
                </a:solidFill>
                <a:latin typeface="Meiryo UI" pitchFamily="34" charset="0"/>
                <a:ea typeface="Meiryo UI" pitchFamily="34" charset="-122"/>
                <a:cs typeface="Meiryo UI" pitchFamily="34" charset="-120"/>
              </a:rPr>
              <a:t>エンジン経路は 29.1% で閾値を 0.9pt 下回る。会社とコンセンサスの経路は 30% を超える</a:t>
            </a:r>
            <a:endParaRPr lang="en-US" sz="1050" dirty="0"/>
          </a:p>
          <a:p>
            <a:pPr marL="152400" indent="-152400">
              <a:spcAft>
                <a:spcPts val="400"/>
              </a:spcAft>
              <a:buSzPct val="100000"/>
              <a:buChar char="•"/>
            </a:pPr>
            <a:r>
              <a:rPr lang="en-US" sz="1050" dirty="0">
                <a:solidFill>
                  <a:srgbClr val="333333"/>
                </a:solidFill>
                <a:latin typeface="Meiryo UI" pitchFamily="34" charset="0"/>
                <a:ea typeface="Meiryo UI" pitchFamily="34" charset="-122"/>
                <a:cs typeface="Meiryo UI" pitchFamily="34" charset="-120"/>
              </a:rPr>
              <a:t>条件7 が B のため条件6 の S は無効にしないが、数値が閾値の前後のため B</a:t>
            </a:r>
            <a:endParaRPr lang="en-US" sz="1050" dirty="0"/>
          </a:p>
          <a:p>
            <a:pPr marL="152400" indent="-152400">
              <a:spcAft>
                <a:spcPts val="400"/>
              </a:spcAft>
              <a:buSzPct val="100000"/>
              <a:buChar char="•"/>
            </a:pPr>
            <a:r>
              <a:rPr lang="en-US" sz="1050" dirty="0">
                <a:solidFill>
                  <a:srgbClr val="333333"/>
                </a:solidFill>
                <a:latin typeface="Meiryo UI" pitchFamily="34" charset="0"/>
                <a:ea typeface="Meiryo UI" pitchFamily="34" charset="-122"/>
                <a:cs typeface="Meiryo UI" pitchFamily="34" charset="-120"/>
              </a:rPr>
              <a:t>FY30 の EPS が 3 経路の差になる(会社 21 ドル・コンセンサス 20.53 ドル・エンジン 19.59 ドル)</a:t>
            </a:r>
            <a:endParaRPr lang="en-US" sz="1050" dirty="0"/>
          </a:p>
        </p:txBody>
      </p:sp>
      <p:graphicFrame>
        <p:nvGraphicFramePr>
          <p:cNvPr id="24" name="chart_cagr" descr=""/>
          <p:cNvGraphicFramePr/>
          <p:nvPr/>
        </p:nvGraphicFramePr>
        <p:xfrm>
          <a:off x="457200" y="4343400"/>
          <a:ext cx="7589520" cy="1783080"/>
        </p:xfrm>
        <a:graphic xmlns:a="http://schemas.openxmlformats.org/drawingml/2006/main">
          <a:graphicData uri="http://schemas.openxmlformats.org/drawingml/2006/chart">
            <c:chart xmlns:c="http://schemas.openxmlformats.org/drawingml/2006/chart" r:id="rId1"/>
          </a:graphicData>
        </a:graphic>
      </p:graphicFrame>
      <p:sp>
        <p:nvSpPr>
          <p:cNvPr id="25" name="ovl_thr"/>
          <p:cNvSpPr txBox="1"/>
          <p:nvPr/>
        </p:nvSpPr>
        <p:spPr>
          <a:xfrm>
            <a:off x="6309360" y="4663440"/>
            <a:ext cx="1737360" cy="256032"/>
          </a:xfrm>
          <a:prstGeom prst="rect">
            <a:avLst/>
          </a:prstGeom>
          <a:noFill/>
          <a:ln/>
        </p:spPr>
        <p:txBody>
          <a:bodyPr wrap="square" lIns="508" tIns="508" rIns="508" bIns="508" rtlCol="0" anchor="t"/>
          <a:lstStyle/>
          <a:p>
            <a:pPr algn="r" indent="0" marL="0">
              <a:buNone/>
            </a:pPr>
            <a:r>
              <a:rPr lang="en-US" sz="900" dirty="0">
                <a:solidFill>
                  <a:srgbClr val="D68910"/>
                </a:solidFill>
                <a:latin typeface="Meiryo UI" pitchFamily="34" charset="0"/>
                <a:ea typeface="Meiryo UI" pitchFamily="34" charset="-122"/>
                <a:cs typeface="Meiryo UI" pitchFamily="34" charset="-120"/>
              </a:rPr>
              <a:t>閾値 30%</a:t>
            </a:r>
            <a:endParaRPr lang="en-US" sz="900" dirty="0"/>
          </a:p>
        </p:txBody>
      </p:sp>
      <p:sp>
        <p:nvSpPr>
          <p:cNvPr id="26" name="ovl_evbox"/>
          <p:cNvSpPr/>
          <p:nvPr/>
        </p:nvSpPr>
        <p:spPr>
          <a:xfrm>
            <a:off x="8275320" y="1481328"/>
            <a:ext cx="3456432" cy="2788920"/>
          </a:xfrm>
          <a:prstGeom prst="rect">
            <a:avLst/>
          </a:prstGeom>
          <a:solidFill>
            <a:srgbClr val="FFFFFF"/>
          </a:solidFill>
          <a:ln w="9525">
            <a:solidFill>
              <a:srgbClr val="D9D9D9"/>
            </a:solidFill>
            <a:prstDash val="solid"/>
          </a:ln>
        </p:spPr>
      </p:sp>
      <p:sp>
        <p:nvSpPr>
          <p:cNvPr id="27" name="ev_head"/>
          <p:cNvSpPr txBox="1"/>
          <p:nvPr/>
        </p:nvSpPr>
        <p:spPr>
          <a:xfrm>
            <a:off x="8385048" y="1536192"/>
            <a:ext cx="320040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根拠</a:t>
            </a:r>
            <a:endParaRPr lang="en-US" sz="1200" dirty="0"/>
          </a:p>
        </p:txBody>
      </p:sp>
      <p:sp>
        <p:nvSpPr>
          <p:cNvPr id="28" name="evidence"/>
          <p:cNvSpPr txBox="1"/>
          <p:nvPr/>
        </p:nvSpPr>
        <p:spPr>
          <a:xfrm>
            <a:off x="8385048" y="1847088"/>
            <a:ext cx="3255264" cy="2377440"/>
          </a:xfrm>
          <a:prstGeom prst="rect">
            <a:avLst/>
          </a:prstGeom>
          <a:noFill/>
          <a:ln/>
        </p:spPr>
        <p:txBody>
          <a:bodyPr wrap="square" lIns="508" tIns="508" rIns="508" bIns="508" rtlCol="0" anchor="t"/>
          <a:lstStyle/>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3 経路の CAGR は会社 31.0%・コンセンサス 30.3%・エンジン 29.1%。</a:t>
            </a:r>
            <a:br/>
            <a:r>
              <a:rPr lang="en-US" sz="950" dirty="0">
                <a:solidFill>
                  <a:srgbClr val="333333"/>
                </a:solidFill>
                <a:latin typeface="Meiryo UI" pitchFamily="34" charset="0"/>
                <a:ea typeface="Meiryo UI" pitchFamily="34" charset="-122"/>
                <a:cs typeface="Meiryo UI" pitchFamily="34" charset="-120"/>
              </a:rPr>
              <a:t>閾値 30% の前後で、PEG は 0.65〜0.70</a:t>
            </a:r>
            <a:endParaRPr lang="en-US" sz="950" dirty="0"/>
          </a:p>
          <a:p>
            <a:pPr marL="152400" indent="-152400">
              <a:buSzPct val="100000"/>
              <a:buChar char="•"/>
            </a:pPr>
            <a:r>
              <a:rPr lang="en-US" sz="950" dirty="0">
                <a:solidFill>
                  <a:srgbClr val="333333"/>
                </a:solidFill>
                <a:latin typeface="Meiryo UI" pitchFamily="34" charset="0"/>
                <a:ea typeface="Meiryo UI" pitchFamily="34" charset="-122"/>
                <a:cs typeface="Meiryo UI" pitchFamily="34" charset="-120"/>
              </a:rPr>
              <a:t>5年 CAGR の閾値 30%: FY32 の事業実態 EPS</a:t>
            </a:r>
            <a:endParaRPr lang="en-US" sz="950" dirty="0"/>
          </a:p>
          <a:p>
            <a:pPr marL="152400" indent="-152400">
              <a:spcAft>
                <a:spcPts val="400"/>
              </a:spcAft>
              <a:buSzPct val="100000"/>
              <a:buChar char=" "/>
            </a:pPr>
            <a:r>
              <a:rPr lang="en-US" sz="950" dirty="0">
                <a:solidFill>
                  <a:srgbClr val="333333"/>
                </a:solidFill>
                <a:latin typeface="Meiryo UI" pitchFamily="34" charset="0"/>
                <a:ea typeface="Meiryo UI" pitchFamily="34" charset="-122"/>
                <a:cs typeface="Meiryo UI" pitchFamily="34" charset="-120"/>
              </a:rPr>
              <a:t>25.6 ドル以上</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PER は 139.56 ÷ FY27 の事業実態 EPS(20.2 倍)</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第1版の評価は C(エンジン 22.1%)</a:t>
            </a:r>
            <a:endParaRPr lang="en-US" sz="950" dirty="0"/>
          </a:p>
        </p:txBody>
      </p:sp>
      <p:sp>
        <p:nvSpPr>
          <p:cNvPr id="29" name="ovl_takeaway_bg"/>
          <p:cNvSpPr/>
          <p:nvPr/>
        </p:nvSpPr>
        <p:spPr>
          <a:xfrm>
            <a:off x="8275320" y="4389120"/>
            <a:ext cx="3456432" cy="1143000"/>
          </a:xfrm>
          <a:prstGeom prst="rect">
            <a:avLst/>
          </a:prstGeom>
          <a:solidFill>
            <a:srgbClr val="EAF4EE"/>
          </a:solidFill>
          <a:ln w="12700">
            <a:solidFill>
              <a:srgbClr val="EAF4EE"/>
            </a:solidFill>
            <a:prstDash val="solid"/>
          </a:ln>
        </p:spPr>
      </p:sp>
      <p:sp>
        <p:nvSpPr>
          <p:cNvPr id="30" name="takeaway"/>
          <p:cNvSpPr txBox="1"/>
          <p:nvPr/>
        </p:nvSpPr>
        <p:spPr>
          <a:xfrm>
            <a:off x="8385048" y="4462272"/>
            <a:ext cx="3236976" cy="996696"/>
          </a:xfrm>
          <a:prstGeom prst="rect">
            <a:avLst/>
          </a:prstGeom>
          <a:noFill/>
          <a:ln/>
        </p:spPr>
        <p:txBody>
          <a:bodyPr wrap="square" lIns="508" tIns="508" rIns="508" bIns="508" rtlCol="0" anchor="ctr"/>
          <a:lstStyle/>
          <a:p>
            <a:pPr indent="0" marL="0">
              <a:buNone/>
            </a:pPr>
            <a:r>
              <a:rPr lang="en-US" sz="1050" b="1" dirty="0">
                <a:solidFill>
                  <a:srgbClr val="0E4D33"/>
                </a:solidFill>
                <a:latin typeface="Meiryo UI" pitchFamily="34" charset="0"/>
                <a:ea typeface="Meiryo UI" pitchFamily="34" charset="-122"/>
                <a:cs typeface="Meiryo UI" pitchFamily="34" charset="-120"/>
              </a:rPr>
              <a:t>数値は S の基準を満たすが、閾値の前後で余裕が薄いため B</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3-3 成長と割安度(条件6・7)(2/2)</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211582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21158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安い理由の検証(条件7)</a:t>
            </a:r>
            <a:endParaRPr lang="en-US" sz="1000" dirty="0"/>
          </a:p>
        </p:txBody>
      </p:sp>
      <p:sp>
        <p:nvSpPr>
          <p:cNvPr id="14" name="hdr_why"/>
          <p:cNvSpPr txBox="1"/>
          <p:nvPr/>
        </p:nvSpPr>
        <p:spPr>
          <a:xfrm>
            <a:off x="2719324" y="356616"/>
            <a:ext cx="901517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安さが市場の過大評価なら機会、事業と資金の数字で裏付けられるリスクなら罠。どちらかを分布で見分ける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株価が安い理由の大半は過大評価。倒産の道はなく(レバレッジ最大 4.4 倍)、</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本当のリスクは OpenAI 集中と格付けの閾値に限られるため A</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左から: 市場の疑い・市場の評価 → Oracle の事業 → 事業と資金の数字で判断。①〜④ は右と対応。株価は価値の分布の 9 パーセンタイル(1,500 通り)</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Investor Day 2026-10-28、需給エンジン第4.5版(calc/m10_mc.py・calc/out/m10_*.json、台帳 r8 J・K)、research2/R5_credit.md、research4/T2_company_rpo_capacity.md、research3/W2_gpu_economic_life.md、S&amp;P(2026-07)</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30</a:t>
            </a:r>
            <a:endParaRPr lang="en-US" sz="800" dirty="0"/>
          </a:p>
        </p:txBody>
      </p:sp>
      <p:sp>
        <p:nvSpPr>
          <p:cNvPr id="19" name="ovl_badge"/>
          <p:cNvSpPr/>
          <p:nvPr/>
        </p:nvSpPr>
        <p:spPr>
          <a:xfrm>
            <a:off x="10865815" y="649224"/>
            <a:ext cx="868680" cy="677570"/>
          </a:xfrm>
          <a:prstGeom prst="roundRect">
            <a:avLst>
              <a:gd name="adj" fmla="val 10796"/>
            </a:avLst>
          </a:prstGeom>
          <a:solidFill>
            <a:srgbClr val="197A56"/>
          </a:solidFill>
          <a:ln w="12700">
            <a:solidFill>
              <a:srgbClr val="197A56"/>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FFFFFF"/>
                </a:solidFill>
                <a:latin typeface="Meiryo UI" pitchFamily="34" charset="0"/>
                <a:ea typeface="Meiryo UI" pitchFamily="34" charset="-122"/>
                <a:cs typeface="Meiryo UI" pitchFamily="34" charset="-120"/>
              </a:rPr>
              <a:t>A</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FFFFFF"/>
                </a:solidFill>
                <a:latin typeface="Meiryo UI" pitchFamily="34" charset="0"/>
                <a:ea typeface="Meiryo UI" pitchFamily="34" charset="-122"/>
                <a:cs typeface="Meiryo UI" pitchFamily="34" charset="-120"/>
              </a:rPr>
              <a:t>条件7</a:t>
            </a:r>
            <a:endParaRPr lang="en-US" sz="800" dirty="0"/>
          </a:p>
        </p:txBody>
      </p:sp>
      <p:sp>
        <p:nvSpPr>
          <p:cNvPr id="22" name="bg_lane0"/>
          <p:cNvSpPr/>
          <p:nvPr/>
        </p:nvSpPr>
        <p:spPr>
          <a:xfrm>
            <a:off x="347472" y="1517904"/>
            <a:ext cx="2048256" cy="4005072"/>
          </a:xfrm>
          <a:prstGeom prst="rect">
            <a:avLst/>
          </a:prstGeom>
          <a:solidFill>
            <a:srgbClr val="F2F2F2"/>
          </a:solidFill>
          <a:ln w="12700">
            <a:solidFill>
              <a:srgbClr val="F2F2F2"/>
            </a:solidFill>
            <a:prstDash val="solid"/>
          </a:ln>
        </p:spPr>
      </p:sp>
      <p:sp>
        <p:nvSpPr>
          <p:cNvPr id="23" name="bg_laneh0"/>
          <p:cNvSpPr/>
          <p:nvPr/>
        </p:nvSpPr>
        <p:spPr>
          <a:xfrm>
            <a:off x="347472" y="1517904"/>
            <a:ext cx="2048256" cy="274320"/>
          </a:xfrm>
          <a:prstGeom prst="rect">
            <a:avLst/>
          </a:prstGeom>
          <a:solidFill>
            <a:srgbClr val="D9D9D9"/>
          </a:solidFill>
          <a:ln w="12700">
            <a:solidFill>
              <a:srgbClr val="D9D9D9"/>
            </a:solidFill>
            <a:prstDash val="solid"/>
          </a:ln>
        </p:spPr>
      </p:sp>
      <p:sp>
        <p:nvSpPr>
          <p:cNvPr id="24" name="bg_lanet0"/>
          <p:cNvSpPr txBox="1"/>
          <p:nvPr/>
        </p:nvSpPr>
        <p:spPr>
          <a:xfrm>
            <a:off x="347472" y="1517904"/>
            <a:ext cx="204825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市場の疑い・評価</a:t>
            </a:r>
            <a:endParaRPr lang="en-US" sz="950" dirty="0"/>
          </a:p>
        </p:txBody>
      </p:sp>
      <p:sp>
        <p:nvSpPr>
          <p:cNvPr id="25" name="bg_lane1"/>
          <p:cNvSpPr/>
          <p:nvPr/>
        </p:nvSpPr>
        <p:spPr>
          <a:xfrm>
            <a:off x="3387852" y="1517904"/>
            <a:ext cx="1956816" cy="4005072"/>
          </a:xfrm>
          <a:prstGeom prst="rect">
            <a:avLst/>
          </a:prstGeom>
          <a:solidFill>
            <a:srgbClr val="EAF4EE"/>
          </a:solidFill>
          <a:ln w="12700">
            <a:solidFill>
              <a:srgbClr val="EAF4EE"/>
            </a:solidFill>
            <a:prstDash val="solid"/>
          </a:ln>
        </p:spPr>
      </p:sp>
      <p:sp>
        <p:nvSpPr>
          <p:cNvPr id="26" name="bg_laneh1"/>
          <p:cNvSpPr/>
          <p:nvPr/>
        </p:nvSpPr>
        <p:spPr>
          <a:xfrm>
            <a:off x="3387852" y="1517904"/>
            <a:ext cx="1956816" cy="274320"/>
          </a:xfrm>
          <a:prstGeom prst="rect">
            <a:avLst/>
          </a:prstGeom>
          <a:solidFill>
            <a:srgbClr val="197A56"/>
          </a:solidFill>
          <a:ln w="12700">
            <a:solidFill>
              <a:srgbClr val="197A56"/>
            </a:solidFill>
            <a:prstDash val="solid"/>
          </a:ln>
        </p:spPr>
      </p:sp>
      <p:sp>
        <p:nvSpPr>
          <p:cNvPr id="27" name="bg_lanet1"/>
          <p:cNvSpPr txBox="1"/>
          <p:nvPr/>
        </p:nvSpPr>
        <p:spPr>
          <a:xfrm>
            <a:off x="3387852" y="1517904"/>
            <a:ext cx="1956816"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Oracle(疑いの対象)</a:t>
            </a:r>
            <a:endParaRPr lang="en-US" sz="950" dirty="0"/>
          </a:p>
        </p:txBody>
      </p:sp>
      <p:sp>
        <p:nvSpPr>
          <p:cNvPr id="28" name="bg_lane2"/>
          <p:cNvSpPr/>
          <p:nvPr/>
        </p:nvSpPr>
        <p:spPr>
          <a:xfrm>
            <a:off x="6336792" y="1517904"/>
            <a:ext cx="2048256" cy="4005072"/>
          </a:xfrm>
          <a:prstGeom prst="rect">
            <a:avLst/>
          </a:prstGeom>
          <a:solidFill>
            <a:srgbClr val="F2F2F2"/>
          </a:solidFill>
          <a:ln w="12700">
            <a:solidFill>
              <a:srgbClr val="F2F2F2"/>
            </a:solidFill>
            <a:prstDash val="solid"/>
          </a:ln>
        </p:spPr>
      </p:sp>
      <p:sp>
        <p:nvSpPr>
          <p:cNvPr id="29" name="bg_laneh2"/>
          <p:cNvSpPr/>
          <p:nvPr/>
        </p:nvSpPr>
        <p:spPr>
          <a:xfrm>
            <a:off x="6336792" y="1517904"/>
            <a:ext cx="2048256" cy="274320"/>
          </a:xfrm>
          <a:prstGeom prst="rect">
            <a:avLst/>
          </a:prstGeom>
          <a:solidFill>
            <a:srgbClr val="D9D9D9"/>
          </a:solidFill>
          <a:ln w="12700">
            <a:solidFill>
              <a:srgbClr val="D9D9D9"/>
            </a:solidFill>
            <a:prstDash val="solid"/>
          </a:ln>
        </p:spPr>
      </p:sp>
      <p:sp>
        <p:nvSpPr>
          <p:cNvPr id="30" name="bg_lanet2"/>
          <p:cNvSpPr txBox="1"/>
          <p:nvPr/>
        </p:nvSpPr>
        <p:spPr>
          <a:xfrm>
            <a:off x="6336792" y="1517904"/>
            <a:ext cx="204825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事業と資金の数字で判断</a:t>
            </a:r>
            <a:endParaRPr lang="en-US" sz="950" dirty="0"/>
          </a:p>
        </p:txBody>
      </p:sp>
      <p:sp>
        <p:nvSpPr>
          <p:cNvPr id="31" name="ovl_s23_e0_0"/>
          <p:cNvSpPr/>
          <p:nvPr/>
        </p:nvSpPr>
        <p:spPr>
          <a:xfrm>
            <a:off x="2286000" y="2336292"/>
            <a:ext cx="1211580" cy="914"/>
          </a:xfrm>
          <a:prstGeom prst="line">
            <a:avLst/>
          </a:prstGeom>
          <a:noFill/>
          <a:ln w="15875">
            <a:solidFill>
              <a:srgbClr val="C0392B"/>
            </a:solidFill>
            <a:prstDash val="dash"/>
            <a:tailEnd type="triangle"/>
          </a:ln>
        </p:spPr>
      </p:sp>
      <p:sp>
        <p:nvSpPr>
          <p:cNvPr id="32" name="ovl_s23_e1_0"/>
          <p:cNvSpPr/>
          <p:nvPr/>
        </p:nvSpPr>
        <p:spPr>
          <a:xfrm>
            <a:off x="5234940" y="2336292"/>
            <a:ext cx="1211580" cy="914"/>
          </a:xfrm>
          <a:prstGeom prst="line">
            <a:avLst/>
          </a:prstGeom>
          <a:noFill/>
          <a:ln w="12700">
            <a:solidFill>
              <a:srgbClr val="767676"/>
            </a:solidFill>
            <a:prstDash val="sysDash"/>
            <a:tailEnd type="triangle"/>
          </a:ln>
        </p:spPr>
      </p:sp>
      <p:sp>
        <p:nvSpPr>
          <p:cNvPr id="33" name="ovl_s23_e2_0"/>
          <p:cNvSpPr/>
          <p:nvPr/>
        </p:nvSpPr>
        <p:spPr>
          <a:xfrm>
            <a:off x="2286000" y="3241548"/>
            <a:ext cx="1211580" cy="914"/>
          </a:xfrm>
          <a:prstGeom prst="line">
            <a:avLst/>
          </a:prstGeom>
          <a:noFill/>
          <a:ln w="15875">
            <a:solidFill>
              <a:srgbClr val="C0392B"/>
            </a:solidFill>
            <a:prstDash val="dash"/>
            <a:tailEnd type="triangle"/>
          </a:ln>
        </p:spPr>
      </p:sp>
      <p:sp>
        <p:nvSpPr>
          <p:cNvPr id="34" name="ovl_s23_e3_0"/>
          <p:cNvSpPr/>
          <p:nvPr/>
        </p:nvSpPr>
        <p:spPr>
          <a:xfrm>
            <a:off x="5234940" y="3241548"/>
            <a:ext cx="1211580" cy="914"/>
          </a:xfrm>
          <a:prstGeom prst="line">
            <a:avLst/>
          </a:prstGeom>
          <a:noFill/>
          <a:ln w="12700">
            <a:solidFill>
              <a:srgbClr val="767676"/>
            </a:solidFill>
            <a:prstDash val="sysDash"/>
            <a:tailEnd type="triangle"/>
          </a:ln>
        </p:spPr>
      </p:sp>
      <p:sp>
        <p:nvSpPr>
          <p:cNvPr id="35" name="ovl_s23_e4_0"/>
          <p:cNvSpPr/>
          <p:nvPr/>
        </p:nvSpPr>
        <p:spPr>
          <a:xfrm>
            <a:off x="2286000" y="4146804"/>
            <a:ext cx="1211580" cy="914"/>
          </a:xfrm>
          <a:prstGeom prst="line">
            <a:avLst/>
          </a:prstGeom>
          <a:noFill/>
          <a:ln w="15875">
            <a:solidFill>
              <a:srgbClr val="C0392B"/>
            </a:solidFill>
            <a:prstDash val="dash"/>
            <a:tailEnd type="triangle"/>
          </a:ln>
        </p:spPr>
      </p:sp>
      <p:sp>
        <p:nvSpPr>
          <p:cNvPr id="36" name="ovl_s23_e5_0"/>
          <p:cNvSpPr/>
          <p:nvPr/>
        </p:nvSpPr>
        <p:spPr>
          <a:xfrm>
            <a:off x="5234940" y="4146804"/>
            <a:ext cx="1211580" cy="914"/>
          </a:xfrm>
          <a:prstGeom prst="line">
            <a:avLst/>
          </a:prstGeom>
          <a:noFill/>
          <a:ln w="15875">
            <a:solidFill>
              <a:srgbClr val="C0392B"/>
            </a:solidFill>
            <a:prstDash val="dash"/>
            <a:tailEnd type="triangle"/>
          </a:ln>
        </p:spPr>
      </p:sp>
      <p:sp>
        <p:nvSpPr>
          <p:cNvPr id="37" name="ovl_s23_e6_0"/>
          <p:cNvSpPr/>
          <p:nvPr/>
        </p:nvSpPr>
        <p:spPr>
          <a:xfrm>
            <a:off x="2286000" y="5052060"/>
            <a:ext cx="1211580" cy="914"/>
          </a:xfrm>
          <a:prstGeom prst="line">
            <a:avLst/>
          </a:prstGeom>
          <a:noFill/>
          <a:ln w="15875">
            <a:solidFill>
              <a:srgbClr val="C0392B"/>
            </a:solidFill>
            <a:prstDash val="dash"/>
            <a:tailEnd type="triangle"/>
          </a:ln>
        </p:spPr>
      </p:sp>
      <p:sp>
        <p:nvSpPr>
          <p:cNvPr id="38" name="ovl_s23_e7_0"/>
          <p:cNvSpPr/>
          <p:nvPr/>
        </p:nvSpPr>
        <p:spPr>
          <a:xfrm>
            <a:off x="5234940" y="5052060"/>
            <a:ext cx="1211580" cy="914"/>
          </a:xfrm>
          <a:prstGeom prst="line">
            <a:avLst/>
          </a:prstGeom>
          <a:noFill/>
          <a:ln w="15875">
            <a:solidFill>
              <a:srgbClr val="C0392B"/>
            </a:solidFill>
            <a:prstDash val="dash"/>
            <a:tailEnd type="triangle"/>
          </a:ln>
        </p:spPr>
      </p:sp>
      <p:sp>
        <p:nvSpPr>
          <p:cNvPr id="39" name="ovl_s23_n_d1"/>
          <p:cNvSpPr/>
          <p:nvPr/>
        </p:nvSpPr>
        <p:spPr>
          <a:xfrm>
            <a:off x="457200" y="1984248"/>
            <a:ext cx="1828800" cy="704088"/>
          </a:xfrm>
          <a:prstGeom prst="roundRect">
            <a:avLst>
              <a:gd name="adj" fmla="val 7792"/>
            </a:avLst>
          </a:prstGeom>
          <a:solidFill>
            <a:srgbClr val="FFFFFF"/>
          </a:solidFill>
          <a:ln w="9525">
            <a:solidFill>
              <a:srgbClr val="767676"/>
            </a:solidFill>
            <a:prstDash val="solid"/>
          </a:ln>
        </p:spPr>
      </p:sp>
      <p:sp>
        <p:nvSpPr>
          <p:cNvPr id="40" name="ovl_s23_nt_d1"/>
          <p:cNvSpPr txBox="1"/>
          <p:nvPr/>
        </p:nvSpPr>
        <p:spPr>
          <a:xfrm>
            <a:off x="493776" y="2011680"/>
            <a:ext cx="17556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GPU 寿命の悲観</a:t>
            </a:r>
            <a:endParaRPr lang="en-US" sz="1000" dirty="0"/>
          </a:p>
        </p:txBody>
      </p:sp>
      <p:sp>
        <p:nvSpPr>
          <p:cNvPr id="41" name="ovl_s23_ns_d1"/>
          <p:cNvSpPr txBox="1"/>
          <p:nvPr/>
        </p:nvSpPr>
        <p:spPr>
          <a:xfrm>
            <a:off x="502920" y="2217420"/>
            <a:ext cx="173736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「2〜3 年で陳腐化」</a:t>
            </a:r>
            <a:endParaRPr lang="en-US" sz="850" dirty="0"/>
          </a:p>
        </p:txBody>
      </p:sp>
      <p:sp>
        <p:nvSpPr>
          <p:cNvPr id="42" name="ovl_s23_n_d2"/>
          <p:cNvSpPr/>
          <p:nvPr/>
        </p:nvSpPr>
        <p:spPr>
          <a:xfrm>
            <a:off x="457200" y="2889504"/>
            <a:ext cx="1828800" cy="704088"/>
          </a:xfrm>
          <a:prstGeom prst="roundRect">
            <a:avLst>
              <a:gd name="adj" fmla="val 7792"/>
            </a:avLst>
          </a:prstGeom>
          <a:solidFill>
            <a:srgbClr val="FFFFFF"/>
          </a:solidFill>
          <a:ln w="9525">
            <a:solidFill>
              <a:srgbClr val="767676"/>
            </a:solidFill>
            <a:prstDash val="solid"/>
          </a:ln>
        </p:spPr>
      </p:sp>
      <p:sp>
        <p:nvSpPr>
          <p:cNvPr id="43" name="ovl_s23_nt_d2"/>
          <p:cNvSpPr txBox="1"/>
          <p:nvPr/>
        </p:nvSpPr>
        <p:spPr>
          <a:xfrm>
            <a:off x="493776" y="2916936"/>
            <a:ext cx="17556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FCF の J カーブ</a:t>
            </a:r>
            <a:endParaRPr lang="en-US" sz="1000" dirty="0"/>
          </a:p>
        </p:txBody>
      </p:sp>
      <p:sp>
        <p:nvSpPr>
          <p:cNvPr id="44" name="ovl_s23_ns_d2"/>
          <p:cNvSpPr txBox="1"/>
          <p:nvPr/>
        </p:nvSpPr>
        <p:spPr>
          <a:xfrm>
            <a:off x="502920" y="3122676"/>
            <a:ext cx="173736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FY29 まで赤字</a:t>
            </a:r>
            <a:endParaRPr lang="en-US" sz="850" dirty="0"/>
          </a:p>
        </p:txBody>
      </p:sp>
      <p:sp>
        <p:nvSpPr>
          <p:cNvPr id="45" name="ovl_s23_n_d3"/>
          <p:cNvSpPr/>
          <p:nvPr/>
        </p:nvSpPr>
        <p:spPr>
          <a:xfrm>
            <a:off x="457200" y="3794760"/>
            <a:ext cx="1828800" cy="704088"/>
          </a:xfrm>
          <a:prstGeom prst="roundRect">
            <a:avLst>
              <a:gd name="adj" fmla="val 7792"/>
            </a:avLst>
          </a:prstGeom>
          <a:solidFill>
            <a:srgbClr val="FFFFFF"/>
          </a:solidFill>
          <a:ln w="19050">
            <a:solidFill>
              <a:srgbClr val="C0392B"/>
            </a:solidFill>
            <a:prstDash val="solid"/>
          </a:ln>
        </p:spPr>
      </p:sp>
      <p:sp>
        <p:nvSpPr>
          <p:cNvPr id="46" name="ovl_s23_nt_d3"/>
          <p:cNvSpPr txBox="1"/>
          <p:nvPr/>
        </p:nvSpPr>
        <p:spPr>
          <a:xfrm>
            <a:off x="493776" y="3822192"/>
            <a:ext cx="175564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OpenAI への集中</a:t>
            </a:r>
            <a:endParaRPr lang="en-US" sz="1000" dirty="0"/>
          </a:p>
        </p:txBody>
      </p:sp>
      <p:sp>
        <p:nvSpPr>
          <p:cNvPr id="47" name="ovl_s23_ns_d3"/>
          <p:cNvSpPr txBox="1"/>
          <p:nvPr/>
        </p:nvSpPr>
        <p:spPr>
          <a:xfrm>
            <a:off x="502920" y="4027932"/>
            <a:ext cx="173736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受注残の約 45%</a:t>
            </a:r>
            <a:endParaRPr lang="en-US" sz="850" dirty="0"/>
          </a:p>
        </p:txBody>
      </p:sp>
      <p:sp>
        <p:nvSpPr>
          <p:cNvPr id="48" name="ovl_s23_n_d4"/>
          <p:cNvSpPr/>
          <p:nvPr/>
        </p:nvSpPr>
        <p:spPr>
          <a:xfrm>
            <a:off x="457200" y="4700016"/>
            <a:ext cx="1828800" cy="704088"/>
          </a:xfrm>
          <a:prstGeom prst="roundRect">
            <a:avLst>
              <a:gd name="adj" fmla="val 7792"/>
            </a:avLst>
          </a:prstGeom>
          <a:solidFill>
            <a:srgbClr val="FFFFFF"/>
          </a:solidFill>
          <a:ln w="9525">
            <a:solidFill>
              <a:srgbClr val="767676"/>
            </a:solidFill>
            <a:prstDash val="solid"/>
          </a:ln>
        </p:spPr>
      </p:sp>
      <p:sp>
        <p:nvSpPr>
          <p:cNvPr id="49" name="ovl_s23_nt_d4"/>
          <p:cNvSpPr txBox="1"/>
          <p:nvPr/>
        </p:nvSpPr>
        <p:spPr>
          <a:xfrm>
            <a:off x="493776" y="4727448"/>
            <a:ext cx="1755648" cy="356616"/>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CDS・社債</a:t>
            </a:r>
            <a:endParaRPr lang="en-US" sz="900" dirty="0"/>
          </a:p>
          <a:p>
            <a:pPr algn="ctr" indent="0" marL="0">
              <a:buNone/>
            </a:pPr>
            <a:r>
              <a:rPr lang="en-US" sz="900" b="1" dirty="0">
                <a:solidFill>
                  <a:srgbClr val="0E4D33"/>
                </a:solidFill>
                <a:latin typeface="Meiryo UI" pitchFamily="34" charset="0"/>
                <a:ea typeface="Meiryo UI" pitchFamily="34" charset="-122"/>
                <a:cs typeface="Meiryo UI" pitchFamily="34" charset="-120"/>
              </a:rPr>
              <a:t>(市場の評価)</a:t>
            </a:r>
            <a:endParaRPr lang="en-US" sz="900" dirty="0"/>
          </a:p>
        </p:txBody>
      </p:sp>
      <p:sp>
        <p:nvSpPr>
          <p:cNvPr id="50" name="ovl_s23_ns_d4"/>
          <p:cNvSpPr txBox="1"/>
          <p:nvPr/>
        </p:nvSpPr>
        <p:spPr>
          <a:xfrm>
            <a:off x="502920" y="5084064"/>
            <a:ext cx="1737360" cy="29260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CDS 277bp・社債 263bp</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融資銀行のヘッジでも広がる</a:t>
            </a:r>
            <a:endParaRPr lang="en-US" sz="850" dirty="0"/>
          </a:p>
        </p:txBody>
      </p:sp>
      <p:sp>
        <p:nvSpPr>
          <p:cNvPr id="51" name="ovl_s23_n_o1"/>
          <p:cNvSpPr/>
          <p:nvPr/>
        </p:nvSpPr>
        <p:spPr>
          <a:xfrm>
            <a:off x="3497580" y="1984248"/>
            <a:ext cx="1737360" cy="704088"/>
          </a:xfrm>
          <a:prstGeom prst="roundRect">
            <a:avLst>
              <a:gd name="adj" fmla="val 7792"/>
            </a:avLst>
          </a:prstGeom>
          <a:solidFill>
            <a:srgbClr val="FFFFFF"/>
          </a:solidFill>
          <a:ln w="19050">
            <a:solidFill>
              <a:srgbClr val="197A56"/>
            </a:solidFill>
            <a:prstDash val="solid"/>
          </a:ln>
        </p:spPr>
      </p:sp>
      <p:sp>
        <p:nvSpPr>
          <p:cNvPr id="52" name="ovl_s23_nt_o1"/>
          <p:cNvSpPr txBox="1"/>
          <p:nvPr/>
        </p:nvSpPr>
        <p:spPr>
          <a:xfrm>
            <a:off x="3534156" y="2011680"/>
            <a:ext cx="16642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GPU(自社調達)</a:t>
            </a:r>
            <a:endParaRPr lang="en-US" sz="1000" dirty="0"/>
          </a:p>
        </p:txBody>
      </p:sp>
      <p:sp>
        <p:nvSpPr>
          <p:cNvPr id="53" name="ovl_s23_ns_o1"/>
          <p:cNvSpPr txBox="1"/>
          <p:nvPr/>
        </p:nvSpPr>
        <p:spPr>
          <a:xfrm>
            <a:off x="3543300" y="2217420"/>
            <a:ext cx="164592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6 年償却</a:t>
            </a:r>
            <a:endParaRPr lang="en-US" sz="850" dirty="0"/>
          </a:p>
        </p:txBody>
      </p:sp>
      <p:sp>
        <p:nvSpPr>
          <p:cNvPr id="54" name="ovl_s23_n_o2"/>
          <p:cNvSpPr/>
          <p:nvPr/>
        </p:nvSpPr>
        <p:spPr>
          <a:xfrm>
            <a:off x="3497580" y="2889504"/>
            <a:ext cx="1737360" cy="704088"/>
          </a:xfrm>
          <a:prstGeom prst="roundRect">
            <a:avLst>
              <a:gd name="adj" fmla="val 7792"/>
            </a:avLst>
          </a:prstGeom>
          <a:solidFill>
            <a:srgbClr val="FFFFFF"/>
          </a:solidFill>
          <a:ln w="19050">
            <a:solidFill>
              <a:srgbClr val="197A56"/>
            </a:solidFill>
            <a:prstDash val="solid"/>
          </a:ln>
        </p:spPr>
      </p:sp>
      <p:sp>
        <p:nvSpPr>
          <p:cNvPr id="55" name="ovl_s23_nt_o2"/>
          <p:cNvSpPr txBox="1"/>
          <p:nvPr/>
        </p:nvSpPr>
        <p:spPr>
          <a:xfrm>
            <a:off x="3534156" y="2916936"/>
            <a:ext cx="16642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capex</a:t>
            </a:r>
            <a:endParaRPr lang="en-US" sz="1000" dirty="0"/>
          </a:p>
        </p:txBody>
      </p:sp>
      <p:sp>
        <p:nvSpPr>
          <p:cNvPr id="56" name="ovl_s23_ns_o2"/>
          <p:cNvSpPr txBox="1"/>
          <p:nvPr/>
        </p:nvSpPr>
        <p:spPr>
          <a:xfrm>
            <a:off x="3543300" y="3122676"/>
            <a:ext cx="164592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FY27</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900〜950 億ドル</a:t>
            </a:r>
            <a:endParaRPr lang="en-US" sz="850" dirty="0"/>
          </a:p>
        </p:txBody>
      </p:sp>
      <p:sp>
        <p:nvSpPr>
          <p:cNvPr id="57" name="ovl_s23_n_o3"/>
          <p:cNvSpPr/>
          <p:nvPr/>
        </p:nvSpPr>
        <p:spPr>
          <a:xfrm>
            <a:off x="3497580" y="3794760"/>
            <a:ext cx="1737360" cy="704088"/>
          </a:xfrm>
          <a:prstGeom prst="roundRect">
            <a:avLst>
              <a:gd name="adj" fmla="val 7792"/>
            </a:avLst>
          </a:prstGeom>
          <a:solidFill>
            <a:srgbClr val="FFFFFF"/>
          </a:solidFill>
          <a:ln w="19050">
            <a:solidFill>
              <a:srgbClr val="197A56"/>
            </a:solidFill>
            <a:prstDash val="solid"/>
          </a:ln>
        </p:spPr>
      </p:sp>
      <p:sp>
        <p:nvSpPr>
          <p:cNvPr id="58" name="ovl_s23_nt_o3"/>
          <p:cNvSpPr txBox="1"/>
          <p:nvPr/>
        </p:nvSpPr>
        <p:spPr>
          <a:xfrm>
            <a:off x="3534156" y="3822192"/>
            <a:ext cx="16642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受注残</a:t>
            </a:r>
            <a:endParaRPr lang="en-US" sz="1000" dirty="0"/>
          </a:p>
        </p:txBody>
      </p:sp>
      <p:sp>
        <p:nvSpPr>
          <p:cNvPr id="59" name="ovl_s23_ns_o3"/>
          <p:cNvSpPr txBox="1"/>
          <p:nvPr/>
        </p:nvSpPr>
        <p:spPr>
          <a:xfrm>
            <a:off x="3543300" y="4027932"/>
            <a:ext cx="164592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6,640 億ドル</a:t>
            </a:r>
            <a:endParaRPr lang="en-US" sz="850" dirty="0"/>
          </a:p>
        </p:txBody>
      </p:sp>
      <p:sp>
        <p:nvSpPr>
          <p:cNvPr id="60" name="ovl_s23_n_o4"/>
          <p:cNvSpPr/>
          <p:nvPr/>
        </p:nvSpPr>
        <p:spPr>
          <a:xfrm>
            <a:off x="3497580" y="4700016"/>
            <a:ext cx="1737360" cy="704088"/>
          </a:xfrm>
          <a:prstGeom prst="roundRect">
            <a:avLst>
              <a:gd name="adj" fmla="val 7792"/>
            </a:avLst>
          </a:prstGeom>
          <a:solidFill>
            <a:srgbClr val="FFFFFF"/>
          </a:solidFill>
          <a:ln w="19050">
            <a:solidFill>
              <a:srgbClr val="197A56"/>
            </a:solidFill>
            <a:prstDash val="solid"/>
          </a:ln>
        </p:spPr>
      </p:sp>
      <p:sp>
        <p:nvSpPr>
          <p:cNvPr id="61" name="ovl_s23_nt_o4"/>
          <p:cNvSpPr txBox="1"/>
          <p:nvPr/>
        </p:nvSpPr>
        <p:spPr>
          <a:xfrm>
            <a:off x="3534156" y="4727448"/>
            <a:ext cx="16642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借入と格付け</a:t>
            </a:r>
            <a:endParaRPr lang="en-US" sz="1000" dirty="0"/>
          </a:p>
        </p:txBody>
      </p:sp>
      <p:sp>
        <p:nvSpPr>
          <p:cNvPr id="62" name="ovl_s23_ns_o4"/>
          <p:cNvSpPr txBox="1"/>
          <p:nvPr/>
        </p:nvSpPr>
        <p:spPr>
          <a:xfrm>
            <a:off x="3543300" y="4933188"/>
            <a:ext cx="164592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BBB−(S&amp;P)</a:t>
            </a:r>
            <a:endParaRPr lang="en-US" sz="850" dirty="0"/>
          </a:p>
        </p:txBody>
      </p:sp>
      <p:sp>
        <p:nvSpPr>
          <p:cNvPr id="63" name="ovl_s23_n_e1"/>
          <p:cNvSpPr/>
          <p:nvPr/>
        </p:nvSpPr>
        <p:spPr>
          <a:xfrm>
            <a:off x="6446520" y="1984248"/>
            <a:ext cx="1828800" cy="704088"/>
          </a:xfrm>
          <a:prstGeom prst="roundRect">
            <a:avLst>
              <a:gd name="adj" fmla="val 7792"/>
            </a:avLst>
          </a:prstGeom>
          <a:solidFill>
            <a:srgbClr val="EAF4EE"/>
          </a:solidFill>
          <a:ln w="9525">
            <a:solidFill>
              <a:srgbClr val="86C99B"/>
            </a:solidFill>
            <a:prstDash val="solid"/>
          </a:ln>
        </p:spPr>
      </p:sp>
      <p:sp>
        <p:nvSpPr>
          <p:cNvPr id="64" name="ovl_s23_nt_e1"/>
          <p:cNvSpPr txBox="1"/>
          <p:nvPr/>
        </p:nvSpPr>
        <p:spPr>
          <a:xfrm>
            <a:off x="6483096" y="2011680"/>
            <a:ext cx="17556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更新・再販 +20%</a:t>
            </a:r>
            <a:endParaRPr lang="en-US" sz="1000" dirty="0"/>
          </a:p>
        </p:txBody>
      </p:sp>
      <p:sp>
        <p:nvSpPr>
          <p:cNvPr id="65" name="ovl_s23_ns_e1"/>
          <p:cNvSpPr txBox="1"/>
          <p:nvPr/>
        </p:nvSpPr>
        <p:spPr>
          <a:xfrm>
            <a:off x="6492240" y="2217420"/>
            <a:ext cx="173736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H100 を元の 95% で</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再契約した例</a:t>
            </a:r>
            <a:endParaRPr lang="en-US" sz="850" dirty="0"/>
          </a:p>
        </p:txBody>
      </p:sp>
      <p:sp>
        <p:nvSpPr>
          <p:cNvPr id="66" name="ovl_s23_n_e2"/>
          <p:cNvSpPr/>
          <p:nvPr/>
        </p:nvSpPr>
        <p:spPr>
          <a:xfrm>
            <a:off x="6446520" y="2889504"/>
            <a:ext cx="1828800" cy="704088"/>
          </a:xfrm>
          <a:prstGeom prst="roundRect">
            <a:avLst>
              <a:gd name="adj" fmla="val 7792"/>
            </a:avLst>
          </a:prstGeom>
          <a:solidFill>
            <a:srgbClr val="EAF4EE"/>
          </a:solidFill>
          <a:ln w="9525">
            <a:solidFill>
              <a:srgbClr val="86C99B"/>
            </a:solidFill>
            <a:prstDash val="solid"/>
          </a:ln>
        </p:spPr>
      </p:sp>
      <p:sp>
        <p:nvSpPr>
          <p:cNvPr id="67" name="ovl_s23_nt_e2"/>
          <p:cNvSpPr txBox="1"/>
          <p:nvPr/>
        </p:nvSpPr>
        <p:spPr>
          <a:xfrm>
            <a:off x="6483096" y="2916936"/>
            <a:ext cx="17556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会社の資金計画</a:t>
            </a:r>
            <a:endParaRPr lang="en-US" sz="1000" dirty="0"/>
          </a:p>
        </p:txBody>
      </p:sp>
      <p:sp>
        <p:nvSpPr>
          <p:cNvPr id="68" name="ovl_s23_ns_e2"/>
          <p:cNvSpPr txBox="1"/>
          <p:nvPr/>
        </p:nvSpPr>
        <p:spPr>
          <a:xfrm>
            <a:off x="6492240" y="3122676"/>
            <a:ext cx="173736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FY29 FCF 300 億以上</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追加調達 200 億が上限</a:t>
            </a:r>
            <a:endParaRPr lang="en-US" sz="850" dirty="0"/>
          </a:p>
        </p:txBody>
      </p:sp>
      <p:sp>
        <p:nvSpPr>
          <p:cNvPr id="69" name="ovl_s23_n_e3"/>
          <p:cNvSpPr/>
          <p:nvPr/>
        </p:nvSpPr>
        <p:spPr>
          <a:xfrm>
            <a:off x="6446520" y="3794760"/>
            <a:ext cx="1828800" cy="704088"/>
          </a:xfrm>
          <a:prstGeom prst="roundRect">
            <a:avLst>
              <a:gd name="adj" fmla="val 7792"/>
            </a:avLst>
          </a:prstGeom>
          <a:solidFill>
            <a:srgbClr val="FFFFFF"/>
          </a:solidFill>
          <a:ln w="19050">
            <a:solidFill>
              <a:srgbClr val="C0392B"/>
            </a:solidFill>
            <a:prstDash val="solid"/>
          </a:ln>
        </p:spPr>
      </p:sp>
      <p:sp>
        <p:nvSpPr>
          <p:cNvPr id="70" name="ovl_s23_nt_e3"/>
          <p:cNvSpPr txBox="1"/>
          <p:nvPr/>
        </p:nvSpPr>
        <p:spPr>
          <a:xfrm>
            <a:off x="6483096" y="3822192"/>
            <a:ext cx="175564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OpenAI の資金</a:t>
            </a:r>
            <a:endParaRPr lang="en-US" sz="1000" dirty="0"/>
          </a:p>
        </p:txBody>
      </p:sp>
      <p:sp>
        <p:nvSpPr>
          <p:cNvPr id="71" name="ovl_s23_ns_e3"/>
          <p:cNvSpPr txBox="1"/>
          <p:nvPr/>
        </p:nvSpPr>
        <p:spPr>
          <a:xfrm>
            <a:off x="6492240" y="4027932"/>
            <a:ext cx="173736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2026〜30 年の FCF</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累計 −2,780 億ドル</a:t>
            </a:r>
            <a:endParaRPr lang="en-US" sz="850" dirty="0"/>
          </a:p>
        </p:txBody>
      </p:sp>
      <p:sp>
        <p:nvSpPr>
          <p:cNvPr id="72" name="ovl_s23_n_e4"/>
          <p:cNvSpPr/>
          <p:nvPr/>
        </p:nvSpPr>
        <p:spPr>
          <a:xfrm>
            <a:off x="6446520" y="4700016"/>
            <a:ext cx="1828800" cy="704088"/>
          </a:xfrm>
          <a:prstGeom prst="roundRect">
            <a:avLst>
              <a:gd name="adj" fmla="val 7792"/>
            </a:avLst>
          </a:prstGeom>
          <a:solidFill>
            <a:srgbClr val="FFFFFF"/>
          </a:solidFill>
          <a:ln w="19050">
            <a:solidFill>
              <a:srgbClr val="C0392B"/>
            </a:solidFill>
            <a:prstDash val="solid"/>
          </a:ln>
        </p:spPr>
      </p:sp>
      <p:sp>
        <p:nvSpPr>
          <p:cNvPr id="73" name="ovl_s23_nt_e4"/>
          <p:cNvSpPr txBox="1"/>
          <p:nvPr/>
        </p:nvSpPr>
        <p:spPr>
          <a:xfrm>
            <a:off x="6483096" y="4727448"/>
            <a:ext cx="175564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S&amp;P の閾値</a:t>
            </a:r>
            <a:endParaRPr lang="en-US" sz="1000" dirty="0"/>
          </a:p>
        </p:txBody>
      </p:sp>
      <p:sp>
        <p:nvSpPr>
          <p:cNvPr id="74" name="ovl_s23_ns_e4"/>
          <p:cNvSpPr txBox="1"/>
          <p:nvPr/>
        </p:nvSpPr>
        <p:spPr>
          <a:xfrm>
            <a:off x="6492240" y="4933188"/>
            <a:ext cx="173736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FY29 までに FOCF 黒字</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建設の遅れで一時 BB+</a:t>
            </a:r>
            <a:endParaRPr lang="en-US" sz="850" dirty="0"/>
          </a:p>
        </p:txBody>
      </p:sp>
      <p:sp>
        <p:nvSpPr>
          <p:cNvPr id="75" name="ovl_s23_lab0"/>
          <p:cNvSpPr txBox="1"/>
          <p:nvPr/>
        </p:nvSpPr>
        <p:spPr>
          <a:xfrm>
            <a:off x="2545461" y="2103120"/>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寿命を疑う</a:t>
            </a:r>
            <a:endParaRPr lang="en-US" sz="850" dirty="0"/>
          </a:p>
        </p:txBody>
      </p:sp>
      <p:sp>
        <p:nvSpPr>
          <p:cNvPr id="76" name="ovl_s23_lab1"/>
          <p:cNvSpPr txBox="1"/>
          <p:nvPr/>
        </p:nvSpPr>
        <p:spPr>
          <a:xfrm>
            <a:off x="5593499" y="2103120"/>
            <a:ext cx="494462"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767676"/>
                </a:solidFill>
                <a:latin typeface="Meiryo UI" pitchFamily="34" charset="0"/>
                <a:ea typeface="Meiryo UI" pitchFamily="34" charset="-122"/>
                <a:cs typeface="Meiryo UI" pitchFamily="34" charset="-120"/>
              </a:rPr>
              <a:t>① </a:t>
            </a:r>
            <a:r>
              <a:rPr lang="en-US" sz="850" dirty="0">
                <a:solidFill>
                  <a:srgbClr val="767676"/>
                </a:solidFill>
                <a:latin typeface="Meiryo UI" pitchFamily="34" charset="0"/>
                <a:ea typeface="Meiryo UI" pitchFamily="34" charset="-122"/>
                <a:cs typeface="Meiryo UI" pitchFamily="34" charset="-120"/>
              </a:rPr>
              <a:t>反証</a:t>
            </a:r>
            <a:endParaRPr lang="en-US" sz="850" dirty="0"/>
          </a:p>
        </p:txBody>
      </p:sp>
      <p:sp>
        <p:nvSpPr>
          <p:cNvPr id="77" name="ovl_s23_lab2"/>
          <p:cNvSpPr txBox="1"/>
          <p:nvPr/>
        </p:nvSpPr>
        <p:spPr>
          <a:xfrm>
            <a:off x="2545461" y="3008376"/>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赤字を疑う</a:t>
            </a:r>
            <a:endParaRPr lang="en-US" sz="850" dirty="0"/>
          </a:p>
        </p:txBody>
      </p:sp>
      <p:sp>
        <p:nvSpPr>
          <p:cNvPr id="78" name="ovl_s23_lab3"/>
          <p:cNvSpPr txBox="1"/>
          <p:nvPr/>
        </p:nvSpPr>
        <p:spPr>
          <a:xfrm>
            <a:off x="5535206" y="3008376"/>
            <a:ext cx="611048"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767676"/>
                </a:solidFill>
                <a:latin typeface="Meiryo UI" pitchFamily="34" charset="0"/>
                <a:ea typeface="Meiryo UI" pitchFamily="34" charset="-122"/>
                <a:cs typeface="Meiryo UI" pitchFamily="34" charset="-120"/>
              </a:rPr>
              <a:t>② </a:t>
            </a:r>
            <a:r>
              <a:rPr lang="en-US" sz="850" dirty="0">
                <a:solidFill>
                  <a:srgbClr val="767676"/>
                </a:solidFill>
                <a:latin typeface="Meiryo UI" pitchFamily="34" charset="0"/>
                <a:ea typeface="Meiryo UI" pitchFamily="34" charset="-122"/>
                <a:cs typeface="Meiryo UI" pitchFamily="34" charset="-120"/>
              </a:rPr>
              <a:t>裏付け</a:t>
            </a:r>
            <a:endParaRPr lang="en-US" sz="850" dirty="0"/>
          </a:p>
        </p:txBody>
      </p:sp>
      <p:sp>
        <p:nvSpPr>
          <p:cNvPr id="79" name="ovl_s23_lab4"/>
          <p:cNvSpPr txBox="1"/>
          <p:nvPr/>
        </p:nvSpPr>
        <p:spPr>
          <a:xfrm>
            <a:off x="2545461" y="3913632"/>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集中を疑う</a:t>
            </a:r>
            <a:endParaRPr lang="en-US" sz="850" dirty="0"/>
          </a:p>
        </p:txBody>
      </p:sp>
      <p:sp>
        <p:nvSpPr>
          <p:cNvPr id="80" name="ovl_s23_lab5"/>
          <p:cNvSpPr txBox="1"/>
          <p:nvPr/>
        </p:nvSpPr>
        <p:spPr>
          <a:xfrm>
            <a:off x="5429250" y="3771900"/>
            <a:ext cx="822960" cy="347472"/>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C0392B"/>
                </a:solidFill>
                <a:latin typeface="Meiryo UI" pitchFamily="34" charset="0"/>
                <a:ea typeface="Meiryo UI" pitchFamily="34" charset="-122"/>
                <a:cs typeface="Meiryo UI" pitchFamily="34" charset="-120"/>
              </a:rPr>
              <a:t>③ </a:t>
            </a:r>
            <a:r>
              <a:rPr lang="en-US" sz="850" dirty="0">
                <a:solidFill>
                  <a:srgbClr val="C0392B"/>
                </a:solidFill>
                <a:latin typeface="Meiryo UI" pitchFamily="34" charset="0"/>
                <a:ea typeface="Meiryo UI" pitchFamily="34" charset="-122"/>
                <a:cs typeface="Meiryo UI" pitchFamily="34" charset="-120"/>
              </a:rPr>
              <a:t>支払いは調達頼み</a:t>
            </a:r>
            <a:endParaRPr lang="en-US" sz="850" dirty="0"/>
          </a:p>
        </p:txBody>
      </p:sp>
      <p:sp>
        <p:nvSpPr>
          <p:cNvPr id="81" name="ovl_s23_lab6"/>
          <p:cNvSpPr txBox="1"/>
          <p:nvPr/>
        </p:nvSpPr>
        <p:spPr>
          <a:xfrm>
            <a:off x="2545461" y="4818888"/>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信用を疑う</a:t>
            </a:r>
            <a:endParaRPr lang="en-US" sz="850" dirty="0"/>
          </a:p>
        </p:txBody>
      </p:sp>
      <p:sp>
        <p:nvSpPr>
          <p:cNvPr id="82" name="ovl_s23_lab7"/>
          <p:cNvSpPr txBox="1"/>
          <p:nvPr/>
        </p:nvSpPr>
        <p:spPr>
          <a:xfrm>
            <a:off x="5360327" y="4818888"/>
            <a:ext cx="960806"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C0392B"/>
                </a:solidFill>
                <a:latin typeface="Meiryo UI" pitchFamily="34" charset="0"/>
                <a:ea typeface="Meiryo UI" pitchFamily="34" charset="-122"/>
                <a:cs typeface="Meiryo UI" pitchFamily="34" charset="-120"/>
              </a:rPr>
              <a:t>④ </a:t>
            </a:r>
            <a:r>
              <a:rPr lang="en-US" sz="850" dirty="0">
                <a:solidFill>
                  <a:srgbClr val="C0392B"/>
                </a:solidFill>
                <a:latin typeface="Meiryo UI" pitchFamily="34" charset="0"/>
                <a:ea typeface="Meiryo UI" pitchFamily="34" charset="-122"/>
                <a:cs typeface="Meiryo UI" pitchFamily="34" charset="-120"/>
              </a:rPr>
              <a:t>格付けの閾値</a:t>
            </a:r>
            <a:endParaRPr lang="en-US" sz="850" dirty="0"/>
          </a:p>
        </p:txBody>
      </p:sp>
      <p:sp>
        <p:nvSpPr>
          <p:cNvPr id="83" name="ovl_s23_leg0"/>
          <p:cNvSpPr/>
          <p:nvPr/>
        </p:nvSpPr>
        <p:spPr>
          <a:xfrm>
            <a:off x="457200" y="5660136"/>
            <a:ext cx="365760" cy="914"/>
          </a:xfrm>
          <a:prstGeom prst="line">
            <a:avLst/>
          </a:prstGeom>
          <a:noFill/>
          <a:ln w="15875">
            <a:solidFill>
              <a:srgbClr val="C0392B"/>
            </a:solidFill>
            <a:prstDash val="dash"/>
            <a:tailEnd type="triangle"/>
          </a:ln>
        </p:spPr>
      </p:sp>
      <p:sp>
        <p:nvSpPr>
          <p:cNvPr id="84" name="ovl_s23_legt0"/>
          <p:cNvSpPr txBox="1"/>
          <p:nvPr/>
        </p:nvSpPr>
        <p:spPr>
          <a:xfrm>
            <a:off x="877824" y="5559552"/>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リスク</a:t>
            </a:r>
            <a:endParaRPr lang="en-US" sz="800" dirty="0"/>
          </a:p>
        </p:txBody>
      </p:sp>
      <p:sp>
        <p:nvSpPr>
          <p:cNvPr id="85" name="ovl_s23_leg1"/>
          <p:cNvSpPr/>
          <p:nvPr/>
        </p:nvSpPr>
        <p:spPr>
          <a:xfrm>
            <a:off x="1874520" y="5660136"/>
            <a:ext cx="365760" cy="914"/>
          </a:xfrm>
          <a:prstGeom prst="line">
            <a:avLst/>
          </a:prstGeom>
          <a:noFill/>
          <a:ln w="12700">
            <a:solidFill>
              <a:srgbClr val="767676"/>
            </a:solidFill>
            <a:prstDash val="sysDash"/>
            <a:tailEnd type="triangle"/>
          </a:ln>
        </p:spPr>
      </p:sp>
      <p:sp>
        <p:nvSpPr>
          <p:cNvPr id="86" name="ovl_s23_legt1"/>
          <p:cNvSpPr txBox="1"/>
          <p:nvPr/>
        </p:nvSpPr>
        <p:spPr>
          <a:xfrm>
            <a:off x="2295144" y="5559552"/>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契約・統治</a:t>
            </a:r>
            <a:endParaRPr lang="en-US" sz="800" dirty="0"/>
          </a:p>
        </p:txBody>
      </p:sp>
      <p:sp>
        <p:nvSpPr>
          <p:cNvPr id="87" name="ovl_s23_legn"/>
          <p:cNvSpPr txBox="1"/>
          <p:nvPr/>
        </p:nvSpPr>
        <p:spPr>
          <a:xfrm>
            <a:off x="6126480" y="5559552"/>
            <a:ext cx="2148840" cy="201168"/>
          </a:xfrm>
          <a:prstGeom prst="rect">
            <a:avLst/>
          </a:prstGeom>
          <a:noFill/>
          <a:ln/>
        </p:spPr>
        <p:txBody>
          <a:bodyPr wrap="square" lIns="0" tIns="0" rIns="0" bIns="0" rtlCol="0" anchor="ctr"/>
          <a:lstStyle/>
          <a:p>
            <a:pPr algn="r" indent="0" marL="0">
              <a:buNone/>
            </a:pPr>
            <a:r>
              <a:rPr lang="en-US" sz="800" dirty="0">
                <a:solidFill>
                  <a:srgbClr val="767676"/>
                </a:solidFill>
                <a:latin typeface="Meiryo UI" pitchFamily="34" charset="0"/>
                <a:ea typeface="Meiryo UI" pitchFamily="34" charset="-122"/>
                <a:cs typeface="Meiryo UI" pitchFamily="34" charset="-120"/>
              </a:rPr>
              <a:t>①② … は右の「仕組み」の番号</a:t>
            </a:r>
            <a:endParaRPr lang="en-US" sz="800" dirty="0"/>
          </a:p>
        </p:txBody>
      </p:sp>
      <p:sp>
        <p:nvSpPr>
          <p:cNvPr id="88" name="mech_head"/>
          <p:cNvSpPr txBox="1"/>
          <p:nvPr/>
        </p:nvSpPr>
        <p:spPr>
          <a:xfrm>
            <a:off x="8458200" y="1481328"/>
            <a:ext cx="3276295"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仕組み(図の ①② … と対応)</a:t>
            </a:r>
            <a:endParaRPr lang="en-US" sz="1200" dirty="0"/>
          </a:p>
        </p:txBody>
      </p:sp>
      <p:sp>
        <p:nvSpPr>
          <p:cNvPr id="89" name="mech"/>
          <p:cNvSpPr txBox="1"/>
          <p:nvPr/>
        </p:nvSpPr>
        <p:spPr>
          <a:xfrm>
            <a:off x="8458200" y="1810512"/>
            <a:ext cx="3276295" cy="1927352"/>
          </a:xfrm>
          <a:prstGeom prst="rect">
            <a:avLst/>
          </a:prstGeom>
          <a:noFill/>
          <a:ln/>
        </p:spPr>
        <p:txBody>
          <a:bodyPr wrap="square" lIns="381" tIns="381" rIns="381" bIns="381" rtlCol="0" anchor="t"/>
          <a:lstStyle/>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① </a:t>
            </a:r>
            <a:r>
              <a:rPr lang="en-US" sz="1050" dirty="0">
                <a:solidFill>
                  <a:srgbClr val="333333"/>
                </a:solidFill>
                <a:latin typeface="Meiryo UI" pitchFamily="34" charset="0"/>
                <a:ea typeface="Meiryo UI" pitchFamily="34" charset="-122"/>
                <a:cs typeface="Meiryo UI" pitchFamily="34" charset="-120"/>
              </a:rPr>
              <a:t>GPU 寿命の悲観は、更新・再販 +20% と H100 の再契約(元の 95%)が反証する。市場の見落とし</a:t>
            </a:r>
            <a:endParaRPr lang="en-US" sz="1050" dirty="0"/>
          </a:p>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② </a:t>
            </a:r>
            <a:r>
              <a:rPr lang="en-US" sz="1050" dirty="0">
                <a:solidFill>
                  <a:srgbClr val="333333"/>
                </a:solidFill>
                <a:latin typeface="Meiryo UI" pitchFamily="34" charset="0"/>
                <a:ea typeface="Meiryo UI" pitchFamily="34" charset="-122"/>
                <a:cs typeface="Meiryo UI" pitchFamily="34" charset="-120"/>
              </a:rPr>
              <a:t>FCF の赤字は契約済み需要への先行投資。会社の約束は FY29 FCF 300 億ドル以上と、追加調達 200 億ドルの上限</a:t>
            </a:r>
            <a:endParaRPr lang="en-US" sz="1050" dirty="0"/>
          </a:p>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③ </a:t>
            </a:r>
            <a:r>
              <a:rPr lang="en-US" sz="1050" dirty="0">
                <a:solidFill>
                  <a:srgbClr val="333333"/>
                </a:solidFill>
                <a:latin typeface="Meiryo UI" pitchFamily="34" charset="0"/>
                <a:ea typeface="Meiryo UI" pitchFamily="34" charset="-122"/>
                <a:cs typeface="Meiryo UI" pitchFamily="34" charset="-120"/>
              </a:rPr>
              <a:t>受注残の約 45% は OpenAI。OpenAI の FCF は 2026〜30 年累計 −2,780 億ドルで、支払いは資金調達頼み</a:t>
            </a:r>
            <a:endParaRPr lang="en-US" sz="1050" dirty="0"/>
          </a:p>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④ </a:t>
            </a:r>
            <a:r>
              <a:rPr lang="en-US" sz="1050" dirty="0">
                <a:solidFill>
                  <a:srgbClr val="333333"/>
                </a:solidFill>
                <a:latin typeface="Meiryo UI" pitchFamily="34" charset="0"/>
                <a:ea typeface="Meiryo UI" pitchFamily="34" charset="-122"/>
                <a:cs typeface="Meiryo UI" pitchFamily="34" charset="-120"/>
              </a:rPr>
              <a:t>CDS・社債は市場の評価。本当の判定は格付けの閾値で、建設が遅れると一時 BB+ の確率 40%</a:t>
            </a:r>
            <a:endParaRPr lang="en-US" sz="1050" dirty="0"/>
          </a:p>
        </p:txBody>
      </p:sp>
      <p:sp>
        <p:nvSpPr>
          <p:cNvPr id="90" name="ovl_takeaway_bg"/>
          <p:cNvSpPr/>
          <p:nvPr/>
        </p:nvSpPr>
        <p:spPr>
          <a:xfrm>
            <a:off x="8458200" y="3811016"/>
            <a:ext cx="3276295" cy="1303528"/>
          </a:xfrm>
          <a:prstGeom prst="rect">
            <a:avLst/>
          </a:prstGeom>
          <a:solidFill>
            <a:srgbClr val="EAF4EE"/>
          </a:solidFill>
          <a:ln w="12700">
            <a:solidFill>
              <a:srgbClr val="EAF4EE"/>
            </a:solidFill>
            <a:prstDash val="solid"/>
          </a:ln>
        </p:spPr>
      </p:sp>
      <p:sp>
        <p:nvSpPr>
          <p:cNvPr id="91" name="takeaway"/>
          <p:cNvSpPr txBox="1"/>
          <p:nvPr/>
        </p:nvSpPr>
        <p:spPr>
          <a:xfrm>
            <a:off x="8567928" y="3884168"/>
            <a:ext cx="3056839" cy="1157224"/>
          </a:xfrm>
          <a:prstGeom prst="rect">
            <a:avLst/>
          </a:prstGeom>
          <a:noFill/>
          <a:ln/>
        </p:spPr>
        <p:txBody>
          <a:bodyPr wrap="square" lIns="508" tIns="508" rIns="508" bIns="508"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市場が評価する信用リスクは、事業と資金の数字で裏付けられない(全 1,500 通りでレバレッジ最大 4.4 倍、倒産の道なし)。</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本当のリスクは OpenAI 集中と格付けの閾値のため S ではなく A</a:t>
            </a:r>
            <a:endParaRPr lang="en-US" sz="1000" dirty="0"/>
          </a:p>
        </p:txBody>
      </p:sp>
      <p:sp>
        <p:nvSpPr>
          <p:cNvPr id="92" name="updown"/>
          <p:cNvSpPr txBox="1"/>
          <p:nvPr/>
        </p:nvSpPr>
        <p:spPr>
          <a:xfrm>
            <a:off x="8458200" y="5187696"/>
            <a:ext cx="3276295" cy="591312"/>
          </a:xfrm>
          <a:prstGeom prst="rect">
            <a:avLst/>
          </a:prstGeom>
          <a:noFill/>
          <a:ln/>
        </p:spPr>
        <p:txBody>
          <a:bodyPr wrap="square" lIns="381" tIns="381" rIns="381" bIns="381" rtlCol="0" anchor="t"/>
          <a:lstStyle/>
          <a:p>
            <a:pPr indent="0" marL="0">
              <a:buNone/>
            </a:pPr>
            <a:r>
              <a:rPr lang="en-US" sz="850" b="1" dirty="0">
                <a:solidFill>
                  <a:srgbClr val="197A56"/>
                </a:solidFill>
                <a:latin typeface="Meiryo UI" pitchFamily="34" charset="0"/>
                <a:ea typeface="Meiryo UI" pitchFamily="34" charset="-122"/>
                <a:cs typeface="Meiryo UI" pitchFamily="34" charset="-120"/>
              </a:rPr>
              <a:t>上がる条件  </a:t>
            </a:r>
            <a:r>
              <a:rPr lang="en-US" sz="850" dirty="0">
                <a:solidFill>
                  <a:srgbClr val="333333"/>
                </a:solidFill>
                <a:latin typeface="Meiryo UI" pitchFamily="34" charset="0"/>
                <a:ea typeface="Meiryo UI" pitchFamily="34" charset="-122"/>
                <a:cs typeface="Meiryo UI" pitchFamily="34" charset="-120"/>
              </a:rPr>
              <a:t>OpenAI の比率が 40% 未満に下がり、FY28 下期の FCF 黒字化を確かめれば S</a:t>
            </a:r>
            <a:endParaRPr lang="en-US" sz="850" dirty="0"/>
          </a:p>
          <a:p>
            <a:pPr indent="0" marL="0">
              <a:buNone/>
            </a:pPr>
            <a:r>
              <a:rPr lang="en-US" sz="850" b="1" dirty="0">
                <a:solidFill>
                  <a:srgbClr val="C0392B"/>
                </a:solidFill>
                <a:latin typeface="Meiryo UI" pitchFamily="34" charset="0"/>
                <a:ea typeface="Meiryo UI" pitchFamily="34" charset="-122"/>
                <a:cs typeface="Meiryo UI" pitchFamily="34" charset="-120"/>
              </a:rPr>
              <a:t>下がる条件  </a:t>
            </a:r>
            <a:r>
              <a:rPr lang="en-US" sz="850" dirty="0">
                <a:solidFill>
                  <a:srgbClr val="333333"/>
                </a:solidFill>
                <a:latin typeface="Meiryo UI" pitchFamily="34" charset="0"/>
                <a:ea typeface="Meiryo UI" pitchFamily="34" charset="-122"/>
                <a:cs typeface="Meiryo UI" pitchFamily="34" charset="-120"/>
              </a:rPr>
              <a:t>OpenAI の契約見直し・支払い遅延か、FY29 FCF が赤字で BB+ が続けば B</a:t>
            </a:r>
            <a:endParaRPr lang="en-US" sz="850" dirty="0"/>
          </a:p>
        </p:txBody>
      </p:sp>
      <p:sp>
        <p:nvSpPr>
          <p:cNvPr id="93" name="ovl_kpibox"/>
          <p:cNvSpPr/>
          <p:nvPr/>
        </p:nvSpPr>
        <p:spPr>
          <a:xfrm>
            <a:off x="457200" y="5870448"/>
            <a:ext cx="11277295" cy="384048"/>
          </a:xfrm>
          <a:prstGeom prst="rect">
            <a:avLst/>
          </a:prstGeom>
          <a:solidFill>
            <a:srgbClr val="F2F2F2"/>
          </a:solidFill>
          <a:ln w="9525">
            <a:solidFill>
              <a:srgbClr val="D68910"/>
            </a:solidFill>
            <a:prstDash val="solid"/>
          </a:ln>
        </p:spPr>
      </p:sp>
      <p:sp>
        <p:nvSpPr>
          <p:cNvPr id="94" name="kpi"/>
          <p:cNvSpPr txBox="1"/>
          <p:nvPr/>
        </p:nvSpPr>
        <p:spPr>
          <a:xfrm>
            <a:off x="548640" y="5888736"/>
            <a:ext cx="11094415" cy="347472"/>
          </a:xfrm>
          <a:prstGeom prst="rect">
            <a:avLst/>
          </a:prstGeom>
          <a:noFill/>
          <a:ln/>
        </p:spPr>
        <p:txBody>
          <a:bodyPr wrap="square" lIns="0" tIns="0" rIns="0" bIns="0" rtlCol="0" anchor="ctr"/>
          <a:lstStyle/>
          <a:p>
            <a:pPr indent="0" marL="0">
              <a:buNone/>
            </a:pPr>
            <a:r>
              <a:rPr lang="en-US" sz="900" dirty="0">
                <a:solidFill>
                  <a:srgbClr val="333333"/>
                </a:solidFill>
                <a:latin typeface="Meiryo UI" pitchFamily="34" charset="0"/>
                <a:ea typeface="Meiryo UI" pitchFamily="34" charset="-122"/>
                <a:cs typeface="Meiryo UI" pitchFamily="34" charset="-120"/>
              </a:rPr>
              <a:t>監視 KPI とトリガー: OpenAI の比率 40% 未満で S 候補・見直しや遅延で B / FY28 下期の FCF 黒字化・FY29 FCF 300 億ドル(遅れなしで 89%)/ 一時 BB+ の確率 40%(建設の遅れ・AI 否定の見方)</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3-4 製品と設備の性格(条件8〜12)(1/5)</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211582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21158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コモディティ性(条件8)</a:t>
            </a:r>
            <a:endParaRPr lang="en-US" sz="1000" dirty="0"/>
          </a:p>
        </p:txBody>
      </p:sp>
      <p:sp>
        <p:nvSpPr>
          <p:cNvPr id="14" name="hdr_why"/>
          <p:cNvSpPr txBox="1"/>
          <p:nvPr/>
        </p:nvSpPr>
        <p:spPr>
          <a:xfrm>
            <a:off x="2719324" y="356616"/>
            <a:ext cx="901517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コモディティになる部分は需給が緩むと利益が消える。価値のどれだけがコモディティかを、今と将来で測る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今は学習向けの大型容量がコストプラスで値決めされるコモディティだが、</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将来の推論は企業データの近くで DB・OCI と一体になるため B</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左から: 供給者 → Oracle の事業(今: 学習向け → 将来: 推論・企業向け)→ 買い手 ← 代替と価格の基準。①〜⑤ は右と対応。価値の比率は需給エンジン第4.5版</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需給エンジン第4.5版(calc/out/m10_*.json: セグメント価値)、Investor Day 2026-10-28(CFO 資料)、research_v6、research3/W3_industry_structure.md、ICE・CME の発表(2026-05)、Epoch AI、SemiAnalysis ClusterMAX v3.0</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31</a:t>
            </a:r>
            <a:endParaRPr lang="en-US" sz="800" dirty="0"/>
          </a:p>
        </p:txBody>
      </p:sp>
      <p:sp>
        <p:nvSpPr>
          <p:cNvPr id="19" name="ovl_badge"/>
          <p:cNvSpPr/>
          <p:nvPr/>
        </p:nvSpPr>
        <p:spPr>
          <a:xfrm>
            <a:off x="10865815" y="649224"/>
            <a:ext cx="868680" cy="677570"/>
          </a:xfrm>
          <a:prstGeom prst="roundRect">
            <a:avLst>
              <a:gd name="adj" fmla="val 10796"/>
            </a:avLst>
          </a:prstGeom>
          <a:solidFill>
            <a:srgbClr val="86C99B"/>
          </a:solidFill>
          <a:ln w="12700">
            <a:solidFill>
              <a:srgbClr val="86C99B"/>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0E4D33"/>
                </a:solidFill>
                <a:latin typeface="Meiryo UI" pitchFamily="34" charset="0"/>
                <a:ea typeface="Meiryo UI" pitchFamily="34" charset="-122"/>
                <a:cs typeface="Meiryo UI" pitchFamily="34" charset="-120"/>
              </a:rPr>
              <a:t>B</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0E4D33"/>
                </a:solidFill>
                <a:latin typeface="Meiryo UI" pitchFamily="34" charset="0"/>
                <a:ea typeface="Meiryo UI" pitchFamily="34" charset="-122"/>
                <a:cs typeface="Meiryo UI" pitchFamily="34" charset="-120"/>
              </a:rPr>
              <a:t>条件8</a:t>
            </a:r>
            <a:endParaRPr lang="en-US" sz="800" dirty="0"/>
          </a:p>
        </p:txBody>
      </p:sp>
      <p:sp>
        <p:nvSpPr>
          <p:cNvPr id="22" name="bg_lane0"/>
          <p:cNvSpPr/>
          <p:nvPr/>
        </p:nvSpPr>
        <p:spPr>
          <a:xfrm>
            <a:off x="347472" y="1517904"/>
            <a:ext cx="1591056" cy="4005072"/>
          </a:xfrm>
          <a:prstGeom prst="rect">
            <a:avLst/>
          </a:prstGeom>
          <a:solidFill>
            <a:srgbClr val="F2F2F2"/>
          </a:solidFill>
          <a:ln w="12700">
            <a:solidFill>
              <a:srgbClr val="F2F2F2"/>
            </a:solidFill>
            <a:prstDash val="solid"/>
          </a:ln>
        </p:spPr>
      </p:sp>
      <p:sp>
        <p:nvSpPr>
          <p:cNvPr id="23" name="bg_laneh0"/>
          <p:cNvSpPr/>
          <p:nvPr/>
        </p:nvSpPr>
        <p:spPr>
          <a:xfrm>
            <a:off x="347472" y="1517904"/>
            <a:ext cx="1591056" cy="274320"/>
          </a:xfrm>
          <a:prstGeom prst="rect">
            <a:avLst/>
          </a:prstGeom>
          <a:solidFill>
            <a:srgbClr val="D9D9D9"/>
          </a:solidFill>
          <a:ln w="12700">
            <a:solidFill>
              <a:srgbClr val="D9D9D9"/>
            </a:solidFill>
            <a:prstDash val="solid"/>
          </a:ln>
        </p:spPr>
      </p:sp>
      <p:sp>
        <p:nvSpPr>
          <p:cNvPr id="24" name="bg_lanet0"/>
          <p:cNvSpPr txBox="1"/>
          <p:nvPr/>
        </p:nvSpPr>
        <p:spPr>
          <a:xfrm>
            <a:off x="347472" y="1517904"/>
            <a:ext cx="159105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供給者</a:t>
            </a:r>
            <a:endParaRPr lang="en-US" sz="950" dirty="0"/>
          </a:p>
        </p:txBody>
      </p:sp>
      <p:sp>
        <p:nvSpPr>
          <p:cNvPr id="25" name="bg_lane1"/>
          <p:cNvSpPr/>
          <p:nvPr/>
        </p:nvSpPr>
        <p:spPr>
          <a:xfrm>
            <a:off x="2313432" y="1517904"/>
            <a:ext cx="2048256" cy="4005072"/>
          </a:xfrm>
          <a:prstGeom prst="rect">
            <a:avLst/>
          </a:prstGeom>
          <a:solidFill>
            <a:srgbClr val="EAF4EE"/>
          </a:solidFill>
          <a:ln w="12700">
            <a:solidFill>
              <a:srgbClr val="EAF4EE"/>
            </a:solidFill>
            <a:prstDash val="solid"/>
          </a:ln>
        </p:spPr>
      </p:sp>
      <p:sp>
        <p:nvSpPr>
          <p:cNvPr id="26" name="bg_laneh1"/>
          <p:cNvSpPr/>
          <p:nvPr/>
        </p:nvSpPr>
        <p:spPr>
          <a:xfrm>
            <a:off x="2313432" y="1517904"/>
            <a:ext cx="2048256" cy="274320"/>
          </a:xfrm>
          <a:prstGeom prst="rect">
            <a:avLst/>
          </a:prstGeom>
          <a:solidFill>
            <a:srgbClr val="197A56"/>
          </a:solidFill>
          <a:ln w="12700">
            <a:solidFill>
              <a:srgbClr val="197A56"/>
            </a:solidFill>
            <a:prstDash val="solid"/>
          </a:ln>
        </p:spPr>
      </p:sp>
      <p:sp>
        <p:nvSpPr>
          <p:cNvPr id="27" name="bg_lanet1"/>
          <p:cNvSpPr txBox="1"/>
          <p:nvPr/>
        </p:nvSpPr>
        <p:spPr>
          <a:xfrm>
            <a:off x="2313432" y="1517904"/>
            <a:ext cx="2048256"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Oracle の事業</a:t>
            </a:r>
            <a:endParaRPr lang="en-US" sz="950" dirty="0"/>
          </a:p>
        </p:txBody>
      </p:sp>
      <p:sp>
        <p:nvSpPr>
          <p:cNvPr id="28" name="bg_lane2"/>
          <p:cNvSpPr/>
          <p:nvPr/>
        </p:nvSpPr>
        <p:spPr>
          <a:xfrm>
            <a:off x="4736592" y="1517904"/>
            <a:ext cx="1591056" cy="4005072"/>
          </a:xfrm>
          <a:prstGeom prst="rect">
            <a:avLst/>
          </a:prstGeom>
          <a:solidFill>
            <a:srgbClr val="F2F2F2"/>
          </a:solidFill>
          <a:ln w="12700">
            <a:solidFill>
              <a:srgbClr val="F2F2F2"/>
            </a:solidFill>
            <a:prstDash val="solid"/>
          </a:ln>
        </p:spPr>
      </p:sp>
      <p:sp>
        <p:nvSpPr>
          <p:cNvPr id="29" name="bg_laneh2"/>
          <p:cNvSpPr/>
          <p:nvPr/>
        </p:nvSpPr>
        <p:spPr>
          <a:xfrm>
            <a:off x="4736592" y="1517904"/>
            <a:ext cx="1591056" cy="274320"/>
          </a:xfrm>
          <a:prstGeom prst="rect">
            <a:avLst/>
          </a:prstGeom>
          <a:solidFill>
            <a:srgbClr val="D9D9D9"/>
          </a:solidFill>
          <a:ln w="12700">
            <a:solidFill>
              <a:srgbClr val="D9D9D9"/>
            </a:solidFill>
            <a:prstDash val="solid"/>
          </a:ln>
        </p:spPr>
      </p:sp>
      <p:sp>
        <p:nvSpPr>
          <p:cNvPr id="30" name="bg_lanet2"/>
          <p:cNvSpPr txBox="1"/>
          <p:nvPr/>
        </p:nvSpPr>
        <p:spPr>
          <a:xfrm>
            <a:off x="4736592" y="1517904"/>
            <a:ext cx="159105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買い手</a:t>
            </a:r>
            <a:endParaRPr lang="en-US" sz="950" dirty="0"/>
          </a:p>
        </p:txBody>
      </p:sp>
      <p:sp>
        <p:nvSpPr>
          <p:cNvPr id="31" name="bg_lane3"/>
          <p:cNvSpPr/>
          <p:nvPr/>
        </p:nvSpPr>
        <p:spPr>
          <a:xfrm>
            <a:off x="6702552" y="1517904"/>
            <a:ext cx="1682496" cy="4005072"/>
          </a:xfrm>
          <a:prstGeom prst="rect">
            <a:avLst/>
          </a:prstGeom>
          <a:solidFill>
            <a:srgbClr val="F2F2F2"/>
          </a:solidFill>
          <a:ln w="12700">
            <a:solidFill>
              <a:srgbClr val="F2F2F2"/>
            </a:solidFill>
            <a:prstDash val="solid"/>
          </a:ln>
        </p:spPr>
      </p:sp>
      <p:sp>
        <p:nvSpPr>
          <p:cNvPr id="32" name="bg_laneh3"/>
          <p:cNvSpPr/>
          <p:nvPr/>
        </p:nvSpPr>
        <p:spPr>
          <a:xfrm>
            <a:off x="6702552" y="1517904"/>
            <a:ext cx="1682496" cy="274320"/>
          </a:xfrm>
          <a:prstGeom prst="rect">
            <a:avLst/>
          </a:prstGeom>
          <a:solidFill>
            <a:srgbClr val="D9D9D9"/>
          </a:solidFill>
          <a:ln w="12700">
            <a:solidFill>
              <a:srgbClr val="D9D9D9"/>
            </a:solidFill>
            <a:prstDash val="solid"/>
          </a:ln>
        </p:spPr>
      </p:sp>
      <p:sp>
        <p:nvSpPr>
          <p:cNvPr id="33" name="bg_lanet3"/>
          <p:cNvSpPr txBox="1"/>
          <p:nvPr/>
        </p:nvSpPr>
        <p:spPr>
          <a:xfrm>
            <a:off x="6702552" y="1517904"/>
            <a:ext cx="168249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代替・価格の基準</a:t>
            </a:r>
            <a:endParaRPr lang="en-US" sz="950" dirty="0"/>
          </a:p>
        </p:txBody>
      </p:sp>
      <p:sp>
        <p:nvSpPr>
          <p:cNvPr id="34" name="ovl_grp0"/>
          <p:cNvSpPr/>
          <p:nvPr/>
        </p:nvSpPr>
        <p:spPr>
          <a:xfrm>
            <a:off x="2359152" y="1911096"/>
            <a:ext cx="1956816" cy="1755648"/>
          </a:xfrm>
          <a:prstGeom prst="roundRect">
            <a:avLst>
              <a:gd name="adj" fmla="val 3125"/>
            </a:avLst>
          </a:prstGeom>
          <a:solidFill>
            <a:srgbClr val="FFFFFF">
              <a:alpha val="0"/>
            </a:srgbClr>
          </a:solidFill>
          <a:ln w="12700">
            <a:solidFill>
              <a:srgbClr val="197A56"/>
            </a:solidFill>
            <a:prstDash val="dash"/>
          </a:ln>
        </p:spPr>
      </p:sp>
      <p:sp>
        <p:nvSpPr>
          <p:cNvPr id="35" name="ovl_s24_e0_0"/>
          <p:cNvSpPr/>
          <p:nvPr/>
        </p:nvSpPr>
        <p:spPr>
          <a:xfrm>
            <a:off x="1828800" y="2336292"/>
            <a:ext cx="594360" cy="914"/>
          </a:xfrm>
          <a:prstGeom prst="line">
            <a:avLst/>
          </a:prstGeom>
          <a:noFill/>
          <a:ln w="22225">
            <a:solidFill>
              <a:srgbClr val="0E4D33"/>
            </a:solidFill>
            <a:prstDash val="solid"/>
            <a:tailEnd type="triangle"/>
          </a:ln>
        </p:spPr>
      </p:sp>
      <p:sp>
        <p:nvSpPr>
          <p:cNvPr id="36" name="ovl_s24_e1_0"/>
          <p:cNvSpPr/>
          <p:nvPr/>
        </p:nvSpPr>
        <p:spPr>
          <a:xfrm>
            <a:off x="1828800" y="3241548"/>
            <a:ext cx="297180" cy="914"/>
          </a:xfrm>
          <a:prstGeom prst="line">
            <a:avLst/>
          </a:prstGeom>
          <a:noFill/>
          <a:ln w="15875">
            <a:solidFill>
              <a:srgbClr val="C0392B"/>
            </a:solidFill>
            <a:prstDash val="dash"/>
          </a:ln>
        </p:spPr>
      </p:sp>
      <p:sp>
        <p:nvSpPr>
          <p:cNvPr id="37" name="ovl_s24_e1_1"/>
          <p:cNvSpPr/>
          <p:nvPr/>
        </p:nvSpPr>
        <p:spPr>
          <a:xfrm flipV="1">
            <a:off x="2125980" y="2446020"/>
            <a:ext cx="914" cy="795528"/>
          </a:xfrm>
          <a:prstGeom prst="line">
            <a:avLst/>
          </a:prstGeom>
          <a:noFill/>
          <a:ln w="15875">
            <a:solidFill>
              <a:srgbClr val="C0392B"/>
            </a:solidFill>
            <a:prstDash val="dash"/>
          </a:ln>
        </p:spPr>
      </p:sp>
      <p:sp>
        <p:nvSpPr>
          <p:cNvPr id="38" name="ovl_s24_e1_2"/>
          <p:cNvSpPr/>
          <p:nvPr/>
        </p:nvSpPr>
        <p:spPr>
          <a:xfrm>
            <a:off x="2125980" y="2446020"/>
            <a:ext cx="297180" cy="914"/>
          </a:xfrm>
          <a:prstGeom prst="line">
            <a:avLst/>
          </a:prstGeom>
          <a:noFill/>
          <a:ln w="15875">
            <a:solidFill>
              <a:srgbClr val="C0392B"/>
            </a:solidFill>
            <a:prstDash val="dash"/>
            <a:tailEnd type="triangle"/>
          </a:ln>
        </p:spPr>
      </p:sp>
      <p:sp>
        <p:nvSpPr>
          <p:cNvPr id="39" name="ovl_s24_e2_0"/>
          <p:cNvSpPr/>
          <p:nvPr/>
        </p:nvSpPr>
        <p:spPr>
          <a:xfrm>
            <a:off x="1828800" y="4146804"/>
            <a:ext cx="594360" cy="914"/>
          </a:xfrm>
          <a:prstGeom prst="line">
            <a:avLst/>
          </a:prstGeom>
          <a:noFill/>
          <a:ln w="19050">
            <a:solidFill>
              <a:srgbClr val="1BA1A6"/>
            </a:solidFill>
            <a:prstDash val="solid"/>
            <a:tailEnd type="triangle"/>
          </a:ln>
        </p:spPr>
      </p:sp>
      <p:sp>
        <p:nvSpPr>
          <p:cNvPr id="40" name="ovl_s24_e3_0"/>
          <p:cNvSpPr/>
          <p:nvPr/>
        </p:nvSpPr>
        <p:spPr>
          <a:xfrm>
            <a:off x="4251960" y="4146804"/>
            <a:ext cx="594360" cy="914"/>
          </a:xfrm>
          <a:prstGeom prst="line">
            <a:avLst/>
          </a:prstGeom>
          <a:noFill/>
          <a:ln w="19050">
            <a:solidFill>
              <a:srgbClr val="1BA1A6"/>
            </a:solidFill>
            <a:prstDash val="solid"/>
            <a:tailEnd type="triangle"/>
          </a:ln>
        </p:spPr>
      </p:sp>
      <p:sp>
        <p:nvSpPr>
          <p:cNvPr id="41" name="ovl_s24_e4_0"/>
          <p:cNvSpPr/>
          <p:nvPr/>
        </p:nvSpPr>
        <p:spPr>
          <a:xfrm>
            <a:off x="4251960" y="2253996"/>
            <a:ext cx="594360" cy="914"/>
          </a:xfrm>
          <a:prstGeom prst="line">
            <a:avLst/>
          </a:prstGeom>
          <a:noFill/>
          <a:ln w="19050">
            <a:solidFill>
              <a:srgbClr val="1BA1A6"/>
            </a:solidFill>
            <a:prstDash val="solid"/>
            <a:tailEnd type="triangle"/>
          </a:ln>
        </p:spPr>
      </p:sp>
      <p:sp>
        <p:nvSpPr>
          <p:cNvPr id="42" name="ovl_s24_e5_0"/>
          <p:cNvSpPr/>
          <p:nvPr/>
        </p:nvSpPr>
        <p:spPr>
          <a:xfrm flipH="1">
            <a:off x="4251960" y="2418588"/>
            <a:ext cx="594360" cy="914"/>
          </a:xfrm>
          <a:prstGeom prst="line">
            <a:avLst/>
          </a:prstGeom>
          <a:noFill/>
          <a:ln w="15875">
            <a:solidFill>
              <a:srgbClr val="C0392B"/>
            </a:solidFill>
            <a:prstDash val="dash"/>
            <a:tailEnd type="triangle"/>
          </a:ln>
        </p:spPr>
      </p:sp>
      <p:sp>
        <p:nvSpPr>
          <p:cNvPr id="43" name="ovl_s24_e6_0"/>
          <p:cNvSpPr/>
          <p:nvPr/>
        </p:nvSpPr>
        <p:spPr>
          <a:xfrm>
            <a:off x="4251960" y="3241548"/>
            <a:ext cx="233172" cy="914"/>
          </a:xfrm>
          <a:prstGeom prst="line">
            <a:avLst/>
          </a:prstGeom>
          <a:noFill/>
          <a:ln w="19050">
            <a:solidFill>
              <a:srgbClr val="1BA1A6"/>
            </a:solidFill>
            <a:prstDash val="solid"/>
          </a:ln>
        </p:spPr>
      </p:sp>
      <p:sp>
        <p:nvSpPr>
          <p:cNvPr id="44" name="ovl_s24_e6_1"/>
          <p:cNvSpPr/>
          <p:nvPr/>
        </p:nvSpPr>
        <p:spPr>
          <a:xfrm>
            <a:off x="4485132" y="3241548"/>
            <a:ext cx="914" cy="795528"/>
          </a:xfrm>
          <a:prstGeom prst="line">
            <a:avLst/>
          </a:prstGeom>
          <a:noFill/>
          <a:ln w="19050">
            <a:solidFill>
              <a:srgbClr val="1BA1A6"/>
            </a:solidFill>
            <a:prstDash val="solid"/>
          </a:ln>
        </p:spPr>
      </p:sp>
      <p:sp>
        <p:nvSpPr>
          <p:cNvPr id="45" name="ovl_s24_e6_2"/>
          <p:cNvSpPr/>
          <p:nvPr/>
        </p:nvSpPr>
        <p:spPr>
          <a:xfrm>
            <a:off x="4485132" y="4037076"/>
            <a:ext cx="361188" cy="914"/>
          </a:xfrm>
          <a:prstGeom prst="line">
            <a:avLst/>
          </a:prstGeom>
          <a:noFill/>
          <a:ln w="19050">
            <a:solidFill>
              <a:srgbClr val="1BA1A6"/>
            </a:solidFill>
            <a:prstDash val="solid"/>
            <a:tailEnd type="triangle"/>
          </a:ln>
        </p:spPr>
      </p:sp>
      <p:sp>
        <p:nvSpPr>
          <p:cNvPr id="46" name="ovl_s24_e7_0"/>
          <p:cNvSpPr/>
          <p:nvPr/>
        </p:nvSpPr>
        <p:spPr>
          <a:xfrm>
            <a:off x="4251960" y="5052060"/>
            <a:ext cx="361188" cy="914"/>
          </a:xfrm>
          <a:prstGeom prst="line">
            <a:avLst/>
          </a:prstGeom>
          <a:noFill/>
          <a:ln w="19050">
            <a:solidFill>
              <a:srgbClr val="1BA1A6"/>
            </a:solidFill>
            <a:prstDash val="solid"/>
          </a:ln>
        </p:spPr>
      </p:sp>
      <p:sp>
        <p:nvSpPr>
          <p:cNvPr id="47" name="ovl_s24_e7_1"/>
          <p:cNvSpPr/>
          <p:nvPr/>
        </p:nvSpPr>
        <p:spPr>
          <a:xfrm flipV="1">
            <a:off x="4613148" y="4256532"/>
            <a:ext cx="914" cy="795528"/>
          </a:xfrm>
          <a:prstGeom prst="line">
            <a:avLst/>
          </a:prstGeom>
          <a:noFill/>
          <a:ln w="19050">
            <a:solidFill>
              <a:srgbClr val="1BA1A6"/>
            </a:solidFill>
            <a:prstDash val="solid"/>
          </a:ln>
        </p:spPr>
      </p:sp>
      <p:sp>
        <p:nvSpPr>
          <p:cNvPr id="48" name="ovl_s24_e7_2"/>
          <p:cNvSpPr/>
          <p:nvPr/>
        </p:nvSpPr>
        <p:spPr>
          <a:xfrm>
            <a:off x="4613148" y="4256532"/>
            <a:ext cx="233172" cy="914"/>
          </a:xfrm>
          <a:prstGeom prst="line">
            <a:avLst/>
          </a:prstGeom>
          <a:noFill/>
          <a:ln w="19050">
            <a:solidFill>
              <a:srgbClr val="1BA1A6"/>
            </a:solidFill>
            <a:prstDash val="solid"/>
            <a:tailEnd type="triangle"/>
          </a:ln>
        </p:spPr>
      </p:sp>
      <p:sp>
        <p:nvSpPr>
          <p:cNvPr id="49" name="ovl_s24_e8_0"/>
          <p:cNvSpPr/>
          <p:nvPr/>
        </p:nvSpPr>
        <p:spPr>
          <a:xfrm flipH="1">
            <a:off x="6217920" y="2336292"/>
            <a:ext cx="594360" cy="914"/>
          </a:xfrm>
          <a:prstGeom prst="line">
            <a:avLst/>
          </a:prstGeom>
          <a:noFill/>
          <a:ln w="15875">
            <a:solidFill>
              <a:srgbClr val="C0392B"/>
            </a:solidFill>
            <a:prstDash val="dash"/>
            <a:tailEnd type="triangle"/>
          </a:ln>
        </p:spPr>
      </p:sp>
      <p:sp>
        <p:nvSpPr>
          <p:cNvPr id="50" name="ovl_s24_e9_0"/>
          <p:cNvSpPr/>
          <p:nvPr/>
        </p:nvSpPr>
        <p:spPr>
          <a:xfrm flipH="1">
            <a:off x="6515100" y="3241548"/>
            <a:ext cx="297180" cy="914"/>
          </a:xfrm>
          <a:prstGeom prst="line">
            <a:avLst/>
          </a:prstGeom>
          <a:noFill/>
          <a:ln w="15875">
            <a:solidFill>
              <a:srgbClr val="C0392B"/>
            </a:solidFill>
            <a:prstDash val="dash"/>
          </a:ln>
        </p:spPr>
      </p:sp>
      <p:sp>
        <p:nvSpPr>
          <p:cNvPr id="51" name="ovl_s24_e9_1"/>
          <p:cNvSpPr/>
          <p:nvPr/>
        </p:nvSpPr>
        <p:spPr>
          <a:xfrm flipV="1">
            <a:off x="6515100" y="2446020"/>
            <a:ext cx="914" cy="795528"/>
          </a:xfrm>
          <a:prstGeom prst="line">
            <a:avLst/>
          </a:prstGeom>
          <a:noFill/>
          <a:ln w="15875">
            <a:solidFill>
              <a:srgbClr val="C0392B"/>
            </a:solidFill>
            <a:prstDash val="dash"/>
          </a:ln>
        </p:spPr>
      </p:sp>
      <p:sp>
        <p:nvSpPr>
          <p:cNvPr id="52" name="ovl_s24_e9_2"/>
          <p:cNvSpPr/>
          <p:nvPr/>
        </p:nvSpPr>
        <p:spPr>
          <a:xfrm flipH="1">
            <a:off x="6217920" y="2446020"/>
            <a:ext cx="297180" cy="914"/>
          </a:xfrm>
          <a:prstGeom prst="line">
            <a:avLst/>
          </a:prstGeom>
          <a:noFill/>
          <a:ln w="15875">
            <a:solidFill>
              <a:srgbClr val="C0392B"/>
            </a:solidFill>
            <a:prstDash val="dash"/>
            <a:tailEnd type="triangle"/>
          </a:ln>
        </p:spPr>
      </p:sp>
      <p:sp>
        <p:nvSpPr>
          <p:cNvPr id="53" name="ovl_s24_e10_0"/>
          <p:cNvSpPr/>
          <p:nvPr/>
        </p:nvSpPr>
        <p:spPr>
          <a:xfrm flipH="1">
            <a:off x="6217920" y="4146804"/>
            <a:ext cx="594360" cy="914"/>
          </a:xfrm>
          <a:prstGeom prst="line">
            <a:avLst/>
          </a:prstGeom>
          <a:noFill/>
          <a:ln w="15875">
            <a:solidFill>
              <a:srgbClr val="C0392B"/>
            </a:solidFill>
            <a:prstDash val="dash"/>
            <a:tailEnd type="triangle"/>
          </a:ln>
        </p:spPr>
      </p:sp>
      <p:sp>
        <p:nvSpPr>
          <p:cNvPr id="54" name="ovl_s24_n_nv"/>
          <p:cNvSpPr/>
          <p:nvPr/>
        </p:nvSpPr>
        <p:spPr>
          <a:xfrm>
            <a:off x="457200" y="1984248"/>
            <a:ext cx="1371600" cy="704088"/>
          </a:xfrm>
          <a:prstGeom prst="roundRect">
            <a:avLst>
              <a:gd name="adj" fmla="val 7792"/>
            </a:avLst>
          </a:prstGeom>
          <a:solidFill>
            <a:srgbClr val="FFFFFF"/>
          </a:solidFill>
          <a:ln w="9525">
            <a:solidFill>
              <a:srgbClr val="767676"/>
            </a:solidFill>
            <a:prstDash val="solid"/>
          </a:ln>
        </p:spPr>
      </p:sp>
      <p:sp>
        <p:nvSpPr>
          <p:cNvPr id="55" name="ovl_s24_nt_nv"/>
          <p:cNvSpPr txBox="1"/>
          <p:nvPr/>
        </p:nvSpPr>
        <p:spPr>
          <a:xfrm>
            <a:off x="493776" y="2011680"/>
            <a:ext cx="12984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NVIDIA</a:t>
            </a:r>
            <a:endParaRPr lang="en-US" sz="1000" dirty="0"/>
          </a:p>
        </p:txBody>
      </p:sp>
      <p:sp>
        <p:nvSpPr>
          <p:cNvPr id="56" name="ovl_s24_ns_nv"/>
          <p:cNvSpPr txBox="1"/>
          <p:nvPr/>
        </p:nvSpPr>
        <p:spPr>
          <a:xfrm>
            <a:off x="502920" y="2217420"/>
            <a:ext cx="128016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AI 計算の約 8 割</a:t>
            </a:r>
            <a:endParaRPr lang="en-US" sz="850" dirty="0"/>
          </a:p>
        </p:txBody>
      </p:sp>
      <p:sp>
        <p:nvSpPr>
          <p:cNvPr id="57" name="ovl_s24_n_mem"/>
          <p:cNvSpPr/>
          <p:nvPr/>
        </p:nvSpPr>
        <p:spPr>
          <a:xfrm>
            <a:off x="457200" y="2889504"/>
            <a:ext cx="1371600" cy="704088"/>
          </a:xfrm>
          <a:prstGeom prst="roundRect">
            <a:avLst>
              <a:gd name="adj" fmla="val 7792"/>
            </a:avLst>
          </a:prstGeom>
          <a:solidFill>
            <a:srgbClr val="FFFFFF"/>
          </a:solidFill>
          <a:ln w="19050">
            <a:solidFill>
              <a:srgbClr val="C0392B"/>
            </a:solidFill>
            <a:prstDash val="solid"/>
          </a:ln>
        </p:spPr>
      </p:sp>
      <p:sp>
        <p:nvSpPr>
          <p:cNvPr id="58" name="ovl_s24_nt_mem"/>
          <p:cNvSpPr txBox="1"/>
          <p:nvPr/>
        </p:nvSpPr>
        <p:spPr>
          <a:xfrm>
            <a:off x="493776" y="2916936"/>
            <a:ext cx="129844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電力・メモリ</a:t>
            </a:r>
            <a:endParaRPr lang="en-US" sz="1000" dirty="0"/>
          </a:p>
        </p:txBody>
      </p:sp>
      <p:sp>
        <p:nvSpPr>
          <p:cNvPr id="59" name="ovl_s24_ns_mem"/>
          <p:cNvSpPr txBox="1"/>
          <p:nvPr/>
        </p:nvSpPr>
        <p:spPr>
          <a:xfrm>
            <a:off x="502920" y="3122676"/>
            <a:ext cx="128016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逼迫は 2028 年まで</a:t>
            </a:r>
            <a:endParaRPr lang="en-US" sz="850" dirty="0"/>
          </a:p>
        </p:txBody>
      </p:sp>
      <p:sp>
        <p:nvSpPr>
          <p:cNvPr id="60" name="ovl_s24_n_dbtech"/>
          <p:cNvSpPr/>
          <p:nvPr/>
        </p:nvSpPr>
        <p:spPr>
          <a:xfrm>
            <a:off x="457200" y="3794760"/>
            <a:ext cx="1371600" cy="704088"/>
          </a:xfrm>
          <a:prstGeom prst="roundRect">
            <a:avLst>
              <a:gd name="adj" fmla="val 7792"/>
            </a:avLst>
          </a:prstGeom>
          <a:solidFill>
            <a:srgbClr val="EAF4EE"/>
          </a:solidFill>
          <a:ln w="9525">
            <a:solidFill>
              <a:srgbClr val="86C99B"/>
            </a:solidFill>
            <a:prstDash val="solid"/>
          </a:ln>
        </p:spPr>
      </p:sp>
      <p:sp>
        <p:nvSpPr>
          <p:cNvPr id="61" name="ovl_s24_nt_dbtech"/>
          <p:cNvSpPr txBox="1"/>
          <p:nvPr/>
        </p:nvSpPr>
        <p:spPr>
          <a:xfrm>
            <a:off x="493776" y="3822192"/>
            <a:ext cx="12984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DB の技術</a:t>
            </a:r>
            <a:endParaRPr lang="en-US" sz="1000" dirty="0"/>
          </a:p>
        </p:txBody>
      </p:sp>
      <p:sp>
        <p:nvSpPr>
          <p:cNvPr id="62" name="ovl_s24_ns_dbtech"/>
          <p:cNvSpPr txBox="1"/>
          <p:nvPr/>
        </p:nvSpPr>
        <p:spPr>
          <a:xfrm>
            <a:off x="502920" y="4027932"/>
            <a:ext cx="128016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代替なし</a:t>
            </a:r>
            <a:endParaRPr lang="en-US" sz="850" dirty="0"/>
          </a:p>
        </p:txBody>
      </p:sp>
      <p:sp>
        <p:nvSpPr>
          <p:cNvPr id="63" name="ovl_s24_n_learn"/>
          <p:cNvSpPr/>
          <p:nvPr/>
        </p:nvSpPr>
        <p:spPr>
          <a:xfrm>
            <a:off x="2423160" y="1984248"/>
            <a:ext cx="1828800" cy="704088"/>
          </a:xfrm>
          <a:prstGeom prst="roundRect">
            <a:avLst>
              <a:gd name="adj" fmla="val 7792"/>
            </a:avLst>
          </a:prstGeom>
          <a:solidFill>
            <a:srgbClr val="FFFFFF"/>
          </a:solidFill>
          <a:ln w="19050">
            <a:solidFill>
              <a:srgbClr val="C0392B"/>
            </a:solidFill>
            <a:prstDash val="solid"/>
          </a:ln>
        </p:spPr>
      </p:sp>
      <p:sp>
        <p:nvSpPr>
          <p:cNvPr id="64" name="ovl_s24_nt_learn"/>
          <p:cNvSpPr txBox="1"/>
          <p:nvPr/>
        </p:nvSpPr>
        <p:spPr>
          <a:xfrm>
            <a:off x="2459736" y="2011680"/>
            <a:ext cx="175564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学習向けの大型容量</a:t>
            </a:r>
            <a:endParaRPr lang="en-US" sz="1000" dirty="0"/>
          </a:p>
        </p:txBody>
      </p:sp>
      <p:sp>
        <p:nvSpPr>
          <p:cNvPr id="65" name="ovl_s24_ns_learn"/>
          <p:cNvSpPr txBox="1"/>
          <p:nvPr/>
        </p:nvSpPr>
        <p:spPr>
          <a:xfrm>
            <a:off x="2468880" y="2217420"/>
            <a:ext cx="173736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今: コストプラス</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価格は原価で決まる</a:t>
            </a:r>
            <a:endParaRPr lang="en-US" sz="850" dirty="0"/>
          </a:p>
        </p:txBody>
      </p:sp>
      <p:sp>
        <p:nvSpPr>
          <p:cNvPr id="66" name="ovl_s24_n_inf"/>
          <p:cNvSpPr/>
          <p:nvPr/>
        </p:nvSpPr>
        <p:spPr>
          <a:xfrm>
            <a:off x="2423160" y="2889504"/>
            <a:ext cx="1828800" cy="704088"/>
          </a:xfrm>
          <a:prstGeom prst="roundRect">
            <a:avLst>
              <a:gd name="adj" fmla="val 7792"/>
            </a:avLst>
          </a:prstGeom>
          <a:solidFill>
            <a:srgbClr val="EAF4EE"/>
          </a:solidFill>
          <a:ln w="9525">
            <a:solidFill>
              <a:srgbClr val="86C99B"/>
            </a:solidFill>
            <a:prstDash val="solid"/>
          </a:ln>
        </p:spPr>
      </p:sp>
      <p:sp>
        <p:nvSpPr>
          <p:cNvPr id="67" name="ovl_s24_nt_inf"/>
          <p:cNvSpPr txBox="1"/>
          <p:nvPr/>
        </p:nvSpPr>
        <p:spPr>
          <a:xfrm>
            <a:off x="2459736" y="2916936"/>
            <a:ext cx="17556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推論(企業データの近く)</a:t>
            </a:r>
            <a:endParaRPr lang="en-US" sz="1000" dirty="0"/>
          </a:p>
        </p:txBody>
      </p:sp>
      <p:sp>
        <p:nvSpPr>
          <p:cNvPr id="68" name="ovl_s24_ns_inf"/>
          <p:cNvSpPr txBox="1"/>
          <p:nvPr/>
        </p:nvSpPr>
        <p:spPr>
          <a:xfrm>
            <a:off x="2468880" y="3122676"/>
            <a:ext cx="173736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将来: 分散 50〜200MW</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DB・OCI と一体</a:t>
            </a:r>
            <a:endParaRPr lang="en-US" sz="850" dirty="0"/>
          </a:p>
        </p:txBody>
      </p:sp>
      <p:sp>
        <p:nvSpPr>
          <p:cNvPr id="69" name="ovl_s24_n_db"/>
          <p:cNvSpPr/>
          <p:nvPr/>
        </p:nvSpPr>
        <p:spPr>
          <a:xfrm>
            <a:off x="2423160" y="3794760"/>
            <a:ext cx="1828800" cy="704088"/>
          </a:xfrm>
          <a:prstGeom prst="roundRect">
            <a:avLst>
              <a:gd name="adj" fmla="val 7792"/>
            </a:avLst>
          </a:prstGeom>
          <a:solidFill>
            <a:srgbClr val="EAF4EE"/>
          </a:solidFill>
          <a:ln w="9525">
            <a:solidFill>
              <a:srgbClr val="86C99B"/>
            </a:solidFill>
            <a:prstDash val="solid"/>
          </a:ln>
        </p:spPr>
      </p:sp>
      <p:sp>
        <p:nvSpPr>
          <p:cNvPr id="70" name="ovl_s24_nt_db"/>
          <p:cNvSpPr txBox="1"/>
          <p:nvPr/>
        </p:nvSpPr>
        <p:spPr>
          <a:xfrm>
            <a:off x="2459736" y="3822192"/>
            <a:ext cx="17556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企業向け OCI・DB</a:t>
            </a:r>
            <a:endParaRPr lang="en-US" sz="1000" dirty="0"/>
          </a:p>
        </p:txBody>
      </p:sp>
      <p:sp>
        <p:nvSpPr>
          <p:cNvPr id="71" name="ovl_s24_ns_db"/>
          <p:cNvSpPr txBox="1"/>
          <p:nvPr/>
        </p:nvSpPr>
        <p:spPr>
          <a:xfrm>
            <a:off x="2468880" y="4027932"/>
            <a:ext cx="173736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ソフト保守 16%・OCI 一般 14%</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Database@ 4%(価値の比率)</a:t>
            </a:r>
            <a:endParaRPr lang="en-US" sz="850" dirty="0"/>
          </a:p>
        </p:txBody>
      </p:sp>
      <p:sp>
        <p:nvSpPr>
          <p:cNvPr id="72" name="ovl_s24_n_apps"/>
          <p:cNvSpPr/>
          <p:nvPr/>
        </p:nvSpPr>
        <p:spPr>
          <a:xfrm>
            <a:off x="2423160" y="4700016"/>
            <a:ext cx="1828800" cy="704088"/>
          </a:xfrm>
          <a:prstGeom prst="roundRect">
            <a:avLst>
              <a:gd name="adj" fmla="val 7792"/>
            </a:avLst>
          </a:prstGeom>
          <a:solidFill>
            <a:srgbClr val="EAF4EE"/>
          </a:solidFill>
          <a:ln w="9525">
            <a:solidFill>
              <a:srgbClr val="86C99B"/>
            </a:solidFill>
            <a:prstDash val="solid"/>
          </a:ln>
        </p:spPr>
      </p:sp>
      <p:sp>
        <p:nvSpPr>
          <p:cNvPr id="73" name="ovl_s24_nt_apps"/>
          <p:cNvSpPr txBox="1"/>
          <p:nvPr/>
        </p:nvSpPr>
        <p:spPr>
          <a:xfrm>
            <a:off x="2459736" y="4727448"/>
            <a:ext cx="17556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アプリ(SaaS)</a:t>
            </a:r>
            <a:endParaRPr lang="en-US" sz="1000" dirty="0"/>
          </a:p>
        </p:txBody>
      </p:sp>
      <p:sp>
        <p:nvSpPr>
          <p:cNvPr id="74" name="ovl_s24_ns_apps"/>
          <p:cNvSpPr txBox="1"/>
          <p:nvPr/>
        </p:nvSpPr>
        <p:spPr>
          <a:xfrm>
            <a:off x="2468880" y="4933188"/>
            <a:ext cx="173736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SaaS 18%(価値の比率)</a:t>
            </a:r>
            <a:endParaRPr lang="en-US" sz="850" dirty="0"/>
          </a:p>
        </p:txBody>
      </p:sp>
      <p:sp>
        <p:nvSpPr>
          <p:cNvPr id="75" name="ovl_s24_n_lab"/>
          <p:cNvSpPr/>
          <p:nvPr/>
        </p:nvSpPr>
        <p:spPr>
          <a:xfrm>
            <a:off x="4846320" y="1984248"/>
            <a:ext cx="1371600" cy="704088"/>
          </a:xfrm>
          <a:prstGeom prst="roundRect">
            <a:avLst>
              <a:gd name="adj" fmla="val 7792"/>
            </a:avLst>
          </a:prstGeom>
          <a:solidFill>
            <a:srgbClr val="FFFFFF"/>
          </a:solidFill>
          <a:ln w="9525">
            <a:solidFill>
              <a:srgbClr val="767676"/>
            </a:solidFill>
            <a:prstDash val="solid"/>
          </a:ln>
        </p:spPr>
      </p:sp>
      <p:sp>
        <p:nvSpPr>
          <p:cNvPr id="76" name="ovl_s24_nt_lab"/>
          <p:cNvSpPr txBox="1"/>
          <p:nvPr/>
        </p:nvSpPr>
        <p:spPr>
          <a:xfrm>
            <a:off x="4882896" y="2011680"/>
            <a:ext cx="12984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研究所</a:t>
            </a:r>
            <a:endParaRPr lang="en-US" sz="1000" dirty="0"/>
          </a:p>
        </p:txBody>
      </p:sp>
      <p:sp>
        <p:nvSpPr>
          <p:cNvPr id="77" name="ovl_s24_ns_lab"/>
          <p:cNvSpPr txBox="1"/>
          <p:nvPr/>
        </p:nvSpPr>
        <p:spPr>
          <a:xfrm>
            <a:off x="4892040" y="2217420"/>
            <a:ext cx="128016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最も安い容量を選ぶ</a:t>
            </a:r>
            <a:endParaRPr lang="en-US" sz="850" dirty="0"/>
          </a:p>
        </p:txBody>
      </p:sp>
      <p:sp>
        <p:nvSpPr>
          <p:cNvPr id="78" name="ovl_s24_n_ent"/>
          <p:cNvSpPr/>
          <p:nvPr/>
        </p:nvSpPr>
        <p:spPr>
          <a:xfrm>
            <a:off x="4846320" y="3794760"/>
            <a:ext cx="1371600" cy="704088"/>
          </a:xfrm>
          <a:prstGeom prst="roundRect">
            <a:avLst>
              <a:gd name="adj" fmla="val 7792"/>
            </a:avLst>
          </a:prstGeom>
          <a:solidFill>
            <a:srgbClr val="FFFFFF"/>
          </a:solidFill>
          <a:ln w="9525">
            <a:solidFill>
              <a:srgbClr val="767676"/>
            </a:solidFill>
            <a:prstDash val="solid"/>
          </a:ln>
        </p:spPr>
      </p:sp>
      <p:sp>
        <p:nvSpPr>
          <p:cNvPr id="79" name="ovl_s24_nt_ent"/>
          <p:cNvSpPr txBox="1"/>
          <p:nvPr/>
        </p:nvSpPr>
        <p:spPr>
          <a:xfrm>
            <a:off x="4882896" y="3822192"/>
            <a:ext cx="12984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企業</a:t>
            </a:r>
            <a:endParaRPr lang="en-US" sz="1000" dirty="0"/>
          </a:p>
        </p:txBody>
      </p:sp>
      <p:sp>
        <p:nvSpPr>
          <p:cNvPr id="80" name="ovl_s24_ns_ent"/>
          <p:cNvSpPr txBox="1"/>
          <p:nvPr/>
        </p:nvSpPr>
        <p:spPr>
          <a:xfrm>
            <a:off x="4892040" y="4027932"/>
            <a:ext cx="128016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データの近くで推論</a:t>
            </a:r>
            <a:endParaRPr lang="en-US" sz="850" dirty="0"/>
          </a:p>
        </p:txBody>
      </p:sp>
      <p:sp>
        <p:nvSpPr>
          <p:cNvPr id="81" name="ovl_s24_n_neo"/>
          <p:cNvSpPr/>
          <p:nvPr/>
        </p:nvSpPr>
        <p:spPr>
          <a:xfrm>
            <a:off x="6812280" y="1984248"/>
            <a:ext cx="1463040" cy="704088"/>
          </a:xfrm>
          <a:prstGeom prst="roundRect">
            <a:avLst>
              <a:gd name="adj" fmla="val 7792"/>
            </a:avLst>
          </a:prstGeom>
          <a:solidFill>
            <a:srgbClr val="FFFFFF"/>
          </a:solidFill>
          <a:ln w="19050">
            <a:solidFill>
              <a:srgbClr val="C0392B"/>
            </a:solidFill>
            <a:prstDash val="solid"/>
          </a:ln>
        </p:spPr>
      </p:sp>
      <p:sp>
        <p:nvSpPr>
          <p:cNvPr id="82" name="ovl_s24_nt_neo"/>
          <p:cNvSpPr txBox="1"/>
          <p:nvPr/>
        </p:nvSpPr>
        <p:spPr>
          <a:xfrm>
            <a:off x="6848856" y="2011680"/>
            <a:ext cx="138988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ネオクラウド</a:t>
            </a:r>
            <a:endParaRPr lang="en-US" sz="1000" dirty="0"/>
          </a:p>
        </p:txBody>
      </p:sp>
      <p:sp>
        <p:nvSpPr>
          <p:cNvPr id="83" name="ovl_s24_ns_neo"/>
          <p:cNvSpPr txBox="1"/>
          <p:nvPr/>
        </p:nvSpPr>
        <p:spPr>
          <a:xfrm>
            <a:off x="6858000" y="2217420"/>
            <a:ext cx="137160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H100 実勢 2.80 ドル/時</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大手の約 2.6 倍安い</a:t>
            </a:r>
            <a:endParaRPr lang="en-US" sz="850" dirty="0"/>
          </a:p>
        </p:txBody>
      </p:sp>
      <p:sp>
        <p:nvSpPr>
          <p:cNvPr id="84" name="ovl_s24_n_fut"/>
          <p:cNvSpPr/>
          <p:nvPr/>
        </p:nvSpPr>
        <p:spPr>
          <a:xfrm>
            <a:off x="6812280" y="2889504"/>
            <a:ext cx="1463040" cy="704088"/>
          </a:xfrm>
          <a:prstGeom prst="roundRect">
            <a:avLst>
              <a:gd name="adj" fmla="val 7792"/>
            </a:avLst>
          </a:prstGeom>
          <a:solidFill>
            <a:srgbClr val="FFFFFF"/>
          </a:solidFill>
          <a:ln w="19050">
            <a:solidFill>
              <a:srgbClr val="C0392B"/>
            </a:solidFill>
            <a:prstDash val="solid"/>
          </a:ln>
        </p:spPr>
      </p:sp>
      <p:sp>
        <p:nvSpPr>
          <p:cNvPr id="85" name="ovl_s24_nt_fut"/>
          <p:cNvSpPr txBox="1"/>
          <p:nvPr/>
        </p:nvSpPr>
        <p:spPr>
          <a:xfrm>
            <a:off x="6848856" y="2916936"/>
            <a:ext cx="138988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価格指数・先物</a:t>
            </a:r>
            <a:endParaRPr lang="en-US" sz="1000" dirty="0"/>
          </a:p>
        </p:txBody>
      </p:sp>
      <p:sp>
        <p:nvSpPr>
          <p:cNvPr id="86" name="ovl_s24_ns_fut"/>
          <p:cNvSpPr txBox="1"/>
          <p:nvPr/>
        </p:nvSpPr>
        <p:spPr>
          <a:xfrm>
            <a:off x="6858000" y="3122676"/>
            <a:ext cx="137160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ICE・CME が準備</a:t>
            </a:r>
            <a:endParaRPr lang="en-US" sz="850" dirty="0"/>
          </a:p>
        </p:txBody>
      </p:sp>
      <p:sp>
        <p:nvSpPr>
          <p:cNvPr id="87" name="ovl_s24_n_hyper"/>
          <p:cNvSpPr/>
          <p:nvPr/>
        </p:nvSpPr>
        <p:spPr>
          <a:xfrm>
            <a:off x="6812280" y="3794760"/>
            <a:ext cx="1463040" cy="704088"/>
          </a:xfrm>
          <a:prstGeom prst="roundRect">
            <a:avLst>
              <a:gd name="adj" fmla="val 7792"/>
            </a:avLst>
          </a:prstGeom>
          <a:solidFill>
            <a:srgbClr val="FFFFFF"/>
          </a:solidFill>
          <a:ln w="9525">
            <a:solidFill>
              <a:srgbClr val="767676"/>
            </a:solidFill>
            <a:prstDash val="solid"/>
          </a:ln>
        </p:spPr>
      </p:sp>
      <p:sp>
        <p:nvSpPr>
          <p:cNvPr id="88" name="ovl_s24_nt_hyper"/>
          <p:cNvSpPr txBox="1"/>
          <p:nvPr/>
        </p:nvSpPr>
        <p:spPr>
          <a:xfrm>
            <a:off x="6848856" y="3822192"/>
            <a:ext cx="13898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大手クラウド</a:t>
            </a:r>
            <a:endParaRPr lang="en-US" sz="1000" dirty="0"/>
          </a:p>
        </p:txBody>
      </p:sp>
      <p:sp>
        <p:nvSpPr>
          <p:cNvPr id="89" name="ovl_s24_ns_hyper"/>
          <p:cNvSpPr txBox="1"/>
          <p:nvPr/>
        </p:nvSpPr>
        <p:spPr>
          <a:xfrm>
            <a:off x="6858000" y="4027932"/>
            <a:ext cx="137160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H100 実勢 7.19 ドル/時</a:t>
            </a:r>
            <a:endParaRPr lang="en-US" sz="850" dirty="0"/>
          </a:p>
        </p:txBody>
      </p:sp>
      <p:sp>
        <p:nvSpPr>
          <p:cNvPr id="90" name="ovl_s24_tag_learn"/>
          <p:cNvSpPr/>
          <p:nvPr/>
        </p:nvSpPr>
        <p:spPr>
          <a:xfrm>
            <a:off x="3124200" y="2715768"/>
            <a:ext cx="426720" cy="182880"/>
          </a:xfrm>
          <a:prstGeom prst="roundRect">
            <a:avLst>
              <a:gd name="adj" fmla="val 20000"/>
            </a:avLst>
          </a:prstGeom>
          <a:solidFill>
            <a:srgbClr val="C0392B"/>
          </a:solidFill>
          <a:ln w="12700">
            <a:solidFill>
              <a:srgbClr val="C0392B"/>
            </a:solidFill>
            <a:prstDash val="solid"/>
          </a:ln>
        </p:spPr>
      </p:sp>
      <p:sp>
        <p:nvSpPr>
          <p:cNvPr id="91" name="ovl_s24_tagt_learn"/>
          <p:cNvSpPr txBox="1"/>
          <p:nvPr/>
        </p:nvSpPr>
        <p:spPr>
          <a:xfrm>
            <a:off x="3124200" y="2715768"/>
            <a:ext cx="42672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今: C</a:t>
            </a:r>
            <a:endParaRPr lang="en-US" sz="800" dirty="0"/>
          </a:p>
        </p:txBody>
      </p:sp>
      <p:sp>
        <p:nvSpPr>
          <p:cNvPr id="92" name="ovl_s24_tag_inf"/>
          <p:cNvSpPr/>
          <p:nvPr/>
        </p:nvSpPr>
        <p:spPr>
          <a:xfrm>
            <a:off x="3073400" y="3621024"/>
            <a:ext cx="528320" cy="182880"/>
          </a:xfrm>
          <a:prstGeom prst="roundRect">
            <a:avLst>
              <a:gd name="adj" fmla="val 20000"/>
            </a:avLst>
          </a:prstGeom>
          <a:solidFill>
            <a:srgbClr val="197A56"/>
          </a:solidFill>
          <a:ln w="12700">
            <a:solidFill>
              <a:srgbClr val="197A56"/>
            </a:solidFill>
            <a:prstDash val="solid"/>
          </a:ln>
        </p:spPr>
      </p:sp>
      <p:sp>
        <p:nvSpPr>
          <p:cNvPr id="93" name="ovl_s24_tagt_inf"/>
          <p:cNvSpPr txBox="1"/>
          <p:nvPr/>
        </p:nvSpPr>
        <p:spPr>
          <a:xfrm>
            <a:off x="3073400" y="3621024"/>
            <a:ext cx="52832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将来: B</a:t>
            </a:r>
            <a:endParaRPr lang="en-US" sz="800" dirty="0"/>
          </a:p>
        </p:txBody>
      </p:sp>
      <p:sp>
        <p:nvSpPr>
          <p:cNvPr id="94" name="ovl_s24_tag_db"/>
          <p:cNvSpPr/>
          <p:nvPr/>
        </p:nvSpPr>
        <p:spPr>
          <a:xfrm>
            <a:off x="3073400" y="4526280"/>
            <a:ext cx="528320" cy="182880"/>
          </a:xfrm>
          <a:prstGeom prst="roundRect">
            <a:avLst>
              <a:gd name="adj" fmla="val 20000"/>
            </a:avLst>
          </a:prstGeom>
          <a:solidFill>
            <a:srgbClr val="197A56"/>
          </a:solidFill>
          <a:ln w="12700">
            <a:solidFill>
              <a:srgbClr val="197A56"/>
            </a:solidFill>
            <a:prstDash val="solid"/>
          </a:ln>
        </p:spPr>
      </p:sp>
      <p:sp>
        <p:nvSpPr>
          <p:cNvPr id="95" name="ovl_s24_tagt_db"/>
          <p:cNvSpPr txBox="1"/>
          <p:nvPr/>
        </p:nvSpPr>
        <p:spPr>
          <a:xfrm>
            <a:off x="3073400" y="4526280"/>
            <a:ext cx="52832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将来: B</a:t>
            </a:r>
            <a:endParaRPr lang="en-US" sz="800" dirty="0"/>
          </a:p>
        </p:txBody>
      </p:sp>
      <p:sp>
        <p:nvSpPr>
          <p:cNvPr id="96" name="ovl_s24_num2"/>
          <p:cNvSpPr/>
          <p:nvPr/>
        </p:nvSpPr>
        <p:spPr>
          <a:xfrm>
            <a:off x="2007108" y="4027932"/>
            <a:ext cx="237744" cy="237744"/>
          </a:xfrm>
          <a:prstGeom prst="ellipse">
            <a:avLst/>
          </a:prstGeom>
          <a:solidFill>
            <a:srgbClr val="1BA1A6"/>
          </a:solidFill>
          <a:ln w="12700">
            <a:solidFill>
              <a:srgbClr val="FFFFFF"/>
            </a:solidFill>
            <a:prstDash val="solid"/>
          </a:ln>
        </p:spPr>
      </p:sp>
      <p:sp>
        <p:nvSpPr>
          <p:cNvPr id="97" name="ovl_s24_numt2"/>
          <p:cNvSpPr txBox="1"/>
          <p:nvPr/>
        </p:nvSpPr>
        <p:spPr>
          <a:xfrm>
            <a:off x="2007108" y="402793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1</a:t>
            </a:r>
            <a:endParaRPr lang="en-US" sz="900" dirty="0"/>
          </a:p>
        </p:txBody>
      </p:sp>
      <p:sp>
        <p:nvSpPr>
          <p:cNvPr id="98" name="ovl_s24_num4"/>
          <p:cNvSpPr/>
          <p:nvPr/>
        </p:nvSpPr>
        <p:spPr>
          <a:xfrm>
            <a:off x="4430268" y="2135124"/>
            <a:ext cx="237744" cy="237744"/>
          </a:xfrm>
          <a:prstGeom prst="ellipse">
            <a:avLst/>
          </a:prstGeom>
          <a:solidFill>
            <a:srgbClr val="1BA1A6"/>
          </a:solidFill>
          <a:ln w="12700">
            <a:solidFill>
              <a:srgbClr val="FFFFFF"/>
            </a:solidFill>
            <a:prstDash val="solid"/>
          </a:ln>
        </p:spPr>
      </p:sp>
      <p:sp>
        <p:nvSpPr>
          <p:cNvPr id="99" name="ovl_s24_numt4"/>
          <p:cNvSpPr txBox="1"/>
          <p:nvPr/>
        </p:nvSpPr>
        <p:spPr>
          <a:xfrm>
            <a:off x="4430268" y="213512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2</a:t>
            </a:r>
            <a:endParaRPr lang="en-US" sz="900" dirty="0"/>
          </a:p>
        </p:txBody>
      </p:sp>
      <p:sp>
        <p:nvSpPr>
          <p:cNvPr id="100" name="ovl_s24_num6"/>
          <p:cNvSpPr/>
          <p:nvPr/>
        </p:nvSpPr>
        <p:spPr>
          <a:xfrm>
            <a:off x="4546854" y="3918204"/>
            <a:ext cx="237744" cy="237744"/>
          </a:xfrm>
          <a:prstGeom prst="ellipse">
            <a:avLst/>
          </a:prstGeom>
          <a:solidFill>
            <a:srgbClr val="1BA1A6"/>
          </a:solidFill>
          <a:ln w="12700">
            <a:solidFill>
              <a:srgbClr val="FFFFFF"/>
            </a:solidFill>
            <a:prstDash val="solid"/>
          </a:ln>
        </p:spPr>
      </p:sp>
      <p:sp>
        <p:nvSpPr>
          <p:cNvPr id="101" name="ovl_s24_numt6"/>
          <p:cNvSpPr txBox="1"/>
          <p:nvPr/>
        </p:nvSpPr>
        <p:spPr>
          <a:xfrm>
            <a:off x="4546854" y="391820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5</a:t>
            </a:r>
            <a:endParaRPr lang="en-US" sz="900" dirty="0"/>
          </a:p>
        </p:txBody>
      </p:sp>
      <p:sp>
        <p:nvSpPr>
          <p:cNvPr id="102" name="ovl_s24_num8"/>
          <p:cNvSpPr/>
          <p:nvPr/>
        </p:nvSpPr>
        <p:spPr>
          <a:xfrm>
            <a:off x="6396228" y="2217420"/>
            <a:ext cx="237744" cy="237744"/>
          </a:xfrm>
          <a:prstGeom prst="ellipse">
            <a:avLst/>
          </a:prstGeom>
          <a:solidFill>
            <a:srgbClr val="C0392B"/>
          </a:solidFill>
          <a:ln w="12700">
            <a:solidFill>
              <a:srgbClr val="FFFFFF"/>
            </a:solidFill>
            <a:prstDash val="solid"/>
          </a:ln>
        </p:spPr>
      </p:sp>
      <p:sp>
        <p:nvSpPr>
          <p:cNvPr id="103" name="ovl_s24_numt8"/>
          <p:cNvSpPr txBox="1"/>
          <p:nvPr/>
        </p:nvSpPr>
        <p:spPr>
          <a:xfrm>
            <a:off x="6396228" y="221742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3</a:t>
            </a:r>
            <a:endParaRPr lang="en-US" sz="900" dirty="0"/>
          </a:p>
        </p:txBody>
      </p:sp>
      <p:sp>
        <p:nvSpPr>
          <p:cNvPr id="104" name="ovl_s24_num9"/>
          <p:cNvSpPr/>
          <p:nvPr/>
        </p:nvSpPr>
        <p:spPr>
          <a:xfrm>
            <a:off x="6544818" y="3122676"/>
            <a:ext cx="237744" cy="237744"/>
          </a:xfrm>
          <a:prstGeom prst="ellipse">
            <a:avLst/>
          </a:prstGeom>
          <a:solidFill>
            <a:srgbClr val="C0392B"/>
          </a:solidFill>
          <a:ln w="12700">
            <a:solidFill>
              <a:srgbClr val="FFFFFF"/>
            </a:solidFill>
            <a:prstDash val="solid"/>
          </a:ln>
        </p:spPr>
      </p:sp>
      <p:sp>
        <p:nvSpPr>
          <p:cNvPr id="105" name="ovl_s24_numt9"/>
          <p:cNvSpPr txBox="1"/>
          <p:nvPr/>
        </p:nvSpPr>
        <p:spPr>
          <a:xfrm>
            <a:off x="6544818" y="312267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4</a:t>
            </a:r>
            <a:endParaRPr lang="en-US" sz="900" dirty="0"/>
          </a:p>
        </p:txBody>
      </p:sp>
      <p:sp>
        <p:nvSpPr>
          <p:cNvPr id="106" name="ovl_s24_glab0"/>
          <p:cNvSpPr txBox="1"/>
          <p:nvPr/>
        </p:nvSpPr>
        <p:spPr>
          <a:xfrm>
            <a:off x="2450592" y="1828800"/>
            <a:ext cx="1421384" cy="164592"/>
          </a:xfrm>
          <a:prstGeom prst="rect">
            <a:avLst/>
          </a:prstGeom>
          <a:solidFill>
            <a:srgbClr val="FFFFFF"/>
          </a:solidFill>
          <a:ln/>
        </p:spPr>
        <p:txBody>
          <a:bodyPr wrap="square" lIns="0" tIns="0" rIns="0" bIns="0" rtlCol="0" anchor="ctr"/>
          <a:lstStyle/>
          <a:p>
            <a:pPr algn="ctr" indent="0" marL="0">
              <a:buNone/>
            </a:pPr>
            <a:r>
              <a:rPr lang="en-US" sz="800" b="1" dirty="0">
                <a:solidFill>
                  <a:srgbClr val="197A56"/>
                </a:solidFill>
                <a:latin typeface="Meiryo UI" pitchFamily="34" charset="0"/>
                <a:ea typeface="Meiryo UI" pitchFamily="34" charset="-122"/>
                <a:cs typeface="Meiryo UI" pitchFamily="34" charset="-120"/>
              </a:rPr>
              <a:t>AI 容量 1 株 113 ドル(44%)</a:t>
            </a:r>
            <a:endParaRPr lang="en-US" sz="800" dirty="0"/>
          </a:p>
        </p:txBody>
      </p:sp>
      <p:sp>
        <p:nvSpPr>
          <p:cNvPr id="107" name="ovl_s24_leg0"/>
          <p:cNvSpPr/>
          <p:nvPr/>
        </p:nvSpPr>
        <p:spPr>
          <a:xfrm>
            <a:off x="457200" y="5660136"/>
            <a:ext cx="365760" cy="914"/>
          </a:xfrm>
          <a:prstGeom prst="line">
            <a:avLst/>
          </a:prstGeom>
          <a:noFill/>
          <a:ln w="22225">
            <a:solidFill>
              <a:srgbClr val="0E4D33"/>
            </a:solidFill>
            <a:prstDash val="solid"/>
            <a:tailEnd type="triangle"/>
          </a:ln>
        </p:spPr>
      </p:sp>
      <p:sp>
        <p:nvSpPr>
          <p:cNvPr id="108" name="ovl_s24_legt0"/>
          <p:cNvSpPr txBox="1"/>
          <p:nvPr/>
        </p:nvSpPr>
        <p:spPr>
          <a:xfrm>
            <a:off x="877824" y="5559552"/>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カネ</a:t>
            </a:r>
            <a:endParaRPr lang="en-US" sz="800" dirty="0"/>
          </a:p>
        </p:txBody>
      </p:sp>
      <p:sp>
        <p:nvSpPr>
          <p:cNvPr id="109" name="ovl_s24_leg1"/>
          <p:cNvSpPr/>
          <p:nvPr/>
        </p:nvSpPr>
        <p:spPr>
          <a:xfrm>
            <a:off x="1874520" y="5660136"/>
            <a:ext cx="365760" cy="914"/>
          </a:xfrm>
          <a:prstGeom prst="line">
            <a:avLst/>
          </a:prstGeom>
          <a:noFill/>
          <a:ln w="19050">
            <a:solidFill>
              <a:srgbClr val="1BA1A6"/>
            </a:solidFill>
            <a:prstDash val="solid"/>
            <a:tailEnd type="triangle"/>
          </a:ln>
        </p:spPr>
      </p:sp>
      <p:sp>
        <p:nvSpPr>
          <p:cNvPr id="110" name="ovl_s24_legt1"/>
          <p:cNvSpPr txBox="1"/>
          <p:nvPr/>
        </p:nvSpPr>
        <p:spPr>
          <a:xfrm>
            <a:off x="2295144" y="5559552"/>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モノ・サービス</a:t>
            </a:r>
            <a:endParaRPr lang="en-US" sz="800" dirty="0"/>
          </a:p>
        </p:txBody>
      </p:sp>
      <p:sp>
        <p:nvSpPr>
          <p:cNvPr id="111" name="ovl_s24_leg2"/>
          <p:cNvSpPr/>
          <p:nvPr/>
        </p:nvSpPr>
        <p:spPr>
          <a:xfrm>
            <a:off x="3291840" y="5660136"/>
            <a:ext cx="365760" cy="914"/>
          </a:xfrm>
          <a:prstGeom prst="line">
            <a:avLst/>
          </a:prstGeom>
          <a:noFill/>
          <a:ln w="15875">
            <a:solidFill>
              <a:srgbClr val="C0392B"/>
            </a:solidFill>
            <a:prstDash val="dash"/>
            <a:tailEnd type="triangle"/>
          </a:ln>
        </p:spPr>
      </p:sp>
      <p:sp>
        <p:nvSpPr>
          <p:cNvPr id="112" name="ovl_s24_legt2"/>
          <p:cNvSpPr txBox="1"/>
          <p:nvPr/>
        </p:nvSpPr>
        <p:spPr>
          <a:xfrm>
            <a:off x="3712464" y="5559552"/>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リスク</a:t>
            </a:r>
            <a:endParaRPr lang="en-US" sz="800" dirty="0"/>
          </a:p>
        </p:txBody>
      </p:sp>
      <p:sp>
        <p:nvSpPr>
          <p:cNvPr id="113" name="ovl_s24_legn"/>
          <p:cNvSpPr txBox="1"/>
          <p:nvPr/>
        </p:nvSpPr>
        <p:spPr>
          <a:xfrm>
            <a:off x="6126480" y="5559552"/>
            <a:ext cx="2148840" cy="201168"/>
          </a:xfrm>
          <a:prstGeom prst="rect">
            <a:avLst/>
          </a:prstGeom>
          <a:noFill/>
          <a:ln/>
        </p:spPr>
        <p:txBody>
          <a:bodyPr wrap="square" lIns="0" tIns="0" rIns="0" bIns="0" rtlCol="0" anchor="ctr"/>
          <a:lstStyle/>
          <a:p>
            <a:pPr algn="r" indent="0" marL="0">
              <a:buNone/>
            </a:pPr>
            <a:r>
              <a:rPr lang="en-US" sz="800" dirty="0">
                <a:solidFill>
                  <a:srgbClr val="767676"/>
                </a:solidFill>
                <a:latin typeface="Meiryo UI" pitchFamily="34" charset="0"/>
                <a:ea typeface="Meiryo UI" pitchFamily="34" charset="-122"/>
                <a:cs typeface="Meiryo UI" pitchFamily="34" charset="-120"/>
              </a:rPr>
              <a:t>①② … は右の「仕組み」の番号</a:t>
            </a:r>
            <a:endParaRPr lang="en-US" sz="800" dirty="0"/>
          </a:p>
        </p:txBody>
      </p:sp>
      <p:sp>
        <p:nvSpPr>
          <p:cNvPr id="114" name="mech_head"/>
          <p:cNvSpPr txBox="1"/>
          <p:nvPr/>
        </p:nvSpPr>
        <p:spPr>
          <a:xfrm>
            <a:off x="8458200" y="1481328"/>
            <a:ext cx="3276295"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仕組み(図の ①② … と対応)</a:t>
            </a:r>
            <a:endParaRPr lang="en-US" sz="1200" dirty="0"/>
          </a:p>
        </p:txBody>
      </p:sp>
      <p:sp>
        <p:nvSpPr>
          <p:cNvPr id="115" name="mech"/>
          <p:cNvSpPr txBox="1"/>
          <p:nvPr/>
        </p:nvSpPr>
        <p:spPr>
          <a:xfrm>
            <a:off x="8458200" y="1810512"/>
            <a:ext cx="3276295" cy="2150872"/>
          </a:xfrm>
          <a:prstGeom prst="rect">
            <a:avLst/>
          </a:prstGeom>
          <a:noFill/>
          <a:ln/>
        </p:spPr>
        <p:txBody>
          <a:bodyPr wrap="square" lIns="381" tIns="381" rIns="381" bIns="381" rtlCol="0" anchor="t"/>
          <a:lstStyle/>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① </a:t>
            </a:r>
            <a:r>
              <a:rPr lang="en-US" sz="1050" dirty="0">
                <a:solidFill>
                  <a:srgbClr val="333333"/>
                </a:solidFill>
                <a:latin typeface="Meiryo UI" pitchFamily="34" charset="0"/>
                <a:ea typeface="Meiryo UI" pitchFamily="34" charset="-122"/>
                <a:cs typeface="Meiryo UI" pitchFamily="34" charset="-120"/>
              </a:rPr>
              <a:t>DB・Database@ はデータのある場所で動く。代替がなく、価格は Oracle が決める</a:t>
            </a:r>
            <a:endParaRPr lang="en-US" sz="1050" dirty="0"/>
          </a:p>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② </a:t>
            </a:r>
            <a:r>
              <a:rPr lang="en-US" sz="1050" dirty="0">
                <a:solidFill>
                  <a:srgbClr val="333333"/>
                </a:solidFill>
                <a:latin typeface="Meiryo UI" pitchFamily="34" charset="0"/>
                <a:ea typeface="Meiryo UI" pitchFamily="34" charset="-122"/>
                <a:cs typeface="Meiryo UI" pitchFamily="34" charset="-120"/>
              </a:rPr>
              <a:t>AI 容量の買い手は最も安い容量を選ぶ。学習向けの大型容量は原価で値決めされ、今は C</a:t>
            </a:r>
            <a:endParaRPr lang="en-US" sz="1050" dirty="0"/>
          </a:p>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③ </a:t>
            </a:r>
            <a:r>
              <a:rPr lang="en-US" sz="1050" dirty="0">
                <a:solidFill>
                  <a:srgbClr val="333333"/>
                </a:solidFill>
                <a:latin typeface="Meiryo UI" pitchFamily="34" charset="0"/>
                <a:ea typeface="Meiryo UI" pitchFamily="34" charset="-122"/>
                <a:cs typeface="Meiryo UI" pitchFamily="34" charset="-120"/>
              </a:rPr>
              <a:t>ネオクラウドの H100 実勢は大手の約 2.6 倍安い。需給が緩むと、限界供給者の損益分岐が価格になる</a:t>
            </a:r>
            <a:endParaRPr lang="en-US" sz="1050" dirty="0"/>
          </a:p>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④ </a:t>
            </a:r>
            <a:r>
              <a:rPr lang="en-US" sz="1050" dirty="0">
                <a:solidFill>
                  <a:srgbClr val="333333"/>
                </a:solidFill>
                <a:latin typeface="Meiryo UI" pitchFamily="34" charset="0"/>
                <a:ea typeface="Meiryo UI" pitchFamily="34" charset="-122"/>
                <a:cs typeface="Meiryo UI" pitchFamily="34" charset="-120"/>
              </a:rPr>
              <a:t>価格指数と現金決済の先物(ICE・CME)が整い、GPU 時間の価格が標準化しつつある</a:t>
            </a:r>
            <a:endParaRPr lang="en-US" sz="1050" dirty="0"/>
          </a:p>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⑤ </a:t>
            </a:r>
            <a:r>
              <a:rPr lang="en-US" sz="1050" dirty="0">
                <a:solidFill>
                  <a:srgbClr val="333333"/>
                </a:solidFill>
                <a:latin typeface="Meiryo UI" pitchFamily="34" charset="0"/>
                <a:ea typeface="Meiryo UI" pitchFamily="34" charset="-122"/>
                <a:cs typeface="Meiryo UI" pitchFamily="34" charset="-120"/>
              </a:rPr>
              <a:t>推論はデータの近くで DB・OCI・アプリと一体になり、コモディティにならない。将来は B</a:t>
            </a:r>
            <a:endParaRPr lang="en-US" sz="1050" dirty="0"/>
          </a:p>
        </p:txBody>
      </p:sp>
      <p:sp>
        <p:nvSpPr>
          <p:cNvPr id="116" name="ovl_takeaway_bg"/>
          <p:cNvSpPr/>
          <p:nvPr/>
        </p:nvSpPr>
        <p:spPr>
          <a:xfrm>
            <a:off x="8458200" y="4034536"/>
            <a:ext cx="3276295" cy="1080008"/>
          </a:xfrm>
          <a:prstGeom prst="rect">
            <a:avLst/>
          </a:prstGeom>
          <a:solidFill>
            <a:srgbClr val="EAF4EE"/>
          </a:solidFill>
          <a:ln w="12700">
            <a:solidFill>
              <a:srgbClr val="EAF4EE"/>
            </a:solidFill>
            <a:prstDash val="solid"/>
          </a:ln>
        </p:spPr>
      </p:sp>
      <p:sp>
        <p:nvSpPr>
          <p:cNvPr id="117" name="takeaway"/>
          <p:cNvSpPr txBox="1"/>
          <p:nvPr/>
        </p:nvSpPr>
        <p:spPr>
          <a:xfrm>
            <a:off x="8567928" y="4107688"/>
            <a:ext cx="3056839" cy="933704"/>
          </a:xfrm>
          <a:prstGeom prst="rect">
            <a:avLst/>
          </a:prstGeom>
          <a:noFill/>
          <a:ln/>
        </p:spPr>
        <p:txBody>
          <a:bodyPr wrap="square" lIns="508" tIns="508" rIns="508" bIns="508"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価値の 44% の AI 容量のうち、コモディティ化の恐れが大きいのは学習向けの部分。</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推論はデータの近くで DB・OCI と一体になり、企業向け OCI・DB・アプリはコモディティではないため B</a:t>
            </a:r>
            <a:endParaRPr lang="en-US" sz="1000" dirty="0"/>
          </a:p>
        </p:txBody>
      </p:sp>
      <p:sp>
        <p:nvSpPr>
          <p:cNvPr id="118" name="updown"/>
          <p:cNvSpPr txBox="1"/>
          <p:nvPr/>
        </p:nvSpPr>
        <p:spPr>
          <a:xfrm>
            <a:off x="8458200" y="5187696"/>
            <a:ext cx="3276295" cy="591312"/>
          </a:xfrm>
          <a:prstGeom prst="rect">
            <a:avLst/>
          </a:prstGeom>
          <a:noFill/>
          <a:ln/>
        </p:spPr>
        <p:txBody>
          <a:bodyPr wrap="square" lIns="381" tIns="381" rIns="381" bIns="381" rtlCol="0" anchor="t"/>
          <a:lstStyle/>
          <a:p>
            <a:pPr indent="0" marL="0">
              <a:buNone/>
            </a:pPr>
            <a:r>
              <a:rPr lang="en-US" sz="850" b="1" dirty="0">
                <a:solidFill>
                  <a:srgbClr val="197A56"/>
                </a:solidFill>
                <a:latin typeface="Meiryo UI" pitchFamily="34" charset="0"/>
                <a:ea typeface="Meiryo UI" pitchFamily="34" charset="-122"/>
                <a:cs typeface="Meiryo UI" pitchFamily="34" charset="-120"/>
              </a:rPr>
              <a:t>上がる条件  </a:t>
            </a:r>
            <a:r>
              <a:rPr lang="en-US" sz="850" dirty="0">
                <a:solidFill>
                  <a:srgbClr val="333333"/>
                </a:solidFill>
                <a:latin typeface="Meiryo UI" pitchFamily="34" charset="0"/>
                <a:ea typeface="Meiryo UI" pitchFamily="34" charset="-122"/>
                <a:cs typeface="Meiryo UI" pitchFamily="34" charset="-120"/>
              </a:rPr>
              <a:t>推論の比率と GPU 以外のサービス(契約総額の 13%)が上がり、再契約の単価が保たれれば A</a:t>
            </a:r>
            <a:endParaRPr lang="en-US" sz="850" dirty="0"/>
          </a:p>
          <a:p>
            <a:pPr indent="0" marL="0">
              <a:buNone/>
            </a:pPr>
            <a:r>
              <a:rPr lang="en-US" sz="850" b="1" dirty="0">
                <a:solidFill>
                  <a:srgbClr val="C0392B"/>
                </a:solidFill>
                <a:latin typeface="Meiryo UI" pitchFamily="34" charset="0"/>
                <a:ea typeface="Meiryo UI" pitchFamily="34" charset="-122"/>
                <a:cs typeface="Meiryo UI" pitchFamily="34" charset="-120"/>
              </a:rPr>
              <a:t>下がる条件  </a:t>
            </a:r>
            <a:r>
              <a:rPr lang="en-US" sz="850" dirty="0">
                <a:solidFill>
                  <a:srgbClr val="333333"/>
                </a:solidFill>
                <a:latin typeface="Meiryo UI" pitchFamily="34" charset="0"/>
                <a:ea typeface="Meiryo UI" pitchFamily="34" charset="-122"/>
                <a:cs typeface="Meiryo UI" pitchFamily="34" charset="-120"/>
              </a:rPr>
              <a:t>緩和期に再契約の単価が 6 割を下回るか、AI 粗利率が 25% 未満なら C</a:t>
            </a:r>
            <a:endParaRPr lang="en-US" sz="850" dirty="0"/>
          </a:p>
        </p:txBody>
      </p:sp>
      <p:sp>
        <p:nvSpPr>
          <p:cNvPr id="119" name="ovl_kpibox"/>
          <p:cNvSpPr/>
          <p:nvPr/>
        </p:nvSpPr>
        <p:spPr>
          <a:xfrm>
            <a:off x="457200" y="5870448"/>
            <a:ext cx="11277295" cy="384048"/>
          </a:xfrm>
          <a:prstGeom prst="rect">
            <a:avLst/>
          </a:prstGeom>
          <a:solidFill>
            <a:srgbClr val="F2F2F2"/>
          </a:solidFill>
          <a:ln w="9525">
            <a:solidFill>
              <a:srgbClr val="D68910"/>
            </a:solidFill>
            <a:prstDash val="solid"/>
          </a:ln>
        </p:spPr>
      </p:sp>
      <p:sp>
        <p:nvSpPr>
          <p:cNvPr id="120" name="kpi"/>
          <p:cNvSpPr txBox="1"/>
          <p:nvPr/>
        </p:nvSpPr>
        <p:spPr>
          <a:xfrm>
            <a:off x="548640" y="5888736"/>
            <a:ext cx="11094415" cy="347472"/>
          </a:xfrm>
          <a:prstGeom prst="rect">
            <a:avLst/>
          </a:prstGeom>
          <a:noFill/>
          <a:ln/>
        </p:spPr>
        <p:txBody>
          <a:bodyPr wrap="square" lIns="0" tIns="0" rIns="0" bIns="0" rtlCol="0" anchor="ctr"/>
          <a:lstStyle/>
          <a:p>
            <a:pPr indent="0" marL="0">
              <a:buNone/>
            </a:pPr>
            <a:r>
              <a:rPr lang="en-US" sz="900" dirty="0">
                <a:solidFill>
                  <a:srgbClr val="333333"/>
                </a:solidFill>
                <a:latin typeface="Meiryo UI" pitchFamily="34" charset="0"/>
                <a:ea typeface="Meiryo UI" pitchFamily="34" charset="-122"/>
                <a:cs typeface="Meiryo UI" pitchFamily="34" charset="-120"/>
              </a:rPr>
              <a:t>監視 KPI とトリガー: 再契約の単価(会社: 4 年前の GPU +20%)/ GPU 以外のサービスの比率(13%)/ AI 粗利率(1GW 例 35%)が 25% 未満で C 候補</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3-4 製品と設備の性格(条件8〜12)(2/5)</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224282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22428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運用上の不可欠性(条件9)</a:t>
            </a:r>
            <a:endParaRPr lang="en-US" sz="1000" dirty="0"/>
          </a:p>
        </p:txBody>
      </p:sp>
      <p:sp>
        <p:nvSpPr>
          <p:cNvPr id="14" name="hdr_why"/>
          <p:cNvSpPr txBox="1"/>
          <p:nvPr/>
        </p:nvSpPr>
        <p:spPr>
          <a:xfrm>
            <a:off x="2846324" y="356616"/>
            <a:ext cx="888817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顧客が止められない運用に組み込まれていれば、景気後退でも解約されにくい</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止まれば顧客の AI 事業が止まる電力付きの容量で更新率は高いが、</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代替のクラウドもあり、不可欠とまでは言えない</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左から: 供給の基盤 → Oracle → 顧客の運用 ← 代替。①〜④ は右と対応</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会社開示(Q4 FY26・Q1 FY27 説明会)、research4/T4_ai_demand.md(McKinsey)、report/r3_sections_5w1h_f20.md §3-4</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32</a:t>
            </a:r>
            <a:endParaRPr lang="en-US" sz="800" dirty="0"/>
          </a:p>
        </p:txBody>
      </p:sp>
      <p:sp>
        <p:nvSpPr>
          <p:cNvPr id="19" name="ovl_badge"/>
          <p:cNvSpPr/>
          <p:nvPr/>
        </p:nvSpPr>
        <p:spPr>
          <a:xfrm>
            <a:off x="10865815" y="649224"/>
            <a:ext cx="868680" cy="677570"/>
          </a:xfrm>
          <a:prstGeom prst="roundRect">
            <a:avLst>
              <a:gd name="adj" fmla="val 10796"/>
            </a:avLst>
          </a:prstGeom>
          <a:solidFill>
            <a:srgbClr val="86C99B"/>
          </a:solidFill>
          <a:ln w="12700">
            <a:solidFill>
              <a:srgbClr val="86C99B"/>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0E4D33"/>
                </a:solidFill>
                <a:latin typeface="Meiryo UI" pitchFamily="34" charset="0"/>
                <a:ea typeface="Meiryo UI" pitchFamily="34" charset="-122"/>
                <a:cs typeface="Meiryo UI" pitchFamily="34" charset="-120"/>
              </a:rPr>
              <a:t>B</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0E4D33"/>
                </a:solidFill>
                <a:latin typeface="Meiryo UI" pitchFamily="34" charset="0"/>
                <a:ea typeface="Meiryo UI" pitchFamily="34" charset="-122"/>
                <a:cs typeface="Meiryo UI" pitchFamily="34" charset="-120"/>
              </a:rPr>
              <a:t>条件9</a:t>
            </a:r>
            <a:endParaRPr lang="en-US" sz="800" dirty="0"/>
          </a:p>
        </p:txBody>
      </p:sp>
      <p:sp>
        <p:nvSpPr>
          <p:cNvPr id="22" name="bg_lane0"/>
          <p:cNvSpPr/>
          <p:nvPr/>
        </p:nvSpPr>
        <p:spPr>
          <a:xfrm>
            <a:off x="347472" y="1517904"/>
            <a:ext cx="1453896" cy="4315968"/>
          </a:xfrm>
          <a:prstGeom prst="rect">
            <a:avLst/>
          </a:prstGeom>
          <a:solidFill>
            <a:srgbClr val="F2F2F2"/>
          </a:solidFill>
          <a:ln w="12700">
            <a:solidFill>
              <a:srgbClr val="F2F2F2"/>
            </a:solidFill>
            <a:prstDash val="solid"/>
          </a:ln>
        </p:spPr>
      </p:sp>
      <p:sp>
        <p:nvSpPr>
          <p:cNvPr id="23" name="bg_laneh0"/>
          <p:cNvSpPr/>
          <p:nvPr/>
        </p:nvSpPr>
        <p:spPr>
          <a:xfrm>
            <a:off x="347472" y="1517904"/>
            <a:ext cx="1453896" cy="274320"/>
          </a:xfrm>
          <a:prstGeom prst="rect">
            <a:avLst/>
          </a:prstGeom>
          <a:solidFill>
            <a:srgbClr val="D9D9D9"/>
          </a:solidFill>
          <a:ln w="12700">
            <a:solidFill>
              <a:srgbClr val="D9D9D9"/>
            </a:solidFill>
            <a:prstDash val="solid"/>
          </a:ln>
        </p:spPr>
      </p:sp>
      <p:sp>
        <p:nvSpPr>
          <p:cNvPr id="24" name="bg_lanet0"/>
          <p:cNvSpPr txBox="1"/>
          <p:nvPr/>
        </p:nvSpPr>
        <p:spPr>
          <a:xfrm>
            <a:off x="347472" y="1517904"/>
            <a:ext cx="145389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供給の基盤</a:t>
            </a:r>
            <a:endParaRPr lang="en-US" sz="950" dirty="0"/>
          </a:p>
        </p:txBody>
      </p:sp>
      <p:sp>
        <p:nvSpPr>
          <p:cNvPr id="25" name="bg_lane1"/>
          <p:cNvSpPr/>
          <p:nvPr/>
        </p:nvSpPr>
        <p:spPr>
          <a:xfrm>
            <a:off x="2450592" y="1517904"/>
            <a:ext cx="1499616" cy="4315968"/>
          </a:xfrm>
          <a:prstGeom prst="rect">
            <a:avLst/>
          </a:prstGeom>
          <a:solidFill>
            <a:srgbClr val="EAF4EE"/>
          </a:solidFill>
          <a:ln w="12700">
            <a:solidFill>
              <a:srgbClr val="EAF4EE"/>
            </a:solidFill>
            <a:prstDash val="solid"/>
          </a:ln>
        </p:spPr>
      </p:sp>
      <p:sp>
        <p:nvSpPr>
          <p:cNvPr id="26" name="bg_laneh1"/>
          <p:cNvSpPr/>
          <p:nvPr/>
        </p:nvSpPr>
        <p:spPr>
          <a:xfrm>
            <a:off x="2450592" y="1517904"/>
            <a:ext cx="1499616" cy="274320"/>
          </a:xfrm>
          <a:prstGeom prst="rect">
            <a:avLst/>
          </a:prstGeom>
          <a:solidFill>
            <a:srgbClr val="197A56"/>
          </a:solidFill>
          <a:ln w="12700">
            <a:solidFill>
              <a:srgbClr val="197A56"/>
            </a:solidFill>
            <a:prstDash val="solid"/>
          </a:ln>
        </p:spPr>
      </p:sp>
      <p:sp>
        <p:nvSpPr>
          <p:cNvPr id="27" name="bg_lanet1"/>
          <p:cNvSpPr txBox="1"/>
          <p:nvPr/>
        </p:nvSpPr>
        <p:spPr>
          <a:xfrm>
            <a:off x="2450592" y="1517904"/>
            <a:ext cx="1499616"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Oracle</a:t>
            </a:r>
            <a:endParaRPr lang="en-US" sz="950" dirty="0"/>
          </a:p>
        </p:txBody>
      </p:sp>
      <p:sp>
        <p:nvSpPr>
          <p:cNvPr id="28" name="bg_lane2"/>
          <p:cNvSpPr/>
          <p:nvPr/>
        </p:nvSpPr>
        <p:spPr>
          <a:xfrm>
            <a:off x="4599432" y="1517904"/>
            <a:ext cx="1636776" cy="4315968"/>
          </a:xfrm>
          <a:prstGeom prst="rect">
            <a:avLst/>
          </a:prstGeom>
          <a:solidFill>
            <a:srgbClr val="F2F2F2"/>
          </a:solidFill>
          <a:ln w="12700">
            <a:solidFill>
              <a:srgbClr val="F2F2F2"/>
            </a:solidFill>
            <a:prstDash val="solid"/>
          </a:ln>
        </p:spPr>
      </p:sp>
      <p:sp>
        <p:nvSpPr>
          <p:cNvPr id="29" name="bg_laneh2"/>
          <p:cNvSpPr/>
          <p:nvPr/>
        </p:nvSpPr>
        <p:spPr>
          <a:xfrm>
            <a:off x="4599432" y="1517904"/>
            <a:ext cx="1636776" cy="274320"/>
          </a:xfrm>
          <a:prstGeom prst="rect">
            <a:avLst/>
          </a:prstGeom>
          <a:solidFill>
            <a:srgbClr val="D9D9D9"/>
          </a:solidFill>
          <a:ln w="12700">
            <a:solidFill>
              <a:srgbClr val="D9D9D9"/>
            </a:solidFill>
            <a:prstDash val="solid"/>
          </a:ln>
        </p:spPr>
      </p:sp>
      <p:sp>
        <p:nvSpPr>
          <p:cNvPr id="30" name="bg_lanet2"/>
          <p:cNvSpPr txBox="1"/>
          <p:nvPr/>
        </p:nvSpPr>
        <p:spPr>
          <a:xfrm>
            <a:off x="4599432" y="1517904"/>
            <a:ext cx="163677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顧客の運用</a:t>
            </a:r>
            <a:endParaRPr lang="en-US" sz="950" dirty="0"/>
          </a:p>
        </p:txBody>
      </p:sp>
      <p:sp>
        <p:nvSpPr>
          <p:cNvPr id="31" name="bg_lane3"/>
          <p:cNvSpPr/>
          <p:nvPr/>
        </p:nvSpPr>
        <p:spPr>
          <a:xfrm>
            <a:off x="6885432" y="1517904"/>
            <a:ext cx="1499616" cy="4315968"/>
          </a:xfrm>
          <a:prstGeom prst="rect">
            <a:avLst/>
          </a:prstGeom>
          <a:solidFill>
            <a:srgbClr val="F2F2F2"/>
          </a:solidFill>
          <a:ln w="12700">
            <a:solidFill>
              <a:srgbClr val="F2F2F2"/>
            </a:solidFill>
            <a:prstDash val="solid"/>
          </a:ln>
        </p:spPr>
      </p:sp>
      <p:sp>
        <p:nvSpPr>
          <p:cNvPr id="32" name="bg_laneh3"/>
          <p:cNvSpPr/>
          <p:nvPr/>
        </p:nvSpPr>
        <p:spPr>
          <a:xfrm>
            <a:off x="6885432" y="1517904"/>
            <a:ext cx="1499616" cy="274320"/>
          </a:xfrm>
          <a:prstGeom prst="rect">
            <a:avLst/>
          </a:prstGeom>
          <a:solidFill>
            <a:srgbClr val="D9D9D9"/>
          </a:solidFill>
          <a:ln w="12700">
            <a:solidFill>
              <a:srgbClr val="D9D9D9"/>
            </a:solidFill>
            <a:prstDash val="solid"/>
          </a:ln>
        </p:spPr>
      </p:sp>
      <p:sp>
        <p:nvSpPr>
          <p:cNvPr id="33" name="bg_lanet3"/>
          <p:cNvSpPr txBox="1"/>
          <p:nvPr/>
        </p:nvSpPr>
        <p:spPr>
          <a:xfrm>
            <a:off x="6885432" y="1517904"/>
            <a:ext cx="149961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代替</a:t>
            </a:r>
            <a:endParaRPr lang="en-US" sz="950" dirty="0"/>
          </a:p>
        </p:txBody>
      </p:sp>
      <p:sp>
        <p:nvSpPr>
          <p:cNvPr id="34" name="ovl_s25_e0_0"/>
          <p:cNvSpPr/>
          <p:nvPr/>
        </p:nvSpPr>
        <p:spPr>
          <a:xfrm>
            <a:off x="1691640" y="2538984"/>
            <a:ext cx="868680" cy="914"/>
          </a:xfrm>
          <a:prstGeom prst="line">
            <a:avLst/>
          </a:prstGeom>
          <a:noFill/>
          <a:ln w="19050">
            <a:solidFill>
              <a:srgbClr val="1BA1A6"/>
            </a:solidFill>
            <a:prstDash val="solid"/>
            <a:tailEnd type="triangle"/>
          </a:ln>
        </p:spPr>
      </p:sp>
      <p:sp>
        <p:nvSpPr>
          <p:cNvPr id="35" name="ovl_s25_e1_0"/>
          <p:cNvSpPr/>
          <p:nvPr/>
        </p:nvSpPr>
        <p:spPr>
          <a:xfrm>
            <a:off x="1691640" y="3849624"/>
            <a:ext cx="868680" cy="914"/>
          </a:xfrm>
          <a:prstGeom prst="line">
            <a:avLst/>
          </a:prstGeom>
          <a:noFill/>
          <a:ln w="19050">
            <a:solidFill>
              <a:srgbClr val="1BA1A6"/>
            </a:solidFill>
            <a:prstDash val="solid"/>
            <a:tailEnd type="triangle"/>
          </a:ln>
        </p:spPr>
      </p:sp>
      <p:sp>
        <p:nvSpPr>
          <p:cNvPr id="36" name="ovl_s25_e2_0"/>
          <p:cNvSpPr/>
          <p:nvPr/>
        </p:nvSpPr>
        <p:spPr>
          <a:xfrm>
            <a:off x="1691640" y="5160264"/>
            <a:ext cx="868680" cy="914"/>
          </a:xfrm>
          <a:prstGeom prst="line">
            <a:avLst/>
          </a:prstGeom>
          <a:noFill/>
          <a:ln w="19050">
            <a:solidFill>
              <a:srgbClr val="1BA1A6"/>
            </a:solidFill>
            <a:prstDash val="solid"/>
            <a:tailEnd type="triangle"/>
          </a:ln>
        </p:spPr>
      </p:sp>
      <p:sp>
        <p:nvSpPr>
          <p:cNvPr id="37" name="ovl_s25_e3_0"/>
          <p:cNvSpPr/>
          <p:nvPr/>
        </p:nvSpPr>
        <p:spPr>
          <a:xfrm>
            <a:off x="3840480" y="2538984"/>
            <a:ext cx="868680" cy="914"/>
          </a:xfrm>
          <a:prstGeom prst="line">
            <a:avLst/>
          </a:prstGeom>
          <a:noFill/>
          <a:ln w="19050">
            <a:solidFill>
              <a:srgbClr val="1BA1A6"/>
            </a:solidFill>
            <a:prstDash val="solid"/>
            <a:tailEnd type="triangle"/>
          </a:ln>
        </p:spPr>
      </p:sp>
      <p:sp>
        <p:nvSpPr>
          <p:cNvPr id="38" name="ovl_s25_e4_0"/>
          <p:cNvSpPr/>
          <p:nvPr/>
        </p:nvSpPr>
        <p:spPr>
          <a:xfrm>
            <a:off x="3840480" y="3849624"/>
            <a:ext cx="868680" cy="914"/>
          </a:xfrm>
          <a:prstGeom prst="line">
            <a:avLst/>
          </a:prstGeom>
          <a:noFill/>
          <a:ln w="19050">
            <a:solidFill>
              <a:srgbClr val="1BA1A6"/>
            </a:solidFill>
            <a:prstDash val="solid"/>
            <a:tailEnd type="triangle"/>
          </a:ln>
        </p:spPr>
      </p:sp>
      <p:sp>
        <p:nvSpPr>
          <p:cNvPr id="39" name="ovl_s25_e5_0"/>
          <p:cNvSpPr/>
          <p:nvPr/>
        </p:nvSpPr>
        <p:spPr>
          <a:xfrm>
            <a:off x="3840480" y="5160264"/>
            <a:ext cx="868680" cy="914"/>
          </a:xfrm>
          <a:prstGeom prst="line">
            <a:avLst/>
          </a:prstGeom>
          <a:noFill/>
          <a:ln w="19050">
            <a:solidFill>
              <a:srgbClr val="1BA1A6"/>
            </a:solidFill>
            <a:prstDash val="solid"/>
            <a:tailEnd type="triangle"/>
          </a:ln>
        </p:spPr>
      </p:sp>
      <p:sp>
        <p:nvSpPr>
          <p:cNvPr id="40" name="ovl_s25_e6_0"/>
          <p:cNvSpPr/>
          <p:nvPr/>
        </p:nvSpPr>
        <p:spPr>
          <a:xfrm flipH="1">
            <a:off x="6126480" y="2538984"/>
            <a:ext cx="868680" cy="914"/>
          </a:xfrm>
          <a:prstGeom prst="line">
            <a:avLst/>
          </a:prstGeom>
          <a:noFill/>
          <a:ln w="15875">
            <a:solidFill>
              <a:srgbClr val="C0392B"/>
            </a:solidFill>
            <a:prstDash val="dash"/>
            <a:tailEnd type="triangle"/>
          </a:ln>
        </p:spPr>
      </p:sp>
      <p:sp>
        <p:nvSpPr>
          <p:cNvPr id="41" name="ovl_s25_e7_0"/>
          <p:cNvSpPr/>
          <p:nvPr/>
        </p:nvSpPr>
        <p:spPr>
          <a:xfrm flipH="1">
            <a:off x="6126480" y="3849624"/>
            <a:ext cx="868680" cy="914"/>
          </a:xfrm>
          <a:prstGeom prst="line">
            <a:avLst/>
          </a:prstGeom>
          <a:noFill/>
          <a:ln w="15875">
            <a:solidFill>
              <a:srgbClr val="C0392B"/>
            </a:solidFill>
            <a:prstDash val="dash"/>
            <a:tailEnd type="triangle"/>
          </a:ln>
        </p:spPr>
      </p:sp>
      <p:sp>
        <p:nvSpPr>
          <p:cNvPr id="42" name="ovl_s25_e8_0"/>
          <p:cNvSpPr/>
          <p:nvPr/>
        </p:nvSpPr>
        <p:spPr>
          <a:xfrm flipH="1">
            <a:off x="6126480" y="5160264"/>
            <a:ext cx="868680" cy="914"/>
          </a:xfrm>
          <a:prstGeom prst="line">
            <a:avLst/>
          </a:prstGeom>
          <a:noFill/>
          <a:ln w="15875">
            <a:solidFill>
              <a:srgbClr val="C0392B"/>
            </a:solidFill>
            <a:prstDash val="dash"/>
            <a:tailEnd type="triangle"/>
          </a:ln>
        </p:spPr>
      </p:sp>
      <p:sp>
        <p:nvSpPr>
          <p:cNvPr id="43" name="ovl_s25_n_power"/>
          <p:cNvSpPr/>
          <p:nvPr/>
        </p:nvSpPr>
        <p:spPr>
          <a:xfrm>
            <a:off x="457200" y="2145792"/>
            <a:ext cx="1234440" cy="786384"/>
          </a:xfrm>
          <a:prstGeom prst="roundRect">
            <a:avLst>
              <a:gd name="adj" fmla="val 6977"/>
            </a:avLst>
          </a:prstGeom>
          <a:solidFill>
            <a:srgbClr val="EAF4EE"/>
          </a:solidFill>
          <a:ln w="9525">
            <a:solidFill>
              <a:srgbClr val="86C99B"/>
            </a:solidFill>
            <a:prstDash val="solid"/>
          </a:ln>
        </p:spPr>
      </p:sp>
      <p:sp>
        <p:nvSpPr>
          <p:cNvPr id="44" name="ovl_s25_nt_power"/>
          <p:cNvSpPr txBox="1"/>
          <p:nvPr/>
        </p:nvSpPr>
        <p:spPr>
          <a:xfrm>
            <a:off x="493776" y="2173224"/>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電力付きの建屋</a:t>
            </a:r>
            <a:endParaRPr lang="en-US" sz="1000" dirty="0"/>
          </a:p>
        </p:txBody>
      </p:sp>
      <p:sp>
        <p:nvSpPr>
          <p:cNvPr id="45" name="ovl_s25_ns_power"/>
          <p:cNvSpPr txBox="1"/>
          <p:nvPr/>
        </p:nvSpPr>
        <p:spPr>
          <a:xfrm>
            <a:off x="502920" y="2378964"/>
            <a:ext cx="1143000" cy="525780"/>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Q1 FY27 に</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850MW を納入</a:t>
            </a:r>
            <a:endParaRPr lang="en-US" sz="850" dirty="0"/>
          </a:p>
        </p:txBody>
      </p:sp>
      <p:sp>
        <p:nvSpPr>
          <p:cNvPr id="46" name="ovl_s25_n_gpu"/>
          <p:cNvSpPr/>
          <p:nvPr/>
        </p:nvSpPr>
        <p:spPr>
          <a:xfrm>
            <a:off x="457200" y="3456432"/>
            <a:ext cx="1234440" cy="786384"/>
          </a:xfrm>
          <a:prstGeom prst="roundRect">
            <a:avLst>
              <a:gd name="adj" fmla="val 6977"/>
            </a:avLst>
          </a:prstGeom>
          <a:solidFill>
            <a:srgbClr val="FFFFFF"/>
          </a:solidFill>
          <a:ln w="9525">
            <a:solidFill>
              <a:srgbClr val="767676"/>
            </a:solidFill>
            <a:prstDash val="solid"/>
          </a:ln>
        </p:spPr>
      </p:sp>
      <p:sp>
        <p:nvSpPr>
          <p:cNvPr id="47" name="ovl_s25_nt_gpu"/>
          <p:cNvSpPr txBox="1"/>
          <p:nvPr/>
        </p:nvSpPr>
        <p:spPr>
          <a:xfrm>
            <a:off x="493776" y="3483864"/>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GPU クラスタ</a:t>
            </a:r>
            <a:endParaRPr lang="en-US" sz="1000" dirty="0"/>
          </a:p>
        </p:txBody>
      </p:sp>
      <p:sp>
        <p:nvSpPr>
          <p:cNvPr id="48" name="ovl_s25_ns_gpu"/>
          <p:cNvSpPr txBox="1"/>
          <p:nvPr/>
        </p:nvSpPr>
        <p:spPr>
          <a:xfrm>
            <a:off x="502920" y="3689604"/>
            <a:ext cx="1143000" cy="525780"/>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稼働率 97.9%</a:t>
            </a:r>
            <a:endParaRPr lang="en-US" sz="850" dirty="0"/>
          </a:p>
        </p:txBody>
      </p:sp>
      <p:sp>
        <p:nvSpPr>
          <p:cNvPr id="49" name="ovl_s25_n_db"/>
          <p:cNvSpPr/>
          <p:nvPr/>
        </p:nvSpPr>
        <p:spPr>
          <a:xfrm>
            <a:off x="457200" y="4767072"/>
            <a:ext cx="1234440" cy="786384"/>
          </a:xfrm>
          <a:prstGeom prst="roundRect">
            <a:avLst>
              <a:gd name="adj" fmla="val 6977"/>
            </a:avLst>
          </a:prstGeom>
          <a:solidFill>
            <a:srgbClr val="EAF4EE"/>
          </a:solidFill>
          <a:ln w="9525">
            <a:solidFill>
              <a:srgbClr val="86C99B"/>
            </a:solidFill>
            <a:prstDash val="solid"/>
          </a:ln>
        </p:spPr>
      </p:sp>
      <p:sp>
        <p:nvSpPr>
          <p:cNvPr id="50" name="ovl_s25_nt_db"/>
          <p:cNvSpPr txBox="1"/>
          <p:nvPr/>
        </p:nvSpPr>
        <p:spPr>
          <a:xfrm>
            <a:off x="493776" y="4794504"/>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Oracle DB</a:t>
            </a:r>
            <a:endParaRPr lang="en-US" sz="1000" dirty="0"/>
          </a:p>
        </p:txBody>
      </p:sp>
      <p:sp>
        <p:nvSpPr>
          <p:cNvPr id="51" name="ovl_s25_ns_db"/>
          <p:cNvSpPr txBox="1"/>
          <p:nvPr/>
        </p:nvSpPr>
        <p:spPr>
          <a:xfrm>
            <a:off x="502920" y="5000244"/>
            <a:ext cx="1143000" cy="525780"/>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基幹データ</a:t>
            </a:r>
            <a:endParaRPr lang="en-US" sz="850" dirty="0"/>
          </a:p>
        </p:txBody>
      </p:sp>
      <p:sp>
        <p:nvSpPr>
          <p:cNvPr id="52" name="ovl_s25_n_oci"/>
          <p:cNvSpPr/>
          <p:nvPr/>
        </p:nvSpPr>
        <p:spPr>
          <a:xfrm>
            <a:off x="2560320" y="1984248"/>
            <a:ext cx="1280160" cy="2420112"/>
          </a:xfrm>
          <a:prstGeom prst="roundRect">
            <a:avLst>
              <a:gd name="adj" fmla="val 4286"/>
            </a:avLst>
          </a:prstGeom>
          <a:solidFill>
            <a:srgbClr val="197A56"/>
          </a:solidFill>
          <a:ln w="9525">
            <a:solidFill>
              <a:srgbClr val="197A56"/>
            </a:solidFill>
            <a:prstDash val="solid"/>
          </a:ln>
        </p:spPr>
      </p:sp>
      <p:sp>
        <p:nvSpPr>
          <p:cNvPr id="53" name="ovl_s25_nt_oci"/>
          <p:cNvSpPr txBox="1"/>
          <p:nvPr/>
        </p:nvSpPr>
        <p:spPr>
          <a:xfrm>
            <a:off x="2596896" y="2011680"/>
            <a:ext cx="1207008" cy="20574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OCI(AI 容量)</a:t>
            </a:r>
            <a:endParaRPr lang="en-US" sz="1000" dirty="0"/>
          </a:p>
        </p:txBody>
      </p:sp>
      <p:sp>
        <p:nvSpPr>
          <p:cNvPr id="54" name="ovl_s25_ns_oci"/>
          <p:cNvSpPr txBox="1"/>
          <p:nvPr/>
        </p:nvSpPr>
        <p:spPr>
          <a:xfrm>
            <a:off x="2606040" y="2217420"/>
            <a:ext cx="1188720" cy="2159508"/>
          </a:xfrm>
          <a:prstGeom prst="rect">
            <a:avLst/>
          </a:prstGeom>
          <a:noFill/>
          <a:ln/>
        </p:spPr>
        <p:txBody>
          <a:bodyPr wrap="square" lIns="0" tIns="0" rIns="0" bIns="0" rtlCol="0" anchor="t"/>
          <a:lstStyle/>
          <a:p>
            <a:pPr algn="ctr" indent="0" marL="0">
              <a:buNone/>
            </a:pPr>
            <a:r>
              <a:rPr lang="en-US" sz="850" dirty="0">
                <a:solidFill>
                  <a:srgbClr val="FFFFFF"/>
                </a:solidFill>
                <a:latin typeface="Meiryo UI" pitchFamily="34" charset="0"/>
                <a:ea typeface="Meiryo UI" pitchFamily="34" charset="-122"/>
                <a:cs typeface="Meiryo UI" pitchFamily="34" charset="-120"/>
              </a:rPr>
              <a:t>学習・推論の容量</a:t>
            </a:r>
            <a:endParaRPr lang="en-US" sz="850" dirty="0"/>
          </a:p>
          <a:p>
            <a:pPr algn="ctr" indent="0" marL="0">
              <a:buNone/>
            </a:pP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Q4 FY26:</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顧客の 49% が</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GPU の 92% を更新</a:t>
            </a:r>
            <a:endParaRPr lang="en-US" sz="850" dirty="0"/>
          </a:p>
        </p:txBody>
      </p:sp>
      <p:sp>
        <p:nvSpPr>
          <p:cNvPr id="55" name="ovl_s25_n_dbs"/>
          <p:cNvSpPr/>
          <p:nvPr/>
        </p:nvSpPr>
        <p:spPr>
          <a:xfrm>
            <a:off x="2560320" y="4767072"/>
            <a:ext cx="1280160" cy="786384"/>
          </a:xfrm>
          <a:prstGeom prst="roundRect">
            <a:avLst>
              <a:gd name="adj" fmla="val 6977"/>
            </a:avLst>
          </a:prstGeom>
          <a:solidFill>
            <a:srgbClr val="FFFFFF"/>
          </a:solidFill>
          <a:ln w="19050">
            <a:solidFill>
              <a:srgbClr val="197A56"/>
            </a:solidFill>
            <a:prstDash val="solid"/>
          </a:ln>
        </p:spPr>
      </p:sp>
      <p:sp>
        <p:nvSpPr>
          <p:cNvPr id="56" name="ovl_s25_nt_dbs"/>
          <p:cNvSpPr txBox="1"/>
          <p:nvPr/>
        </p:nvSpPr>
        <p:spPr>
          <a:xfrm>
            <a:off x="2596896" y="4794504"/>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DB・Database@</a:t>
            </a:r>
            <a:endParaRPr lang="en-US" sz="1000" dirty="0"/>
          </a:p>
        </p:txBody>
      </p:sp>
      <p:sp>
        <p:nvSpPr>
          <p:cNvPr id="57" name="ovl_s25_ns_dbs"/>
          <p:cNvSpPr txBox="1"/>
          <p:nvPr/>
        </p:nvSpPr>
        <p:spPr>
          <a:xfrm>
            <a:off x="2606040" y="5000244"/>
            <a:ext cx="1188720" cy="525780"/>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基幹業務の DB</a:t>
            </a:r>
            <a:endParaRPr lang="en-US" sz="850" dirty="0"/>
          </a:p>
        </p:txBody>
      </p:sp>
      <p:sp>
        <p:nvSpPr>
          <p:cNvPr id="58" name="ovl_s25_n_train"/>
          <p:cNvSpPr/>
          <p:nvPr/>
        </p:nvSpPr>
        <p:spPr>
          <a:xfrm>
            <a:off x="4709160" y="2145792"/>
            <a:ext cx="1417320" cy="786384"/>
          </a:xfrm>
          <a:prstGeom prst="roundRect">
            <a:avLst>
              <a:gd name="adj" fmla="val 6977"/>
            </a:avLst>
          </a:prstGeom>
          <a:solidFill>
            <a:srgbClr val="FFFFFF"/>
          </a:solidFill>
          <a:ln w="9525">
            <a:solidFill>
              <a:srgbClr val="767676"/>
            </a:solidFill>
            <a:prstDash val="solid"/>
          </a:ln>
        </p:spPr>
      </p:sp>
      <p:sp>
        <p:nvSpPr>
          <p:cNvPr id="59" name="ovl_s25_nt_train"/>
          <p:cNvSpPr txBox="1"/>
          <p:nvPr/>
        </p:nvSpPr>
        <p:spPr>
          <a:xfrm>
            <a:off x="4745736" y="2173224"/>
            <a:ext cx="134416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研究所の学習</a:t>
            </a:r>
            <a:endParaRPr lang="en-US" sz="1000" dirty="0"/>
          </a:p>
        </p:txBody>
      </p:sp>
      <p:sp>
        <p:nvSpPr>
          <p:cNvPr id="60" name="ovl_s25_ns_train"/>
          <p:cNvSpPr txBox="1"/>
          <p:nvPr/>
        </p:nvSpPr>
        <p:spPr>
          <a:xfrm>
            <a:off x="4754880" y="2378964"/>
            <a:ext cx="1325880" cy="525780"/>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止まると開発が遅れる</a:t>
            </a:r>
            <a:endParaRPr lang="en-US" sz="850" dirty="0"/>
          </a:p>
        </p:txBody>
      </p:sp>
      <p:sp>
        <p:nvSpPr>
          <p:cNvPr id="61" name="ovl_s25_n_inf"/>
          <p:cNvSpPr/>
          <p:nvPr/>
        </p:nvSpPr>
        <p:spPr>
          <a:xfrm>
            <a:off x="4709160" y="3456432"/>
            <a:ext cx="1417320" cy="786384"/>
          </a:xfrm>
          <a:prstGeom prst="roundRect">
            <a:avLst>
              <a:gd name="adj" fmla="val 6977"/>
            </a:avLst>
          </a:prstGeom>
          <a:solidFill>
            <a:srgbClr val="FFFFFF"/>
          </a:solidFill>
          <a:ln w="9525">
            <a:solidFill>
              <a:srgbClr val="767676"/>
            </a:solidFill>
            <a:prstDash val="solid"/>
          </a:ln>
        </p:spPr>
      </p:sp>
      <p:sp>
        <p:nvSpPr>
          <p:cNvPr id="62" name="ovl_s25_nt_inf"/>
          <p:cNvSpPr txBox="1"/>
          <p:nvPr/>
        </p:nvSpPr>
        <p:spPr>
          <a:xfrm>
            <a:off x="4745736" y="3483864"/>
            <a:ext cx="1344168" cy="205740"/>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AI 研究所の推論(本番)</a:t>
            </a:r>
            <a:endParaRPr lang="en-US" sz="900" dirty="0"/>
          </a:p>
        </p:txBody>
      </p:sp>
      <p:sp>
        <p:nvSpPr>
          <p:cNvPr id="63" name="ovl_s25_ns_inf"/>
          <p:cNvSpPr txBox="1"/>
          <p:nvPr/>
        </p:nvSpPr>
        <p:spPr>
          <a:xfrm>
            <a:off x="4754880" y="3689604"/>
            <a:ext cx="1325880" cy="525780"/>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止まると売上が止まる</a:t>
            </a:r>
            <a:endParaRPr lang="en-US" sz="850" dirty="0"/>
          </a:p>
        </p:txBody>
      </p:sp>
      <p:sp>
        <p:nvSpPr>
          <p:cNvPr id="64" name="ovl_s25_n_ent"/>
          <p:cNvSpPr/>
          <p:nvPr/>
        </p:nvSpPr>
        <p:spPr>
          <a:xfrm>
            <a:off x="4709160" y="4767072"/>
            <a:ext cx="1417320" cy="786384"/>
          </a:xfrm>
          <a:prstGeom prst="roundRect">
            <a:avLst>
              <a:gd name="adj" fmla="val 6977"/>
            </a:avLst>
          </a:prstGeom>
          <a:solidFill>
            <a:srgbClr val="FFFFFF"/>
          </a:solidFill>
          <a:ln w="9525">
            <a:solidFill>
              <a:srgbClr val="767676"/>
            </a:solidFill>
            <a:prstDash val="solid"/>
          </a:ln>
        </p:spPr>
      </p:sp>
      <p:sp>
        <p:nvSpPr>
          <p:cNvPr id="65" name="ovl_s25_nt_ent"/>
          <p:cNvSpPr txBox="1"/>
          <p:nvPr/>
        </p:nvSpPr>
        <p:spPr>
          <a:xfrm>
            <a:off x="4745736" y="4794504"/>
            <a:ext cx="134416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企業の基幹業務と AI</a:t>
            </a:r>
            <a:endParaRPr lang="en-US" sz="1000" dirty="0"/>
          </a:p>
        </p:txBody>
      </p:sp>
      <p:sp>
        <p:nvSpPr>
          <p:cNvPr id="66" name="ovl_s25_ns_ent"/>
          <p:cNvSpPr txBox="1"/>
          <p:nvPr/>
        </p:nvSpPr>
        <p:spPr>
          <a:xfrm>
            <a:off x="4754880" y="5000244"/>
            <a:ext cx="1325880" cy="525780"/>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DB 内のデータで推論</a:t>
            </a:r>
            <a:endParaRPr lang="en-US" sz="850" dirty="0"/>
          </a:p>
        </p:txBody>
      </p:sp>
      <p:sp>
        <p:nvSpPr>
          <p:cNvPr id="67" name="ovl_s25_n_alt1"/>
          <p:cNvSpPr/>
          <p:nvPr/>
        </p:nvSpPr>
        <p:spPr>
          <a:xfrm>
            <a:off x="6995160" y="2145792"/>
            <a:ext cx="1280160" cy="786384"/>
          </a:xfrm>
          <a:prstGeom prst="roundRect">
            <a:avLst>
              <a:gd name="adj" fmla="val 6977"/>
            </a:avLst>
          </a:prstGeom>
          <a:solidFill>
            <a:srgbClr val="FFFFFF"/>
          </a:solidFill>
          <a:ln w="19050">
            <a:solidFill>
              <a:srgbClr val="C0392B"/>
            </a:solidFill>
            <a:prstDash val="solid"/>
          </a:ln>
        </p:spPr>
      </p:sp>
      <p:sp>
        <p:nvSpPr>
          <p:cNvPr id="68" name="ovl_s25_nt_alt1"/>
          <p:cNvSpPr txBox="1"/>
          <p:nvPr/>
        </p:nvSpPr>
        <p:spPr>
          <a:xfrm>
            <a:off x="7031736" y="2173224"/>
            <a:ext cx="1207008" cy="356616"/>
          </a:xfrm>
          <a:prstGeom prst="rect">
            <a:avLst/>
          </a:prstGeom>
          <a:noFill/>
          <a:ln/>
        </p:spPr>
        <p:txBody>
          <a:bodyPr wrap="square" lIns="0" tIns="0" rIns="0" bIns="0" rtlCol="0" anchor="ctr"/>
          <a:lstStyle/>
          <a:p>
            <a:pPr algn="ctr" indent="0" marL="0">
              <a:buNone/>
            </a:pPr>
            <a:r>
              <a:rPr lang="en-US" sz="900" b="1" dirty="0">
                <a:solidFill>
                  <a:srgbClr val="C0392B"/>
                </a:solidFill>
                <a:latin typeface="Meiryo UI" pitchFamily="34" charset="0"/>
                <a:ea typeface="Meiryo UI" pitchFamily="34" charset="-122"/>
                <a:cs typeface="Meiryo UI" pitchFamily="34" charset="-120"/>
              </a:rPr>
              <a:t>他社クラウド・</a:t>
            </a:r>
            <a:endParaRPr lang="en-US" sz="900" dirty="0"/>
          </a:p>
          <a:p>
            <a:pPr algn="ctr" indent="0" marL="0">
              <a:buNone/>
            </a:pPr>
            <a:r>
              <a:rPr lang="en-US" sz="900" b="1" dirty="0">
                <a:solidFill>
                  <a:srgbClr val="C0392B"/>
                </a:solidFill>
                <a:latin typeface="Meiryo UI" pitchFamily="34" charset="0"/>
                <a:ea typeface="Meiryo UI" pitchFamily="34" charset="-122"/>
                <a:cs typeface="Meiryo UI" pitchFamily="34" charset="-120"/>
              </a:rPr>
              <a:t>ネオクラウド</a:t>
            </a:r>
            <a:endParaRPr lang="en-US" sz="900" dirty="0"/>
          </a:p>
        </p:txBody>
      </p:sp>
      <p:sp>
        <p:nvSpPr>
          <p:cNvPr id="69" name="ovl_s25_ns_alt1"/>
          <p:cNvSpPr txBox="1"/>
          <p:nvPr/>
        </p:nvSpPr>
        <p:spPr>
          <a:xfrm>
            <a:off x="7040880" y="2529840"/>
            <a:ext cx="1188720" cy="3749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乗り換えに</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数か月〜数年</a:t>
            </a:r>
            <a:endParaRPr lang="en-US" sz="850" dirty="0"/>
          </a:p>
        </p:txBody>
      </p:sp>
      <p:sp>
        <p:nvSpPr>
          <p:cNvPr id="70" name="ovl_s25_n_alt2"/>
          <p:cNvSpPr/>
          <p:nvPr/>
        </p:nvSpPr>
        <p:spPr>
          <a:xfrm>
            <a:off x="6995160" y="3456432"/>
            <a:ext cx="1280160" cy="786384"/>
          </a:xfrm>
          <a:prstGeom prst="roundRect">
            <a:avLst>
              <a:gd name="adj" fmla="val 6977"/>
            </a:avLst>
          </a:prstGeom>
          <a:solidFill>
            <a:srgbClr val="FFFFFF"/>
          </a:solidFill>
          <a:ln w="19050">
            <a:solidFill>
              <a:srgbClr val="C0392B"/>
            </a:solidFill>
            <a:prstDash val="solid"/>
          </a:ln>
        </p:spPr>
      </p:sp>
      <p:sp>
        <p:nvSpPr>
          <p:cNvPr id="71" name="ovl_s25_nt_alt2"/>
          <p:cNvSpPr txBox="1"/>
          <p:nvPr/>
        </p:nvSpPr>
        <p:spPr>
          <a:xfrm>
            <a:off x="7031736" y="3483864"/>
            <a:ext cx="120700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TPU・自社チップ</a:t>
            </a:r>
            <a:endParaRPr lang="en-US" sz="1000" dirty="0"/>
          </a:p>
        </p:txBody>
      </p:sp>
      <p:sp>
        <p:nvSpPr>
          <p:cNvPr id="72" name="ovl_s25_ns_alt2"/>
          <p:cNvSpPr txBox="1"/>
          <p:nvPr/>
        </p:nvSpPr>
        <p:spPr>
          <a:xfrm>
            <a:off x="7040880" y="3689604"/>
            <a:ext cx="1188720" cy="525780"/>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Anthropic は TPU</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約 3.5GW(2027〜)</a:t>
            </a:r>
            <a:endParaRPr lang="en-US" sz="850" dirty="0"/>
          </a:p>
        </p:txBody>
      </p:sp>
      <p:sp>
        <p:nvSpPr>
          <p:cNvPr id="73" name="ovl_s25_n_alt3"/>
          <p:cNvSpPr/>
          <p:nvPr/>
        </p:nvSpPr>
        <p:spPr>
          <a:xfrm>
            <a:off x="6995160" y="4767072"/>
            <a:ext cx="1280160" cy="786384"/>
          </a:xfrm>
          <a:prstGeom prst="roundRect">
            <a:avLst>
              <a:gd name="adj" fmla="val 6977"/>
            </a:avLst>
          </a:prstGeom>
          <a:solidFill>
            <a:srgbClr val="FFFFFF"/>
          </a:solidFill>
          <a:ln w="19050">
            <a:solidFill>
              <a:srgbClr val="C0392B"/>
            </a:solidFill>
            <a:prstDash val="solid"/>
          </a:ln>
        </p:spPr>
      </p:sp>
      <p:sp>
        <p:nvSpPr>
          <p:cNvPr id="74" name="ovl_s25_nt_alt3"/>
          <p:cNvSpPr txBox="1"/>
          <p:nvPr/>
        </p:nvSpPr>
        <p:spPr>
          <a:xfrm>
            <a:off x="7031736" y="4794504"/>
            <a:ext cx="120700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DB の移行</a:t>
            </a:r>
            <a:endParaRPr lang="en-US" sz="1000" dirty="0"/>
          </a:p>
        </p:txBody>
      </p:sp>
      <p:sp>
        <p:nvSpPr>
          <p:cNvPr id="75" name="ovl_s25_ns_alt3"/>
          <p:cNvSpPr txBox="1"/>
          <p:nvPr/>
        </p:nvSpPr>
        <p:spPr>
          <a:xfrm>
            <a:off x="7040880" y="5000244"/>
            <a:ext cx="1188720" cy="525780"/>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数年がかり</a:t>
            </a:r>
            <a:endParaRPr lang="en-US" sz="850" dirty="0"/>
          </a:p>
        </p:txBody>
      </p:sp>
      <p:sp>
        <p:nvSpPr>
          <p:cNvPr id="76" name="ovl_s25_lab0"/>
          <p:cNvSpPr txBox="1"/>
          <p:nvPr/>
        </p:nvSpPr>
        <p:spPr>
          <a:xfrm>
            <a:off x="1954530" y="2305812"/>
            <a:ext cx="342900"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1BA1A6"/>
                </a:solidFill>
                <a:latin typeface="Meiryo UI" pitchFamily="34" charset="0"/>
                <a:ea typeface="Meiryo UI" pitchFamily="34" charset="-122"/>
                <a:cs typeface="Meiryo UI" pitchFamily="34" charset="-120"/>
              </a:rPr>
              <a:t>容量</a:t>
            </a:r>
            <a:endParaRPr lang="en-US" sz="850" dirty="0"/>
          </a:p>
        </p:txBody>
      </p:sp>
      <p:sp>
        <p:nvSpPr>
          <p:cNvPr id="77" name="ovl_s25_lab3"/>
          <p:cNvSpPr txBox="1"/>
          <p:nvPr/>
        </p:nvSpPr>
        <p:spPr>
          <a:xfrm>
            <a:off x="3986784" y="2305812"/>
            <a:ext cx="576072"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1BA1A6"/>
                </a:solidFill>
                <a:latin typeface="Meiryo UI" pitchFamily="34" charset="0"/>
                <a:ea typeface="Meiryo UI" pitchFamily="34" charset="-122"/>
                <a:cs typeface="Meiryo UI" pitchFamily="34" charset="-120"/>
              </a:rPr>
              <a:t>計算容量</a:t>
            </a:r>
            <a:endParaRPr lang="en-US" sz="850" dirty="0"/>
          </a:p>
        </p:txBody>
      </p:sp>
      <p:sp>
        <p:nvSpPr>
          <p:cNvPr id="78" name="ovl_s25_lab4"/>
          <p:cNvSpPr txBox="1"/>
          <p:nvPr/>
        </p:nvSpPr>
        <p:spPr>
          <a:xfrm>
            <a:off x="3852710" y="3616452"/>
            <a:ext cx="844220"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1BA1A6"/>
                </a:solidFill>
                <a:latin typeface="Meiryo UI" pitchFamily="34" charset="0"/>
                <a:ea typeface="Meiryo UI" pitchFamily="34" charset="-122"/>
                <a:cs typeface="Meiryo UI" pitchFamily="34" charset="-120"/>
              </a:rPr>
              <a:t>① </a:t>
            </a:r>
            <a:r>
              <a:rPr lang="en-US" sz="850" dirty="0">
                <a:solidFill>
                  <a:srgbClr val="1BA1A6"/>
                </a:solidFill>
                <a:latin typeface="Meiryo UI" pitchFamily="34" charset="0"/>
                <a:ea typeface="Meiryo UI" pitchFamily="34" charset="-122"/>
                <a:cs typeface="Meiryo UI" pitchFamily="34" charset="-120"/>
              </a:rPr>
              <a:t>本番の推論</a:t>
            </a:r>
            <a:endParaRPr lang="en-US" sz="850" dirty="0"/>
          </a:p>
        </p:txBody>
      </p:sp>
      <p:sp>
        <p:nvSpPr>
          <p:cNvPr id="79" name="ovl_s25_num5"/>
          <p:cNvSpPr/>
          <p:nvPr/>
        </p:nvSpPr>
        <p:spPr>
          <a:xfrm>
            <a:off x="4155948" y="5041392"/>
            <a:ext cx="237744" cy="237744"/>
          </a:xfrm>
          <a:prstGeom prst="ellipse">
            <a:avLst/>
          </a:prstGeom>
          <a:solidFill>
            <a:srgbClr val="1BA1A6"/>
          </a:solidFill>
          <a:ln w="12700">
            <a:solidFill>
              <a:srgbClr val="FFFFFF"/>
            </a:solidFill>
            <a:prstDash val="solid"/>
          </a:ln>
        </p:spPr>
      </p:sp>
      <p:sp>
        <p:nvSpPr>
          <p:cNvPr id="80" name="ovl_s25_numt5"/>
          <p:cNvSpPr txBox="1"/>
          <p:nvPr/>
        </p:nvSpPr>
        <p:spPr>
          <a:xfrm>
            <a:off x="4155948" y="504139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3</a:t>
            </a:r>
            <a:endParaRPr lang="en-US" sz="900" dirty="0"/>
          </a:p>
        </p:txBody>
      </p:sp>
      <p:sp>
        <p:nvSpPr>
          <p:cNvPr id="81" name="ovl_s25_lab6"/>
          <p:cNvSpPr txBox="1"/>
          <p:nvPr/>
        </p:nvSpPr>
        <p:spPr>
          <a:xfrm>
            <a:off x="6197003" y="2305812"/>
            <a:ext cx="727634"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C0392B"/>
                </a:solidFill>
                <a:latin typeface="Meiryo UI" pitchFamily="34" charset="0"/>
                <a:ea typeface="Meiryo UI" pitchFamily="34" charset="-122"/>
                <a:cs typeface="Meiryo UI" pitchFamily="34" charset="-120"/>
              </a:rPr>
              <a:t>② </a:t>
            </a:r>
            <a:r>
              <a:rPr lang="en-US" sz="850" dirty="0">
                <a:solidFill>
                  <a:srgbClr val="C0392B"/>
                </a:solidFill>
                <a:latin typeface="Meiryo UI" pitchFamily="34" charset="0"/>
                <a:ea typeface="Meiryo UI" pitchFamily="34" charset="-122"/>
                <a:cs typeface="Meiryo UI" pitchFamily="34" charset="-120"/>
              </a:rPr>
              <a:t>乗り換え</a:t>
            </a:r>
            <a:endParaRPr lang="en-US" sz="850" dirty="0"/>
          </a:p>
        </p:txBody>
      </p:sp>
      <p:sp>
        <p:nvSpPr>
          <p:cNvPr id="82" name="ovl_s25_lab7"/>
          <p:cNvSpPr txBox="1"/>
          <p:nvPr/>
        </p:nvSpPr>
        <p:spPr>
          <a:xfrm>
            <a:off x="6138710" y="3616452"/>
            <a:ext cx="844220"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C0392B"/>
                </a:solidFill>
                <a:latin typeface="Meiryo UI" pitchFamily="34" charset="0"/>
                <a:ea typeface="Meiryo UI" pitchFamily="34" charset="-122"/>
                <a:cs typeface="Meiryo UI" pitchFamily="34" charset="-120"/>
              </a:rPr>
              <a:t>④ </a:t>
            </a:r>
            <a:r>
              <a:rPr lang="en-US" sz="850" dirty="0">
                <a:solidFill>
                  <a:srgbClr val="C0392B"/>
                </a:solidFill>
                <a:latin typeface="Meiryo UI" pitchFamily="34" charset="0"/>
                <a:ea typeface="Meiryo UI" pitchFamily="34" charset="-122"/>
                <a:cs typeface="Meiryo UI" pitchFamily="34" charset="-120"/>
              </a:rPr>
              <a:t>代替の計算</a:t>
            </a:r>
            <a:endParaRPr lang="en-US" sz="850" dirty="0"/>
          </a:p>
        </p:txBody>
      </p:sp>
      <p:sp>
        <p:nvSpPr>
          <p:cNvPr id="83" name="ovl_s25_lab8"/>
          <p:cNvSpPr txBox="1"/>
          <p:nvPr/>
        </p:nvSpPr>
        <p:spPr>
          <a:xfrm>
            <a:off x="6389370" y="4927092"/>
            <a:ext cx="342900"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移行</a:t>
            </a:r>
            <a:endParaRPr lang="en-US" sz="850" dirty="0"/>
          </a:p>
        </p:txBody>
      </p:sp>
      <p:sp>
        <p:nvSpPr>
          <p:cNvPr id="84" name="ovl_s25_leg0"/>
          <p:cNvSpPr/>
          <p:nvPr/>
        </p:nvSpPr>
        <p:spPr>
          <a:xfrm>
            <a:off x="457200" y="5971032"/>
            <a:ext cx="365760" cy="914"/>
          </a:xfrm>
          <a:prstGeom prst="line">
            <a:avLst/>
          </a:prstGeom>
          <a:noFill/>
          <a:ln w="19050">
            <a:solidFill>
              <a:srgbClr val="1BA1A6"/>
            </a:solidFill>
            <a:prstDash val="solid"/>
            <a:tailEnd type="triangle"/>
          </a:ln>
        </p:spPr>
      </p:sp>
      <p:sp>
        <p:nvSpPr>
          <p:cNvPr id="85" name="ovl_s25_legt0"/>
          <p:cNvSpPr txBox="1"/>
          <p:nvPr/>
        </p:nvSpPr>
        <p:spPr>
          <a:xfrm>
            <a:off x="87782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モノ・サービス</a:t>
            </a:r>
            <a:endParaRPr lang="en-US" sz="800" dirty="0"/>
          </a:p>
        </p:txBody>
      </p:sp>
      <p:sp>
        <p:nvSpPr>
          <p:cNvPr id="86" name="ovl_s25_leg1"/>
          <p:cNvSpPr/>
          <p:nvPr/>
        </p:nvSpPr>
        <p:spPr>
          <a:xfrm>
            <a:off x="1874520" y="5971032"/>
            <a:ext cx="365760" cy="914"/>
          </a:xfrm>
          <a:prstGeom prst="line">
            <a:avLst/>
          </a:prstGeom>
          <a:noFill/>
          <a:ln w="15875">
            <a:solidFill>
              <a:srgbClr val="C0392B"/>
            </a:solidFill>
            <a:prstDash val="dash"/>
            <a:tailEnd type="triangle"/>
          </a:ln>
        </p:spPr>
      </p:sp>
      <p:sp>
        <p:nvSpPr>
          <p:cNvPr id="87" name="ovl_s25_legt1"/>
          <p:cNvSpPr txBox="1"/>
          <p:nvPr/>
        </p:nvSpPr>
        <p:spPr>
          <a:xfrm>
            <a:off x="229514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リスク</a:t>
            </a:r>
            <a:endParaRPr lang="en-US" sz="800" dirty="0"/>
          </a:p>
        </p:txBody>
      </p:sp>
      <p:sp>
        <p:nvSpPr>
          <p:cNvPr id="88" name="ovl_s25_legn"/>
          <p:cNvSpPr txBox="1"/>
          <p:nvPr/>
        </p:nvSpPr>
        <p:spPr>
          <a:xfrm>
            <a:off x="6126480" y="5870448"/>
            <a:ext cx="2148840" cy="201168"/>
          </a:xfrm>
          <a:prstGeom prst="rect">
            <a:avLst/>
          </a:prstGeom>
          <a:noFill/>
          <a:ln/>
        </p:spPr>
        <p:txBody>
          <a:bodyPr wrap="square" lIns="0" tIns="0" rIns="0" bIns="0" rtlCol="0" anchor="ctr"/>
          <a:lstStyle/>
          <a:p>
            <a:pPr algn="r" indent="0" marL="0">
              <a:buNone/>
            </a:pPr>
            <a:r>
              <a:rPr lang="en-US" sz="800" dirty="0">
                <a:solidFill>
                  <a:srgbClr val="767676"/>
                </a:solidFill>
                <a:latin typeface="Meiryo UI" pitchFamily="34" charset="0"/>
                <a:ea typeface="Meiryo UI" pitchFamily="34" charset="-122"/>
                <a:cs typeface="Meiryo UI" pitchFamily="34" charset="-120"/>
              </a:rPr>
              <a:t>①② … は右の「仕組み」の番号</a:t>
            </a:r>
            <a:endParaRPr lang="en-US" sz="800" dirty="0"/>
          </a:p>
        </p:txBody>
      </p:sp>
      <p:sp>
        <p:nvSpPr>
          <p:cNvPr id="89" name="mech_head"/>
          <p:cNvSpPr txBox="1"/>
          <p:nvPr/>
        </p:nvSpPr>
        <p:spPr>
          <a:xfrm>
            <a:off x="8458200" y="1481328"/>
            <a:ext cx="3276295"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仕組み(図の ①② … と対応)</a:t>
            </a:r>
            <a:endParaRPr lang="en-US" sz="1200" dirty="0"/>
          </a:p>
        </p:txBody>
      </p:sp>
      <p:sp>
        <p:nvSpPr>
          <p:cNvPr id="90" name="mech"/>
          <p:cNvSpPr txBox="1"/>
          <p:nvPr/>
        </p:nvSpPr>
        <p:spPr>
          <a:xfrm>
            <a:off x="8458200" y="1810512"/>
            <a:ext cx="3276295" cy="1835912"/>
          </a:xfrm>
          <a:prstGeom prst="rect">
            <a:avLst/>
          </a:prstGeom>
          <a:noFill/>
          <a:ln/>
        </p:spPr>
        <p:txBody>
          <a:bodyPr wrap="square" lIns="381" tIns="381" rIns="381" bIns="381" rtlCol="0" anchor="t"/>
          <a:lstStyle/>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① </a:t>
            </a:r>
            <a:r>
              <a:rPr lang="en-US" sz="1100" dirty="0">
                <a:solidFill>
                  <a:srgbClr val="333333"/>
                </a:solidFill>
                <a:latin typeface="Meiryo UI" pitchFamily="34" charset="0"/>
                <a:ea typeface="Meiryo UI" pitchFamily="34" charset="-122"/>
                <a:cs typeface="Meiryo UI" pitchFamily="34" charset="-120"/>
              </a:rPr>
              <a:t>推論は本番の稼働で、止まると顧客の売上が止まる。推論の電力比率は 2025 年 47.5% → 2030 年 60%</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② </a:t>
            </a:r>
            <a:r>
              <a:rPr lang="en-US" sz="1100" dirty="0">
                <a:solidFill>
                  <a:srgbClr val="333333"/>
                </a:solidFill>
                <a:latin typeface="Meiryo UI" pitchFamily="34" charset="0"/>
                <a:ea typeface="Meiryo UI" pitchFamily="34" charset="-122"/>
                <a:cs typeface="Meiryo UI" pitchFamily="34" charset="-120"/>
              </a:rPr>
              <a:t>乗り換えには電力付きの容量の確保が要り、数か月〜数年かかる</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③ </a:t>
            </a:r>
            <a:r>
              <a:rPr lang="en-US" sz="1100" dirty="0">
                <a:solidFill>
                  <a:srgbClr val="333333"/>
                </a:solidFill>
                <a:latin typeface="Meiryo UI" pitchFamily="34" charset="0"/>
                <a:ea typeface="Meiryo UI" pitchFamily="34" charset="-122"/>
                <a:cs typeface="Meiryo UI" pitchFamily="34" charset="-120"/>
              </a:rPr>
              <a:t>企業の AI は Oracle DB 内のデータで動く。DB の移行には数年かかる</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④ </a:t>
            </a:r>
            <a:r>
              <a:rPr lang="en-US" sz="1100" dirty="0">
                <a:solidFill>
                  <a:srgbClr val="333333"/>
                </a:solidFill>
                <a:latin typeface="Meiryo UI" pitchFamily="34" charset="0"/>
                <a:ea typeface="Meiryo UI" pitchFamily="34" charset="-122"/>
                <a:cs typeface="Meiryo UI" pitchFamily="34" charset="-120"/>
              </a:rPr>
              <a:t>Q4 FY26 は顧客の 49% が GPU の 92% を更新。ただし他社クラウドや TPU という代替がある</a:t>
            </a:r>
            <a:endParaRPr lang="en-US" sz="1100" dirty="0"/>
          </a:p>
        </p:txBody>
      </p:sp>
      <p:sp>
        <p:nvSpPr>
          <p:cNvPr id="91" name="ovl_takeaway_bg"/>
          <p:cNvSpPr/>
          <p:nvPr/>
        </p:nvSpPr>
        <p:spPr>
          <a:xfrm>
            <a:off x="8458200" y="4419600"/>
            <a:ext cx="3276295" cy="1005840"/>
          </a:xfrm>
          <a:prstGeom prst="rect">
            <a:avLst/>
          </a:prstGeom>
          <a:solidFill>
            <a:srgbClr val="EAF4EE"/>
          </a:solidFill>
          <a:ln w="12700">
            <a:solidFill>
              <a:srgbClr val="EAF4EE"/>
            </a:solidFill>
            <a:prstDash val="solid"/>
          </a:ln>
        </p:spPr>
      </p:sp>
      <p:sp>
        <p:nvSpPr>
          <p:cNvPr id="92" name="takeaway"/>
          <p:cNvSpPr txBox="1"/>
          <p:nvPr/>
        </p:nvSpPr>
        <p:spPr>
          <a:xfrm>
            <a:off x="8567928" y="4492752"/>
            <a:ext cx="3056839" cy="859536"/>
          </a:xfrm>
          <a:prstGeom prst="rect">
            <a:avLst/>
          </a:prstGeom>
          <a:noFill/>
          <a:ln/>
        </p:spPr>
        <p:txBody>
          <a:bodyPr wrap="square" lIns="508" tIns="508" rIns="508" bIns="508"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電力付きの容量と DB は止められない</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運用を支え更新率も高いが、</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代替のクラウドが存在するため B</a:t>
            </a:r>
            <a:endParaRPr lang="en-US" sz="1000" dirty="0"/>
          </a:p>
        </p:txBody>
      </p:sp>
      <p:sp>
        <p:nvSpPr>
          <p:cNvPr id="93" name="updown"/>
          <p:cNvSpPr txBox="1"/>
          <p:nvPr/>
        </p:nvSpPr>
        <p:spPr>
          <a:xfrm>
            <a:off x="8458200" y="5498592"/>
            <a:ext cx="3276295" cy="591312"/>
          </a:xfrm>
          <a:prstGeom prst="rect">
            <a:avLst/>
          </a:prstGeom>
          <a:noFill/>
          <a:ln/>
        </p:spPr>
        <p:txBody>
          <a:bodyPr wrap="square" lIns="381" tIns="381" rIns="381" bIns="381" rtlCol="0" anchor="t"/>
          <a:lstStyle/>
          <a:p>
            <a:pPr indent="0" marL="0">
              <a:buNone/>
            </a:pPr>
            <a:r>
              <a:rPr lang="en-US" sz="850" b="1" dirty="0">
                <a:solidFill>
                  <a:srgbClr val="197A56"/>
                </a:solidFill>
                <a:latin typeface="Meiryo UI" pitchFamily="34" charset="0"/>
                <a:ea typeface="Meiryo UI" pitchFamily="34" charset="-122"/>
                <a:cs typeface="Meiryo UI" pitchFamily="34" charset="-120"/>
              </a:rPr>
              <a:t>上がる条件  </a:t>
            </a:r>
            <a:r>
              <a:rPr lang="en-US" sz="850" dirty="0">
                <a:solidFill>
                  <a:srgbClr val="333333"/>
                </a:solidFill>
                <a:latin typeface="Meiryo UI" pitchFamily="34" charset="0"/>
                <a:ea typeface="Meiryo UI" pitchFamily="34" charset="-122"/>
                <a:cs typeface="Meiryo UI" pitchFamily="34" charset="-120"/>
              </a:rPr>
              <a:t>大型顧客の更新率が 90% を超え、</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乗り換えの事例が出なければ A</a:t>
            </a:r>
            <a:endParaRPr lang="en-US" sz="850" dirty="0"/>
          </a:p>
          <a:p>
            <a:pPr indent="0" marL="0">
              <a:buNone/>
            </a:pPr>
            <a:r>
              <a:rPr lang="en-US" sz="850" b="1" dirty="0">
                <a:solidFill>
                  <a:srgbClr val="C0392B"/>
                </a:solidFill>
                <a:latin typeface="Meiryo UI" pitchFamily="34" charset="0"/>
                <a:ea typeface="Meiryo UI" pitchFamily="34" charset="-122"/>
                <a:cs typeface="Meiryo UI" pitchFamily="34" charset="-120"/>
              </a:rPr>
              <a:t>下がる条件  </a:t>
            </a:r>
            <a:r>
              <a:rPr lang="en-US" sz="850" dirty="0">
                <a:solidFill>
                  <a:srgbClr val="333333"/>
                </a:solidFill>
                <a:latin typeface="Meiryo UI" pitchFamily="34" charset="0"/>
                <a:ea typeface="Meiryo UI" pitchFamily="34" charset="-122"/>
                <a:cs typeface="Meiryo UI" pitchFamily="34" charset="-120"/>
              </a:rPr>
              <a:t>大型顧客が TPU や自社チップへ</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移る事例が出れば C</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3-4 製品と設備の性格(条件8〜12)(3/5)</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20586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20586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陳腐化リスク(条件10)</a:t>
            </a:r>
            <a:endParaRPr lang="en-US" sz="1000" dirty="0"/>
          </a:p>
        </p:txBody>
      </p:sp>
      <p:sp>
        <p:nvSpPr>
          <p:cNvPr id="14" name="hdr_why"/>
          <p:cNvSpPr txBox="1"/>
          <p:nvPr/>
        </p:nvSpPr>
        <p:spPr>
          <a:xfrm>
            <a:off x="2662174" y="356616"/>
            <a:ext cx="90723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設備と技術が陳腐化する速さが、償却と実際の価値のずれを生む</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DB の技術と顧客関係は長寿命で、GPU の 6 年償却は更新・再販の実績と</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整合する。ただし GPU の世代交代は速い</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左から: 資産 → 回収の経路 ← 価値を下げる力。下: 資産ごとの寿命と契約の長さ。①〜⑤ は右と対応</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research3/W2_gpu_economic_life.md、会社開示(耐用年数の変更、Q1 FY27 説明会)、JPMorgan AM の試算、Amazon 10-K</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33</a:t>
            </a:r>
            <a:endParaRPr lang="en-US" sz="800" dirty="0"/>
          </a:p>
        </p:txBody>
      </p:sp>
      <p:sp>
        <p:nvSpPr>
          <p:cNvPr id="19" name="ovl_badge"/>
          <p:cNvSpPr/>
          <p:nvPr/>
        </p:nvSpPr>
        <p:spPr>
          <a:xfrm>
            <a:off x="10865815" y="649224"/>
            <a:ext cx="868680" cy="677570"/>
          </a:xfrm>
          <a:prstGeom prst="roundRect">
            <a:avLst>
              <a:gd name="adj" fmla="val 10796"/>
            </a:avLst>
          </a:prstGeom>
          <a:solidFill>
            <a:srgbClr val="86C99B"/>
          </a:solidFill>
          <a:ln w="12700">
            <a:solidFill>
              <a:srgbClr val="86C99B"/>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0E4D33"/>
                </a:solidFill>
                <a:latin typeface="Meiryo UI" pitchFamily="34" charset="0"/>
                <a:ea typeface="Meiryo UI" pitchFamily="34" charset="-122"/>
                <a:cs typeface="Meiryo UI" pitchFamily="34" charset="-120"/>
              </a:rPr>
              <a:t>B</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0E4D33"/>
                </a:solidFill>
                <a:latin typeface="Meiryo UI" pitchFamily="34" charset="0"/>
                <a:ea typeface="Meiryo UI" pitchFamily="34" charset="-122"/>
                <a:cs typeface="Meiryo UI" pitchFamily="34" charset="-120"/>
              </a:rPr>
              <a:t>条件10</a:t>
            </a:r>
            <a:endParaRPr lang="en-US" sz="800" dirty="0"/>
          </a:p>
        </p:txBody>
      </p:sp>
      <p:sp>
        <p:nvSpPr>
          <p:cNvPr id="22" name="bg_lane0"/>
          <p:cNvSpPr/>
          <p:nvPr/>
        </p:nvSpPr>
        <p:spPr>
          <a:xfrm>
            <a:off x="347472" y="1517904"/>
            <a:ext cx="1545336" cy="3172968"/>
          </a:xfrm>
          <a:prstGeom prst="rect">
            <a:avLst/>
          </a:prstGeom>
          <a:solidFill>
            <a:srgbClr val="F2F2F2"/>
          </a:solidFill>
          <a:ln w="12700">
            <a:solidFill>
              <a:srgbClr val="F2F2F2"/>
            </a:solidFill>
            <a:prstDash val="solid"/>
          </a:ln>
        </p:spPr>
      </p:sp>
      <p:sp>
        <p:nvSpPr>
          <p:cNvPr id="23" name="bg_laneh0"/>
          <p:cNvSpPr/>
          <p:nvPr/>
        </p:nvSpPr>
        <p:spPr>
          <a:xfrm>
            <a:off x="347472" y="1517904"/>
            <a:ext cx="1545336" cy="274320"/>
          </a:xfrm>
          <a:prstGeom prst="rect">
            <a:avLst/>
          </a:prstGeom>
          <a:solidFill>
            <a:srgbClr val="D9D9D9"/>
          </a:solidFill>
          <a:ln w="12700">
            <a:solidFill>
              <a:srgbClr val="D9D9D9"/>
            </a:solidFill>
            <a:prstDash val="solid"/>
          </a:ln>
        </p:spPr>
      </p:sp>
      <p:sp>
        <p:nvSpPr>
          <p:cNvPr id="24" name="bg_lanet0"/>
          <p:cNvSpPr txBox="1"/>
          <p:nvPr/>
        </p:nvSpPr>
        <p:spPr>
          <a:xfrm>
            <a:off x="347472" y="1517904"/>
            <a:ext cx="154533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資産</a:t>
            </a:r>
            <a:endParaRPr lang="en-US" sz="950" dirty="0"/>
          </a:p>
        </p:txBody>
      </p:sp>
      <p:sp>
        <p:nvSpPr>
          <p:cNvPr id="25" name="bg_lane1"/>
          <p:cNvSpPr/>
          <p:nvPr/>
        </p:nvSpPr>
        <p:spPr>
          <a:xfrm>
            <a:off x="2511552" y="1517904"/>
            <a:ext cx="3709416" cy="3172968"/>
          </a:xfrm>
          <a:prstGeom prst="rect">
            <a:avLst/>
          </a:prstGeom>
          <a:solidFill>
            <a:srgbClr val="EAF4EE"/>
          </a:solidFill>
          <a:ln w="12700">
            <a:solidFill>
              <a:srgbClr val="EAF4EE"/>
            </a:solidFill>
            <a:prstDash val="solid"/>
          </a:ln>
        </p:spPr>
      </p:sp>
      <p:sp>
        <p:nvSpPr>
          <p:cNvPr id="26" name="bg_laneh1"/>
          <p:cNvSpPr/>
          <p:nvPr/>
        </p:nvSpPr>
        <p:spPr>
          <a:xfrm>
            <a:off x="2511552" y="1517904"/>
            <a:ext cx="3709416" cy="274320"/>
          </a:xfrm>
          <a:prstGeom prst="rect">
            <a:avLst/>
          </a:prstGeom>
          <a:solidFill>
            <a:srgbClr val="197A56"/>
          </a:solidFill>
          <a:ln w="12700">
            <a:solidFill>
              <a:srgbClr val="197A56"/>
            </a:solidFill>
            <a:prstDash val="solid"/>
          </a:ln>
        </p:spPr>
      </p:sp>
      <p:sp>
        <p:nvSpPr>
          <p:cNvPr id="27" name="bg_lanet1"/>
          <p:cNvSpPr txBox="1"/>
          <p:nvPr/>
        </p:nvSpPr>
        <p:spPr>
          <a:xfrm>
            <a:off x="2511552" y="1517904"/>
            <a:ext cx="3709416"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Oracle の回収</a:t>
            </a:r>
            <a:endParaRPr lang="en-US" sz="950" dirty="0"/>
          </a:p>
        </p:txBody>
      </p:sp>
      <p:sp>
        <p:nvSpPr>
          <p:cNvPr id="28" name="bg_lane2"/>
          <p:cNvSpPr/>
          <p:nvPr/>
        </p:nvSpPr>
        <p:spPr>
          <a:xfrm>
            <a:off x="6839712" y="1517904"/>
            <a:ext cx="1545336" cy="3172968"/>
          </a:xfrm>
          <a:prstGeom prst="rect">
            <a:avLst/>
          </a:prstGeom>
          <a:solidFill>
            <a:srgbClr val="F2F2F2"/>
          </a:solidFill>
          <a:ln w="12700">
            <a:solidFill>
              <a:srgbClr val="F2F2F2"/>
            </a:solidFill>
            <a:prstDash val="solid"/>
          </a:ln>
        </p:spPr>
      </p:sp>
      <p:sp>
        <p:nvSpPr>
          <p:cNvPr id="29" name="bg_laneh2"/>
          <p:cNvSpPr/>
          <p:nvPr/>
        </p:nvSpPr>
        <p:spPr>
          <a:xfrm>
            <a:off x="6839712" y="1517904"/>
            <a:ext cx="1545336" cy="274320"/>
          </a:xfrm>
          <a:prstGeom prst="rect">
            <a:avLst/>
          </a:prstGeom>
          <a:solidFill>
            <a:srgbClr val="D9D9D9"/>
          </a:solidFill>
          <a:ln w="12700">
            <a:solidFill>
              <a:srgbClr val="D9D9D9"/>
            </a:solidFill>
            <a:prstDash val="solid"/>
          </a:ln>
        </p:spPr>
      </p:sp>
      <p:sp>
        <p:nvSpPr>
          <p:cNvPr id="30" name="bg_lanet2"/>
          <p:cNvSpPr txBox="1"/>
          <p:nvPr/>
        </p:nvSpPr>
        <p:spPr>
          <a:xfrm>
            <a:off x="6839712" y="1517904"/>
            <a:ext cx="154533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価値を下げる力</a:t>
            </a:r>
            <a:endParaRPr lang="en-US" sz="950" dirty="0"/>
          </a:p>
        </p:txBody>
      </p:sp>
      <p:sp>
        <p:nvSpPr>
          <p:cNvPr id="31" name="ovl_s26_e0_0"/>
          <p:cNvSpPr/>
          <p:nvPr/>
        </p:nvSpPr>
        <p:spPr>
          <a:xfrm>
            <a:off x="1783080" y="2348484"/>
            <a:ext cx="838200" cy="914"/>
          </a:xfrm>
          <a:prstGeom prst="line">
            <a:avLst/>
          </a:prstGeom>
          <a:noFill/>
          <a:ln w="19050">
            <a:solidFill>
              <a:srgbClr val="1BA1A6"/>
            </a:solidFill>
            <a:prstDash val="solid"/>
            <a:tailEnd type="triangle"/>
          </a:ln>
        </p:spPr>
      </p:sp>
      <p:sp>
        <p:nvSpPr>
          <p:cNvPr id="32" name="ovl_s26_e1_0"/>
          <p:cNvSpPr/>
          <p:nvPr/>
        </p:nvSpPr>
        <p:spPr>
          <a:xfrm>
            <a:off x="1783080" y="3278124"/>
            <a:ext cx="838200" cy="914"/>
          </a:xfrm>
          <a:prstGeom prst="line">
            <a:avLst/>
          </a:prstGeom>
          <a:noFill/>
          <a:ln w="19050">
            <a:solidFill>
              <a:srgbClr val="1BA1A6"/>
            </a:solidFill>
            <a:prstDash val="solid"/>
            <a:tailEnd type="triangle"/>
          </a:ln>
        </p:spPr>
      </p:sp>
      <p:sp>
        <p:nvSpPr>
          <p:cNvPr id="33" name="ovl_s26_e2_0"/>
          <p:cNvSpPr/>
          <p:nvPr/>
        </p:nvSpPr>
        <p:spPr>
          <a:xfrm>
            <a:off x="1783080" y="3387852"/>
            <a:ext cx="419100" cy="914"/>
          </a:xfrm>
          <a:prstGeom prst="line">
            <a:avLst/>
          </a:prstGeom>
          <a:noFill/>
          <a:ln w="19050">
            <a:solidFill>
              <a:srgbClr val="1BA1A6"/>
            </a:solidFill>
            <a:prstDash val="solid"/>
          </a:ln>
        </p:spPr>
      </p:sp>
      <p:sp>
        <p:nvSpPr>
          <p:cNvPr id="34" name="ovl_s26_e2_1"/>
          <p:cNvSpPr/>
          <p:nvPr/>
        </p:nvSpPr>
        <p:spPr>
          <a:xfrm>
            <a:off x="2202180" y="3387852"/>
            <a:ext cx="914" cy="819912"/>
          </a:xfrm>
          <a:prstGeom prst="line">
            <a:avLst/>
          </a:prstGeom>
          <a:noFill/>
          <a:ln w="19050">
            <a:solidFill>
              <a:srgbClr val="1BA1A6"/>
            </a:solidFill>
            <a:prstDash val="solid"/>
          </a:ln>
        </p:spPr>
      </p:sp>
      <p:sp>
        <p:nvSpPr>
          <p:cNvPr id="35" name="ovl_s26_e2_2"/>
          <p:cNvSpPr/>
          <p:nvPr/>
        </p:nvSpPr>
        <p:spPr>
          <a:xfrm>
            <a:off x="2202180" y="4207764"/>
            <a:ext cx="419100" cy="914"/>
          </a:xfrm>
          <a:prstGeom prst="line">
            <a:avLst/>
          </a:prstGeom>
          <a:noFill/>
          <a:ln w="19050">
            <a:solidFill>
              <a:srgbClr val="1BA1A6"/>
            </a:solidFill>
            <a:prstDash val="solid"/>
            <a:tailEnd type="triangle"/>
          </a:ln>
        </p:spPr>
      </p:sp>
      <p:sp>
        <p:nvSpPr>
          <p:cNvPr id="36" name="ovl_s26_e3_0"/>
          <p:cNvSpPr/>
          <p:nvPr/>
        </p:nvSpPr>
        <p:spPr>
          <a:xfrm flipH="1">
            <a:off x="4038600" y="2348484"/>
            <a:ext cx="838200" cy="914"/>
          </a:xfrm>
          <a:prstGeom prst="line">
            <a:avLst/>
          </a:prstGeom>
          <a:noFill/>
          <a:ln w="22225">
            <a:solidFill>
              <a:srgbClr val="0E4D33"/>
            </a:solidFill>
            <a:prstDash val="solid"/>
            <a:tailEnd type="triangle"/>
          </a:ln>
        </p:spPr>
      </p:sp>
      <p:sp>
        <p:nvSpPr>
          <p:cNvPr id="37" name="ovl_s26_e4_0"/>
          <p:cNvSpPr/>
          <p:nvPr/>
        </p:nvSpPr>
        <p:spPr>
          <a:xfrm flipH="1">
            <a:off x="4038600" y="3278124"/>
            <a:ext cx="838200" cy="914"/>
          </a:xfrm>
          <a:prstGeom prst="line">
            <a:avLst/>
          </a:prstGeom>
          <a:noFill/>
          <a:ln w="22225">
            <a:solidFill>
              <a:srgbClr val="0E4D33"/>
            </a:solidFill>
            <a:prstDash val="solid"/>
            <a:tailEnd type="triangle"/>
          </a:ln>
        </p:spPr>
      </p:sp>
      <p:sp>
        <p:nvSpPr>
          <p:cNvPr id="38" name="ovl_s26_e5_0"/>
          <p:cNvSpPr/>
          <p:nvPr/>
        </p:nvSpPr>
        <p:spPr>
          <a:xfrm flipH="1">
            <a:off x="4457700" y="3387852"/>
            <a:ext cx="419100" cy="914"/>
          </a:xfrm>
          <a:prstGeom prst="line">
            <a:avLst/>
          </a:prstGeom>
          <a:noFill/>
          <a:ln w="22225">
            <a:solidFill>
              <a:srgbClr val="0E4D33"/>
            </a:solidFill>
            <a:prstDash val="solid"/>
          </a:ln>
        </p:spPr>
      </p:sp>
      <p:sp>
        <p:nvSpPr>
          <p:cNvPr id="39" name="ovl_s26_e5_1"/>
          <p:cNvSpPr/>
          <p:nvPr/>
        </p:nvSpPr>
        <p:spPr>
          <a:xfrm>
            <a:off x="4457700" y="3387852"/>
            <a:ext cx="914" cy="710184"/>
          </a:xfrm>
          <a:prstGeom prst="line">
            <a:avLst/>
          </a:prstGeom>
          <a:noFill/>
          <a:ln w="22225">
            <a:solidFill>
              <a:srgbClr val="0E4D33"/>
            </a:solidFill>
            <a:prstDash val="solid"/>
          </a:ln>
        </p:spPr>
      </p:sp>
      <p:sp>
        <p:nvSpPr>
          <p:cNvPr id="40" name="ovl_s26_e5_2"/>
          <p:cNvSpPr/>
          <p:nvPr/>
        </p:nvSpPr>
        <p:spPr>
          <a:xfrm flipH="1">
            <a:off x="4038600" y="4098036"/>
            <a:ext cx="419100" cy="914"/>
          </a:xfrm>
          <a:prstGeom prst="line">
            <a:avLst/>
          </a:prstGeom>
          <a:noFill/>
          <a:ln w="22225">
            <a:solidFill>
              <a:srgbClr val="0E4D33"/>
            </a:solidFill>
            <a:prstDash val="solid"/>
            <a:tailEnd type="triangle"/>
          </a:ln>
        </p:spPr>
      </p:sp>
      <p:sp>
        <p:nvSpPr>
          <p:cNvPr id="41" name="ovl_s26_e6_0"/>
          <p:cNvSpPr/>
          <p:nvPr/>
        </p:nvSpPr>
        <p:spPr>
          <a:xfrm>
            <a:off x="7612380" y="2686812"/>
            <a:ext cx="914" cy="126492"/>
          </a:xfrm>
          <a:prstGeom prst="line">
            <a:avLst/>
          </a:prstGeom>
          <a:noFill/>
          <a:ln w="15875">
            <a:solidFill>
              <a:srgbClr val="C0392B"/>
            </a:solidFill>
            <a:prstDash val="dash"/>
          </a:ln>
        </p:spPr>
      </p:sp>
      <p:sp>
        <p:nvSpPr>
          <p:cNvPr id="42" name="ovl_s26_e6_1"/>
          <p:cNvSpPr/>
          <p:nvPr/>
        </p:nvSpPr>
        <p:spPr>
          <a:xfrm flipH="1">
            <a:off x="1120140" y="2813304"/>
            <a:ext cx="6492240" cy="914"/>
          </a:xfrm>
          <a:prstGeom prst="line">
            <a:avLst/>
          </a:prstGeom>
          <a:noFill/>
          <a:ln w="15875">
            <a:solidFill>
              <a:srgbClr val="C0392B"/>
            </a:solidFill>
            <a:prstDash val="dash"/>
          </a:ln>
        </p:spPr>
      </p:sp>
      <p:sp>
        <p:nvSpPr>
          <p:cNvPr id="43" name="ovl_s26_e6_2"/>
          <p:cNvSpPr/>
          <p:nvPr/>
        </p:nvSpPr>
        <p:spPr>
          <a:xfrm>
            <a:off x="1120140" y="2813304"/>
            <a:ext cx="914" cy="126492"/>
          </a:xfrm>
          <a:prstGeom prst="line">
            <a:avLst/>
          </a:prstGeom>
          <a:noFill/>
          <a:ln w="15875">
            <a:solidFill>
              <a:srgbClr val="C0392B"/>
            </a:solidFill>
            <a:prstDash val="dash"/>
            <a:tailEnd type="triangle"/>
          </a:ln>
        </p:spPr>
      </p:sp>
      <p:sp>
        <p:nvSpPr>
          <p:cNvPr id="44" name="ovl_s26_e7_0"/>
          <p:cNvSpPr/>
          <p:nvPr/>
        </p:nvSpPr>
        <p:spPr>
          <a:xfrm>
            <a:off x="7612380" y="3616452"/>
            <a:ext cx="914" cy="126492"/>
          </a:xfrm>
          <a:prstGeom prst="line">
            <a:avLst/>
          </a:prstGeom>
          <a:noFill/>
          <a:ln w="15875">
            <a:solidFill>
              <a:srgbClr val="C0392B"/>
            </a:solidFill>
            <a:prstDash val="dash"/>
          </a:ln>
        </p:spPr>
      </p:sp>
      <p:sp>
        <p:nvSpPr>
          <p:cNvPr id="45" name="ovl_s26_e7_1"/>
          <p:cNvSpPr/>
          <p:nvPr/>
        </p:nvSpPr>
        <p:spPr>
          <a:xfrm flipH="1">
            <a:off x="1120140" y="3742944"/>
            <a:ext cx="6492240" cy="914"/>
          </a:xfrm>
          <a:prstGeom prst="line">
            <a:avLst/>
          </a:prstGeom>
          <a:noFill/>
          <a:ln w="15875">
            <a:solidFill>
              <a:srgbClr val="C0392B"/>
            </a:solidFill>
            <a:prstDash val="dash"/>
          </a:ln>
        </p:spPr>
      </p:sp>
      <p:sp>
        <p:nvSpPr>
          <p:cNvPr id="46" name="ovl_s26_e7_2"/>
          <p:cNvSpPr/>
          <p:nvPr/>
        </p:nvSpPr>
        <p:spPr>
          <a:xfrm flipV="1">
            <a:off x="1120140" y="3616452"/>
            <a:ext cx="914" cy="126492"/>
          </a:xfrm>
          <a:prstGeom prst="line">
            <a:avLst/>
          </a:prstGeom>
          <a:noFill/>
          <a:ln w="15875">
            <a:solidFill>
              <a:srgbClr val="C0392B"/>
            </a:solidFill>
            <a:prstDash val="dash"/>
            <a:tailEnd type="triangle"/>
          </a:ln>
        </p:spPr>
      </p:sp>
      <p:sp>
        <p:nvSpPr>
          <p:cNvPr id="47" name="ovl_s26_e8_0"/>
          <p:cNvSpPr/>
          <p:nvPr/>
        </p:nvSpPr>
        <p:spPr>
          <a:xfrm flipH="1">
            <a:off x="4038600" y="4207764"/>
            <a:ext cx="2910840" cy="914"/>
          </a:xfrm>
          <a:prstGeom prst="line">
            <a:avLst/>
          </a:prstGeom>
          <a:noFill/>
          <a:ln w="12700">
            <a:solidFill>
              <a:srgbClr val="767676"/>
            </a:solidFill>
            <a:prstDash val="sysDash"/>
            <a:tailEnd type="triangle"/>
          </a:ln>
        </p:spPr>
      </p:sp>
      <p:sp>
        <p:nvSpPr>
          <p:cNvPr id="48" name="ovl_s26_n_intang"/>
          <p:cNvSpPr/>
          <p:nvPr/>
        </p:nvSpPr>
        <p:spPr>
          <a:xfrm>
            <a:off x="457200" y="2010156"/>
            <a:ext cx="1325880" cy="676656"/>
          </a:xfrm>
          <a:prstGeom prst="roundRect">
            <a:avLst>
              <a:gd name="adj" fmla="val 8108"/>
            </a:avLst>
          </a:prstGeom>
          <a:solidFill>
            <a:srgbClr val="EAF4EE"/>
          </a:solidFill>
          <a:ln w="9525">
            <a:solidFill>
              <a:srgbClr val="86C99B"/>
            </a:solidFill>
            <a:prstDash val="solid"/>
          </a:ln>
        </p:spPr>
      </p:sp>
      <p:sp>
        <p:nvSpPr>
          <p:cNvPr id="49" name="ovl_s26_nt_intang"/>
          <p:cNvSpPr txBox="1"/>
          <p:nvPr/>
        </p:nvSpPr>
        <p:spPr>
          <a:xfrm>
            <a:off x="493776" y="2037588"/>
            <a:ext cx="1252728" cy="205740"/>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DB の技術・顧客関係</a:t>
            </a:r>
            <a:endParaRPr lang="en-US" sz="900" dirty="0"/>
          </a:p>
        </p:txBody>
      </p:sp>
      <p:sp>
        <p:nvSpPr>
          <p:cNvPr id="50" name="ovl_s26_ns_intang"/>
          <p:cNvSpPr txBox="1"/>
          <p:nvPr/>
        </p:nvSpPr>
        <p:spPr>
          <a:xfrm>
            <a:off x="502920" y="2243328"/>
            <a:ext cx="1234440" cy="4160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寿命は数十年</a:t>
            </a:r>
            <a:endParaRPr lang="en-US" sz="850" dirty="0"/>
          </a:p>
        </p:txBody>
      </p:sp>
      <p:sp>
        <p:nvSpPr>
          <p:cNvPr id="51" name="ovl_s26_n_gpu"/>
          <p:cNvSpPr/>
          <p:nvPr/>
        </p:nvSpPr>
        <p:spPr>
          <a:xfrm>
            <a:off x="457200" y="2939796"/>
            <a:ext cx="1325880" cy="676656"/>
          </a:xfrm>
          <a:prstGeom prst="roundRect">
            <a:avLst>
              <a:gd name="adj" fmla="val 8108"/>
            </a:avLst>
          </a:prstGeom>
          <a:solidFill>
            <a:srgbClr val="FFFFFF"/>
          </a:solidFill>
          <a:ln w="19050">
            <a:solidFill>
              <a:srgbClr val="C0392B"/>
            </a:solidFill>
            <a:prstDash val="solid"/>
          </a:ln>
        </p:spPr>
      </p:sp>
      <p:sp>
        <p:nvSpPr>
          <p:cNvPr id="52" name="ovl_s26_nt_gpu"/>
          <p:cNvSpPr txBox="1"/>
          <p:nvPr/>
        </p:nvSpPr>
        <p:spPr>
          <a:xfrm>
            <a:off x="493776" y="2967228"/>
            <a:ext cx="12527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GPU(自社調達)</a:t>
            </a:r>
            <a:endParaRPr lang="en-US" sz="1000" dirty="0"/>
          </a:p>
        </p:txBody>
      </p:sp>
      <p:sp>
        <p:nvSpPr>
          <p:cNvPr id="53" name="ovl_s26_ns_gpu"/>
          <p:cNvSpPr txBox="1"/>
          <p:nvPr/>
        </p:nvSpPr>
        <p:spPr>
          <a:xfrm>
            <a:off x="502920" y="3172968"/>
            <a:ext cx="1234440" cy="4160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6 年償却</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(5 → 6 年に延長)</a:t>
            </a:r>
            <a:endParaRPr lang="en-US" sz="850" dirty="0"/>
          </a:p>
        </p:txBody>
      </p:sp>
      <p:sp>
        <p:nvSpPr>
          <p:cNvPr id="54" name="ovl_s26_n_soft"/>
          <p:cNvSpPr/>
          <p:nvPr/>
        </p:nvSpPr>
        <p:spPr>
          <a:xfrm>
            <a:off x="457200" y="3869436"/>
            <a:ext cx="1325880" cy="676656"/>
          </a:xfrm>
          <a:prstGeom prst="roundRect">
            <a:avLst>
              <a:gd name="adj" fmla="val 8108"/>
            </a:avLst>
          </a:prstGeom>
          <a:solidFill>
            <a:srgbClr val="FFFFFF"/>
          </a:solidFill>
          <a:ln w="9525">
            <a:solidFill>
              <a:srgbClr val="767676"/>
            </a:solidFill>
            <a:prstDash val="solid"/>
          </a:ln>
        </p:spPr>
      </p:sp>
      <p:sp>
        <p:nvSpPr>
          <p:cNvPr id="55" name="ovl_s26_nt_soft"/>
          <p:cNvSpPr txBox="1"/>
          <p:nvPr/>
        </p:nvSpPr>
        <p:spPr>
          <a:xfrm>
            <a:off x="493776" y="3896868"/>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OCI のソフト</a:t>
            </a:r>
            <a:endParaRPr lang="en-US" sz="1000" dirty="0"/>
          </a:p>
        </p:txBody>
      </p:sp>
      <p:sp>
        <p:nvSpPr>
          <p:cNvPr id="56" name="ovl_s26_ns_soft"/>
          <p:cNvSpPr txBox="1"/>
          <p:nvPr/>
        </p:nvSpPr>
        <p:spPr>
          <a:xfrm>
            <a:off x="502920" y="4102608"/>
            <a:ext cx="1234440" cy="4160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世代交代が速い</a:t>
            </a:r>
            <a:endParaRPr lang="en-US" sz="850" dirty="0"/>
          </a:p>
        </p:txBody>
      </p:sp>
      <p:sp>
        <p:nvSpPr>
          <p:cNvPr id="57" name="ovl_s26_n_maint"/>
          <p:cNvSpPr/>
          <p:nvPr/>
        </p:nvSpPr>
        <p:spPr>
          <a:xfrm>
            <a:off x="2621280" y="2010156"/>
            <a:ext cx="1417320" cy="676656"/>
          </a:xfrm>
          <a:prstGeom prst="roundRect">
            <a:avLst>
              <a:gd name="adj" fmla="val 8108"/>
            </a:avLst>
          </a:prstGeom>
          <a:solidFill>
            <a:srgbClr val="FFFFFF"/>
          </a:solidFill>
          <a:ln w="19050">
            <a:solidFill>
              <a:srgbClr val="197A56"/>
            </a:solidFill>
            <a:prstDash val="solid"/>
          </a:ln>
        </p:spPr>
      </p:sp>
      <p:sp>
        <p:nvSpPr>
          <p:cNvPr id="58" name="ovl_s26_nt_maint"/>
          <p:cNvSpPr txBox="1"/>
          <p:nvPr/>
        </p:nvSpPr>
        <p:spPr>
          <a:xfrm>
            <a:off x="2657856" y="2037588"/>
            <a:ext cx="134416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保守・SaaS</a:t>
            </a:r>
            <a:endParaRPr lang="en-US" sz="1000" dirty="0"/>
          </a:p>
        </p:txBody>
      </p:sp>
      <p:sp>
        <p:nvSpPr>
          <p:cNvPr id="59" name="ovl_s26_ns_maint"/>
          <p:cNvSpPr txBox="1"/>
          <p:nvPr/>
        </p:nvSpPr>
        <p:spPr>
          <a:xfrm>
            <a:off x="2667000" y="2243328"/>
            <a:ext cx="1325880" cy="4160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継続課金</a:t>
            </a:r>
            <a:endParaRPr lang="en-US" sz="850" dirty="0"/>
          </a:p>
        </p:txBody>
      </p:sp>
      <p:sp>
        <p:nvSpPr>
          <p:cNvPr id="60" name="ovl_s26_n_first"/>
          <p:cNvSpPr/>
          <p:nvPr/>
        </p:nvSpPr>
        <p:spPr>
          <a:xfrm>
            <a:off x="2621280" y="2939796"/>
            <a:ext cx="1417320" cy="676656"/>
          </a:xfrm>
          <a:prstGeom prst="roundRect">
            <a:avLst>
              <a:gd name="adj" fmla="val 8108"/>
            </a:avLst>
          </a:prstGeom>
          <a:solidFill>
            <a:srgbClr val="FFFFFF"/>
          </a:solidFill>
          <a:ln w="19050">
            <a:solidFill>
              <a:srgbClr val="197A56"/>
            </a:solidFill>
            <a:prstDash val="solid"/>
          </a:ln>
        </p:spPr>
      </p:sp>
      <p:sp>
        <p:nvSpPr>
          <p:cNvPr id="61" name="ovl_s26_nt_first"/>
          <p:cNvSpPr txBox="1"/>
          <p:nvPr/>
        </p:nvSpPr>
        <p:spPr>
          <a:xfrm>
            <a:off x="2657856" y="2967228"/>
            <a:ext cx="134416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最初の契約</a:t>
            </a:r>
            <a:endParaRPr lang="en-US" sz="1000" dirty="0"/>
          </a:p>
        </p:txBody>
      </p:sp>
      <p:sp>
        <p:nvSpPr>
          <p:cNvPr id="62" name="ovl_s26_ns_first"/>
          <p:cNvSpPr txBox="1"/>
          <p:nvPr/>
        </p:nvSpPr>
        <p:spPr>
          <a:xfrm>
            <a:off x="2667000" y="3172968"/>
            <a:ext cx="1325880" cy="4160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5〜6 年</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契約 ≒ 償却期間</a:t>
            </a:r>
            <a:endParaRPr lang="en-US" sz="850" dirty="0"/>
          </a:p>
        </p:txBody>
      </p:sp>
      <p:sp>
        <p:nvSpPr>
          <p:cNvPr id="63" name="ovl_s26_n_renew"/>
          <p:cNvSpPr/>
          <p:nvPr/>
        </p:nvSpPr>
        <p:spPr>
          <a:xfrm>
            <a:off x="2621280" y="3869436"/>
            <a:ext cx="1417320" cy="676656"/>
          </a:xfrm>
          <a:prstGeom prst="roundRect">
            <a:avLst>
              <a:gd name="adj" fmla="val 8108"/>
            </a:avLst>
          </a:prstGeom>
          <a:solidFill>
            <a:srgbClr val="FFFFFF"/>
          </a:solidFill>
          <a:ln w="19050">
            <a:solidFill>
              <a:srgbClr val="197A56"/>
            </a:solidFill>
            <a:prstDash val="solid"/>
          </a:ln>
        </p:spPr>
      </p:sp>
      <p:sp>
        <p:nvSpPr>
          <p:cNvPr id="64" name="ovl_s26_nt_renew"/>
          <p:cNvSpPr txBox="1"/>
          <p:nvPr/>
        </p:nvSpPr>
        <p:spPr>
          <a:xfrm>
            <a:off x="2657856" y="3896868"/>
            <a:ext cx="134416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更新・再販</a:t>
            </a:r>
            <a:endParaRPr lang="en-US" sz="1000" dirty="0"/>
          </a:p>
        </p:txBody>
      </p:sp>
      <p:sp>
        <p:nvSpPr>
          <p:cNvPr id="65" name="ovl_s26_ns_renew"/>
          <p:cNvSpPr txBox="1"/>
          <p:nvPr/>
        </p:nvSpPr>
        <p:spPr>
          <a:xfrm>
            <a:off x="2667000" y="4102608"/>
            <a:ext cx="1325880" cy="4160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従来比 +20%</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(Q1 FY27)</a:t>
            </a:r>
            <a:endParaRPr lang="en-US" sz="850" dirty="0"/>
          </a:p>
        </p:txBody>
      </p:sp>
      <p:sp>
        <p:nvSpPr>
          <p:cNvPr id="66" name="ovl_s26_n_cust"/>
          <p:cNvSpPr/>
          <p:nvPr/>
        </p:nvSpPr>
        <p:spPr>
          <a:xfrm>
            <a:off x="4876800" y="2010156"/>
            <a:ext cx="1234440" cy="676656"/>
          </a:xfrm>
          <a:prstGeom prst="roundRect">
            <a:avLst>
              <a:gd name="adj" fmla="val 8108"/>
            </a:avLst>
          </a:prstGeom>
          <a:solidFill>
            <a:srgbClr val="FFFFFF"/>
          </a:solidFill>
          <a:ln w="9525">
            <a:solidFill>
              <a:srgbClr val="767676"/>
            </a:solidFill>
            <a:prstDash val="solid"/>
          </a:ln>
        </p:spPr>
      </p:sp>
      <p:sp>
        <p:nvSpPr>
          <p:cNvPr id="67" name="ovl_s26_nt_cust"/>
          <p:cNvSpPr txBox="1"/>
          <p:nvPr/>
        </p:nvSpPr>
        <p:spPr>
          <a:xfrm>
            <a:off x="4913376" y="2037588"/>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DB・SaaS の顧客</a:t>
            </a:r>
            <a:endParaRPr lang="en-US" sz="1000" dirty="0"/>
          </a:p>
        </p:txBody>
      </p:sp>
      <p:sp>
        <p:nvSpPr>
          <p:cNvPr id="68" name="ovl_s26_ns_cust"/>
          <p:cNvSpPr txBox="1"/>
          <p:nvPr/>
        </p:nvSpPr>
        <p:spPr>
          <a:xfrm>
            <a:off x="4922520" y="2243328"/>
            <a:ext cx="1143000" cy="4160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保守料</a:t>
            </a:r>
            <a:endParaRPr lang="en-US" sz="850" dirty="0"/>
          </a:p>
        </p:txBody>
      </p:sp>
      <p:sp>
        <p:nvSpPr>
          <p:cNvPr id="69" name="ovl_s26_n_lab"/>
          <p:cNvSpPr/>
          <p:nvPr/>
        </p:nvSpPr>
        <p:spPr>
          <a:xfrm>
            <a:off x="4876800" y="2939796"/>
            <a:ext cx="1234440" cy="676656"/>
          </a:xfrm>
          <a:prstGeom prst="roundRect">
            <a:avLst>
              <a:gd name="adj" fmla="val 8108"/>
            </a:avLst>
          </a:prstGeom>
          <a:solidFill>
            <a:srgbClr val="FFFFFF"/>
          </a:solidFill>
          <a:ln w="9525">
            <a:solidFill>
              <a:srgbClr val="767676"/>
            </a:solidFill>
            <a:prstDash val="solid"/>
          </a:ln>
        </p:spPr>
      </p:sp>
      <p:sp>
        <p:nvSpPr>
          <p:cNvPr id="70" name="ovl_s26_nt_lab"/>
          <p:cNvSpPr txBox="1"/>
          <p:nvPr/>
        </p:nvSpPr>
        <p:spPr>
          <a:xfrm>
            <a:off x="4913376" y="2967228"/>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研究所・企業</a:t>
            </a:r>
            <a:endParaRPr lang="en-US" sz="1000" dirty="0"/>
          </a:p>
        </p:txBody>
      </p:sp>
      <p:sp>
        <p:nvSpPr>
          <p:cNvPr id="71" name="ovl_s26_ns_lab"/>
          <p:cNvSpPr txBox="1"/>
          <p:nvPr/>
        </p:nvSpPr>
        <p:spPr>
          <a:xfrm>
            <a:off x="4922520" y="3172968"/>
            <a:ext cx="1143000" cy="4160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初回の契約料</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更新料</a:t>
            </a:r>
            <a:endParaRPr lang="en-US" sz="850" dirty="0"/>
          </a:p>
        </p:txBody>
      </p:sp>
      <p:sp>
        <p:nvSpPr>
          <p:cNvPr id="72" name="ovl_s26_n_nv"/>
          <p:cNvSpPr/>
          <p:nvPr/>
        </p:nvSpPr>
        <p:spPr>
          <a:xfrm>
            <a:off x="6949440" y="2010156"/>
            <a:ext cx="1325880" cy="676656"/>
          </a:xfrm>
          <a:prstGeom prst="roundRect">
            <a:avLst>
              <a:gd name="adj" fmla="val 8108"/>
            </a:avLst>
          </a:prstGeom>
          <a:solidFill>
            <a:srgbClr val="FFFFFF"/>
          </a:solidFill>
          <a:ln w="19050">
            <a:solidFill>
              <a:srgbClr val="C0392B"/>
            </a:solidFill>
            <a:prstDash val="solid"/>
          </a:ln>
        </p:spPr>
      </p:sp>
      <p:sp>
        <p:nvSpPr>
          <p:cNvPr id="73" name="ovl_s26_nt_nv"/>
          <p:cNvSpPr txBox="1"/>
          <p:nvPr/>
        </p:nvSpPr>
        <p:spPr>
          <a:xfrm>
            <a:off x="6986016" y="2037588"/>
            <a:ext cx="12527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NVIDIA の新世代</a:t>
            </a:r>
            <a:endParaRPr lang="en-US" sz="1000" dirty="0"/>
          </a:p>
        </p:txBody>
      </p:sp>
      <p:sp>
        <p:nvSpPr>
          <p:cNvPr id="74" name="ovl_s26_ns_nv"/>
          <p:cNvSpPr txBox="1"/>
          <p:nvPr/>
        </p:nvSpPr>
        <p:spPr>
          <a:xfrm>
            <a:off x="6995160" y="2243328"/>
            <a:ext cx="1234440" cy="4160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Rubin は電力あたり</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約 10 倍</a:t>
            </a:r>
            <a:endParaRPr lang="en-US" sz="850" dirty="0"/>
          </a:p>
        </p:txBody>
      </p:sp>
      <p:sp>
        <p:nvSpPr>
          <p:cNvPr id="75" name="ovl_s26_n_amzn"/>
          <p:cNvSpPr/>
          <p:nvPr/>
        </p:nvSpPr>
        <p:spPr>
          <a:xfrm>
            <a:off x="6949440" y="2939796"/>
            <a:ext cx="1325880" cy="676656"/>
          </a:xfrm>
          <a:prstGeom prst="roundRect">
            <a:avLst>
              <a:gd name="adj" fmla="val 8108"/>
            </a:avLst>
          </a:prstGeom>
          <a:solidFill>
            <a:srgbClr val="FFFFFF"/>
          </a:solidFill>
          <a:ln w="19050">
            <a:solidFill>
              <a:srgbClr val="C0392B"/>
            </a:solidFill>
            <a:prstDash val="solid"/>
          </a:ln>
        </p:spPr>
      </p:sp>
      <p:sp>
        <p:nvSpPr>
          <p:cNvPr id="76" name="ovl_s26_nt_amzn"/>
          <p:cNvSpPr txBox="1"/>
          <p:nvPr/>
        </p:nvSpPr>
        <p:spPr>
          <a:xfrm>
            <a:off x="6986016" y="2967228"/>
            <a:ext cx="12527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Amazon の判断</a:t>
            </a:r>
            <a:endParaRPr lang="en-US" sz="1000" dirty="0"/>
          </a:p>
        </p:txBody>
      </p:sp>
      <p:sp>
        <p:nvSpPr>
          <p:cNvPr id="77" name="ovl_s26_ns_amzn"/>
          <p:cNvSpPr txBox="1"/>
          <p:nvPr/>
        </p:nvSpPr>
        <p:spPr>
          <a:xfrm>
            <a:off x="6995160" y="3172968"/>
            <a:ext cx="1234440" cy="4160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サーバーの耐用年数を</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6 → 5 年に短縮</a:t>
            </a:r>
            <a:endParaRPr lang="en-US" sz="850" dirty="0"/>
          </a:p>
        </p:txBody>
      </p:sp>
      <p:sp>
        <p:nvSpPr>
          <p:cNvPr id="78" name="ovl_s26_n_used"/>
          <p:cNvSpPr/>
          <p:nvPr/>
        </p:nvSpPr>
        <p:spPr>
          <a:xfrm>
            <a:off x="6949440" y="3869436"/>
            <a:ext cx="1325880" cy="676656"/>
          </a:xfrm>
          <a:prstGeom prst="roundRect">
            <a:avLst>
              <a:gd name="adj" fmla="val 8108"/>
            </a:avLst>
          </a:prstGeom>
          <a:solidFill>
            <a:srgbClr val="FFFFFF"/>
          </a:solidFill>
          <a:ln w="9525">
            <a:solidFill>
              <a:srgbClr val="767676"/>
            </a:solidFill>
            <a:prstDash val="solid"/>
          </a:ln>
        </p:spPr>
      </p:sp>
      <p:sp>
        <p:nvSpPr>
          <p:cNvPr id="79" name="ovl_s26_nt_used"/>
          <p:cNvSpPr txBox="1"/>
          <p:nvPr/>
        </p:nvSpPr>
        <p:spPr>
          <a:xfrm>
            <a:off x="6986016" y="3896868"/>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中古 GPU 市場</a:t>
            </a:r>
            <a:endParaRPr lang="en-US" sz="1000" dirty="0"/>
          </a:p>
        </p:txBody>
      </p:sp>
      <p:sp>
        <p:nvSpPr>
          <p:cNvPr id="80" name="ovl_s26_ns_used"/>
          <p:cNvSpPr txBox="1"/>
          <p:nvPr/>
        </p:nvSpPr>
        <p:spPr>
          <a:xfrm>
            <a:off x="6995160" y="4102608"/>
            <a:ext cx="1234440" cy="4160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中古 H100 は新品の</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61% → 69%</a:t>
            </a:r>
            <a:endParaRPr lang="en-US" sz="850" dirty="0"/>
          </a:p>
        </p:txBody>
      </p:sp>
      <p:sp>
        <p:nvSpPr>
          <p:cNvPr id="81" name="ovl_s26_num0"/>
          <p:cNvSpPr/>
          <p:nvPr/>
        </p:nvSpPr>
        <p:spPr>
          <a:xfrm>
            <a:off x="2083308" y="2229612"/>
            <a:ext cx="237744" cy="237744"/>
          </a:xfrm>
          <a:prstGeom prst="ellipse">
            <a:avLst/>
          </a:prstGeom>
          <a:solidFill>
            <a:srgbClr val="1BA1A6"/>
          </a:solidFill>
          <a:ln w="12700">
            <a:solidFill>
              <a:srgbClr val="FFFFFF"/>
            </a:solidFill>
            <a:prstDash val="solid"/>
          </a:ln>
        </p:spPr>
      </p:sp>
      <p:sp>
        <p:nvSpPr>
          <p:cNvPr id="82" name="ovl_s26_numt0"/>
          <p:cNvSpPr txBox="1"/>
          <p:nvPr/>
        </p:nvSpPr>
        <p:spPr>
          <a:xfrm>
            <a:off x="2083308" y="222961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1</a:t>
            </a:r>
            <a:endParaRPr lang="en-US" sz="900" dirty="0"/>
          </a:p>
        </p:txBody>
      </p:sp>
      <p:sp>
        <p:nvSpPr>
          <p:cNvPr id="83" name="ovl_s26_num1"/>
          <p:cNvSpPr/>
          <p:nvPr/>
        </p:nvSpPr>
        <p:spPr>
          <a:xfrm>
            <a:off x="1900428" y="3159252"/>
            <a:ext cx="237744" cy="237744"/>
          </a:xfrm>
          <a:prstGeom prst="ellipse">
            <a:avLst/>
          </a:prstGeom>
          <a:solidFill>
            <a:srgbClr val="1BA1A6"/>
          </a:solidFill>
          <a:ln w="12700">
            <a:solidFill>
              <a:srgbClr val="FFFFFF"/>
            </a:solidFill>
            <a:prstDash val="solid"/>
          </a:ln>
        </p:spPr>
      </p:sp>
      <p:sp>
        <p:nvSpPr>
          <p:cNvPr id="84" name="ovl_s26_numt1"/>
          <p:cNvSpPr txBox="1"/>
          <p:nvPr/>
        </p:nvSpPr>
        <p:spPr>
          <a:xfrm>
            <a:off x="1900428" y="315925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2</a:t>
            </a:r>
            <a:endParaRPr lang="en-US" sz="900" dirty="0"/>
          </a:p>
        </p:txBody>
      </p:sp>
      <p:sp>
        <p:nvSpPr>
          <p:cNvPr id="85" name="ovl_s26_lab3"/>
          <p:cNvSpPr txBox="1"/>
          <p:nvPr/>
        </p:nvSpPr>
        <p:spPr>
          <a:xfrm>
            <a:off x="4227957" y="2115312"/>
            <a:ext cx="459486"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保守料</a:t>
            </a:r>
            <a:endParaRPr lang="en-US" sz="850" dirty="0"/>
          </a:p>
        </p:txBody>
      </p:sp>
      <p:sp>
        <p:nvSpPr>
          <p:cNvPr id="86" name="ovl_s26_num5"/>
          <p:cNvSpPr/>
          <p:nvPr/>
        </p:nvSpPr>
        <p:spPr>
          <a:xfrm>
            <a:off x="4338828" y="3441192"/>
            <a:ext cx="237744" cy="237744"/>
          </a:xfrm>
          <a:prstGeom prst="ellipse">
            <a:avLst/>
          </a:prstGeom>
          <a:solidFill>
            <a:srgbClr val="0E4D33"/>
          </a:solidFill>
          <a:ln w="12700">
            <a:solidFill>
              <a:srgbClr val="FFFFFF"/>
            </a:solidFill>
            <a:prstDash val="solid"/>
          </a:ln>
        </p:spPr>
      </p:sp>
      <p:sp>
        <p:nvSpPr>
          <p:cNvPr id="87" name="ovl_s26_numt5"/>
          <p:cNvSpPr txBox="1"/>
          <p:nvPr/>
        </p:nvSpPr>
        <p:spPr>
          <a:xfrm>
            <a:off x="4338828" y="344119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3</a:t>
            </a:r>
            <a:endParaRPr lang="en-US" sz="900" dirty="0"/>
          </a:p>
        </p:txBody>
      </p:sp>
      <p:sp>
        <p:nvSpPr>
          <p:cNvPr id="88" name="ovl_s26_lab6"/>
          <p:cNvSpPr txBox="1"/>
          <p:nvPr/>
        </p:nvSpPr>
        <p:spPr>
          <a:xfrm>
            <a:off x="3827564" y="2710434"/>
            <a:ext cx="1077392"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C0392B"/>
                </a:solidFill>
                <a:latin typeface="Meiryo UI" pitchFamily="34" charset="0"/>
                <a:ea typeface="Meiryo UI" pitchFamily="34" charset="-122"/>
                <a:cs typeface="Meiryo UI" pitchFamily="34" charset="-120"/>
              </a:rPr>
              <a:t>④ </a:t>
            </a:r>
            <a:r>
              <a:rPr lang="en-US" sz="850" dirty="0">
                <a:solidFill>
                  <a:srgbClr val="C0392B"/>
                </a:solidFill>
                <a:latin typeface="Meiryo UI" pitchFamily="34" charset="0"/>
                <a:ea typeface="Meiryo UI" pitchFamily="34" charset="-122"/>
                <a:cs typeface="Meiryo UI" pitchFamily="34" charset="-120"/>
              </a:rPr>
              <a:t>置き換えを迫る</a:t>
            </a:r>
            <a:endParaRPr lang="en-US" sz="850" dirty="0"/>
          </a:p>
        </p:txBody>
      </p:sp>
      <p:sp>
        <p:nvSpPr>
          <p:cNvPr id="89" name="ovl_s26_lab7"/>
          <p:cNvSpPr txBox="1"/>
          <p:nvPr/>
        </p:nvSpPr>
        <p:spPr>
          <a:xfrm>
            <a:off x="5117211" y="3640074"/>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寿命の見方</a:t>
            </a:r>
            <a:endParaRPr lang="en-US" sz="850" dirty="0"/>
          </a:p>
        </p:txBody>
      </p:sp>
      <p:sp>
        <p:nvSpPr>
          <p:cNvPr id="90" name="ovl_s26_lab8"/>
          <p:cNvSpPr txBox="1"/>
          <p:nvPr/>
        </p:nvSpPr>
        <p:spPr>
          <a:xfrm>
            <a:off x="5205984" y="3974592"/>
            <a:ext cx="576072"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再販の値</a:t>
            </a:r>
            <a:endParaRPr lang="en-US" sz="850" dirty="0"/>
          </a:p>
        </p:txBody>
      </p:sp>
      <p:sp>
        <p:nvSpPr>
          <p:cNvPr id="91" name="ovl_s26_leg0"/>
          <p:cNvSpPr/>
          <p:nvPr/>
        </p:nvSpPr>
        <p:spPr>
          <a:xfrm>
            <a:off x="457200" y="4828032"/>
            <a:ext cx="365760" cy="914"/>
          </a:xfrm>
          <a:prstGeom prst="line">
            <a:avLst/>
          </a:prstGeom>
          <a:noFill/>
          <a:ln w="22225">
            <a:solidFill>
              <a:srgbClr val="0E4D33"/>
            </a:solidFill>
            <a:prstDash val="solid"/>
            <a:tailEnd type="triangle"/>
          </a:ln>
        </p:spPr>
      </p:sp>
      <p:sp>
        <p:nvSpPr>
          <p:cNvPr id="92" name="ovl_s26_legt0"/>
          <p:cNvSpPr txBox="1"/>
          <p:nvPr/>
        </p:nvSpPr>
        <p:spPr>
          <a:xfrm>
            <a:off x="877824" y="4727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カネ</a:t>
            </a:r>
            <a:endParaRPr lang="en-US" sz="800" dirty="0"/>
          </a:p>
        </p:txBody>
      </p:sp>
      <p:sp>
        <p:nvSpPr>
          <p:cNvPr id="93" name="ovl_s26_leg1"/>
          <p:cNvSpPr/>
          <p:nvPr/>
        </p:nvSpPr>
        <p:spPr>
          <a:xfrm>
            <a:off x="1874520" y="4828032"/>
            <a:ext cx="365760" cy="914"/>
          </a:xfrm>
          <a:prstGeom prst="line">
            <a:avLst/>
          </a:prstGeom>
          <a:noFill/>
          <a:ln w="19050">
            <a:solidFill>
              <a:srgbClr val="1BA1A6"/>
            </a:solidFill>
            <a:prstDash val="solid"/>
            <a:tailEnd type="triangle"/>
          </a:ln>
        </p:spPr>
      </p:sp>
      <p:sp>
        <p:nvSpPr>
          <p:cNvPr id="94" name="ovl_s26_legt1"/>
          <p:cNvSpPr txBox="1"/>
          <p:nvPr/>
        </p:nvSpPr>
        <p:spPr>
          <a:xfrm>
            <a:off x="2295144" y="4727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モノ・サービス</a:t>
            </a:r>
            <a:endParaRPr lang="en-US" sz="800" dirty="0"/>
          </a:p>
        </p:txBody>
      </p:sp>
      <p:sp>
        <p:nvSpPr>
          <p:cNvPr id="95" name="ovl_s26_leg2"/>
          <p:cNvSpPr/>
          <p:nvPr/>
        </p:nvSpPr>
        <p:spPr>
          <a:xfrm>
            <a:off x="3291840" y="4828032"/>
            <a:ext cx="365760" cy="914"/>
          </a:xfrm>
          <a:prstGeom prst="line">
            <a:avLst/>
          </a:prstGeom>
          <a:noFill/>
          <a:ln w="15875">
            <a:solidFill>
              <a:srgbClr val="C0392B"/>
            </a:solidFill>
            <a:prstDash val="dash"/>
            <a:tailEnd type="triangle"/>
          </a:ln>
        </p:spPr>
      </p:sp>
      <p:sp>
        <p:nvSpPr>
          <p:cNvPr id="96" name="ovl_s26_legt2"/>
          <p:cNvSpPr txBox="1"/>
          <p:nvPr/>
        </p:nvSpPr>
        <p:spPr>
          <a:xfrm>
            <a:off x="3712464" y="4727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リスク</a:t>
            </a:r>
            <a:endParaRPr lang="en-US" sz="800" dirty="0"/>
          </a:p>
        </p:txBody>
      </p:sp>
      <p:sp>
        <p:nvSpPr>
          <p:cNvPr id="97" name="ovl_s26_leg3"/>
          <p:cNvSpPr/>
          <p:nvPr/>
        </p:nvSpPr>
        <p:spPr>
          <a:xfrm>
            <a:off x="4709160" y="4828032"/>
            <a:ext cx="365760" cy="914"/>
          </a:xfrm>
          <a:prstGeom prst="line">
            <a:avLst/>
          </a:prstGeom>
          <a:noFill/>
          <a:ln w="12700">
            <a:solidFill>
              <a:srgbClr val="767676"/>
            </a:solidFill>
            <a:prstDash val="sysDash"/>
            <a:tailEnd type="triangle"/>
          </a:ln>
        </p:spPr>
      </p:sp>
      <p:sp>
        <p:nvSpPr>
          <p:cNvPr id="98" name="ovl_s26_legt3"/>
          <p:cNvSpPr txBox="1"/>
          <p:nvPr/>
        </p:nvSpPr>
        <p:spPr>
          <a:xfrm>
            <a:off x="5129784" y="4727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契約・統治</a:t>
            </a:r>
            <a:endParaRPr lang="en-US" sz="800" dirty="0"/>
          </a:p>
        </p:txBody>
      </p:sp>
      <p:sp>
        <p:nvSpPr>
          <p:cNvPr id="99" name="ovl_s26_legn"/>
          <p:cNvSpPr txBox="1"/>
          <p:nvPr/>
        </p:nvSpPr>
        <p:spPr>
          <a:xfrm>
            <a:off x="6126480" y="4727448"/>
            <a:ext cx="2148840" cy="201168"/>
          </a:xfrm>
          <a:prstGeom prst="rect">
            <a:avLst/>
          </a:prstGeom>
          <a:noFill/>
          <a:ln/>
        </p:spPr>
        <p:txBody>
          <a:bodyPr wrap="square" lIns="0" tIns="0" rIns="0" bIns="0" rtlCol="0" anchor="ctr"/>
          <a:lstStyle/>
          <a:p>
            <a:pPr algn="r" indent="0" marL="0">
              <a:buNone/>
            </a:pPr>
            <a:r>
              <a:rPr lang="en-US" sz="800" dirty="0">
                <a:solidFill>
                  <a:srgbClr val="767676"/>
                </a:solidFill>
                <a:latin typeface="Meiryo UI" pitchFamily="34" charset="0"/>
                <a:ea typeface="Meiryo UI" pitchFamily="34" charset="-122"/>
                <a:cs typeface="Meiryo UI" pitchFamily="34" charset="-120"/>
              </a:rPr>
              <a:t>①② … は右の「仕組み」の番号</a:t>
            </a:r>
            <a:endParaRPr lang="en-US" sz="800" dirty="0"/>
          </a:p>
        </p:txBody>
      </p:sp>
      <p:sp>
        <p:nvSpPr>
          <p:cNvPr id="100" name="ovl_s26tb_tk2027"/>
          <p:cNvSpPr txBox="1"/>
          <p:nvPr/>
        </p:nvSpPr>
        <p:spPr>
          <a:xfrm>
            <a:off x="1600200" y="5029200"/>
            <a:ext cx="548640" cy="182880"/>
          </a:xfrm>
          <a:prstGeom prst="rect">
            <a:avLst/>
          </a:prstGeom>
          <a:noFill/>
          <a:ln/>
        </p:spPr>
        <p:txBody>
          <a:bodyPr wrap="square" lIns="0" tIns="0" rIns="0" bIns="0" rtlCol="0" anchor="t"/>
          <a:lstStyle/>
          <a:p>
            <a:pPr algn="ctr" indent="0" marL="0">
              <a:buNone/>
            </a:pPr>
            <a:r>
              <a:rPr lang="en-US" sz="800" dirty="0">
                <a:solidFill>
                  <a:srgbClr val="767676"/>
                </a:solidFill>
                <a:latin typeface="Meiryo UI" pitchFamily="34" charset="0"/>
                <a:ea typeface="Meiryo UI" pitchFamily="34" charset="-122"/>
                <a:cs typeface="Meiryo UI" pitchFamily="34" charset="-120"/>
              </a:rPr>
              <a:t>FY27</a:t>
            </a:r>
            <a:endParaRPr lang="en-US" sz="800" dirty="0"/>
          </a:p>
        </p:txBody>
      </p:sp>
      <p:sp>
        <p:nvSpPr>
          <p:cNvPr id="101" name="ovl_s26tb_gl2027"/>
          <p:cNvSpPr/>
          <p:nvPr/>
        </p:nvSpPr>
        <p:spPr>
          <a:xfrm>
            <a:off x="1874520" y="5212080"/>
            <a:ext cx="914" cy="822960"/>
          </a:xfrm>
          <a:prstGeom prst="line">
            <a:avLst/>
          </a:prstGeom>
          <a:noFill/>
          <a:ln w="6350">
            <a:solidFill>
              <a:srgbClr val="D9D9D9"/>
            </a:solidFill>
            <a:prstDash val="dash"/>
          </a:ln>
        </p:spPr>
      </p:sp>
      <p:sp>
        <p:nvSpPr>
          <p:cNvPr id="102" name="ovl_s26tb_tk2032"/>
          <p:cNvSpPr txBox="1"/>
          <p:nvPr/>
        </p:nvSpPr>
        <p:spPr>
          <a:xfrm>
            <a:off x="3200400" y="5029200"/>
            <a:ext cx="548640" cy="182880"/>
          </a:xfrm>
          <a:prstGeom prst="rect">
            <a:avLst/>
          </a:prstGeom>
          <a:noFill/>
          <a:ln/>
        </p:spPr>
        <p:txBody>
          <a:bodyPr wrap="square" lIns="0" tIns="0" rIns="0" bIns="0" rtlCol="0" anchor="t"/>
          <a:lstStyle/>
          <a:p>
            <a:pPr algn="ctr" indent="0" marL="0">
              <a:buNone/>
            </a:pPr>
            <a:r>
              <a:rPr lang="en-US" sz="800" dirty="0">
                <a:solidFill>
                  <a:srgbClr val="767676"/>
                </a:solidFill>
                <a:latin typeface="Meiryo UI" pitchFamily="34" charset="0"/>
                <a:ea typeface="Meiryo UI" pitchFamily="34" charset="-122"/>
                <a:cs typeface="Meiryo UI" pitchFamily="34" charset="-120"/>
              </a:rPr>
              <a:t>FY32</a:t>
            </a:r>
            <a:endParaRPr lang="en-US" sz="800" dirty="0"/>
          </a:p>
        </p:txBody>
      </p:sp>
      <p:sp>
        <p:nvSpPr>
          <p:cNvPr id="103" name="ovl_s26tb_gl2032"/>
          <p:cNvSpPr/>
          <p:nvPr/>
        </p:nvSpPr>
        <p:spPr>
          <a:xfrm>
            <a:off x="3474720" y="5212080"/>
            <a:ext cx="914" cy="822960"/>
          </a:xfrm>
          <a:prstGeom prst="line">
            <a:avLst/>
          </a:prstGeom>
          <a:noFill/>
          <a:ln w="6350">
            <a:solidFill>
              <a:srgbClr val="D9D9D9"/>
            </a:solidFill>
            <a:prstDash val="dash"/>
          </a:ln>
        </p:spPr>
      </p:sp>
      <p:sp>
        <p:nvSpPr>
          <p:cNvPr id="104" name="ovl_s26tb_tk2037"/>
          <p:cNvSpPr txBox="1"/>
          <p:nvPr/>
        </p:nvSpPr>
        <p:spPr>
          <a:xfrm>
            <a:off x="4800600" y="5029200"/>
            <a:ext cx="548640" cy="182880"/>
          </a:xfrm>
          <a:prstGeom prst="rect">
            <a:avLst/>
          </a:prstGeom>
          <a:noFill/>
          <a:ln/>
        </p:spPr>
        <p:txBody>
          <a:bodyPr wrap="square" lIns="0" tIns="0" rIns="0" bIns="0" rtlCol="0" anchor="t"/>
          <a:lstStyle/>
          <a:p>
            <a:pPr algn="ctr" indent="0" marL="0">
              <a:buNone/>
            </a:pPr>
            <a:r>
              <a:rPr lang="en-US" sz="800" dirty="0">
                <a:solidFill>
                  <a:srgbClr val="767676"/>
                </a:solidFill>
                <a:latin typeface="Meiryo UI" pitchFamily="34" charset="0"/>
                <a:ea typeface="Meiryo UI" pitchFamily="34" charset="-122"/>
                <a:cs typeface="Meiryo UI" pitchFamily="34" charset="-120"/>
              </a:rPr>
              <a:t>FY37</a:t>
            </a:r>
            <a:endParaRPr lang="en-US" sz="800" dirty="0"/>
          </a:p>
        </p:txBody>
      </p:sp>
      <p:sp>
        <p:nvSpPr>
          <p:cNvPr id="105" name="ovl_s26tb_gl2037"/>
          <p:cNvSpPr/>
          <p:nvPr/>
        </p:nvSpPr>
        <p:spPr>
          <a:xfrm>
            <a:off x="5074920" y="5212080"/>
            <a:ext cx="914" cy="822960"/>
          </a:xfrm>
          <a:prstGeom prst="line">
            <a:avLst/>
          </a:prstGeom>
          <a:noFill/>
          <a:ln w="6350">
            <a:solidFill>
              <a:srgbClr val="D9D9D9"/>
            </a:solidFill>
            <a:prstDash val="dash"/>
          </a:ln>
        </p:spPr>
      </p:sp>
      <p:sp>
        <p:nvSpPr>
          <p:cNvPr id="106" name="ovl_s26tb_tk2042"/>
          <p:cNvSpPr txBox="1"/>
          <p:nvPr/>
        </p:nvSpPr>
        <p:spPr>
          <a:xfrm>
            <a:off x="6400800" y="5029200"/>
            <a:ext cx="548640" cy="182880"/>
          </a:xfrm>
          <a:prstGeom prst="rect">
            <a:avLst/>
          </a:prstGeom>
          <a:noFill/>
          <a:ln/>
        </p:spPr>
        <p:txBody>
          <a:bodyPr wrap="square" lIns="0" tIns="0" rIns="0" bIns="0" rtlCol="0" anchor="t"/>
          <a:lstStyle/>
          <a:p>
            <a:pPr algn="ctr" indent="0" marL="0">
              <a:buNone/>
            </a:pPr>
            <a:r>
              <a:rPr lang="en-US" sz="800" dirty="0">
                <a:solidFill>
                  <a:srgbClr val="767676"/>
                </a:solidFill>
                <a:latin typeface="Meiryo UI" pitchFamily="34" charset="0"/>
                <a:ea typeface="Meiryo UI" pitchFamily="34" charset="-122"/>
                <a:cs typeface="Meiryo UI" pitchFamily="34" charset="-120"/>
              </a:rPr>
              <a:t>FY42</a:t>
            </a:r>
            <a:endParaRPr lang="en-US" sz="800" dirty="0"/>
          </a:p>
        </p:txBody>
      </p:sp>
      <p:sp>
        <p:nvSpPr>
          <p:cNvPr id="107" name="ovl_s26tb_gl2042"/>
          <p:cNvSpPr/>
          <p:nvPr/>
        </p:nvSpPr>
        <p:spPr>
          <a:xfrm>
            <a:off x="6675120" y="5212080"/>
            <a:ext cx="914" cy="822960"/>
          </a:xfrm>
          <a:prstGeom prst="line">
            <a:avLst/>
          </a:prstGeom>
          <a:noFill/>
          <a:ln w="6350">
            <a:solidFill>
              <a:srgbClr val="D9D9D9"/>
            </a:solidFill>
            <a:prstDash val="dash"/>
          </a:ln>
        </p:spPr>
      </p:sp>
      <p:sp>
        <p:nvSpPr>
          <p:cNvPr id="108" name="ovl_s26tb_tk2047"/>
          <p:cNvSpPr txBox="1"/>
          <p:nvPr/>
        </p:nvSpPr>
        <p:spPr>
          <a:xfrm>
            <a:off x="8001000" y="5029200"/>
            <a:ext cx="548640" cy="182880"/>
          </a:xfrm>
          <a:prstGeom prst="rect">
            <a:avLst/>
          </a:prstGeom>
          <a:noFill/>
          <a:ln/>
        </p:spPr>
        <p:txBody>
          <a:bodyPr wrap="square" lIns="0" tIns="0" rIns="0" bIns="0" rtlCol="0" anchor="t"/>
          <a:lstStyle/>
          <a:p>
            <a:pPr algn="ctr" indent="0" marL="0">
              <a:buNone/>
            </a:pPr>
            <a:r>
              <a:rPr lang="en-US" sz="800" dirty="0">
                <a:solidFill>
                  <a:srgbClr val="767676"/>
                </a:solidFill>
                <a:latin typeface="Meiryo UI" pitchFamily="34" charset="0"/>
                <a:ea typeface="Meiryo UI" pitchFamily="34" charset="-122"/>
                <a:cs typeface="Meiryo UI" pitchFamily="34" charset="-120"/>
              </a:rPr>
              <a:t>FY47</a:t>
            </a:r>
            <a:endParaRPr lang="en-US" sz="800" dirty="0"/>
          </a:p>
        </p:txBody>
      </p:sp>
      <p:sp>
        <p:nvSpPr>
          <p:cNvPr id="109" name="ovl_s26tb_gl2047"/>
          <p:cNvSpPr/>
          <p:nvPr/>
        </p:nvSpPr>
        <p:spPr>
          <a:xfrm>
            <a:off x="8275320" y="5212080"/>
            <a:ext cx="914" cy="822960"/>
          </a:xfrm>
          <a:prstGeom prst="line">
            <a:avLst/>
          </a:prstGeom>
          <a:noFill/>
          <a:ln w="6350">
            <a:solidFill>
              <a:srgbClr val="D9D9D9"/>
            </a:solidFill>
            <a:prstDash val="dash"/>
          </a:ln>
        </p:spPr>
      </p:sp>
      <p:sp>
        <p:nvSpPr>
          <p:cNvPr id="110" name="ovl_s26tb_l0"/>
          <p:cNvSpPr txBox="1"/>
          <p:nvPr/>
        </p:nvSpPr>
        <p:spPr>
          <a:xfrm>
            <a:off x="457200" y="5248656"/>
            <a:ext cx="1344168" cy="196596"/>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GPU の最初の契約</a:t>
            </a:r>
            <a:endParaRPr lang="en-US" sz="850" dirty="0"/>
          </a:p>
        </p:txBody>
      </p:sp>
      <p:sp>
        <p:nvSpPr>
          <p:cNvPr id="111" name="ovl_s26tb_b0"/>
          <p:cNvSpPr/>
          <p:nvPr/>
        </p:nvSpPr>
        <p:spPr>
          <a:xfrm>
            <a:off x="1874520" y="5276179"/>
            <a:ext cx="1600200" cy="141549"/>
          </a:xfrm>
          <a:prstGeom prst="rect">
            <a:avLst/>
          </a:prstGeom>
          <a:solidFill>
            <a:srgbClr val="197A56"/>
          </a:solidFill>
          <a:ln w="12700">
            <a:solidFill>
              <a:srgbClr val="197A56"/>
            </a:solidFill>
            <a:prstDash val="solid"/>
          </a:ln>
        </p:spPr>
      </p:sp>
      <p:sp>
        <p:nvSpPr>
          <p:cNvPr id="112" name="ovl_s26tb_t0"/>
          <p:cNvSpPr txBox="1"/>
          <p:nvPr/>
        </p:nvSpPr>
        <p:spPr>
          <a:xfrm>
            <a:off x="1874520" y="5276179"/>
            <a:ext cx="1600200" cy="141549"/>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5〜6 年</a:t>
            </a:r>
            <a:endParaRPr lang="en-US" sz="800" dirty="0"/>
          </a:p>
        </p:txBody>
      </p:sp>
      <p:sp>
        <p:nvSpPr>
          <p:cNvPr id="113" name="ovl_s26tb_l1"/>
          <p:cNvSpPr txBox="1"/>
          <p:nvPr/>
        </p:nvSpPr>
        <p:spPr>
          <a:xfrm>
            <a:off x="457200" y="5445252"/>
            <a:ext cx="1344168" cy="196596"/>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GPU の償却</a:t>
            </a:r>
            <a:endParaRPr lang="en-US" sz="850" dirty="0"/>
          </a:p>
        </p:txBody>
      </p:sp>
      <p:sp>
        <p:nvSpPr>
          <p:cNvPr id="114" name="ovl_s26tb_b1"/>
          <p:cNvSpPr/>
          <p:nvPr/>
        </p:nvSpPr>
        <p:spPr>
          <a:xfrm>
            <a:off x="1874520" y="5472775"/>
            <a:ext cx="1920240" cy="141549"/>
          </a:xfrm>
          <a:prstGeom prst="rect">
            <a:avLst/>
          </a:prstGeom>
          <a:solidFill>
            <a:srgbClr val="D68910"/>
          </a:solidFill>
          <a:ln w="12700">
            <a:solidFill>
              <a:srgbClr val="D68910"/>
            </a:solidFill>
            <a:prstDash val="solid"/>
          </a:ln>
        </p:spPr>
      </p:sp>
      <p:sp>
        <p:nvSpPr>
          <p:cNvPr id="115" name="ovl_s26tb_t1"/>
          <p:cNvSpPr txBox="1"/>
          <p:nvPr/>
        </p:nvSpPr>
        <p:spPr>
          <a:xfrm>
            <a:off x="1874520" y="5472775"/>
            <a:ext cx="1920240" cy="141549"/>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6 年</a:t>
            </a:r>
            <a:endParaRPr lang="en-US" sz="800" dirty="0"/>
          </a:p>
        </p:txBody>
      </p:sp>
      <p:sp>
        <p:nvSpPr>
          <p:cNvPr id="116" name="ovl_s26tb_l2"/>
          <p:cNvSpPr txBox="1"/>
          <p:nvPr/>
        </p:nvSpPr>
        <p:spPr>
          <a:xfrm>
            <a:off x="457200" y="5641848"/>
            <a:ext cx="1344168" cy="196596"/>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⑤ 建屋のリース</a:t>
            </a:r>
            <a:endParaRPr lang="en-US" sz="850" dirty="0"/>
          </a:p>
        </p:txBody>
      </p:sp>
      <p:sp>
        <p:nvSpPr>
          <p:cNvPr id="117" name="ovl_s26tb_b2"/>
          <p:cNvSpPr/>
          <p:nvPr/>
        </p:nvSpPr>
        <p:spPr>
          <a:xfrm>
            <a:off x="1874520" y="5669371"/>
            <a:ext cx="5760720" cy="141549"/>
          </a:xfrm>
          <a:prstGeom prst="rect">
            <a:avLst/>
          </a:prstGeom>
          <a:solidFill>
            <a:srgbClr val="86C99B"/>
          </a:solidFill>
          <a:ln w="12700">
            <a:solidFill>
              <a:srgbClr val="86C99B"/>
            </a:solidFill>
            <a:prstDash val="solid"/>
          </a:ln>
        </p:spPr>
      </p:sp>
      <p:sp>
        <p:nvSpPr>
          <p:cNvPr id="118" name="ovl_s26tb_t2"/>
          <p:cNvSpPr txBox="1"/>
          <p:nvPr/>
        </p:nvSpPr>
        <p:spPr>
          <a:xfrm>
            <a:off x="1874520" y="5669371"/>
            <a:ext cx="5760720" cy="141549"/>
          </a:xfrm>
          <a:prstGeom prst="rect">
            <a:avLst/>
          </a:prstGeom>
          <a:noFill/>
          <a:ln/>
        </p:spPr>
        <p:txBody>
          <a:bodyPr wrap="square" lIns="0" tIns="0" rIns="0" bIns="0" rtlCol="0" anchor="ctr"/>
          <a:lstStyle/>
          <a:p>
            <a:pPr algn="ctr" indent="0" marL="0">
              <a:buNone/>
            </a:pPr>
            <a:r>
              <a:rPr lang="en-US" sz="800" b="1" dirty="0">
                <a:solidFill>
                  <a:srgbClr val="0E4D33"/>
                </a:solidFill>
                <a:latin typeface="Meiryo UI" pitchFamily="34" charset="0"/>
                <a:ea typeface="Meiryo UI" pitchFamily="34" charset="-122"/>
                <a:cs typeface="Meiryo UI" pitchFamily="34" charset="-120"/>
              </a:rPr>
              <a:t>15〜19 年(GPU の 2〜3 世代分)</a:t>
            </a:r>
            <a:endParaRPr lang="en-US" sz="800" dirty="0"/>
          </a:p>
        </p:txBody>
      </p:sp>
      <p:sp>
        <p:nvSpPr>
          <p:cNvPr id="119" name="ovl_s26tb_l3"/>
          <p:cNvSpPr txBox="1"/>
          <p:nvPr/>
        </p:nvSpPr>
        <p:spPr>
          <a:xfrm>
            <a:off x="457200" y="5838444"/>
            <a:ext cx="1344168" cy="196596"/>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DB の技術・顧客関係</a:t>
            </a:r>
            <a:endParaRPr lang="en-US" sz="850" dirty="0"/>
          </a:p>
        </p:txBody>
      </p:sp>
      <p:sp>
        <p:nvSpPr>
          <p:cNvPr id="120" name="ovl_s26tb_b3"/>
          <p:cNvSpPr/>
          <p:nvPr/>
        </p:nvSpPr>
        <p:spPr>
          <a:xfrm>
            <a:off x="1874520" y="5865967"/>
            <a:ext cx="6400800" cy="141549"/>
          </a:xfrm>
          <a:prstGeom prst="rect">
            <a:avLst/>
          </a:prstGeom>
          <a:solidFill>
            <a:srgbClr val="0E4D33"/>
          </a:solidFill>
          <a:ln w="12700">
            <a:solidFill>
              <a:srgbClr val="0E4D33"/>
            </a:solidFill>
            <a:prstDash val="solid"/>
          </a:ln>
        </p:spPr>
      </p:sp>
      <p:sp>
        <p:nvSpPr>
          <p:cNvPr id="121" name="ovl_s26tb_t3"/>
          <p:cNvSpPr txBox="1"/>
          <p:nvPr/>
        </p:nvSpPr>
        <p:spPr>
          <a:xfrm>
            <a:off x="1874520" y="5865967"/>
            <a:ext cx="6400800" cy="141549"/>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数十年</a:t>
            </a:r>
            <a:endParaRPr lang="en-US" sz="800" dirty="0"/>
          </a:p>
        </p:txBody>
      </p:sp>
      <p:sp>
        <p:nvSpPr>
          <p:cNvPr id="122" name="mech_head"/>
          <p:cNvSpPr txBox="1"/>
          <p:nvPr/>
        </p:nvSpPr>
        <p:spPr>
          <a:xfrm>
            <a:off x="8458200" y="1481328"/>
            <a:ext cx="3276295"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仕組み(図の ①② … と対応)</a:t>
            </a:r>
            <a:endParaRPr lang="en-US" sz="1200" dirty="0"/>
          </a:p>
        </p:txBody>
      </p:sp>
      <p:sp>
        <p:nvSpPr>
          <p:cNvPr id="123" name="mech"/>
          <p:cNvSpPr txBox="1"/>
          <p:nvPr/>
        </p:nvSpPr>
        <p:spPr>
          <a:xfrm>
            <a:off x="8458200" y="1810512"/>
            <a:ext cx="3276295" cy="2240280"/>
          </a:xfrm>
          <a:prstGeom prst="rect">
            <a:avLst/>
          </a:prstGeom>
          <a:noFill/>
          <a:ln/>
        </p:spPr>
        <p:txBody>
          <a:bodyPr wrap="square" lIns="381" tIns="381" rIns="381" bIns="381" rtlCol="0" anchor="t"/>
          <a:lstStyle/>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① </a:t>
            </a:r>
            <a:r>
              <a:rPr lang="en-US" sz="1100" dirty="0">
                <a:solidFill>
                  <a:srgbClr val="333333"/>
                </a:solidFill>
                <a:latin typeface="Meiryo UI" pitchFamily="34" charset="0"/>
                <a:ea typeface="Meiryo UI" pitchFamily="34" charset="-122"/>
                <a:cs typeface="Meiryo UI" pitchFamily="34" charset="-120"/>
              </a:rPr>
              <a:t>DB の技術と顧客関係は数十年使われ、保守料で回収が続く</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② </a:t>
            </a:r>
            <a:r>
              <a:rPr lang="en-US" sz="1100" dirty="0">
                <a:solidFill>
                  <a:srgbClr val="333333"/>
                </a:solidFill>
                <a:latin typeface="Meiryo UI" pitchFamily="34" charset="0"/>
                <a:ea typeface="Meiryo UI" pitchFamily="34" charset="-122"/>
                <a:cs typeface="Meiryo UI" pitchFamily="34" charset="-120"/>
              </a:rPr>
              <a:t>GPU は最初の 5〜6 年の契約で償却の大半を回収する(契約期間 ≒ 償却期間)</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③ </a:t>
            </a:r>
            <a:r>
              <a:rPr lang="en-US" sz="1100" dirty="0">
                <a:solidFill>
                  <a:srgbClr val="333333"/>
                </a:solidFill>
                <a:latin typeface="Meiryo UI" pitchFamily="34" charset="0"/>
                <a:ea typeface="Meiryo UI" pitchFamily="34" charset="-122"/>
                <a:cs typeface="Meiryo UI" pitchFamily="34" charset="-120"/>
              </a:rPr>
              <a:t>更新期の GPU は従来比 +20% で更新・再販。CoreWeave も H100 を元の 95% で再契約</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④ </a:t>
            </a:r>
            <a:r>
              <a:rPr lang="en-US" sz="1100" dirty="0">
                <a:solidFill>
                  <a:srgbClr val="333333"/>
                </a:solidFill>
                <a:latin typeface="Meiryo UI" pitchFamily="34" charset="0"/>
                <a:ea typeface="Meiryo UI" pitchFamily="34" charset="-122"/>
                <a:cs typeface="Meiryo UI" pitchFamily="34" charset="-120"/>
              </a:rPr>
              <a:t>新世代(Rubin は電力あたり約 10 倍)が出ると、電力が限られる中で旧世代の置き換えを迫られる</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⑤ </a:t>
            </a:r>
            <a:r>
              <a:rPr lang="en-US" sz="1100" dirty="0">
                <a:solidFill>
                  <a:srgbClr val="333333"/>
                </a:solidFill>
                <a:latin typeface="Meiryo UI" pitchFamily="34" charset="0"/>
                <a:ea typeface="Meiryo UI" pitchFamily="34" charset="-122"/>
                <a:cs typeface="Meiryo UI" pitchFamily="34" charset="-120"/>
              </a:rPr>
              <a:t>建屋のリースは 15〜19 年で GPU の 2〜3 世代分。需要が鈍れば固定費として残る</a:t>
            </a:r>
            <a:endParaRPr lang="en-US" sz="1100" dirty="0"/>
          </a:p>
        </p:txBody>
      </p:sp>
      <p:sp>
        <p:nvSpPr>
          <p:cNvPr id="124" name="ovl_takeaway_bg"/>
          <p:cNvSpPr/>
          <p:nvPr/>
        </p:nvSpPr>
        <p:spPr>
          <a:xfrm>
            <a:off x="8458200" y="4419600"/>
            <a:ext cx="3276295" cy="1005840"/>
          </a:xfrm>
          <a:prstGeom prst="rect">
            <a:avLst/>
          </a:prstGeom>
          <a:solidFill>
            <a:srgbClr val="EAF4EE"/>
          </a:solidFill>
          <a:ln w="12700">
            <a:solidFill>
              <a:srgbClr val="EAF4EE"/>
            </a:solidFill>
            <a:prstDash val="solid"/>
          </a:ln>
        </p:spPr>
      </p:sp>
      <p:sp>
        <p:nvSpPr>
          <p:cNvPr id="125" name="takeaway"/>
          <p:cNvSpPr txBox="1"/>
          <p:nvPr/>
        </p:nvSpPr>
        <p:spPr>
          <a:xfrm>
            <a:off x="8567928" y="4492752"/>
            <a:ext cx="3056839" cy="859536"/>
          </a:xfrm>
          <a:prstGeom prst="rect">
            <a:avLst/>
          </a:prstGeom>
          <a:noFill/>
          <a:ln/>
        </p:spPr>
        <p:txBody>
          <a:bodyPr wrap="square" lIns="508" tIns="508" rIns="508" bIns="508"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経済的寿命が会計の耐用年数以上であることを</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示す証拠が優勢。ただし電力制約の下での</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世代交代の速さが残るため B</a:t>
            </a:r>
            <a:endParaRPr lang="en-US" sz="1000" dirty="0"/>
          </a:p>
        </p:txBody>
      </p:sp>
      <p:sp>
        <p:nvSpPr>
          <p:cNvPr id="126" name="updown"/>
          <p:cNvSpPr txBox="1"/>
          <p:nvPr/>
        </p:nvSpPr>
        <p:spPr>
          <a:xfrm>
            <a:off x="8458200" y="5498592"/>
            <a:ext cx="3276295" cy="591312"/>
          </a:xfrm>
          <a:prstGeom prst="rect">
            <a:avLst/>
          </a:prstGeom>
          <a:noFill/>
          <a:ln/>
        </p:spPr>
        <p:txBody>
          <a:bodyPr wrap="square" lIns="381" tIns="381" rIns="381" bIns="381" rtlCol="0" anchor="t"/>
          <a:lstStyle/>
          <a:p>
            <a:pPr indent="0" marL="0">
              <a:buNone/>
            </a:pPr>
            <a:r>
              <a:rPr lang="en-US" sz="850" b="1" dirty="0">
                <a:solidFill>
                  <a:srgbClr val="197A56"/>
                </a:solidFill>
                <a:latin typeface="Meiryo UI" pitchFamily="34" charset="0"/>
                <a:ea typeface="Meiryo UI" pitchFamily="34" charset="-122"/>
                <a:cs typeface="Meiryo UI" pitchFamily="34" charset="-120"/>
              </a:rPr>
              <a:t>上がる条件  </a:t>
            </a:r>
            <a:r>
              <a:rPr lang="en-US" sz="850" dirty="0">
                <a:solidFill>
                  <a:srgbClr val="333333"/>
                </a:solidFill>
                <a:latin typeface="Meiryo UI" pitchFamily="34" charset="0"/>
                <a:ea typeface="Meiryo UI" pitchFamily="34" charset="-122"/>
                <a:cs typeface="Meiryo UI" pitchFamily="34" charset="-120"/>
              </a:rPr>
              <a:t>大型契約の更新(2031 年〜)で元の単価の</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6 割以上が確認できれば A</a:t>
            </a:r>
            <a:endParaRPr lang="en-US" sz="850" dirty="0"/>
          </a:p>
          <a:p>
            <a:pPr indent="0" marL="0">
              <a:buNone/>
            </a:pPr>
            <a:r>
              <a:rPr lang="en-US" sz="850" b="1" dirty="0">
                <a:solidFill>
                  <a:srgbClr val="C0392B"/>
                </a:solidFill>
                <a:latin typeface="Meiryo UI" pitchFamily="34" charset="0"/>
                <a:ea typeface="Meiryo UI" pitchFamily="34" charset="-122"/>
                <a:cs typeface="Meiryo UI" pitchFamily="34" charset="-120"/>
              </a:rPr>
              <a:t>下がる条件  </a:t>
            </a:r>
            <a:r>
              <a:rPr lang="en-US" sz="850" dirty="0">
                <a:solidFill>
                  <a:srgbClr val="333333"/>
                </a:solidFill>
                <a:latin typeface="Meiryo UI" pitchFamily="34" charset="0"/>
                <a:ea typeface="Meiryo UI" pitchFamily="34" charset="-122"/>
                <a:cs typeface="Meiryo UI" pitchFamily="34" charset="-120"/>
              </a:rPr>
              <a:t>更新プレミアムが 0% 以下に落ちれば C</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(3 年耐用なら EPS −17%、JPMorgan AM の試算)</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3-4 製品と設備の性格(条件8〜12)(4/5)</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9316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9316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模倣困難性(条件11)</a:t>
            </a:r>
            <a:endParaRPr lang="en-US" sz="1000" dirty="0"/>
          </a:p>
        </p:txBody>
      </p:sp>
      <p:sp>
        <p:nvSpPr>
          <p:cNvPr id="14" name="hdr_why"/>
          <p:cNvSpPr txBox="1"/>
          <p:nvPr/>
        </p:nvSpPr>
        <p:spPr>
          <a:xfrm>
            <a:off x="2535174" y="356616"/>
            <a:ext cx="91993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真似できない資産があれば超過利益が長く続く。何が再現困難かを分けて見る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DB の顧客基盤と他社クラウド内の配置は再現が難しいが、</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AI 容量は資本と電力があれば 2〜4 年で再現できる</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左から: Oracle の資産 → 再現に要るもの → 再現にかかる時間 ← 競合。①〜④ は右と対応</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research3/W3_industry_structure.md、research4/T5_supply_components.md、research4/T2_company_rpo_capacity.md、GE Vernova・PJM の開示</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34</a:t>
            </a:r>
            <a:endParaRPr lang="en-US" sz="800" dirty="0"/>
          </a:p>
        </p:txBody>
      </p:sp>
      <p:sp>
        <p:nvSpPr>
          <p:cNvPr id="19" name="ovl_badge"/>
          <p:cNvSpPr/>
          <p:nvPr/>
        </p:nvSpPr>
        <p:spPr>
          <a:xfrm>
            <a:off x="10865815" y="649224"/>
            <a:ext cx="868680" cy="677570"/>
          </a:xfrm>
          <a:prstGeom prst="roundRect">
            <a:avLst>
              <a:gd name="adj" fmla="val 10796"/>
            </a:avLst>
          </a:prstGeom>
          <a:solidFill>
            <a:srgbClr val="86C99B"/>
          </a:solidFill>
          <a:ln w="12700">
            <a:solidFill>
              <a:srgbClr val="86C99B"/>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0E4D33"/>
                </a:solidFill>
                <a:latin typeface="Meiryo UI" pitchFamily="34" charset="0"/>
                <a:ea typeface="Meiryo UI" pitchFamily="34" charset="-122"/>
                <a:cs typeface="Meiryo UI" pitchFamily="34" charset="-120"/>
              </a:rPr>
              <a:t>B</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0E4D33"/>
                </a:solidFill>
                <a:latin typeface="Meiryo UI" pitchFamily="34" charset="0"/>
                <a:ea typeface="Meiryo UI" pitchFamily="34" charset="-122"/>
                <a:cs typeface="Meiryo UI" pitchFamily="34" charset="-120"/>
              </a:rPr>
              <a:t>条件11</a:t>
            </a:r>
            <a:endParaRPr lang="en-US" sz="800" dirty="0"/>
          </a:p>
        </p:txBody>
      </p:sp>
      <p:sp>
        <p:nvSpPr>
          <p:cNvPr id="22" name="bg_lane0"/>
          <p:cNvSpPr/>
          <p:nvPr/>
        </p:nvSpPr>
        <p:spPr>
          <a:xfrm>
            <a:off x="347472" y="1517904"/>
            <a:ext cx="1545336" cy="4315968"/>
          </a:xfrm>
          <a:prstGeom prst="rect">
            <a:avLst/>
          </a:prstGeom>
          <a:solidFill>
            <a:srgbClr val="EAF4EE"/>
          </a:solidFill>
          <a:ln w="12700">
            <a:solidFill>
              <a:srgbClr val="EAF4EE"/>
            </a:solidFill>
            <a:prstDash val="solid"/>
          </a:ln>
        </p:spPr>
      </p:sp>
      <p:sp>
        <p:nvSpPr>
          <p:cNvPr id="23" name="bg_laneh0"/>
          <p:cNvSpPr/>
          <p:nvPr/>
        </p:nvSpPr>
        <p:spPr>
          <a:xfrm>
            <a:off x="347472" y="1517904"/>
            <a:ext cx="1545336" cy="274320"/>
          </a:xfrm>
          <a:prstGeom prst="rect">
            <a:avLst/>
          </a:prstGeom>
          <a:solidFill>
            <a:srgbClr val="197A56"/>
          </a:solidFill>
          <a:ln w="12700">
            <a:solidFill>
              <a:srgbClr val="197A56"/>
            </a:solidFill>
            <a:prstDash val="solid"/>
          </a:ln>
        </p:spPr>
      </p:sp>
      <p:sp>
        <p:nvSpPr>
          <p:cNvPr id="24" name="bg_lanet0"/>
          <p:cNvSpPr txBox="1"/>
          <p:nvPr/>
        </p:nvSpPr>
        <p:spPr>
          <a:xfrm>
            <a:off x="347472" y="1517904"/>
            <a:ext cx="1545336"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Oracle の資産</a:t>
            </a:r>
            <a:endParaRPr lang="en-US" sz="950" dirty="0"/>
          </a:p>
        </p:txBody>
      </p:sp>
      <p:sp>
        <p:nvSpPr>
          <p:cNvPr id="25" name="bg_lane1"/>
          <p:cNvSpPr/>
          <p:nvPr/>
        </p:nvSpPr>
        <p:spPr>
          <a:xfrm>
            <a:off x="2572512" y="1517904"/>
            <a:ext cx="1591056" cy="4315968"/>
          </a:xfrm>
          <a:prstGeom prst="rect">
            <a:avLst/>
          </a:prstGeom>
          <a:solidFill>
            <a:srgbClr val="F2F2F2"/>
          </a:solidFill>
          <a:ln w="12700">
            <a:solidFill>
              <a:srgbClr val="F2F2F2"/>
            </a:solidFill>
            <a:prstDash val="solid"/>
          </a:ln>
        </p:spPr>
      </p:sp>
      <p:sp>
        <p:nvSpPr>
          <p:cNvPr id="26" name="bg_laneh1"/>
          <p:cNvSpPr/>
          <p:nvPr/>
        </p:nvSpPr>
        <p:spPr>
          <a:xfrm>
            <a:off x="2572512" y="1517904"/>
            <a:ext cx="1591056" cy="274320"/>
          </a:xfrm>
          <a:prstGeom prst="rect">
            <a:avLst/>
          </a:prstGeom>
          <a:solidFill>
            <a:srgbClr val="D9D9D9"/>
          </a:solidFill>
          <a:ln w="12700">
            <a:solidFill>
              <a:srgbClr val="D9D9D9"/>
            </a:solidFill>
            <a:prstDash val="solid"/>
          </a:ln>
        </p:spPr>
      </p:sp>
      <p:sp>
        <p:nvSpPr>
          <p:cNvPr id="27" name="bg_lanet1"/>
          <p:cNvSpPr txBox="1"/>
          <p:nvPr/>
        </p:nvSpPr>
        <p:spPr>
          <a:xfrm>
            <a:off x="2572512" y="1517904"/>
            <a:ext cx="159105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再現に要るもの</a:t>
            </a:r>
            <a:endParaRPr lang="en-US" sz="950" dirty="0"/>
          </a:p>
        </p:txBody>
      </p:sp>
      <p:sp>
        <p:nvSpPr>
          <p:cNvPr id="28" name="bg_lane2"/>
          <p:cNvSpPr/>
          <p:nvPr/>
        </p:nvSpPr>
        <p:spPr>
          <a:xfrm>
            <a:off x="4843272" y="1517904"/>
            <a:ext cx="1316736" cy="4315968"/>
          </a:xfrm>
          <a:prstGeom prst="rect">
            <a:avLst/>
          </a:prstGeom>
          <a:solidFill>
            <a:srgbClr val="F2F2F2"/>
          </a:solidFill>
          <a:ln w="12700">
            <a:solidFill>
              <a:srgbClr val="F2F2F2"/>
            </a:solidFill>
            <a:prstDash val="solid"/>
          </a:ln>
        </p:spPr>
      </p:sp>
      <p:sp>
        <p:nvSpPr>
          <p:cNvPr id="29" name="bg_laneh2"/>
          <p:cNvSpPr/>
          <p:nvPr/>
        </p:nvSpPr>
        <p:spPr>
          <a:xfrm>
            <a:off x="4843272" y="1517904"/>
            <a:ext cx="1316736" cy="274320"/>
          </a:xfrm>
          <a:prstGeom prst="rect">
            <a:avLst/>
          </a:prstGeom>
          <a:solidFill>
            <a:srgbClr val="D9D9D9"/>
          </a:solidFill>
          <a:ln w="12700">
            <a:solidFill>
              <a:srgbClr val="D9D9D9"/>
            </a:solidFill>
            <a:prstDash val="solid"/>
          </a:ln>
        </p:spPr>
      </p:sp>
      <p:sp>
        <p:nvSpPr>
          <p:cNvPr id="30" name="bg_lanet2"/>
          <p:cNvSpPr txBox="1"/>
          <p:nvPr/>
        </p:nvSpPr>
        <p:spPr>
          <a:xfrm>
            <a:off x="4843272" y="1517904"/>
            <a:ext cx="131673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時間</a:t>
            </a:r>
            <a:endParaRPr lang="en-US" sz="950" dirty="0"/>
          </a:p>
        </p:txBody>
      </p:sp>
      <p:sp>
        <p:nvSpPr>
          <p:cNvPr id="31" name="bg_lane3"/>
          <p:cNvSpPr/>
          <p:nvPr/>
        </p:nvSpPr>
        <p:spPr>
          <a:xfrm>
            <a:off x="6839712" y="1517904"/>
            <a:ext cx="1545336" cy="4315968"/>
          </a:xfrm>
          <a:prstGeom prst="rect">
            <a:avLst/>
          </a:prstGeom>
          <a:solidFill>
            <a:srgbClr val="F2F2F2"/>
          </a:solidFill>
          <a:ln w="12700">
            <a:solidFill>
              <a:srgbClr val="F2F2F2"/>
            </a:solidFill>
            <a:prstDash val="solid"/>
          </a:ln>
        </p:spPr>
      </p:sp>
      <p:sp>
        <p:nvSpPr>
          <p:cNvPr id="32" name="bg_laneh3"/>
          <p:cNvSpPr/>
          <p:nvPr/>
        </p:nvSpPr>
        <p:spPr>
          <a:xfrm>
            <a:off x="6839712" y="1517904"/>
            <a:ext cx="1545336" cy="274320"/>
          </a:xfrm>
          <a:prstGeom prst="rect">
            <a:avLst/>
          </a:prstGeom>
          <a:solidFill>
            <a:srgbClr val="D9D9D9"/>
          </a:solidFill>
          <a:ln w="12700">
            <a:solidFill>
              <a:srgbClr val="D9D9D9"/>
            </a:solidFill>
            <a:prstDash val="solid"/>
          </a:ln>
        </p:spPr>
      </p:sp>
      <p:sp>
        <p:nvSpPr>
          <p:cNvPr id="33" name="bg_lanet3"/>
          <p:cNvSpPr txBox="1"/>
          <p:nvPr/>
        </p:nvSpPr>
        <p:spPr>
          <a:xfrm>
            <a:off x="6839712" y="1517904"/>
            <a:ext cx="154533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競合</a:t>
            </a:r>
            <a:endParaRPr lang="en-US" sz="950" dirty="0"/>
          </a:p>
        </p:txBody>
      </p:sp>
      <p:sp>
        <p:nvSpPr>
          <p:cNvPr id="34" name="ovl_s27_e0_0"/>
          <p:cNvSpPr/>
          <p:nvPr/>
        </p:nvSpPr>
        <p:spPr>
          <a:xfrm>
            <a:off x="1783080" y="2375154"/>
            <a:ext cx="899160" cy="914"/>
          </a:xfrm>
          <a:prstGeom prst="line">
            <a:avLst/>
          </a:prstGeom>
          <a:noFill/>
          <a:ln w="12700">
            <a:solidFill>
              <a:srgbClr val="767676"/>
            </a:solidFill>
            <a:prstDash val="sysDash"/>
            <a:tailEnd type="triangle"/>
          </a:ln>
        </p:spPr>
      </p:sp>
      <p:sp>
        <p:nvSpPr>
          <p:cNvPr id="35" name="ovl_s27_e1_0"/>
          <p:cNvSpPr/>
          <p:nvPr/>
        </p:nvSpPr>
        <p:spPr>
          <a:xfrm>
            <a:off x="4053840" y="2375154"/>
            <a:ext cx="899160" cy="914"/>
          </a:xfrm>
          <a:prstGeom prst="line">
            <a:avLst/>
          </a:prstGeom>
          <a:noFill/>
          <a:ln w="12700">
            <a:solidFill>
              <a:srgbClr val="767676"/>
            </a:solidFill>
            <a:prstDash val="sysDash"/>
            <a:tailEnd type="triangle"/>
          </a:ln>
        </p:spPr>
      </p:sp>
      <p:sp>
        <p:nvSpPr>
          <p:cNvPr id="36" name="ovl_s27_e2_0"/>
          <p:cNvSpPr/>
          <p:nvPr/>
        </p:nvSpPr>
        <p:spPr>
          <a:xfrm flipH="1">
            <a:off x="6050280" y="2375154"/>
            <a:ext cx="899160" cy="914"/>
          </a:xfrm>
          <a:prstGeom prst="line">
            <a:avLst/>
          </a:prstGeom>
          <a:noFill/>
          <a:ln w="15875">
            <a:solidFill>
              <a:srgbClr val="C0392B"/>
            </a:solidFill>
            <a:prstDash val="dash"/>
            <a:tailEnd type="triangle"/>
          </a:ln>
        </p:spPr>
      </p:sp>
      <p:sp>
        <p:nvSpPr>
          <p:cNvPr id="37" name="ovl_s27_e3_0"/>
          <p:cNvSpPr/>
          <p:nvPr/>
        </p:nvSpPr>
        <p:spPr>
          <a:xfrm>
            <a:off x="1783080" y="3358134"/>
            <a:ext cx="899160" cy="914"/>
          </a:xfrm>
          <a:prstGeom prst="line">
            <a:avLst/>
          </a:prstGeom>
          <a:noFill/>
          <a:ln w="12700">
            <a:solidFill>
              <a:srgbClr val="767676"/>
            </a:solidFill>
            <a:prstDash val="sysDash"/>
            <a:tailEnd type="triangle"/>
          </a:ln>
        </p:spPr>
      </p:sp>
      <p:sp>
        <p:nvSpPr>
          <p:cNvPr id="38" name="ovl_s27_e4_0"/>
          <p:cNvSpPr/>
          <p:nvPr/>
        </p:nvSpPr>
        <p:spPr>
          <a:xfrm>
            <a:off x="4053840" y="3358134"/>
            <a:ext cx="899160" cy="914"/>
          </a:xfrm>
          <a:prstGeom prst="line">
            <a:avLst/>
          </a:prstGeom>
          <a:noFill/>
          <a:ln w="12700">
            <a:solidFill>
              <a:srgbClr val="767676"/>
            </a:solidFill>
            <a:prstDash val="sysDash"/>
            <a:tailEnd type="triangle"/>
          </a:ln>
        </p:spPr>
      </p:sp>
      <p:sp>
        <p:nvSpPr>
          <p:cNvPr id="39" name="ovl_s27_e5_0"/>
          <p:cNvSpPr/>
          <p:nvPr/>
        </p:nvSpPr>
        <p:spPr>
          <a:xfrm flipH="1">
            <a:off x="6050280" y="3358134"/>
            <a:ext cx="899160" cy="914"/>
          </a:xfrm>
          <a:prstGeom prst="line">
            <a:avLst/>
          </a:prstGeom>
          <a:noFill/>
          <a:ln w="15875">
            <a:solidFill>
              <a:srgbClr val="C0392B"/>
            </a:solidFill>
            <a:prstDash val="dash"/>
            <a:tailEnd type="triangle"/>
          </a:ln>
        </p:spPr>
      </p:sp>
      <p:sp>
        <p:nvSpPr>
          <p:cNvPr id="40" name="ovl_s27_e6_0"/>
          <p:cNvSpPr/>
          <p:nvPr/>
        </p:nvSpPr>
        <p:spPr>
          <a:xfrm>
            <a:off x="1783080" y="4341114"/>
            <a:ext cx="899160" cy="914"/>
          </a:xfrm>
          <a:prstGeom prst="line">
            <a:avLst/>
          </a:prstGeom>
          <a:noFill/>
          <a:ln w="12700">
            <a:solidFill>
              <a:srgbClr val="767676"/>
            </a:solidFill>
            <a:prstDash val="sysDash"/>
            <a:tailEnd type="triangle"/>
          </a:ln>
        </p:spPr>
      </p:sp>
      <p:sp>
        <p:nvSpPr>
          <p:cNvPr id="41" name="ovl_s27_e7_0"/>
          <p:cNvSpPr/>
          <p:nvPr/>
        </p:nvSpPr>
        <p:spPr>
          <a:xfrm>
            <a:off x="4053840" y="4341114"/>
            <a:ext cx="899160" cy="914"/>
          </a:xfrm>
          <a:prstGeom prst="line">
            <a:avLst/>
          </a:prstGeom>
          <a:noFill/>
          <a:ln w="12700">
            <a:solidFill>
              <a:srgbClr val="767676"/>
            </a:solidFill>
            <a:prstDash val="sysDash"/>
            <a:tailEnd type="triangle"/>
          </a:ln>
        </p:spPr>
      </p:sp>
      <p:sp>
        <p:nvSpPr>
          <p:cNvPr id="42" name="ovl_s27_e8_0"/>
          <p:cNvSpPr/>
          <p:nvPr/>
        </p:nvSpPr>
        <p:spPr>
          <a:xfrm flipH="1">
            <a:off x="6050280" y="4341114"/>
            <a:ext cx="899160" cy="914"/>
          </a:xfrm>
          <a:prstGeom prst="line">
            <a:avLst/>
          </a:prstGeom>
          <a:noFill/>
          <a:ln w="15875">
            <a:solidFill>
              <a:srgbClr val="C0392B"/>
            </a:solidFill>
            <a:prstDash val="dash"/>
            <a:tailEnd type="triangle"/>
          </a:ln>
        </p:spPr>
      </p:sp>
      <p:sp>
        <p:nvSpPr>
          <p:cNvPr id="43" name="ovl_s27_e9_0"/>
          <p:cNvSpPr/>
          <p:nvPr/>
        </p:nvSpPr>
        <p:spPr>
          <a:xfrm>
            <a:off x="1783080" y="5324094"/>
            <a:ext cx="899160" cy="914"/>
          </a:xfrm>
          <a:prstGeom prst="line">
            <a:avLst/>
          </a:prstGeom>
          <a:noFill/>
          <a:ln w="12700">
            <a:solidFill>
              <a:srgbClr val="767676"/>
            </a:solidFill>
            <a:prstDash val="sysDash"/>
            <a:tailEnd type="triangle"/>
          </a:ln>
        </p:spPr>
      </p:sp>
      <p:sp>
        <p:nvSpPr>
          <p:cNvPr id="44" name="ovl_s27_e10_0"/>
          <p:cNvSpPr/>
          <p:nvPr/>
        </p:nvSpPr>
        <p:spPr>
          <a:xfrm>
            <a:off x="4053840" y="5324094"/>
            <a:ext cx="899160" cy="914"/>
          </a:xfrm>
          <a:prstGeom prst="line">
            <a:avLst/>
          </a:prstGeom>
          <a:noFill/>
          <a:ln w="12700">
            <a:solidFill>
              <a:srgbClr val="767676"/>
            </a:solidFill>
            <a:prstDash val="sysDash"/>
            <a:tailEnd type="triangle"/>
          </a:ln>
        </p:spPr>
      </p:sp>
      <p:sp>
        <p:nvSpPr>
          <p:cNvPr id="45" name="ovl_s27_e11_0"/>
          <p:cNvSpPr/>
          <p:nvPr/>
        </p:nvSpPr>
        <p:spPr>
          <a:xfrm flipH="1">
            <a:off x="6050280" y="5324094"/>
            <a:ext cx="899160" cy="914"/>
          </a:xfrm>
          <a:prstGeom prst="line">
            <a:avLst/>
          </a:prstGeom>
          <a:noFill/>
          <a:ln w="15875">
            <a:solidFill>
              <a:srgbClr val="C0392B"/>
            </a:solidFill>
            <a:prstDash val="dash"/>
            <a:tailEnd type="triangle"/>
          </a:ln>
        </p:spPr>
      </p:sp>
      <p:sp>
        <p:nvSpPr>
          <p:cNvPr id="46" name="ovl_s27_n_base"/>
          <p:cNvSpPr/>
          <p:nvPr/>
        </p:nvSpPr>
        <p:spPr>
          <a:xfrm>
            <a:off x="457200" y="2000250"/>
            <a:ext cx="1325880" cy="749808"/>
          </a:xfrm>
          <a:prstGeom prst="roundRect">
            <a:avLst>
              <a:gd name="adj" fmla="val 7317"/>
            </a:avLst>
          </a:prstGeom>
          <a:solidFill>
            <a:srgbClr val="EAF4EE"/>
          </a:solidFill>
          <a:ln w="9525">
            <a:solidFill>
              <a:srgbClr val="86C99B"/>
            </a:solidFill>
            <a:prstDash val="solid"/>
          </a:ln>
        </p:spPr>
      </p:sp>
      <p:sp>
        <p:nvSpPr>
          <p:cNvPr id="47" name="ovl_s27_nt_base"/>
          <p:cNvSpPr txBox="1"/>
          <p:nvPr/>
        </p:nvSpPr>
        <p:spPr>
          <a:xfrm>
            <a:off x="493776" y="202768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DB の顧客基盤</a:t>
            </a:r>
            <a:endParaRPr lang="en-US" sz="1000" dirty="0"/>
          </a:p>
        </p:txBody>
      </p:sp>
      <p:sp>
        <p:nvSpPr>
          <p:cNvPr id="48" name="ovl_s27_ns_base"/>
          <p:cNvSpPr txBox="1"/>
          <p:nvPr/>
        </p:nvSpPr>
        <p:spPr>
          <a:xfrm>
            <a:off x="502920" y="223342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数十年の導入実績</a:t>
            </a:r>
            <a:endParaRPr lang="en-US" sz="850" dirty="0"/>
          </a:p>
        </p:txBody>
      </p:sp>
      <p:sp>
        <p:nvSpPr>
          <p:cNvPr id="49" name="ovl_s27_n_place"/>
          <p:cNvSpPr/>
          <p:nvPr/>
        </p:nvSpPr>
        <p:spPr>
          <a:xfrm>
            <a:off x="457200" y="2983230"/>
            <a:ext cx="1325880" cy="749808"/>
          </a:xfrm>
          <a:prstGeom prst="roundRect">
            <a:avLst>
              <a:gd name="adj" fmla="val 7317"/>
            </a:avLst>
          </a:prstGeom>
          <a:solidFill>
            <a:srgbClr val="EAF4EE"/>
          </a:solidFill>
          <a:ln w="9525">
            <a:solidFill>
              <a:srgbClr val="86C99B"/>
            </a:solidFill>
            <a:prstDash val="solid"/>
          </a:ln>
        </p:spPr>
      </p:sp>
      <p:sp>
        <p:nvSpPr>
          <p:cNvPr id="50" name="ovl_s27_nt_place"/>
          <p:cNvSpPr txBox="1"/>
          <p:nvPr/>
        </p:nvSpPr>
        <p:spPr>
          <a:xfrm>
            <a:off x="493776" y="301066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Database@ の配置</a:t>
            </a:r>
            <a:endParaRPr lang="en-US" sz="1000" dirty="0"/>
          </a:p>
        </p:txBody>
      </p:sp>
      <p:sp>
        <p:nvSpPr>
          <p:cNvPr id="51" name="ovl_s27_ns_place"/>
          <p:cNvSpPr txBox="1"/>
          <p:nvPr/>
        </p:nvSpPr>
        <p:spPr>
          <a:xfrm>
            <a:off x="502920" y="321640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70 リージョン</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119 AZ</a:t>
            </a:r>
            <a:endParaRPr lang="en-US" sz="850" dirty="0"/>
          </a:p>
        </p:txBody>
      </p:sp>
      <p:sp>
        <p:nvSpPr>
          <p:cNvPr id="52" name="ovl_s27_n_cap"/>
          <p:cNvSpPr/>
          <p:nvPr/>
        </p:nvSpPr>
        <p:spPr>
          <a:xfrm>
            <a:off x="457200" y="3966210"/>
            <a:ext cx="1325880" cy="749808"/>
          </a:xfrm>
          <a:prstGeom prst="roundRect">
            <a:avLst>
              <a:gd name="adj" fmla="val 7317"/>
            </a:avLst>
          </a:prstGeom>
          <a:solidFill>
            <a:srgbClr val="FFFFFF"/>
          </a:solidFill>
          <a:ln w="19050">
            <a:solidFill>
              <a:srgbClr val="197A56"/>
            </a:solidFill>
            <a:prstDash val="solid"/>
          </a:ln>
        </p:spPr>
      </p:sp>
      <p:sp>
        <p:nvSpPr>
          <p:cNvPr id="53" name="ovl_s27_nt_cap"/>
          <p:cNvSpPr txBox="1"/>
          <p:nvPr/>
        </p:nvSpPr>
        <p:spPr>
          <a:xfrm>
            <a:off x="493776" y="399364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容量</a:t>
            </a:r>
            <a:endParaRPr lang="en-US" sz="1000" dirty="0"/>
          </a:p>
        </p:txBody>
      </p:sp>
      <p:sp>
        <p:nvSpPr>
          <p:cNvPr id="54" name="ovl_s27_ns_cap"/>
          <p:cNvSpPr txBox="1"/>
          <p:nvPr/>
        </p:nvSpPr>
        <p:spPr>
          <a:xfrm>
            <a:off x="502920" y="419938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10GW 超を確保</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(FY29 まで)</a:t>
            </a:r>
            <a:endParaRPr lang="en-US" sz="850" dirty="0"/>
          </a:p>
        </p:txBody>
      </p:sp>
      <p:sp>
        <p:nvSpPr>
          <p:cNvPr id="55" name="ovl_s27_n_bld"/>
          <p:cNvSpPr/>
          <p:nvPr/>
        </p:nvSpPr>
        <p:spPr>
          <a:xfrm>
            <a:off x="457200" y="4949190"/>
            <a:ext cx="1325880" cy="749808"/>
          </a:xfrm>
          <a:prstGeom prst="roundRect">
            <a:avLst>
              <a:gd name="adj" fmla="val 7317"/>
            </a:avLst>
          </a:prstGeom>
          <a:solidFill>
            <a:srgbClr val="FFFFFF"/>
          </a:solidFill>
          <a:ln w="19050">
            <a:solidFill>
              <a:srgbClr val="197A56"/>
            </a:solidFill>
            <a:prstDash val="solid"/>
          </a:ln>
        </p:spPr>
      </p:sp>
      <p:sp>
        <p:nvSpPr>
          <p:cNvPr id="56" name="ovl_s27_nt_bld"/>
          <p:cNvSpPr txBox="1"/>
          <p:nvPr/>
        </p:nvSpPr>
        <p:spPr>
          <a:xfrm>
            <a:off x="493776" y="497662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電力付きの建屋</a:t>
            </a:r>
            <a:endParaRPr lang="en-US" sz="1000" dirty="0"/>
          </a:p>
        </p:txBody>
      </p:sp>
      <p:sp>
        <p:nvSpPr>
          <p:cNvPr id="57" name="ovl_s27_ns_bld"/>
          <p:cNvSpPr txBox="1"/>
          <p:nvPr/>
        </p:nvSpPr>
        <p:spPr>
          <a:xfrm>
            <a:off x="502920" y="518236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90% 超を</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パートナーが負担</a:t>
            </a:r>
            <a:endParaRPr lang="en-US" sz="850" dirty="0"/>
          </a:p>
        </p:txBody>
      </p:sp>
      <p:sp>
        <p:nvSpPr>
          <p:cNvPr id="58" name="ovl_s27_n_mig"/>
          <p:cNvSpPr/>
          <p:nvPr/>
        </p:nvSpPr>
        <p:spPr>
          <a:xfrm>
            <a:off x="2682240" y="2000250"/>
            <a:ext cx="1371600" cy="749808"/>
          </a:xfrm>
          <a:prstGeom prst="roundRect">
            <a:avLst>
              <a:gd name="adj" fmla="val 7317"/>
            </a:avLst>
          </a:prstGeom>
          <a:solidFill>
            <a:srgbClr val="FFFFFF"/>
          </a:solidFill>
          <a:ln w="9525">
            <a:solidFill>
              <a:srgbClr val="767676"/>
            </a:solidFill>
            <a:prstDash val="solid"/>
          </a:ln>
        </p:spPr>
      </p:sp>
      <p:sp>
        <p:nvSpPr>
          <p:cNvPr id="59" name="ovl_s27_nt_mig"/>
          <p:cNvSpPr txBox="1"/>
          <p:nvPr/>
        </p:nvSpPr>
        <p:spPr>
          <a:xfrm>
            <a:off x="2718816" y="2027682"/>
            <a:ext cx="1298448" cy="356616"/>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データ移行・</a:t>
            </a:r>
            <a:endParaRPr lang="en-US" sz="900" dirty="0"/>
          </a:p>
          <a:p>
            <a:pPr algn="ctr" indent="0" marL="0">
              <a:buNone/>
            </a:pPr>
            <a:r>
              <a:rPr lang="en-US" sz="900" b="1" dirty="0">
                <a:solidFill>
                  <a:srgbClr val="0E4D33"/>
                </a:solidFill>
                <a:latin typeface="Meiryo UI" pitchFamily="34" charset="0"/>
                <a:ea typeface="Meiryo UI" pitchFamily="34" charset="-122"/>
                <a:cs typeface="Meiryo UI" pitchFamily="34" charset="-120"/>
              </a:rPr>
              <a:t>アプリ改修</a:t>
            </a:r>
            <a:endParaRPr lang="en-US" sz="900" dirty="0"/>
          </a:p>
        </p:txBody>
      </p:sp>
      <p:sp>
        <p:nvSpPr>
          <p:cNvPr id="60" name="ovl_s27_ns_mig"/>
          <p:cNvSpPr txBox="1"/>
          <p:nvPr/>
        </p:nvSpPr>
        <p:spPr>
          <a:xfrm>
            <a:off x="2727960" y="2384298"/>
            <a:ext cx="1280160" cy="3383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顧客側に数年</a:t>
            </a:r>
            <a:endParaRPr lang="en-US" sz="850" dirty="0"/>
          </a:p>
        </p:txBody>
      </p:sp>
      <p:sp>
        <p:nvSpPr>
          <p:cNvPr id="61" name="ovl_s27_n_part"/>
          <p:cNvSpPr/>
          <p:nvPr/>
        </p:nvSpPr>
        <p:spPr>
          <a:xfrm>
            <a:off x="2682240" y="2983230"/>
            <a:ext cx="1371600" cy="749808"/>
          </a:xfrm>
          <a:prstGeom prst="roundRect">
            <a:avLst>
              <a:gd name="adj" fmla="val 7317"/>
            </a:avLst>
          </a:prstGeom>
          <a:solidFill>
            <a:srgbClr val="FFFFFF"/>
          </a:solidFill>
          <a:ln w="9525">
            <a:solidFill>
              <a:srgbClr val="767676"/>
            </a:solidFill>
            <a:prstDash val="solid"/>
          </a:ln>
        </p:spPr>
      </p:sp>
      <p:sp>
        <p:nvSpPr>
          <p:cNvPr id="62" name="ovl_s27_nt_part"/>
          <p:cNvSpPr txBox="1"/>
          <p:nvPr/>
        </p:nvSpPr>
        <p:spPr>
          <a:xfrm>
            <a:off x="2718816" y="3010662"/>
            <a:ext cx="1298448" cy="205740"/>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競合クラウドとの提携</a:t>
            </a:r>
            <a:endParaRPr lang="en-US" sz="900" dirty="0"/>
          </a:p>
        </p:txBody>
      </p:sp>
      <p:sp>
        <p:nvSpPr>
          <p:cNvPr id="63" name="ovl_s27_ns_part"/>
          <p:cNvSpPr txBox="1"/>
          <p:nvPr/>
        </p:nvSpPr>
        <p:spPr>
          <a:xfrm>
            <a:off x="2727960" y="3216402"/>
            <a:ext cx="128016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AWS・Azure・Google</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の合意</a:t>
            </a:r>
            <a:endParaRPr lang="en-US" sz="850" dirty="0"/>
          </a:p>
        </p:txBody>
      </p:sp>
      <p:sp>
        <p:nvSpPr>
          <p:cNvPr id="64" name="ovl_s27_n_money"/>
          <p:cNvSpPr/>
          <p:nvPr/>
        </p:nvSpPr>
        <p:spPr>
          <a:xfrm>
            <a:off x="2682240" y="3966210"/>
            <a:ext cx="1371600" cy="749808"/>
          </a:xfrm>
          <a:prstGeom prst="roundRect">
            <a:avLst>
              <a:gd name="adj" fmla="val 7317"/>
            </a:avLst>
          </a:prstGeom>
          <a:solidFill>
            <a:srgbClr val="FFFFFF"/>
          </a:solidFill>
          <a:ln w="9525">
            <a:solidFill>
              <a:srgbClr val="767676"/>
            </a:solidFill>
            <a:prstDash val="solid"/>
          </a:ln>
        </p:spPr>
      </p:sp>
      <p:sp>
        <p:nvSpPr>
          <p:cNvPr id="65" name="ovl_s27_nt_money"/>
          <p:cNvSpPr txBox="1"/>
          <p:nvPr/>
        </p:nvSpPr>
        <p:spPr>
          <a:xfrm>
            <a:off x="2718816" y="3993642"/>
            <a:ext cx="12984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資本</a:t>
            </a:r>
            <a:endParaRPr lang="en-US" sz="1000" dirty="0"/>
          </a:p>
        </p:txBody>
      </p:sp>
      <p:sp>
        <p:nvSpPr>
          <p:cNvPr id="66" name="ovl_s27_ns_money"/>
          <p:cNvSpPr txBox="1"/>
          <p:nvPr/>
        </p:nvSpPr>
        <p:spPr>
          <a:xfrm>
            <a:off x="2727960" y="4199382"/>
            <a:ext cx="128016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1GW あたり</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数百億ドル</a:t>
            </a:r>
            <a:endParaRPr lang="en-US" sz="850" dirty="0"/>
          </a:p>
        </p:txBody>
      </p:sp>
      <p:sp>
        <p:nvSpPr>
          <p:cNvPr id="67" name="ovl_s27_n_grid"/>
          <p:cNvSpPr/>
          <p:nvPr/>
        </p:nvSpPr>
        <p:spPr>
          <a:xfrm>
            <a:off x="2682240" y="4949190"/>
            <a:ext cx="1371600" cy="749808"/>
          </a:xfrm>
          <a:prstGeom prst="roundRect">
            <a:avLst>
              <a:gd name="adj" fmla="val 7317"/>
            </a:avLst>
          </a:prstGeom>
          <a:solidFill>
            <a:srgbClr val="FFFFFF"/>
          </a:solidFill>
          <a:ln w="19050">
            <a:solidFill>
              <a:srgbClr val="C0392B"/>
            </a:solidFill>
            <a:prstDash val="solid"/>
          </a:ln>
        </p:spPr>
      </p:sp>
      <p:sp>
        <p:nvSpPr>
          <p:cNvPr id="68" name="ovl_s27_nt_grid"/>
          <p:cNvSpPr txBox="1"/>
          <p:nvPr/>
        </p:nvSpPr>
        <p:spPr>
          <a:xfrm>
            <a:off x="2718816" y="4976622"/>
            <a:ext cx="129844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電力・系統</a:t>
            </a:r>
            <a:endParaRPr lang="en-US" sz="1000" dirty="0"/>
          </a:p>
        </p:txBody>
      </p:sp>
      <p:sp>
        <p:nvSpPr>
          <p:cNvPr id="69" name="ovl_s27_ns_grid"/>
          <p:cNvSpPr txBox="1"/>
          <p:nvPr/>
        </p:nvSpPr>
        <p:spPr>
          <a:xfrm>
            <a:off x="2727960" y="5182362"/>
            <a:ext cx="128016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連系 約 40 か月</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タービンは</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2031 年分を販売中</a:t>
            </a:r>
            <a:endParaRPr lang="en-US" sz="850" dirty="0"/>
          </a:p>
        </p:txBody>
      </p:sp>
      <p:sp>
        <p:nvSpPr>
          <p:cNvPr id="70" name="ovl_s27_n_t1"/>
          <p:cNvSpPr/>
          <p:nvPr/>
        </p:nvSpPr>
        <p:spPr>
          <a:xfrm>
            <a:off x="4953000" y="2000250"/>
            <a:ext cx="1097280" cy="749808"/>
          </a:xfrm>
          <a:prstGeom prst="roundRect">
            <a:avLst>
              <a:gd name="adj" fmla="val 7317"/>
            </a:avLst>
          </a:prstGeom>
          <a:solidFill>
            <a:srgbClr val="EAF4EE"/>
          </a:solidFill>
          <a:ln w="9525">
            <a:solidFill>
              <a:srgbClr val="86C99B"/>
            </a:solidFill>
            <a:prstDash val="solid"/>
          </a:ln>
        </p:spPr>
      </p:sp>
      <p:sp>
        <p:nvSpPr>
          <p:cNvPr id="71" name="ovl_s27_nt_t1"/>
          <p:cNvSpPr txBox="1"/>
          <p:nvPr/>
        </p:nvSpPr>
        <p:spPr>
          <a:xfrm>
            <a:off x="4989576" y="2027682"/>
            <a:ext cx="10241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10 年超</a:t>
            </a:r>
            <a:endParaRPr lang="en-US" sz="1000" dirty="0"/>
          </a:p>
        </p:txBody>
      </p:sp>
      <p:sp>
        <p:nvSpPr>
          <p:cNvPr id="72" name="ovl_s27_ns_t1"/>
          <p:cNvSpPr txBox="1"/>
          <p:nvPr/>
        </p:nvSpPr>
        <p:spPr>
          <a:xfrm>
            <a:off x="4998720" y="2233422"/>
            <a:ext cx="10058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実質再現できない</a:t>
            </a:r>
            <a:endParaRPr lang="en-US" sz="850" dirty="0"/>
          </a:p>
        </p:txBody>
      </p:sp>
      <p:sp>
        <p:nvSpPr>
          <p:cNvPr id="73" name="ovl_s27_n_t2"/>
          <p:cNvSpPr/>
          <p:nvPr/>
        </p:nvSpPr>
        <p:spPr>
          <a:xfrm>
            <a:off x="4953000" y="2983230"/>
            <a:ext cx="1097280" cy="749808"/>
          </a:xfrm>
          <a:prstGeom prst="roundRect">
            <a:avLst>
              <a:gd name="adj" fmla="val 7317"/>
            </a:avLst>
          </a:prstGeom>
          <a:solidFill>
            <a:srgbClr val="EAF4EE"/>
          </a:solidFill>
          <a:ln w="9525">
            <a:solidFill>
              <a:srgbClr val="86C99B"/>
            </a:solidFill>
            <a:prstDash val="solid"/>
          </a:ln>
        </p:spPr>
      </p:sp>
      <p:sp>
        <p:nvSpPr>
          <p:cNvPr id="74" name="ovl_s27_nt_t2"/>
          <p:cNvSpPr txBox="1"/>
          <p:nvPr/>
        </p:nvSpPr>
        <p:spPr>
          <a:xfrm>
            <a:off x="4989576" y="3010662"/>
            <a:ext cx="1024128" cy="694944"/>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提携先次第</a:t>
            </a:r>
            <a:endParaRPr lang="en-US" sz="1000" dirty="0"/>
          </a:p>
        </p:txBody>
      </p:sp>
      <p:sp>
        <p:nvSpPr>
          <p:cNvPr id="75" name="ovl_s27_n_t3"/>
          <p:cNvSpPr/>
          <p:nvPr/>
        </p:nvSpPr>
        <p:spPr>
          <a:xfrm>
            <a:off x="4953000" y="3966210"/>
            <a:ext cx="1097280" cy="749808"/>
          </a:xfrm>
          <a:prstGeom prst="roundRect">
            <a:avLst>
              <a:gd name="adj" fmla="val 7317"/>
            </a:avLst>
          </a:prstGeom>
          <a:solidFill>
            <a:srgbClr val="FFFFFF"/>
          </a:solidFill>
          <a:ln w="19050">
            <a:solidFill>
              <a:srgbClr val="C0392B"/>
            </a:solidFill>
            <a:prstDash val="solid"/>
          </a:ln>
        </p:spPr>
      </p:sp>
      <p:sp>
        <p:nvSpPr>
          <p:cNvPr id="76" name="ovl_s27_nt_t3"/>
          <p:cNvSpPr txBox="1"/>
          <p:nvPr/>
        </p:nvSpPr>
        <p:spPr>
          <a:xfrm>
            <a:off x="4989576" y="3993642"/>
            <a:ext cx="10241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2〜4 年</a:t>
            </a:r>
            <a:endParaRPr lang="en-US" sz="1000" dirty="0"/>
          </a:p>
        </p:txBody>
      </p:sp>
      <p:sp>
        <p:nvSpPr>
          <p:cNvPr id="77" name="ovl_s27_ns_t3"/>
          <p:cNvSpPr txBox="1"/>
          <p:nvPr/>
        </p:nvSpPr>
        <p:spPr>
          <a:xfrm>
            <a:off x="4998720" y="4199382"/>
            <a:ext cx="10058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資本があれば</a:t>
            </a:r>
            <a:endParaRPr lang="en-US" sz="850" dirty="0"/>
          </a:p>
        </p:txBody>
      </p:sp>
      <p:sp>
        <p:nvSpPr>
          <p:cNvPr id="78" name="ovl_s27_n_t4"/>
          <p:cNvSpPr/>
          <p:nvPr/>
        </p:nvSpPr>
        <p:spPr>
          <a:xfrm>
            <a:off x="4953000" y="4949190"/>
            <a:ext cx="1097280" cy="749808"/>
          </a:xfrm>
          <a:prstGeom prst="roundRect">
            <a:avLst>
              <a:gd name="adj" fmla="val 7317"/>
            </a:avLst>
          </a:prstGeom>
          <a:solidFill>
            <a:srgbClr val="FFFFFF"/>
          </a:solidFill>
          <a:ln w="19050">
            <a:solidFill>
              <a:srgbClr val="C0392B"/>
            </a:solidFill>
            <a:prstDash val="solid"/>
          </a:ln>
        </p:spPr>
      </p:sp>
      <p:sp>
        <p:nvSpPr>
          <p:cNvPr id="79" name="ovl_s27_nt_t4"/>
          <p:cNvSpPr txBox="1"/>
          <p:nvPr/>
        </p:nvSpPr>
        <p:spPr>
          <a:xfrm>
            <a:off x="4989576" y="4976622"/>
            <a:ext cx="10241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3〜4 年</a:t>
            </a:r>
            <a:endParaRPr lang="en-US" sz="1000" dirty="0"/>
          </a:p>
        </p:txBody>
      </p:sp>
      <p:sp>
        <p:nvSpPr>
          <p:cNvPr id="80" name="ovl_s27_ns_t4"/>
          <p:cNvSpPr txBox="1"/>
          <p:nvPr/>
        </p:nvSpPr>
        <p:spPr>
          <a:xfrm>
            <a:off x="4998720" y="5182362"/>
            <a:ext cx="10058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電力の確保</a:t>
            </a:r>
            <a:endParaRPr lang="en-US" sz="850" dirty="0"/>
          </a:p>
        </p:txBody>
      </p:sp>
      <p:sp>
        <p:nvSpPr>
          <p:cNvPr id="81" name="ovl_s27_n_pg"/>
          <p:cNvSpPr/>
          <p:nvPr/>
        </p:nvSpPr>
        <p:spPr>
          <a:xfrm>
            <a:off x="6949440" y="2000250"/>
            <a:ext cx="1325880" cy="749808"/>
          </a:xfrm>
          <a:prstGeom prst="roundRect">
            <a:avLst>
              <a:gd name="adj" fmla="val 7317"/>
            </a:avLst>
          </a:prstGeom>
          <a:solidFill>
            <a:srgbClr val="FFFFFF"/>
          </a:solidFill>
          <a:ln w="9525">
            <a:solidFill>
              <a:srgbClr val="767676"/>
            </a:solidFill>
            <a:prstDash val="solid"/>
          </a:ln>
        </p:spPr>
      </p:sp>
      <p:sp>
        <p:nvSpPr>
          <p:cNvPr id="82" name="ovl_s27_nt_pg"/>
          <p:cNvSpPr txBox="1"/>
          <p:nvPr/>
        </p:nvSpPr>
        <p:spPr>
          <a:xfrm>
            <a:off x="6986016" y="202768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他社 DB</a:t>
            </a:r>
            <a:endParaRPr lang="en-US" sz="1000" dirty="0"/>
          </a:p>
        </p:txBody>
      </p:sp>
      <p:sp>
        <p:nvSpPr>
          <p:cNvPr id="83" name="ovl_s27_ns_pg"/>
          <p:cNvSpPr txBox="1"/>
          <p:nvPr/>
        </p:nvSpPr>
        <p:spPr>
          <a:xfrm>
            <a:off x="6995160" y="223342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PostgreSQL ほか</a:t>
            </a:r>
            <a:endParaRPr lang="en-US" sz="850" dirty="0"/>
          </a:p>
        </p:txBody>
      </p:sp>
      <p:sp>
        <p:nvSpPr>
          <p:cNvPr id="84" name="ovl_s27_n_hyp"/>
          <p:cNvSpPr/>
          <p:nvPr/>
        </p:nvSpPr>
        <p:spPr>
          <a:xfrm>
            <a:off x="6949440" y="2983230"/>
            <a:ext cx="1325880" cy="749808"/>
          </a:xfrm>
          <a:prstGeom prst="roundRect">
            <a:avLst>
              <a:gd name="adj" fmla="val 7317"/>
            </a:avLst>
          </a:prstGeom>
          <a:solidFill>
            <a:srgbClr val="FFFFFF"/>
          </a:solidFill>
          <a:ln w="9525">
            <a:solidFill>
              <a:srgbClr val="767676"/>
            </a:solidFill>
            <a:prstDash val="solid"/>
          </a:ln>
        </p:spPr>
      </p:sp>
      <p:sp>
        <p:nvSpPr>
          <p:cNvPr id="85" name="ovl_s27_nt_hyp"/>
          <p:cNvSpPr txBox="1"/>
          <p:nvPr/>
        </p:nvSpPr>
        <p:spPr>
          <a:xfrm>
            <a:off x="6986016" y="301066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大手クラウド</a:t>
            </a:r>
            <a:endParaRPr lang="en-US" sz="1000" dirty="0"/>
          </a:p>
        </p:txBody>
      </p:sp>
      <p:sp>
        <p:nvSpPr>
          <p:cNvPr id="86" name="ovl_s27_ns_hyp"/>
          <p:cNvSpPr txBox="1"/>
          <p:nvPr/>
        </p:nvSpPr>
        <p:spPr>
          <a:xfrm>
            <a:off x="6995160" y="321640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自社 DB を推す</a:t>
            </a:r>
            <a:endParaRPr lang="en-US" sz="850" dirty="0"/>
          </a:p>
        </p:txBody>
      </p:sp>
      <p:sp>
        <p:nvSpPr>
          <p:cNvPr id="87" name="ovl_s27_n_neo"/>
          <p:cNvSpPr/>
          <p:nvPr/>
        </p:nvSpPr>
        <p:spPr>
          <a:xfrm>
            <a:off x="6949440" y="3966210"/>
            <a:ext cx="1325880" cy="749808"/>
          </a:xfrm>
          <a:prstGeom prst="roundRect">
            <a:avLst>
              <a:gd name="adj" fmla="val 7317"/>
            </a:avLst>
          </a:prstGeom>
          <a:solidFill>
            <a:srgbClr val="FFFFFF"/>
          </a:solidFill>
          <a:ln w="19050">
            <a:solidFill>
              <a:srgbClr val="C0392B"/>
            </a:solidFill>
            <a:prstDash val="solid"/>
          </a:ln>
        </p:spPr>
      </p:sp>
      <p:sp>
        <p:nvSpPr>
          <p:cNvPr id="88" name="ovl_s27_nt_neo"/>
          <p:cNvSpPr txBox="1"/>
          <p:nvPr/>
        </p:nvSpPr>
        <p:spPr>
          <a:xfrm>
            <a:off x="6986016" y="3993642"/>
            <a:ext cx="1252728" cy="205740"/>
          </a:xfrm>
          <a:prstGeom prst="rect">
            <a:avLst/>
          </a:prstGeom>
          <a:noFill/>
          <a:ln/>
        </p:spPr>
        <p:txBody>
          <a:bodyPr wrap="square" lIns="0" tIns="0" rIns="0" bIns="0" rtlCol="0" anchor="ctr"/>
          <a:lstStyle/>
          <a:p>
            <a:pPr algn="ctr" indent="0" marL="0">
              <a:buNone/>
            </a:pPr>
            <a:r>
              <a:rPr lang="en-US" sz="900" b="1" dirty="0">
                <a:solidFill>
                  <a:srgbClr val="C0392B"/>
                </a:solidFill>
                <a:latin typeface="Meiryo UI" pitchFamily="34" charset="0"/>
                <a:ea typeface="Meiryo UI" pitchFamily="34" charset="-122"/>
                <a:cs typeface="Meiryo UI" pitchFamily="34" charset="-120"/>
              </a:rPr>
              <a:t>ネオクラウド・大手</a:t>
            </a:r>
            <a:endParaRPr lang="en-US" sz="900" dirty="0"/>
          </a:p>
        </p:txBody>
      </p:sp>
      <p:sp>
        <p:nvSpPr>
          <p:cNvPr id="89" name="ovl_s27_ns_neo"/>
          <p:cNvSpPr txBox="1"/>
          <p:nvPr/>
        </p:nvSpPr>
        <p:spPr>
          <a:xfrm>
            <a:off x="6995160" y="419938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実際に建設中</a:t>
            </a:r>
            <a:endParaRPr lang="en-US" sz="850" dirty="0"/>
          </a:p>
        </p:txBody>
      </p:sp>
      <p:sp>
        <p:nvSpPr>
          <p:cNvPr id="90" name="ovl_s27_n_util"/>
          <p:cNvSpPr/>
          <p:nvPr/>
        </p:nvSpPr>
        <p:spPr>
          <a:xfrm>
            <a:off x="6949440" y="4949190"/>
            <a:ext cx="1325880" cy="749808"/>
          </a:xfrm>
          <a:prstGeom prst="roundRect">
            <a:avLst>
              <a:gd name="adj" fmla="val 7317"/>
            </a:avLst>
          </a:prstGeom>
          <a:solidFill>
            <a:srgbClr val="FFFFFF"/>
          </a:solidFill>
          <a:ln w="9525">
            <a:solidFill>
              <a:srgbClr val="767676"/>
            </a:solidFill>
            <a:prstDash val="solid"/>
          </a:ln>
        </p:spPr>
      </p:sp>
      <p:sp>
        <p:nvSpPr>
          <p:cNvPr id="91" name="ovl_s27_nt_util"/>
          <p:cNvSpPr txBox="1"/>
          <p:nvPr/>
        </p:nvSpPr>
        <p:spPr>
          <a:xfrm>
            <a:off x="6986016" y="4976622"/>
            <a:ext cx="1252728" cy="356616"/>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電力会社・開発事業者</a:t>
            </a:r>
            <a:endParaRPr lang="en-US" sz="900" dirty="0"/>
          </a:p>
        </p:txBody>
      </p:sp>
      <p:sp>
        <p:nvSpPr>
          <p:cNvPr id="92" name="ovl_s27_ns_util"/>
          <p:cNvSpPr txBox="1"/>
          <p:nvPr/>
        </p:nvSpPr>
        <p:spPr>
          <a:xfrm>
            <a:off x="6995160" y="5333238"/>
            <a:ext cx="1234440" cy="3383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ほかの顧客にも供給</a:t>
            </a:r>
            <a:endParaRPr lang="en-US" sz="850" dirty="0"/>
          </a:p>
        </p:txBody>
      </p:sp>
      <p:sp>
        <p:nvSpPr>
          <p:cNvPr id="93" name="ovl_s27_num0"/>
          <p:cNvSpPr/>
          <p:nvPr/>
        </p:nvSpPr>
        <p:spPr>
          <a:xfrm>
            <a:off x="2113788" y="2256282"/>
            <a:ext cx="237744" cy="237744"/>
          </a:xfrm>
          <a:prstGeom prst="ellipse">
            <a:avLst/>
          </a:prstGeom>
          <a:solidFill>
            <a:srgbClr val="767676"/>
          </a:solidFill>
          <a:ln w="12700">
            <a:solidFill>
              <a:srgbClr val="FFFFFF"/>
            </a:solidFill>
            <a:prstDash val="solid"/>
          </a:ln>
        </p:spPr>
      </p:sp>
      <p:sp>
        <p:nvSpPr>
          <p:cNvPr id="94" name="ovl_s27_numt0"/>
          <p:cNvSpPr txBox="1"/>
          <p:nvPr/>
        </p:nvSpPr>
        <p:spPr>
          <a:xfrm>
            <a:off x="2113788" y="225628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1</a:t>
            </a:r>
            <a:endParaRPr lang="en-US" sz="900" dirty="0"/>
          </a:p>
        </p:txBody>
      </p:sp>
      <p:sp>
        <p:nvSpPr>
          <p:cNvPr id="95" name="ovl_s27_lab2"/>
          <p:cNvSpPr txBox="1"/>
          <p:nvPr/>
        </p:nvSpPr>
        <p:spPr>
          <a:xfrm>
            <a:off x="6095238" y="2141982"/>
            <a:ext cx="809244"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追随できない</a:t>
            </a:r>
            <a:endParaRPr lang="en-US" sz="850" dirty="0"/>
          </a:p>
        </p:txBody>
      </p:sp>
      <p:sp>
        <p:nvSpPr>
          <p:cNvPr id="96" name="ovl_s27_num3"/>
          <p:cNvSpPr/>
          <p:nvPr/>
        </p:nvSpPr>
        <p:spPr>
          <a:xfrm>
            <a:off x="2113788" y="3239262"/>
            <a:ext cx="237744" cy="237744"/>
          </a:xfrm>
          <a:prstGeom prst="ellipse">
            <a:avLst/>
          </a:prstGeom>
          <a:solidFill>
            <a:srgbClr val="767676"/>
          </a:solidFill>
          <a:ln w="12700">
            <a:solidFill>
              <a:srgbClr val="FFFFFF"/>
            </a:solidFill>
            <a:prstDash val="solid"/>
          </a:ln>
        </p:spPr>
      </p:sp>
      <p:sp>
        <p:nvSpPr>
          <p:cNvPr id="97" name="ovl_s27_numt3"/>
          <p:cNvSpPr txBox="1"/>
          <p:nvPr/>
        </p:nvSpPr>
        <p:spPr>
          <a:xfrm>
            <a:off x="2113788" y="323926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2</a:t>
            </a:r>
            <a:endParaRPr lang="en-US" sz="900" dirty="0"/>
          </a:p>
        </p:txBody>
      </p:sp>
      <p:sp>
        <p:nvSpPr>
          <p:cNvPr id="98" name="ovl_s27_lab5"/>
          <p:cNvSpPr txBox="1"/>
          <p:nvPr/>
        </p:nvSpPr>
        <p:spPr>
          <a:xfrm>
            <a:off x="6153531" y="3124962"/>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提携が要る</a:t>
            </a:r>
            <a:endParaRPr lang="en-US" sz="850" dirty="0"/>
          </a:p>
        </p:txBody>
      </p:sp>
      <p:sp>
        <p:nvSpPr>
          <p:cNvPr id="99" name="ovl_s27_num6"/>
          <p:cNvSpPr/>
          <p:nvPr/>
        </p:nvSpPr>
        <p:spPr>
          <a:xfrm>
            <a:off x="2113788" y="4222242"/>
            <a:ext cx="237744" cy="237744"/>
          </a:xfrm>
          <a:prstGeom prst="ellipse">
            <a:avLst/>
          </a:prstGeom>
          <a:solidFill>
            <a:srgbClr val="767676"/>
          </a:solidFill>
          <a:ln w="12700">
            <a:solidFill>
              <a:srgbClr val="FFFFFF"/>
            </a:solidFill>
            <a:prstDash val="solid"/>
          </a:ln>
        </p:spPr>
      </p:sp>
      <p:sp>
        <p:nvSpPr>
          <p:cNvPr id="100" name="ovl_s27_numt6"/>
          <p:cNvSpPr txBox="1"/>
          <p:nvPr/>
        </p:nvSpPr>
        <p:spPr>
          <a:xfrm>
            <a:off x="2113788" y="422224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3</a:t>
            </a:r>
            <a:endParaRPr lang="en-US" sz="900" dirty="0"/>
          </a:p>
        </p:txBody>
      </p:sp>
      <p:sp>
        <p:nvSpPr>
          <p:cNvPr id="101" name="ovl_s27_lab8"/>
          <p:cNvSpPr txBox="1"/>
          <p:nvPr/>
        </p:nvSpPr>
        <p:spPr>
          <a:xfrm>
            <a:off x="6328410" y="4107942"/>
            <a:ext cx="342900"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追随</a:t>
            </a:r>
            <a:endParaRPr lang="en-US" sz="850" dirty="0"/>
          </a:p>
        </p:txBody>
      </p:sp>
      <p:sp>
        <p:nvSpPr>
          <p:cNvPr id="102" name="ovl_s27_num9"/>
          <p:cNvSpPr/>
          <p:nvPr/>
        </p:nvSpPr>
        <p:spPr>
          <a:xfrm>
            <a:off x="2113788" y="5205222"/>
            <a:ext cx="237744" cy="237744"/>
          </a:xfrm>
          <a:prstGeom prst="ellipse">
            <a:avLst/>
          </a:prstGeom>
          <a:solidFill>
            <a:srgbClr val="767676"/>
          </a:solidFill>
          <a:ln w="12700">
            <a:solidFill>
              <a:srgbClr val="FFFFFF"/>
            </a:solidFill>
            <a:prstDash val="solid"/>
          </a:ln>
        </p:spPr>
      </p:sp>
      <p:sp>
        <p:nvSpPr>
          <p:cNvPr id="103" name="ovl_s27_numt9"/>
          <p:cNvSpPr txBox="1"/>
          <p:nvPr/>
        </p:nvSpPr>
        <p:spPr>
          <a:xfrm>
            <a:off x="2113788" y="520522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4</a:t>
            </a:r>
            <a:endParaRPr lang="en-US" sz="900" dirty="0"/>
          </a:p>
        </p:txBody>
      </p:sp>
      <p:sp>
        <p:nvSpPr>
          <p:cNvPr id="104" name="ovl_s27_lab11"/>
          <p:cNvSpPr txBox="1"/>
          <p:nvPr/>
        </p:nvSpPr>
        <p:spPr>
          <a:xfrm>
            <a:off x="6211824" y="5090922"/>
            <a:ext cx="576072"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奪い合い</a:t>
            </a:r>
            <a:endParaRPr lang="en-US" sz="850" dirty="0"/>
          </a:p>
        </p:txBody>
      </p:sp>
      <p:sp>
        <p:nvSpPr>
          <p:cNvPr id="105" name="ovl_s27_leg0"/>
          <p:cNvSpPr/>
          <p:nvPr/>
        </p:nvSpPr>
        <p:spPr>
          <a:xfrm>
            <a:off x="457200" y="5971032"/>
            <a:ext cx="365760" cy="914"/>
          </a:xfrm>
          <a:prstGeom prst="line">
            <a:avLst/>
          </a:prstGeom>
          <a:noFill/>
          <a:ln w="15875">
            <a:solidFill>
              <a:srgbClr val="C0392B"/>
            </a:solidFill>
            <a:prstDash val="dash"/>
            <a:tailEnd type="triangle"/>
          </a:ln>
        </p:spPr>
      </p:sp>
      <p:sp>
        <p:nvSpPr>
          <p:cNvPr id="106" name="ovl_s27_legt0"/>
          <p:cNvSpPr txBox="1"/>
          <p:nvPr/>
        </p:nvSpPr>
        <p:spPr>
          <a:xfrm>
            <a:off x="87782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リスク</a:t>
            </a:r>
            <a:endParaRPr lang="en-US" sz="800" dirty="0"/>
          </a:p>
        </p:txBody>
      </p:sp>
      <p:sp>
        <p:nvSpPr>
          <p:cNvPr id="107" name="ovl_s27_leg1"/>
          <p:cNvSpPr/>
          <p:nvPr/>
        </p:nvSpPr>
        <p:spPr>
          <a:xfrm>
            <a:off x="1874520" y="5971032"/>
            <a:ext cx="365760" cy="914"/>
          </a:xfrm>
          <a:prstGeom prst="line">
            <a:avLst/>
          </a:prstGeom>
          <a:noFill/>
          <a:ln w="12700">
            <a:solidFill>
              <a:srgbClr val="767676"/>
            </a:solidFill>
            <a:prstDash val="sysDash"/>
            <a:tailEnd type="triangle"/>
          </a:ln>
        </p:spPr>
      </p:sp>
      <p:sp>
        <p:nvSpPr>
          <p:cNvPr id="108" name="ovl_s27_legt1"/>
          <p:cNvSpPr txBox="1"/>
          <p:nvPr/>
        </p:nvSpPr>
        <p:spPr>
          <a:xfrm>
            <a:off x="229514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契約・統治</a:t>
            </a:r>
            <a:endParaRPr lang="en-US" sz="800" dirty="0"/>
          </a:p>
        </p:txBody>
      </p:sp>
      <p:sp>
        <p:nvSpPr>
          <p:cNvPr id="109" name="ovl_s27_legn"/>
          <p:cNvSpPr txBox="1"/>
          <p:nvPr/>
        </p:nvSpPr>
        <p:spPr>
          <a:xfrm>
            <a:off x="6126480" y="5870448"/>
            <a:ext cx="2148840" cy="201168"/>
          </a:xfrm>
          <a:prstGeom prst="rect">
            <a:avLst/>
          </a:prstGeom>
          <a:noFill/>
          <a:ln/>
        </p:spPr>
        <p:txBody>
          <a:bodyPr wrap="square" lIns="0" tIns="0" rIns="0" bIns="0" rtlCol="0" anchor="ctr"/>
          <a:lstStyle/>
          <a:p>
            <a:pPr algn="r" indent="0" marL="0">
              <a:buNone/>
            </a:pPr>
            <a:r>
              <a:rPr lang="en-US" sz="800" dirty="0">
                <a:solidFill>
                  <a:srgbClr val="767676"/>
                </a:solidFill>
                <a:latin typeface="Meiryo UI" pitchFamily="34" charset="0"/>
                <a:ea typeface="Meiryo UI" pitchFamily="34" charset="-122"/>
                <a:cs typeface="Meiryo UI" pitchFamily="34" charset="-120"/>
              </a:rPr>
              <a:t>①② … は右の「仕組み」の番号</a:t>
            </a:r>
            <a:endParaRPr lang="en-US" sz="800" dirty="0"/>
          </a:p>
        </p:txBody>
      </p:sp>
      <p:sp>
        <p:nvSpPr>
          <p:cNvPr id="110" name="mech_head"/>
          <p:cNvSpPr txBox="1"/>
          <p:nvPr/>
        </p:nvSpPr>
        <p:spPr>
          <a:xfrm>
            <a:off x="8458200" y="1481328"/>
            <a:ext cx="3276295"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仕組み(図の ①② … と対応)</a:t>
            </a:r>
            <a:endParaRPr lang="en-US" sz="1200" dirty="0"/>
          </a:p>
        </p:txBody>
      </p:sp>
      <p:sp>
        <p:nvSpPr>
          <p:cNvPr id="111" name="mech"/>
          <p:cNvSpPr txBox="1"/>
          <p:nvPr/>
        </p:nvSpPr>
        <p:spPr>
          <a:xfrm>
            <a:off x="8458200" y="1810512"/>
            <a:ext cx="3276295" cy="1920240"/>
          </a:xfrm>
          <a:prstGeom prst="rect">
            <a:avLst/>
          </a:prstGeom>
          <a:noFill/>
          <a:ln/>
        </p:spPr>
        <p:txBody>
          <a:bodyPr wrap="square" lIns="381" tIns="381" rIns="381" bIns="381" rtlCol="0" anchor="t"/>
          <a:lstStyle/>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① </a:t>
            </a:r>
            <a:r>
              <a:rPr lang="en-US" sz="1100" dirty="0">
                <a:solidFill>
                  <a:srgbClr val="333333"/>
                </a:solidFill>
                <a:latin typeface="Meiryo UI" pitchFamily="34" charset="0"/>
                <a:ea typeface="Meiryo UI" pitchFamily="34" charset="-122"/>
                <a:cs typeface="Meiryo UI" pitchFamily="34" charset="-120"/>
              </a:rPr>
              <a:t>DB の顧客基盤は数十年の導入とデータ移行の重さで、資本があっても再現できない</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② </a:t>
            </a:r>
            <a:r>
              <a:rPr lang="en-US" sz="1100" dirty="0">
                <a:solidFill>
                  <a:srgbClr val="333333"/>
                </a:solidFill>
                <a:latin typeface="Meiryo UI" pitchFamily="34" charset="0"/>
                <a:ea typeface="Meiryo UI" pitchFamily="34" charset="-122"/>
                <a:cs typeface="Meiryo UI" pitchFamily="34" charset="-120"/>
              </a:rPr>
              <a:t>Database@ は競合クラウドの DC 内に置く提携で、他社が同じ配置を得るのは難しい</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③ </a:t>
            </a:r>
            <a:r>
              <a:rPr lang="en-US" sz="1100" dirty="0">
                <a:solidFill>
                  <a:srgbClr val="333333"/>
                </a:solidFill>
                <a:latin typeface="Meiryo UI" pitchFamily="34" charset="0"/>
                <a:ea typeface="Meiryo UI" pitchFamily="34" charset="-122"/>
                <a:cs typeface="Meiryo UI" pitchFamily="34" charset="-120"/>
              </a:rPr>
              <a:t>AI 容量は資本と電力があれば 2〜4 年で再現できる。大手・ネオクラウドが実際に建設中</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④ </a:t>
            </a:r>
            <a:r>
              <a:rPr lang="en-US" sz="1100" dirty="0">
                <a:solidFill>
                  <a:srgbClr val="333333"/>
                </a:solidFill>
                <a:latin typeface="Meiryo UI" pitchFamily="34" charset="0"/>
                <a:ea typeface="Meiryo UI" pitchFamily="34" charset="-122"/>
                <a:cs typeface="Meiryo UI" pitchFamily="34" charset="-120"/>
              </a:rPr>
              <a:t>障壁として効くのは電力。</a:t>
            </a:r>
            <a:br/>
            <a:r>
              <a:rPr lang="en-US" sz="1100" dirty="0">
                <a:solidFill>
                  <a:srgbClr val="333333"/>
                </a:solidFill>
                <a:latin typeface="Meiryo UI" pitchFamily="34" charset="0"/>
                <a:ea typeface="Meiryo UI" pitchFamily="34" charset="-122"/>
                <a:cs typeface="Meiryo UI" pitchFamily="34" charset="-120"/>
              </a:rPr>
              <a:t>系統連系に約 40 か月、ガスタービンは 2031 年分を販売中</a:t>
            </a:r>
            <a:endParaRPr lang="en-US" sz="1100" dirty="0"/>
          </a:p>
        </p:txBody>
      </p:sp>
      <p:sp>
        <p:nvSpPr>
          <p:cNvPr id="112" name="ovl_takeaway_bg"/>
          <p:cNvSpPr/>
          <p:nvPr/>
        </p:nvSpPr>
        <p:spPr>
          <a:xfrm>
            <a:off x="8458200" y="4419600"/>
            <a:ext cx="3276295" cy="1005840"/>
          </a:xfrm>
          <a:prstGeom prst="rect">
            <a:avLst/>
          </a:prstGeom>
          <a:solidFill>
            <a:srgbClr val="EAF4EE"/>
          </a:solidFill>
          <a:ln w="12700">
            <a:solidFill>
              <a:srgbClr val="EAF4EE"/>
            </a:solidFill>
            <a:prstDash val="solid"/>
          </a:ln>
        </p:spPr>
      </p:sp>
      <p:sp>
        <p:nvSpPr>
          <p:cNvPr id="113" name="takeaway"/>
          <p:cNvSpPr txBox="1"/>
          <p:nvPr/>
        </p:nvSpPr>
        <p:spPr>
          <a:xfrm>
            <a:off x="8567928" y="4492752"/>
            <a:ext cx="3056839" cy="859536"/>
          </a:xfrm>
          <a:prstGeom prst="rect">
            <a:avLst/>
          </a:prstGeom>
          <a:noFill/>
          <a:ln/>
        </p:spPr>
        <p:txBody>
          <a:bodyPr wrap="square" lIns="508" tIns="508" rIns="508" bIns="508"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DB と配置は模倣が難しいが、</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AI 容量の障壁は時間にすぎず、</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資本のある競合には破られるため B</a:t>
            </a:r>
            <a:endParaRPr lang="en-US" sz="1000" dirty="0"/>
          </a:p>
        </p:txBody>
      </p:sp>
      <p:sp>
        <p:nvSpPr>
          <p:cNvPr id="114" name="updown"/>
          <p:cNvSpPr txBox="1"/>
          <p:nvPr/>
        </p:nvSpPr>
        <p:spPr>
          <a:xfrm>
            <a:off x="8458200" y="5498592"/>
            <a:ext cx="3276295" cy="591312"/>
          </a:xfrm>
          <a:prstGeom prst="rect">
            <a:avLst/>
          </a:prstGeom>
          <a:noFill/>
          <a:ln/>
        </p:spPr>
        <p:txBody>
          <a:bodyPr wrap="square" lIns="381" tIns="381" rIns="381" bIns="381" rtlCol="0" anchor="t"/>
          <a:lstStyle/>
          <a:p>
            <a:pPr indent="0" marL="0">
              <a:buNone/>
            </a:pPr>
            <a:r>
              <a:rPr lang="en-US" sz="850" b="1" dirty="0">
                <a:solidFill>
                  <a:srgbClr val="197A56"/>
                </a:solidFill>
                <a:latin typeface="Meiryo UI" pitchFamily="34" charset="0"/>
                <a:ea typeface="Meiryo UI" pitchFamily="34" charset="-122"/>
                <a:cs typeface="Meiryo UI" pitchFamily="34" charset="-120"/>
              </a:rPr>
              <a:t>上がる条件  </a:t>
            </a:r>
            <a:r>
              <a:rPr lang="en-US" sz="850" dirty="0">
                <a:solidFill>
                  <a:srgbClr val="333333"/>
                </a:solidFill>
                <a:latin typeface="Meiryo UI" pitchFamily="34" charset="0"/>
                <a:ea typeface="Meiryo UI" pitchFamily="34" charset="-122"/>
                <a:cs typeface="Meiryo UI" pitchFamily="34" charset="-120"/>
              </a:rPr>
              <a:t>FY30〜32 分の電力を確保し、</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競合に 3 年以上先行できれば A</a:t>
            </a:r>
            <a:endParaRPr lang="en-US" sz="850" dirty="0"/>
          </a:p>
          <a:p>
            <a:pPr indent="0" marL="0">
              <a:buNone/>
            </a:pPr>
            <a:r>
              <a:rPr lang="en-US" sz="850" b="1" dirty="0">
                <a:solidFill>
                  <a:srgbClr val="C0392B"/>
                </a:solidFill>
                <a:latin typeface="Meiryo UI" pitchFamily="34" charset="0"/>
                <a:ea typeface="Meiryo UI" pitchFamily="34" charset="-122"/>
                <a:cs typeface="Meiryo UI" pitchFamily="34" charset="-120"/>
              </a:rPr>
              <a:t>下がる条件  </a:t>
            </a:r>
            <a:r>
              <a:rPr lang="en-US" sz="850" dirty="0">
                <a:solidFill>
                  <a:srgbClr val="333333"/>
                </a:solidFill>
                <a:latin typeface="Meiryo UI" pitchFamily="34" charset="0"/>
                <a:ea typeface="Meiryo UI" pitchFamily="34" charset="-122"/>
                <a:cs typeface="Meiryo UI" pitchFamily="34" charset="-120"/>
              </a:rPr>
              <a:t>競合の大型容量が 2027〜28 年に</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相次いで稼働し、AI 容量の単価が下がれば C</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3-4 製品と設備の性格(条件8〜12)(5/5)</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9316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9316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収益の性格(条件12)</a:t>
            </a:r>
            <a:endParaRPr lang="en-US" sz="1000" dirty="0"/>
          </a:p>
        </p:txBody>
      </p:sp>
      <p:sp>
        <p:nvSpPr>
          <p:cNvPr id="14" name="hdr_why"/>
          <p:cNvSpPr txBox="1"/>
          <p:nvPr/>
        </p:nvSpPr>
        <p:spPr>
          <a:xfrm>
            <a:off x="2535174" y="356616"/>
            <a:ext cx="91993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継続課金・従量のストック型なら売上の見通しが立ち、評価倍率を高くできる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OCI は従量・確約、保守・SaaS は継続課金で、</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受注残 6,640 億ドルが積み上がるストック型の収益である</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条件12 従量課金型の収益性格(ORCL IaaS 型)であり売り切り・供給過多型(VRT 型)でない</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会社開示(10-Q、RPO の期間別)、research4/T1_consensus.csv、research3/W5_oracle_ai_economics.md</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35</a:t>
            </a:r>
            <a:endParaRPr lang="en-US" sz="800" dirty="0"/>
          </a:p>
        </p:txBody>
      </p:sp>
      <p:sp>
        <p:nvSpPr>
          <p:cNvPr id="19" name="ovl_badge"/>
          <p:cNvSpPr/>
          <p:nvPr/>
        </p:nvSpPr>
        <p:spPr>
          <a:xfrm>
            <a:off x="10865815" y="649224"/>
            <a:ext cx="868680" cy="677570"/>
          </a:xfrm>
          <a:prstGeom prst="roundRect">
            <a:avLst>
              <a:gd name="adj" fmla="val 10796"/>
            </a:avLst>
          </a:prstGeom>
          <a:solidFill>
            <a:srgbClr val="197A56"/>
          </a:solidFill>
          <a:ln w="12700">
            <a:solidFill>
              <a:srgbClr val="197A56"/>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FFFFFF"/>
                </a:solidFill>
                <a:latin typeface="Meiryo UI" pitchFamily="34" charset="0"/>
                <a:ea typeface="Meiryo UI" pitchFamily="34" charset="-122"/>
                <a:cs typeface="Meiryo UI" pitchFamily="34" charset="-120"/>
              </a:rPr>
              <a:t>A</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FFFFFF"/>
                </a:solidFill>
                <a:latin typeface="Meiryo UI" pitchFamily="34" charset="0"/>
                <a:ea typeface="Meiryo UI" pitchFamily="34" charset="-122"/>
                <a:cs typeface="Meiryo UI" pitchFamily="34" charset="-120"/>
              </a:rPr>
              <a:t>条件12</a:t>
            </a:r>
            <a:endParaRPr lang="en-US" sz="800" dirty="0"/>
          </a:p>
        </p:txBody>
      </p:sp>
      <p:graphicFrame>
        <p:nvGraphicFramePr>
          <p:cNvPr id="22" name="chart" descr=""/>
          <p:cNvGraphicFramePr/>
          <p:nvPr/>
        </p:nvGraphicFramePr>
        <p:xfrm>
          <a:off x="457200" y="1600200"/>
          <a:ext cx="7589520" cy="2011680"/>
        </p:xfrm>
        <a:graphic xmlns:a="http://schemas.openxmlformats.org/drawingml/2006/main">
          <a:graphicData uri="http://schemas.openxmlformats.org/drawingml/2006/chart">
            <c:chart xmlns:c="http://schemas.openxmlformats.org/drawingml/2006/chart" r:id="rId1"/>
          </a:graphicData>
        </a:graphic>
      </p:graphicFrame>
      <p:sp>
        <p:nvSpPr>
          <p:cNvPr id="23" name="bullets"/>
          <p:cNvSpPr txBox="1"/>
          <p:nvPr/>
        </p:nvSpPr>
        <p:spPr>
          <a:xfrm>
            <a:off x="457200" y="3794760"/>
            <a:ext cx="7589520" cy="1828800"/>
          </a:xfrm>
          <a:prstGeom prst="rect">
            <a:avLst/>
          </a:prstGeom>
          <a:noFill/>
          <a:ln/>
        </p:spPr>
        <p:txBody>
          <a:bodyPr wrap="square" lIns="508" tIns="508" rIns="508" bIns="508" rtlCol="0" anchor="t"/>
          <a:lstStyle/>
          <a:p>
            <a:pPr marL="152400" indent="-152400">
              <a:spcAft>
                <a:spcPts val="400"/>
              </a:spcAft>
              <a:buSzPct val="100000"/>
              <a:buChar char="•"/>
            </a:pPr>
            <a:r>
              <a:rPr lang="en-US" sz="1050" dirty="0">
                <a:solidFill>
                  <a:srgbClr val="333333"/>
                </a:solidFill>
                <a:latin typeface="Meiryo UI" pitchFamily="34" charset="0"/>
                <a:ea typeface="Meiryo UI" pitchFamily="34" charset="-122"/>
                <a:cs typeface="Meiryo UI" pitchFamily="34" charset="-120"/>
              </a:rPr>
              <a:t>36 か月以内の 3,320 億ドルが、コンセンサス売上(FY28 1,315 億、FY29 1,820 億ドル)の大半を裏付ける</a:t>
            </a:r>
            <a:endParaRPr lang="en-US" sz="1050" dirty="0"/>
          </a:p>
          <a:p>
            <a:pPr marL="152400" indent="-152400">
              <a:spcAft>
                <a:spcPts val="400"/>
              </a:spcAft>
              <a:buSzPct val="100000"/>
              <a:buChar char="•"/>
            </a:pPr>
            <a:r>
              <a:rPr lang="en-US" sz="1050" dirty="0">
                <a:solidFill>
                  <a:srgbClr val="333333"/>
                </a:solidFill>
                <a:latin typeface="Meiryo UI" pitchFamily="34" charset="0"/>
                <a:ea typeface="Meiryo UI" pitchFamily="34" charset="-122"/>
                <a:cs typeface="Meiryo UI" pitchFamily="34" charset="-120"/>
              </a:rPr>
              <a:t>前払い・持ち込み 750 億ドル分は陳腐化リスクを顧客に移している</a:t>
            </a:r>
            <a:endParaRPr lang="en-US" sz="1050" dirty="0"/>
          </a:p>
          <a:p>
            <a:pPr marL="152400" indent="-152400">
              <a:spcAft>
                <a:spcPts val="400"/>
              </a:spcAft>
              <a:buSzPct val="100000"/>
              <a:buChar char="•"/>
            </a:pPr>
            <a:r>
              <a:rPr lang="en-US" sz="1050" dirty="0">
                <a:solidFill>
                  <a:srgbClr val="333333"/>
                </a:solidFill>
                <a:latin typeface="Meiryo UI" pitchFamily="34" charset="0"/>
                <a:ea typeface="Meiryo UI" pitchFamily="34" charset="-122"/>
                <a:cs typeface="Meiryo UI" pitchFamily="34" charset="-120"/>
              </a:rPr>
              <a:t>take-or-pay・解約条項・価格改定条項は公開情報で確認できない</a:t>
            </a:r>
            <a:endParaRPr lang="en-US" sz="1050" dirty="0"/>
          </a:p>
        </p:txBody>
      </p:sp>
      <p:sp>
        <p:nvSpPr>
          <p:cNvPr id="24" name="ovl_evbox"/>
          <p:cNvSpPr/>
          <p:nvPr/>
        </p:nvSpPr>
        <p:spPr>
          <a:xfrm>
            <a:off x="8275320" y="1481328"/>
            <a:ext cx="3456432" cy="2788920"/>
          </a:xfrm>
          <a:prstGeom prst="rect">
            <a:avLst/>
          </a:prstGeom>
          <a:solidFill>
            <a:srgbClr val="FFFFFF"/>
          </a:solidFill>
          <a:ln w="9525">
            <a:solidFill>
              <a:srgbClr val="D9D9D9"/>
            </a:solidFill>
            <a:prstDash val="solid"/>
          </a:ln>
        </p:spPr>
      </p:sp>
      <p:sp>
        <p:nvSpPr>
          <p:cNvPr id="25" name="ev_head"/>
          <p:cNvSpPr txBox="1"/>
          <p:nvPr/>
        </p:nvSpPr>
        <p:spPr>
          <a:xfrm>
            <a:off x="8385048" y="1536192"/>
            <a:ext cx="320040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根拠</a:t>
            </a:r>
            <a:endParaRPr lang="en-US" sz="1200" dirty="0"/>
          </a:p>
        </p:txBody>
      </p:sp>
      <p:sp>
        <p:nvSpPr>
          <p:cNvPr id="26" name="evidence"/>
          <p:cNvSpPr txBox="1"/>
          <p:nvPr/>
        </p:nvSpPr>
        <p:spPr>
          <a:xfrm>
            <a:off x="8385048" y="1847088"/>
            <a:ext cx="3255264" cy="2377440"/>
          </a:xfrm>
          <a:prstGeom prst="rect">
            <a:avLst/>
          </a:prstGeom>
          <a:noFill/>
          <a:ln/>
        </p:spPr>
        <p:txBody>
          <a:bodyPr wrap="square" lIns="508" tIns="508" rIns="508" bIns="508" rtlCol="0" anchor="t"/>
          <a:lstStyle/>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RPO 6,640 億ドル(前年比 +2,090 億)</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36 か月以内 50%(前期 46%)</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OCI は従量・確約、保守・SaaS は継続課金</a:t>
            </a:r>
            <a:endParaRPr lang="en-US" sz="950" dirty="0"/>
          </a:p>
        </p:txBody>
      </p:sp>
      <p:sp>
        <p:nvSpPr>
          <p:cNvPr id="27" name="ovl_takeaway_bg"/>
          <p:cNvSpPr/>
          <p:nvPr/>
        </p:nvSpPr>
        <p:spPr>
          <a:xfrm>
            <a:off x="8275320" y="4389120"/>
            <a:ext cx="3456432" cy="1143000"/>
          </a:xfrm>
          <a:prstGeom prst="rect">
            <a:avLst/>
          </a:prstGeom>
          <a:solidFill>
            <a:srgbClr val="EAF4EE"/>
          </a:solidFill>
          <a:ln w="12700">
            <a:solidFill>
              <a:srgbClr val="EAF4EE"/>
            </a:solidFill>
            <a:prstDash val="solid"/>
          </a:ln>
        </p:spPr>
      </p:sp>
      <p:sp>
        <p:nvSpPr>
          <p:cNvPr id="28" name="takeaway"/>
          <p:cNvSpPr txBox="1"/>
          <p:nvPr/>
        </p:nvSpPr>
        <p:spPr>
          <a:xfrm>
            <a:off x="8385048" y="4462272"/>
            <a:ext cx="3236976" cy="996696"/>
          </a:xfrm>
          <a:prstGeom prst="rect">
            <a:avLst/>
          </a:prstGeom>
          <a:noFill/>
          <a:ln/>
        </p:spPr>
        <p:txBody>
          <a:bodyPr wrap="square" lIns="508" tIns="508" rIns="508" bIns="508" rtlCol="0" anchor="ctr"/>
          <a:lstStyle/>
          <a:p>
            <a:pPr indent="0" marL="0">
              <a:buNone/>
            </a:pPr>
            <a:r>
              <a:rPr lang="en-US" sz="1050" b="1" dirty="0">
                <a:solidFill>
                  <a:srgbClr val="0E4D33"/>
                </a:solidFill>
                <a:latin typeface="Meiryo UI" pitchFamily="34" charset="0"/>
                <a:ea typeface="Meiryo UI" pitchFamily="34" charset="-122"/>
                <a:cs typeface="Meiryo UI" pitchFamily="34" charset="-120"/>
              </a:rPr>
              <a:t>継続課金と長期の確約が積み上がるストック型。</a:t>
            </a:r>
            <a:endParaRPr lang="en-US" sz="1050" dirty="0"/>
          </a:p>
          <a:p>
            <a:pPr indent="0" marL="0">
              <a:buNone/>
            </a:pPr>
            <a:r>
              <a:rPr lang="en-US" sz="1050" b="1" dirty="0">
                <a:solidFill>
                  <a:srgbClr val="0E4D33"/>
                </a:solidFill>
                <a:latin typeface="Meiryo UI" pitchFamily="34" charset="0"/>
                <a:ea typeface="Meiryo UI" pitchFamily="34" charset="-122"/>
                <a:cs typeface="Meiryo UI" pitchFamily="34" charset="-120"/>
              </a:rPr>
              <a:t>解約条件が見えないため S でなく A</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3-5 総合(条件13)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20586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20586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アーキタイプ(条件13)</a:t>
            </a:r>
            <a:endParaRPr lang="en-US" sz="1000" dirty="0"/>
          </a:p>
        </p:txBody>
      </p:sp>
      <p:sp>
        <p:nvSpPr>
          <p:cNvPr id="14" name="hdr_why"/>
          <p:cNvSpPr txBox="1"/>
          <p:nvPr/>
        </p:nvSpPr>
        <p:spPr>
          <a:xfrm>
            <a:off x="2662174" y="356616"/>
            <a:ext cx="90723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各条件を束ね、目指す型(ORCL 型)と避けたい型(MU・VRT・AVGO 型)のどちらに近いかを判定する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保守・SaaS・Database@ は ORCL 型だが、</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自社で GPU を買う大型 AI 契約の部分が MU 型に寄る</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条件13(総合)アーキタイプ照合: ORCL 型か MU/VRT/AVGO 型か</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需給エンジン第4.4版、会社開示(FY27 capex ガイダンス)、research4/T2_company_rpo_capacity.md</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36</a:t>
            </a:r>
            <a:endParaRPr lang="en-US" sz="800" dirty="0"/>
          </a:p>
        </p:txBody>
      </p:sp>
      <p:sp>
        <p:nvSpPr>
          <p:cNvPr id="19" name="ovl_badge"/>
          <p:cNvSpPr/>
          <p:nvPr/>
        </p:nvSpPr>
        <p:spPr>
          <a:xfrm>
            <a:off x="10865815" y="649224"/>
            <a:ext cx="868680" cy="677570"/>
          </a:xfrm>
          <a:prstGeom prst="roundRect">
            <a:avLst>
              <a:gd name="adj" fmla="val 10796"/>
            </a:avLst>
          </a:prstGeom>
          <a:solidFill>
            <a:srgbClr val="86C99B"/>
          </a:solidFill>
          <a:ln w="12700">
            <a:solidFill>
              <a:srgbClr val="86C99B"/>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0E4D33"/>
                </a:solidFill>
                <a:latin typeface="Meiryo UI" pitchFamily="34" charset="0"/>
                <a:ea typeface="Meiryo UI" pitchFamily="34" charset="-122"/>
                <a:cs typeface="Meiryo UI" pitchFamily="34" charset="-120"/>
              </a:rPr>
              <a:t>B</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0E4D33"/>
                </a:solidFill>
                <a:latin typeface="Meiryo UI" pitchFamily="34" charset="0"/>
                <a:ea typeface="Meiryo UI" pitchFamily="34" charset="-122"/>
                <a:cs typeface="Meiryo UI" pitchFamily="34" charset="-120"/>
              </a:rPr>
              <a:t>条件13</a:t>
            </a:r>
            <a:endParaRPr lang="en-US" sz="800" dirty="0"/>
          </a:p>
        </p:txBody>
      </p:sp>
      <p:sp>
        <p:nvSpPr>
          <p:cNvPr id="22" name="flow_h0"/>
          <p:cNvSpPr txBox="1"/>
          <p:nvPr/>
        </p:nvSpPr>
        <p:spPr>
          <a:xfrm>
            <a:off x="457200" y="1600200"/>
            <a:ext cx="1408176"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原型</a:t>
            </a:r>
            <a:endParaRPr lang="en-US" sz="1100" dirty="0"/>
          </a:p>
        </p:txBody>
      </p:sp>
      <p:sp>
        <p:nvSpPr>
          <p:cNvPr id="23" name="ovl_fbox0_0"/>
          <p:cNvSpPr/>
          <p:nvPr/>
        </p:nvSpPr>
        <p:spPr>
          <a:xfrm>
            <a:off x="457200" y="2066544"/>
            <a:ext cx="1408176" cy="822960"/>
          </a:xfrm>
          <a:prstGeom prst="roundRect">
            <a:avLst>
              <a:gd name="adj" fmla="val 6667"/>
            </a:avLst>
          </a:prstGeom>
          <a:solidFill>
            <a:srgbClr val="0E4D33"/>
          </a:solidFill>
          <a:ln w="9525">
            <a:solidFill>
              <a:srgbClr val="0E4D33"/>
            </a:solidFill>
            <a:prstDash val="solid"/>
          </a:ln>
        </p:spPr>
      </p:sp>
      <p:sp>
        <p:nvSpPr>
          <p:cNvPr id="24" name="flow_t0_0"/>
          <p:cNvSpPr txBox="1"/>
          <p:nvPr/>
        </p:nvSpPr>
        <p:spPr>
          <a:xfrm>
            <a:off x="530352" y="2103120"/>
            <a:ext cx="1261872" cy="749808"/>
          </a:xfrm>
          <a:prstGeom prst="rect">
            <a:avLst/>
          </a:prstGeom>
          <a:noFill/>
          <a:ln/>
        </p:spPr>
        <p:txBody>
          <a:bodyPr wrap="square" lIns="0" tIns="0" rIns="0" bIns="0" rtlCol="0" anchor="ctr"/>
          <a:lstStyle/>
          <a:p>
            <a:pPr algn="ctr" indent="0" marL="0">
              <a:buNone/>
            </a:pPr>
            <a:r>
              <a:rPr lang="en-US" sz="1000" dirty="0">
                <a:solidFill>
                  <a:srgbClr val="FFFFFF"/>
                </a:solidFill>
                <a:latin typeface="Meiryo UI" pitchFamily="34" charset="0"/>
                <a:ea typeface="Meiryo UI" pitchFamily="34" charset="-122"/>
                <a:cs typeface="Meiryo UI" pitchFamily="34" charset="-120"/>
              </a:rPr>
              <a:t>ORCL 型</a:t>
            </a:r>
            <a:endParaRPr lang="en-US" sz="1000" dirty="0"/>
          </a:p>
        </p:txBody>
      </p:sp>
      <p:sp>
        <p:nvSpPr>
          <p:cNvPr id="25" name="ovl_farrow0"/>
          <p:cNvSpPr/>
          <p:nvPr/>
        </p:nvSpPr>
        <p:spPr>
          <a:xfrm>
            <a:off x="1885950" y="2295144"/>
            <a:ext cx="109728" cy="365760"/>
          </a:xfrm>
          <a:prstGeom prst="rightArrow">
            <a:avLst/>
          </a:prstGeom>
          <a:solidFill>
            <a:srgbClr val="86C99B"/>
          </a:solidFill>
          <a:ln w="12700">
            <a:solidFill>
              <a:srgbClr val="86C99B"/>
            </a:solidFill>
            <a:prstDash val="solid"/>
          </a:ln>
        </p:spPr>
      </p:sp>
      <p:sp>
        <p:nvSpPr>
          <p:cNvPr id="26" name="flow_h1"/>
          <p:cNvSpPr txBox="1"/>
          <p:nvPr/>
        </p:nvSpPr>
        <p:spPr>
          <a:xfrm>
            <a:off x="2002536" y="1600200"/>
            <a:ext cx="1408176"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A</a:t>
            </a:r>
            <a:endParaRPr lang="en-US" sz="1100" dirty="0"/>
          </a:p>
        </p:txBody>
      </p:sp>
      <p:sp>
        <p:nvSpPr>
          <p:cNvPr id="27" name="ovl_fbox1_0"/>
          <p:cNvSpPr/>
          <p:nvPr/>
        </p:nvSpPr>
        <p:spPr>
          <a:xfrm>
            <a:off x="2002536" y="2066544"/>
            <a:ext cx="1408176" cy="822960"/>
          </a:xfrm>
          <a:prstGeom prst="roundRect">
            <a:avLst>
              <a:gd name="adj" fmla="val 6667"/>
            </a:avLst>
          </a:prstGeom>
          <a:solidFill>
            <a:srgbClr val="197A56"/>
          </a:solidFill>
          <a:ln w="9525">
            <a:solidFill>
              <a:srgbClr val="197A56"/>
            </a:solidFill>
            <a:prstDash val="solid"/>
          </a:ln>
        </p:spPr>
      </p:sp>
      <p:sp>
        <p:nvSpPr>
          <p:cNvPr id="28" name="flow_t1_0"/>
          <p:cNvSpPr txBox="1"/>
          <p:nvPr/>
        </p:nvSpPr>
        <p:spPr>
          <a:xfrm>
            <a:off x="2075688" y="2103120"/>
            <a:ext cx="1261872" cy="749808"/>
          </a:xfrm>
          <a:prstGeom prst="rect">
            <a:avLst/>
          </a:prstGeom>
          <a:noFill/>
          <a:ln/>
        </p:spPr>
        <p:txBody>
          <a:bodyPr wrap="square" lIns="0" tIns="0" rIns="0" bIns="0" rtlCol="0" anchor="ctr"/>
          <a:lstStyle/>
          <a:p>
            <a:pPr algn="ctr" indent="0" marL="0">
              <a:buNone/>
            </a:pPr>
            <a:r>
              <a:rPr lang="en-US" sz="1000" dirty="0">
                <a:solidFill>
                  <a:srgbClr val="FFFFFF"/>
                </a:solidFill>
                <a:latin typeface="Meiryo UI" pitchFamily="34" charset="0"/>
                <a:ea typeface="Meiryo UI" pitchFamily="34" charset="-122"/>
                <a:cs typeface="Meiryo UI" pitchFamily="34" charset="-120"/>
              </a:rPr>
              <a:t>保守・SaaS</a:t>
            </a:r>
            <a:endParaRPr lang="en-US" sz="1000" dirty="0"/>
          </a:p>
        </p:txBody>
      </p:sp>
      <p:sp>
        <p:nvSpPr>
          <p:cNvPr id="29" name="ovl_farrow1"/>
          <p:cNvSpPr/>
          <p:nvPr/>
        </p:nvSpPr>
        <p:spPr>
          <a:xfrm>
            <a:off x="3431286" y="2295144"/>
            <a:ext cx="109728" cy="365760"/>
          </a:xfrm>
          <a:prstGeom prst="rightArrow">
            <a:avLst/>
          </a:prstGeom>
          <a:solidFill>
            <a:srgbClr val="86C99B"/>
          </a:solidFill>
          <a:ln w="12700">
            <a:solidFill>
              <a:srgbClr val="86C99B"/>
            </a:solidFill>
            <a:prstDash val="solid"/>
          </a:ln>
        </p:spPr>
      </p:sp>
      <p:sp>
        <p:nvSpPr>
          <p:cNvPr id="30" name="flow_h2"/>
          <p:cNvSpPr txBox="1"/>
          <p:nvPr/>
        </p:nvSpPr>
        <p:spPr>
          <a:xfrm>
            <a:off x="3547872" y="1600200"/>
            <a:ext cx="1408176"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A</a:t>
            </a:r>
            <a:endParaRPr lang="en-US" sz="1100" dirty="0"/>
          </a:p>
        </p:txBody>
      </p:sp>
      <p:sp>
        <p:nvSpPr>
          <p:cNvPr id="31" name="ovl_fbox2_0"/>
          <p:cNvSpPr/>
          <p:nvPr/>
        </p:nvSpPr>
        <p:spPr>
          <a:xfrm>
            <a:off x="3547872" y="2066544"/>
            <a:ext cx="1408176" cy="822960"/>
          </a:xfrm>
          <a:prstGeom prst="roundRect">
            <a:avLst>
              <a:gd name="adj" fmla="val 6667"/>
            </a:avLst>
          </a:prstGeom>
          <a:solidFill>
            <a:srgbClr val="197A56"/>
          </a:solidFill>
          <a:ln w="9525">
            <a:solidFill>
              <a:srgbClr val="197A56"/>
            </a:solidFill>
            <a:prstDash val="solid"/>
          </a:ln>
        </p:spPr>
      </p:sp>
      <p:sp>
        <p:nvSpPr>
          <p:cNvPr id="32" name="flow_t2_0"/>
          <p:cNvSpPr txBox="1"/>
          <p:nvPr/>
        </p:nvSpPr>
        <p:spPr>
          <a:xfrm>
            <a:off x="3621024" y="2103120"/>
            <a:ext cx="1261872" cy="749808"/>
          </a:xfrm>
          <a:prstGeom prst="rect">
            <a:avLst/>
          </a:prstGeom>
          <a:noFill/>
          <a:ln/>
        </p:spPr>
        <p:txBody>
          <a:bodyPr wrap="square" lIns="0" tIns="0" rIns="0" bIns="0" rtlCol="0" anchor="ctr"/>
          <a:lstStyle/>
          <a:p>
            <a:pPr algn="ctr" indent="0" marL="0">
              <a:buNone/>
            </a:pPr>
            <a:r>
              <a:rPr lang="en-US" sz="1000" dirty="0">
                <a:solidFill>
                  <a:srgbClr val="FFFFFF"/>
                </a:solidFill>
                <a:latin typeface="Meiryo UI" pitchFamily="34" charset="0"/>
                <a:ea typeface="Meiryo UI" pitchFamily="34" charset="-122"/>
                <a:cs typeface="Meiryo UI" pitchFamily="34" charset="-120"/>
              </a:rPr>
              <a:t>Database@・</a:t>
            </a:r>
            <a:endParaRPr lang="en-US" sz="1000" dirty="0"/>
          </a:p>
          <a:p>
            <a:pPr algn="ctr" indent="0" marL="0">
              <a:buNone/>
            </a:pPr>
            <a:r>
              <a:rPr lang="en-US" sz="1000" dirty="0">
                <a:solidFill>
                  <a:srgbClr val="FFFFFF"/>
                </a:solidFill>
                <a:latin typeface="Meiryo UI" pitchFamily="34" charset="0"/>
                <a:ea typeface="Meiryo UI" pitchFamily="34" charset="-122"/>
                <a:cs typeface="Meiryo UI" pitchFamily="34" charset="-120"/>
              </a:rPr>
              <a:t>OCI 一般</a:t>
            </a:r>
            <a:endParaRPr lang="en-US" sz="1000" dirty="0"/>
          </a:p>
        </p:txBody>
      </p:sp>
      <p:sp>
        <p:nvSpPr>
          <p:cNvPr id="33" name="ovl_farrow2"/>
          <p:cNvSpPr/>
          <p:nvPr/>
        </p:nvSpPr>
        <p:spPr>
          <a:xfrm>
            <a:off x="4976622" y="2295144"/>
            <a:ext cx="109728" cy="365760"/>
          </a:xfrm>
          <a:prstGeom prst="rightArrow">
            <a:avLst/>
          </a:prstGeom>
          <a:solidFill>
            <a:srgbClr val="86C99B"/>
          </a:solidFill>
          <a:ln w="12700">
            <a:solidFill>
              <a:srgbClr val="86C99B"/>
            </a:solidFill>
            <a:prstDash val="solid"/>
          </a:ln>
        </p:spPr>
      </p:sp>
      <p:sp>
        <p:nvSpPr>
          <p:cNvPr id="34" name="flow_h3"/>
          <p:cNvSpPr txBox="1"/>
          <p:nvPr/>
        </p:nvSpPr>
        <p:spPr>
          <a:xfrm>
            <a:off x="5093208" y="1600200"/>
            <a:ext cx="1408176"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B</a:t>
            </a:r>
            <a:endParaRPr lang="en-US" sz="1100" dirty="0"/>
          </a:p>
        </p:txBody>
      </p:sp>
      <p:sp>
        <p:nvSpPr>
          <p:cNvPr id="35" name="ovl_fbox3_0"/>
          <p:cNvSpPr/>
          <p:nvPr/>
        </p:nvSpPr>
        <p:spPr>
          <a:xfrm>
            <a:off x="5093208" y="2066544"/>
            <a:ext cx="1408176" cy="822960"/>
          </a:xfrm>
          <a:prstGeom prst="roundRect">
            <a:avLst>
              <a:gd name="adj" fmla="val 6667"/>
            </a:avLst>
          </a:prstGeom>
          <a:solidFill>
            <a:srgbClr val="EAF4EE"/>
          </a:solidFill>
          <a:ln w="9525">
            <a:solidFill>
              <a:srgbClr val="EAF4EE"/>
            </a:solidFill>
            <a:prstDash val="solid"/>
          </a:ln>
        </p:spPr>
      </p:sp>
      <p:sp>
        <p:nvSpPr>
          <p:cNvPr id="36" name="flow_t3_0"/>
          <p:cNvSpPr txBox="1"/>
          <p:nvPr/>
        </p:nvSpPr>
        <p:spPr>
          <a:xfrm>
            <a:off x="5166360" y="2103120"/>
            <a:ext cx="1261872" cy="749808"/>
          </a:xfrm>
          <a:prstGeom prst="rect">
            <a:avLst/>
          </a:prstGeom>
          <a:noFill/>
          <a:ln/>
        </p:spPr>
        <p:txBody>
          <a:bodyPr wrap="square" lIns="0" tIns="0" rIns="0" bIns="0" rtlCol="0" anchor="ctr"/>
          <a:lstStyle/>
          <a:p>
            <a:pPr algn="ctr" indent="0" marL="0">
              <a:buNone/>
            </a:pPr>
            <a:r>
              <a:rPr lang="en-US" sz="1000" dirty="0">
                <a:solidFill>
                  <a:srgbClr val="0E4D33"/>
                </a:solidFill>
                <a:latin typeface="Meiryo UI" pitchFamily="34" charset="0"/>
                <a:ea typeface="Meiryo UI" pitchFamily="34" charset="-122"/>
                <a:cs typeface="Meiryo UI" pitchFamily="34" charset="-120"/>
              </a:rPr>
              <a:t>AI 容量(前払い・</a:t>
            </a:r>
            <a:endParaRPr lang="en-US" sz="1000" dirty="0"/>
          </a:p>
          <a:p>
            <a:pPr algn="ctr" indent="0" marL="0">
              <a:buNone/>
            </a:pPr>
            <a:r>
              <a:rPr lang="en-US" sz="1000" dirty="0">
                <a:solidFill>
                  <a:srgbClr val="0E4D33"/>
                </a:solidFill>
                <a:latin typeface="Meiryo UI" pitchFamily="34" charset="0"/>
                <a:ea typeface="Meiryo UI" pitchFamily="34" charset="-122"/>
                <a:cs typeface="Meiryo UI" pitchFamily="34" charset="-120"/>
              </a:rPr>
              <a:t>持ち込み)</a:t>
            </a:r>
            <a:endParaRPr lang="en-US" sz="1000" dirty="0"/>
          </a:p>
        </p:txBody>
      </p:sp>
      <p:sp>
        <p:nvSpPr>
          <p:cNvPr id="37" name="ovl_farrow3"/>
          <p:cNvSpPr/>
          <p:nvPr/>
        </p:nvSpPr>
        <p:spPr>
          <a:xfrm>
            <a:off x="6521958" y="2295144"/>
            <a:ext cx="109728" cy="365760"/>
          </a:xfrm>
          <a:prstGeom prst="rightArrow">
            <a:avLst/>
          </a:prstGeom>
          <a:solidFill>
            <a:srgbClr val="86C99B"/>
          </a:solidFill>
          <a:ln w="12700">
            <a:solidFill>
              <a:srgbClr val="86C99B"/>
            </a:solidFill>
            <a:prstDash val="solid"/>
          </a:ln>
        </p:spPr>
      </p:sp>
      <p:sp>
        <p:nvSpPr>
          <p:cNvPr id="38" name="flow_h4"/>
          <p:cNvSpPr txBox="1"/>
          <p:nvPr/>
        </p:nvSpPr>
        <p:spPr>
          <a:xfrm>
            <a:off x="6638544" y="1600200"/>
            <a:ext cx="1408176"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C〜G</a:t>
            </a:r>
            <a:endParaRPr lang="en-US" sz="1100" dirty="0"/>
          </a:p>
        </p:txBody>
      </p:sp>
      <p:sp>
        <p:nvSpPr>
          <p:cNvPr id="39" name="ovl_fbox4_0"/>
          <p:cNvSpPr/>
          <p:nvPr/>
        </p:nvSpPr>
        <p:spPr>
          <a:xfrm>
            <a:off x="6638544" y="2066544"/>
            <a:ext cx="1408176" cy="822960"/>
          </a:xfrm>
          <a:prstGeom prst="roundRect">
            <a:avLst>
              <a:gd name="adj" fmla="val 6667"/>
            </a:avLst>
          </a:prstGeom>
          <a:solidFill>
            <a:srgbClr val="F2F2F2"/>
          </a:solidFill>
          <a:ln w="9525">
            <a:solidFill>
              <a:srgbClr val="F2F2F2"/>
            </a:solidFill>
            <a:prstDash val="solid"/>
          </a:ln>
        </p:spPr>
      </p:sp>
      <p:sp>
        <p:nvSpPr>
          <p:cNvPr id="40" name="flow_t4_0"/>
          <p:cNvSpPr txBox="1"/>
          <p:nvPr/>
        </p:nvSpPr>
        <p:spPr>
          <a:xfrm>
            <a:off x="6711696" y="2103120"/>
            <a:ext cx="1261872" cy="749808"/>
          </a:xfrm>
          <a:prstGeom prst="rect">
            <a:avLst/>
          </a:prstGeom>
          <a:noFill/>
          <a:ln/>
        </p:spPr>
        <p:txBody>
          <a:bodyPr wrap="square" lIns="0" tIns="0" rIns="0" bIns="0" rtlCol="0" anchor="ctr"/>
          <a:lstStyle/>
          <a:p>
            <a:pPr algn="ctr" indent="0" marL="0">
              <a:buNone/>
            </a:pPr>
            <a:r>
              <a:rPr lang="en-US" sz="1000" dirty="0">
                <a:solidFill>
                  <a:srgbClr val="767676"/>
                </a:solidFill>
                <a:latin typeface="Meiryo UI" pitchFamily="34" charset="0"/>
                <a:ea typeface="Meiryo UI" pitchFamily="34" charset="-122"/>
                <a:cs typeface="Meiryo UI" pitchFamily="34" charset="-120"/>
              </a:rPr>
              <a:t>AI 容量(自社調達 GPU)</a:t>
            </a:r>
            <a:endParaRPr lang="en-US" sz="1000" dirty="0"/>
          </a:p>
        </p:txBody>
      </p:sp>
      <p:graphicFrame>
        <p:nvGraphicFramePr>
          <p:cNvPr id="37" name="tbl"/>
          <p:cNvGraphicFramePr>
            <a:graphicFrameLocks noGrp="1"/>
          </p:cNvGraphicFramePr>
          <p:nvPr>
            <p:extLst>
              <p:ext uri="{D42A27DB-BD31-4B8C-83A1-F6EECF244321}">
                <p14:modId xmlns:p14="http://schemas.microsoft.com/office/powerpoint/2010/main" val="1579011935"/>
              </p:ext>
            </p:extLst>
          </p:nvPr>
        </p:nvGraphicFramePr>
        <p:xfrm>
          <a:off x="457200" y="3246120"/>
          <a:ext cx="7589520" cy="914400"/>
        </p:xfrm>
        <a:graphic>
          <a:graphicData uri="http://schemas.openxmlformats.org/drawingml/2006/table">
            <a:tbl>
              <a:tblPr/>
              <a:tblGrid>
                <a:gridCol w="2103120"/>
                <a:gridCol w="2743200"/>
                <a:gridCol w="2743200"/>
              </a:tblGrid>
              <a:tr h="365760">
                <a:tc>
                  <a:txBody>
                    <a:bodyPr/>
                    <a:lstStyle/>
                    <a:p>
                      <a:pPr algn="l" indent="0" marL="0">
                        <a:buNone/>
                      </a:pPr>
                      <a:r>
                        <a:rPr lang="en-US" sz="1000" b="1" dirty="0">
                          <a:solidFill>
                            <a:srgbClr val="FFFFFF"/>
                          </a:solidFill>
                          <a:latin typeface="Meiryo UI" pitchFamily="34" charset="0"/>
                          <a:ea typeface="Meiryo UI" pitchFamily="34" charset="-122"/>
                          <a:cs typeface="Meiryo UI" pitchFamily="34" charset="-120"/>
                        </a:rPr>
                        <a:t>観点</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ORCL 型の要素</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MU 型の要素</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65760">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課金</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継続課金・従量・確約</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65760">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陳腐化リスク</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前払い・持ち込みで顧客へ移す</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自社調達 GPU は Oracle が負う</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65760">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capex(FY27)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純現金 capex 700 億ドル以下(ガイダンス)</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エンジン 942 億ドル・純現金 733 億ドル</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65760">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価値の比率</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保守・SaaS・OCI 一般 約 50%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AI 容量 44%</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42" name="ovl_evbox"/>
          <p:cNvSpPr/>
          <p:nvPr/>
        </p:nvSpPr>
        <p:spPr>
          <a:xfrm>
            <a:off x="8275320" y="1481328"/>
            <a:ext cx="3456432" cy="2788920"/>
          </a:xfrm>
          <a:prstGeom prst="rect">
            <a:avLst/>
          </a:prstGeom>
          <a:solidFill>
            <a:srgbClr val="FFFFFF"/>
          </a:solidFill>
          <a:ln w="9525">
            <a:solidFill>
              <a:srgbClr val="D9D9D9"/>
            </a:solidFill>
            <a:prstDash val="solid"/>
          </a:ln>
        </p:spPr>
      </p:sp>
      <p:sp>
        <p:nvSpPr>
          <p:cNvPr id="43" name="ev_head"/>
          <p:cNvSpPr txBox="1"/>
          <p:nvPr/>
        </p:nvSpPr>
        <p:spPr>
          <a:xfrm>
            <a:off x="8385048" y="1536192"/>
            <a:ext cx="320040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根拠</a:t>
            </a:r>
            <a:endParaRPr lang="en-US" sz="1200" dirty="0"/>
          </a:p>
        </p:txBody>
      </p:sp>
      <p:sp>
        <p:nvSpPr>
          <p:cNvPr id="44" name="evidence"/>
          <p:cNvSpPr txBox="1"/>
          <p:nvPr/>
        </p:nvSpPr>
        <p:spPr>
          <a:xfrm>
            <a:off x="8385048" y="1847088"/>
            <a:ext cx="3255264" cy="2377440"/>
          </a:xfrm>
          <a:prstGeom prst="rect">
            <a:avLst/>
          </a:prstGeom>
          <a:noFill/>
          <a:ln/>
        </p:spPr>
        <p:txBody>
          <a:bodyPr wrap="square" lIns="508" tIns="508" rIns="508" bIns="508" rtlCol="0" anchor="t"/>
          <a:lstStyle/>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前払い・持ち込み累計 750 億ドル</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10GW の 90% 超はパートナーが資金負担</a:t>
            </a:r>
            <a:endParaRPr lang="en-US" sz="950" dirty="0"/>
          </a:p>
          <a:p>
            <a:pPr marL="152400" indent="-152400">
              <a:buSzPct val="100000"/>
              <a:buChar char="•"/>
            </a:pPr>
            <a:r>
              <a:rPr lang="en-US" sz="950" dirty="0">
                <a:solidFill>
                  <a:srgbClr val="333333"/>
                </a:solidFill>
                <a:latin typeface="Meiryo UI" pitchFamily="34" charset="0"/>
                <a:ea typeface="Meiryo UI" pitchFamily="34" charset="-122"/>
                <a:cs typeface="Meiryo UI" pitchFamily="34" charset="-120"/>
              </a:rPr>
              <a:t>FY27 の総 capex 900〜950 億ドルのうち、</a:t>
            </a:r>
            <a:endParaRPr lang="en-US" sz="950" dirty="0"/>
          </a:p>
          <a:p>
            <a:pPr marL="152400" indent="-152400">
              <a:spcAft>
                <a:spcPts val="400"/>
              </a:spcAft>
              <a:buSzPct val="100000"/>
              <a:buChar char=" "/>
            </a:pPr>
            <a:r>
              <a:rPr lang="en-US" sz="950" dirty="0">
                <a:solidFill>
                  <a:srgbClr val="333333"/>
                </a:solidFill>
                <a:latin typeface="Meiryo UI" pitchFamily="34" charset="0"/>
                <a:ea typeface="Meiryo UI" pitchFamily="34" charset="-122"/>
                <a:cs typeface="Meiryo UI" pitchFamily="34" charset="-120"/>
              </a:rPr>
              <a:t>顧客の前払いが約 24%</a:t>
            </a:r>
            <a:endParaRPr lang="en-US" sz="950" dirty="0"/>
          </a:p>
        </p:txBody>
      </p:sp>
      <p:sp>
        <p:nvSpPr>
          <p:cNvPr id="45" name="ovl_takeaway_bg"/>
          <p:cNvSpPr/>
          <p:nvPr/>
        </p:nvSpPr>
        <p:spPr>
          <a:xfrm>
            <a:off x="8275320" y="4389120"/>
            <a:ext cx="3456432" cy="1143000"/>
          </a:xfrm>
          <a:prstGeom prst="rect">
            <a:avLst/>
          </a:prstGeom>
          <a:solidFill>
            <a:srgbClr val="EAF4EE"/>
          </a:solidFill>
          <a:ln w="12700">
            <a:solidFill>
              <a:srgbClr val="EAF4EE"/>
            </a:solidFill>
            <a:prstDash val="solid"/>
          </a:ln>
        </p:spPr>
      </p:sp>
      <p:sp>
        <p:nvSpPr>
          <p:cNvPr id="46" name="takeaway"/>
          <p:cNvSpPr txBox="1"/>
          <p:nvPr/>
        </p:nvSpPr>
        <p:spPr>
          <a:xfrm>
            <a:off x="8385048" y="4462272"/>
            <a:ext cx="3236976" cy="996696"/>
          </a:xfrm>
          <a:prstGeom prst="rect">
            <a:avLst/>
          </a:prstGeom>
          <a:noFill/>
          <a:ln/>
        </p:spPr>
        <p:txBody>
          <a:bodyPr wrap="square" lIns="508" tIns="508" rIns="508" bIns="508" rtlCol="0" anchor="ctr"/>
          <a:lstStyle/>
          <a:p>
            <a:pPr indent="0" marL="0">
              <a:buNone/>
            </a:pPr>
            <a:r>
              <a:rPr lang="en-US" sz="1050" b="1" dirty="0">
                <a:solidFill>
                  <a:srgbClr val="0E4D33"/>
                </a:solidFill>
                <a:latin typeface="Meiryo UI" pitchFamily="34" charset="0"/>
                <a:ea typeface="Meiryo UI" pitchFamily="34" charset="-122"/>
                <a:cs typeface="Meiryo UI" pitchFamily="34" charset="-120"/>
              </a:rPr>
              <a:t>原型は ORCL 型のまま。自社調達の GPU が増えると MU 型に寄るため B</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E4D33"/>
        </a:solidFill>
      </p:bgPr>
    </p:bg>
    <p:spTree>
      <p:nvGrpSpPr>
        <p:cNvPr id="1" name=""/>
        <p:cNvGrpSpPr/>
        <p:nvPr/>
      </p:nvGrpSpPr>
      <p:grpSpPr>
        <a:xfrm>
          <a:off x="0" y="0"/>
          <a:ext cx="0" cy="0"/>
          <a:chOff x="0" y="0"/>
          <a:chExt cx="0" cy="0"/>
        </a:xfrm>
      </p:grpSpPr>
      <p:sp>
        <p:nvSpPr>
          <p:cNvPr id="2" name="bg_agenda"/>
          <p:cNvSpPr/>
          <p:nvPr/>
        </p:nvSpPr>
        <p:spPr>
          <a:xfrm>
            <a:off x="0" y="0"/>
            <a:ext cx="12191695" cy="6858000"/>
          </a:xfrm>
          <a:prstGeom prst="rect">
            <a:avLst/>
          </a:prstGeom>
          <a:solidFill>
            <a:srgbClr val="0E4D33"/>
          </a:solidFill>
          <a:ln w="12700">
            <a:solidFill>
              <a:srgbClr val="0E4D33"/>
            </a:solidFill>
            <a:prstDash val="solid"/>
          </a:ln>
        </p:spPr>
      </p:sp>
      <p:sp>
        <p:nvSpPr>
          <p:cNvPr id="3" name="bg_agenda_lbl"/>
          <p:cNvSpPr txBox="1"/>
          <p:nvPr/>
        </p:nvSpPr>
        <p:spPr>
          <a:xfrm>
            <a:off x="731520" y="502920"/>
            <a:ext cx="2743200" cy="640080"/>
          </a:xfrm>
          <a:prstGeom prst="rect">
            <a:avLst/>
          </a:prstGeom>
          <a:noFill/>
          <a:ln/>
        </p:spPr>
        <p:txBody>
          <a:bodyPr wrap="square" lIns="508" tIns="508" rIns="508" bIns="508" rtlCol="0" anchor="t"/>
          <a:lstStyle/>
          <a:p>
            <a:pPr indent="0" marL="0">
              <a:buNone/>
            </a:pPr>
            <a:r>
              <a:rPr lang="en-US" sz="2600" b="1" dirty="0">
                <a:solidFill>
                  <a:srgbClr val="FFFFFF"/>
                </a:solidFill>
                <a:latin typeface="Meiryo UI" pitchFamily="34" charset="0"/>
                <a:ea typeface="Meiryo UI" pitchFamily="34" charset="-122"/>
                <a:cs typeface="Meiryo UI" pitchFamily="34" charset="-120"/>
              </a:rPr>
              <a:t>目次</a:t>
            </a:r>
            <a:endParaRPr lang="en-US" sz="2600" dirty="0"/>
          </a:p>
        </p:txBody>
      </p:sp>
      <p:sp>
        <p:nvSpPr>
          <p:cNvPr id="4" name="bg_agenda_n0"/>
          <p:cNvSpPr/>
          <p:nvPr/>
        </p:nvSpPr>
        <p:spPr>
          <a:xfrm>
            <a:off x="777240" y="1463040"/>
            <a:ext cx="457200" cy="457200"/>
          </a:xfrm>
          <a:prstGeom prst="ellipse">
            <a:avLst/>
          </a:prstGeom>
          <a:solidFill>
            <a:srgbClr val="0E4D33"/>
          </a:solidFill>
          <a:ln w="12700">
            <a:solidFill>
              <a:srgbClr val="FFFFFF"/>
            </a:solidFill>
            <a:prstDash val="solid"/>
          </a:ln>
        </p:spPr>
      </p:sp>
      <p:sp>
        <p:nvSpPr>
          <p:cNvPr id="5" name="bg_agenda_nt0"/>
          <p:cNvSpPr txBox="1"/>
          <p:nvPr/>
        </p:nvSpPr>
        <p:spPr>
          <a:xfrm>
            <a:off x="777240" y="1463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1</a:t>
            </a:r>
            <a:endParaRPr lang="en-US" sz="1400" dirty="0"/>
          </a:p>
        </p:txBody>
      </p:sp>
      <p:sp>
        <p:nvSpPr>
          <p:cNvPr id="6" name="bg_agenda_ch0"/>
          <p:cNvSpPr txBox="1"/>
          <p:nvPr/>
        </p:nvSpPr>
        <p:spPr>
          <a:xfrm>
            <a:off x="1417320" y="1444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評価総括</a:t>
            </a:r>
            <a:endParaRPr lang="en-US" sz="1800" dirty="0"/>
          </a:p>
        </p:txBody>
      </p:sp>
      <p:sp>
        <p:nvSpPr>
          <p:cNvPr id="7" name="bg_agenda_n1"/>
          <p:cNvSpPr/>
          <p:nvPr/>
        </p:nvSpPr>
        <p:spPr>
          <a:xfrm>
            <a:off x="777240" y="2606040"/>
            <a:ext cx="457200" cy="457200"/>
          </a:xfrm>
          <a:prstGeom prst="ellipse">
            <a:avLst/>
          </a:prstGeom>
          <a:solidFill>
            <a:srgbClr val="0E4D33"/>
          </a:solidFill>
          <a:ln w="12700">
            <a:solidFill>
              <a:srgbClr val="FFFFFF"/>
            </a:solidFill>
            <a:prstDash val="solid"/>
          </a:ln>
        </p:spPr>
      </p:sp>
      <p:sp>
        <p:nvSpPr>
          <p:cNvPr id="8" name="bg_agenda_nt1"/>
          <p:cNvSpPr txBox="1"/>
          <p:nvPr/>
        </p:nvSpPr>
        <p:spPr>
          <a:xfrm>
            <a:off x="777240" y="2606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2</a:t>
            </a:r>
            <a:endParaRPr lang="en-US" sz="1400" dirty="0"/>
          </a:p>
        </p:txBody>
      </p:sp>
      <p:sp>
        <p:nvSpPr>
          <p:cNvPr id="9" name="bg_agenda_ch1"/>
          <p:cNvSpPr txBox="1"/>
          <p:nvPr/>
        </p:nvSpPr>
        <p:spPr>
          <a:xfrm>
            <a:off x="1417320" y="2587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事業・需給・成長</a:t>
            </a:r>
            <a:endParaRPr lang="en-US" sz="1800" dirty="0"/>
          </a:p>
        </p:txBody>
      </p:sp>
      <p:sp>
        <p:nvSpPr>
          <p:cNvPr id="10" name="bg_agenda_n2"/>
          <p:cNvSpPr/>
          <p:nvPr/>
        </p:nvSpPr>
        <p:spPr>
          <a:xfrm>
            <a:off x="777240" y="3749040"/>
            <a:ext cx="457200" cy="457200"/>
          </a:xfrm>
          <a:prstGeom prst="ellipse">
            <a:avLst/>
          </a:prstGeom>
          <a:solidFill>
            <a:srgbClr val="0E4D33"/>
          </a:solidFill>
          <a:ln w="12700">
            <a:solidFill>
              <a:srgbClr val="FFFFFF"/>
            </a:solidFill>
            <a:prstDash val="solid"/>
          </a:ln>
        </p:spPr>
      </p:sp>
      <p:sp>
        <p:nvSpPr>
          <p:cNvPr id="11" name="bg_agenda_nt2"/>
          <p:cNvSpPr txBox="1"/>
          <p:nvPr/>
        </p:nvSpPr>
        <p:spPr>
          <a:xfrm>
            <a:off x="777240" y="3749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3</a:t>
            </a:r>
            <a:endParaRPr lang="en-US" sz="1400" dirty="0"/>
          </a:p>
        </p:txBody>
      </p:sp>
      <p:sp>
        <p:nvSpPr>
          <p:cNvPr id="12" name="bg_agenda_ch2"/>
          <p:cNvSpPr txBox="1"/>
          <p:nvPr/>
        </p:nvSpPr>
        <p:spPr>
          <a:xfrm>
            <a:off x="1417320" y="3730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13条件の構造分析</a:t>
            </a:r>
            <a:endParaRPr lang="en-US" sz="1800" dirty="0"/>
          </a:p>
        </p:txBody>
      </p:sp>
      <p:sp>
        <p:nvSpPr>
          <p:cNvPr id="13" name="bg_agenda_n3"/>
          <p:cNvSpPr/>
          <p:nvPr/>
        </p:nvSpPr>
        <p:spPr>
          <a:xfrm>
            <a:off x="777240" y="4892040"/>
            <a:ext cx="457200" cy="457200"/>
          </a:xfrm>
          <a:prstGeom prst="ellipse">
            <a:avLst/>
          </a:prstGeom>
          <a:solidFill>
            <a:srgbClr val="197A56"/>
          </a:solidFill>
          <a:ln w="12700">
            <a:solidFill>
              <a:srgbClr val="FFFFFF"/>
            </a:solidFill>
            <a:prstDash val="solid"/>
          </a:ln>
        </p:spPr>
      </p:sp>
      <p:sp>
        <p:nvSpPr>
          <p:cNvPr id="14" name="bg_agenda_nt3"/>
          <p:cNvSpPr txBox="1"/>
          <p:nvPr/>
        </p:nvSpPr>
        <p:spPr>
          <a:xfrm>
            <a:off x="777240" y="48920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4</a:t>
            </a:r>
            <a:endParaRPr lang="en-US" sz="1400" dirty="0"/>
          </a:p>
        </p:txBody>
      </p:sp>
      <p:sp>
        <p:nvSpPr>
          <p:cNvPr id="15" name="bg_agenda_ch3"/>
          <p:cNvSpPr txBox="1"/>
          <p:nvPr/>
        </p:nvSpPr>
        <p:spPr>
          <a:xfrm>
            <a:off x="1417320" y="4873752"/>
            <a:ext cx="5669280" cy="493776"/>
          </a:xfrm>
          <a:prstGeom prst="rect">
            <a:avLst/>
          </a:prstGeom>
          <a:noFill/>
          <a:ln/>
        </p:spPr>
        <p:txBody>
          <a:bodyPr wrap="square" lIns="0" tIns="0" rIns="0" bIns="0" rtlCol="0" anchor="ctr"/>
          <a:lstStyle/>
          <a:p>
            <a:pPr indent="0" marL="0">
              <a:buNone/>
            </a:pPr>
            <a:r>
              <a:rPr lang="en-US" sz="1800" b="1" dirty="0">
                <a:solidFill>
                  <a:srgbClr val="FFFFFF"/>
                </a:solidFill>
                <a:latin typeface="Meiryo UI" pitchFamily="34" charset="0"/>
                <a:ea typeface="Meiryo UI" pitchFamily="34" charset="-122"/>
                <a:cs typeface="Meiryo UI" pitchFamily="34" charset="-120"/>
              </a:rPr>
              <a:t>バリュエーション・リスク・投資アクション</a:t>
            </a:r>
            <a:endParaRPr lang="en-US" sz="1800" dirty="0"/>
          </a:p>
        </p:txBody>
      </p:sp>
      <p:sp>
        <p:nvSpPr>
          <p:cNvPr id="16" name="bg_agenda_why3"/>
          <p:cNvSpPr txBox="1"/>
          <p:nvPr/>
        </p:nvSpPr>
        <p:spPr>
          <a:xfrm>
            <a:off x="1417320" y="5367528"/>
            <a:ext cx="5669280" cy="566928"/>
          </a:xfrm>
          <a:prstGeom prst="rect">
            <a:avLst/>
          </a:prstGeom>
          <a:noFill/>
          <a:ln/>
        </p:spPr>
        <p:txBody>
          <a:bodyPr wrap="square" lIns="0" tIns="0" rIns="0" bIns="0" rtlCol="0" anchor="t"/>
          <a:lstStyle/>
          <a:p>
            <a:pPr indent="0" marL="0">
              <a:buNone/>
            </a:pPr>
            <a:r>
              <a:rPr lang="en-US" sz="1050" dirty="0">
                <a:solidFill>
                  <a:srgbClr val="86C99B"/>
                </a:solidFill>
                <a:latin typeface="Meiryo UI" pitchFamily="34" charset="0"/>
                <a:ea typeface="Meiryo UI" pitchFamily="34" charset="-122"/>
                <a:cs typeface="Meiryo UI" pitchFamily="34" charset="-120"/>
              </a:rPr>
              <a:t>構造評価を倍率に変えて理論株価を出し、</a:t>
            </a:r>
            <a:endParaRPr lang="en-US" sz="1050" dirty="0"/>
          </a:p>
          <a:p>
            <a:pPr indent="0" marL="0">
              <a:buNone/>
            </a:pPr>
            <a:r>
              <a:rPr lang="en-US" sz="1050" dirty="0">
                <a:solidFill>
                  <a:srgbClr val="86C99B"/>
                </a:solidFill>
                <a:latin typeface="Meiryo UI" pitchFamily="34" charset="0"/>
                <a:ea typeface="Meiryo UI" pitchFamily="34" charset="-122"/>
                <a:cs typeface="Meiryo UI" pitchFamily="34" charset="-120"/>
              </a:rPr>
              <a:t>リスクを踏まえて建て方と撤退条件を決める</a:t>
            </a:r>
            <a:endParaRPr lang="en-US" sz="1050" dirty="0"/>
          </a:p>
        </p:txBody>
      </p:sp>
      <p:sp>
        <p:nvSpPr>
          <p:cNvPr id="17" name="bg_agenda_rule"/>
          <p:cNvSpPr/>
          <p:nvPr/>
        </p:nvSpPr>
        <p:spPr>
          <a:xfrm>
            <a:off x="7543800" y="1463040"/>
            <a:ext cx="0" cy="4389120"/>
          </a:xfrm>
          <a:prstGeom prst="line">
            <a:avLst/>
          </a:prstGeom>
          <a:noFill/>
          <a:ln w="9525">
            <a:solidFill>
              <a:srgbClr val="86C99B"/>
            </a:solidFill>
            <a:prstDash val="solid"/>
          </a:ln>
        </p:spPr>
      </p:sp>
      <p:sp>
        <p:nvSpPr>
          <p:cNvPr id="18" name="bg_agenda_sh"/>
          <p:cNvSpPr txBox="1"/>
          <p:nvPr/>
        </p:nvSpPr>
        <p:spPr>
          <a:xfrm>
            <a:off x="7818120" y="1417320"/>
            <a:ext cx="3840480" cy="365760"/>
          </a:xfrm>
          <a:prstGeom prst="rect">
            <a:avLst/>
          </a:prstGeom>
          <a:noFill/>
          <a:ln/>
        </p:spPr>
        <p:txBody>
          <a:bodyPr wrap="square" lIns="0" tIns="0" rIns="0" bIns="0" rtlCol="0" anchor="t"/>
          <a:lstStyle/>
          <a:p>
            <a:pPr indent="0" marL="0">
              <a:buNone/>
            </a:pPr>
            <a:r>
              <a:rPr lang="en-US" sz="1300" b="1" dirty="0">
                <a:solidFill>
                  <a:srgbClr val="86C99B"/>
                </a:solidFill>
                <a:latin typeface="Meiryo UI" pitchFamily="34" charset="0"/>
                <a:ea typeface="Meiryo UI" pitchFamily="34" charset="-122"/>
                <a:cs typeface="Meiryo UI" pitchFamily="34" charset="-120"/>
              </a:rPr>
              <a:t>第4章の構成</a:t>
            </a:r>
            <a:endParaRPr lang="en-US" sz="1300" dirty="0"/>
          </a:p>
        </p:txBody>
      </p:sp>
      <p:sp>
        <p:nvSpPr>
          <p:cNvPr id="19" name="bg_agenda_s0"/>
          <p:cNvSpPr txBox="1"/>
          <p:nvPr/>
        </p:nvSpPr>
        <p:spPr>
          <a:xfrm>
            <a:off x="7818120" y="19202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4-1  市場との差分</a:t>
            </a:r>
            <a:endParaRPr lang="en-US" sz="1250" dirty="0"/>
          </a:p>
        </p:txBody>
      </p:sp>
      <p:sp>
        <p:nvSpPr>
          <p:cNvPr id="20" name="bg_agenda_p0"/>
          <p:cNvSpPr txBox="1"/>
          <p:nvPr/>
        </p:nvSpPr>
        <p:spPr>
          <a:xfrm>
            <a:off x="10881360" y="19202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p.38–39</a:t>
            </a:r>
            <a:endParaRPr lang="en-US" sz="1050" dirty="0"/>
          </a:p>
        </p:txBody>
      </p:sp>
      <p:sp>
        <p:nvSpPr>
          <p:cNvPr id="21" name="bg_agenda_s1"/>
          <p:cNvSpPr txBox="1"/>
          <p:nvPr/>
        </p:nvSpPr>
        <p:spPr>
          <a:xfrm>
            <a:off x="7818120" y="23774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4-2  価値評価</a:t>
            </a:r>
            <a:endParaRPr lang="en-US" sz="1250" dirty="0"/>
          </a:p>
        </p:txBody>
      </p:sp>
      <p:sp>
        <p:nvSpPr>
          <p:cNvPr id="22" name="bg_agenda_p1"/>
          <p:cNvSpPr txBox="1"/>
          <p:nvPr/>
        </p:nvSpPr>
        <p:spPr>
          <a:xfrm>
            <a:off x="10881360" y="23774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p.40–42</a:t>
            </a:r>
            <a:endParaRPr lang="en-US" sz="1050" dirty="0"/>
          </a:p>
        </p:txBody>
      </p:sp>
      <p:sp>
        <p:nvSpPr>
          <p:cNvPr id="23" name="bg_agenda_s2"/>
          <p:cNvSpPr txBox="1"/>
          <p:nvPr/>
        </p:nvSpPr>
        <p:spPr>
          <a:xfrm>
            <a:off x="7818120" y="28346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4-3  最終判断</a:t>
            </a:r>
            <a:endParaRPr lang="en-US" sz="1250" dirty="0"/>
          </a:p>
        </p:txBody>
      </p:sp>
      <p:sp>
        <p:nvSpPr>
          <p:cNvPr id="24" name="bg_agenda_p2"/>
          <p:cNvSpPr txBox="1"/>
          <p:nvPr/>
        </p:nvSpPr>
        <p:spPr>
          <a:xfrm>
            <a:off x="10881360" y="28346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p.43</a:t>
            </a:r>
            <a:endParaRPr lang="en-US" sz="1050" dirty="0"/>
          </a:p>
        </p:txBody>
      </p:sp>
      <p:sp>
        <p:nvSpPr>
          <p:cNvPr id="25" name="bg_agenda_s3"/>
          <p:cNvSpPr txBox="1"/>
          <p:nvPr/>
        </p:nvSpPr>
        <p:spPr>
          <a:xfrm>
            <a:off x="7818120" y="32918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4-4  リスク</a:t>
            </a:r>
            <a:endParaRPr lang="en-US" sz="1250" dirty="0"/>
          </a:p>
        </p:txBody>
      </p:sp>
      <p:sp>
        <p:nvSpPr>
          <p:cNvPr id="26" name="bg_agenda_p3"/>
          <p:cNvSpPr txBox="1"/>
          <p:nvPr/>
        </p:nvSpPr>
        <p:spPr>
          <a:xfrm>
            <a:off x="10881360" y="32918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p.44</a:t>
            </a:r>
            <a:endParaRPr lang="en-US" sz="1050" dirty="0"/>
          </a:p>
        </p:txBody>
      </p:sp>
      <p:sp>
        <p:nvSpPr>
          <p:cNvPr id="27" name="bg_agenda_s4"/>
          <p:cNvSpPr txBox="1"/>
          <p:nvPr/>
        </p:nvSpPr>
        <p:spPr>
          <a:xfrm>
            <a:off x="7818120" y="37490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4-5  投資行動</a:t>
            </a:r>
            <a:endParaRPr lang="en-US" sz="1250" dirty="0"/>
          </a:p>
        </p:txBody>
      </p:sp>
      <p:sp>
        <p:nvSpPr>
          <p:cNvPr id="28" name="bg_agenda_p4"/>
          <p:cNvSpPr txBox="1"/>
          <p:nvPr/>
        </p:nvSpPr>
        <p:spPr>
          <a:xfrm>
            <a:off x="10881360" y="37490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p.45–46</a:t>
            </a:r>
            <a:endParaRPr lang="en-US" sz="1050" dirty="0"/>
          </a:p>
        </p:txBody>
      </p:sp>
      <p:sp>
        <p:nvSpPr>
          <p:cNvPr id="29" name="bg_agenda_s5"/>
          <p:cNvSpPr txBox="1"/>
          <p:nvPr/>
        </p:nvSpPr>
        <p:spPr>
          <a:xfrm>
            <a:off x="7818120" y="42062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付録  前提と履歴</a:t>
            </a:r>
            <a:endParaRPr lang="en-US" sz="1250" dirty="0"/>
          </a:p>
        </p:txBody>
      </p:sp>
      <p:sp>
        <p:nvSpPr>
          <p:cNvPr id="30" name="bg_agenda_p5"/>
          <p:cNvSpPr txBox="1"/>
          <p:nvPr/>
        </p:nvSpPr>
        <p:spPr>
          <a:xfrm>
            <a:off x="10881360" y="42062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p.47–49</a:t>
            </a:r>
            <a:endParaRPr lang="en-US" sz="1050" dirty="0"/>
          </a:p>
        </p:txBody>
      </p:sp>
      <p:sp>
        <p:nvSpPr>
          <p:cNvPr id="31"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86C99B"/>
                </a:solidFill>
                <a:latin typeface="Meiryo UI" pitchFamily="34" charset="0"/>
                <a:ea typeface="Meiryo UI" pitchFamily="34" charset="-122"/>
                <a:cs typeface="Meiryo UI" pitchFamily="34" charset="-120"/>
              </a:rPr>
              <a:t>37</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第4章 バリュエーション・リスク・投資アクション</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4-1 市場との差分(1/2)</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197A56"/>
          </a:solidFill>
          <a:ln w="9525">
            <a:solidFill>
              <a:srgbClr val="197A56"/>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525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525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市場との差分</a:t>
            </a:r>
            <a:endParaRPr lang="en-US" sz="1000" dirty="0"/>
          </a:p>
        </p:txBody>
      </p:sp>
      <p:sp>
        <p:nvSpPr>
          <p:cNvPr id="14" name="hdr_why"/>
          <p:cNvSpPr txBox="1"/>
          <p:nvPr/>
        </p:nvSpPr>
        <p:spPr>
          <a:xfrm>
            <a:off x="2128774" y="356616"/>
            <a:ext cx="9605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市場が何を疑っているか、どの開示でその疑いが晴れるかを確かめる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株価は事業実態 EPS の 13.9 倍で、説明会の後も弱気シナリオの値に近い。</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市場は EPS ではなく現金化を疑い、次の試金石は 12 月の Q2 決算</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市場が付ける倍率と、株価が示す弱気の確率。右: 構造の変化が数字に及ぶ道筋と、カタリストの日程</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需給エンジン第4.5版(calc/out/m10_*.json)、Investor Day 2026-10-28、会社開示、report/ORCL_report.md §11</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38</a:t>
            </a:r>
            <a:endParaRPr lang="en-US" sz="800" dirty="0"/>
          </a:p>
        </p:txBody>
      </p:sp>
      <p:sp>
        <p:nvSpPr>
          <p:cNvPr id="19" name="pane_head"/>
          <p:cNvSpPr txBox="1"/>
          <p:nvPr/>
        </p:nvSpPr>
        <p:spPr>
          <a:xfrm>
            <a:off x="457200" y="1481328"/>
            <a:ext cx="5532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市場の倍率(FY27 末、翌年度の事業実態 EPS 比)</a:t>
            </a:r>
            <a:endParaRPr lang="en-US" sz="1200" dirty="0"/>
          </a:p>
        </p:txBody>
      </p:sp>
      <p:graphicFrame>
        <p:nvGraphicFramePr>
          <p:cNvPr id="20" name="chart" descr=""/>
          <p:cNvGraphicFramePr/>
          <p:nvPr/>
        </p:nvGraphicFramePr>
        <p:xfrm>
          <a:off x="457200" y="1810512"/>
          <a:ext cx="5532120" cy="1920240"/>
        </p:xfrm>
        <a:graphic xmlns:a="http://schemas.openxmlformats.org/drawingml/2006/main">
          <a:graphicData uri="http://schemas.openxmlformats.org/drawingml/2006/chart">
            <c:chart xmlns:c="http://schemas.openxmlformats.org/drawingml/2006/chart" r:id="rId1"/>
          </a:graphicData>
        </a:graphic>
      </p:graphicFrame>
      <p:graphicFrame>
        <p:nvGraphicFramePr>
          <p:cNvPr id="39" name="tbl"/>
          <p:cNvGraphicFramePr>
            <a:graphicFrameLocks noGrp="1"/>
          </p:cNvGraphicFramePr>
          <p:nvPr>
            <p:extLst>
              <p:ext uri="{D42A27DB-BD31-4B8C-83A1-F6EECF244321}">
                <p14:modId xmlns:p14="http://schemas.microsoft.com/office/powerpoint/2010/main" val="1579011935"/>
              </p:ext>
            </p:extLst>
          </p:nvPr>
        </p:nvGraphicFramePr>
        <p:xfrm>
          <a:off x="457200" y="3886200"/>
          <a:ext cx="5532120" cy="914400"/>
        </p:xfrm>
        <a:graphic>
          <a:graphicData uri="http://schemas.openxmlformats.org/drawingml/2006/table">
            <a:tbl>
              <a:tblPr/>
              <a:tblGrid>
                <a:gridCol w="3886200"/>
                <a:gridCol w="1645920"/>
              </a:tblGrid>
              <a:tr h="329184">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株価が示す弱気の確率(定義)</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株価 139.56</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29184">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強気:ベース = 1:2 を固定して弱気の確率を逆算</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96%</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ベースと弱気の 2 点</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95%</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29184">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DCF の値で定義1 と同じ計算</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77%</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2" name="note"/>
          <p:cNvSpPr txBox="1"/>
          <p:nvPr/>
        </p:nvSpPr>
        <p:spPr>
          <a:xfrm>
            <a:off x="457200" y="5257800"/>
            <a:ext cx="5532120" cy="822960"/>
          </a:xfrm>
          <a:prstGeom prst="rect">
            <a:avLst/>
          </a:prstGeom>
          <a:noFill/>
          <a:ln/>
        </p:spPr>
        <p:txBody>
          <a:bodyPr wrap="square" lIns="508" tIns="508" rIns="508" bIns="508" rtlCol="0" anchor="t"/>
          <a:lstStyle/>
          <a:p>
            <a:pPr indent="0" marL="0">
              <a:buNone/>
            </a:pPr>
            <a:r>
              <a:rPr lang="en-US" sz="950" dirty="0">
                <a:solidFill>
                  <a:srgbClr val="333333"/>
                </a:solidFill>
                <a:latin typeface="Meiryo UI" pitchFamily="34" charset="0"/>
                <a:ea typeface="Meiryo UI" pitchFamily="34" charset="-122"/>
                <a:cs typeface="Meiryo UI" pitchFamily="34" charset="-120"/>
              </a:rPr>
              <a:t>市場は説明会の後も、株価を弱気シナリオの値(134 ドル)に置く。</a:t>
            </a:r>
            <a:endParaRPr lang="en-US" sz="950" dirty="0"/>
          </a:p>
          <a:p>
            <a:pPr indent="0" marL="0">
              <a:buNone/>
            </a:pPr>
            <a:r>
              <a:rPr lang="en-US" sz="950" dirty="0">
                <a:solidFill>
                  <a:srgbClr val="333333"/>
                </a:solidFill>
                <a:latin typeface="Meiryo UI" pitchFamily="34" charset="0"/>
                <a:ea typeface="Meiryo UI" pitchFamily="34" charset="-122"/>
                <a:cs typeface="Meiryo UI" pitchFamily="34" charset="-120"/>
              </a:rPr>
              <a:t>疑っているのは EPS ではなく、EPS が現金になるか(資金・格付け・OpenAI)。</a:t>
            </a:r>
            <a:endParaRPr lang="en-US" sz="950" dirty="0"/>
          </a:p>
          <a:p>
            <a:pPr indent="0" marL="0">
              <a:buNone/>
            </a:pPr>
            <a:r>
              <a:rPr lang="en-US" sz="950" dirty="0">
                <a:solidFill>
                  <a:srgbClr val="333333"/>
                </a:solidFill>
                <a:latin typeface="Meiryo UI" pitchFamily="34" charset="0"/>
                <a:ea typeface="Meiryo UI" pitchFamily="34" charset="-122"/>
                <a:cs typeface="Meiryo UI" pitchFamily="34" charset="-120"/>
              </a:rPr>
              <a:t>CDS・社債は市場の評価で、本当のリスクは数字で別に判断する</a:t>
            </a:r>
            <a:endParaRPr lang="en-US" sz="950" dirty="0"/>
          </a:p>
        </p:txBody>
      </p:sp>
      <p:sp>
        <p:nvSpPr>
          <p:cNvPr id="23" name="pane_head"/>
          <p:cNvSpPr txBox="1"/>
          <p:nvPr/>
        </p:nvSpPr>
        <p:spPr>
          <a:xfrm>
            <a:off x="6199632" y="1481328"/>
            <a:ext cx="5532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構造の変化 → 数字への波及</a:t>
            </a:r>
            <a:endParaRPr lang="en-US" sz="1200" dirty="0"/>
          </a:p>
        </p:txBody>
      </p:sp>
      <p:graphicFrame>
        <p:nvGraphicFramePr>
          <p:cNvPr id="77" name="tbl_ripple"/>
          <p:cNvGraphicFramePr>
            <a:graphicFrameLocks noGrp="1"/>
          </p:cNvGraphicFramePr>
          <p:nvPr>
            <p:extLst>
              <p:ext uri="{D42A27DB-BD31-4B8C-83A1-F6EECF244321}">
                <p14:modId xmlns:p14="http://schemas.microsoft.com/office/powerpoint/2010/main" val="1579011935"/>
              </p:ext>
            </p:extLst>
          </p:nvPr>
        </p:nvGraphicFramePr>
        <p:xfrm>
          <a:off x="6199632" y="1810512"/>
          <a:ext cx="5532120" cy="914400"/>
        </p:xfrm>
        <a:graphic>
          <a:graphicData uri="http://schemas.openxmlformats.org/drawingml/2006/table">
            <a:tbl>
              <a:tblPr/>
              <a:tblGrid>
                <a:gridCol w="1965960"/>
                <a:gridCol w="1188720"/>
                <a:gridCol w="1188720"/>
                <a:gridCol w="1188720"/>
              </a:tblGrid>
              <a:tr h="310896">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構造の変化</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ROIC</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需要の長さ</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底堅さ</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10896">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前払い・持ち込み</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97A56"/>
                          </a:solidFill>
                          <a:latin typeface="Meiryo UI" pitchFamily="34" charset="0"/>
                          <a:ea typeface="Meiryo UI" pitchFamily="34" charset="-122"/>
                          <a:cs typeface="Meiryo UI" pitchFamily="34" charset="-120"/>
                        </a:rPr>
                        <a:t>↑ 進行中</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97A56"/>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逼迫前の長期リース</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197A56"/>
                          </a:solidFill>
                          <a:latin typeface="Meiryo UI" pitchFamily="34" charset="0"/>
                          <a:ea typeface="Meiryo UI" pitchFamily="34" charset="-122"/>
                          <a:cs typeface="Meiryo UI" pitchFamily="34" charset="-120"/>
                        </a:rPr>
                        <a:t>↑ FY47 まで</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C0392B"/>
                          </a:solidFill>
                          <a:latin typeface="Meiryo UI" pitchFamily="34" charset="0"/>
                          <a:ea typeface="Meiryo UI" pitchFamily="34" charset="-122"/>
                          <a:cs typeface="Meiryo UI" pitchFamily="34" charset="-120"/>
                        </a:rPr>
                        <a:t>↓ 需要鈍化時は</a:t>
                      </a:r>
                      <a:endParaRPr lang="en-US" sz="900" dirty="0">
                        <a:latin typeface="Meiryo UI" charset="0"/>
                        <a:ea typeface="Meiryo UI" charset="0"/>
                        <a:cs typeface="Meiryo UI" charset="0"/>
                      </a:endParaRPr>
                    </a:p>
                    <a:p>
                      <a:pPr algn="ctr" indent="0" marL="0">
                        <a:buNone/>
                      </a:pPr>
                      <a:r>
                        <a:rPr lang="en-US" sz="900" dirty="0">
                          <a:solidFill>
                            <a:srgbClr val="C0392B"/>
                          </a:solidFill>
                          <a:latin typeface="Meiryo UI" pitchFamily="34" charset="0"/>
                          <a:ea typeface="Meiryo UI" pitchFamily="34" charset="-122"/>
                          <a:cs typeface="Meiryo UI" pitchFamily="34" charset="-120"/>
                        </a:rPr>
                        <a:t>固定費</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OpenAI への集中</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97A56"/>
                          </a:solidFill>
                          <a:latin typeface="Meiryo UI" pitchFamily="34" charset="0"/>
                          <a:ea typeface="Meiryo UI" pitchFamily="34" charset="-122"/>
                          <a:cs typeface="Meiryo UI" pitchFamily="34" charset="-120"/>
                        </a:rPr>
                        <a:t>↑ 2032 年まで</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C0392B"/>
                          </a:solidFill>
                          <a:latin typeface="Meiryo UI" pitchFamily="34" charset="0"/>
                          <a:ea typeface="Meiryo UI" pitchFamily="34" charset="-122"/>
                          <a:cs typeface="Meiryo UI" pitchFamily="34" charset="-120"/>
                        </a:rPr>
                        <a:t>↓ 2027〜</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SaaS へのエージェント組込み</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197A56"/>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197A56"/>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Database@ の配置</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97A56"/>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97A56"/>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97A56"/>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5" name="pane_head"/>
          <p:cNvSpPr txBox="1"/>
          <p:nvPr/>
        </p:nvSpPr>
        <p:spPr>
          <a:xfrm>
            <a:off x="6199632" y="3840480"/>
            <a:ext cx="5532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カタリストの日程</a:t>
            </a:r>
            <a:endParaRPr lang="en-US" sz="1200" dirty="0"/>
          </a:p>
        </p:txBody>
      </p:sp>
      <p:graphicFrame>
        <p:nvGraphicFramePr>
          <p:cNvPr id="115" name="tbl_catalyst"/>
          <p:cNvGraphicFramePr>
            <a:graphicFrameLocks noGrp="1"/>
          </p:cNvGraphicFramePr>
          <p:nvPr>
            <p:extLst>
              <p:ext uri="{D42A27DB-BD31-4B8C-83A1-F6EECF244321}">
                <p14:modId xmlns:p14="http://schemas.microsoft.com/office/powerpoint/2010/main" val="1579011935"/>
              </p:ext>
            </p:extLst>
          </p:nvPr>
        </p:nvGraphicFramePr>
        <p:xfrm>
          <a:off x="6199632" y="4160520"/>
          <a:ext cx="5532120" cy="914400"/>
        </p:xfrm>
        <a:graphic>
          <a:graphicData uri="http://schemas.openxmlformats.org/drawingml/2006/table">
            <a:tbl>
              <a:tblPr/>
              <a:tblGrid>
                <a:gridCol w="1234440"/>
                <a:gridCol w="1828800"/>
                <a:gridCol w="2468880"/>
              </a:tblGrid>
              <a:tr h="310896">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時期</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カタリスト</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何が分かるか</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10896">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10/25〜28</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AI World 2026(日程は</a:t>
                      </a:r>
                      <a:endParaRPr lang="en-US" sz="900" dirty="0">
                        <a:latin typeface="Meiryo UI" charset="0"/>
                        <a:ea typeface="Meiryo UI" charset="0"/>
                        <a:cs typeface="Meiryo UI" charset="0"/>
                      </a:endParaRPr>
                    </a:p>
                    <a:p>
                      <a:pPr algn="ctr" indent="0" marL="0">
                        <a:buNone/>
                      </a:pPr>
                      <a:r>
                        <a:rPr lang="en-US" sz="900" dirty="0">
                          <a:solidFill>
                            <a:srgbClr val="333333"/>
                          </a:solidFill>
                          <a:latin typeface="Meiryo UI" pitchFamily="34" charset="0"/>
                          <a:ea typeface="Meiryo UI" pitchFamily="34" charset="-122"/>
                          <a:cs typeface="Meiryo UI" pitchFamily="34" charset="-120"/>
                        </a:rPr>
                        <a:t>出典で 1 日ずれあり)</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済み(10/28 Investor Day: FCF の時期と資金の上限を開示)</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12 月中旬</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Q2 FY27 決算</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capex の進み・営業 CF・前払い、</a:t>
                      </a:r>
                      <a:endParaRPr lang="en-US" sz="900" dirty="0">
                        <a:latin typeface="Meiryo UI" charset="0"/>
                        <a:ea typeface="Meiryo UI" charset="0"/>
                        <a:cs typeface="Meiryo UI" charset="0"/>
                      </a:endParaRPr>
                    </a:p>
                    <a:p>
                      <a:pPr algn="ctr" indent="0" marL="0">
                        <a:buNone/>
                      </a:pPr>
                      <a:r>
                        <a:rPr lang="en-US" sz="900" dirty="0">
                          <a:solidFill>
                            <a:srgbClr val="333333"/>
                          </a:solidFill>
                          <a:latin typeface="Meiryo UI" pitchFamily="34" charset="0"/>
                          <a:ea typeface="Meiryo UI" pitchFamily="34" charset="-122"/>
                          <a:cs typeface="Meiryo UI" pitchFamily="34" charset="-120"/>
                        </a:rPr>
                        <a:t>納入 MW、AI 粗利率</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2027-02</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NM のガス管の稼働予定</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Jupiter(2.45GW)の時期</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2027 前半</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OpenAI の大型資金調達</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支払能力</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FY29</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FCF 300 億ドル以上</a:t>
                      </a:r>
                      <a:endParaRPr lang="en-US" sz="900" dirty="0">
                        <a:latin typeface="Meiryo UI" charset="0"/>
                        <a:ea typeface="Meiryo UI" charset="0"/>
                        <a:cs typeface="Meiryo UI" charset="0"/>
                      </a:endParaRPr>
                    </a:p>
                    <a:p>
                      <a:pPr algn="ctr" indent="0" marL="0">
                        <a:buNone/>
                      </a:pPr>
                      <a:r>
                        <a:rPr lang="en-US" sz="900" dirty="0">
                          <a:solidFill>
                            <a:srgbClr val="333333"/>
                          </a:solidFill>
                          <a:latin typeface="Meiryo UI" pitchFamily="34" charset="0"/>
                          <a:ea typeface="Meiryo UI" pitchFamily="34" charset="-122"/>
                          <a:cs typeface="Meiryo UI" pitchFamily="34" charset="-120"/>
                        </a:rPr>
                        <a:t>(会社の約束)</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格下げの回避</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第4章 バリュエーション・リスク・投資アクション</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4-1 市場との差分(2/2)</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197A56"/>
          </a:solidFill>
          <a:ln w="9525">
            <a:solidFill>
              <a:srgbClr val="197A56"/>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525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525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市場との差分</a:t>
            </a:r>
            <a:endParaRPr lang="en-US" sz="1000" dirty="0"/>
          </a:p>
        </p:txBody>
      </p:sp>
      <p:sp>
        <p:nvSpPr>
          <p:cNvPr id="14" name="hdr_why"/>
          <p:cNvSpPr txBox="1"/>
          <p:nvPr/>
        </p:nvSpPr>
        <p:spPr>
          <a:xfrm>
            <a:off x="2128774" y="356616"/>
            <a:ext cx="9605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株価が、事業と資金の不確実性を同時に動かした価値の分布のどこにあるかを確かめ、市場との差分が本物かを判定する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1,500 通りの価値の分布で、株価は 9 パーセンタイル。価値が株価を</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下回るのは、OpenAI・逼迫の終わり・再契約が同時に崩れる道だけ</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価値の分布(1 株 = DCF、倒産確率込み)。右: 価値が株価を下回る条件と、本当のリスク</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需給エンジン第4.5版のモンテカルロ(calc/m10_mc.py、out/m10_mc.json)。変数と分布は台帳 r8 J</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39</a:t>
            </a:r>
            <a:endParaRPr lang="en-US" sz="800" dirty="0"/>
          </a:p>
        </p:txBody>
      </p:sp>
      <p:sp>
        <p:nvSpPr>
          <p:cNvPr id="19" name="pane_head"/>
          <p:cNvSpPr txBox="1"/>
          <p:nvPr/>
        </p:nvSpPr>
        <p:spPr>
          <a:xfrm>
            <a:off x="457200" y="1481328"/>
            <a:ext cx="694944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1 株価値の分布(DCF、1,500 通り)</a:t>
            </a:r>
            <a:endParaRPr lang="en-US" sz="1200" dirty="0"/>
          </a:p>
        </p:txBody>
      </p:sp>
      <p:graphicFrame>
        <p:nvGraphicFramePr>
          <p:cNvPr id="20" name="chart" descr=""/>
          <p:cNvGraphicFramePr/>
          <p:nvPr/>
        </p:nvGraphicFramePr>
        <p:xfrm>
          <a:off x="457200" y="1783080"/>
          <a:ext cx="6949440" cy="3154680"/>
        </p:xfrm>
        <a:graphic xmlns:a="http://schemas.openxmlformats.org/drawingml/2006/main">
          <a:graphicData uri="http://schemas.openxmlformats.org/drawingml/2006/chart">
            <c:chart xmlns:c="http://schemas.openxmlformats.org/drawingml/2006/chart" r:id="rId1"/>
          </a:graphicData>
        </a:graphic>
      </p:graphicFrame>
      <p:sp>
        <p:nvSpPr>
          <p:cNvPr id="21" name="ovl_price_line"/>
          <p:cNvSpPr/>
          <p:nvPr/>
        </p:nvSpPr>
        <p:spPr>
          <a:xfrm>
            <a:off x="2255587" y="2194789"/>
            <a:ext cx="914" cy="2411730"/>
          </a:xfrm>
          <a:prstGeom prst="line">
            <a:avLst/>
          </a:prstGeom>
          <a:noFill/>
          <a:ln w="19050">
            <a:solidFill>
              <a:srgbClr val="C0392B"/>
            </a:solidFill>
            <a:prstDash val="dash"/>
          </a:ln>
        </p:spPr>
      </p:sp>
      <p:sp>
        <p:nvSpPr>
          <p:cNvPr id="22" name="ovl_mid_line"/>
          <p:cNvSpPr/>
          <p:nvPr/>
        </p:nvSpPr>
        <p:spPr>
          <a:xfrm>
            <a:off x="3745889" y="2194789"/>
            <a:ext cx="914" cy="2411730"/>
          </a:xfrm>
          <a:prstGeom prst="line">
            <a:avLst/>
          </a:prstGeom>
          <a:noFill/>
          <a:ln w="19050">
            <a:solidFill>
              <a:srgbClr val="0E4D33"/>
            </a:solidFill>
            <a:prstDash val="dash"/>
          </a:ln>
        </p:spPr>
      </p:sp>
      <p:sp>
        <p:nvSpPr>
          <p:cNvPr id="23" name="ovl_price_t"/>
          <p:cNvSpPr txBox="1"/>
          <p:nvPr/>
        </p:nvSpPr>
        <p:spPr>
          <a:xfrm>
            <a:off x="792547" y="1783309"/>
            <a:ext cx="1417320" cy="384048"/>
          </a:xfrm>
          <a:prstGeom prst="rect">
            <a:avLst/>
          </a:prstGeom>
          <a:noFill/>
          <a:ln/>
        </p:spPr>
        <p:txBody>
          <a:bodyPr wrap="square" lIns="0" tIns="0" rIns="0" bIns="0" rtlCol="0" anchor="b"/>
          <a:lstStyle/>
          <a:p>
            <a:pPr algn="r" indent="0" marL="0">
              <a:buNone/>
            </a:pPr>
            <a:r>
              <a:rPr lang="en-US" sz="900" b="1" dirty="0">
                <a:solidFill>
                  <a:srgbClr val="C0392B"/>
                </a:solidFill>
                <a:latin typeface="Meiryo UI" pitchFamily="34" charset="0"/>
                <a:ea typeface="Meiryo UI" pitchFamily="34" charset="-122"/>
                <a:cs typeface="Meiryo UI" pitchFamily="34" charset="-120"/>
              </a:rPr>
              <a:t>株価 139.56</a:t>
            </a:r>
            <a:endParaRPr lang="en-US" sz="900" dirty="0"/>
          </a:p>
          <a:p>
            <a:pPr algn="r" indent="0" marL="0">
              <a:buNone/>
            </a:pPr>
            <a:r>
              <a:rPr lang="en-US" sz="900" b="1" dirty="0">
                <a:solidFill>
                  <a:srgbClr val="C0392B"/>
                </a:solidFill>
                <a:latin typeface="Meiryo UI" pitchFamily="34" charset="0"/>
                <a:ea typeface="Meiryo UI" pitchFamily="34" charset="-122"/>
                <a:cs typeface="Meiryo UI" pitchFamily="34" charset="-120"/>
              </a:rPr>
              <a:t>(9 パーセンタイル)</a:t>
            </a:r>
            <a:endParaRPr lang="en-US" sz="900" dirty="0"/>
          </a:p>
        </p:txBody>
      </p:sp>
      <p:sp>
        <p:nvSpPr>
          <p:cNvPr id="24" name="ovl_mid_t"/>
          <p:cNvSpPr txBox="1"/>
          <p:nvPr/>
        </p:nvSpPr>
        <p:spPr>
          <a:xfrm>
            <a:off x="3800753" y="1966189"/>
            <a:ext cx="1097280" cy="201168"/>
          </a:xfrm>
          <a:prstGeom prst="rect">
            <a:avLst/>
          </a:prstGeom>
          <a:noFill/>
          <a:ln/>
        </p:spPr>
        <p:txBody>
          <a:bodyPr wrap="square" lIns="0" tIns="0" rIns="0" bIns="0" rtlCol="0" anchor="ctr"/>
          <a:lstStyle/>
          <a:p>
            <a:pPr algn="l" indent="0" marL="0">
              <a:buNone/>
            </a:pPr>
            <a:r>
              <a:rPr lang="en-US" sz="900" b="1" dirty="0">
                <a:solidFill>
                  <a:srgbClr val="0E4D33"/>
                </a:solidFill>
                <a:latin typeface="Meiryo UI" pitchFamily="34" charset="0"/>
                <a:ea typeface="Meiryo UI" pitchFamily="34" charset="-122"/>
                <a:cs typeface="Meiryo UI" pitchFamily="34" charset="-120"/>
              </a:rPr>
              <a:t>中央 217</a:t>
            </a:r>
            <a:endParaRPr lang="en-US" sz="900" dirty="0"/>
          </a:p>
        </p:txBody>
      </p:sp>
      <p:sp>
        <p:nvSpPr>
          <p:cNvPr id="25" name="stat"/>
          <p:cNvSpPr txBox="1"/>
          <p:nvPr/>
        </p:nvSpPr>
        <p:spPr>
          <a:xfrm>
            <a:off x="457200" y="5029200"/>
            <a:ext cx="6949440" cy="274320"/>
          </a:xfrm>
          <a:prstGeom prst="rect">
            <a:avLst/>
          </a:prstGeom>
          <a:noFill/>
          <a:ln/>
        </p:spPr>
        <p:txBody>
          <a:bodyPr wrap="square" lIns="0" tIns="0" rIns="0" bIns="0" rtlCol="0" anchor="ctr"/>
          <a:lstStyle/>
          <a:p>
            <a:pPr indent="0" marL="0">
              <a:buNone/>
            </a:pPr>
            <a:r>
              <a:rPr lang="en-US" sz="1000" dirty="0">
                <a:solidFill>
                  <a:srgbClr val="333333"/>
                </a:solidFill>
                <a:latin typeface="Meiryo UI" pitchFamily="34" charset="0"/>
                <a:ea typeface="Meiryo UI" pitchFamily="34" charset="-122"/>
                <a:cs typeface="Meiryo UI" pitchFamily="34" charset="-120"/>
              </a:rPr>
              <a:t>平均 223・中央 217。5% 125・10% 143・90% 306・95% 340 ドル</a:t>
            </a:r>
            <a:endParaRPr lang="en-US" sz="1000" dirty="0"/>
          </a:p>
        </p:txBody>
      </p:sp>
      <p:sp>
        <p:nvSpPr>
          <p:cNvPr id="26" name="note"/>
          <p:cNvSpPr txBox="1"/>
          <p:nvPr/>
        </p:nvSpPr>
        <p:spPr>
          <a:xfrm>
            <a:off x="457200" y="5340096"/>
            <a:ext cx="6949440" cy="228600"/>
          </a:xfrm>
          <a:prstGeom prst="rect">
            <a:avLst/>
          </a:prstGeom>
          <a:noFill/>
          <a:ln/>
        </p:spPr>
        <p:txBody>
          <a:bodyPr wrap="square" lIns="0" tIns="0" rIns="0" bIns="0" rtlCol="0" anchor="ctr"/>
          <a:lstStyle/>
          <a:p>
            <a:pPr indent="0" marL="0">
              <a:buNone/>
            </a:pPr>
            <a:r>
              <a:rPr lang="en-US" sz="850" dirty="0">
                <a:solidFill>
                  <a:srgbClr val="767676"/>
                </a:solidFill>
                <a:latin typeface="Meiryo UI" pitchFamily="34" charset="0"/>
                <a:ea typeface="Meiryo UI" pitchFamily="34" charset="-122"/>
                <a:cs typeface="Meiryo UI" pitchFamily="34" charset="-120"/>
              </a:rPr>
              <a:t>横軸は 25 ドル刻みの下限(例: 125 は 125〜150 ドル)。縦軸は 1,500 通りに占める割合</a:t>
            </a:r>
            <a:endParaRPr lang="en-US" sz="850" dirty="0"/>
          </a:p>
        </p:txBody>
      </p:sp>
      <p:sp>
        <p:nvSpPr>
          <p:cNvPr id="27" name="pane_head"/>
          <p:cNvSpPr txBox="1"/>
          <p:nvPr/>
        </p:nvSpPr>
        <p:spPr>
          <a:xfrm>
            <a:off x="7635240" y="1481328"/>
            <a:ext cx="4096512"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価値が株価を下回るのはいつか</a:t>
            </a:r>
            <a:endParaRPr lang="en-US" sz="1200" dirty="0"/>
          </a:p>
        </p:txBody>
      </p:sp>
      <p:graphicFrame>
        <p:nvGraphicFramePr>
          <p:cNvPr id="40" name="tbl_cond"/>
          <p:cNvGraphicFramePr>
            <a:graphicFrameLocks noGrp="1"/>
          </p:cNvGraphicFramePr>
          <p:nvPr>
            <p:extLst>
              <p:ext uri="{D42A27DB-BD31-4B8C-83A1-F6EECF244321}">
                <p14:modId xmlns:p14="http://schemas.microsoft.com/office/powerpoint/2010/main" val="1579011935"/>
              </p:ext>
            </p:extLst>
          </p:nvPr>
        </p:nvGraphicFramePr>
        <p:xfrm>
          <a:off x="7635240" y="1828800"/>
          <a:ext cx="4096512" cy="914400"/>
        </p:xfrm>
        <a:graphic>
          <a:graphicData uri="http://schemas.openxmlformats.org/drawingml/2006/table">
            <a:tbl>
              <a:tblPr/>
              <a:tblGrid>
                <a:gridCol w="1600200"/>
                <a:gridCol w="640080"/>
                <a:gridCol w="896112"/>
                <a:gridCol w="960120"/>
              </a:tblGrid>
              <a:tr h="292608">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条件</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割合</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価値の平均</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価値 &lt; 株価</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292608">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OpenAI が払う</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75%</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244</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0%</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OpenAI の見直し・深刻</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25%</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146〜167</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30〜51%</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292608">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逼迫が FY30 に終わる</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25%</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159</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38%</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再契約 60% 未満</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26%</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157</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37%</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292608">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建設の遅れ 3.5GW</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20%</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221</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13%</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9" name="pane_head"/>
          <p:cNvSpPr txBox="1"/>
          <p:nvPr/>
        </p:nvSpPr>
        <p:spPr>
          <a:xfrm>
            <a:off x="7635240" y="3703320"/>
            <a:ext cx="4096512"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信用(本当のリスク)</a:t>
            </a:r>
            <a:endParaRPr lang="en-US" sz="1200" dirty="0"/>
          </a:p>
        </p:txBody>
      </p:sp>
      <p:graphicFrame>
        <p:nvGraphicFramePr>
          <p:cNvPr id="79" name="tbl_credit"/>
          <p:cNvGraphicFramePr>
            <a:graphicFrameLocks noGrp="1"/>
          </p:cNvGraphicFramePr>
          <p:nvPr>
            <p:extLst>
              <p:ext uri="{D42A27DB-BD31-4B8C-83A1-F6EECF244321}">
                <p14:modId xmlns:p14="http://schemas.microsoft.com/office/powerpoint/2010/main" val="1579011935"/>
              </p:ext>
            </p:extLst>
          </p:nvPr>
        </p:nvGraphicFramePr>
        <p:xfrm>
          <a:off x="7635240" y="4005072"/>
          <a:ext cx="4096512" cy="914400"/>
        </p:xfrm>
        <a:graphic>
          <a:graphicData uri="http://schemas.openxmlformats.org/drawingml/2006/table">
            <a:tbl>
              <a:tblPr/>
              <a:tblGrid>
                <a:gridCol w="1554480"/>
                <a:gridCol w="2542032"/>
              </a:tblGrid>
              <a:tr h="292608">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信用の指標</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値(1,500 通り)</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292608">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レバレッジの最大</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4.42 倍(4.5 倍超の道なし)</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BB に落ちる道</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なし</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292608">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一時 BB+ の確率</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40%(遅れ・AI 否定の見方)</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FY29 FCF 300 億以上</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38%(遅れなしなら 89%)</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31" name="ovl_takeaway_bg"/>
          <p:cNvSpPr/>
          <p:nvPr/>
        </p:nvSpPr>
        <p:spPr>
          <a:xfrm>
            <a:off x="457200" y="5669280"/>
            <a:ext cx="11274552" cy="502920"/>
          </a:xfrm>
          <a:prstGeom prst="rect">
            <a:avLst/>
          </a:prstGeom>
          <a:solidFill>
            <a:srgbClr val="EAF4EE"/>
          </a:solidFill>
          <a:ln w="12700">
            <a:solidFill>
              <a:srgbClr val="EAF4EE"/>
            </a:solidFill>
            <a:prstDash val="solid"/>
          </a:ln>
        </p:spPr>
      </p:sp>
      <p:sp>
        <p:nvSpPr>
          <p:cNvPr id="32" name="takeaway"/>
          <p:cNvSpPr txBox="1"/>
          <p:nvPr/>
        </p:nvSpPr>
        <p:spPr>
          <a:xfrm>
            <a:off x="566928" y="5742432"/>
            <a:ext cx="11055096" cy="35661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株価は、AI の循環が早く崩れる 9% の道の値。倒産の道はなく、本当のリスクは OpenAI 集中と</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格付けの閾値。期待値は株価の 1.60 倍で、下側 5% でも −11%</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第4章 バリュエーション・リスク・投資アクション</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4-2 価値評価(1/3)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197A56"/>
          </a:solidFill>
          <a:ln w="9525">
            <a:solidFill>
              <a:srgbClr val="197A56"/>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価値評価</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理論株価の土台になる将来 EPS の経路を、シナリオ別に示す</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事業実態 EPS は会社の見通しの経路で 6.9 ドルから FY32 に 27 ドルへ</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年 31% 伸びる。弱気は FY31 に OpenAI の再販で落ち込む</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事業実態 EPS(非GAAP EPS − 株式報酬の税引後)、ドル。FY27〜30 は会社の見通し(FY27 8.10・FY30 21)× シナリオ比、FY31〜32 は需給エンジンの伸びで延長</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Investor Day 2026-10-28、コンセンサス(research5/U2)、需給エンジン第4.5版(calc/out/m10_*.json)。過去の成長率は使っていない</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40</a:t>
            </a:r>
            <a:endParaRPr lang="en-US" sz="800" dirty="0"/>
          </a:p>
        </p:txBody>
      </p:sp>
      <p:graphicFrame>
        <p:nvGraphicFramePr>
          <p:cNvPr id="19" name="chart" descr=""/>
          <p:cNvGraphicFramePr/>
          <p:nvPr/>
        </p:nvGraphicFramePr>
        <p:xfrm>
          <a:off x="457200" y="1508760"/>
          <a:ext cx="7635240" cy="4572000"/>
        </p:xfrm>
        <a:graphic xmlns:a="http://schemas.openxmlformats.org/drawingml/2006/main">
          <a:graphicData uri="http://schemas.openxmlformats.org/drawingml/2006/chart">
            <c:chart xmlns:c="http://schemas.openxmlformats.org/drawingml/2006/chart" r:id="rId1"/>
          </a:graphicData>
        </a:graphic>
      </p:graphicFrame>
      <p:sp>
        <p:nvSpPr>
          <p:cNvPr id="20" name="ovl_takeaway_bg"/>
          <p:cNvSpPr/>
          <p:nvPr/>
        </p:nvSpPr>
        <p:spPr>
          <a:xfrm>
            <a:off x="8275320" y="1554480"/>
            <a:ext cx="3456432" cy="1234440"/>
          </a:xfrm>
          <a:prstGeom prst="rect">
            <a:avLst/>
          </a:prstGeom>
          <a:solidFill>
            <a:srgbClr val="EAF4EE"/>
          </a:solidFill>
          <a:ln w="12700">
            <a:solidFill>
              <a:srgbClr val="EAF4EE"/>
            </a:solidFill>
            <a:prstDash val="solid"/>
          </a:ln>
        </p:spPr>
      </p:sp>
      <p:sp>
        <p:nvSpPr>
          <p:cNvPr id="21" name="takeaway"/>
          <p:cNvSpPr txBox="1"/>
          <p:nvPr/>
        </p:nvSpPr>
        <p:spPr>
          <a:xfrm>
            <a:off x="8385048" y="1627632"/>
            <a:ext cx="3236976" cy="108813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ベースの 5 年 CAGR は 31.0%(PEG 0.65)。</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説明会前のコンセンサス(FY28 10.99・</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FY29 15.77)は会社の経路より 7〜8% 低い</a:t>
            </a:r>
            <a:endParaRPr lang="en-US" sz="1100" dirty="0"/>
          </a:p>
        </p:txBody>
      </p:sp>
      <p:sp>
        <p:nvSpPr>
          <p:cNvPr id="22" name="points"/>
          <p:cNvSpPr txBox="1"/>
          <p:nvPr/>
        </p:nvSpPr>
        <p:spPr>
          <a:xfrm>
            <a:off x="8275320" y="2926080"/>
            <a:ext cx="3456432" cy="3154680"/>
          </a:xfrm>
          <a:prstGeom prst="rect">
            <a:avLst/>
          </a:prstGeom>
          <a:noFill/>
          <a:ln/>
        </p:spPr>
        <p:txBody>
          <a:bodyPr wrap="square" lIns="508" tIns="508" rIns="508" bIns="508" rtlCol="0" anchor="t"/>
          <a:lstStyle/>
          <a:p>
            <a:pPr marL="152400" indent="-152400">
              <a:spcAft>
                <a:spcPts val="400"/>
              </a:spcAft>
              <a:buSzPct val="100000"/>
              <a:buChar char="•"/>
            </a:pPr>
            <a:r>
              <a:rPr lang="en-US" sz="1050" dirty="0">
                <a:solidFill>
                  <a:srgbClr val="333333"/>
                </a:solidFill>
                <a:latin typeface="Meiryo UI" pitchFamily="34" charset="0"/>
                <a:ea typeface="Meiryo UI" pitchFamily="34" charset="-122"/>
                <a:cs typeface="Meiryo UI" pitchFamily="34" charset="-120"/>
              </a:rPr>
              <a:t>FY27→FY30 は会社の見通しを起点に置いた。</a:t>
            </a:r>
            <a:br/>
            <a:r>
              <a:rPr lang="en-US" sz="1050" dirty="0">
                <a:solidFill>
                  <a:srgbClr val="333333"/>
                </a:solidFill>
                <a:latin typeface="Meiryo UI" pitchFamily="34" charset="0"/>
                <a:ea typeface="Meiryo UI" pitchFamily="34" charset="-122"/>
                <a:cs typeface="Meiryo UI" pitchFamily="34" charset="-120"/>
              </a:rPr>
              <a:t>コンセンサスは説明会の前の値で遅れている</a:t>
            </a:r>
            <a:endParaRPr lang="en-US" sz="1050" dirty="0"/>
          </a:p>
          <a:p>
            <a:pPr marL="152400" indent="-152400">
              <a:spcAft>
                <a:spcPts val="400"/>
              </a:spcAft>
              <a:buSzPct val="100000"/>
              <a:buChar char="•"/>
            </a:pPr>
            <a:r>
              <a:rPr lang="en-US" sz="1050" dirty="0">
                <a:solidFill>
                  <a:srgbClr val="333333"/>
                </a:solidFill>
                <a:latin typeface="Meiryo UI" pitchFamily="34" charset="0"/>
                <a:ea typeface="Meiryo UI" pitchFamily="34" charset="-122"/>
                <a:cs typeface="Meiryo UI" pitchFamily="34" charset="-120"/>
              </a:rPr>
              <a:t>弱気の FY31: OpenAI 向けとみなす容量の 6 割を、需給緩和後の相場で再販して 10.0 ドルへ下がる</a:t>
            </a:r>
            <a:endParaRPr lang="en-US" sz="1050" dirty="0"/>
          </a:p>
          <a:p>
            <a:pPr marL="152400" indent="-152400">
              <a:spcAft>
                <a:spcPts val="400"/>
              </a:spcAft>
              <a:buSzPct val="100000"/>
              <a:buChar char="•"/>
            </a:pPr>
            <a:r>
              <a:rPr lang="en-US" sz="1050" dirty="0">
                <a:solidFill>
                  <a:srgbClr val="333333"/>
                </a:solidFill>
                <a:latin typeface="Meiryo UI" pitchFamily="34" charset="0"/>
                <a:ea typeface="Meiryo UI" pitchFamily="34" charset="-122"/>
                <a:cs typeface="Meiryo UI" pitchFamily="34" charset="-120"/>
              </a:rPr>
              <a:t>FY31・32 は延長部分で、</a:t>
            </a:r>
            <a:br/>
            <a:r>
              <a:rPr lang="en-US" sz="1050" dirty="0">
                <a:solidFill>
                  <a:srgbClr val="333333"/>
                </a:solidFill>
                <a:latin typeface="Meiryo UI" pitchFamily="34" charset="0"/>
                <a:ea typeface="Meiryo UI" pitchFamily="34" charset="-122"/>
                <a:cs typeface="Meiryo UI" pitchFamily="34" charset="-120"/>
              </a:rPr>
              <a:t>確度は FY27〜30 より低い</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第4章 バリュエーション・リスク・投資アクション</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4-2 価値評価(2/3)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197A56"/>
          </a:solidFill>
          <a:ln w="9525">
            <a:solidFill>
              <a:srgbClr val="197A56"/>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価値評価</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構造評価から許容倍率を決め、年度別に当てて理論株価を出す手順を示す</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構造評価 B は許容 PEG 1.0 に当たる。3 経路の妥当 PER を年度別に当て、</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近い年度を重くするとベース 246 ドル</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年度別理論株価 = Σ 重み × [ 妥当 PER × 翌年度の事業実態 EPS × 生存確率 を株主資本コスト 10.63% で今日へ割引 + 配当 ]</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需給エンジン第4.5版(calc/out/m10_*.json)、銘柄分析メソッド valuation-model §3-3(構造評価 B の出発 PEG 1.0〜1.3)</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41</a:t>
            </a:r>
            <a:endParaRPr lang="en-US" sz="800" dirty="0"/>
          </a:p>
        </p:txBody>
      </p:sp>
      <p:sp>
        <p:nvSpPr>
          <p:cNvPr id="19" name="flow_h0"/>
          <p:cNvSpPr txBox="1"/>
          <p:nvPr/>
        </p:nvSpPr>
        <p:spPr>
          <a:xfrm>
            <a:off x="457200" y="1481328"/>
            <a:ext cx="2036003"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構造評価</a:t>
            </a:r>
            <a:endParaRPr lang="en-US" sz="1100" dirty="0"/>
          </a:p>
        </p:txBody>
      </p:sp>
      <p:sp>
        <p:nvSpPr>
          <p:cNvPr id="20" name="ovl_fbox0_0"/>
          <p:cNvSpPr/>
          <p:nvPr/>
        </p:nvSpPr>
        <p:spPr>
          <a:xfrm>
            <a:off x="457200" y="1865376"/>
            <a:ext cx="2036003" cy="731520"/>
          </a:xfrm>
          <a:prstGeom prst="roundRect">
            <a:avLst>
              <a:gd name="adj" fmla="val 7500"/>
            </a:avLst>
          </a:prstGeom>
          <a:solidFill>
            <a:srgbClr val="0E4D33"/>
          </a:solidFill>
          <a:ln w="9525">
            <a:solidFill>
              <a:srgbClr val="0E4D33"/>
            </a:solidFill>
            <a:prstDash val="solid"/>
          </a:ln>
        </p:spPr>
      </p:sp>
      <p:sp>
        <p:nvSpPr>
          <p:cNvPr id="21" name="flow_t0_0"/>
          <p:cNvSpPr txBox="1"/>
          <p:nvPr/>
        </p:nvSpPr>
        <p:spPr>
          <a:xfrm>
            <a:off x="530352" y="1901952"/>
            <a:ext cx="1889699" cy="658368"/>
          </a:xfrm>
          <a:prstGeom prst="rect">
            <a:avLst/>
          </a:prstGeom>
          <a:noFill/>
          <a:ln/>
        </p:spPr>
        <p:txBody>
          <a:bodyPr wrap="square" lIns="0" tIns="0" rIns="0" bIns="0" rtlCol="0" anchor="ctr"/>
          <a:lstStyle/>
          <a:p>
            <a:pPr algn="ctr" indent="0" marL="0">
              <a:buNone/>
            </a:pPr>
            <a:r>
              <a:rPr lang="en-US" sz="2800" b="1" dirty="0">
                <a:solidFill>
                  <a:srgbClr val="FFFFFF"/>
                </a:solidFill>
                <a:latin typeface="Meiryo UI" pitchFamily="34" charset="0"/>
                <a:ea typeface="Meiryo UI" pitchFamily="34" charset="-122"/>
                <a:cs typeface="Meiryo UI" pitchFamily="34" charset="-120"/>
              </a:rPr>
              <a:t>B</a:t>
            </a:r>
            <a:endParaRPr lang="en-US" sz="2800" dirty="0"/>
          </a:p>
        </p:txBody>
      </p:sp>
      <p:sp>
        <p:nvSpPr>
          <p:cNvPr id="22" name="ovl_fbox0_1"/>
          <p:cNvSpPr/>
          <p:nvPr/>
        </p:nvSpPr>
        <p:spPr>
          <a:xfrm>
            <a:off x="457200" y="2706624"/>
            <a:ext cx="2036003" cy="502920"/>
          </a:xfrm>
          <a:prstGeom prst="roundRect">
            <a:avLst>
              <a:gd name="adj" fmla="val 10909"/>
            </a:avLst>
          </a:prstGeom>
          <a:solidFill>
            <a:srgbClr val="EAF4EE"/>
          </a:solidFill>
          <a:ln w="9525">
            <a:solidFill>
              <a:srgbClr val="EAF4EE"/>
            </a:solidFill>
            <a:prstDash val="solid"/>
          </a:ln>
        </p:spPr>
      </p:sp>
      <p:sp>
        <p:nvSpPr>
          <p:cNvPr id="23" name="flow_t0_1"/>
          <p:cNvSpPr txBox="1"/>
          <p:nvPr/>
        </p:nvSpPr>
        <p:spPr>
          <a:xfrm>
            <a:off x="530352" y="2743200"/>
            <a:ext cx="1889699" cy="429768"/>
          </a:xfrm>
          <a:prstGeom prst="rect">
            <a:avLst/>
          </a:prstGeom>
          <a:noFill/>
          <a:ln/>
        </p:spPr>
        <p:txBody>
          <a:bodyPr wrap="square" lIns="0" tIns="0" rIns="0" bIns="0" rtlCol="0" anchor="ctr"/>
          <a:lstStyle/>
          <a:p>
            <a:pPr algn="ctr" indent="0" marL="0">
              <a:buNone/>
            </a:pPr>
            <a:r>
              <a:rPr lang="en-US" sz="1000" dirty="0">
                <a:solidFill>
                  <a:srgbClr val="0E4D33"/>
                </a:solidFill>
                <a:latin typeface="Meiryo UI" pitchFamily="34" charset="0"/>
                <a:ea typeface="Meiryo UI" pitchFamily="34" charset="-122"/>
                <a:cs typeface="Meiryo UI" pitchFamily="34" charset="-120"/>
              </a:rPr>
              <a:t>出発 PEG 1.0〜1.3</a:t>
            </a:r>
            <a:endParaRPr lang="en-US" sz="1000" dirty="0"/>
          </a:p>
        </p:txBody>
      </p:sp>
      <p:sp>
        <p:nvSpPr>
          <p:cNvPr id="24" name="ovl_farrow0"/>
          <p:cNvSpPr/>
          <p:nvPr/>
        </p:nvSpPr>
        <p:spPr>
          <a:xfrm>
            <a:off x="2534351" y="2221992"/>
            <a:ext cx="192024" cy="365760"/>
          </a:xfrm>
          <a:prstGeom prst="rightArrow">
            <a:avLst/>
          </a:prstGeom>
          <a:solidFill>
            <a:srgbClr val="86C99B"/>
          </a:solidFill>
          <a:ln w="12700">
            <a:solidFill>
              <a:srgbClr val="86C99B"/>
            </a:solidFill>
            <a:prstDash val="solid"/>
          </a:ln>
        </p:spPr>
      </p:sp>
      <p:sp>
        <p:nvSpPr>
          <p:cNvPr id="25" name="flow_h1"/>
          <p:cNvSpPr txBox="1"/>
          <p:nvPr/>
        </p:nvSpPr>
        <p:spPr>
          <a:xfrm>
            <a:off x="2767523" y="1481328"/>
            <a:ext cx="2036003"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許容 PEG</a:t>
            </a:r>
            <a:endParaRPr lang="en-US" sz="1100" dirty="0"/>
          </a:p>
        </p:txBody>
      </p:sp>
      <p:sp>
        <p:nvSpPr>
          <p:cNvPr id="26" name="ovl_fbox1_0"/>
          <p:cNvSpPr/>
          <p:nvPr/>
        </p:nvSpPr>
        <p:spPr>
          <a:xfrm>
            <a:off x="2767523" y="1865376"/>
            <a:ext cx="2036003" cy="731520"/>
          </a:xfrm>
          <a:prstGeom prst="roundRect">
            <a:avLst>
              <a:gd name="adj" fmla="val 7500"/>
            </a:avLst>
          </a:prstGeom>
          <a:solidFill>
            <a:srgbClr val="197A56"/>
          </a:solidFill>
          <a:ln w="9525">
            <a:solidFill>
              <a:srgbClr val="197A56"/>
            </a:solidFill>
            <a:prstDash val="solid"/>
          </a:ln>
        </p:spPr>
      </p:sp>
      <p:sp>
        <p:nvSpPr>
          <p:cNvPr id="27" name="flow_t1_0"/>
          <p:cNvSpPr txBox="1"/>
          <p:nvPr/>
        </p:nvSpPr>
        <p:spPr>
          <a:xfrm>
            <a:off x="2840675" y="1901952"/>
            <a:ext cx="1889699" cy="658368"/>
          </a:xfrm>
          <a:prstGeom prst="rect">
            <a:avLst/>
          </a:prstGeom>
          <a:noFill/>
          <a:ln/>
        </p:spPr>
        <p:txBody>
          <a:bodyPr wrap="square" lIns="0" tIns="0" rIns="0" bIns="0" rtlCol="0" anchor="ctr"/>
          <a:lstStyle/>
          <a:p>
            <a:pPr algn="ctr" indent="0" marL="0">
              <a:buNone/>
            </a:pPr>
            <a:r>
              <a:rPr lang="en-US" sz="2800" b="1" dirty="0">
                <a:solidFill>
                  <a:srgbClr val="FFFFFF"/>
                </a:solidFill>
                <a:latin typeface="Meiryo UI" pitchFamily="34" charset="0"/>
                <a:ea typeface="Meiryo UI" pitchFamily="34" charset="-122"/>
                <a:cs typeface="Meiryo UI" pitchFamily="34" charset="-120"/>
              </a:rPr>
              <a:t>1.0</a:t>
            </a:r>
            <a:endParaRPr lang="en-US" sz="2800" dirty="0"/>
          </a:p>
        </p:txBody>
      </p:sp>
      <p:sp>
        <p:nvSpPr>
          <p:cNvPr id="28" name="ovl_fbox1_1"/>
          <p:cNvSpPr/>
          <p:nvPr/>
        </p:nvSpPr>
        <p:spPr>
          <a:xfrm>
            <a:off x="2767523" y="2706624"/>
            <a:ext cx="2036003" cy="502920"/>
          </a:xfrm>
          <a:prstGeom prst="roundRect">
            <a:avLst>
              <a:gd name="adj" fmla="val 10909"/>
            </a:avLst>
          </a:prstGeom>
          <a:solidFill>
            <a:srgbClr val="EAF4EE"/>
          </a:solidFill>
          <a:ln w="9525">
            <a:solidFill>
              <a:srgbClr val="EAF4EE"/>
            </a:solidFill>
            <a:prstDash val="solid"/>
          </a:ln>
        </p:spPr>
      </p:sp>
      <p:sp>
        <p:nvSpPr>
          <p:cNvPr id="29" name="flow_t1_1"/>
          <p:cNvSpPr txBox="1"/>
          <p:nvPr/>
        </p:nvSpPr>
        <p:spPr>
          <a:xfrm>
            <a:off x="2840675" y="2743200"/>
            <a:ext cx="1889699" cy="429768"/>
          </a:xfrm>
          <a:prstGeom prst="rect">
            <a:avLst/>
          </a:prstGeom>
          <a:noFill/>
          <a:ln/>
        </p:spPr>
        <p:txBody>
          <a:bodyPr wrap="square" lIns="0" tIns="0" rIns="0" bIns="0" rtlCol="0" anchor="ctr"/>
          <a:lstStyle/>
          <a:p>
            <a:pPr algn="ctr" indent="0" marL="0">
              <a:buNone/>
            </a:pPr>
            <a:r>
              <a:rPr lang="en-US" sz="1000" dirty="0">
                <a:solidFill>
                  <a:srgbClr val="0E4D33"/>
                </a:solidFill>
                <a:latin typeface="Meiryo UI" pitchFamily="34" charset="0"/>
                <a:ea typeface="Meiryo UI" pitchFamily="34" charset="-122"/>
                <a:cs typeface="Meiryo UI" pitchFamily="34" charset="-120"/>
              </a:rPr>
              <a:t>下限を採用</a:t>
            </a:r>
            <a:endParaRPr lang="en-US" sz="1000" dirty="0"/>
          </a:p>
          <a:p>
            <a:pPr algn="ctr" indent="0" marL="0">
              <a:buNone/>
            </a:pPr>
            <a:r>
              <a:rPr lang="en-US" sz="1000" dirty="0">
                <a:solidFill>
                  <a:srgbClr val="0E4D33"/>
                </a:solidFill>
                <a:latin typeface="Meiryo UI" pitchFamily="34" charset="0"/>
                <a:ea typeface="Meiryo UI" pitchFamily="34" charset="-122"/>
                <a:cs typeface="Meiryo UI" pitchFamily="34" charset="-120"/>
              </a:rPr>
              <a:t>(倍率は全シナリオ共通)</a:t>
            </a:r>
            <a:endParaRPr lang="en-US" sz="1000" dirty="0"/>
          </a:p>
        </p:txBody>
      </p:sp>
      <p:sp>
        <p:nvSpPr>
          <p:cNvPr id="30" name="ovl_farrow1"/>
          <p:cNvSpPr/>
          <p:nvPr/>
        </p:nvSpPr>
        <p:spPr>
          <a:xfrm>
            <a:off x="4844674" y="2221992"/>
            <a:ext cx="192024" cy="365760"/>
          </a:xfrm>
          <a:prstGeom prst="rightArrow">
            <a:avLst/>
          </a:prstGeom>
          <a:solidFill>
            <a:srgbClr val="86C99B"/>
          </a:solidFill>
          <a:ln w="12700">
            <a:solidFill>
              <a:srgbClr val="86C99B"/>
            </a:solidFill>
            <a:prstDash val="solid"/>
          </a:ln>
        </p:spPr>
      </p:sp>
      <p:sp>
        <p:nvSpPr>
          <p:cNvPr id="31" name="flow_h2"/>
          <p:cNvSpPr txBox="1"/>
          <p:nvPr/>
        </p:nvSpPr>
        <p:spPr>
          <a:xfrm>
            <a:off x="5077846" y="1481328"/>
            <a:ext cx="2036003"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妥当 PER(3 経路の平均)</a:t>
            </a:r>
            <a:endParaRPr lang="en-US" sz="1100" dirty="0"/>
          </a:p>
        </p:txBody>
      </p:sp>
      <p:sp>
        <p:nvSpPr>
          <p:cNvPr id="32" name="ovl_fbox2_0"/>
          <p:cNvSpPr/>
          <p:nvPr/>
        </p:nvSpPr>
        <p:spPr>
          <a:xfrm>
            <a:off x="5077846" y="1865376"/>
            <a:ext cx="2036003" cy="1280160"/>
          </a:xfrm>
          <a:prstGeom prst="roundRect">
            <a:avLst>
              <a:gd name="adj" fmla="val 4286"/>
            </a:avLst>
          </a:prstGeom>
          <a:solidFill>
            <a:srgbClr val="EAF4EE"/>
          </a:solidFill>
          <a:ln w="9525">
            <a:solidFill>
              <a:srgbClr val="EAF4EE"/>
            </a:solidFill>
            <a:prstDash val="solid"/>
          </a:ln>
        </p:spPr>
      </p:sp>
      <p:sp>
        <p:nvSpPr>
          <p:cNvPr id="33" name="flow_t2_0"/>
          <p:cNvSpPr txBox="1"/>
          <p:nvPr/>
        </p:nvSpPr>
        <p:spPr>
          <a:xfrm>
            <a:off x="5150998" y="1901952"/>
            <a:ext cx="1889699" cy="1207008"/>
          </a:xfrm>
          <a:prstGeom prst="rect">
            <a:avLst/>
          </a:prstGeom>
          <a:noFill/>
          <a:ln/>
        </p:spPr>
        <p:txBody>
          <a:bodyPr wrap="square" lIns="0" tIns="0" rIns="0" bIns="0" rtlCol="0" anchor="ctr"/>
          <a:lstStyle/>
          <a:p>
            <a:pPr algn="ctr" indent="0" marL="0">
              <a:buNone/>
            </a:pPr>
            <a:r>
              <a:rPr lang="en-US" sz="1000" dirty="0">
                <a:solidFill>
                  <a:srgbClr val="0E4D33"/>
                </a:solidFill>
                <a:latin typeface="Meiryo UI" pitchFamily="34" charset="0"/>
                <a:ea typeface="Meiryo UI" pitchFamily="34" charset="-122"/>
                <a:cs typeface="Meiryo UI" pitchFamily="34" charset="-120"/>
              </a:rPr>
              <a:t>a 同業 23 倍 /</a:t>
            </a:r>
            <a:endParaRPr lang="en-US" sz="1000" dirty="0"/>
          </a:p>
          <a:p>
            <a:pPr algn="ctr" indent="0" marL="0">
              <a:buNone/>
            </a:pPr>
            <a:r>
              <a:rPr lang="en-US" sz="1000" dirty="0">
                <a:solidFill>
                  <a:srgbClr val="0E4D33"/>
                </a:solidFill>
                <a:latin typeface="Meiryo UI" pitchFamily="34" charset="0"/>
                <a:ea typeface="Meiryo UI" pitchFamily="34" charset="-122"/>
                <a:cs typeface="Meiryo UI" pitchFamily="34" charset="-120"/>
              </a:rPr>
              <a:t>b PEG × 3 年成長率 /</a:t>
            </a:r>
            <a:endParaRPr lang="en-US" sz="1000" dirty="0"/>
          </a:p>
          <a:p>
            <a:pPr algn="ctr" indent="0" marL="0">
              <a:buNone/>
            </a:pPr>
            <a:r>
              <a:rPr lang="en-US" sz="1000" dirty="0">
                <a:solidFill>
                  <a:srgbClr val="0E4D33"/>
                </a:solidFill>
                <a:latin typeface="Meiryo UI" pitchFamily="34" charset="0"/>
                <a:ea typeface="Meiryo UI" pitchFamily="34" charset="-122"/>
                <a:cs typeface="Meiryo UI" pitchFamily="34" charset="-120"/>
              </a:rPr>
              <a:t>c 需給エンジンの価値</a:t>
            </a:r>
            <a:endParaRPr lang="en-US" sz="1000" dirty="0"/>
          </a:p>
        </p:txBody>
      </p:sp>
      <p:sp>
        <p:nvSpPr>
          <p:cNvPr id="34" name="ovl_farrow2"/>
          <p:cNvSpPr/>
          <p:nvPr/>
        </p:nvSpPr>
        <p:spPr>
          <a:xfrm>
            <a:off x="7154997" y="2221992"/>
            <a:ext cx="192024" cy="365760"/>
          </a:xfrm>
          <a:prstGeom prst="rightArrow">
            <a:avLst/>
          </a:prstGeom>
          <a:solidFill>
            <a:srgbClr val="86C99B"/>
          </a:solidFill>
          <a:ln w="12700">
            <a:solidFill>
              <a:srgbClr val="86C99B"/>
            </a:solidFill>
            <a:prstDash val="solid"/>
          </a:ln>
        </p:spPr>
      </p:sp>
      <p:sp>
        <p:nvSpPr>
          <p:cNvPr id="35" name="flow_h3"/>
          <p:cNvSpPr txBox="1"/>
          <p:nvPr/>
        </p:nvSpPr>
        <p:spPr>
          <a:xfrm>
            <a:off x="7388169" y="1481328"/>
            <a:ext cx="2036003"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年度末の目標</a:t>
            </a:r>
            <a:endParaRPr lang="en-US" sz="1100" dirty="0"/>
          </a:p>
        </p:txBody>
      </p:sp>
      <p:sp>
        <p:nvSpPr>
          <p:cNvPr id="36" name="ovl_fbox3_0"/>
          <p:cNvSpPr/>
          <p:nvPr/>
        </p:nvSpPr>
        <p:spPr>
          <a:xfrm>
            <a:off x="7388169" y="1865376"/>
            <a:ext cx="2036003" cy="1280160"/>
          </a:xfrm>
          <a:prstGeom prst="roundRect">
            <a:avLst>
              <a:gd name="adj" fmla="val 4286"/>
            </a:avLst>
          </a:prstGeom>
          <a:solidFill>
            <a:srgbClr val="EAF4EE"/>
          </a:solidFill>
          <a:ln w="9525">
            <a:solidFill>
              <a:srgbClr val="EAF4EE"/>
            </a:solidFill>
            <a:prstDash val="solid"/>
          </a:ln>
        </p:spPr>
      </p:sp>
      <p:sp>
        <p:nvSpPr>
          <p:cNvPr id="37" name="flow_t3_0"/>
          <p:cNvSpPr txBox="1"/>
          <p:nvPr/>
        </p:nvSpPr>
        <p:spPr>
          <a:xfrm>
            <a:off x="7461321" y="1901952"/>
            <a:ext cx="1889699" cy="1207008"/>
          </a:xfrm>
          <a:prstGeom prst="rect">
            <a:avLst/>
          </a:prstGeom>
          <a:noFill/>
          <a:ln/>
        </p:spPr>
        <p:txBody>
          <a:bodyPr wrap="square" lIns="0" tIns="0" rIns="0" bIns="0" rtlCol="0" anchor="ctr"/>
          <a:lstStyle/>
          <a:p>
            <a:pPr algn="ctr" indent="0" marL="0">
              <a:buNone/>
            </a:pPr>
            <a:r>
              <a:rPr lang="en-US" sz="1000" dirty="0">
                <a:solidFill>
                  <a:srgbClr val="0E4D33"/>
                </a:solidFill>
                <a:latin typeface="Meiryo UI" pitchFamily="34" charset="0"/>
                <a:ea typeface="Meiryo UI" pitchFamily="34" charset="-122"/>
                <a:cs typeface="Meiryo UI" pitchFamily="34" charset="-120"/>
              </a:rPr>
              <a:t>PER × 翌年度 EPS ×</a:t>
            </a:r>
            <a:endParaRPr lang="en-US" sz="1000" dirty="0"/>
          </a:p>
          <a:p>
            <a:pPr algn="ctr" indent="0" marL="0">
              <a:buNone/>
            </a:pPr>
            <a:r>
              <a:rPr lang="en-US" sz="1000" dirty="0">
                <a:solidFill>
                  <a:srgbClr val="0E4D33"/>
                </a:solidFill>
                <a:latin typeface="Meiryo UI" pitchFamily="34" charset="0"/>
                <a:ea typeface="Meiryo UI" pitchFamily="34" charset="-122"/>
                <a:cs typeface="Meiryo UI" pitchFamily="34" charset="-120"/>
              </a:rPr>
              <a:t>生存確率</a:t>
            </a:r>
            <a:endParaRPr lang="en-US" sz="1000" dirty="0"/>
          </a:p>
        </p:txBody>
      </p:sp>
      <p:sp>
        <p:nvSpPr>
          <p:cNvPr id="38" name="ovl_farrow3"/>
          <p:cNvSpPr/>
          <p:nvPr/>
        </p:nvSpPr>
        <p:spPr>
          <a:xfrm>
            <a:off x="9465320" y="2221992"/>
            <a:ext cx="192024" cy="365760"/>
          </a:xfrm>
          <a:prstGeom prst="rightArrow">
            <a:avLst/>
          </a:prstGeom>
          <a:solidFill>
            <a:srgbClr val="86C99B"/>
          </a:solidFill>
          <a:ln w="12700">
            <a:solidFill>
              <a:srgbClr val="86C99B"/>
            </a:solidFill>
            <a:prstDash val="solid"/>
          </a:ln>
        </p:spPr>
      </p:sp>
      <p:sp>
        <p:nvSpPr>
          <p:cNvPr id="39" name="flow_h4"/>
          <p:cNvSpPr txBox="1"/>
          <p:nvPr/>
        </p:nvSpPr>
        <p:spPr>
          <a:xfrm>
            <a:off x="9698492" y="1481328"/>
            <a:ext cx="2036003"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理論株価</a:t>
            </a:r>
            <a:endParaRPr lang="en-US" sz="1100" dirty="0"/>
          </a:p>
        </p:txBody>
      </p:sp>
      <p:sp>
        <p:nvSpPr>
          <p:cNvPr id="40" name="ovl_fbox4_0"/>
          <p:cNvSpPr/>
          <p:nvPr/>
        </p:nvSpPr>
        <p:spPr>
          <a:xfrm>
            <a:off x="9698492" y="1865376"/>
            <a:ext cx="2036003" cy="731520"/>
          </a:xfrm>
          <a:prstGeom prst="roundRect">
            <a:avLst>
              <a:gd name="adj" fmla="val 7500"/>
            </a:avLst>
          </a:prstGeom>
          <a:solidFill>
            <a:srgbClr val="0E4D33"/>
          </a:solidFill>
          <a:ln w="9525">
            <a:solidFill>
              <a:srgbClr val="0E4D33"/>
            </a:solidFill>
            <a:prstDash val="solid"/>
          </a:ln>
        </p:spPr>
      </p:sp>
      <p:sp>
        <p:nvSpPr>
          <p:cNvPr id="41" name="flow_t4_0"/>
          <p:cNvSpPr txBox="1"/>
          <p:nvPr/>
        </p:nvSpPr>
        <p:spPr>
          <a:xfrm>
            <a:off x="9771644" y="1901952"/>
            <a:ext cx="1889699" cy="658368"/>
          </a:xfrm>
          <a:prstGeom prst="rect">
            <a:avLst/>
          </a:prstGeom>
          <a:noFill/>
          <a:ln/>
        </p:spPr>
        <p:txBody>
          <a:bodyPr wrap="square" lIns="0" tIns="0" rIns="0" bIns="0" rtlCol="0" anchor="ctr"/>
          <a:lstStyle/>
          <a:p>
            <a:pPr algn="ctr" indent="0" marL="0">
              <a:buNone/>
            </a:pPr>
            <a:r>
              <a:rPr lang="en-US" sz="2600" b="1" dirty="0">
                <a:solidFill>
                  <a:srgbClr val="FFFFFF"/>
                </a:solidFill>
                <a:latin typeface="Meiryo UI" pitchFamily="34" charset="0"/>
                <a:ea typeface="Meiryo UI" pitchFamily="34" charset="-122"/>
                <a:cs typeface="Meiryo UI" pitchFamily="34" charset="-120"/>
              </a:rPr>
              <a:t>246 ドル</a:t>
            </a:r>
            <a:endParaRPr lang="en-US" sz="2600" dirty="0"/>
          </a:p>
        </p:txBody>
      </p:sp>
      <p:sp>
        <p:nvSpPr>
          <p:cNvPr id="42" name="ovl_fbox4_1"/>
          <p:cNvSpPr/>
          <p:nvPr/>
        </p:nvSpPr>
        <p:spPr>
          <a:xfrm>
            <a:off x="9698492" y="2706624"/>
            <a:ext cx="2036003" cy="502920"/>
          </a:xfrm>
          <a:prstGeom prst="roundRect">
            <a:avLst>
              <a:gd name="adj" fmla="val 10909"/>
            </a:avLst>
          </a:prstGeom>
          <a:solidFill>
            <a:srgbClr val="EAF4EE"/>
          </a:solidFill>
          <a:ln w="9525">
            <a:solidFill>
              <a:srgbClr val="EAF4EE"/>
            </a:solidFill>
            <a:prstDash val="solid"/>
          </a:ln>
        </p:spPr>
      </p:sp>
      <p:sp>
        <p:nvSpPr>
          <p:cNvPr id="43" name="flow_t4_1"/>
          <p:cNvSpPr txBox="1"/>
          <p:nvPr/>
        </p:nvSpPr>
        <p:spPr>
          <a:xfrm>
            <a:off x="9771644" y="2743200"/>
            <a:ext cx="1889699" cy="429768"/>
          </a:xfrm>
          <a:prstGeom prst="rect">
            <a:avLst/>
          </a:prstGeom>
          <a:noFill/>
          <a:ln/>
        </p:spPr>
        <p:txBody>
          <a:bodyPr wrap="square" lIns="0" tIns="0" rIns="0" bIns="0" rtlCol="0" anchor="ctr"/>
          <a:lstStyle/>
          <a:p>
            <a:pPr algn="ctr" indent="0" marL="0">
              <a:buNone/>
            </a:pPr>
            <a:r>
              <a:rPr lang="en-US" sz="1000" dirty="0">
                <a:solidFill>
                  <a:srgbClr val="0E4D33"/>
                </a:solidFill>
                <a:latin typeface="Meiryo UI" pitchFamily="34" charset="0"/>
                <a:ea typeface="Meiryo UI" pitchFamily="34" charset="-122"/>
                <a:cs typeface="Meiryo UI" pitchFamily="34" charset="-120"/>
              </a:rPr>
              <a:t>加重 245・株価 139.56</a:t>
            </a:r>
            <a:endParaRPr lang="en-US" sz="1000" dirty="0"/>
          </a:p>
        </p:txBody>
      </p:sp>
      <p:graphicFrame>
        <p:nvGraphicFramePr>
          <p:cNvPr id="42" name="tbl"/>
          <p:cNvGraphicFramePr>
            <a:graphicFrameLocks noGrp="1"/>
          </p:cNvGraphicFramePr>
          <p:nvPr>
            <p:extLst>
              <p:ext uri="{D42A27DB-BD31-4B8C-83A1-F6EECF244321}">
                <p14:modId xmlns:p14="http://schemas.microsoft.com/office/powerpoint/2010/main" val="1579011935"/>
              </p:ext>
            </p:extLst>
          </p:nvPr>
        </p:nvGraphicFramePr>
        <p:xfrm>
          <a:off x="457200" y="3291840"/>
          <a:ext cx="11274552" cy="914400"/>
        </p:xfrm>
        <a:graphic>
          <a:graphicData uri="http://schemas.openxmlformats.org/drawingml/2006/table">
            <a:tbl>
              <a:tblPr/>
              <a:tblGrid>
                <a:gridCol w="1371600"/>
                <a:gridCol w="1463040"/>
                <a:gridCol w="1280160"/>
                <a:gridCol w="1371600"/>
                <a:gridCol w="1371600"/>
                <a:gridCol w="1371600"/>
                <a:gridCol w="1463040"/>
                <a:gridCol w="1581912"/>
              </a:tblGrid>
              <a:tr h="329184">
                <a:tc>
                  <a:txBody>
                    <a:bodyPr/>
                    <a:lstStyle/>
                    <a:p>
                      <a:pPr algn="l" indent="0" marL="0">
                        <a:buNone/>
                      </a:pPr>
                      <a:r>
                        <a:rPr lang="en-US" sz="1000" b="1" dirty="0">
                          <a:solidFill>
                            <a:srgbClr val="FFFFFF"/>
                          </a:solidFill>
                          <a:latin typeface="Meiryo UI" pitchFamily="34" charset="0"/>
                          <a:ea typeface="Meiryo UI" pitchFamily="34" charset="-122"/>
                          <a:cs typeface="Meiryo UI" pitchFamily="34" charset="-120"/>
                        </a:rPr>
                        <a:t>年度末</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翌年度 EPS</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3年成長率</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 同業 23 倍</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b PEG × 成長(PER)</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c エンジン</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目標(平均)</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今日の価値(重み)</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29184">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FY27 末</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10.62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29.0%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235</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297(29.0)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230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254</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240(40%)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FY28 末</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15.89</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18.8%</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354</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289(18.8)</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254</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299</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255(30%)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29184">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FY29 末</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19.60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13.0%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439</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249(13.0)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279</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323</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249(20%)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FY30 末</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22.81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9.4%</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513</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210(9.4)</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305</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343</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240(10%)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29184">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ベース</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333333"/>
                          </a:solidFill>
                          <a:latin typeface="Meiryo UI" pitchFamily="34" charset="0"/>
                          <a:ea typeface="Meiryo UI" pitchFamily="34" charset="-122"/>
                          <a:cs typeface="Meiryo UI" pitchFamily="34" charset="-120"/>
                        </a:rPr>
                        <a:t>246</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45" name="bullets"/>
          <p:cNvSpPr txBox="1"/>
          <p:nvPr/>
        </p:nvSpPr>
        <p:spPr>
          <a:xfrm>
            <a:off x="457200" y="5349240"/>
            <a:ext cx="11274552" cy="777240"/>
          </a:xfrm>
          <a:prstGeom prst="rect">
            <a:avLst/>
          </a:prstGeom>
          <a:noFill/>
          <a:ln/>
        </p:spPr>
        <p:txBody>
          <a:bodyPr wrap="square" lIns="508" tIns="508" rIns="508" bIns="508" rtlCol="0" anchor="t"/>
          <a:lstStyle/>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a・b は生存確率(倒産確率を反映)を掛けた後の値。b の成長率の上限 35%、下限は無成長の PER(1/株主資本コスト)</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c は需給エンジンの年度末の1株価値そのもの(エンジンの倍率をコンセンサス EPS に掛けない)</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株主資本コスト 10.63% = 5.02% + 株主β 1.33 × 4.23%(資産β 1.00、D/E 0.41)</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FY30 末は 3 年成長が 9.4% に落ち、経路 b は下限(9.4 倍)に近い。</a:t>
            </a:r>
            <a:br/>
            <a:r>
              <a:rPr lang="en-US" sz="950" dirty="0">
                <a:solidFill>
                  <a:srgbClr val="333333"/>
                </a:solidFill>
                <a:latin typeface="Meiryo UI" pitchFamily="34" charset="0"/>
                <a:ea typeface="Meiryo UI" pitchFamily="34" charset="-122"/>
                <a:cs typeface="Meiryo UI" pitchFamily="34" charset="-120"/>
              </a:rPr>
              <a:t>容量の伸びが FY30 以降に年 2GW 前後になるため</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第4章 バリュエーション・リスク・投資アクション</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4-2 価値評価(3/3)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197A56"/>
          </a:solidFill>
          <a:ln w="9525">
            <a:solidFill>
              <a:srgbClr val="197A56"/>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価値評価</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前提がずれたとき理論株価がどれだけ動くか(頑健さ)を確かめる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確率加重の理論株価は 245 ドル。弱気の確率を 50% に上げても</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208 ドルで、株価を 49% 上回る</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弱気シナリオの確率と理論株価(強気:ベース = 1:2 を固定)。右: 単独の前提を動かしたときの理論株価(加重)の変化</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需給エンジン第4.5版(calc/out/m10_*.json)</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42</a:t>
            </a:r>
            <a:endParaRPr lang="en-US" sz="800" dirty="0"/>
          </a:p>
        </p:txBody>
      </p:sp>
      <p:graphicFrame>
        <p:nvGraphicFramePr>
          <p:cNvPr id="19" name="chart" descr=""/>
          <p:cNvGraphicFramePr/>
          <p:nvPr/>
        </p:nvGraphicFramePr>
        <p:xfrm>
          <a:off x="457200" y="1508760"/>
          <a:ext cx="5760720" cy="4206240"/>
        </p:xfrm>
        <a:graphic xmlns:a="http://schemas.openxmlformats.org/drawingml/2006/main">
          <a:graphicData uri="http://schemas.openxmlformats.org/drawingml/2006/chart">
            <c:chart xmlns:c="http://schemas.openxmlformats.org/drawingml/2006/chart" r:id="rId1"/>
          </a:graphicData>
        </a:graphic>
      </p:graphicFrame>
      <p:sp>
        <p:nvSpPr>
          <p:cNvPr id="20" name="ovl_price_line"/>
          <p:cNvSpPr/>
          <p:nvPr/>
        </p:nvSpPr>
        <p:spPr>
          <a:xfrm>
            <a:off x="918058" y="3605722"/>
            <a:ext cx="5184648" cy="914"/>
          </a:xfrm>
          <a:prstGeom prst="line">
            <a:avLst/>
          </a:prstGeom>
          <a:noFill/>
          <a:ln w="15875">
            <a:solidFill>
              <a:srgbClr val="C0392B"/>
            </a:solidFill>
            <a:prstDash val="dash"/>
          </a:ln>
        </p:spPr>
      </p:sp>
      <p:sp>
        <p:nvSpPr>
          <p:cNvPr id="21" name="ovl_price_t"/>
          <p:cNvSpPr txBox="1"/>
          <p:nvPr/>
        </p:nvSpPr>
        <p:spPr>
          <a:xfrm>
            <a:off x="4913986" y="3505138"/>
            <a:ext cx="1188720" cy="201168"/>
          </a:xfrm>
          <a:prstGeom prst="rect">
            <a:avLst/>
          </a:prstGeom>
          <a:solidFill>
            <a:srgbClr val="FFFFFF"/>
          </a:solidFill>
          <a:ln w="9525">
            <a:solidFill>
              <a:srgbClr val="C0392B"/>
            </a:solidFill>
          </a:ln>
        </p:spPr>
        <p:txBody>
          <a:bodyPr wrap="square" lIns="0" tIns="0" rIns="0" bIns="0" rtlCol="0" anchor="ctr"/>
          <a:lstStyle/>
          <a:p>
            <a:pPr algn="ctr" indent="0" marL="0">
              <a:buNone/>
            </a:pPr>
            <a:r>
              <a:rPr lang="en-US" sz="900" b="1" dirty="0">
                <a:solidFill>
                  <a:srgbClr val="C0392B"/>
                </a:solidFill>
                <a:latin typeface="Meiryo UI" pitchFamily="34" charset="0"/>
                <a:ea typeface="Meiryo UI" pitchFamily="34" charset="-122"/>
                <a:cs typeface="Meiryo UI" pitchFamily="34" charset="-120"/>
              </a:rPr>
              <a:t>株価 139.56 ドル</a:t>
            </a:r>
            <a:endParaRPr lang="en-US" sz="900" dirty="0"/>
          </a:p>
        </p:txBody>
      </p:sp>
      <p:sp>
        <p:nvSpPr>
          <p:cNvPr id="22" name="note"/>
          <p:cNvSpPr txBox="1"/>
          <p:nvPr/>
        </p:nvSpPr>
        <p:spPr>
          <a:xfrm>
            <a:off x="457200" y="5760720"/>
            <a:ext cx="5760720" cy="365760"/>
          </a:xfrm>
          <a:prstGeom prst="rect">
            <a:avLst/>
          </a:prstGeom>
          <a:noFill/>
          <a:ln/>
        </p:spPr>
        <p:txBody>
          <a:bodyPr wrap="square" lIns="508" tIns="508" rIns="508" bIns="508" rtlCol="0" anchor="t"/>
          <a:lstStyle/>
          <a:p>
            <a:pPr indent="0" marL="0">
              <a:buNone/>
            </a:pPr>
            <a:r>
              <a:rPr lang="en-US" sz="950" dirty="0">
                <a:solidFill>
                  <a:srgbClr val="767676"/>
                </a:solidFill>
                <a:latin typeface="Meiryo UI" pitchFamily="34" charset="0"/>
                <a:ea typeface="Meiryo UI" pitchFamily="34" charset="-122"/>
                <a:cs typeface="Meiryo UI" pitchFamily="34" charset="-120"/>
              </a:rPr>
              <a:t>株価 139.56 ドルに一致する弱気の確率は 77〜96%(定義により異なる)</a:t>
            </a:r>
            <a:endParaRPr lang="en-US" sz="950" dirty="0"/>
          </a:p>
        </p:txBody>
      </p:sp>
      <p:graphicFrame>
        <p:nvGraphicFramePr>
          <p:cNvPr id="43" name="tbl"/>
          <p:cNvGraphicFramePr>
            <a:graphicFrameLocks noGrp="1"/>
          </p:cNvGraphicFramePr>
          <p:nvPr>
            <p:extLst>
              <p:ext uri="{D42A27DB-BD31-4B8C-83A1-F6EECF244321}">
                <p14:modId xmlns:p14="http://schemas.microsoft.com/office/powerpoint/2010/main" val="1579011935"/>
              </p:ext>
            </p:extLst>
          </p:nvPr>
        </p:nvGraphicFramePr>
        <p:xfrm>
          <a:off x="6446520" y="1554480"/>
          <a:ext cx="5285232" cy="914400"/>
        </p:xfrm>
        <a:graphic>
          <a:graphicData uri="http://schemas.openxmlformats.org/drawingml/2006/table">
            <a:tbl>
              <a:tblPr/>
              <a:tblGrid>
                <a:gridCol w="3017520"/>
                <a:gridCol w="1133856"/>
                <a:gridCol w="1133856"/>
              </a:tblGrid>
              <a:tr h="384048">
                <a:tc>
                  <a:txBody>
                    <a:bodyPr/>
                    <a:lstStyle/>
                    <a:p>
                      <a:pPr algn="l" indent="0" marL="0">
                        <a:buNone/>
                      </a:pPr>
                      <a:r>
                        <a:rPr lang="en-US" sz="1000" b="1" dirty="0">
                          <a:solidFill>
                            <a:srgbClr val="FFFFFF"/>
                          </a:solidFill>
                          <a:latin typeface="Meiryo UI" pitchFamily="34" charset="0"/>
                          <a:ea typeface="Meiryo UI" pitchFamily="34" charset="-122"/>
                          <a:cs typeface="Meiryo UI" pitchFamily="34" charset="-120"/>
                        </a:rPr>
                        <a:t>前提(ベース → 変化)</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下側</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上側</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84048">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契約後の更新単価 ±20%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−15.8</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+17.0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84048">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逼迫の終わり −2 / +2 年</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−5.8</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+17.2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84048">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同業 PER 20 / 26 倍</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−11.7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+11.7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84048">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PEG 0.8 / 1.2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−13.6</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+14.1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84048">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EPS −10% / +10%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−16.7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+16.7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84048">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重み FY27 末のみ / 均等</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−12.1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+2.6</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84048">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金利 6% 高止まり / 予測どおり低下</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−10.1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+11.7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4" name="ovl_takeaway_bg"/>
          <p:cNvSpPr/>
          <p:nvPr/>
        </p:nvSpPr>
        <p:spPr>
          <a:xfrm>
            <a:off x="6446520" y="4846320"/>
            <a:ext cx="5285232" cy="914400"/>
          </a:xfrm>
          <a:prstGeom prst="rect">
            <a:avLst/>
          </a:prstGeom>
          <a:solidFill>
            <a:srgbClr val="EAF4EE"/>
          </a:solidFill>
          <a:ln w="12700">
            <a:solidFill>
              <a:srgbClr val="EAF4EE"/>
            </a:solidFill>
            <a:prstDash val="solid"/>
          </a:ln>
        </p:spPr>
      </p:sp>
      <p:sp>
        <p:nvSpPr>
          <p:cNvPr id="25" name="takeaway"/>
          <p:cNvSpPr txBox="1"/>
          <p:nvPr/>
        </p:nvSpPr>
        <p:spPr>
          <a:xfrm>
            <a:off x="6556248" y="4919472"/>
            <a:ext cx="5065776" cy="76809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最も効くのは逼迫の長さ・契約後の更新単価・EPS。</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どれを単独で動かしても理論株価は株価を 63% 以上上回る</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第4章 バリュエーション・リスク・投資アクション</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4-3 最終判断</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197A56"/>
          </a:solidFill>
          <a:ln w="9525">
            <a:solidFill>
              <a:srgbClr val="197A56"/>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最終判断</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構造評価と価格の乖離を合わせ、投資判断とエントリー価格帯を決める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3 経路の乖離は +64〜+76%、株価は価値の分布の 9 パーセンタイル。</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市場との差分が分析で確立したため「買い」、株価は Z1(151 ドル)の下</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構造評価 × 価格乖離の 2 軸マトリクス(valuation-model §4-1)、3 経路の乖離、非対称性、エントリー価格帯(scenario-strategy §6)</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需給エンジン第4.5版(calc/out/m10_*.json)、銘柄分析メソッド</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43</a:t>
            </a:r>
            <a:endParaRPr lang="en-US" sz="800" dirty="0"/>
          </a:p>
        </p:txBody>
      </p:sp>
      <p:sp>
        <p:nvSpPr>
          <p:cNvPr id="19" name="mx_yt"/>
          <p:cNvSpPr txBox="1"/>
          <p:nvPr/>
        </p:nvSpPr>
        <p:spPr>
          <a:xfrm>
            <a:off x="457200" y="1554480"/>
            <a:ext cx="1005840" cy="365760"/>
          </a:xfrm>
          <a:prstGeom prst="rect">
            <a:avLst/>
          </a:prstGeom>
          <a:noFill/>
          <a:ln/>
        </p:spPr>
        <p:txBody>
          <a:bodyPr wrap="square" lIns="0" tIns="0" rIns="0" bIns="0" rtlCol="0" anchor="b"/>
          <a:lstStyle/>
          <a:p>
            <a:pPr indent="0" marL="0">
              <a:buNone/>
            </a:pPr>
            <a:r>
              <a:rPr lang="en-US" sz="900" dirty="0">
                <a:solidFill>
                  <a:srgbClr val="767676"/>
                </a:solidFill>
                <a:latin typeface="Meiryo UI" pitchFamily="34" charset="0"/>
                <a:ea typeface="Meiryo UI" pitchFamily="34" charset="-122"/>
                <a:cs typeface="Meiryo UI" pitchFamily="34" charset="-120"/>
              </a:rPr>
              <a:t>構造評価</a:t>
            </a:r>
            <a:endParaRPr lang="en-US" sz="900" dirty="0"/>
          </a:p>
        </p:txBody>
      </p:sp>
      <p:sp>
        <p:nvSpPr>
          <p:cNvPr id="20" name="mx_x0"/>
          <p:cNvSpPr txBox="1"/>
          <p:nvPr/>
        </p:nvSpPr>
        <p:spPr>
          <a:xfrm>
            <a:off x="1463040" y="1554480"/>
            <a:ext cx="1257300" cy="365760"/>
          </a:xfrm>
          <a:prstGeom prst="rect">
            <a:avLst/>
          </a:prstGeom>
          <a:noFill/>
          <a:ln/>
        </p:spPr>
        <p:txBody>
          <a:bodyPr wrap="square" lIns="0" tIns="0" rIns="0" bIns="0" rtlCol="0" anchor="b"/>
          <a:lstStyle/>
          <a:p>
            <a:pPr algn="ctr" indent="0" marL="0">
              <a:buNone/>
            </a:pPr>
            <a:r>
              <a:rPr lang="en-US" sz="950" b="1" dirty="0">
                <a:solidFill>
                  <a:srgbClr val="0E4D33"/>
                </a:solidFill>
                <a:latin typeface="Meiryo UI" pitchFamily="34" charset="0"/>
                <a:ea typeface="Meiryo UI" pitchFamily="34" charset="-122"/>
                <a:cs typeface="Meiryo UI" pitchFamily="34" charset="-120"/>
              </a:rPr>
              <a:t>+30% 以上</a:t>
            </a:r>
            <a:endParaRPr lang="en-US" sz="950" dirty="0"/>
          </a:p>
        </p:txBody>
      </p:sp>
      <p:sp>
        <p:nvSpPr>
          <p:cNvPr id="21" name="mx_x1"/>
          <p:cNvSpPr txBox="1"/>
          <p:nvPr/>
        </p:nvSpPr>
        <p:spPr>
          <a:xfrm>
            <a:off x="2720340" y="1554480"/>
            <a:ext cx="1257300" cy="365760"/>
          </a:xfrm>
          <a:prstGeom prst="rect">
            <a:avLst/>
          </a:prstGeom>
          <a:noFill/>
          <a:ln/>
        </p:spPr>
        <p:txBody>
          <a:bodyPr wrap="square" lIns="0" tIns="0" rIns="0" bIns="0" rtlCol="0" anchor="b"/>
          <a:lstStyle/>
          <a:p>
            <a:pPr algn="ctr" indent="0" marL="0">
              <a:buNone/>
            </a:pPr>
            <a:r>
              <a:rPr lang="en-US" sz="950" b="1" dirty="0">
                <a:solidFill>
                  <a:srgbClr val="0E4D33"/>
                </a:solidFill>
                <a:latin typeface="Meiryo UI" pitchFamily="34" charset="0"/>
                <a:ea typeface="Meiryo UI" pitchFamily="34" charset="-122"/>
                <a:cs typeface="Meiryo UI" pitchFamily="34" charset="-120"/>
              </a:rPr>
              <a:t>+10〜30%</a:t>
            </a:r>
            <a:endParaRPr lang="en-US" sz="950" dirty="0"/>
          </a:p>
        </p:txBody>
      </p:sp>
      <p:sp>
        <p:nvSpPr>
          <p:cNvPr id="22" name="mx_x2"/>
          <p:cNvSpPr txBox="1"/>
          <p:nvPr/>
        </p:nvSpPr>
        <p:spPr>
          <a:xfrm>
            <a:off x="3977640" y="1554480"/>
            <a:ext cx="1257300" cy="365760"/>
          </a:xfrm>
          <a:prstGeom prst="rect">
            <a:avLst/>
          </a:prstGeom>
          <a:noFill/>
          <a:ln/>
        </p:spPr>
        <p:txBody>
          <a:bodyPr wrap="square" lIns="0" tIns="0" rIns="0" bIns="0" rtlCol="0" anchor="b"/>
          <a:lstStyle/>
          <a:p>
            <a:pPr algn="ctr" indent="0" marL="0">
              <a:buNone/>
            </a:pPr>
            <a:r>
              <a:rPr lang="en-US" sz="950" b="1" dirty="0">
                <a:solidFill>
                  <a:srgbClr val="0E4D33"/>
                </a:solidFill>
                <a:latin typeface="Meiryo UI" pitchFamily="34" charset="0"/>
                <a:ea typeface="Meiryo UI" pitchFamily="34" charset="-122"/>
                <a:cs typeface="Meiryo UI" pitchFamily="34" charset="-120"/>
              </a:rPr>
              <a:t>−10〜+10%</a:t>
            </a:r>
            <a:endParaRPr lang="en-US" sz="950" dirty="0"/>
          </a:p>
        </p:txBody>
      </p:sp>
      <p:sp>
        <p:nvSpPr>
          <p:cNvPr id="23" name="mx_x3"/>
          <p:cNvSpPr txBox="1"/>
          <p:nvPr/>
        </p:nvSpPr>
        <p:spPr>
          <a:xfrm>
            <a:off x="5234940" y="1554480"/>
            <a:ext cx="1257300" cy="365760"/>
          </a:xfrm>
          <a:prstGeom prst="rect">
            <a:avLst/>
          </a:prstGeom>
          <a:noFill/>
          <a:ln/>
        </p:spPr>
        <p:txBody>
          <a:bodyPr wrap="square" lIns="0" tIns="0" rIns="0" bIns="0" rtlCol="0" anchor="b"/>
          <a:lstStyle/>
          <a:p>
            <a:pPr algn="ctr" indent="0" marL="0">
              <a:buNone/>
            </a:pPr>
            <a:r>
              <a:rPr lang="en-US" sz="950" b="1" dirty="0">
                <a:solidFill>
                  <a:srgbClr val="0E4D33"/>
                </a:solidFill>
                <a:latin typeface="Meiryo UI" pitchFamily="34" charset="0"/>
                <a:ea typeface="Meiryo UI" pitchFamily="34" charset="-122"/>
                <a:cs typeface="Meiryo UI" pitchFamily="34" charset="-120"/>
              </a:rPr>
              <a:t>−10% 未満</a:t>
            </a:r>
            <a:endParaRPr lang="en-US" sz="950" dirty="0"/>
          </a:p>
        </p:txBody>
      </p:sp>
      <p:sp>
        <p:nvSpPr>
          <p:cNvPr id="24" name="mx_y0"/>
          <p:cNvSpPr txBox="1"/>
          <p:nvPr/>
        </p:nvSpPr>
        <p:spPr>
          <a:xfrm>
            <a:off x="457200" y="1920240"/>
            <a:ext cx="960120" cy="685800"/>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S・A</a:t>
            </a:r>
            <a:endParaRPr lang="en-US" sz="950" dirty="0"/>
          </a:p>
        </p:txBody>
      </p:sp>
      <p:sp>
        <p:nvSpPr>
          <p:cNvPr id="25" name="ovl_mx0_0"/>
          <p:cNvSpPr/>
          <p:nvPr/>
        </p:nvSpPr>
        <p:spPr>
          <a:xfrm>
            <a:off x="1463040" y="1920240"/>
            <a:ext cx="1220724" cy="649224"/>
          </a:xfrm>
          <a:prstGeom prst="rect">
            <a:avLst/>
          </a:prstGeom>
          <a:solidFill>
            <a:srgbClr val="FFFFFF"/>
          </a:solidFill>
          <a:ln w="9525">
            <a:solidFill>
              <a:srgbClr val="D9D9D9"/>
            </a:solidFill>
            <a:prstDash val="solid"/>
          </a:ln>
        </p:spPr>
      </p:sp>
      <p:sp>
        <p:nvSpPr>
          <p:cNvPr id="26" name="mx_t0_0"/>
          <p:cNvSpPr txBox="1"/>
          <p:nvPr/>
        </p:nvSpPr>
        <p:spPr>
          <a:xfrm>
            <a:off x="1508760" y="19476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買い</a:t>
            </a:r>
            <a:endParaRPr lang="en-US" sz="950" dirty="0"/>
          </a:p>
        </p:txBody>
      </p:sp>
      <p:sp>
        <p:nvSpPr>
          <p:cNvPr id="27" name="ovl_mx1_0"/>
          <p:cNvSpPr/>
          <p:nvPr/>
        </p:nvSpPr>
        <p:spPr>
          <a:xfrm>
            <a:off x="2720340" y="1920240"/>
            <a:ext cx="1220724" cy="649224"/>
          </a:xfrm>
          <a:prstGeom prst="rect">
            <a:avLst/>
          </a:prstGeom>
          <a:solidFill>
            <a:srgbClr val="FFFFFF"/>
          </a:solidFill>
          <a:ln w="9525">
            <a:solidFill>
              <a:srgbClr val="D9D9D9"/>
            </a:solidFill>
            <a:prstDash val="solid"/>
          </a:ln>
        </p:spPr>
      </p:sp>
      <p:sp>
        <p:nvSpPr>
          <p:cNvPr id="28" name="mx_t1_0"/>
          <p:cNvSpPr txBox="1"/>
          <p:nvPr/>
        </p:nvSpPr>
        <p:spPr>
          <a:xfrm>
            <a:off x="2766060" y="19476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買い</a:t>
            </a:r>
            <a:endParaRPr lang="en-US" sz="950" dirty="0"/>
          </a:p>
        </p:txBody>
      </p:sp>
      <p:sp>
        <p:nvSpPr>
          <p:cNvPr id="29" name="ovl_mx2_0"/>
          <p:cNvSpPr/>
          <p:nvPr/>
        </p:nvSpPr>
        <p:spPr>
          <a:xfrm>
            <a:off x="3977640" y="1920240"/>
            <a:ext cx="1220724" cy="649224"/>
          </a:xfrm>
          <a:prstGeom prst="rect">
            <a:avLst/>
          </a:prstGeom>
          <a:solidFill>
            <a:srgbClr val="FFFFFF"/>
          </a:solidFill>
          <a:ln w="9525">
            <a:solidFill>
              <a:srgbClr val="D9D9D9"/>
            </a:solidFill>
            <a:prstDash val="solid"/>
          </a:ln>
        </p:spPr>
      </p:sp>
      <p:sp>
        <p:nvSpPr>
          <p:cNvPr id="30" name="mx_t2_0"/>
          <p:cNvSpPr txBox="1"/>
          <p:nvPr/>
        </p:nvSpPr>
        <p:spPr>
          <a:xfrm>
            <a:off x="4023360" y="19476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買い検討</a:t>
            </a:r>
            <a:endParaRPr lang="en-US" sz="950" dirty="0"/>
          </a:p>
        </p:txBody>
      </p:sp>
      <p:sp>
        <p:nvSpPr>
          <p:cNvPr id="31" name="ovl_mx3_0"/>
          <p:cNvSpPr/>
          <p:nvPr/>
        </p:nvSpPr>
        <p:spPr>
          <a:xfrm>
            <a:off x="5234940" y="1920240"/>
            <a:ext cx="1220724" cy="649224"/>
          </a:xfrm>
          <a:prstGeom prst="rect">
            <a:avLst/>
          </a:prstGeom>
          <a:solidFill>
            <a:srgbClr val="FFFFFF"/>
          </a:solidFill>
          <a:ln w="9525">
            <a:solidFill>
              <a:srgbClr val="D9D9D9"/>
            </a:solidFill>
            <a:prstDash val="solid"/>
          </a:ln>
        </p:spPr>
      </p:sp>
      <p:sp>
        <p:nvSpPr>
          <p:cNvPr id="32" name="mx_t3_0"/>
          <p:cNvSpPr txBox="1"/>
          <p:nvPr/>
        </p:nvSpPr>
        <p:spPr>
          <a:xfrm>
            <a:off x="5280660" y="19476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監視</a:t>
            </a:r>
            <a:endParaRPr lang="en-US" sz="950" dirty="0"/>
          </a:p>
        </p:txBody>
      </p:sp>
      <p:sp>
        <p:nvSpPr>
          <p:cNvPr id="33" name="mx_y1"/>
          <p:cNvSpPr txBox="1"/>
          <p:nvPr/>
        </p:nvSpPr>
        <p:spPr>
          <a:xfrm>
            <a:off x="457200" y="2606040"/>
            <a:ext cx="960120" cy="685800"/>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B</a:t>
            </a:r>
            <a:endParaRPr lang="en-US" sz="950" dirty="0"/>
          </a:p>
        </p:txBody>
      </p:sp>
      <p:sp>
        <p:nvSpPr>
          <p:cNvPr id="34" name="ovl_mx0_1"/>
          <p:cNvSpPr/>
          <p:nvPr/>
        </p:nvSpPr>
        <p:spPr>
          <a:xfrm>
            <a:off x="1463040" y="2606040"/>
            <a:ext cx="1220724" cy="649224"/>
          </a:xfrm>
          <a:prstGeom prst="rect">
            <a:avLst/>
          </a:prstGeom>
          <a:solidFill>
            <a:srgbClr val="197A56"/>
          </a:solidFill>
          <a:ln w="9525">
            <a:solidFill>
              <a:srgbClr val="D9D9D9"/>
            </a:solidFill>
            <a:prstDash val="solid"/>
          </a:ln>
        </p:spPr>
      </p:sp>
      <p:sp>
        <p:nvSpPr>
          <p:cNvPr id="35" name="mx_t0_1"/>
          <p:cNvSpPr txBox="1"/>
          <p:nvPr/>
        </p:nvSpPr>
        <p:spPr>
          <a:xfrm>
            <a:off x="1508760" y="2633472"/>
            <a:ext cx="1129284" cy="59436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買い</a:t>
            </a:r>
            <a:endParaRPr lang="en-US" sz="950" dirty="0"/>
          </a:p>
        </p:txBody>
      </p:sp>
      <p:sp>
        <p:nvSpPr>
          <p:cNvPr id="36" name="ovl_mx1_1"/>
          <p:cNvSpPr/>
          <p:nvPr/>
        </p:nvSpPr>
        <p:spPr>
          <a:xfrm>
            <a:off x="2720340" y="2606040"/>
            <a:ext cx="1220724" cy="649224"/>
          </a:xfrm>
          <a:prstGeom prst="rect">
            <a:avLst/>
          </a:prstGeom>
          <a:solidFill>
            <a:srgbClr val="FFFFFF"/>
          </a:solidFill>
          <a:ln w="9525">
            <a:solidFill>
              <a:srgbClr val="D9D9D9"/>
            </a:solidFill>
            <a:prstDash val="solid"/>
          </a:ln>
        </p:spPr>
      </p:sp>
      <p:sp>
        <p:nvSpPr>
          <p:cNvPr id="37" name="mx_t1_1"/>
          <p:cNvSpPr txBox="1"/>
          <p:nvPr/>
        </p:nvSpPr>
        <p:spPr>
          <a:xfrm>
            <a:off x="2766060" y="26334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買い検討</a:t>
            </a:r>
            <a:endParaRPr lang="en-US" sz="950" dirty="0"/>
          </a:p>
        </p:txBody>
      </p:sp>
      <p:sp>
        <p:nvSpPr>
          <p:cNvPr id="38" name="ovl_mx2_1"/>
          <p:cNvSpPr/>
          <p:nvPr/>
        </p:nvSpPr>
        <p:spPr>
          <a:xfrm>
            <a:off x="3977640" y="2606040"/>
            <a:ext cx="1220724" cy="649224"/>
          </a:xfrm>
          <a:prstGeom prst="rect">
            <a:avLst/>
          </a:prstGeom>
          <a:solidFill>
            <a:srgbClr val="FFFFFF"/>
          </a:solidFill>
          <a:ln w="9525">
            <a:solidFill>
              <a:srgbClr val="D9D9D9"/>
            </a:solidFill>
            <a:prstDash val="solid"/>
          </a:ln>
        </p:spPr>
      </p:sp>
      <p:sp>
        <p:nvSpPr>
          <p:cNvPr id="39" name="mx_t2_1"/>
          <p:cNvSpPr txBox="1"/>
          <p:nvPr/>
        </p:nvSpPr>
        <p:spPr>
          <a:xfrm>
            <a:off x="4023360" y="26334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監視</a:t>
            </a:r>
            <a:endParaRPr lang="en-US" sz="950" dirty="0"/>
          </a:p>
        </p:txBody>
      </p:sp>
      <p:sp>
        <p:nvSpPr>
          <p:cNvPr id="40" name="ovl_mx3_1"/>
          <p:cNvSpPr/>
          <p:nvPr/>
        </p:nvSpPr>
        <p:spPr>
          <a:xfrm>
            <a:off x="5234940" y="2606040"/>
            <a:ext cx="1220724" cy="649224"/>
          </a:xfrm>
          <a:prstGeom prst="rect">
            <a:avLst/>
          </a:prstGeom>
          <a:solidFill>
            <a:srgbClr val="FFFFFF"/>
          </a:solidFill>
          <a:ln w="9525">
            <a:solidFill>
              <a:srgbClr val="D9D9D9"/>
            </a:solidFill>
            <a:prstDash val="solid"/>
          </a:ln>
        </p:spPr>
      </p:sp>
      <p:sp>
        <p:nvSpPr>
          <p:cNvPr id="41" name="mx_t3_1"/>
          <p:cNvSpPr txBox="1"/>
          <p:nvPr/>
        </p:nvSpPr>
        <p:spPr>
          <a:xfrm>
            <a:off x="5280660" y="26334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見送り</a:t>
            </a:r>
            <a:endParaRPr lang="en-US" sz="950" dirty="0"/>
          </a:p>
        </p:txBody>
      </p:sp>
      <p:sp>
        <p:nvSpPr>
          <p:cNvPr id="42" name="mx_y2"/>
          <p:cNvSpPr txBox="1"/>
          <p:nvPr/>
        </p:nvSpPr>
        <p:spPr>
          <a:xfrm>
            <a:off x="457200" y="3291840"/>
            <a:ext cx="960120" cy="685800"/>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C</a:t>
            </a:r>
            <a:endParaRPr lang="en-US" sz="950" dirty="0"/>
          </a:p>
        </p:txBody>
      </p:sp>
      <p:sp>
        <p:nvSpPr>
          <p:cNvPr id="43" name="ovl_mx0_2"/>
          <p:cNvSpPr/>
          <p:nvPr/>
        </p:nvSpPr>
        <p:spPr>
          <a:xfrm>
            <a:off x="1463040" y="3291840"/>
            <a:ext cx="1220724" cy="649224"/>
          </a:xfrm>
          <a:prstGeom prst="rect">
            <a:avLst/>
          </a:prstGeom>
          <a:solidFill>
            <a:srgbClr val="FFFFFF"/>
          </a:solidFill>
          <a:ln w="9525">
            <a:solidFill>
              <a:srgbClr val="D9D9D9"/>
            </a:solidFill>
            <a:prstDash val="solid"/>
          </a:ln>
        </p:spPr>
      </p:sp>
      <p:sp>
        <p:nvSpPr>
          <p:cNvPr id="44" name="mx_t0_2"/>
          <p:cNvSpPr txBox="1"/>
          <p:nvPr/>
        </p:nvSpPr>
        <p:spPr>
          <a:xfrm>
            <a:off x="1508760" y="33192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買い検討</a:t>
            </a:r>
            <a:endParaRPr lang="en-US" sz="950" dirty="0"/>
          </a:p>
        </p:txBody>
      </p:sp>
      <p:sp>
        <p:nvSpPr>
          <p:cNvPr id="45" name="ovl_mx1_2"/>
          <p:cNvSpPr/>
          <p:nvPr/>
        </p:nvSpPr>
        <p:spPr>
          <a:xfrm>
            <a:off x="2720340" y="3291840"/>
            <a:ext cx="1220724" cy="649224"/>
          </a:xfrm>
          <a:prstGeom prst="rect">
            <a:avLst/>
          </a:prstGeom>
          <a:solidFill>
            <a:srgbClr val="FFFFFF"/>
          </a:solidFill>
          <a:ln w="9525">
            <a:solidFill>
              <a:srgbClr val="D9D9D9"/>
            </a:solidFill>
            <a:prstDash val="solid"/>
          </a:ln>
        </p:spPr>
      </p:sp>
      <p:sp>
        <p:nvSpPr>
          <p:cNvPr id="46" name="mx_t1_2"/>
          <p:cNvSpPr txBox="1"/>
          <p:nvPr/>
        </p:nvSpPr>
        <p:spPr>
          <a:xfrm>
            <a:off x="2766060" y="33192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監視</a:t>
            </a:r>
            <a:endParaRPr lang="en-US" sz="950" dirty="0"/>
          </a:p>
        </p:txBody>
      </p:sp>
      <p:sp>
        <p:nvSpPr>
          <p:cNvPr id="47" name="ovl_mx2_2"/>
          <p:cNvSpPr/>
          <p:nvPr/>
        </p:nvSpPr>
        <p:spPr>
          <a:xfrm>
            <a:off x="3977640" y="3291840"/>
            <a:ext cx="1220724" cy="649224"/>
          </a:xfrm>
          <a:prstGeom prst="rect">
            <a:avLst/>
          </a:prstGeom>
          <a:solidFill>
            <a:srgbClr val="FFFFFF"/>
          </a:solidFill>
          <a:ln w="9525">
            <a:solidFill>
              <a:srgbClr val="D9D9D9"/>
            </a:solidFill>
            <a:prstDash val="solid"/>
          </a:ln>
        </p:spPr>
      </p:sp>
      <p:sp>
        <p:nvSpPr>
          <p:cNvPr id="48" name="mx_t2_2"/>
          <p:cNvSpPr txBox="1"/>
          <p:nvPr/>
        </p:nvSpPr>
        <p:spPr>
          <a:xfrm>
            <a:off x="4023360" y="33192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監視</a:t>
            </a:r>
            <a:endParaRPr lang="en-US" sz="950" dirty="0"/>
          </a:p>
        </p:txBody>
      </p:sp>
      <p:sp>
        <p:nvSpPr>
          <p:cNvPr id="49" name="ovl_mx3_2"/>
          <p:cNvSpPr/>
          <p:nvPr/>
        </p:nvSpPr>
        <p:spPr>
          <a:xfrm>
            <a:off x="5234940" y="3291840"/>
            <a:ext cx="1220724" cy="649224"/>
          </a:xfrm>
          <a:prstGeom prst="rect">
            <a:avLst/>
          </a:prstGeom>
          <a:solidFill>
            <a:srgbClr val="FFFFFF"/>
          </a:solidFill>
          <a:ln w="9525">
            <a:solidFill>
              <a:srgbClr val="D9D9D9"/>
            </a:solidFill>
            <a:prstDash val="solid"/>
          </a:ln>
        </p:spPr>
      </p:sp>
      <p:sp>
        <p:nvSpPr>
          <p:cNvPr id="50" name="mx_t3_2"/>
          <p:cNvSpPr txBox="1"/>
          <p:nvPr/>
        </p:nvSpPr>
        <p:spPr>
          <a:xfrm>
            <a:off x="5280660" y="33192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見送り</a:t>
            </a:r>
            <a:endParaRPr lang="en-US" sz="950" dirty="0"/>
          </a:p>
        </p:txBody>
      </p:sp>
      <p:sp>
        <p:nvSpPr>
          <p:cNvPr id="51" name="mx_y3"/>
          <p:cNvSpPr txBox="1"/>
          <p:nvPr/>
        </p:nvSpPr>
        <p:spPr>
          <a:xfrm>
            <a:off x="457200" y="3977640"/>
            <a:ext cx="960120" cy="685800"/>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D 以下</a:t>
            </a:r>
            <a:endParaRPr lang="en-US" sz="950" dirty="0"/>
          </a:p>
        </p:txBody>
      </p:sp>
      <p:sp>
        <p:nvSpPr>
          <p:cNvPr id="52" name="ovl_mx0_3"/>
          <p:cNvSpPr/>
          <p:nvPr/>
        </p:nvSpPr>
        <p:spPr>
          <a:xfrm>
            <a:off x="1463040" y="3977640"/>
            <a:ext cx="1220724" cy="649224"/>
          </a:xfrm>
          <a:prstGeom prst="rect">
            <a:avLst/>
          </a:prstGeom>
          <a:solidFill>
            <a:srgbClr val="FFFFFF"/>
          </a:solidFill>
          <a:ln w="9525">
            <a:solidFill>
              <a:srgbClr val="D9D9D9"/>
            </a:solidFill>
            <a:prstDash val="solid"/>
          </a:ln>
        </p:spPr>
      </p:sp>
      <p:sp>
        <p:nvSpPr>
          <p:cNvPr id="53" name="mx_t0_3"/>
          <p:cNvSpPr txBox="1"/>
          <p:nvPr/>
        </p:nvSpPr>
        <p:spPr>
          <a:xfrm>
            <a:off x="1508760" y="40050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見送り</a:t>
            </a:r>
            <a:endParaRPr lang="en-US" sz="950" dirty="0"/>
          </a:p>
        </p:txBody>
      </p:sp>
      <p:sp>
        <p:nvSpPr>
          <p:cNvPr id="54" name="ovl_mx1_3"/>
          <p:cNvSpPr/>
          <p:nvPr/>
        </p:nvSpPr>
        <p:spPr>
          <a:xfrm>
            <a:off x="2720340" y="3977640"/>
            <a:ext cx="1220724" cy="649224"/>
          </a:xfrm>
          <a:prstGeom prst="rect">
            <a:avLst/>
          </a:prstGeom>
          <a:solidFill>
            <a:srgbClr val="FFFFFF"/>
          </a:solidFill>
          <a:ln w="9525">
            <a:solidFill>
              <a:srgbClr val="D9D9D9"/>
            </a:solidFill>
            <a:prstDash val="solid"/>
          </a:ln>
        </p:spPr>
      </p:sp>
      <p:sp>
        <p:nvSpPr>
          <p:cNvPr id="55" name="mx_t1_3"/>
          <p:cNvSpPr txBox="1"/>
          <p:nvPr/>
        </p:nvSpPr>
        <p:spPr>
          <a:xfrm>
            <a:off x="2766060" y="40050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見送り</a:t>
            </a:r>
            <a:endParaRPr lang="en-US" sz="950" dirty="0"/>
          </a:p>
        </p:txBody>
      </p:sp>
      <p:sp>
        <p:nvSpPr>
          <p:cNvPr id="56" name="ovl_mx2_3"/>
          <p:cNvSpPr/>
          <p:nvPr/>
        </p:nvSpPr>
        <p:spPr>
          <a:xfrm>
            <a:off x="3977640" y="3977640"/>
            <a:ext cx="1220724" cy="649224"/>
          </a:xfrm>
          <a:prstGeom prst="rect">
            <a:avLst/>
          </a:prstGeom>
          <a:solidFill>
            <a:srgbClr val="FFFFFF"/>
          </a:solidFill>
          <a:ln w="9525">
            <a:solidFill>
              <a:srgbClr val="D9D9D9"/>
            </a:solidFill>
            <a:prstDash val="solid"/>
          </a:ln>
        </p:spPr>
      </p:sp>
      <p:sp>
        <p:nvSpPr>
          <p:cNvPr id="57" name="mx_t2_3"/>
          <p:cNvSpPr txBox="1"/>
          <p:nvPr/>
        </p:nvSpPr>
        <p:spPr>
          <a:xfrm>
            <a:off x="4023360" y="40050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見送り</a:t>
            </a:r>
            <a:endParaRPr lang="en-US" sz="950" dirty="0"/>
          </a:p>
        </p:txBody>
      </p:sp>
      <p:sp>
        <p:nvSpPr>
          <p:cNvPr id="58" name="ovl_mx3_3"/>
          <p:cNvSpPr/>
          <p:nvPr/>
        </p:nvSpPr>
        <p:spPr>
          <a:xfrm>
            <a:off x="5234940" y="3977640"/>
            <a:ext cx="1220724" cy="649224"/>
          </a:xfrm>
          <a:prstGeom prst="rect">
            <a:avLst/>
          </a:prstGeom>
          <a:solidFill>
            <a:srgbClr val="FFFFFF"/>
          </a:solidFill>
          <a:ln w="9525">
            <a:solidFill>
              <a:srgbClr val="D9D9D9"/>
            </a:solidFill>
            <a:prstDash val="solid"/>
          </a:ln>
        </p:spPr>
      </p:sp>
      <p:sp>
        <p:nvSpPr>
          <p:cNvPr id="59" name="mx_t3_3"/>
          <p:cNvSpPr txBox="1"/>
          <p:nvPr/>
        </p:nvSpPr>
        <p:spPr>
          <a:xfrm>
            <a:off x="5280660" y="40050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見送り</a:t>
            </a:r>
            <a:endParaRPr lang="en-US" sz="950" dirty="0"/>
          </a:p>
        </p:txBody>
      </p:sp>
      <p:sp>
        <p:nvSpPr>
          <p:cNvPr id="60" name="mx_xt"/>
          <p:cNvSpPr txBox="1"/>
          <p:nvPr/>
        </p:nvSpPr>
        <p:spPr>
          <a:xfrm>
            <a:off x="1463040" y="4681728"/>
            <a:ext cx="5029200" cy="237744"/>
          </a:xfrm>
          <a:prstGeom prst="rect">
            <a:avLst/>
          </a:prstGeom>
          <a:noFill/>
          <a:ln/>
        </p:spPr>
        <p:txBody>
          <a:bodyPr wrap="square" lIns="0" tIns="0" rIns="0" bIns="0" rtlCol="0" anchor="t"/>
          <a:lstStyle/>
          <a:p>
            <a:pPr algn="ctr" indent="0" marL="0">
              <a:buNone/>
            </a:pPr>
            <a:r>
              <a:rPr lang="en-US" sz="900" dirty="0">
                <a:solidFill>
                  <a:srgbClr val="767676"/>
                </a:solidFill>
                <a:latin typeface="Meiryo UI" pitchFamily="34" charset="0"/>
                <a:ea typeface="Meiryo UI" pitchFamily="34" charset="-122"/>
                <a:cs typeface="Meiryo UI" pitchFamily="34" charset="-120"/>
              </a:rPr>
              <a:t>価格乖離(採用経路の理論株価 ÷ 株価 − 1)</a:t>
            </a:r>
            <a:endParaRPr lang="en-US" sz="900" dirty="0"/>
          </a:p>
        </p:txBody>
      </p:sp>
      <p:sp>
        <p:nvSpPr>
          <p:cNvPr id="61" name="ovl_takeaway_bg"/>
          <p:cNvSpPr/>
          <p:nvPr/>
        </p:nvSpPr>
        <p:spPr>
          <a:xfrm>
            <a:off x="457200" y="5010912"/>
            <a:ext cx="6035040" cy="731520"/>
          </a:xfrm>
          <a:prstGeom prst="rect">
            <a:avLst/>
          </a:prstGeom>
          <a:solidFill>
            <a:srgbClr val="EAF4EE"/>
          </a:solidFill>
          <a:ln w="12700">
            <a:solidFill>
              <a:srgbClr val="EAF4EE"/>
            </a:solidFill>
            <a:prstDash val="solid"/>
          </a:ln>
        </p:spPr>
      </p:sp>
      <p:sp>
        <p:nvSpPr>
          <p:cNvPr id="62" name="takeaway"/>
          <p:cNvSpPr txBox="1"/>
          <p:nvPr/>
        </p:nvSpPr>
        <p:spPr>
          <a:xfrm>
            <a:off x="566928" y="5084064"/>
            <a:ext cx="5815584" cy="58521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構造 B × 乖離 +64〜+76% で「買い」。株価は価値の分布の 9 パーセンタイルで、</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市場との差分(信用リスクの過大評価)が分析で確立した</a:t>
            </a:r>
            <a:endParaRPr lang="en-US" sz="1100" dirty="0"/>
          </a:p>
        </p:txBody>
      </p:sp>
      <p:graphicFrame>
        <p:nvGraphicFramePr>
          <p:cNvPr id="44" name="tbl"/>
          <p:cNvGraphicFramePr>
            <a:graphicFrameLocks noGrp="1"/>
          </p:cNvGraphicFramePr>
          <p:nvPr>
            <p:extLst>
              <p:ext uri="{D42A27DB-BD31-4B8C-83A1-F6EECF244321}">
                <p14:modId xmlns:p14="http://schemas.microsoft.com/office/powerpoint/2010/main" val="1579011935"/>
              </p:ext>
            </p:extLst>
          </p:nvPr>
        </p:nvGraphicFramePr>
        <p:xfrm>
          <a:off x="6720840" y="1554480"/>
          <a:ext cx="5010912" cy="914400"/>
        </p:xfrm>
        <a:graphic>
          <a:graphicData uri="http://schemas.openxmlformats.org/drawingml/2006/table">
            <a:tbl>
              <a:tblPr/>
              <a:tblGrid>
                <a:gridCol w="2194560"/>
                <a:gridCol w="1371600"/>
                <a:gridCol w="1444752"/>
              </a:tblGrid>
              <a:tr h="310896">
                <a:tc>
                  <a:txBody>
                    <a:bodyPr/>
                    <a:lstStyle/>
                    <a:p>
                      <a:pPr algn="l" indent="0" marL="0">
                        <a:buNone/>
                      </a:pPr>
                      <a:r>
                        <a:rPr lang="en-US" sz="1000" b="1" dirty="0">
                          <a:solidFill>
                            <a:srgbClr val="FFFFFF"/>
                          </a:solidFill>
                          <a:latin typeface="Meiryo UI" pitchFamily="34" charset="0"/>
                          <a:ea typeface="Meiryo UI" pitchFamily="34" charset="-122"/>
                          <a:cs typeface="Meiryo UI" pitchFamily="34" charset="-120"/>
                        </a:rPr>
                        <a:t>経路</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理論株価</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乖離</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10896">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会社(採用)</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245</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+76%</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コンセンサス</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238</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+71%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需給エンジン</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234</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+68%</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DCF(照合)</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229</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+64%</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graphicFrame>
        <p:nvGraphicFramePr>
          <p:cNvPr id="87" name="tbl"/>
          <p:cNvGraphicFramePr>
            <a:graphicFrameLocks noGrp="1"/>
          </p:cNvGraphicFramePr>
          <p:nvPr>
            <p:extLst>
              <p:ext uri="{D42A27DB-BD31-4B8C-83A1-F6EECF244321}">
                <p14:modId xmlns:p14="http://schemas.microsoft.com/office/powerpoint/2010/main" val="1579011935"/>
              </p:ext>
            </p:extLst>
          </p:nvPr>
        </p:nvGraphicFramePr>
        <p:xfrm>
          <a:off x="6720840" y="3291840"/>
          <a:ext cx="5010912" cy="914400"/>
        </p:xfrm>
        <a:graphic>
          <a:graphicData uri="http://schemas.openxmlformats.org/drawingml/2006/table">
            <a:tbl>
              <a:tblPr/>
              <a:tblGrid>
                <a:gridCol w="2194560"/>
                <a:gridCol w="1371600"/>
                <a:gridCol w="1444752"/>
              </a:tblGrid>
              <a:tr h="310896">
                <a:tc>
                  <a:txBody>
                    <a:bodyPr/>
                    <a:lstStyle/>
                    <a:p>
                      <a:pPr algn="l" indent="0" marL="0">
                        <a:buNone/>
                      </a:pPr>
                      <a:r>
                        <a:rPr lang="en-US" sz="1000" b="1" dirty="0">
                          <a:solidFill>
                            <a:srgbClr val="FFFFFF"/>
                          </a:solidFill>
                          <a:latin typeface="Meiryo UI" pitchFamily="34" charset="0"/>
                          <a:ea typeface="Meiryo UI" pitchFamily="34" charset="-122"/>
                          <a:cs typeface="Meiryo UI" pitchFamily="34" charset="-120"/>
                        </a:rPr>
                        <a:t>非対称性</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理論株価</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DCF</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10896">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下値(弱気)</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134(−4%)</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100(−28%)</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上値(強気)</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354(+154%)</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384(+175%)</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65" name="dist"/>
          <p:cNvSpPr txBox="1"/>
          <p:nvPr/>
        </p:nvSpPr>
        <p:spPr>
          <a:xfrm>
            <a:off x="6720840" y="4261104"/>
            <a:ext cx="5010912" cy="237744"/>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分布: 5% 125(−11%)・中央 217(+55%)・95% 340(+144%)</a:t>
            </a:r>
            <a:endParaRPr lang="en-US" sz="950" dirty="0"/>
          </a:p>
        </p:txBody>
      </p:sp>
      <p:sp>
        <p:nvSpPr>
          <p:cNvPr id="66" name="bullets"/>
          <p:cNvSpPr txBox="1"/>
          <p:nvPr/>
        </p:nvSpPr>
        <p:spPr>
          <a:xfrm>
            <a:off x="6720840" y="4553712"/>
            <a:ext cx="5010912" cy="1325880"/>
          </a:xfrm>
          <a:prstGeom prst="rect">
            <a:avLst/>
          </a:prstGeom>
          <a:noFill/>
          <a:ln/>
        </p:spPr>
        <p:txBody>
          <a:bodyPr wrap="square" lIns="508" tIns="508" rIns="508" bIns="508" rtlCol="0" anchor="t"/>
          <a:lstStyle/>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α 25%(構造 B の上端。残る争点は OpenAI 集中と格付けの閾値)</a:t>
            </a:r>
            <a:endParaRPr lang="en-US" sz="1000" dirty="0"/>
          </a:p>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即エントリー上限 Z1 = min(246×0.75, 134×1.125)= 151</a:t>
            </a:r>
            <a:endParaRPr lang="en-US" sz="1000" dirty="0"/>
          </a:p>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分割エントリー上限 Z2 = 246×0.875 = 216 → 株価 139.56 は Z1 を下回る</a:t>
            </a:r>
            <a:endParaRPr lang="en-US" sz="1000" dirty="0"/>
          </a:p>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株価は Z1(151 ドル)を下回る即エントリー圏。いま 2/3、残りは FY28 下期〜FY29 に</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第4章 バリュエーション・リスク・投資アクション</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4-4 リスク</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197A56"/>
          </a:solidFill>
          <a:ln w="9525">
            <a:solidFill>
              <a:srgbClr val="197A56"/>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144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144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リスク</a:t>
            </a:r>
            <a:endParaRPr lang="en-US" sz="1000" dirty="0"/>
          </a:p>
        </p:txBody>
      </p:sp>
      <p:sp>
        <p:nvSpPr>
          <p:cNvPr id="14" name="hdr_why"/>
          <p:cNvSpPr txBox="1"/>
          <p:nvPr/>
        </p:nvSpPr>
        <p:spPr>
          <a:xfrm>
            <a:off x="1747774" y="356616"/>
            <a:ext cx="9986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判断を覆しうる事象と、その兆候を先に決めておく</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最大のリスクは OpenAI の支払能力と契約後の再契約の単価。建設の遅れは</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価値でなく FY29 FCF の約束と格付けの閾値(一時 BB+ 40%)に効く</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発生確率 × 影響(本体評価に組み込んだリスクとテールリスク)。右: 兆候とトリガー</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report/ORCL_report.md §12-2(テールリスクの確率は 3 年)、本資料 第3章の監視 KPI</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44</a:t>
            </a:r>
            <a:endParaRPr lang="en-US" sz="800" dirty="0"/>
          </a:p>
        </p:txBody>
      </p:sp>
      <p:sp>
        <p:nvSpPr>
          <p:cNvPr id="19" name="mx_yt"/>
          <p:cNvSpPr txBox="1"/>
          <p:nvPr/>
        </p:nvSpPr>
        <p:spPr>
          <a:xfrm>
            <a:off x="457200" y="1554480"/>
            <a:ext cx="1005840" cy="365760"/>
          </a:xfrm>
          <a:prstGeom prst="rect">
            <a:avLst/>
          </a:prstGeom>
          <a:noFill/>
          <a:ln/>
        </p:spPr>
        <p:txBody>
          <a:bodyPr wrap="square" lIns="0" tIns="0" rIns="0" bIns="0" rtlCol="0" anchor="b"/>
          <a:lstStyle/>
          <a:p>
            <a:pPr indent="0" marL="0">
              <a:buNone/>
            </a:pPr>
            <a:r>
              <a:rPr lang="en-US" sz="900" dirty="0">
                <a:solidFill>
                  <a:srgbClr val="767676"/>
                </a:solidFill>
                <a:latin typeface="Meiryo UI" pitchFamily="34" charset="0"/>
                <a:ea typeface="Meiryo UI" pitchFamily="34" charset="-122"/>
                <a:cs typeface="Meiryo UI" pitchFamily="34" charset="-120"/>
              </a:rPr>
              <a:t>発生確率</a:t>
            </a:r>
            <a:endParaRPr lang="en-US" sz="900" dirty="0"/>
          </a:p>
        </p:txBody>
      </p:sp>
      <p:sp>
        <p:nvSpPr>
          <p:cNvPr id="20" name="mx_x0"/>
          <p:cNvSpPr txBox="1"/>
          <p:nvPr/>
        </p:nvSpPr>
        <p:spPr>
          <a:xfrm>
            <a:off x="1463040" y="1554480"/>
            <a:ext cx="1615440" cy="365760"/>
          </a:xfrm>
          <a:prstGeom prst="rect">
            <a:avLst/>
          </a:prstGeom>
          <a:noFill/>
          <a:ln/>
        </p:spPr>
        <p:txBody>
          <a:bodyPr wrap="square" lIns="0" tIns="0" rIns="0" bIns="0" rtlCol="0" anchor="b"/>
          <a:lstStyle/>
          <a:p>
            <a:pPr algn="ctr" indent="0" marL="0">
              <a:buNone/>
            </a:pPr>
            <a:r>
              <a:rPr lang="en-US" sz="950" b="1" dirty="0">
                <a:solidFill>
                  <a:srgbClr val="0E4D33"/>
                </a:solidFill>
                <a:latin typeface="Meiryo UI" pitchFamily="34" charset="0"/>
                <a:ea typeface="Meiryo UI" pitchFamily="34" charset="-122"/>
                <a:cs typeface="Meiryo UI" pitchFamily="34" charset="-120"/>
              </a:rPr>
              <a:t>影響 中</a:t>
            </a:r>
            <a:endParaRPr lang="en-US" sz="950" dirty="0"/>
          </a:p>
        </p:txBody>
      </p:sp>
      <p:sp>
        <p:nvSpPr>
          <p:cNvPr id="21" name="mx_x1"/>
          <p:cNvSpPr txBox="1"/>
          <p:nvPr/>
        </p:nvSpPr>
        <p:spPr>
          <a:xfrm>
            <a:off x="3078480" y="1554480"/>
            <a:ext cx="1615440" cy="365760"/>
          </a:xfrm>
          <a:prstGeom prst="rect">
            <a:avLst/>
          </a:prstGeom>
          <a:noFill/>
          <a:ln/>
        </p:spPr>
        <p:txBody>
          <a:bodyPr wrap="square" lIns="0" tIns="0" rIns="0" bIns="0" rtlCol="0" anchor="b"/>
          <a:lstStyle/>
          <a:p>
            <a:pPr algn="ctr" indent="0" marL="0">
              <a:buNone/>
            </a:pPr>
            <a:r>
              <a:rPr lang="en-US" sz="950" b="1" dirty="0">
                <a:solidFill>
                  <a:srgbClr val="0E4D33"/>
                </a:solidFill>
                <a:latin typeface="Meiryo UI" pitchFamily="34" charset="0"/>
                <a:ea typeface="Meiryo UI" pitchFamily="34" charset="-122"/>
                <a:cs typeface="Meiryo UI" pitchFamily="34" charset="-120"/>
              </a:rPr>
              <a:t>影響 大</a:t>
            </a:r>
            <a:endParaRPr lang="en-US" sz="950" dirty="0"/>
          </a:p>
        </p:txBody>
      </p:sp>
      <p:sp>
        <p:nvSpPr>
          <p:cNvPr id="22" name="mx_x2"/>
          <p:cNvSpPr txBox="1"/>
          <p:nvPr/>
        </p:nvSpPr>
        <p:spPr>
          <a:xfrm>
            <a:off x="4693920" y="1554480"/>
            <a:ext cx="1615440" cy="365760"/>
          </a:xfrm>
          <a:prstGeom prst="rect">
            <a:avLst/>
          </a:prstGeom>
          <a:noFill/>
          <a:ln/>
        </p:spPr>
        <p:txBody>
          <a:bodyPr wrap="square" lIns="0" tIns="0" rIns="0" bIns="0" rtlCol="0" anchor="b"/>
          <a:lstStyle/>
          <a:p>
            <a:pPr algn="ctr" indent="0" marL="0">
              <a:buNone/>
            </a:pPr>
            <a:r>
              <a:rPr lang="en-US" sz="950" b="1" dirty="0">
                <a:solidFill>
                  <a:srgbClr val="0E4D33"/>
                </a:solidFill>
                <a:latin typeface="Meiryo UI" pitchFamily="34" charset="0"/>
                <a:ea typeface="Meiryo UI" pitchFamily="34" charset="-122"/>
                <a:cs typeface="Meiryo UI" pitchFamily="34" charset="-120"/>
              </a:rPr>
              <a:t>影響 極大</a:t>
            </a:r>
            <a:endParaRPr lang="en-US" sz="950" dirty="0"/>
          </a:p>
        </p:txBody>
      </p:sp>
      <p:sp>
        <p:nvSpPr>
          <p:cNvPr id="23" name="mx_y0"/>
          <p:cNvSpPr txBox="1"/>
          <p:nvPr/>
        </p:nvSpPr>
        <p:spPr>
          <a:xfrm>
            <a:off x="457200" y="1920240"/>
            <a:ext cx="960120" cy="1463040"/>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確率 中</a:t>
            </a:r>
            <a:endParaRPr lang="en-US" sz="950" dirty="0"/>
          </a:p>
          <a:p>
            <a:pPr indent="0" marL="0">
              <a:buNone/>
            </a:pPr>
            <a:r>
              <a:rPr lang="en-US" sz="950" b="1" dirty="0">
                <a:solidFill>
                  <a:srgbClr val="0E4D33"/>
                </a:solidFill>
                <a:latin typeface="Meiryo UI" pitchFamily="34" charset="0"/>
                <a:ea typeface="Meiryo UI" pitchFamily="34" charset="-122"/>
                <a:cs typeface="Meiryo UI" pitchFamily="34" charset="-120"/>
              </a:rPr>
              <a:t>(本体に</a:t>
            </a:r>
            <a:endParaRPr lang="en-US" sz="950" dirty="0"/>
          </a:p>
          <a:p>
            <a:pPr indent="0" marL="0">
              <a:buNone/>
            </a:pPr>
            <a:r>
              <a:rPr lang="en-US" sz="950" b="1" dirty="0">
                <a:solidFill>
                  <a:srgbClr val="0E4D33"/>
                </a:solidFill>
                <a:latin typeface="Meiryo UI" pitchFamily="34" charset="0"/>
                <a:ea typeface="Meiryo UI" pitchFamily="34" charset="-122"/>
                <a:cs typeface="Meiryo UI" pitchFamily="34" charset="-120"/>
              </a:rPr>
              <a:t>組込み)</a:t>
            </a:r>
            <a:endParaRPr lang="en-US" sz="950" dirty="0"/>
          </a:p>
        </p:txBody>
      </p:sp>
      <p:sp>
        <p:nvSpPr>
          <p:cNvPr id="24" name="ovl_mx0_0"/>
          <p:cNvSpPr/>
          <p:nvPr/>
        </p:nvSpPr>
        <p:spPr>
          <a:xfrm>
            <a:off x="1463040" y="1920240"/>
            <a:ext cx="1578864" cy="1426464"/>
          </a:xfrm>
          <a:prstGeom prst="rect">
            <a:avLst/>
          </a:prstGeom>
          <a:solidFill>
            <a:srgbClr val="FFFFFF"/>
          </a:solidFill>
          <a:ln w="9525">
            <a:solidFill>
              <a:srgbClr val="D9D9D9"/>
            </a:solidFill>
            <a:prstDash val="solid"/>
          </a:ln>
        </p:spPr>
      </p:sp>
      <p:sp>
        <p:nvSpPr>
          <p:cNvPr id="25" name="mx_t0_0"/>
          <p:cNvSpPr txBox="1"/>
          <p:nvPr/>
        </p:nvSpPr>
        <p:spPr>
          <a:xfrm>
            <a:off x="1508760" y="1947672"/>
            <a:ext cx="1487424" cy="137160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FY29 の格下げ・</a:t>
            </a:r>
            <a:endParaRPr lang="en-US" sz="950" dirty="0"/>
          </a:p>
          <a:p>
            <a:pPr algn="ctr" indent="0" marL="0">
              <a:buNone/>
            </a:pPr>
            <a:r>
              <a:rPr lang="en-US" sz="950" dirty="0">
                <a:solidFill>
                  <a:srgbClr val="333333"/>
                </a:solidFill>
                <a:latin typeface="Meiryo UI" pitchFamily="34" charset="0"/>
                <a:ea typeface="Meiryo UI" pitchFamily="34" charset="-122"/>
                <a:cs typeface="Meiryo UI" pitchFamily="34" charset="-120"/>
              </a:rPr>
              <a:t>資金調達と希薄化・</a:t>
            </a:r>
            <a:endParaRPr lang="en-US" sz="950" dirty="0"/>
          </a:p>
          <a:p>
            <a:pPr algn="ctr" indent="0" marL="0">
              <a:buNone/>
            </a:pPr>
            <a:r>
              <a:rPr lang="en-US" sz="950" dirty="0">
                <a:solidFill>
                  <a:srgbClr val="333333"/>
                </a:solidFill>
                <a:latin typeface="Meiryo UI" pitchFamily="34" charset="0"/>
                <a:ea typeface="Meiryo UI" pitchFamily="34" charset="-122"/>
                <a:cs typeface="Meiryo UI" pitchFamily="34" charset="-120"/>
              </a:rPr>
              <a:t>建設の遅れ(時期のずれ。</a:t>
            </a:r>
            <a:endParaRPr lang="en-US" sz="950" dirty="0"/>
          </a:p>
          <a:p>
            <a:pPr algn="ctr" indent="0" marL="0">
              <a:buNone/>
            </a:pPr>
            <a:r>
              <a:rPr lang="en-US" sz="950" dirty="0">
                <a:solidFill>
                  <a:srgbClr val="333333"/>
                </a:solidFill>
                <a:latin typeface="Meiryo UI" pitchFamily="34" charset="0"/>
                <a:ea typeface="Meiryo UI" pitchFamily="34" charset="-122"/>
                <a:cs typeface="Meiryo UI" pitchFamily="34" charset="-120"/>
              </a:rPr>
              <a:t>格付けの判定に効く)</a:t>
            </a:r>
            <a:endParaRPr lang="en-US" sz="950" dirty="0"/>
          </a:p>
        </p:txBody>
      </p:sp>
      <p:sp>
        <p:nvSpPr>
          <p:cNvPr id="26" name="ovl_mx1_0"/>
          <p:cNvSpPr/>
          <p:nvPr/>
        </p:nvSpPr>
        <p:spPr>
          <a:xfrm>
            <a:off x="3078480" y="1920240"/>
            <a:ext cx="1578864" cy="1426464"/>
          </a:xfrm>
          <a:prstGeom prst="rect">
            <a:avLst/>
          </a:prstGeom>
          <a:solidFill>
            <a:srgbClr val="197A56"/>
          </a:solidFill>
          <a:ln w="9525">
            <a:solidFill>
              <a:srgbClr val="D9D9D9"/>
            </a:solidFill>
            <a:prstDash val="solid"/>
          </a:ln>
        </p:spPr>
      </p:sp>
      <p:sp>
        <p:nvSpPr>
          <p:cNvPr id="27" name="mx_t1_0"/>
          <p:cNvSpPr txBox="1"/>
          <p:nvPr/>
        </p:nvSpPr>
        <p:spPr>
          <a:xfrm>
            <a:off x="3124200" y="1947672"/>
            <a:ext cx="1487424" cy="137160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OpenAI の支払能力・GPU の陳腐化と単価下落</a:t>
            </a:r>
            <a:endParaRPr lang="en-US" sz="950" dirty="0"/>
          </a:p>
        </p:txBody>
      </p:sp>
      <p:sp>
        <p:nvSpPr>
          <p:cNvPr id="28" name="ovl_mx2_0"/>
          <p:cNvSpPr/>
          <p:nvPr/>
        </p:nvSpPr>
        <p:spPr>
          <a:xfrm>
            <a:off x="4693920" y="1920240"/>
            <a:ext cx="1578864" cy="1426464"/>
          </a:xfrm>
          <a:prstGeom prst="rect">
            <a:avLst/>
          </a:prstGeom>
          <a:solidFill>
            <a:srgbClr val="FFFFFF"/>
          </a:solidFill>
          <a:ln w="9525">
            <a:solidFill>
              <a:srgbClr val="D9D9D9"/>
            </a:solidFill>
            <a:prstDash val="solid"/>
          </a:ln>
        </p:spPr>
      </p:sp>
      <p:sp>
        <p:nvSpPr>
          <p:cNvPr id="29" name="mx_t2_0"/>
          <p:cNvSpPr txBox="1"/>
          <p:nvPr/>
        </p:nvSpPr>
        <p:spPr>
          <a:xfrm>
            <a:off x="4739640" y="1947672"/>
            <a:ext cx="1487424" cy="137160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a:t>
            </a:r>
            <a:endParaRPr lang="en-US" sz="950" dirty="0"/>
          </a:p>
        </p:txBody>
      </p:sp>
      <p:sp>
        <p:nvSpPr>
          <p:cNvPr id="30" name="mx_y1"/>
          <p:cNvSpPr txBox="1"/>
          <p:nvPr/>
        </p:nvSpPr>
        <p:spPr>
          <a:xfrm>
            <a:off x="457200" y="3383280"/>
            <a:ext cx="960120" cy="1463040"/>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確率 低</a:t>
            </a:r>
            <a:endParaRPr lang="en-US" sz="950" dirty="0"/>
          </a:p>
          <a:p>
            <a:pPr indent="0" marL="0">
              <a:buNone/>
            </a:pPr>
            <a:r>
              <a:rPr lang="en-US" sz="950" b="1" dirty="0">
                <a:solidFill>
                  <a:srgbClr val="0E4D33"/>
                </a:solidFill>
                <a:latin typeface="Meiryo UI" pitchFamily="34" charset="0"/>
                <a:ea typeface="Meiryo UI" pitchFamily="34" charset="-122"/>
                <a:cs typeface="Meiryo UI" pitchFamily="34" charset="-120"/>
              </a:rPr>
              <a:t>(テール 3 年で</a:t>
            </a:r>
            <a:endParaRPr lang="en-US" sz="950" dirty="0"/>
          </a:p>
          <a:p>
            <a:pPr indent="0" marL="0">
              <a:buNone/>
            </a:pPr>
            <a:r>
              <a:rPr lang="en-US" sz="950" b="1" dirty="0">
                <a:solidFill>
                  <a:srgbClr val="0E4D33"/>
                </a:solidFill>
                <a:latin typeface="Meiryo UI" pitchFamily="34" charset="0"/>
                <a:ea typeface="Meiryo UI" pitchFamily="34" charset="-122"/>
                <a:cs typeface="Meiryo UI" pitchFamily="34" charset="-120"/>
              </a:rPr>
              <a:t>5〜10%)</a:t>
            </a:r>
            <a:endParaRPr lang="en-US" sz="950" dirty="0"/>
          </a:p>
        </p:txBody>
      </p:sp>
      <p:sp>
        <p:nvSpPr>
          <p:cNvPr id="31" name="ovl_mx0_1"/>
          <p:cNvSpPr/>
          <p:nvPr/>
        </p:nvSpPr>
        <p:spPr>
          <a:xfrm>
            <a:off x="1463040" y="3383280"/>
            <a:ext cx="1578864" cy="1426464"/>
          </a:xfrm>
          <a:prstGeom prst="rect">
            <a:avLst/>
          </a:prstGeom>
          <a:solidFill>
            <a:srgbClr val="FFFFFF"/>
          </a:solidFill>
          <a:ln w="9525">
            <a:solidFill>
              <a:srgbClr val="D9D9D9"/>
            </a:solidFill>
            <a:prstDash val="solid"/>
          </a:ln>
        </p:spPr>
      </p:sp>
      <p:sp>
        <p:nvSpPr>
          <p:cNvPr id="32" name="mx_t0_1"/>
          <p:cNvSpPr txBox="1"/>
          <p:nvPr/>
        </p:nvSpPr>
        <p:spPr>
          <a:xfrm>
            <a:off x="1508760" y="3410712"/>
            <a:ext cx="1487424" cy="137160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キーパーソン(5%)</a:t>
            </a:r>
            <a:endParaRPr lang="en-US" sz="950" dirty="0"/>
          </a:p>
        </p:txBody>
      </p:sp>
      <p:sp>
        <p:nvSpPr>
          <p:cNvPr id="33" name="ovl_mx1_1"/>
          <p:cNvSpPr/>
          <p:nvPr/>
        </p:nvSpPr>
        <p:spPr>
          <a:xfrm>
            <a:off x="3078480" y="3383280"/>
            <a:ext cx="1578864" cy="1426464"/>
          </a:xfrm>
          <a:prstGeom prst="rect">
            <a:avLst/>
          </a:prstGeom>
          <a:solidFill>
            <a:srgbClr val="FFFFFF"/>
          </a:solidFill>
          <a:ln w="9525">
            <a:solidFill>
              <a:srgbClr val="D9D9D9"/>
            </a:solidFill>
            <a:prstDash val="solid"/>
          </a:ln>
        </p:spPr>
      </p:sp>
      <p:sp>
        <p:nvSpPr>
          <p:cNvPr id="34" name="mx_t1_1"/>
          <p:cNvSpPr txBox="1"/>
          <p:nvPr/>
        </p:nvSpPr>
        <p:spPr>
          <a:xfrm>
            <a:off x="3124200" y="3410712"/>
            <a:ext cx="1487424" cy="137160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電力規制(5〜10%)・</a:t>
            </a:r>
            <a:endParaRPr lang="en-US" sz="950" dirty="0"/>
          </a:p>
          <a:p>
            <a:pPr algn="ctr" indent="0" marL="0">
              <a:buNone/>
            </a:pPr>
            <a:r>
              <a:rPr lang="en-US" sz="950" dirty="0">
                <a:solidFill>
                  <a:srgbClr val="333333"/>
                </a:solidFill>
                <a:latin typeface="Meiryo UI" pitchFamily="34" charset="0"/>
                <a:ea typeface="Meiryo UI" pitchFamily="34" charset="-122"/>
                <a:cs typeface="Meiryo UI" pitchFamily="34" charset="-120"/>
              </a:rPr>
              <a:t>地政学(5%)</a:t>
            </a:r>
            <a:endParaRPr lang="en-US" sz="950" dirty="0"/>
          </a:p>
        </p:txBody>
      </p:sp>
      <p:sp>
        <p:nvSpPr>
          <p:cNvPr id="35" name="ovl_mx2_1"/>
          <p:cNvSpPr/>
          <p:nvPr/>
        </p:nvSpPr>
        <p:spPr>
          <a:xfrm>
            <a:off x="4693920" y="3383280"/>
            <a:ext cx="1578864" cy="1426464"/>
          </a:xfrm>
          <a:prstGeom prst="rect">
            <a:avLst/>
          </a:prstGeom>
          <a:solidFill>
            <a:srgbClr val="FFFFFF"/>
          </a:solidFill>
          <a:ln w="9525">
            <a:solidFill>
              <a:srgbClr val="D9D9D9"/>
            </a:solidFill>
            <a:prstDash val="solid"/>
          </a:ln>
        </p:spPr>
      </p:sp>
      <p:sp>
        <p:nvSpPr>
          <p:cNvPr id="36" name="mx_t2_1"/>
          <p:cNvSpPr txBox="1"/>
          <p:nvPr/>
        </p:nvSpPr>
        <p:spPr>
          <a:xfrm>
            <a:off x="4739640" y="3410712"/>
            <a:ext cx="1487424" cy="137160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AI 投資の全面的な逆回転(10%)</a:t>
            </a:r>
            <a:endParaRPr lang="en-US" sz="950" dirty="0"/>
          </a:p>
        </p:txBody>
      </p:sp>
      <p:sp>
        <p:nvSpPr>
          <p:cNvPr id="37" name="mx_xt"/>
          <p:cNvSpPr txBox="1"/>
          <p:nvPr/>
        </p:nvSpPr>
        <p:spPr>
          <a:xfrm>
            <a:off x="1463040" y="4864608"/>
            <a:ext cx="4846320" cy="237744"/>
          </a:xfrm>
          <a:prstGeom prst="rect">
            <a:avLst/>
          </a:prstGeom>
          <a:noFill/>
          <a:ln/>
        </p:spPr>
        <p:txBody>
          <a:bodyPr wrap="square" lIns="0" tIns="0" rIns="0" bIns="0" rtlCol="0" anchor="t"/>
          <a:lstStyle/>
          <a:p>
            <a:pPr algn="ctr" indent="0" marL="0">
              <a:buNone/>
            </a:pPr>
            <a:r>
              <a:rPr lang="en-US" sz="900" dirty="0">
                <a:solidFill>
                  <a:srgbClr val="767676"/>
                </a:solidFill>
                <a:latin typeface="Meiryo UI" pitchFamily="34" charset="0"/>
                <a:ea typeface="Meiryo UI" pitchFamily="34" charset="-122"/>
                <a:cs typeface="Meiryo UI" pitchFamily="34" charset="-120"/>
              </a:rPr>
              <a:t>1 株価値への影響</a:t>
            </a:r>
            <a:endParaRPr lang="en-US" sz="900" dirty="0"/>
          </a:p>
        </p:txBody>
      </p:sp>
      <p:sp>
        <p:nvSpPr>
          <p:cNvPr id="38" name="ovl_takeaway_bg"/>
          <p:cNvSpPr/>
          <p:nvPr/>
        </p:nvSpPr>
        <p:spPr>
          <a:xfrm>
            <a:off x="457200" y="5120640"/>
            <a:ext cx="5852160" cy="960120"/>
          </a:xfrm>
          <a:prstGeom prst="rect">
            <a:avLst/>
          </a:prstGeom>
          <a:solidFill>
            <a:srgbClr val="EAF4EE"/>
          </a:solidFill>
          <a:ln w="12700">
            <a:solidFill>
              <a:srgbClr val="EAF4EE"/>
            </a:solidFill>
            <a:prstDash val="solid"/>
          </a:ln>
        </p:spPr>
      </p:sp>
      <p:sp>
        <p:nvSpPr>
          <p:cNvPr id="39" name="takeaway"/>
          <p:cNvSpPr txBox="1"/>
          <p:nvPr/>
        </p:nvSpPr>
        <p:spPr>
          <a:xfrm>
            <a:off x="566928" y="5193792"/>
            <a:ext cx="5632704" cy="81381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テールは本体評価から分けたが無視しない。</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AI 投資の逆回転に備えて、建玉は許容できる大きさに抑える</a:t>
            </a:r>
            <a:endParaRPr lang="en-US" sz="1100" dirty="0"/>
          </a:p>
        </p:txBody>
      </p:sp>
      <p:graphicFrame>
        <p:nvGraphicFramePr>
          <p:cNvPr id="45" name="tbl"/>
          <p:cNvGraphicFramePr>
            <a:graphicFrameLocks noGrp="1"/>
          </p:cNvGraphicFramePr>
          <p:nvPr>
            <p:extLst>
              <p:ext uri="{D42A27DB-BD31-4B8C-83A1-F6EECF244321}">
                <p14:modId xmlns:p14="http://schemas.microsoft.com/office/powerpoint/2010/main" val="1579011935"/>
              </p:ext>
            </p:extLst>
          </p:nvPr>
        </p:nvGraphicFramePr>
        <p:xfrm>
          <a:off x="6537960" y="1554480"/>
          <a:ext cx="5193792" cy="914400"/>
        </p:xfrm>
        <a:graphic>
          <a:graphicData uri="http://schemas.openxmlformats.org/drawingml/2006/table">
            <a:tbl>
              <a:tblPr/>
              <a:tblGrid>
                <a:gridCol w="1508760"/>
                <a:gridCol w="2468880"/>
                <a:gridCol w="1216152"/>
              </a:tblGrid>
              <a:tr h="502920">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リスク</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兆候・トリガー</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確認の時期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502920">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OpenAI の支払能力</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契約変更・支払遅延の報道、受注残の OpenAI 比率</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12 月・2027 前半</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502920">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FY29 の格下げ</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建設の遅れで FY29 FCF が</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300 億ドルを下回る。</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300 億ドル以上の確率は</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遅れなしで 89%、全体で 38%。</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一時 BB+ の確率 40%</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毎四半期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502920">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GPU の陳腐化</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更新プレミアム 0% 以下、</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H100 1 年契約 2.00 ドル未満</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毎四半期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502920">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電力・拠点の遅延</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NM・WI で 1 年前後の遅れ(賃料は引き渡しから)。</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FY29 FCF の約束に効くか</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毎四半期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502920">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AI 投資の逆回転</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OpenAI のダウンラウンド、</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大手の capex 引き下げ、</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H100 指数 1.5 ドル未満</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随時</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502920">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更新の山(FY36〜37)</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再契約の単価(会社: 同じかより良い利益率)</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FY33〜</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第4章 バリュエーション・リスク・投資アクション</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4-5 投資行動(1/2)</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197A56"/>
          </a:solidFill>
          <a:ln w="9525">
            <a:solidFill>
              <a:srgbClr val="197A56"/>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投資行動</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判断を、いつ・どれだけ・何を確かめて建てるかの手順に落とす</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株価は Z1 を下回るので、いま 2/3 を建てる。残り 1/3 は、建設の遅れで</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一時 BB+ になりうる FY28 下期〜FY29 の値下がりに備えて残す</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時系列投資戦略(4 フェーズ)。確認 KPI は第3章の監視 KPI と共通</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銘柄分析メソッド scenario-strategy §7、本資料 第3章・最終判断、需給エンジン第4.5版の分布(台帳 r8 J・r9 F)</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45</a:t>
            </a:r>
            <a:endParaRPr lang="en-US" sz="800" dirty="0"/>
          </a:p>
        </p:txBody>
      </p:sp>
      <p:sp>
        <p:nvSpPr>
          <p:cNvPr id="19" name="ovl_chev0"/>
          <p:cNvSpPr/>
          <p:nvPr/>
        </p:nvSpPr>
        <p:spPr>
          <a:xfrm>
            <a:off x="457200" y="1554480"/>
            <a:ext cx="2743200" cy="640080"/>
          </a:xfrm>
          <a:prstGeom prst="chevron">
            <a:avLst/>
          </a:prstGeom>
          <a:solidFill>
            <a:srgbClr val="0E4D33"/>
          </a:solidFill>
          <a:ln w="12700">
            <a:solidFill>
              <a:srgbClr val="0E4D33"/>
            </a:solidFill>
            <a:prstDash val="solid"/>
          </a:ln>
        </p:spPr>
      </p:sp>
      <p:sp>
        <p:nvSpPr>
          <p:cNvPr id="20" name="ovl_chev_t0"/>
          <p:cNvSpPr txBox="1"/>
          <p:nvPr/>
        </p:nvSpPr>
        <p:spPr>
          <a:xfrm>
            <a:off x="457200" y="1554480"/>
            <a:ext cx="274320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 エントリー期</a:t>
            </a:r>
            <a:endParaRPr lang="en-US" sz="1200" dirty="0"/>
          </a:p>
        </p:txBody>
      </p:sp>
      <p:sp>
        <p:nvSpPr>
          <p:cNvPr id="21" name="ovl_chev1"/>
          <p:cNvSpPr/>
          <p:nvPr/>
        </p:nvSpPr>
        <p:spPr>
          <a:xfrm>
            <a:off x="3108960" y="1554480"/>
            <a:ext cx="2743200" cy="640080"/>
          </a:xfrm>
          <a:prstGeom prst="chevron">
            <a:avLst/>
          </a:prstGeom>
          <a:solidFill>
            <a:srgbClr val="197A56"/>
          </a:solidFill>
          <a:ln w="12700">
            <a:solidFill>
              <a:srgbClr val="197A56"/>
            </a:solidFill>
            <a:prstDash val="solid"/>
          </a:ln>
        </p:spPr>
      </p:sp>
      <p:sp>
        <p:nvSpPr>
          <p:cNvPr id="22" name="ovl_chev_t1"/>
          <p:cNvSpPr txBox="1"/>
          <p:nvPr/>
        </p:nvSpPr>
        <p:spPr>
          <a:xfrm>
            <a:off x="3108960" y="1554480"/>
            <a:ext cx="274320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 検証期</a:t>
            </a:r>
            <a:endParaRPr lang="en-US" sz="1200" dirty="0"/>
          </a:p>
        </p:txBody>
      </p:sp>
      <p:sp>
        <p:nvSpPr>
          <p:cNvPr id="23" name="ovl_chev2"/>
          <p:cNvSpPr/>
          <p:nvPr/>
        </p:nvSpPr>
        <p:spPr>
          <a:xfrm>
            <a:off x="5760720" y="1554480"/>
            <a:ext cx="2743200" cy="640080"/>
          </a:xfrm>
          <a:prstGeom prst="chevron">
            <a:avLst/>
          </a:prstGeom>
          <a:solidFill>
            <a:srgbClr val="86C99B"/>
          </a:solidFill>
          <a:ln w="12700">
            <a:solidFill>
              <a:srgbClr val="86C99B"/>
            </a:solidFill>
            <a:prstDash val="solid"/>
          </a:ln>
        </p:spPr>
      </p:sp>
      <p:sp>
        <p:nvSpPr>
          <p:cNvPr id="24" name="ovl_chev_t2"/>
          <p:cNvSpPr txBox="1"/>
          <p:nvPr/>
        </p:nvSpPr>
        <p:spPr>
          <a:xfrm>
            <a:off x="5760720" y="1554480"/>
            <a:ext cx="2743200" cy="640080"/>
          </a:xfrm>
          <a:prstGeom prst="rect">
            <a:avLst/>
          </a:prstGeom>
          <a:noFill/>
          <a:ln/>
        </p:spPr>
        <p:txBody>
          <a:bodyPr wrap="square" lIns="0" tIns="0" rIns="0" bIns="0" rtlCol="0" anchor="ctr"/>
          <a:lstStyle/>
          <a:p>
            <a:pPr algn="ctr" indent="0" marL="0">
              <a:buNone/>
            </a:pPr>
            <a:r>
              <a:rPr lang="en-US" sz="1200" b="1" dirty="0">
                <a:solidFill>
                  <a:srgbClr val="0E4D33"/>
                </a:solidFill>
                <a:latin typeface="Meiryo UI" pitchFamily="34" charset="0"/>
                <a:ea typeface="Meiryo UI" pitchFamily="34" charset="-122"/>
                <a:cs typeface="Meiryo UI" pitchFamily="34" charset="-120"/>
              </a:rPr>
              <a:t>3 本格保有期</a:t>
            </a:r>
            <a:endParaRPr lang="en-US" sz="1200" dirty="0"/>
          </a:p>
        </p:txBody>
      </p:sp>
      <p:sp>
        <p:nvSpPr>
          <p:cNvPr id="25" name="ovl_chev3"/>
          <p:cNvSpPr/>
          <p:nvPr/>
        </p:nvSpPr>
        <p:spPr>
          <a:xfrm>
            <a:off x="8412480" y="1554480"/>
            <a:ext cx="2743200" cy="640080"/>
          </a:xfrm>
          <a:prstGeom prst="chevron">
            <a:avLst/>
          </a:prstGeom>
          <a:solidFill>
            <a:srgbClr val="1BA1A6"/>
          </a:solidFill>
          <a:ln w="12700">
            <a:solidFill>
              <a:srgbClr val="1BA1A6"/>
            </a:solidFill>
            <a:prstDash val="solid"/>
          </a:ln>
        </p:spPr>
      </p:sp>
      <p:sp>
        <p:nvSpPr>
          <p:cNvPr id="26" name="ovl_chev_t3"/>
          <p:cNvSpPr txBox="1"/>
          <p:nvPr/>
        </p:nvSpPr>
        <p:spPr>
          <a:xfrm>
            <a:off x="8412480" y="1554480"/>
            <a:ext cx="274320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4 再評価期</a:t>
            </a:r>
            <a:endParaRPr lang="en-US" sz="1200" dirty="0"/>
          </a:p>
        </p:txBody>
      </p:sp>
      <p:graphicFrame>
        <p:nvGraphicFramePr>
          <p:cNvPr id="46" name="tbl"/>
          <p:cNvGraphicFramePr>
            <a:graphicFrameLocks noGrp="1"/>
          </p:cNvGraphicFramePr>
          <p:nvPr>
            <p:extLst>
              <p:ext uri="{D42A27DB-BD31-4B8C-83A1-F6EECF244321}">
                <p14:modId xmlns:p14="http://schemas.microsoft.com/office/powerpoint/2010/main" val="1579011935"/>
              </p:ext>
            </p:extLst>
          </p:nvPr>
        </p:nvGraphicFramePr>
        <p:xfrm>
          <a:off x="457200" y="2286000"/>
          <a:ext cx="11274552" cy="914400"/>
        </p:xfrm>
        <a:graphic>
          <a:graphicData uri="http://schemas.openxmlformats.org/drawingml/2006/table">
            <a:tbl>
              <a:tblPr/>
              <a:tblGrid>
                <a:gridCol w="1325880"/>
                <a:gridCol w="2487168"/>
                <a:gridCol w="2487168"/>
                <a:gridCol w="2487168"/>
                <a:gridCol w="2487168"/>
              </a:tblGrid>
              <a:tr h="274320">
                <a:tc>
                  <a:txBody>
                    <a:bodyPr/>
                    <a:lstStyle/>
                    <a:p>
                      <a:pPr algn="l" indent="0" marL="0">
                        <a:buNone/>
                      </a:pP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エントリー期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検証期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本格保有期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再評価期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420624">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期間</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今から 1〜2 四半期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2〜4 四半期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FY29 の格付け通過と</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FY30 の FCF 反転の後</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株価が理論株価に近づいた後</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やること</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株価は Z1(151 ドル)を下回る。</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いま 2/3 を建て、残りは</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FY28 下期〜FY29 の値下がりに備える</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確認 KPI を四半期ごとに確かめる</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確度に応じて増やす</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新しい差分を探し、なければ縮小する</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566928">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確認 KPI</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Q2 FY27 の capex の進み・営業 CF・前払い・納入 MW</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納入 1GW/四半期以上、36 か月比率</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50% 以上、FY28 下期の FCF 黒字化、</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OpenAI 比率 40% 未満</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FCF 黒字の継続</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(会社: FY29 300 億以上)</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AI 粗利率 35% 以上</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PEG 1.0 以上、コンセンサスとの差</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撤退条件</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OpenAI の深刻な不払い、または</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逼迫の終わり(FY30)+</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再契約 6 割未満(売る量は下の表)</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合格ラインを 2 四半期続けて下回り、</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一時要因で説明できない</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OpenAI の支払いの破綻</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差分の消失</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graphicFrame>
        <p:nvGraphicFramePr>
          <p:cNvPr id="91" name="tbl_withdraw"/>
          <p:cNvGraphicFramePr>
            <a:graphicFrameLocks noGrp="1"/>
          </p:cNvGraphicFramePr>
          <p:nvPr>
            <p:extLst>
              <p:ext uri="{D42A27DB-BD31-4B8C-83A1-F6EECF244321}">
                <p14:modId xmlns:p14="http://schemas.microsoft.com/office/powerpoint/2010/main" val="1579011935"/>
              </p:ext>
            </p:extLst>
          </p:nvPr>
        </p:nvGraphicFramePr>
        <p:xfrm>
          <a:off x="457200" y="4818888"/>
          <a:ext cx="7315200" cy="914400"/>
        </p:xfrm>
        <a:graphic>
          <a:graphicData uri="http://schemas.openxmlformats.org/drawingml/2006/table">
            <a:tbl>
              <a:tblPr/>
              <a:tblGrid>
                <a:gridCol w="3108960"/>
                <a:gridCol w="4206240"/>
              </a:tblGrid>
              <a:tr h="228600">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起きたこと</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何をするか(保有の何割を売るか)</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228600">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OpenAI の見直し(85% 払い)</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売らず、買い増しを止める(価値の平均 167 &gt; 株価)</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228600">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OpenAI の深刻な不払い(5 割払い)</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半分を売る(価値の平均 146 ≒ 株価)</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228600">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逼迫の終わり(FY30)+ 再契約 6 割未満</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全部を売る(価値の平均 133、71% の道で株価割れ)</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228600">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建設の遅れで一時 BB+</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売らず、残りの 1/3 を建てる(価値は変わらない)</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228600">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会計の耐用年数の短縮(6 → 4 年)</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売らない(現金は変わらない)</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9" name="ovl_takeaway_bg"/>
          <p:cNvSpPr/>
          <p:nvPr/>
        </p:nvSpPr>
        <p:spPr>
          <a:xfrm>
            <a:off x="7955280" y="4818888"/>
            <a:ext cx="3776472" cy="1371600"/>
          </a:xfrm>
          <a:prstGeom prst="rect">
            <a:avLst/>
          </a:prstGeom>
          <a:solidFill>
            <a:srgbClr val="EAF4EE"/>
          </a:solidFill>
          <a:ln w="12700">
            <a:solidFill>
              <a:srgbClr val="EAF4EE"/>
            </a:solidFill>
            <a:prstDash val="solid"/>
          </a:ln>
        </p:spPr>
      </p:sp>
      <p:sp>
        <p:nvSpPr>
          <p:cNvPr id="30" name="takeaway"/>
          <p:cNvSpPr txBox="1"/>
          <p:nvPr/>
        </p:nvSpPr>
        <p:spPr>
          <a:xfrm>
            <a:off x="8065008" y="4892040"/>
            <a:ext cx="3557016" cy="122529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Q2 決算で capex と納入が</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計画どおりなら、残りも建ててよい。</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売る条件は左の表だけ。</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OpenAI の見直しだけでは売らない</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第4章 バリュエーション・リスク・投資アクション</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4-5 投資行動(2/2)</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197A56"/>
          </a:solidFill>
          <a:ln w="9525">
            <a:solidFill>
              <a:srgbClr val="197A56"/>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144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144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まとめ</a:t>
            </a:r>
            <a:endParaRPr lang="en-US" sz="1000" dirty="0"/>
          </a:p>
        </p:txBody>
      </p:sp>
      <p:sp>
        <p:nvSpPr>
          <p:cNvPr id="14" name="hdr_why"/>
          <p:cNvSpPr txBox="1"/>
          <p:nvPr/>
        </p:nvSpPr>
        <p:spPr>
          <a:xfrm>
            <a:off x="1747774" y="356616"/>
            <a:ext cx="9986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事実と行動を 1 枚で対応づけ、次に確かめることをはっきりさせる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評価の事実は「構造 B・価格 1.76 倍・株価は価値の 9 パーセンタイル」で、</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行動は「いま 2/3 を建て、格付けの閾値の時期に残りを建てる」</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分析結果のサマリ(事実)。右: 示唆とネクストアクション(左の行と対応)</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本資料の各章</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46</a:t>
            </a:r>
            <a:endParaRPr lang="en-US" sz="800" dirty="0"/>
          </a:p>
        </p:txBody>
      </p:sp>
      <p:sp>
        <p:nvSpPr>
          <p:cNvPr id="19" name="pane_head"/>
          <p:cNvSpPr txBox="1"/>
          <p:nvPr/>
        </p:nvSpPr>
        <p:spPr>
          <a:xfrm>
            <a:off x="457200" y="1481328"/>
            <a:ext cx="5532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分析結果のサマリ</a:t>
            </a:r>
            <a:endParaRPr lang="en-US" sz="1200" dirty="0"/>
          </a:p>
        </p:txBody>
      </p:sp>
      <p:sp>
        <p:nvSpPr>
          <p:cNvPr id="20" name="pane_head"/>
          <p:cNvSpPr txBox="1"/>
          <p:nvPr/>
        </p:nvSpPr>
        <p:spPr>
          <a:xfrm>
            <a:off x="6199632" y="1481328"/>
            <a:ext cx="5532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示唆・ネクストアクション</a:t>
            </a:r>
            <a:endParaRPr lang="en-US" sz="1200" dirty="0"/>
          </a:p>
        </p:txBody>
      </p:sp>
      <p:sp>
        <p:nvSpPr>
          <p:cNvPr id="21" name="ovl_sum0"/>
          <p:cNvSpPr/>
          <p:nvPr/>
        </p:nvSpPr>
        <p:spPr>
          <a:xfrm>
            <a:off x="457200" y="1874520"/>
            <a:ext cx="5532120" cy="749808"/>
          </a:xfrm>
          <a:prstGeom prst="rect">
            <a:avLst/>
          </a:prstGeom>
          <a:solidFill>
            <a:srgbClr val="FFFFFF"/>
          </a:solidFill>
          <a:ln w="9525">
            <a:solidFill>
              <a:srgbClr val="D9D9D9"/>
            </a:solidFill>
            <a:prstDash val="solid"/>
          </a:ln>
        </p:spPr>
      </p:sp>
      <p:sp>
        <p:nvSpPr>
          <p:cNvPr id="22" name="sum_t0"/>
          <p:cNvSpPr txBox="1"/>
          <p:nvPr/>
        </p:nvSpPr>
        <p:spPr>
          <a:xfrm>
            <a:off x="566928" y="1947672"/>
            <a:ext cx="5312664" cy="603504"/>
          </a:xfrm>
          <a:prstGeom prst="rect">
            <a:avLst/>
          </a:prstGeom>
          <a:noFill/>
          <a:ln/>
        </p:spPr>
        <p:txBody>
          <a:bodyPr wrap="square" lIns="508" tIns="508" rIns="508" bIns="508" rtlCol="0" anchor="ctr"/>
          <a:lstStyle/>
          <a:p>
            <a:pPr indent="0" marL="0">
              <a:buNone/>
            </a:pPr>
            <a:r>
              <a:rPr lang="en-US" sz="1050" dirty="0">
                <a:solidFill>
                  <a:srgbClr val="333333"/>
                </a:solidFill>
                <a:latin typeface="Meiryo UI" pitchFamily="34" charset="0"/>
                <a:ea typeface="Meiryo UI" pitchFamily="34" charset="-122"/>
                <a:cs typeface="Meiryo UI" pitchFamily="34" charset="-120"/>
              </a:rPr>
              <a:t>構造評価 B(S1・A3・B9)。弱点は OpenAI 集中と再契約の単価</a:t>
            </a:r>
            <a:endParaRPr lang="en-US" sz="1050" dirty="0"/>
          </a:p>
        </p:txBody>
      </p:sp>
      <p:sp>
        <p:nvSpPr>
          <p:cNvPr id="23" name="ovl_imp0"/>
          <p:cNvSpPr/>
          <p:nvPr/>
        </p:nvSpPr>
        <p:spPr>
          <a:xfrm>
            <a:off x="6199632" y="1874520"/>
            <a:ext cx="5532120" cy="749808"/>
          </a:xfrm>
          <a:prstGeom prst="rect">
            <a:avLst/>
          </a:prstGeom>
          <a:solidFill>
            <a:srgbClr val="EAF4EE"/>
          </a:solidFill>
          <a:ln w="9525">
            <a:solidFill>
              <a:srgbClr val="EAF4EE"/>
            </a:solidFill>
            <a:prstDash val="solid"/>
          </a:ln>
        </p:spPr>
      </p:sp>
      <p:sp>
        <p:nvSpPr>
          <p:cNvPr id="24" name="imp_t0"/>
          <p:cNvSpPr txBox="1"/>
          <p:nvPr/>
        </p:nvSpPr>
        <p:spPr>
          <a:xfrm>
            <a:off x="6309360" y="1947672"/>
            <a:ext cx="5312664" cy="603504"/>
          </a:xfrm>
          <a:prstGeom prst="rect">
            <a:avLst/>
          </a:prstGeom>
          <a:noFill/>
          <a:ln/>
        </p:spPr>
        <p:txBody>
          <a:bodyPr wrap="square" lIns="508" tIns="508" rIns="508" bIns="508" rtlCol="0" anchor="ctr"/>
          <a:lstStyle/>
          <a:p>
            <a:pPr indent="0" marL="0">
              <a:buNone/>
            </a:pPr>
            <a:r>
              <a:rPr lang="en-US" sz="1050" dirty="0">
                <a:solidFill>
                  <a:srgbClr val="0E4D33"/>
                </a:solidFill>
                <a:latin typeface="Meiryo UI" pitchFamily="34" charset="0"/>
                <a:ea typeface="Meiryo UI" pitchFamily="34" charset="-122"/>
                <a:cs typeface="Meiryo UI" pitchFamily="34" charset="-120"/>
              </a:rPr>
              <a:t>判断は「買い」。株価 139.56 ドルは Z1(151 ドル)の下</a:t>
            </a:r>
            <a:endParaRPr lang="en-US" sz="1050" dirty="0"/>
          </a:p>
        </p:txBody>
      </p:sp>
      <p:sp>
        <p:nvSpPr>
          <p:cNvPr id="25" name="ovl_sum1"/>
          <p:cNvSpPr/>
          <p:nvPr/>
        </p:nvSpPr>
        <p:spPr>
          <a:xfrm>
            <a:off x="457200" y="2715768"/>
            <a:ext cx="5532120" cy="749808"/>
          </a:xfrm>
          <a:prstGeom prst="rect">
            <a:avLst/>
          </a:prstGeom>
          <a:solidFill>
            <a:srgbClr val="FFFFFF"/>
          </a:solidFill>
          <a:ln w="9525">
            <a:solidFill>
              <a:srgbClr val="D9D9D9"/>
            </a:solidFill>
            <a:prstDash val="solid"/>
          </a:ln>
        </p:spPr>
      </p:sp>
      <p:sp>
        <p:nvSpPr>
          <p:cNvPr id="26" name="sum_t1"/>
          <p:cNvSpPr txBox="1"/>
          <p:nvPr/>
        </p:nvSpPr>
        <p:spPr>
          <a:xfrm>
            <a:off x="566928" y="2788920"/>
            <a:ext cx="5312664" cy="603504"/>
          </a:xfrm>
          <a:prstGeom prst="rect">
            <a:avLst/>
          </a:prstGeom>
          <a:noFill/>
          <a:ln/>
        </p:spPr>
        <p:txBody>
          <a:bodyPr wrap="square" lIns="508" tIns="508" rIns="508" bIns="508" rtlCol="0" anchor="ctr"/>
          <a:lstStyle/>
          <a:p>
            <a:pPr indent="0" marL="0">
              <a:buNone/>
            </a:pPr>
            <a:r>
              <a:rPr lang="en-US" sz="1050" dirty="0">
                <a:solidFill>
                  <a:srgbClr val="333333"/>
                </a:solidFill>
                <a:latin typeface="Meiryo UI" pitchFamily="34" charset="0"/>
                <a:ea typeface="Meiryo UI" pitchFamily="34" charset="-122"/>
                <a:cs typeface="Meiryo UI" pitchFamily="34" charset="-120"/>
              </a:rPr>
              <a:t>理論株価 245 ドル(株価の 1.76 倍)。3 経路の乖離は +64〜+76%</a:t>
            </a:r>
            <a:endParaRPr lang="en-US" sz="1050" dirty="0"/>
          </a:p>
        </p:txBody>
      </p:sp>
      <p:sp>
        <p:nvSpPr>
          <p:cNvPr id="27" name="ovl_imp1"/>
          <p:cNvSpPr/>
          <p:nvPr/>
        </p:nvSpPr>
        <p:spPr>
          <a:xfrm>
            <a:off x="6199632" y="2715768"/>
            <a:ext cx="5532120" cy="749808"/>
          </a:xfrm>
          <a:prstGeom prst="rect">
            <a:avLst/>
          </a:prstGeom>
          <a:solidFill>
            <a:srgbClr val="EAF4EE"/>
          </a:solidFill>
          <a:ln w="9525">
            <a:solidFill>
              <a:srgbClr val="EAF4EE"/>
            </a:solidFill>
            <a:prstDash val="solid"/>
          </a:ln>
        </p:spPr>
      </p:sp>
      <p:sp>
        <p:nvSpPr>
          <p:cNvPr id="28" name="imp_t1"/>
          <p:cNvSpPr txBox="1"/>
          <p:nvPr/>
        </p:nvSpPr>
        <p:spPr>
          <a:xfrm>
            <a:off x="6309360" y="2788920"/>
            <a:ext cx="5312664" cy="603504"/>
          </a:xfrm>
          <a:prstGeom prst="rect">
            <a:avLst/>
          </a:prstGeom>
          <a:noFill/>
          <a:ln/>
        </p:spPr>
        <p:txBody>
          <a:bodyPr wrap="square" lIns="508" tIns="508" rIns="508" bIns="508" rtlCol="0" anchor="ctr"/>
          <a:lstStyle/>
          <a:p>
            <a:pPr indent="0" marL="0">
              <a:buNone/>
            </a:pPr>
            <a:r>
              <a:rPr lang="en-US" sz="1050" dirty="0">
                <a:solidFill>
                  <a:srgbClr val="0E4D33"/>
                </a:solidFill>
                <a:latin typeface="Meiryo UI" pitchFamily="34" charset="0"/>
                <a:ea typeface="Meiryo UI" pitchFamily="34" charset="-122"/>
                <a:cs typeface="Meiryo UI" pitchFamily="34" charset="-120"/>
              </a:rPr>
              <a:t>株価は価値の分布の 9 パーセンタイル(1,500 通り)</a:t>
            </a:r>
            <a:endParaRPr lang="en-US" sz="1050" dirty="0"/>
          </a:p>
        </p:txBody>
      </p:sp>
      <p:sp>
        <p:nvSpPr>
          <p:cNvPr id="29" name="ovl_sum2"/>
          <p:cNvSpPr/>
          <p:nvPr/>
        </p:nvSpPr>
        <p:spPr>
          <a:xfrm>
            <a:off x="457200" y="3557016"/>
            <a:ext cx="5532120" cy="749808"/>
          </a:xfrm>
          <a:prstGeom prst="rect">
            <a:avLst/>
          </a:prstGeom>
          <a:solidFill>
            <a:srgbClr val="FFFFFF"/>
          </a:solidFill>
          <a:ln w="9525">
            <a:solidFill>
              <a:srgbClr val="D9D9D9"/>
            </a:solidFill>
            <a:prstDash val="solid"/>
          </a:ln>
        </p:spPr>
      </p:sp>
      <p:sp>
        <p:nvSpPr>
          <p:cNvPr id="30" name="sum_t2"/>
          <p:cNvSpPr txBox="1"/>
          <p:nvPr/>
        </p:nvSpPr>
        <p:spPr>
          <a:xfrm>
            <a:off x="566928" y="3630168"/>
            <a:ext cx="5312664" cy="603504"/>
          </a:xfrm>
          <a:prstGeom prst="rect">
            <a:avLst/>
          </a:prstGeom>
          <a:noFill/>
          <a:ln/>
        </p:spPr>
        <p:txBody>
          <a:bodyPr wrap="square" lIns="508" tIns="508" rIns="508" bIns="508" rtlCol="0" anchor="ctr"/>
          <a:lstStyle/>
          <a:p>
            <a:pPr indent="0" marL="0">
              <a:buNone/>
            </a:pPr>
            <a:r>
              <a:rPr lang="en-US" sz="1050" dirty="0">
                <a:solidFill>
                  <a:srgbClr val="333333"/>
                </a:solidFill>
                <a:latin typeface="Meiryo UI" pitchFamily="34" charset="0"/>
                <a:ea typeface="Meiryo UI" pitchFamily="34" charset="-122"/>
                <a:cs typeface="Meiryo UI" pitchFamily="34" charset="-120"/>
              </a:rPr>
              <a:t>下値 −4%(DCF −28%)、上値 +154%</a:t>
            </a:r>
            <a:endParaRPr lang="en-US" sz="1050" dirty="0"/>
          </a:p>
        </p:txBody>
      </p:sp>
      <p:sp>
        <p:nvSpPr>
          <p:cNvPr id="31" name="ovl_imp2"/>
          <p:cNvSpPr/>
          <p:nvPr/>
        </p:nvSpPr>
        <p:spPr>
          <a:xfrm>
            <a:off x="6199632" y="3557016"/>
            <a:ext cx="5532120" cy="749808"/>
          </a:xfrm>
          <a:prstGeom prst="rect">
            <a:avLst/>
          </a:prstGeom>
          <a:solidFill>
            <a:srgbClr val="EAF4EE"/>
          </a:solidFill>
          <a:ln w="9525">
            <a:solidFill>
              <a:srgbClr val="EAF4EE"/>
            </a:solidFill>
            <a:prstDash val="solid"/>
          </a:ln>
        </p:spPr>
      </p:sp>
      <p:sp>
        <p:nvSpPr>
          <p:cNvPr id="32" name="imp_t2"/>
          <p:cNvSpPr txBox="1"/>
          <p:nvPr/>
        </p:nvSpPr>
        <p:spPr>
          <a:xfrm>
            <a:off x="6309360" y="3630168"/>
            <a:ext cx="5312664" cy="603504"/>
          </a:xfrm>
          <a:prstGeom prst="rect">
            <a:avLst/>
          </a:prstGeom>
          <a:noFill/>
          <a:ln/>
        </p:spPr>
        <p:txBody>
          <a:bodyPr wrap="square" lIns="508" tIns="508" rIns="508" bIns="508" rtlCol="0" anchor="ctr"/>
          <a:lstStyle/>
          <a:p>
            <a:pPr indent="0" marL="0">
              <a:buNone/>
            </a:pPr>
            <a:r>
              <a:rPr lang="en-US" sz="1050" dirty="0">
                <a:solidFill>
                  <a:srgbClr val="0E4D33"/>
                </a:solidFill>
                <a:latin typeface="Meiryo UI" pitchFamily="34" charset="0"/>
                <a:ea typeface="Meiryo UI" pitchFamily="34" charset="-122"/>
                <a:cs typeface="Meiryo UI" pitchFamily="34" charset="-120"/>
              </a:rPr>
              <a:t>下値(DCF −28%)を前提に建玉を決める。</a:t>
            </a:r>
            <a:endParaRPr lang="en-US" sz="1050" dirty="0"/>
          </a:p>
          <a:p>
            <a:pPr indent="0" marL="0">
              <a:buNone/>
            </a:pPr>
            <a:r>
              <a:rPr lang="en-US" sz="1050" dirty="0">
                <a:solidFill>
                  <a:srgbClr val="0E4D33"/>
                </a:solidFill>
                <a:latin typeface="Meiryo UI" pitchFamily="34" charset="0"/>
                <a:ea typeface="Meiryo UI" pitchFamily="34" charset="-122"/>
                <a:cs typeface="Meiryo UI" pitchFamily="34" charset="-120"/>
              </a:rPr>
              <a:t>いま 2/3、残り 1/3 は FY28 下期〜FY29 に</a:t>
            </a:r>
            <a:endParaRPr lang="en-US" sz="1050" dirty="0"/>
          </a:p>
        </p:txBody>
      </p:sp>
      <p:sp>
        <p:nvSpPr>
          <p:cNvPr id="33" name="ovl_sum3"/>
          <p:cNvSpPr/>
          <p:nvPr/>
        </p:nvSpPr>
        <p:spPr>
          <a:xfrm>
            <a:off x="457200" y="4398264"/>
            <a:ext cx="5532120" cy="749808"/>
          </a:xfrm>
          <a:prstGeom prst="rect">
            <a:avLst/>
          </a:prstGeom>
          <a:solidFill>
            <a:srgbClr val="FFFFFF"/>
          </a:solidFill>
          <a:ln w="9525">
            <a:solidFill>
              <a:srgbClr val="D9D9D9"/>
            </a:solidFill>
            <a:prstDash val="solid"/>
          </a:ln>
        </p:spPr>
      </p:sp>
      <p:sp>
        <p:nvSpPr>
          <p:cNvPr id="34" name="sum_t3"/>
          <p:cNvSpPr txBox="1"/>
          <p:nvPr/>
        </p:nvSpPr>
        <p:spPr>
          <a:xfrm>
            <a:off x="566928" y="4471416"/>
            <a:ext cx="5312664" cy="603504"/>
          </a:xfrm>
          <a:prstGeom prst="rect">
            <a:avLst/>
          </a:prstGeom>
          <a:noFill/>
          <a:ln/>
        </p:spPr>
        <p:txBody>
          <a:bodyPr wrap="square" lIns="508" tIns="508" rIns="508" bIns="508" rtlCol="0" anchor="ctr"/>
          <a:lstStyle/>
          <a:p>
            <a:pPr indent="0" marL="0">
              <a:buNone/>
            </a:pPr>
            <a:r>
              <a:rPr lang="en-US" sz="1050" dirty="0">
                <a:solidFill>
                  <a:srgbClr val="333333"/>
                </a:solidFill>
                <a:latin typeface="Meiryo UI" pitchFamily="34" charset="0"/>
                <a:ea typeface="Meiryo UI" pitchFamily="34" charset="-122"/>
                <a:cs typeface="Meiryo UI" pitchFamily="34" charset="-120"/>
              </a:rPr>
              <a:t>市場は説明会の後も、株価を弱気の値(134 ドル)に置く</a:t>
            </a:r>
            <a:endParaRPr lang="en-US" sz="1050" dirty="0"/>
          </a:p>
        </p:txBody>
      </p:sp>
      <p:sp>
        <p:nvSpPr>
          <p:cNvPr id="35" name="ovl_imp3"/>
          <p:cNvSpPr/>
          <p:nvPr/>
        </p:nvSpPr>
        <p:spPr>
          <a:xfrm>
            <a:off x="6199632" y="4398264"/>
            <a:ext cx="5532120" cy="749808"/>
          </a:xfrm>
          <a:prstGeom prst="rect">
            <a:avLst/>
          </a:prstGeom>
          <a:solidFill>
            <a:srgbClr val="EAF4EE"/>
          </a:solidFill>
          <a:ln w="9525">
            <a:solidFill>
              <a:srgbClr val="EAF4EE"/>
            </a:solidFill>
            <a:prstDash val="solid"/>
          </a:ln>
        </p:spPr>
      </p:sp>
      <p:sp>
        <p:nvSpPr>
          <p:cNvPr id="36" name="imp_t3"/>
          <p:cNvSpPr txBox="1"/>
          <p:nvPr/>
        </p:nvSpPr>
        <p:spPr>
          <a:xfrm>
            <a:off x="6309360" y="4471416"/>
            <a:ext cx="5312664" cy="603504"/>
          </a:xfrm>
          <a:prstGeom prst="rect">
            <a:avLst/>
          </a:prstGeom>
          <a:noFill/>
          <a:ln/>
        </p:spPr>
        <p:txBody>
          <a:bodyPr wrap="square" lIns="508" tIns="508" rIns="508" bIns="508" rtlCol="0" anchor="ctr"/>
          <a:lstStyle/>
          <a:p>
            <a:pPr indent="0" marL="0">
              <a:buNone/>
            </a:pPr>
            <a:r>
              <a:rPr lang="en-US" sz="1050" dirty="0">
                <a:solidFill>
                  <a:srgbClr val="0E4D33"/>
                </a:solidFill>
                <a:latin typeface="Meiryo UI" pitchFamily="34" charset="0"/>
                <a:ea typeface="Meiryo UI" pitchFamily="34" charset="-122"/>
                <a:cs typeface="Meiryo UI" pitchFamily="34" charset="-120"/>
              </a:rPr>
              <a:t>検証: Q2 決算の capex・納入、FY28 下期の FCF、OpenAI の資金調達</a:t>
            </a:r>
            <a:endParaRPr lang="en-US" sz="1050" dirty="0"/>
          </a:p>
        </p:txBody>
      </p:sp>
      <p:sp>
        <p:nvSpPr>
          <p:cNvPr id="37" name="ovl_sum4"/>
          <p:cNvSpPr/>
          <p:nvPr/>
        </p:nvSpPr>
        <p:spPr>
          <a:xfrm>
            <a:off x="457200" y="5239512"/>
            <a:ext cx="5532120" cy="749808"/>
          </a:xfrm>
          <a:prstGeom prst="rect">
            <a:avLst/>
          </a:prstGeom>
          <a:solidFill>
            <a:srgbClr val="FFFFFF"/>
          </a:solidFill>
          <a:ln w="9525">
            <a:solidFill>
              <a:srgbClr val="D9D9D9"/>
            </a:solidFill>
            <a:prstDash val="solid"/>
          </a:ln>
        </p:spPr>
      </p:sp>
      <p:sp>
        <p:nvSpPr>
          <p:cNvPr id="38" name="sum_t4"/>
          <p:cNvSpPr txBox="1"/>
          <p:nvPr/>
        </p:nvSpPr>
        <p:spPr>
          <a:xfrm>
            <a:off x="566928" y="5312664"/>
            <a:ext cx="5312664" cy="603504"/>
          </a:xfrm>
          <a:prstGeom prst="rect">
            <a:avLst/>
          </a:prstGeom>
          <a:noFill/>
          <a:ln/>
        </p:spPr>
        <p:txBody>
          <a:bodyPr wrap="square" lIns="508" tIns="508" rIns="508" bIns="508" rtlCol="0" anchor="ctr"/>
          <a:lstStyle/>
          <a:p>
            <a:pPr indent="0" marL="0">
              <a:buNone/>
            </a:pPr>
            <a:r>
              <a:rPr lang="en-US" sz="1050" dirty="0">
                <a:solidFill>
                  <a:srgbClr val="333333"/>
                </a:solidFill>
                <a:latin typeface="Meiryo UI" pitchFamily="34" charset="0"/>
                <a:ea typeface="Meiryo UI" pitchFamily="34" charset="-122"/>
                <a:cs typeface="Meiryo UI" pitchFamily="34" charset="-120"/>
              </a:rPr>
              <a:t>争点は契約後の再契約の単価(推論とデータの重力)と OpenAI の支払能力</a:t>
            </a:r>
            <a:endParaRPr lang="en-US" sz="1050" dirty="0"/>
          </a:p>
        </p:txBody>
      </p:sp>
      <p:sp>
        <p:nvSpPr>
          <p:cNvPr id="39" name="ovl_imp4"/>
          <p:cNvSpPr/>
          <p:nvPr/>
        </p:nvSpPr>
        <p:spPr>
          <a:xfrm>
            <a:off x="6199632" y="5239512"/>
            <a:ext cx="5532120" cy="749808"/>
          </a:xfrm>
          <a:prstGeom prst="rect">
            <a:avLst/>
          </a:prstGeom>
          <a:solidFill>
            <a:srgbClr val="EAF4EE"/>
          </a:solidFill>
          <a:ln w="9525">
            <a:solidFill>
              <a:srgbClr val="EAF4EE"/>
            </a:solidFill>
            <a:prstDash val="solid"/>
          </a:ln>
        </p:spPr>
      </p:sp>
      <p:sp>
        <p:nvSpPr>
          <p:cNvPr id="40" name="imp_t4"/>
          <p:cNvSpPr txBox="1"/>
          <p:nvPr/>
        </p:nvSpPr>
        <p:spPr>
          <a:xfrm>
            <a:off x="6309360" y="5312664"/>
            <a:ext cx="5312664" cy="603504"/>
          </a:xfrm>
          <a:prstGeom prst="rect">
            <a:avLst/>
          </a:prstGeom>
          <a:noFill/>
          <a:ln/>
        </p:spPr>
        <p:txBody>
          <a:bodyPr wrap="square" lIns="508" tIns="508" rIns="508" bIns="508" rtlCol="0" anchor="ctr"/>
          <a:lstStyle/>
          <a:p>
            <a:pPr indent="0" marL="0">
              <a:buNone/>
            </a:pPr>
            <a:r>
              <a:rPr lang="en-US" sz="1050" dirty="0">
                <a:solidFill>
                  <a:srgbClr val="0E4D33"/>
                </a:solidFill>
                <a:latin typeface="Meiryo UI" pitchFamily="34" charset="0"/>
                <a:ea typeface="Meiryo UI" pitchFamily="34" charset="-122"/>
                <a:cs typeface="Meiryo UI" pitchFamily="34" charset="-120"/>
              </a:rPr>
              <a:t>撤退: 逼迫の終わり(FY30)と再契約 6 割未満が重なれば全部、</a:t>
            </a:r>
            <a:endParaRPr lang="en-US" sz="1050" dirty="0"/>
          </a:p>
          <a:p>
            <a:pPr indent="0" marL="0">
              <a:buNone/>
            </a:pPr>
            <a:r>
              <a:rPr lang="en-US" sz="1050" dirty="0">
                <a:solidFill>
                  <a:srgbClr val="0E4D33"/>
                </a:solidFill>
                <a:latin typeface="Meiryo UI" pitchFamily="34" charset="0"/>
                <a:ea typeface="Meiryo UI" pitchFamily="34" charset="-122"/>
                <a:cs typeface="Meiryo UI" pitchFamily="34" charset="-120"/>
              </a:rPr>
              <a:t>OpenAI の深刻な不払いなら半分を売る。次の確認は 12 月の Q2 決算</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第4章 バリュエーション・リスク・投資アクション</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付録 前提と履歴(1/3)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197A56"/>
          </a:solidFill>
          <a:ln w="9525">
            <a:solidFill>
              <a:srgbClr val="197A56"/>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398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398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前提と履歴</a:t>
            </a:r>
            <a:endParaRPr lang="en-US" sz="1000" dirty="0"/>
          </a:p>
        </p:txBody>
      </p:sp>
      <p:sp>
        <p:nvSpPr>
          <p:cNvPr id="14" name="hdr_why"/>
          <p:cNvSpPr txBox="1"/>
          <p:nvPr/>
        </p:nvSpPr>
        <p:spPr>
          <a:xfrm>
            <a:off x="2001774" y="356616"/>
            <a:ext cx="9732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計算の前提と版ごとの修正を残し、後から検証できるようにする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計算の前提と修正の履歴: 理論株価は第 1 版 134 ドルから</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第 4.5 版 245 ドルへ。各段の理由を記録した</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Appendix</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calc/prereg.md・prereg2.md §9(すべての変更と「結果を見た後か」の記録)、需給エンジン第4.5版(calc/out/m10_*.json)</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47</a:t>
            </a:r>
            <a:endParaRPr lang="en-US" sz="800" dirty="0"/>
          </a:p>
        </p:txBody>
      </p:sp>
      <p:graphicFrame>
        <p:nvGraphicFramePr>
          <p:cNvPr id="48" name="tbl"/>
          <p:cNvGraphicFramePr>
            <a:graphicFrameLocks noGrp="1"/>
          </p:cNvGraphicFramePr>
          <p:nvPr>
            <p:extLst>
              <p:ext uri="{D42A27DB-BD31-4B8C-83A1-F6EECF244321}">
                <p14:modId xmlns:p14="http://schemas.microsoft.com/office/powerpoint/2010/main" val="1579011935"/>
              </p:ext>
            </p:extLst>
          </p:nvPr>
        </p:nvGraphicFramePr>
        <p:xfrm>
          <a:off x="457200" y="1481328"/>
          <a:ext cx="5669280" cy="914400"/>
        </p:xfrm>
        <a:graphic>
          <a:graphicData uri="http://schemas.openxmlformats.org/drawingml/2006/table">
            <a:tbl>
              <a:tblPr/>
              <a:tblGrid>
                <a:gridCol w="1828800"/>
                <a:gridCol w="3840480"/>
              </a:tblGrid>
              <a:tr h="301752">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項目</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第4.5版の前提</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01752">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EPS</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事業実態 EPS。FY27〜30 は会社の見通し、</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FY31 以降は需給エンジンの伸び。売上は 2 年で立ち上げ</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妥当 PER</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同業 23 倍・PEG 1.0 × 3 年成長率・エンジンの価値の平均</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01752">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重み</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FY27 末 40%・FY28 末 30%・</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FY29 末 20%・FY30 末 10%</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株主資本コスト</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10.63%(5.02% + 1.33 × 4.23%)</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01752">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シナリオ</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強気 25%・ベース 50%・弱気 25%(対称)</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倒産確率</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S&amp;P の条件で格付けを機械判定し、全経路に反映</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01752">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配当</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年 2.00 ドル(FY27 は残り 1.00)</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株価</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139.56 ドル(2026-10-29 終値)</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graphicFrame>
        <p:nvGraphicFramePr>
          <p:cNvPr id="20" name="chart" descr=""/>
          <p:cNvGraphicFramePr/>
          <p:nvPr/>
        </p:nvGraphicFramePr>
        <p:xfrm>
          <a:off x="6355080" y="1508760"/>
          <a:ext cx="5376672" cy="3063240"/>
        </p:xfrm>
        <a:graphic xmlns:a="http://schemas.openxmlformats.org/drawingml/2006/main">
          <a:graphicData uri="http://schemas.openxmlformats.org/drawingml/2006/chart">
            <c:chart xmlns:c="http://schemas.openxmlformats.org/drawingml/2006/chart" r:id="rId1"/>
          </a:graphicData>
        </a:graphic>
      </p:graphicFrame>
      <p:sp>
        <p:nvSpPr>
          <p:cNvPr id="21" name="bullets"/>
          <p:cNvSpPr txBox="1"/>
          <p:nvPr/>
        </p:nvSpPr>
        <p:spPr>
          <a:xfrm>
            <a:off x="6355080" y="4617720"/>
            <a:ext cx="5376672" cy="1600200"/>
          </a:xfrm>
          <a:prstGeom prst="rect">
            <a:avLst/>
          </a:prstGeom>
          <a:noFill/>
          <a:ln/>
        </p:spPr>
        <p:txBody>
          <a:bodyPr wrap="square" lIns="508" tIns="508" rIns="508" bIns="508" rtlCol="0" anchor="t"/>
          <a:lstStyle/>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第3.1版→第4.0版: 方法の変更(利用者の指示: コンセンサス起点・年度別・対称)と</a:t>
            </a:r>
            <a:br/>
            <a:r>
              <a:rPr lang="en-US" sz="950" dirty="0">
                <a:solidFill>
                  <a:srgbClr val="333333"/>
                </a:solidFill>
                <a:latin typeface="Meiryo UI" pitchFamily="34" charset="0"/>
                <a:ea typeface="Meiryo UI" pitchFamily="34" charset="-122"/>
                <a:cs typeface="Meiryo UI" pitchFamily="34" charset="-120"/>
              </a:rPr>
              <a:t>容量計画の引き上げ</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第4.1版→第4.3版: 品質確認で −27</a:t>
            </a:r>
            <a:br/>
            <a:r>
              <a:rPr lang="en-US" sz="950" dirty="0">
                <a:solidFill>
                  <a:srgbClr val="333333"/>
                </a:solidFill>
                <a:latin typeface="Meiryo UI" pitchFamily="34" charset="0"/>
                <a:ea typeface="Meiryo UI" pitchFamily="34" charset="-122"/>
                <a:cs typeface="Meiryo UI" pitchFamily="34" charset="-120"/>
              </a:rPr>
              <a:t>(EPS の基準・倒産確率・自社株買い・ガイダンス較正など)</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第4.3版→第4.4版: 説明会の会社資料で −15</a:t>
            </a:r>
            <a:br/>
            <a:r>
              <a:rPr lang="en-US" sz="950" dirty="0">
                <a:solidFill>
                  <a:srgbClr val="333333"/>
                </a:solidFill>
                <a:latin typeface="Meiryo UI" pitchFamily="34" charset="0"/>
                <a:ea typeface="Meiryo UI" pitchFamily="34" charset="-122"/>
                <a:cs typeface="Meiryo UI" pitchFamily="34" charset="-120"/>
              </a:rPr>
              <a:t>(1GW の粗利率 35% −19、容量 −13、会社の EPS +8、1GW の単価 +7、市場の値 +3)</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第4.4版→第4.5版: 利用者の指摘で +9</a:t>
            </a:r>
            <a:br/>
            <a:r>
              <a:rPr lang="en-US" sz="950" dirty="0">
                <a:solidFill>
                  <a:srgbClr val="333333"/>
                </a:solidFill>
                <a:latin typeface="Meiryo UI" pitchFamily="34" charset="0"/>
                <a:ea typeface="Meiryo UI" pitchFamily="34" charset="-122"/>
                <a:cs typeface="Meiryo UI" pitchFamily="34" charset="-120"/>
              </a:rPr>
              <a:t>(推論とデータの重力 +8、ERP 移行 +2、立ち上げ −1)</a:t>
            </a:r>
            <a:br/>
            <a:r>
              <a:rPr lang="en-US" sz="950" dirty="0">
                <a:solidFill>
                  <a:srgbClr val="333333"/>
                </a:solidFill>
                <a:latin typeface="Meiryo UI" pitchFamily="34" charset="0"/>
                <a:ea typeface="Meiryo UI" pitchFamily="34" charset="-122"/>
                <a:cs typeface="Meiryo UI" pitchFamily="34" charset="-120"/>
              </a:rPr>
              <a:t>判断は 1,500 通りの分布で「買い」に変更</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どの変更も「結果を見た後」と記録している</a:t>
            </a: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第4章 バリュエーション・リスク・投資アクション</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付録 前提と履歴(2/3)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197A56"/>
          </a:solidFill>
          <a:ln w="9525">
            <a:solidFill>
              <a:srgbClr val="197A56"/>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652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652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外部資料の検証</a:t>
            </a:r>
            <a:endParaRPr lang="en-US" sz="1000" dirty="0"/>
          </a:p>
        </p:txBody>
      </p:sp>
      <p:sp>
        <p:nvSpPr>
          <p:cNvPr id="14" name="hdr_why"/>
          <p:cNvSpPr txBox="1"/>
          <p:nvPr/>
        </p:nvSpPr>
        <p:spPr>
          <a:xfrm>
            <a:off x="2255774" y="356616"/>
            <a:ext cx="9478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他の分析(10/29 の外部資料)の主張を一次資料で確かめ、正誤・楽観と悲観・価値への効きを分ける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外部資料の 244.7 ドルは本資料とほぼ同じだが、悲観の EPS と楽観の</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資本コスト・PEG が打ち消し合った値。誤り・誇張・古い数字は 9 件</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外部資料の主張と一次資料の照合(A の 11 行)。右: 外部資料の前提を本資料の枠に入れたときの理論株価</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外部資料 ORCL_deck_2026-10-29.pdf(56 枚)、Oracle 10-Q Q1 FY27(SEC)、Investor Day 2026-10-28 の CFO 資料と書き起こし、CNBC・S&amp;P Global MI(CDS)、需給エンジン第4.5版(calc/m10_gemini.py)</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48</a:t>
            </a:r>
            <a:endParaRPr lang="en-US" sz="800" dirty="0"/>
          </a:p>
        </p:txBody>
      </p:sp>
      <p:graphicFrame>
        <p:nvGraphicFramePr>
          <p:cNvPr id="49" name="tbl_claims"/>
          <p:cNvGraphicFramePr>
            <a:graphicFrameLocks noGrp="1"/>
          </p:cNvGraphicFramePr>
          <p:nvPr>
            <p:extLst>
              <p:ext uri="{D42A27DB-BD31-4B8C-83A1-F6EECF244321}">
                <p14:modId xmlns:p14="http://schemas.microsoft.com/office/powerpoint/2010/main" val="1579011935"/>
              </p:ext>
            </p:extLst>
          </p:nvPr>
        </p:nvGraphicFramePr>
        <p:xfrm>
          <a:off x="457200" y="1481328"/>
          <a:ext cx="7086600" cy="914400"/>
        </p:xfrm>
        <a:graphic>
          <a:graphicData uri="http://schemas.openxmlformats.org/drawingml/2006/table">
            <a:tbl>
              <a:tblPr/>
              <a:tblGrid>
                <a:gridCol w="411480"/>
                <a:gridCol w="2240280"/>
                <a:gridCol w="3108960"/>
                <a:gridCol w="640080"/>
                <a:gridCol w="685800"/>
              </a:tblGrid>
              <a:tr h="274320">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外部資料の主張</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一次資料・本資料</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判定</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向き</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84048">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1</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10/28 の後、CDS は約 115bp に縮小し、信用不安は遮断</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CDS 5 年は 10/28 約 277bp(10/15 288bp)。115bp の出所はない</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C0392B"/>
                          </a:solidFill>
                          <a:latin typeface="Meiryo UI" pitchFamily="34" charset="0"/>
                          <a:ea typeface="Meiryo UI" pitchFamily="34" charset="-122"/>
                          <a:cs typeface="Meiryo UI" pitchFamily="34" charset="-120"/>
                        </a:rPr>
                        <a:t>誤り</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楽観</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84048">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2</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4 年超の GPU の全量が +20% で更新</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CFO: 4 年前の GPU の実例 1 件(+20%)。</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全量ではない</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b="1" dirty="0">
                          <a:solidFill>
                            <a:srgbClr val="C0392B"/>
                          </a:solidFill>
                          <a:latin typeface="Meiryo UI" pitchFamily="34" charset="0"/>
                          <a:ea typeface="Meiryo UI" pitchFamily="34" charset="-122"/>
                          <a:cs typeface="Meiryo UI" pitchFamily="34" charset="-120"/>
                        </a:rPr>
                        <a:t>誇張</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楽観</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84048">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3</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1GW の capex 370 億ドルに建屋・受変電を含む</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CFO 資料: capex はチップ・メモリ・ネットワーク。土地・建屋は買わない</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C0392B"/>
                          </a:solidFill>
                          <a:latin typeface="Meiryo UI" pitchFamily="34" charset="0"/>
                          <a:ea typeface="Meiryo UI" pitchFamily="34" charset="-122"/>
                          <a:cs typeface="Meiryo UI" pitchFamily="34" charset="-120"/>
                        </a:rPr>
                        <a:t>誤り</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84048">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4</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株主資本コスト 9.20%(無リスク金利 4.20%)</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10 年金利は 5.02%(10/29、古い金利)。本資料は 10.63%(β 1.33)</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b="1" dirty="0">
                          <a:solidFill>
                            <a:srgbClr val="C0392B"/>
                          </a:solidFill>
                          <a:latin typeface="Meiryo UI" pitchFamily="34" charset="0"/>
                          <a:ea typeface="Meiryo UI" pitchFamily="34" charset="-122"/>
                          <a:cs typeface="Meiryo UI" pitchFamily="34" charset="-120"/>
                        </a:rPr>
                        <a:t>誤り</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楽観</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84048">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5</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前受収益 224.8 億ドル(前期比 +42%)</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10-Q: 前受収益の合計</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307.9 億ドル(5 月末から +154 億)</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C0392B"/>
                          </a:solidFill>
                          <a:latin typeface="Meiryo UI" pitchFamily="34" charset="0"/>
                          <a:ea typeface="Meiryo UI" pitchFamily="34" charset="-122"/>
                          <a:cs typeface="Meiryo UI" pitchFamily="34" charset="-120"/>
                        </a:rPr>
                        <a:t>誤り</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84048">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6</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Q1 の営業 CF 231 億、capex 285 億、FCF −54 億ドル</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10-Q: 23,103 / 28,499 / −5,396 百万ドル</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b="1" dirty="0">
                          <a:solidFill>
                            <a:srgbClr val="197A56"/>
                          </a:solidFill>
                          <a:latin typeface="Meiryo UI" pitchFamily="34" charset="0"/>
                          <a:ea typeface="Meiryo UI" pitchFamily="34" charset="-122"/>
                          <a:cs typeface="Meiryo UI" pitchFamily="34" charset="-120"/>
                        </a:rPr>
                        <a:t>正しい</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84048">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7</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GPU の償却は 6 年</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10-Q: サーバー・網機器は 6 年。</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4 年なら EPS 基準で −18.5 ドル</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97A56"/>
                          </a:solidFill>
                          <a:latin typeface="Meiryo UI" pitchFamily="34" charset="0"/>
                          <a:ea typeface="Meiryo UI" pitchFamily="34" charset="-122"/>
                          <a:cs typeface="Meiryo UI" pitchFamily="34" charset="-120"/>
                        </a:rPr>
                        <a:t>正しい</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84048">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8</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定常価値 154.8 ドル &gt; 株価(成長がマイナスに評価)</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定常オーナー利益 ÷ 9.2% は、残りの capex と純負債 890 億を引いていない</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b="1" dirty="0">
                          <a:solidFill>
                            <a:srgbClr val="C0392B"/>
                          </a:solidFill>
                          <a:latin typeface="Meiryo UI" pitchFamily="34" charset="0"/>
                          <a:ea typeface="Meiryo UI" pitchFamily="34" charset="-122"/>
                          <a:cs typeface="Meiryo UI" pitchFamily="34" charset="-120"/>
                        </a:rPr>
                        <a:t>誤り</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楽観</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84048">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9</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S&amp;P の格下げ条件は純負債/EBITDA 4.0 倍超の滞留</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S&amp;P: 調整後レバレッジ 4.5 倍超が続く、FY29 までに FOCF が黒字化しない</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C0392B"/>
                          </a:solidFill>
                          <a:latin typeface="Meiryo UI" pitchFamily="34" charset="0"/>
                          <a:ea typeface="Meiryo UI" pitchFamily="34" charset="-122"/>
                          <a:cs typeface="Meiryo UI" pitchFamily="34" charset="-120"/>
                        </a:rPr>
                        <a:t>誤り</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楽観</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84048">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10</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コンセンサスの FY30 売上</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1,850 億ドル</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LSEG は 2,242 億ドル(説明会の前)</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b="1" dirty="0">
                          <a:solidFill>
                            <a:srgbClr val="C0392B"/>
                          </a:solidFill>
                          <a:latin typeface="Meiryo UI" pitchFamily="34" charset="0"/>
                          <a:ea typeface="Meiryo UI" pitchFamily="34" charset="-122"/>
                          <a:cs typeface="Meiryo UI" pitchFamily="34" charset="-120"/>
                        </a:rPr>
                        <a:t>誤り</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84048">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14</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基準株価 144.54 ドル(10/28 終値)</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10/29 終値は 139.56 ドル。古い基準で割安度を小さく見せる</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C0392B"/>
                          </a:solidFill>
                          <a:latin typeface="Meiryo UI" pitchFamily="34" charset="0"/>
                          <a:ea typeface="Meiryo UI" pitchFamily="34" charset="-122"/>
                          <a:cs typeface="Meiryo UI" pitchFamily="34" charset="-120"/>
                        </a:rPr>
                        <a:t>古い</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悲観</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0" name="pane_head"/>
          <p:cNvSpPr txBox="1"/>
          <p:nvPr/>
        </p:nvSpPr>
        <p:spPr>
          <a:xfrm>
            <a:off x="7772400" y="1481328"/>
            <a:ext cx="3959352"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外部資料の前提を入れたときの理論株価(ドル)</a:t>
            </a:r>
            <a:endParaRPr lang="en-US" sz="1200" dirty="0"/>
          </a:p>
        </p:txBody>
      </p:sp>
      <p:graphicFrame>
        <p:nvGraphicFramePr>
          <p:cNvPr id="21" name="chart" descr=""/>
          <p:cNvGraphicFramePr/>
          <p:nvPr/>
        </p:nvGraphicFramePr>
        <p:xfrm>
          <a:off x="7772400" y="1783080"/>
          <a:ext cx="3959352" cy="2606040"/>
        </p:xfrm>
        <a:graphic xmlns:a="http://schemas.openxmlformats.org/drawingml/2006/main">
          <a:graphicData uri="http://schemas.openxmlformats.org/drawingml/2006/chart">
            <c:chart xmlns:c="http://schemas.openxmlformats.org/drawingml/2006/chart" r:id="rId1"/>
          </a:graphicData>
        </a:graphic>
      </p:graphicFrame>
      <p:sp>
        <p:nvSpPr>
          <p:cNvPr id="22" name="ovl_price_line"/>
          <p:cNvSpPr/>
          <p:nvPr/>
        </p:nvSpPr>
        <p:spPr>
          <a:xfrm>
            <a:off x="10305657" y="2007108"/>
            <a:ext cx="914" cy="2121408"/>
          </a:xfrm>
          <a:prstGeom prst="line">
            <a:avLst/>
          </a:prstGeom>
          <a:noFill/>
          <a:ln w="19050">
            <a:solidFill>
              <a:srgbClr val="C0392B"/>
            </a:solidFill>
            <a:prstDash val="dash"/>
          </a:ln>
        </p:spPr>
      </p:sp>
      <p:sp>
        <p:nvSpPr>
          <p:cNvPr id="23" name="ovl_price_t"/>
          <p:cNvSpPr txBox="1"/>
          <p:nvPr/>
        </p:nvSpPr>
        <p:spPr>
          <a:xfrm>
            <a:off x="9757017" y="1796796"/>
            <a:ext cx="1097280" cy="182880"/>
          </a:xfrm>
          <a:prstGeom prst="rect">
            <a:avLst/>
          </a:prstGeom>
          <a:noFill/>
          <a:ln/>
        </p:spPr>
        <p:txBody>
          <a:bodyPr wrap="square" lIns="0" tIns="0" rIns="0" bIns="0" rtlCol="0" anchor="ctr"/>
          <a:lstStyle/>
          <a:p>
            <a:pPr algn="ctr" indent="0" marL="0">
              <a:buNone/>
            </a:pPr>
            <a:r>
              <a:rPr lang="en-US" sz="900" b="1" dirty="0">
                <a:solidFill>
                  <a:srgbClr val="C0392B"/>
                </a:solidFill>
                <a:latin typeface="Meiryo UI" pitchFamily="34" charset="0"/>
                <a:ea typeface="Meiryo UI" pitchFamily="34" charset="-122"/>
                <a:cs typeface="Meiryo UI" pitchFamily="34" charset="-120"/>
              </a:rPr>
              <a:t>株価 139.56</a:t>
            </a:r>
            <a:endParaRPr lang="en-US" sz="900" dirty="0"/>
          </a:p>
        </p:txBody>
      </p:sp>
      <p:sp>
        <p:nvSpPr>
          <p:cNvPr id="24" name="points"/>
          <p:cNvSpPr txBox="1"/>
          <p:nvPr/>
        </p:nvSpPr>
        <p:spPr>
          <a:xfrm>
            <a:off x="7772400" y="4572000"/>
            <a:ext cx="3959352" cy="1554480"/>
          </a:xfrm>
          <a:prstGeom prst="rect">
            <a:avLst/>
          </a:prstGeom>
          <a:noFill/>
          <a:ln/>
        </p:spPr>
        <p:txBody>
          <a:bodyPr wrap="square" lIns="508" tIns="508" rIns="508" bIns="508" rtlCol="0" anchor="t"/>
          <a:lstStyle/>
          <a:p>
            <a:pPr marL="152400" indent="-152400">
              <a:spcAft>
                <a:spcPts val="600"/>
              </a:spcAft>
              <a:buSzPct val="100000"/>
              <a:buChar char="•"/>
            </a:pPr>
            <a:r>
              <a:rPr lang="en-US" sz="1000" dirty="0">
                <a:solidFill>
                  <a:srgbClr val="333333"/>
                </a:solidFill>
                <a:latin typeface="Meiryo UI" pitchFamily="34" charset="0"/>
                <a:ea typeface="Meiryo UI" pitchFamily="34" charset="-122"/>
                <a:cs typeface="Meiryo UI" pitchFamily="34" charset="-120"/>
              </a:rPr>
              <a:t>外部資料の 244.7 は、悲観の EPS(−38)と楽観の資本コスト・PEG(+20)と成熟 PER 20.1 倍が打ち消し合った値</a:t>
            </a:r>
            <a:endParaRPr lang="en-US" sz="1000" dirty="0"/>
          </a:p>
          <a:p>
            <a:pPr marL="152400" indent="-152400">
              <a:spcAft>
                <a:spcPts val="600"/>
              </a:spcAft>
              <a:buSzPct val="100000"/>
              <a:buChar char="•"/>
            </a:pPr>
            <a:r>
              <a:rPr lang="en-US" sz="1000" dirty="0">
                <a:solidFill>
                  <a:srgbClr val="333333"/>
                </a:solidFill>
                <a:latin typeface="Meiryo UI" pitchFamily="34" charset="0"/>
                <a:ea typeface="Meiryo UI" pitchFamily="34" charset="-122"/>
                <a:cs typeface="Meiryo UI" pitchFamily="34" charset="-120"/>
              </a:rPr>
              <a:t>外部資料の悲観の EPS(本資料の分布の 25 パーセンタイル)でも 207.5 ドルで、株価を 49% 上回る</a:t>
            </a:r>
            <a:endParaRPr lang="en-US" sz="1000" dirty="0"/>
          </a:p>
          <a:p>
            <a:pPr marL="152400" indent="-152400">
              <a:spcAft>
                <a:spcPts val="600"/>
              </a:spcAft>
              <a:buSzPct val="100000"/>
              <a:buChar char="•"/>
            </a:pPr>
            <a:r>
              <a:rPr lang="en-US" sz="1000" dirty="0">
                <a:solidFill>
                  <a:srgbClr val="333333"/>
                </a:solidFill>
                <a:latin typeface="Meiryo UI" pitchFamily="34" charset="0"/>
                <a:ea typeface="Meiryo UI" pitchFamily="34" charset="-122"/>
                <a:cs typeface="Meiryo UI" pitchFamily="34" charset="-120"/>
              </a:rPr>
              <a:t>取り込んだもの: Q1 の現金の実績(10-Q)、</a:t>
            </a:r>
            <a:br/>
            <a:r>
              <a:rPr lang="en-US" sz="1000" dirty="0">
                <a:solidFill>
                  <a:srgbClr val="333333"/>
                </a:solidFill>
                <a:latin typeface="Meiryo UI" pitchFamily="34" charset="0"/>
                <a:ea typeface="Meiryo UI" pitchFamily="34" charset="-122"/>
                <a:cs typeface="Meiryo UI" pitchFamily="34" charset="-120"/>
              </a:rPr>
              <a:t>償却 6 年の確認と 4 年短縮のリスク(−18.5)、撤退の売る量</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E4D33"/>
        </a:solidFill>
      </p:bgPr>
    </p:bg>
    <p:spTree>
      <p:nvGrpSpPr>
        <p:cNvPr id="1" name=""/>
        <p:cNvGrpSpPr/>
        <p:nvPr/>
      </p:nvGrpSpPr>
      <p:grpSpPr>
        <a:xfrm>
          <a:off x="0" y="0"/>
          <a:ext cx="0" cy="0"/>
          <a:chOff x="0" y="0"/>
          <a:chExt cx="0" cy="0"/>
        </a:xfrm>
      </p:grpSpPr>
      <p:sp>
        <p:nvSpPr>
          <p:cNvPr id="2" name="bg_divider"/>
          <p:cNvSpPr/>
          <p:nvPr/>
        </p:nvSpPr>
        <p:spPr>
          <a:xfrm>
            <a:off x="0" y="0"/>
            <a:ext cx="12191695" cy="6858000"/>
          </a:xfrm>
          <a:prstGeom prst="rect">
            <a:avLst/>
          </a:prstGeom>
          <a:solidFill>
            <a:srgbClr val="0E4D33"/>
          </a:solidFill>
          <a:ln w="12700">
            <a:solidFill>
              <a:srgbClr val="0E4D33"/>
            </a:solidFill>
            <a:prstDash val="solid"/>
          </a:ln>
        </p:spPr>
      </p:sp>
      <p:sp>
        <p:nvSpPr>
          <p:cNvPr id="3" name="bg_close_crumb"/>
          <p:cNvSpPr txBox="1"/>
          <p:nvPr/>
        </p:nvSpPr>
        <p:spPr>
          <a:xfrm>
            <a:off x="822960" y="457200"/>
            <a:ext cx="10515600" cy="274320"/>
          </a:xfrm>
          <a:prstGeom prst="rect">
            <a:avLst/>
          </a:prstGeom>
          <a:noFill/>
          <a:ln/>
        </p:spPr>
        <p:txBody>
          <a:bodyPr wrap="square" lIns="0" tIns="0" rIns="0" bIns="0" rtlCol="0" anchor="t"/>
          <a:lstStyle/>
          <a:p>
            <a:pPr indent="0" marL="0">
              <a:buNone/>
            </a:pPr>
            <a:r>
              <a:rPr lang="en-US" sz="950" dirty="0">
                <a:solidFill>
                  <a:srgbClr val="86C99B"/>
                </a:solidFill>
                <a:latin typeface="Meiryo UI" pitchFamily="34" charset="0"/>
                <a:ea typeface="Meiryo UI" pitchFamily="34" charset="-122"/>
                <a:cs typeface="Meiryo UI" pitchFamily="34" charset="-120"/>
              </a:rPr>
              <a:t>付録 前提と履歴(3/3)   ›   テーマ: 免責と制約(数値の出所と限界を明示する)</a:t>
            </a:r>
            <a:endParaRPr lang="en-US" sz="950" dirty="0"/>
          </a:p>
        </p:txBody>
      </p:sp>
      <p:sp>
        <p:nvSpPr>
          <p:cNvPr id="4" name="bg_close_t"/>
          <p:cNvSpPr txBox="1"/>
          <p:nvPr/>
        </p:nvSpPr>
        <p:spPr>
          <a:xfrm>
            <a:off x="822960" y="2377440"/>
            <a:ext cx="10515600" cy="822960"/>
          </a:xfrm>
          <a:prstGeom prst="rect">
            <a:avLst/>
          </a:prstGeom>
          <a:noFill/>
          <a:ln/>
        </p:spPr>
        <p:txBody>
          <a:bodyPr wrap="square" lIns="508" tIns="508" rIns="508" bIns="508" rtlCol="0" anchor="t"/>
          <a:lstStyle/>
          <a:p>
            <a:pPr indent="0" marL="0">
              <a:buNone/>
            </a:pPr>
            <a:r>
              <a:rPr lang="en-US" sz="2600" b="1" dirty="0">
                <a:solidFill>
                  <a:srgbClr val="FFFFFF"/>
                </a:solidFill>
                <a:latin typeface="Meiryo UI" pitchFamily="34" charset="0"/>
                <a:ea typeface="Meiryo UI" pitchFamily="34" charset="-122"/>
                <a:cs typeface="Meiryo UI" pitchFamily="34" charset="-120"/>
              </a:rPr>
              <a:t>免責と既知の制約</a:t>
            </a:r>
            <a:endParaRPr lang="en-US" sz="2600" dirty="0"/>
          </a:p>
        </p:txBody>
      </p:sp>
      <p:sp>
        <p:nvSpPr>
          <p:cNvPr id="5" name="bg_close_n"/>
          <p:cNvSpPr txBox="1"/>
          <p:nvPr/>
        </p:nvSpPr>
        <p:spPr>
          <a:xfrm>
            <a:off x="822960" y="3383280"/>
            <a:ext cx="10515600" cy="2011680"/>
          </a:xfrm>
          <a:prstGeom prst="rect">
            <a:avLst/>
          </a:prstGeom>
          <a:noFill/>
          <a:ln/>
        </p:spPr>
        <p:txBody>
          <a:bodyPr wrap="square" lIns="508" tIns="508" rIns="508" bIns="508" rtlCol="0" anchor="t"/>
          <a:lstStyle/>
          <a:p>
            <a:pPr indent="0" marL="0">
              <a:buNone/>
            </a:pPr>
            <a:r>
              <a:rPr lang="en-US" sz="1100" dirty="0">
                <a:solidFill>
                  <a:srgbClr val="FFFFFF"/>
                </a:solidFill>
                <a:latin typeface="Meiryo UI" pitchFamily="34" charset="0"/>
                <a:ea typeface="Meiryo UI" pitchFamily="34" charset="-122"/>
                <a:cs typeface="Meiryo UI" pitchFamily="34" charset="-120"/>
              </a:rPr>
              <a:t>本資料は情報の整理を目的とし、投資助言ではない。投資判断は自己の責任で行うこと。</a:t>
            </a:r>
            <a:endParaRPr lang="en-US" sz="1100" dirty="0"/>
          </a:p>
          <a:p>
            <a:pPr indent="0" marL="0">
              <a:buNone/>
            </a:pPr>
            <a:r>
              <a:rPr lang="en-US" sz="1100" dirty="0">
                <a:solidFill>
                  <a:srgbClr val="FFFFFF"/>
                </a:solidFill>
                <a:latin typeface="Meiryo UI" pitchFamily="34" charset="0"/>
                <a:ea typeface="Meiryo UI" pitchFamily="34" charset="-122"/>
                <a:cs typeface="Meiryo UI" pitchFamily="34" charset="-120"/>
              </a:rPr>
              <a:t>数値の多くは検索要約経由で、一次資料の原本は未開封のものがある。TradingView の年度別予想は取得できず、他の集計サイトで代えた。</a:t>
            </a:r>
            <a:endParaRPr lang="en-US" sz="1100" dirty="0"/>
          </a:p>
          <a:p>
            <a:pPr indent="0" marL="0">
              <a:buNone/>
            </a:pPr>
            <a:r>
              <a:rPr lang="en-US" sz="1100" dirty="0">
                <a:solidFill>
                  <a:srgbClr val="FFFFFF"/>
                </a:solidFill>
                <a:latin typeface="Meiryo UI" pitchFamily="34" charset="0"/>
                <a:ea typeface="Meiryo UI" pitchFamily="34" charset="-122"/>
                <a:cs typeface="Meiryo UI" pitchFamily="34" charset="-120"/>
              </a:rPr>
              <a:t>S&amp;P の格付けの判定は記載をもとにした機械判定で、格付会社の判断そのものではない。Jupiter の不可抗力通知は単一系統の報道で未確認。</a:t>
            </a:r>
            <a:endParaRPr lang="en-US" sz="1100" dirty="0"/>
          </a:p>
          <a:p>
            <a:pPr indent="0" marL="0">
              <a:buNone/>
            </a:pPr>
            <a:r>
              <a:rPr lang="en-US" sz="1100" dirty="0">
                <a:solidFill>
                  <a:srgbClr val="FFFFFF"/>
                </a:solidFill>
                <a:latin typeface="Meiryo UI" pitchFamily="34" charset="0"/>
                <a:ea typeface="Meiryo UI" pitchFamily="34" charset="-122"/>
                <a:cs typeface="Meiryo UI" pitchFamily="34" charset="-120"/>
              </a:rPr>
              <a:t>需給エンジンの EPS は FY30 に会社の目標より 7% 低い(AI 粗利率 35% の前提)。理論株価は会社の見通しの EPS を採用し、コンセンサスは比較に使う。</a:t>
            </a:r>
            <a:endParaRPr lang="en-US" sz="1100" dirty="0"/>
          </a:p>
          <a:p>
            <a:pPr indent="0" marL="0">
              <a:buNone/>
            </a:pPr>
            <a:r>
              <a:rPr lang="en-US" sz="1100" dirty="0">
                <a:solidFill>
                  <a:srgbClr val="FFFFFF"/>
                </a:solidFill>
                <a:latin typeface="Meiryo UI" pitchFamily="34" charset="0"/>
                <a:ea typeface="Meiryo UI" pitchFamily="34" charset="-122"/>
                <a:cs typeface="Meiryo UI" pitchFamily="34" charset="-120"/>
              </a:rPr>
              <a:t>説明会の数字は Investor Day 2026-10-28(8-K Ex.99.1・CFO 資料)による。</a:t>
            </a:r>
            <a:endParaRPr lang="en-US" sz="1100" dirty="0"/>
          </a:p>
          <a:p>
            <a:pPr indent="0" marL="0">
              <a:buNone/>
            </a:pPr>
            <a:r>
              <a:rPr lang="en-US" sz="1100" dirty="0">
                <a:solidFill>
                  <a:srgbClr val="FFFFFF"/>
                </a:solidFill>
                <a:latin typeface="Meiryo UI" pitchFamily="34" charset="0"/>
                <a:ea typeface="Meiryo UI" pitchFamily="34" charset="-122"/>
                <a:cs typeface="Meiryo UI" pitchFamily="34" charset="-120"/>
              </a:rPr>
              <a:t>株価は 2026-10-29 終値(139.56 ドル)、コンセンサスは説明会の前(2026-10-13〜15)時点。Q2 FY27 決算(12 月)で更新が必要になる。</a:t>
            </a:r>
            <a:endParaRPr lang="en-US" sz="1100" dirty="0"/>
          </a:p>
        </p:txBody>
      </p:sp>
      <p:sp>
        <p:nvSpPr>
          <p:cNvPr id="6"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86C99B"/>
                </a:solidFill>
                <a:latin typeface="Meiryo UI" pitchFamily="34" charset="0"/>
                <a:ea typeface="Meiryo UI" pitchFamily="34" charset="-122"/>
                <a:cs typeface="Meiryo UI" pitchFamily="34" charset="-120"/>
              </a:rPr>
              <a:t>49</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Oracle(ORCL)長期保有適格性審査</dc:title>
  <dc:subject>PptxGenJS Presentation</dc:subject>
  <dc:creator>Oracle 長期保有適格性審査</dc:creator>
  <cp:lastModifiedBy>Oracle 長期保有適格性審査</cp:lastModifiedBy>
  <cp:revision>1</cp:revision>
  <dcterms:created xsi:type="dcterms:W3CDTF">2026-10-30T16:27:17Z</dcterms:created>
  <dcterms:modified xsi:type="dcterms:W3CDTF">2026-10-30T16:27:17Z</dcterms:modified>
</cp:coreProperties>
</file>