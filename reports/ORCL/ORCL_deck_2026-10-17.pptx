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5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6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7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8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10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全社の営業利益率</c:v>
                </c:pt>
              </c:strCache>
            </c:strRef>
          </c:tx>
          <c:spPr>
            <a:solidFill>
              <a:srgbClr val="0E4D33"/>
            </a:solidFill>
            <a:ln w="25400" cap="flat">
              <a:solidFill>
                <a:srgbClr val="0E4D33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Meiryo U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E4D33"/>
              </a:solidFill>
              <a:ln w="9525" cap="flat">
                <a:solidFill>
                  <a:srgbClr val="0E4D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FY27</c:v>
                  </c:pt>
                  <c:pt idx="1">
                    <c:v>FY28</c:v>
                  </c:pt>
                  <c:pt idx="2">
                    <c:v>FY29</c:v>
                  </c:pt>
                  <c:pt idx="3">
                    <c:v>FY30</c:v>
                  </c:pt>
                  <c:pt idx="4">
                    <c:v>FY31</c:v>
                  </c:pt>
                  <c:pt idx="5">
                    <c:v>FY32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33.3</c:v>
                </c:pt>
                <c:pt idx="1">
                  <c:v>32.9</c:v>
                </c:pt>
                <c:pt idx="2">
                  <c:v>31</c:v>
                </c:pt>
                <c:pt idx="3">
                  <c:v>32.7</c:v>
                </c:pt>
                <c:pt idx="4">
                  <c:v>33.5</c:v>
                </c:pt>
                <c:pt idx="5">
                  <c:v>34.1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事業の営業利益率</c:v>
                </c:pt>
              </c:strCache>
            </c:strRef>
          </c:tx>
          <c:spPr>
            <a:solidFill>
              <a:srgbClr val="86C99B"/>
            </a:solidFill>
            <a:ln w="25400" cap="flat">
              <a:solidFill>
                <a:srgbClr val="86C99B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Meiryo U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6C99B"/>
              </a:solidFill>
              <a:ln w="9525" cap="flat">
                <a:solidFill>
                  <a:srgbClr val="86C99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FY27</c:v>
                  </c:pt>
                  <c:pt idx="1">
                    <c:v>FY28</c:v>
                  </c:pt>
                  <c:pt idx="2">
                    <c:v>FY29</c:v>
                  </c:pt>
                  <c:pt idx="3">
                    <c:v>FY30</c:v>
                  </c:pt>
                  <c:pt idx="4">
                    <c:v>FY31</c:v>
                  </c:pt>
                  <c:pt idx="5">
                    <c:v>FY32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10.5</c:v>
                </c:pt>
                <c:pt idx="1">
                  <c:v>22.1</c:v>
                </c:pt>
                <c:pt idx="2">
                  <c:v>22.6</c:v>
                </c:pt>
                <c:pt idx="3">
                  <c:v>27.6</c:v>
                </c:pt>
                <c:pt idx="4">
                  <c:v>29.3</c:v>
                </c:pt>
                <c:pt idx="5">
                  <c:v>30.4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Meiryo U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Meiryo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67676"/>
                </a:solidFill>
                <a:latin typeface="Meiryo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Meiryo UI"/>
              <a:cs typeface="Meiryo U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値上げ率(%)</c:v>
                </c:pt>
              </c:strCache>
            </c:strRef>
          </c:tx>
          <c:spPr>
            <a:solidFill>
              <a:srgbClr val="197A56"/>
            </a:solidFill>
            <a:effectLst/>
          </c:spPr>
          <c:invertIfNegative val="0"/>
          <c:dLbls>
            <c:numFmt formatCode="&quot;+&quot;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Meiryo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H100 1年契約の指数</c:v>
                  </c:pt>
                  <c:pt idx="1">
                    <c:v>CoreWeave(全品目)</c:v>
                  </c:pt>
                  <c:pt idx="2">
                    <c:v>AWS Capacity Blocks</c:v>
                  </c:pt>
                  <c:pt idx="3">
                    <c:v>Oracle(GPU の更新)</c:v>
                  </c:pt>
                  <c:pt idx="4">
                    <c:v>Dell(全製品の定価)</c:v>
                  </c:pt>
                  <c:pt idx="5">
                    <c:v>Nebius(H100)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56</c:v>
                </c:pt>
                <c:pt idx="1">
                  <c:v>25</c:v>
                </c:pt>
                <c:pt idx="2">
                  <c:v>20</c:v>
                </c:pt>
                <c:pt idx="3">
                  <c:v>20</c:v>
                </c:pt>
                <c:pt idx="4">
                  <c:v>17</c:v>
                </c:pt>
                <c:pt idx="5">
                  <c:v>17</c:v>
                </c:pt>
              </c:numCache>
            </c:numRef>
          </c:val>
        </c:ser>
        <c:dLbls>
          <c:numFmt formatCode="&quot;+&quot;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Meiryo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Meiryo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</c:scaling>
        <c:delete val="0"/>
        <c:axPos val="b"/>
        <c:majorGridlines>
          <c:spPr>
            <a:ln w="6350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67676"/>
                </a:solidFill>
                <a:latin typeface="Meiryo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Database@ 前年同期比(%)</c:v>
                </c:pt>
              </c:strCache>
            </c:strRef>
          </c:tx>
          <c:spPr>
            <a:solidFill>
              <a:srgbClr val="1BA1A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Meiryo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Q1 FY26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Q1 FY27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1529</c:v>
                </c:pt>
                <c:pt idx="1">
                  <c:v>817</c:v>
                </c:pt>
                <c:pt idx="2">
                  <c:v>531</c:v>
                </c:pt>
                <c:pt idx="3">
                  <c:v>404</c:v>
                </c:pt>
                <c:pt idx="4">
                  <c:v>353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Meiryo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Meiryo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0"/>
        </c:scaling>
        <c:delete val="0"/>
        <c:axPos val="l"/>
        <c:majorGridlines>
          <c:spPr>
            <a:ln w="6350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67676"/>
                </a:solidFill>
                <a:latin typeface="Meiryo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赤字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Meiryo U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FY27</c:v>
                  </c:pt>
                  <c:pt idx="1">
                    <c:v>FY28</c:v>
                  </c:pt>
                  <c:pt idx="2">
                    <c:v>FY29</c:v>
                  </c:pt>
                  <c:pt idx="3">
                    <c:v>FY30</c:v>
                  </c:pt>
                  <c:pt idx="4">
                    <c:v>FY31</c:v>
                  </c:pt>
                  <c:pt idx="5">
                    <c:v>FY32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-34.2</c:v>
                </c:pt>
                <c:pt idx="1">
                  <c:v>-34</c:v>
                </c:pt>
                <c:pt idx="2">
                  <c:v>-13.5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黒字</c:v>
                </c:pt>
              </c:strCache>
            </c:strRef>
          </c:tx>
          <c:spPr>
            <a:solidFill>
              <a:srgbClr val="197A56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Meiryo U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FY27</c:v>
                  </c:pt>
                  <c:pt idx="1">
                    <c:v>FY28</c:v>
                  </c:pt>
                  <c:pt idx="2">
                    <c:v>FY29</c:v>
                  </c:pt>
                  <c:pt idx="3">
                    <c:v>FY30</c:v>
                  </c:pt>
                  <c:pt idx="4">
                    <c:v>FY31</c:v>
                  </c:pt>
                  <c:pt idx="5">
                    <c:v>FY32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39</c:v>
                </c:pt>
                <c:pt idx="4">
                  <c:v>64.1</c:v>
                </c:pt>
                <c:pt idx="5">
                  <c:v>43.1</c:v>
                </c:pt>
              </c:numCache>
            </c:numRef>
          </c:val>
        </c:ser>
        <c:dLbls>
          <c:numFmt formatCode="0.0;-0.0;;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Meiryo U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Meiryo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-40"/>
        </c:scaling>
        <c:delete val="0"/>
        <c:axPos val="l"/>
        <c:majorGridlines>
          <c:spPr>
            <a:ln w="6350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67676"/>
                </a:solidFill>
                <a:latin typeface="Meiryo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Meiryo UI"/>
              <a:cs typeface="Meiryo U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 年 CAGR</c:v>
                </c:pt>
              </c:strCache>
            </c:strRef>
          </c:tx>
          <c:spPr>
            <a:solidFill>
              <a:srgbClr val="197A5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Meiryo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コンセンサス</c:v>
                  </c:pt>
                  <c:pt idx="1">
                    <c:v>会社(FY30 目標)</c:v>
                  </c:pt>
                  <c:pt idx="2">
                    <c:v>需給エンジン</c:v>
                  </c:pt>
                  <c:pt idx="3">
                    <c:v>確率加重の経路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33.9</c:v>
                </c:pt>
                <c:pt idx="1">
                  <c:v>34.4</c:v>
                </c:pt>
                <c:pt idx="2">
                  <c:v>31.5</c:v>
                </c:pt>
                <c:pt idx="3">
                  <c:v>28.6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Meiryo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Meiryo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67676"/>
                </a:solidFill>
                <a:latin typeface="Meiryo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12か月以内 860 億</c:v>
                </c:pt>
              </c:strCache>
            </c:strRef>
          </c:tx>
          <c:spPr>
            <a:solidFill>
              <a:srgbClr val="0E4D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Meiryo UI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RPO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13〜36か月 2,460 億</c:v>
                </c:pt>
              </c:strCache>
            </c:strRef>
          </c:tx>
          <c:spPr>
            <a:solidFill>
              <a:srgbClr val="197A5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Meiryo UI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RPO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246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37〜60か月 2,260 億</c:v>
                </c:pt>
              </c:strCache>
            </c:strRef>
          </c:tx>
          <c:spPr>
            <a:solidFill>
              <a:srgbClr val="86C99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Meiryo UI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RPO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226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60か月超 1,060 億</c:v>
                </c:pt>
              </c:strCache>
            </c:strRef>
          </c:tx>
          <c:spPr>
            <a:solidFill>
              <a:srgbClr val="1BA1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Meiryo UI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RPO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Meiryo UI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Meiryo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6E6E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767676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767676"/>
                    </a:solidFill>
                    <a:latin typeface="Arial"/>
                  </a:rPr>
                  <a:t>単位: 10 億ドル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67676"/>
                </a:solidFill>
                <a:latin typeface="Meiryo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Meiryo UI"/>
              <a:cs typeface="Meiryo U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市場</c:v>
                </c:pt>
              </c:strCache>
            </c:strRef>
          </c:tx>
          <c:spPr>
            <a:solidFill>
              <a:srgbClr val="D68910"/>
            </a:solidFill>
            <a:effectLst/>
          </c:spPr>
          <c:invertIfNegative val="0"/>
          <c:dLbls>
            <c:numFmt formatCode="0.0&quot;倍&quot;;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Meiryo U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弱気</c:v>
                  </c:pt>
                  <c:pt idx="1">
                    <c:v>市場(株価 143.20)</c:v>
                  </c:pt>
                  <c:pt idx="2">
                    <c:v>ベース</c:v>
                  </c:pt>
                  <c:pt idx="3">
                    <c:v>強気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15.7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シナリオ</c:v>
                </c:pt>
              </c:strCache>
            </c:strRef>
          </c:tx>
          <c:spPr>
            <a:solidFill>
              <a:srgbClr val="197A56"/>
            </a:solidFill>
            <a:effectLst/>
          </c:spPr>
          <c:invertIfNegative val="0"/>
          <c:dLbls>
            <c:numFmt formatCode="0.0&quot;倍&quot;;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Meiryo U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弱気</c:v>
                  </c:pt>
                  <c:pt idx="1">
                    <c:v>市場(株価 143.20)</c:v>
                  </c:pt>
                  <c:pt idx="2">
                    <c:v>ベース</c:v>
                  </c:pt>
                  <c:pt idx="3">
                    <c:v>強気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13.6</c:v>
                </c:pt>
                <c:pt idx="1">
                  <c:v>0</c:v>
                </c:pt>
                <c:pt idx="2">
                  <c:v>26.5</c:v>
                </c:pt>
                <c:pt idx="3">
                  <c:v>32.3</c:v>
                </c:pt>
              </c:numCache>
            </c:numRef>
          </c:val>
        </c:ser>
        <c:dLbls>
          <c:numFmt formatCode="0.0&quot;倍&quot;;;;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Meiryo U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Meiryo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67676"/>
                </a:solidFill>
                <a:latin typeface="Meiryo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強気</c:v>
                </c:pt>
              </c:strCache>
            </c:strRef>
          </c:tx>
          <c:spPr>
            <a:solidFill>
              <a:srgbClr val="86C99B"/>
            </a:solidFill>
            <a:ln w="25400" cap="flat">
              <a:solidFill>
                <a:srgbClr val="86C99B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Meiryo UI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6C99B"/>
              </a:solidFill>
              <a:ln w="9525" cap="flat">
                <a:solidFill>
                  <a:srgbClr val="86C99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FY27</c:v>
                  </c:pt>
                  <c:pt idx="1">
                    <c:v>FY28</c:v>
                  </c:pt>
                  <c:pt idx="2">
                    <c:v>FY29</c:v>
                  </c:pt>
                  <c:pt idx="3">
                    <c:v>FY30</c:v>
                  </c:pt>
                  <c:pt idx="4">
                    <c:v>FY31(延長)</c:v>
                  </c:pt>
                  <c:pt idx="5">
                    <c:v>FY32(延長)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7.01</c:v>
                </c:pt>
                <c:pt idx="1">
                  <c:v>10</c:v>
                </c:pt>
                <c:pt idx="2">
                  <c:v>16</c:v>
                </c:pt>
                <c:pt idx="3">
                  <c:v>22.95</c:v>
                </c:pt>
                <c:pt idx="4">
                  <c:v>29.61</c:v>
                </c:pt>
                <c:pt idx="5">
                  <c:v>37.43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弱気</c:v>
                </c:pt>
              </c:strCache>
            </c:strRef>
          </c:tx>
          <c:spPr>
            <a:solidFill>
              <a:srgbClr val="C0392B"/>
            </a:solidFill>
            <a:ln w="25400" cap="flat">
              <a:solidFill>
                <a:srgbClr val="C0392B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Meiryo UI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0392B"/>
              </a:solidFill>
              <a:ln w="9525" cap="flat">
                <a:solidFill>
                  <a:srgbClr val="C039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FY27</c:v>
                  </c:pt>
                  <c:pt idx="1">
                    <c:v>FY28</c:v>
                  </c:pt>
                  <c:pt idx="2">
                    <c:v>FY29</c:v>
                  </c:pt>
                  <c:pt idx="3">
                    <c:v>FY30</c:v>
                  </c:pt>
                  <c:pt idx="4">
                    <c:v>FY31(延長)</c:v>
                  </c:pt>
                  <c:pt idx="5">
                    <c:v>FY32(延長)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6.64</c:v>
                </c:pt>
                <c:pt idx="1">
                  <c:v>9.1</c:v>
                </c:pt>
                <c:pt idx="2">
                  <c:v>10.31</c:v>
                </c:pt>
                <c:pt idx="3">
                  <c:v>12.12</c:v>
                </c:pt>
                <c:pt idx="4">
                  <c:v>8.63</c:v>
                </c:pt>
                <c:pt idx="5">
                  <c:v>8.67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Meiryo UI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ベース</c:v>
                </c:pt>
              </c:strCache>
            </c:strRef>
          </c:tx>
          <c:spPr>
            <a:solidFill>
              <a:srgbClr val="197A56"/>
            </a:solidFill>
            <a:ln w="25400" cap="flat">
              <a:solidFill>
                <a:srgbClr val="197A56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Meiryo U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97A56"/>
              </a:solidFill>
              <a:ln w="9525" cap="flat">
                <a:solidFill>
                  <a:srgbClr val="197A5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FY27</c:v>
                  </c:pt>
                  <c:pt idx="1">
                    <c:v>FY28</c:v>
                  </c:pt>
                  <c:pt idx="2">
                    <c:v>FY29</c:v>
                  </c:pt>
                  <c:pt idx="3">
                    <c:v>FY30</c:v>
                  </c:pt>
                  <c:pt idx="4">
                    <c:v>FY31(延長)</c:v>
                  </c:pt>
                  <c:pt idx="5">
                    <c:v>FY32(延長)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6.85</c:v>
                </c:pt>
                <c:pt idx="1">
                  <c:v>9.65</c:v>
                </c:pt>
                <c:pt idx="2">
                  <c:v>14.42</c:v>
                </c:pt>
                <c:pt idx="3">
                  <c:v>19.07</c:v>
                </c:pt>
                <c:pt idx="4">
                  <c:v>24.33</c:v>
                </c:pt>
                <c:pt idx="5">
                  <c:v>29.48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Meiryo U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Meiryo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67676"/>
                </a:solidFill>
                <a:latin typeface="Meiryo UI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40"/>
          <c:min val="0"/>
        </c:scaling>
        <c:delete val="1"/>
        <c:axPos val="r"/>
        <c:majorGridlines>
          <c:spPr>
            <a:ln w="6350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67676"/>
                </a:solidFill>
                <a:latin typeface="Meiryo UI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Meiryo UI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Meiryo UI"/>
              <a:cs typeface="Meiryo U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理論株価(ドル)</c:v>
                </c:pt>
              </c:strCache>
            </c:strRef>
          </c:tx>
          <c:spPr>
            <a:solidFill>
              <a:srgbClr val="197A5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Meiryo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弱気 15%</c:v>
                  </c:pt>
                  <c:pt idx="1">
                    <c:v>25%(本資料)</c:v>
                  </c:pt>
                  <c:pt idx="2">
                    <c:v>35%</c:v>
                  </c:pt>
                  <c:pt idx="3">
                    <c:v>50%</c:v>
                  </c:pt>
                  <c:pt idx="4">
                    <c:v>75%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268</c:v>
                </c:pt>
                <c:pt idx="1">
                  <c:v>251</c:v>
                </c:pt>
                <c:pt idx="2">
                  <c:v>233</c:v>
                </c:pt>
                <c:pt idx="3">
                  <c:v>207</c:v>
                </c:pt>
                <c:pt idx="4">
                  <c:v>164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Meiryo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Meiryo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0"/>
        <c:axPos val="l"/>
        <c:majorGridlines>
          <c:spPr>
            <a:ln w="6350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67676"/>
                </a:solidFill>
                <a:latin typeface="Meiryo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理論株価(ドル)</c:v>
                </c:pt>
              </c:strCache>
            </c:strRef>
          </c:tx>
          <c:spPr>
            <a:solidFill>
              <a:srgbClr val="197A5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Meiryo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第1版</c:v>
                  </c:pt>
                  <c:pt idx="1">
                    <c:v>第3版</c:v>
                  </c:pt>
                  <c:pt idx="2">
                    <c:v>第3.1版</c:v>
                  </c:pt>
                  <c:pt idx="3">
                    <c:v>第4.0版</c:v>
                  </c:pt>
                  <c:pt idx="4">
                    <c:v>第4.1版</c:v>
                  </c:pt>
                  <c:pt idx="5">
                    <c:v>第4.2版</c:v>
                  </c:pt>
                  <c:pt idx="6">
                    <c:v>第4.3版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134</c:v>
                </c:pt>
                <c:pt idx="1">
                  <c:v>137</c:v>
                </c:pt>
                <c:pt idx="2">
                  <c:v>151</c:v>
                </c:pt>
                <c:pt idx="3">
                  <c:v>270</c:v>
                </c:pt>
                <c:pt idx="4">
                  <c:v>277</c:v>
                </c:pt>
                <c:pt idx="5">
                  <c:v>255</c:v>
                </c:pt>
                <c:pt idx="6">
                  <c:v>251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Meiryo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Meiryo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67676"/>
                </a:solidFill>
                <a:latin typeface="Meiryo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cover"/>
          <p:cNvSpPr/>
          <p:nvPr/>
        </p:nvSpPr>
        <p:spPr>
          <a:xfrm>
            <a:off x="0" y="0"/>
            <a:ext cx="7863840" cy="6858000"/>
          </a:xfrm>
          <a:prstGeom prst="rect">
            <a:avLst/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3" name="bg_cover_title"/>
          <p:cNvSpPr txBox="1"/>
          <p:nvPr/>
        </p:nvSpPr>
        <p:spPr>
          <a:xfrm>
            <a:off x="731520" y="1828800"/>
            <a:ext cx="6583680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Oracle(ORCL)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長期保有適格性審査</a:t>
            </a:r>
            <a:endParaRPr lang="en-US" sz="3000" dirty="0"/>
          </a:p>
        </p:txBody>
      </p:sp>
      <p:sp>
        <p:nvSpPr>
          <p:cNvPr id="4" name="bg_cover_sub"/>
          <p:cNvSpPr txBox="1"/>
          <p:nvPr/>
        </p:nvSpPr>
        <p:spPr>
          <a:xfrm>
            <a:off x="731520" y="37490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市場は AI 容量の現金化を疑い、株価は弱気寄りの倍率にとどまる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第4.3版(品質確認と再検証の反映後)</a:t>
            </a:r>
            <a:endParaRPr lang="en-US" sz="1400" dirty="0"/>
          </a:p>
        </p:txBody>
      </p:sp>
      <p:sp>
        <p:nvSpPr>
          <p:cNvPr id="5" name="bg_cover_date"/>
          <p:cNvSpPr txBox="1"/>
          <p:nvPr/>
        </p:nvSpPr>
        <p:spPr>
          <a:xfrm>
            <a:off x="731520" y="5943600"/>
            <a:ext cx="45720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2026-10-17</a:t>
            </a:r>
            <a:endParaRPr lang="en-US" sz="1100" dirty="0"/>
          </a:p>
        </p:txBody>
      </p:sp>
      <p:sp>
        <p:nvSpPr>
          <p:cNvPr id="6" name="bg_cover_k1"/>
          <p:cNvSpPr txBox="1"/>
          <p:nvPr/>
        </p:nvSpPr>
        <p:spPr>
          <a:xfrm>
            <a:off x="8321040" y="1828800"/>
            <a:ext cx="3410712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最終判断</a:t>
            </a:r>
            <a:endParaRPr lang="en-US" sz="1100" dirty="0"/>
          </a:p>
        </p:txBody>
      </p:sp>
      <p:sp>
        <p:nvSpPr>
          <p:cNvPr id="7" name="bg_cover_k1v"/>
          <p:cNvSpPr txBox="1"/>
          <p:nvPr/>
        </p:nvSpPr>
        <p:spPr>
          <a:xfrm>
            <a:off x="8321040" y="2121408"/>
            <a:ext cx="3410712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買い検討</a:t>
            </a:r>
            <a:endParaRPr lang="en-US" sz="2600" dirty="0"/>
          </a:p>
        </p:txBody>
      </p:sp>
      <p:sp>
        <p:nvSpPr>
          <p:cNvPr id="8" name="bg_cover_k2"/>
          <p:cNvSpPr txBox="1"/>
          <p:nvPr/>
        </p:nvSpPr>
        <p:spPr>
          <a:xfrm>
            <a:off x="8321040" y="3017520"/>
            <a:ext cx="3410712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理論株価(確率加重)</a:t>
            </a:r>
            <a:endParaRPr lang="en-US" sz="1100" dirty="0"/>
          </a:p>
        </p:txBody>
      </p:sp>
      <p:sp>
        <p:nvSpPr>
          <p:cNvPr id="9" name="bg_cover_k2v"/>
          <p:cNvSpPr txBox="1"/>
          <p:nvPr/>
        </p:nvSpPr>
        <p:spPr>
          <a:xfrm>
            <a:off x="8321040" y="3310128"/>
            <a:ext cx="3410712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251 ドル</a:t>
            </a:r>
            <a:endParaRPr lang="en-US" sz="2600" dirty="0"/>
          </a:p>
        </p:txBody>
      </p:sp>
      <p:sp>
        <p:nvSpPr>
          <p:cNvPr id="10" name="bg_cover_k3"/>
          <p:cNvSpPr txBox="1"/>
          <p:nvPr/>
        </p:nvSpPr>
        <p:spPr>
          <a:xfrm>
            <a:off x="8321040" y="4206240"/>
            <a:ext cx="3410712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構造評価</a:t>
            </a:r>
            <a:endParaRPr lang="en-US" sz="1100" dirty="0"/>
          </a:p>
        </p:txBody>
      </p:sp>
      <p:sp>
        <p:nvSpPr>
          <p:cNvPr id="11" name="bg_cover_k3v"/>
          <p:cNvSpPr txBox="1"/>
          <p:nvPr/>
        </p:nvSpPr>
        <p:spPr>
          <a:xfrm>
            <a:off x="8321040" y="4498848"/>
            <a:ext cx="3410712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2600" dirty="0"/>
          </a:p>
        </p:txBody>
      </p:sp>
      <p:sp>
        <p:nvSpPr>
          <p:cNvPr id="12" name="bg_cover_note"/>
          <p:cNvSpPr txBox="1"/>
          <p:nvPr/>
        </p:nvSpPr>
        <p:spPr>
          <a:xfrm>
            <a:off x="8321040" y="5303520"/>
            <a:ext cx="3410712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株価 143.20 ドル(2026-10-13 終値)の 1.75 倍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構造評価 B・理論株価 251 ドル(株価の 1.75 倍)で「買い検討」。争点は FY29 の FCF と OpenAI の支払能力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エグゼクティブサマリ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会社開示(Q1 FY27)、コンセンサス(Yahoo・FactSet・tickflow)、需給エンジン第4.3版(calc/out/m8_fair.json)。株価は 2026-10-13 終値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800" dirty="0"/>
          </a:p>
        </p:txBody>
      </p:sp>
      <p:sp>
        <p:nvSpPr>
          <p:cNvPr id="6" name="ovl_tile0"/>
          <p:cNvSpPr/>
          <p:nvPr/>
        </p:nvSpPr>
        <p:spPr>
          <a:xfrm>
            <a:off x="457200" y="1481328"/>
            <a:ext cx="2647874" cy="1325880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7" name="tile_v0"/>
          <p:cNvSpPr txBox="1"/>
          <p:nvPr/>
        </p:nvSpPr>
        <p:spPr>
          <a:xfrm>
            <a:off x="548640" y="1554480"/>
            <a:ext cx="24649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251 ドル</a:t>
            </a:r>
            <a:endParaRPr lang="en-US" sz="3200" dirty="0"/>
          </a:p>
        </p:txBody>
      </p:sp>
      <p:sp>
        <p:nvSpPr>
          <p:cNvPr id="8" name="tile_l0"/>
          <p:cNvSpPr txBox="1"/>
          <p:nvPr/>
        </p:nvSpPr>
        <p:spPr>
          <a:xfrm>
            <a:off x="548640" y="2286000"/>
            <a:ext cx="24649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理論株価(確率加重)</a:t>
            </a:r>
            <a:endParaRPr lang="en-US" sz="1050" dirty="0"/>
          </a:p>
        </p:txBody>
      </p:sp>
      <p:sp>
        <p:nvSpPr>
          <p:cNvPr id="9" name="tile_n0"/>
          <p:cNvSpPr txBox="1"/>
          <p:nvPr/>
        </p:nvSpPr>
        <p:spPr>
          <a:xfrm>
            <a:off x="548640" y="2551176"/>
            <a:ext cx="246499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ベース 261・強気 359・弱気 121</a:t>
            </a:r>
            <a:endParaRPr lang="en-US" sz="850" dirty="0"/>
          </a:p>
        </p:txBody>
      </p:sp>
      <p:sp>
        <p:nvSpPr>
          <p:cNvPr id="10" name="ovl_tile1"/>
          <p:cNvSpPr/>
          <p:nvPr/>
        </p:nvSpPr>
        <p:spPr>
          <a:xfrm>
            <a:off x="3333674" y="1481328"/>
            <a:ext cx="2647874" cy="1325880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11" name="tile_v1"/>
          <p:cNvSpPr txBox="1"/>
          <p:nvPr/>
        </p:nvSpPr>
        <p:spPr>
          <a:xfrm>
            <a:off x="3425114" y="1554480"/>
            <a:ext cx="24649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143.20 ドル</a:t>
            </a:r>
            <a:endParaRPr lang="en-US" sz="3200" dirty="0"/>
          </a:p>
        </p:txBody>
      </p:sp>
      <p:sp>
        <p:nvSpPr>
          <p:cNvPr id="12" name="tile_l1"/>
          <p:cNvSpPr txBox="1"/>
          <p:nvPr/>
        </p:nvSpPr>
        <p:spPr>
          <a:xfrm>
            <a:off x="3425114" y="2286000"/>
            <a:ext cx="24649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株価(10/13)</a:t>
            </a:r>
            <a:endParaRPr lang="en-US" sz="1050" dirty="0"/>
          </a:p>
        </p:txBody>
      </p:sp>
      <p:sp>
        <p:nvSpPr>
          <p:cNvPr id="13" name="tile_n1"/>
          <p:cNvSpPr txBox="1"/>
          <p:nvPr/>
        </p:nvSpPr>
        <p:spPr>
          <a:xfrm>
            <a:off x="3425114" y="2551176"/>
            <a:ext cx="246499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理論株価の 57%</a:t>
            </a:r>
            <a:endParaRPr lang="en-US" sz="850" dirty="0"/>
          </a:p>
        </p:txBody>
      </p:sp>
      <p:sp>
        <p:nvSpPr>
          <p:cNvPr id="14" name="ovl_tile2"/>
          <p:cNvSpPr/>
          <p:nvPr/>
        </p:nvSpPr>
        <p:spPr>
          <a:xfrm>
            <a:off x="6210148" y="1481328"/>
            <a:ext cx="2647874" cy="1325880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15" name="tile_v2"/>
          <p:cNvSpPr txBox="1"/>
          <p:nvPr/>
        </p:nvSpPr>
        <p:spPr>
          <a:xfrm>
            <a:off x="6301588" y="1554480"/>
            <a:ext cx="24649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3200" dirty="0"/>
          </a:p>
        </p:txBody>
      </p:sp>
      <p:sp>
        <p:nvSpPr>
          <p:cNvPr id="16" name="tile_l2"/>
          <p:cNvSpPr txBox="1"/>
          <p:nvPr/>
        </p:nvSpPr>
        <p:spPr>
          <a:xfrm>
            <a:off x="6301588" y="2286000"/>
            <a:ext cx="24649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構造評価</a:t>
            </a:r>
            <a:endParaRPr lang="en-US" sz="1050" dirty="0"/>
          </a:p>
        </p:txBody>
      </p:sp>
      <p:sp>
        <p:nvSpPr>
          <p:cNvPr id="17" name="tile_n2"/>
          <p:cNvSpPr txBox="1"/>
          <p:nvPr/>
        </p:nvSpPr>
        <p:spPr>
          <a:xfrm>
            <a:off x="6301588" y="2551176"/>
            <a:ext cx="246499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S1・A2・B8・C2</a:t>
            </a:r>
            <a:endParaRPr lang="en-US" sz="850" dirty="0"/>
          </a:p>
        </p:txBody>
      </p:sp>
      <p:sp>
        <p:nvSpPr>
          <p:cNvPr id="18" name="ovl_tile3"/>
          <p:cNvSpPr/>
          <p:nvPr/>
        </p:nvSpPr>
        <p:spPr>
          <a:xfrm>
            <a:off x="9086621" y="1481328"/>
            <a:ext cx="2647874" cy="1325880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19" name="tile_v3"/>
          <p:cNvSpPr txBox="1"/>
          <p:nvPr/>
        </p:nvSpPr>
        <p:spPr>
          <a:xfrm>
            <a:off x="9178061" y="1554480"/>
            <a:ext cx="24649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買い検討</a:t>
            </a:r>
            <a:endParaRPr lang="en-US" sz="3200" dirty="0"/>
          </a:p>
        </p:txBody>
      </p:sp>
      <p:sp>
        <p:nvSpPr>
          <p:cNvPr id="20" name="tile_l3"/>
          <p:cNvSpPr txBox="1"/>
          <p:nvPr/>
        </p:nvSpPr>
        <p:spPr>
          <a:xfrm>
            <a:off x="9178061" y="2286000"/>
            <a:ext cx="24649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最終判断</a:t>
            </a:r>
            <a:endParaRPr lang="en-US" sz="1050" dirty="0"/>
          </a:p>
        </p:txBody>
      </p:sp>
      <p:sp>
        <p:nvSpPr>
          <p:cNvPr id="21" name="tile_n3"/>
          <p:cNvSpPr txBox="1"/>
          <p:nvPr/>
        </p:nvSpPr>
        <p:spPr>
          <a:xfrm>
            <a:off x="9178061" y="2551176"/>
            <a:ext cx="246499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分割エントリー圏 136〜229 ドル</a:t>
            </a:r>
            <a:endParaRPr lang="en-US" sz="850" dirty="0"/>
          </a:p>
        </p:txBody>
      </p:sp>
      <p:sp>
        <p:nvSpPr>
          <p:cNvPr id="22" name="ovl_rail0"/>
          <p:cNvSpPr/>
          <p:nvPr/>
        </p:nvSpPr>
        <p:spPr>
          <a:xfrm>
            <a:off x="457200" y="2971800"/>
            <a:ext cx="2103120" cy="603504"/>
          </a:xfrm>
          <a:prstGeom prst="rect">
            <a:avLst/>
          </a:prstGeom>
          <a:solidFill>
            <a:srgbClr val="0E4D33"/>
          </a:solidFill>
          <a:ln w="9525">
            <a:solidFill>
              <a:srgbClr val="0E4D33"/>
            </a:solidFill>
            <a:prstDash val="solid"/>
          </a:ln>
        </p:spPr>
      </p:sp>
      <p:sp>
        <p:nvSpPr>
          <p:cNvPr id="23" name="rail0"/>
          <p:cNvSpPr txBox="1"/>
          <p:nvPr/>
        </p:nvSpPr>
        <p:spPr>
          <a:xfrm>
            <a:off x="566928" y="2971800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結論</a:t>
            </a:r>
            <a:endParaRPr lang="en-US" sz="1200" dirty="0"/>
          </a:p>
        </p:txBody>
      </p:sp>
      <p:sp>
        <p:nvSpPr>
          <p:cNvPr id="24" name="body0"/>
          <p:cNvSpPr txBox="1"/>
          <p:nvPr/>
        </p:nvSpPr>
        <p:spPr>
          <a:xfrm>
            <a:off x="2743200" y="2971800"/>
            <a:ext cx="8988552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構造は B、価格は理論株価の 57%。ただし争点(FY29 の FCF・OpenAI)で市場との差分が確立していないため「買い」ではなく「買い検討」</a:t>
            </a:r>
            <a:endParaRPr lang="en-US" sz="1100" dirty="0"/>
          </a:p>
        </p:txBody>
      </p:sp>
      <p:sp>
        <p:nvSpPr>
          <p:cNvPr id="25" name="ovl_rail1"/>
          <p:cNvSpPr/>
          <p:nvPr/>
        </p:nvSpPr>
        <p:spPr>
          <a:xfrm>
            <a:off x="457200" y="3630168"/>
            <a:ext cx="2103120" cy="603504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26" name="rail1"/>
          <p:cNvSpPr txBox="1"/>
          <p:nvPr/>
        </p:nvSpPr>
        <p:spPr>
          <a:xfrm>
            <a:off x="566928" y="3630168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事業</a:t>
            </a:r>
            <a:endParaRPr lang="en-US" sz="1200" dirty="0"/>
          </a:p>
        </p:txBody>
      </p:sp>
      <p:sp>
        <p:nvSpPr>
          <p:cNvPr id="27" name="body1"/>
          <p:cNvSpPr txBox="1"/>
          <p:nvPr/>
        </p:nvSpPr>
        <p:spPr>
          <a:xfrm>
            <a:off x="2743200" y="3630168"/>
            <a:ext cx="8988552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DB 保守・SaaS の現金と顧客の前払い・逼迫前の長期リースで AI 容量を建てる設備先行型(AWS 型)</a:t>
            </a:r>
            <a:endParaRPr lang="en-US" sz="1100" dirty="0"/>
          </a:p>
        </p:txBody>
      </p:sp>
      <p:sp>
        <p:nvSpPr>
          <p:cNvPr id="28" name="ovl_rail2"/>
          <p:cNvSpPr/>
          <p:nvPr/>
        </p:nvSpPr>
        <p:spPr>
          <a:xfrm>
            <a:off x="457200" y="4288536"/>
            <a:ext cx="2103120" cy="603504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29" name="rail2"/>
          <p:cNvSpPr txBox="1"/>
          <p:nvPr/>
        </p:nvSpPr>
        <p:spPr>
          <a:xfrm>
            <a:off x="566928" y="4288536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需給</a:t>
            </a:r>
            <a:endParaRPr lang="en-US" sz="1200" dirty="0"/>
          </a:p>
        </p:txBody>
      </p:sp>
      <p:sp>
        <p:nvSpPr>
          <p:cNvPr id="30" name="body2"/>
          <p:cNvSpPr txBox="1"/>
          <p:nvPr/>
        </p:nvSpPr>
        <p:spPr>
          <a:xfrm>
            <a:off x="2743200" y="4288536"/>
            <a:ext cx="8988552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受注残 6,640 億ドル・確保電力 10GW 超で FY29 までのコンセンサス売上は裏付けあり。FY30 以降は電力と資金が伸びを決める</a:t>
            </a:r>
            <a:endParaRPr lang="en-US" sz="1100" dirty="0"/>
          </a:p>
        </p:txBody>
      </p:sp>
      <p:sp>
        <p:nvSpPr>
          <p:cNvPr id="31" name="ovl_rail3"/>
          <p:cNvSpPr/>
          <p:nvPr/>
        </p:nvSpPr>
        <p:spPr>
          <a:xfrm>
            <a:off x="457200" y="4946904"/>
            <a:ext cx="2103120" cy="603504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32" name="rail3"/>
          <p:cNvSpPr txBox="1"/>
          <p:nvPr/>
        </p:nvSpPr>
        <p:spPr>
          <a:xfrm>
            <a:off x="566928" y="4946904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価値</a:t>
            </a:r>
            <a:endParaRPr lang="en-US" sz="1200" dirty="0"/>
          </a:p>
        </p:txBody>
      </p:sp>
      <p:sp>
        <p:nvSpPr>
          <p:cNvPr id="33" name="body3"/>
          <p:cNvSpPr txBox="1"/>
          <p:nvPr/>
        </p:nvSpPr>
        <p:spPr>
          <a:xfrm>
            <a:off x="2743200" y="4946904"/>
            <a:ext cx="8988552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事業実態 EPS × 妥当 PER(同業 23 倍・成長率×PEG・需給エンジン)を年度別に評価し、近い年度を重くして 251 ドル。DCF 231 ドルと整合</a:t>
            </a:r>
            <a:endParaRPr lang="en-US" sz="1100" dirty="0"/>
          </a:p>
        </p:txBody>
      </p:sp>
      <p:sp>
        <p:nvSpPr>
          <p:cNvPr id="34" name="ovl_rail4"/>
          <p:cNvSpPr/>
          <p:nvPr/>
        </p:nvSpPr>
        <p:spPr>
          <a:xfrm>
            <a:off x="457200" y="5605272"/>
            <a:ext cx="2103120" cy="603504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35" name="rail4"/>
          <p:cNvSpPr txBox="1"/>
          <p:nvPr/>
        </p:nvSpPr>
        <p:spPr>
          <a:xfrm>
            <a:off x="566928" y="5605272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市場との差分</a:t>
            </a:r>
            <a:endParaRPr lang="en-US" sz="1200" dirty="0"/>
          </a:p>
        </p:txBody>
      </p:sp>
      <p:sp>
        <p:nvSpPr>
          <p:cNvPr id="36" name="body4"/>
          <p:cNvSpPr txBox="1"/>
          <p:nvPr/>
        </p:nvSpPr>
        <p:spPr>
          <a:xfrm>
            <a:off x="2743200" y="5605272"/>
            <a:ext cx="8988552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株価は事業実態 EPS の 15.7 倍で弱気(13.6 倍)寄り。疑われているのは EPS ではなく現金化(FY29 の FCF・格付け・OpenAI)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4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agenda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3" name="bg_agenda_lbl"/>
          <p:cNvSpPr txBox="1"/>
          <p:nvPr/>
        </p:nvSpPr>
        <p:spPr>
          <a:xfrm>
            <a:off x="822960" y="2651760"/>
            <a:ext cx="292608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目次</a:t>
            </a:r>
            <a:endParaRPr lang="en-US" sz="2800" dirty="0"/>
          </a:p>
        </p:txBody>
      </p:sp>
      <p:sp>
        <p:nvSpPr>
          <p:cNvPr id="4" name="bg_agenda_n0"/>
          <p:cNvSpPr/>
          <p:nvPr/>
        </p:nvSpPr>
        <p:spPr>
          <a:xfrm>
            <a:off x="4572000" y="1828800"/>
            <a:ext cx="475488" cy="475488"/>
          </a:xfrm>
          <a:prstGeom prst="ellipse">
            <a:avLst/>
          </a:prstGeom>
          <a:solidFill>
            <a:srgbClr val="197A5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bg_agenda_nt0"/>
          <p:cNvSpPr txBox="1"/>
          <p:nvPr/>
        </p:nvSpPr>
        <p:spPr>
          <a:xfrm>
            <a:off x="4572000" y="1828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bg_agenda_ch0"/>
          <p:cNvSpPr txBox="1"/>
          <p:nvPr/>
        </p:nvSpPr>
        <p:spPr>
          <a:xfrm>
            <a:off x="5257800" y="1847088"/>
            <a:ext cx="64008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評価総括</a:t>
            </a:r>
            <a:endParaRPr lang="en-US" sz="1800" dirty="0"/>
          </a:p>
        </p:txBody>
      </p:sp>
      <p:sp>
        <p:nvSpPr>
          <p:cNvPr id="7" name="bg_agenda_n1"/>
          <p:cNvSpPr/>
          <p:nvPr/>
        </p:nvSpPr>
        <p:spPr>
          <a:xfrm>
            <a:off x="4572000" y="2697480"/>
            <a:ext cx="475488" cy="475488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g_agenda_nt1"/>
          <p:cNvSpPr txBox="1"/>
          <p:nvPr/>
        </p:nvSpPr>
        <p:spPr>
          <a:xfrm>
            <a:off x="4572000" y="2697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bg_agenda_ch1"/>
          <p:cNvSpPr txBox="1"/>
          <p:nvPr/>
        </p:nvSpPr>
        <p:spPr>
          <a:xfrm>
            <a:off x="5257800" y="2715768"/>
            <a:ext cx="64008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事業・需給・成長</a:t>
            </a:r>
            <a:endParaRPr lang="en-US" sz="1800" dirty="0"/>
          </a:p>
        </p:txBody>
      </p:sp>
      <p:sp>
        <p:nvSpPr>
          <p:cNvPr id="10" name="bg_agenda_n2"/>
          <p:cNvSpPr/>
          <p:nvPr/>
        </p:nvSpPr>
        <p:spPr>
          <a:xfrm>
            <a:off x="4572000" y="3566160"/>
            <a:ext cx="475488" cy="475488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g_agenda_nt2"/>
          <p:cNvSpPr txBox="1"/>
          <p:nvPr/>
        </p:nvSpPr>
        <p:spPr>
          <a:xfrm>
            <a:off x="4572000" y="35661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bg_agenda_ch2"/>
          <p:cNvSpPr txBox="1"/>
          <p:nvPr/>
        </p:nvSpPr>
        <p:spPr>
          <a:xfrm>
            <a:off x="5257800" y="3584448"/>
            <a:ext cx="64008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13条件の構造分析</a:t>
            </a:r>
            <a:endParaRPr lang="en-US" sz="1800" dirty="0"/>
          </a:p>
        </p:txBody>
      </p:sp>
      <p:sp>
        <p:nvSpPr>
          <p:cNvPr id="13" name="bg_agenda_n3"/>
          <p:cNvSpPr/>
          <p:nvPr/>
        </p:nvSpPr>
        <p:spPr>
          <a:xfrm>
            <a:off x="4572000" y="4434840"/>
            <a:ext cx="475488" cy="475488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g_agenda_nt3"/>
          <p:cNvSpPr txBox="1"/>
          <p:nvPr/>
        </p:nvSpPr>
        <p:spPr>
          <a:xfrm>
            <a:off x="4572000" y="4434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bg_agenda_ch3"/>
          <p:cNvSpPr txBox="1"/>
          <p:nvPr/>
        </p:nvSpPr>
        <p:spPr>
          <a:xfrm>
            <a:off x="5257800" y="4453128"/>
            <a:ext cx="64008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バリュエーション・リスク・投資アクション</a:t>
            </a:r>
            <a:endParaRPr lang="en-US" sz="1800" dirty="0"/>
          </a:p>
        </p:txBody>
      </p:sp>
      <p:sp>
        <p:nvSpPr>
          <p:cNvPr id="16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13 条件は S1・A2・B8・C2 で構造評価は B。弱点は「安い理由の検証」(条件7)と「コモディティ性」(条件8)に集中する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13 条件の評価一覧(評価の色は全スライド共通: S 濃緑・A 緑・B 薄緑・C アンバー)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本資料 第3章(条件別の構造分析)、銘柄分析メソッド Phase 3・6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800" dirty="0"/>
          </a:p>
        </p:txBody>
      </p:sp>
      <p:sp>
        <p:nvSpPr>
          <p:cNvPr id="6" name="ovl_badge"/>
          <p:cNvSpPr/>
          <p:nvPr/>
        </p:nvSpPr>
        <p:spPr>
          <a:xfrm>
            <a:off x="10820095" y="329184"/>
            <a:ext cx="914400" cy="713232"/>
          </a:xfrm>
          <a:prstGeom prst="roundRect">
            <a:avLst>
              <a:gd name="adj" fmla="val 10256"/>
            </a:avLst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7" name="ovl_badge_t"/>
          <p:cNvSpPr txBox="1"/>
          <p:nvPr/>
        </p:nvSpPr>
        <p:spPr>
          <a:xfrm>
            <a:off x="10820095" y="329184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3000" dirty="0"/>
          </a:p>
        </p:txBody>
      </p:sp>
      <p:sp>
        <p:nvSpPr>
          <p:cNvPr id="8" name="ovl_badge_l"/>
          <p:cNvSpPr txBox="1"/>
          <p:nvPr/>
        </p:nvSpPr>
        <p:spPr>
          <a:xfrm>
            <a:off x="10820095" y="78638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構造評価</a:t>
            </a:r>
            <a:endParaRPr lang="en-US" sz="800" dirty="0"/>
          </a:p>
        </p:txBody>
      </p:sp>
      <p:graphicFrame>
        <p:nvGraphicFramePr>
          <p:cNvPr id="5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81328"/>
          <a:ext cx="11274552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926080"/>
                <a:gridCol w="685800"/>
                <a:gridCol w="5120640"/>
                <a:gridCol w="2130552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#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条件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評価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根拠(一文)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監視 KPI(C のみ)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 年の価格決定力・競争優位・成長性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C99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DB の切替コストは長いが、AI の単価優位は逼迫期(FY32 まで)に限られる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コア事業の潤沢なキャッシュフロー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C99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コアは税引後 230 億ドル。全社 FCF はエンジンで FY29 まで赤字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コア技術・データの AI 転用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OCI +121%、Database@ +353% が増収の主因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日本株か米国株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NYSE 上場の米国企業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CEO の信頼性と拡大の経歴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C99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実行力は高いが、capex の超過と総額 KPI の報酬に留保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 年 EPS 成長率 30% 以上で PEG&lt;1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C99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 経路とも CAGR 30% 超・PEG 0.60〜0.66 だが余裕が薄い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低 PEG の理由がリスクの過大評価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89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安さの主因は OpenAI 集中と信用リスク(実在)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CDS 200bp / 300bp、OpenAI 比率 40%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コモディティでない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89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価値の 45% の AI 容量は需給が緩むと商品化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 粗利率 25% / 35%、更新 +20%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停めない運用に不可欠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C99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稼働率 97.9%・更新率は高いが代替のクラウドがある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無形資産の陳腐化リスク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C99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GPU の 6 年償却は更新・再販の実績と整合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模倣困難・代替不可能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C99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DB の配置は再現困難、AI 容量は 2〜4 年で再現可能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従量課金型の収益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受注残 6,640 億ドルが積み上がるストック型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アーキタイプ照合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C99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原型は ORCL 型、自社調達 GPU は MU 型に寄る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拒否権と C 上限の規則は発動しない。条件6 は数値上 S だが、条件7 との対評価で S を無効にし、余裕の薄さから B とした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構造評価の導出: 評価分布 → 適用ルール → 構造評価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銘柄分析メソッド Phase 6、本資料の評価一覧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</a:t>
            </a:r>
            <a:endParaRPr lang="en-US" sz="800" dirty="0"/>
          </a:p>
        </p:txBody>
      </p:sp>
      <p:sp>
        <p:nvSpPr>
          <p:cNvPr id="6" name="flow_h0"/>
          <p:cNvSpPr txBox="1"/>
          <p:nvPr/>
        </p:nvSpPr>
        <p:spPr>
          <a:xfrm>
            <a:off x="457200" y="1554480"/>
            <a:ext cx="3484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入力: 13 条件の評価</a:t>
            </a:r>
            <a:endParaRPr lang="en-US" sz="1100" dirty="0"/>
          </a:p>
        </p:txBody>
      </p:sp>
      <p:sp>
        <p:nvSpPr>
          <p:cNvPr id="7" name="ovl_fbox0_0"/>
          <p:cNvSpPr/>
          <p:nvPr/>
        </p:nvSpPr>
        <p:spPr>
          <a:xfrm>
            <a:off x="457200" y="1947672"/>
            <a:ext cx="3484778" cy="822960"/>
          </a:xfrm>
          <a:prstGeom prst="roundRect">
            <a:avLst>
              <a:gd name="adj" fmla="val 6667"/>
            </a:avLst>
          </a:prstGeom>
          <a:solidFill>
            <a:srgbClr val="0E4D33"/>
          </a:solidFill>
          <a:ln w="9525">
            <a:solidFill>
              <a:srgbClr val="0E4D33"/>
            </a:solidFill>
            <a:prstDash val="solid"/>
          </a:ln>
        </p:spPr>
      </p:sp>
      <p:sp>
        <p:nvSpPr>
          <p:cNvPr id="8" name="flow_t0_0"/>
          <p:cNvSpPr txBox="1"/>
          <p:nvPr/>
        </p:nvSpPr>
        <p:spPr>
          <a:xfrm>
            <a:off x="530352" y="1984248"/>
            <a:ext cx="333847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 × 1(条件4)</a:t>
            </a:r>
            <a:endParaRPr lang="en-US" sz="1000" dirty="0"/>
          </a:p>
        </p:txBody>
      </p:sp>
      <p:sp>
        <p:nvSpPr>
          <p:cNvPr id="9" name="ovl_fbox0_1"/>
          <p:cNvSpPr/>
          <p:nvPr/>
        </p:nvSpPr>
        <p:spPr>
          <a:xfrm>
            <a:off x="457200" y="2880360"/>
            <a:ext cx="3484778" cy="822960"/>
          </a:xfrm>
          <a:prstGeom prst="roundRect">
            <a:avLst>
              <a:gd name="adj" fmla="val 6667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10" name="flow_t0_1"/>
          <p:cNvSpPr txBox="1"/>
          <p:nvPr/>
        </p:nvSpPr>
        <p:spPr>
          <a:xfrm>
            <a:off x="530352" y="2916936"/>
            <a:ext cx="333847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 × 2(条件3・12)</a:t>
            </a:r>
            <a:endParaRPr lang="en-US" sz="1000" dirty="0"/>
          </a:p>
        </p:txBody>
      </p:sp>
      <p:sp>
        <p:nvSpPr>
          <p:cNvPr id="11" name="ovl_fbox0_2"/>
          <p:cNvSpPr/>
          <p:nvPr/>
        </p:nvSpPr>
        <p:spPr>
          <a:xfrm>
            <a:off x="457200" y="3813048"/>
            <a:ext cx="3484778" cy="822960"/>
          </a:xfrm>
          <a:prstGeom prst="roundRect">
            <a:avLst>
              <a:gd name="adj" fmla="val 6667"/>
            </a:avLst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12" name="flow_t0_2"/>
          <p:cNvSpPr txBox="1"/>
          <p:nvPr/>
        </p:nvSpPr>
        <p:spPr>
          <a:xfrm>
            <a:off x="530352" y="3849624"/>
            <a:ext cx="333847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 × 8</a:t>
            </a:r>
            <a:endParaRPr lang="en-US" sz="1000" dirty="0"/>
          </a:p>
        </p:txBody>
      </p:sp>
      <p:sp>
        <p:nvSpPr>
          <p:cNvPr id="13" name="ovl_fbox0_3"/>
          <p:cNvSpPr/>
          <p:nvPr/>
        </p:nvSpPr>
        <p:spPr>
          <a:xfrm>
            <a:off x="457200" y="4745736"/>
            <a:ext cx="3484778" cy="822960"/>
          </a:xfrm>
          <a:prstGeom prst="roundRect">
            <a:avLst>
              <a:gd name="adj" fmla="val 6667"/>
            </a:avLst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14" name="flow_t0_3"/>
          <p:cNvSpPr txBox="1"/>
          <p:nvPr/>
        </p:nvSpPr>
        <p:spPr>
          <a:xfrm>
            <a:off x="530352" y="4782312"/>
            <a:ext cx="333847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 × 2(条件7・8)</a:t>
            </a:r>
            <a:endParaRPr lang="en-US" sz="1000" dirty="0"/>
          </a:p>
        </p:txBody>
      </p:sp>
      <p:sp>
        <p:nvSpPr>
          <p:cNvPr id="15" name="ovl_farrow0"/>
          <p:cNvSpPr/>
          <p:nvPr/>
        </p:nvSpPr>
        <p:spPr>
          <a:xfrm>
            <a:off x="4003700" y="3575304"/>
            <a:ext cx="288036" cy="365760"/>
          </a:xfrm>
          <a:prstGeom prst="rightArrow">
            <a:avLst/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16" name="flow_h1"/>
          <p:cNvSpPr txBox="1"/>
          <p:nvPr/>
        </p:nvSpPr>
        <p:spPr>
          <a:xfrm>
            <a:off x="4353458" y="1554480"/>
            <a:ext cx="3484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処理: 適用ルール</a:t>
            </a:r>
            <a:endParaRPr lang="en-US" sz="1100" dirty="0"/>
          </a:p>
        </p:txBody>
      </p:sp>
      <p:sp>
        <p:nvSpPr>
          <p:cNvPr id="17" name="ovl_fbox1_0"/>
          <p:cNvSpPr/>
          <p:nvPr/>
        </p:nvSpPr>
        <p:spPr>
          <a:xfrm>
            <a:off x="4353458" y="2414016"/>
            <a:ext cx="3484778" cy="822960"/>
          </a:xfrm>
          <a:prstGeom prst="roundRect">
            <a:avLst>
              <a:gd name="adj" fmla="val 6667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18" name="flow_t1_0"/>
          <p:cNvSpPr txBox="1"/>
          <p:nvPr/>
        </p:nvSpPr>
        <p:spPr>
          <a:xfrm>
            <a:off x="4426610" y="2450592"/>
            <a:ext cx="333847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致命条件の拒否権(E 以下): 非発動</a:t>
            </a:r>
            <a:endParaRPr lang="en-US" sz="1000" dirty="0"/>
          </a:p>
        </p:txBody>
      </p:sp>
      <p:sp>
        <p:nvSpPr>
          <p:cNvPr id="19" name="ovl_fbox1_1"/>
          <p:cNvSpPr/>
          <p:nvPr/>
        </p:nvSpPr>
        <p:spPr>
          <a:xfrm>
            <a:off x="4353458" y="3346704"/>
            <a:ext cx="3484778" cy="822960"/>
          </a:xfrm>
          <a:prstGeom prst="roundRect">
            <a:avLst>
              <a:gd name="adj" fmla="val 6667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20" name="flow_t1_1"/>
          <p:cNvSpPr txBox="1"/>
          <p:nvPr/>
        </p:nvSpPr>
        <p:spPr>
          <a:xfrm>
            <a:off x="4426610" y="3383280"/>
            <a:ext cx="333847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条件6・7 の対評価: 発動(条件6 の S を無効)</a:t>
            </a:r>
            <a:endParaRPr lang="en-US" sz="1000" dirty="0"/>
          </a:p>
        </p:txBody>
      </p:sp>
      <p:sp>
        <p:nvSpPr>
          <p:cNvPr id="21" name="ovl_fbox1_2"/>
          <p:cNvSpPr/>
          <p:nvPr/>
        </p:nvSpPr>
        <p:spPr>
          <a:xfrm>
            <a:off x="4353458" y="4279392"/>
            <a:ext cx="3484778" cy="822960"/>
          </a:xfrm>
          <a:prstGeom prst="roundRect">
            <a:avLst>
              <a:gd name="adj" fmla="val 6667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22" name="flow_t1_2"/>
          <p:cNvSpPr txBox="1"/>
          <p:nvPr/>
        </p:nvSpPr>
        <p:spPr>
          <a:xfrm>
            <a:off x="4426610" y="4315968"/>
            <a:ext cx="333847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 × 4 以上で上限 C: 非発動(C は 2)</a:t>
            </a:r>
            <a:endParaRPr lang="en-US" sz="1000" dirty="0"/>
          </a:p>
        </p:txBody>
      </p:sp>
      <p:sp>
        <p:nvSpPr>
          <p:cNvPr id="23" name="ovl_farrow1"/>
          <p:cNvSpPr/>
          <p:nvPr/>
        </p:nvSpPr>
        <p:spPr>
          <a:xfrm>
            <a:off x="7899959" y="3575304"/>
            <a:ext cx="288036" cy="365760"/>
          </a:xfrm>
          <a:prstGeom prst="rightArrow">
            <a:avLst/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24" name="flow_h2"/>
          <p:cNvSpPr txBox="1"/>
          <p:nvPr/>
        </p:nvSpPr>
        <p:spPr>
          <a:xfrm>
            <a:off x="8249717" y="1554480"/>
            <a:ext cx="3484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出力: 構造評価</a:t>
            </a:r>
            <a:endParaRPr lang="en-US" sz="1100" dirty="0"/>
          </a:p>
        </p:txBody>
      </p:sp>
      <p:sp>
        <p:nvSpPr>
          <p:cNvPr id="25" name="ovl_fbox2_0"/>
          <p:cNvSpPr/>
          <p:nvPr/>
        </p:nvSpPr>
        <p:spPr>
          <a:xfrm>
            <a:off x="8249717" y="2560320"/>
            <a:ext cx="3484778" cy="1463040"/>
          </a:xfrm>
          <a:prstGeom prst="roundRect">
            <a:avLst>
              <a:gd name="adj" fmla="val 3750"/>
            </a:avLst>
          </a:prstGeom>
          <a:solidFill>
            <a:srgbClr val="0E4D33"/>
          </a:solidFill>
          <a:ln w="9525">
            <a:solidFill>
              <a:srgbClr val="0E4D33"/>
            </a:solidFill>
            <a:prstDash val="solid"/>
          </a:ln>
        </p:spPr>
      </p:sp>
      <p:sp>
        <p:nvSpPr>
          <p:cNvPr id="26" name="flow_t2_0"/>
          <p:cNvSpPr txBox="1"/>
          <p:nvPr/>
        </p:nvSpPr>
        <p:spPr>
          <a:xfrm>
            <a:off x="8322869" y="2596896"/>
            <a:ext cx="3338474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4000" dirty="0"/>
          </a:p>
        </p:txBody>
      </p:sp>
      <p:sp>
        <p:nvSpPr>
          <p:cNvPr id="27" name="ovl_fbox2_1"/>
          <p:cNvSpPr/>
          <p:nvPr/>
        </p:nvSpPr>
        <p:spPr>
          <a:xfrm>
            <a:off x="8249717" y="4133088"/>
            <a:ext cx="3484778" cy="822960"/>
          </a:xfrm>
          <a:prstGeom prst="roundRect">
            <a:avLst>
              <a:gd name="adj" fmla="val 6667"/>
            </a:avLst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28" name="flow_t2_1"/>
          <p:cNvSpPr txBox="1"/>
          <p:nvPr/>
        </p:nvSpPr>
        <p:spPr>
          <a:xfrm>
            <a:off x="8322869" y="4169664"/>
            <a:ext cx="333847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最頻の B を採用(機械的な平均はしない)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DB の切替コストと前払い・長期リースの資金構造が評価を押し上げ、AI 容量の商品性と OpenAI 集中が押し下げる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構造的要因サマリー: 構造(だから)→ 条件の評価(となり)→ 構造評価への効き(を動かした)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本資料 第3章、需給エンジン第4.3版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</a:t>
            </a:r>
            <a:endParaRPr lang="en-US" sz="800" dirty="0"/>
          </a:p>
        </p:txBody>
      </p:sp>
      <p:sp>
        <p:nvSpPr>
          <p:cNvPr id="6" name="head_up"/>
          <p:cNvSpPr txBox="1"/>
          <p:nvPr/>
        </p:nvSpPr>
        <p:spPr>
          <a:xfrm>
            <a:off x="457200" y="1481328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押し上げ要因</a:t>
            </a:r>
            <a:endParaRPr lang="en-US" sz="1200" dirty="0"/>
          </a:p>
        </p:txBody>
      </p:sp>
      <p:sp>
        <p:nvSpPr>
          <p:cNvPr id="7" name="head_down"/>
          <p:cNvSpPr txBox="1"/>
          <p:nvPr/>
        </p:nvSpPr>
        <p:spPr>
          <a:xfrm>
            <a:off x="457200" y="3630168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押し下げ要因</a:t>
            </a:r>
            <a:endParaRPr lang="en-US" sz="1200" dirty="0"/>
          </a:p>
        </p:txBody>
      </p:sp>
      <p:sp>
        <p:nvSpPr>
          <p:cNvPr id="8" name="ovl_card_up0"/>
          <p:cNvSpPr/>
          <p:nvPr/>
        </p:nvSpPr>
        <p:spPr>
          <a:xfrm>
            <a:off x="457200" y="1828800"/>
            <a:ext cx="2834640" cy="1691640"/>
          </a:xfrm>
          <a:prstGeom prst="rect">
            <a:avLst/>
          </a:prstGeom>
          <a:solidFill>
            <a:srgbClr val="EAF4EE"/>
          </a:solidFill>
          <a:ln w="9525">
            <a:solidFill>
              <a:srgbClr val="86C99B"/>
            </a:solidFill>
            <a:prstDash val="solid"/>
          </a:ln>
        </p:spPr>
      </p:sp>
      <p:sp>
        <p:nvSpPr>
          <p:cNvPr id="9" name="cn_up0"/>
          <p:cNvSpPr txBox="1"/>
          <p:nvPr/>
        </p:nvSpPr>
        <p:spPr>
          <a:xfrm>
            <a:off x="548640" y="19202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</a:t>
            </a:r>
            <a:endParaRPr lang="en-US" sz="950" dirty="0"/>
          </a:p>
        </p:txBody>
      </p:sp>
      <p:sp>
        <p:nvSpPr>
          <p:cNvPr id="10" name="ovl_badge"/>
          <p:cNvSpPr/>
          <p:nvPr/>
        </p:nvSpPr>
        <p:spPr>
          <a:xfrm>
            <a:off x="932688" y="1920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11" name="ovl_badge_t"/>
          <p:cNvSpPr txBox="1"/>
          <p:nvPr/>
        </p:nvSpPr>
        <p:spPr>
          <a:xfrm>
            <a:off x="932688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1300" dirty="0"/>
          </a:p>
        </p:txBody>
      </p:sp>
      <p:sp>
        <p:nvSpPr>
          <p:cNvPr id="12" name="no_up0_0"/>
          <p:cNvSpPr txBox="1"/>
          <p:nvPr/>
        </p:nvSpPr>
        <p:spPr>
          <a:xfrm>
            <a:off x="1344168" y="1920240"/>
            <a:ext cx="192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950" dirty="0"/>
          </a:p>
        </p:txBody>
      </p:sp>
      <p:sp>
        <p:nvSpPr>
          <p:cNvPr id="13" name="ovl_badge"/>
          <p:cNvSpPr/>
          <p:nvPr/>
        </p:nvSpPr>
        <p:spPr>
          <a:xfrm>
            <a:off x="1591056" y="1920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14" name="ovl_badge_t"/>
          <p:cNvSpPr txBox="1"/>
          <p:nvPr/>
        </p:nvSpPr>
        <p:spPr>
          <a:xfrm>
            <a:off x="159105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no_up0_1"/>
          <p:cNvSpPr txBox="1"/>
          <p:nvPr/>
        </p:nvSpPr>
        <p:spPr>
          <a:xfrm>
            <a:off x="2002536" y="192024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11</a:t>
            </a:r>
            <a:endParaRPr lang="en-US" sz="950" dirty="0"/>
          </a:p>
        </p:txBody>
      </p:sp>
      <p:sp>
        <p:nvSpPr>
          <p:cNvPr id="16" name="ovl_badge"/>
          <p:cNvSpPr/>
          <p:nvPr/>
        </p:nvSpPr>
        <p:spPr>
          <a:xfrm>
            <a:off x="2331720" y="1920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17" name="ovl_badge_t"/>
          <p:cNvSpPr txBox="1"/>
          <p:nvPr/>
        </p:nvSpPr>
        <p:spPr>
          <a:xfrm>
            <a:off x="233172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no_up0_2"/>
          <p:cNvSpPr txBox="1"/>
          <p:nvPr/>
        </p:nvSpPr>
        <p:spPr>
          <a:xfrm>
            <a:off x="2743200" y="192024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12</a:t>
            </a:r>
            <a:endParaRPr lang="en-US" sz="950" dirty="0"/>
          </a:p>
        </p:txBody>
      </p:sp>
      <p:sp>
        <p:nvSpPr>
          <p:cNvPr id="19" name="h_up0"/>
          <p:cNvSpPr txBox="1"/>
          <p:nvPr/>
        </p:nvSpPr>
        <p:spPr>
          <a:xfrm>
            <a:off x="548640" y="235915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DB の切替コスト</a:t>
            </a:r>
            <a:endParaRPr lang="en-US" sz="1100" dirty="0"/>
          </a:p>
        </p:txBody>
      </p:sp>
      <p:sp>
        <p:nvSpPr>
          <p:cNvPr id="20" name="b_up0"/>
          <p:cNvSpPr txBox="1"/>
          <p:nvPr/>
        </p:nvSpPr>
        <p:spPr>
          <a:xfrm>
            <a:off x="548640" y="267004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数十年続く保守・継続課金が土台になり、価格決定力と模倣困難性を支えて評価を上げた</a:t>
            </a:r>
            <a:endParaRPr lang="en-US" sz="950" dirty="0"/>
          </a:p>
        </p:txBody>
      </p:sp>
      <p:sp>
        <p:nvSpPr>
          <p:cNvPr id="21" name="ovl_card_up1"/>
          <p:cNvSpPr/>
          <p:nvPr/>
        </p:nvSpPr>
        <p:spPr>
          <a:xfrm>
            <a:off x="3520440" y="1828800"/>
            <a:ext cx="2834640" cy="1691640"/>
          </a:xfrm>
          <a:prstGeom prst="rect">
            <a:avLst/>
          </a:prstGeom>
          <a:solidFill>
            <a:srgbClr val="EAF4EE"/>
          </a:solidFill>
          <a:ln w="9525">
            <a:solidFill>
              <a:srgbClr val="86C99B"/>
            </a:solidFill>
            <a:prstDash val="solid"/>
          </a:ln>
        </p:spPr>
      </p:sp>
      <p:sp>
        <p:nvSpPr>
          <p:cNvPr id="22" name="cn_up1"/>
          <p:cNvSpPr txBox="1"/>
          <p:nvPr/>
        </p:nvSpPr>
        <p:spPr>
          <a:xfrm>
            <a:off x="3611880" y="19202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</a:t>
            </a:r>
            <a:endParaRPr lang="en-US" sz="950" dirty="0"/>
          </a:p>
        </p:txBody>
      </p:sp>
      <p:sp>
        <p:nvSpPr>
          <p:cNvPr id="23" name="ovl_badge"/>
          <p:cNvSpPr/>
          <p:nvPr/>
        </p:nvSpPr>
        <p:spPr>
          <a:xfrm>
            <a:off x="3995928" y="1920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24" name="ovl_badge_t"/>
          <p:cNvSpPr txBox="1"/>
          <p:nvPr/>
        </p:nvSpPr>
        <p:spPr>
          <a:xfrm>
            <a:off x="3995928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1300" dirty="0"/>
          </a:p>
        </p:txBody>
      </p:sp>
      <p:sp>
        <p:nvSpPr>
          <p:cNvPr id="25" name="no_up1_0"/>
          <p:cNvSpPr txBox="1"/>
          <p:nvPr/>
        </p:nvSpPr>
        <p:spPr>
          <a:xfrm>
            <a:off x="4407408" y="1920240"/>
            <a:ext cx="192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950" dirty="0"/>
          </a:p>
        </p:txBody>
      </p:sp>
      <p:sp>
        <p:nvSpPr>
          <p:cNvPr id="26" name="ovl_badge"/>
          <p:cNvSpPr/>
          <p:nvPr/>
        </p:nvSpPr>
        <p:spPr>
          <a:xfrm>
            <a:off x="4654296" y="1920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27" name="ovl_badge_t"/>
          <p:cNvSpPr txBox="1"/>
          <p:nvPr/>
        </p:nvSpPr>
        <p:spPr>
          <a:xfrm>
            <a:off x="46542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1300" dirty="0"/>
          </a:p>
        </p:txBody>
      </p:sp>
      <p:sp>
        <p:nvSpPr>
          <p:cNvPr id="28" name="no_up1_1"/>
          <p:cNvSpPr txBox="1"/>
          <p:nvPr/>
        </p:nvSpPr>
        <p:spPr>
          <a:xfrm>
            <a:off x="5065776" y="192024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13</a:t>
            </a:r>
            <a:endParaRPr lang="en-US" sz="950" dirty="0"/>
          </a:p>
        </p:txBody>
      </p:sp>
      <p:sp>
        <p:nvSpPr>
          <p:cNvPr id="29" name="h_up1"/>
          <p:cNvSpPr txBox="1"/>
          <p:nvPr/>
        </p:nvSpPr>
        <p:spPr>
          <a:xfrm>
            <a:off x="3611880" y="235915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前払い・長期リースの資金構造</a:t>
            </a:r>
            <a:endParaRPr lang="en-US" sz="1100" dirty="0"/>
          </a:p>
        </p:txBody>
      </p:sp>
      <p:sp>
        <p:nvSpPr>
          <p:cNvPr id="30" name="b_up1"/>
          <p:cNvSpPr txBox="1"/>
          <p:nvPr/>
        </p:nvSpPr>
        <p:spPr>
          <a:xfrm>
            <a:off x="3611880" y="267004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GPU の一部と建屋の資金を顧客・パートナーに移し、自己資金の負担を軽くして評価を支えた</a:t>
            </a:r>
            <a:endParaRPr lang="en-US" sz="950" dirty="0"/>
          </a:p>
        </p:txBody>
      </p:sp>
      <p:sp>
        <p:nvSpPr>
          <p:cNvPr id="31" name="ovl_card_up2"/>
          <p:cNvSpPr/>
          <p:nvPr/>
        </p:nvSpPr>
        <p:spPr>
          <a:xfrm>
            <a:off x="6583680" y="1828800"/>
            <a:ext cx="2834640" cy="1691640"/>
          </a:xfrm>
          <a:prstGeom prst="rect">
            <a:avLst/>
          </a:prstGeom>
          <a:solidFill>
            <a:srgbClr val="EAF4EE"/>
          </a:solidFill>
          <a:ln w="9525">
            <a:solidFill>
              <a:srgbClr val="86C99B"/>
            </a:solidFill>
            <a:prstDash val="solid"/>
          </a:ln>
        </p:spPr>
      </p:sp>
      <p:sp>
        <p:nvSpPr>
          <p:cNvPr id="32" name="cn_up2"/>
          <p:cNvSpPr txBox="1"/>
          <p:nvPr/>
        </p:nvSpPr>
        <p:spPr>
          <a:xfrm>
            <a:off x="6675120" y="19202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</a:t>
            </a:r>
            <a:endParaRPr lang="en-US" sz="950" dirty="0"/>
          </a:p>
        </p:txBody>
      </p:sp>
      <p:sp>
        <p:nvSpPr>
          <p:cNvPr id="33" name="ovl_badge"/>
          <p:cNvSpPr/>
          <p:nvPr/>
        </p:nvSpPr>
        <p:spPr>
          <a:xfrm>
            <a:off x="7059168" y="1920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34" name="ovl_badge_t"/>
          <p:cNvSpPr txBox="1"/>
          <p:nvPr/>
        </p:nvSpPr>
        <p:spPr>
          <a:xfrm>
            <a:off x="7059168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</a:t>
            </a:r>
            <a:endParaRPr lang="en-US" sz="1300" dirty="0"/>
          </a:p>
        </p:txBody>
      </p:sp>
      <p:sp>
        <p:nvSpPr>
          <p:cNvPr id="35" name="no_up2_0"/>
          <p:cNvSpPr txBox="1"/>
          <p:nvPr/>
        </p:nvSpPr>
        <p:spPr>
          <a:xfrm>
            <a:off x="7470648" y="1920240"/>
            <a:ext cx="192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950" dirty="0"/>
          </a:p>
        </p:txBody>
      </p:sp>
      <p:sp>
        <p:nvSpPr>
          <p:cNvPr id="36" name="h_up2"/>
          <p:cNvSpPr txBox="1"/>
          <p:nvPr/>
        </p:nvSpPr>
        <p:spPr>
          <a:xfrm>
            <a:off x="6675120" y="235915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DB の AI 転用</a:t>
            </a:r>
            <a:endParaRPr lang="en-US" sz="1100" dirty="0"/>
          </a:p>
        </p:txBody>
      </p:sp>
      <p:sp>
        <p:nvSpPr>
          <p:cNvPr id="37" name="b_up2"/>
          <p:cNvSpPr txBox="1"/>
          <p:nvPr/>
        </p:nvSpPr>
        <p:spPr>
          <a:xfrm>
            <a:off x="6675120" y="267004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OCI と Database@ が増収の主因になり、転用の成果として評価を上げた</a:t>
            </a:r>
            <a:endParaRPr lang="en-US" sz="950" dirty="0"/>
          </a:p>
        </p:txBody>
      </p:sp>
      <p:sp>
        <p:nvSpPr>
          <p:cNvPr id="38" name="ovl_card_down0"/>
          <p:cNvSpPr/>
          <p:nvPr/>
        </p:nvSpPr>
        <p:spPr>
          <a:xfrm>
            <a:off x="457200" y="3977640"/>
            <a:ext cx="2834640" cy="1691640"/>
          </a:xfrm>
          <a:prstGeom prst="rect">
            <a:avLst/>
          </a:prstGeom>
          <a:solidFill>
            <a:srgbClr val="F2F2F2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9" name="cn_down0"/>
          <p:cNvSpPr txBox="1"/>
          <p:nvPr/>
        </p:nvSpPr>
        <p:spPr>
          <a:xfrm>
            <a:off x="548640" y="40690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</a:t>
            </a:r>
            <a:endParaRPr lang="en-US" sz="950" dirty="0"/>
          </a:p>
        </p:txBody>
      </p:sp>
      <p:sp>
        <p:nvSpPr>
          <p:cNvPr id="40" name="ovl_badge"/>
          <p:cNvSpPr/>
          <p:nvPr/>
        </p:nvSpPr>
        <p:spPr>
          <a:xfrm>
            <a:off x="932688" y="40690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D68910"/>
          </a:solidFill>
          <a:ln w="12700">
            <a:solidFill>
              <a:srgbClr val="D68910"/>
            </a:solidFill>
            <a:prstDash val="solid"/>
          </a:ln>
        </p:spPr>
      </p:sp>
      <p:sp>
        <p:nvSpPr>
          <p:cNvPr id="41" name="ovl_badge_t"/>
          <p:cNvSpPr txBox="1"/>
          <p:nvPr/>
        </p:nvSpPr>
        <p:spPr>
          <a:xfrm>
            <a:off x="932688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</a:t>
            </a:r>
            <a:endParaRPr lang="en-US" sz="1300" dirty="0"/>
          </a:p>
        </p:txBody>
      </p:sp>
      <p:sp>
        <p:nvSpPr>
          <p:cNvPr id="42" name="no_down0_0"/>
          <p:cNvSpPr txBox="1"/>
          <p:nvPr/>
        </p:nvSpPr>
        <p:spPr>
          <a:xfrm>
            <a:off x="1344168" y="4069080"/>
            <a:ext cx="192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8</a:t>
            </a:r>
            <a:endParaRPr lang="en-US" sz="950" dirty="0"/>
          </a:p>
        </p:txBody>
      </p:sp>
      <p:sp>
        <p:nvSpPr>
          <p:cNvPr id="43" name="h_down0"/>
          <p:cNvSpPr txBox="1"/>
          <p:nvPr/>
        </p:nvSpPr>
        <p:spPr>
          <a:xfrm>
            <a:off x="548640" y="45079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 容量の商品性</a:t>
            </a:r>
            <a:endParaRPr lang="en-US" sz="1100" dirty="0"/>
          </a:p>
        </p:txBody>
      </p:sp>
      <p:sp>
        <p:nvSpPr>
          <p:cNvPr id="44" name="b_down0"/>
          <p:cNvSpPr txBox="1"/>
          <p:nvPr/>
        </p:nvSpPr>
        <p:spPr>
          <a:xfrm>
            <a:off x="548640" y="481888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価値の 45% が需給緩和後に限界供給者の損益分岐で値決めされ、評価を下げた</a:t>
            </a:r>
            <a:endParaRPr lang="en-US" sz="950" dirty="0"/>
          </a:p>
        </p:txBody>
      </p:sp>
      <p:sp>
        <p:nvSpPr>
          <p:cNvPr id="45" name="ovl_card_down1"/>
          <p:cNvSpPr/>
          <p:nvPr/>
        </p:nvSpPr>
        <p:spPr>
          <a:xfrm>
            <a:off x="3520440" y="3977640"/>
            <a:ext cx="2834640" cy="1691640"/>
          </a:xfrm>
          <a:prstGeom prst="rect">
            <a:avLst/>
          </a:prstGeom>
          <a:solidFill>
            <a:srgbClr val="F2F2F2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6" name="cn_down1"/>
          <p:cNvSpPr txBox="1"/>
          <p:nvPr/>
        </p:nvSpPr>
        <p:spPr>
          <a:xfrm>
            <a:off x="3611880" y="40690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</a:t>
            </a:r>
            <a:endParaRPr lang="en-US" sz="950" dirty="0"/>
          </a:p>
        </p:txBody>
      </p:sp>
      <p:sp>
        <p:nvSpPr>
          <p:cNvPr id="47" name="ovl_badge"/>
          <p:cNvSpPr/>
          <p:nvPr/>
        </p:nvSpPr>
        <p:spPr>
          <a:xfrm>
            <a:off x="3995928" y="40690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D68910"/>
          </a:solidFill>
          <a:ln w="12700">
            <a:solidFill>
              <a:srgbClr val="D68910"/>
            </a:solidFill>
            <a:prstDash val="solid"/>
          </a:ln>
        </p:spPr>
      </p:sp>
      <p:sp>
        <p:nvSpPr>
          <p:cNvPr id="48" name="ovl_badge_t"/>
          <p:cNvSpPr txBox="1"/>
          <p:nvPr/>
        </p:nvSpPr>
        <p:spPr>
          <a:xfrm>
            <a:off x="3995928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</a:t>
            </a:r>
            <a:endParaRPr lang="en-US" sz="1300" dirty="0"/>
          </a:p>
        </p:txBody>
      </p:sp>
      <p:sp>
        <p:nvSpPr>
          <p:cNvPr id="49" name="no_down1_0"/>
          <p:cNvSpPr txBox="1"/>
          <p:nvPr/>
        </p:nvSpPr>
        <p:spPr>
          <a:xfrm>
            <a:off x="4407408" y="4069080"/>
            <a:ext cx="192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7</a:t>
            </a:r>
            <a:endParaRPr lang="en-US" sz="950" dirty="0"/>
          </a:p>
        </p:txBody>
      </p:sp>
      <p:sp>
        <p:nvSpPr>
          <p:cNvPr id="50" name="h_down1"/>
          <p:cNvSpPr txBox="1"/>
          <p:nvPr/>
        </p:nvSpPr>
        <p:spPr>
          <a:xfrm>
            <a:off x="3611880" y="45079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OpenAI 集中と信用リスク</a:t>
            </a:r>
            <a:endParaRPr lang="en-US" sz="1100" dirty="0"/>
          </a:p>
        </p:txBody>
      </p:sp>
      <p:sp>
        <p:nvSpPr>
          <p:cNvPr id="51" name="b_down1"/>
          <p:cNvSpPr txBox="1"/>
          <p:nvPr/>
        </p:nvSpPr>
        <p:spPr>
          <a:xfrm>
            <a:off x="3611880" y="481888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受注残の約 45% が1社に集中し、CDS 227bp が示す実在のリスクが安さの主因になった</a:t>
            </a:r>
            <a:endParaRPr lang="en-US" sz="950" dirty="0"/>
          </a:p>
        </p:txBody>
      </p:sp>
      <p:sp>
        <p:nvSpPr>
          <p:cNvPr id="52" name="ovl_card_down2"/>
          <p:cNvSpPr/>
          <p:nvPr/>
        </p:nvSpPr>
        <p:spPr>
          <a:xfrm>
            <a:off x="6583680" y="3977640"/>
            <a:ext cx="2834640" cy="1691640"/>
          </a:xfrm>
          <a:prstGeom prst="rect">
            <a:avLst/>
          </a:prstGeom>
          <a:solidFill>
            <a:srgbClr val="F2F2F2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53" name="cn_down2"/>
          <p:cNvSpPr txBox="1"/>
          <p:nvPr/>
        </p:nvSpPr>
        <p:spPr>
          <a:xfrm>
            <a:off x="6675120" y="40690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</a:t>
            </a:r>
            <a:endParaRPr lang="en-US" sz="950" dirty="0"/>
          </a:p>
        </p:txBody>
      </p:sp>
      <p:sp>
        <p:nvSpPr>
          <p:cNvPr id="54" name="ovl_badge"/>
          <p:cNvSpPr/>
          <p:nvPr/>
        </p:nvSpPr>
        <p:spPr>
          <a:xfrm>
            <a:off x="7059168" y="40690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55" name="ovl_badge_t"/>
          <p:cNvSpPr txBox="1"/>
          <p:nvPr/>
        </p:nvSpPr>
        <p:spPr>
          <a:xfrm>
            <a:off x="7059168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1300" dirty="0"/>
          </a:p>
        </p:txBody>
      </p:sp>
      <p:sp>
        <p:nvSpPr>
          <p:cNvPr id="56" name="no_down2_0"/>
          <p:cNvSpPr txBox="1"/>
          <p:nvPr/>
        </p:nvSpPr>
        <p:spPr>
          <a:xfrm>
            <a:off x="7470648" y="4069080"/>
            <a:ext cx="192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950" dirty="0"/>
          </a:p>
        </p:txBody>
      </p:sp>
      <p:sp>
        <p:nvSpPr>
          <p:cNvPr id="57" name="ovl_badge"/>
          <p:cNvSpPr/>
          <p:nvPr/>
        </p:nvSpPr>
        <p:spPr>
          <a:xfrm>
            <a:off x="7717536" y="40690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58" name="ovl_badge_t"/>
          <p:cNvSpPr txBox="1"/>
          <p:nvPr/>
        </p:nvSpPr>
        <p:spPr>
          <a:xfrm>
            <a:off x="771753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1300" dirty="0"/>
          </a:p>
        </p:txBody>
      </p:sp>
      <p:sp>
        <p:nvSpPr>
          <p:cNvPr id="59" name="no_down2_1"/>
          <p:cNvSpPr txBox="1"/>
          <p:nvPr/>
        </p:nvSpPr>
        <p:spPr>
          <a:xfrm>
            <a:off x="8129016" y="406908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11</a:t>
            </a:r>
            <a:endParaRPr lang="en-US" sz="950" dirty="0"/>
          </a:p>
        </p:txBody>
      </p:sp>
      <p:sp>
        <p:nvSpPr>
          <p:cNvPr id="60" name="h_down2"/>
          <p:cNvSpPr txBox="1"/>
          <p:nvPr/>
        </p:nvSpPr>
        <p:spPr>
          <a:xfrm>
            <a:off x="6675120" y="45079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長期リースの固定費</a:t>
            </a:r>
            <a:endParaRPr lang="en-US" sz="1100" dirty="0"/>
          </a:p>
        </p:txBody>
      </p:sp>
      <p:sp>
        <p:nvSpPr>
          <p:cNvPr id="61" name="b_down2"/>
          <p:cNvSpPr txBox="1"/>
          <p:nvPr/>
        </p:nvSpPr>
        <p:spPr>
          <a:xfrm>
            <a:off x="6675120" y="481888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需要が鈍れば 15〜19 年の賃料が空室のまま残り、資金構造の利点の裏返しとして評価を抑えた</a:t>
            </a:r>
            <a:endParaRPr lang="en-US" sz="950" dirty="0"/>
          </a:p>
        </p:txBody>
      </p:sp>
      <p:sp>
        <p:nvSpPr>
          <p:cNvPr id="62" name="ovl_band"/>
          <p:cNvSpPr/>
          <p:nvPr/>
        </p:nvSpPr>
        <p:spPr>
          <a:xfrm>
            <a:off x="9829800" y="1828800"/>
            <a:ext cx="1901952" cy="3840480"/>
          </a:xfrm>
          <a:prstGeom prst="rect">
            <a:avLst/>
          </a:prstGeom>
          <a:solidFill>
            <a:srgbClr val="0E4D33"/>
          </a:solidFill>
          <a:ln w="9525">
            <a:solidFill>
              <a:srgbClr val="0E4D33"/>
            </a:solidFill>
            <a:prstDash val="solid"/>
          </a:ln>
        </p:spPr>
      </p:sp>
      <p:sp>
        <p:nvSpPr>
          <p:cNvPr id="63" name="ovl_badge"/>
          <p:cNvSpPr/>
          <p:nvPr/>
        </p:nvSpPr>
        <p:spPr>
          <a:xfrm>
            <a:off x="10140696" y="2880360"/>
            <a:ext cx="1280160" cy="1280160"/>
          </a:xfrm>
          <a:prstGeom prst="roundRect">
            <a:avLst>
              <a:gd name="adj" fmla="val 5714"/>
            </a:avLst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64" name="ovl_badge_t"/>
          <p:cNvSpPr txBox="1"/>
          <p:nvPr/>
        </p:nvSpPr>
        <p:spPr>
          <a:xfrm>
            <a:off x="10140696" y="288036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4200" dirty="0"/>
          </a:p>
        </p:txBody>
      </p:sp>
      <p:sp>
        <p:nvSpPr>
          <p:cNvPr id="65" name="band_label"/>
          <p:cNvSpPr txBox="1"/>
          <p:nvPr/>
        </p:nvSpPr>
        <p:spPr>
          <a:xfrm>
            <a:off x="9829800" y="4297680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構造評価</a:t>
            </a:r>
            <a:endParaRPr lang="en-US" sz="1400" dirty="0"/>
          </a:p>
        </p:txBody>
      </p:sp>
      <p:sp>
        <p:nvSpPr>
          <p:cNvPr id="66" name="ovl_arrow"/>
          <p:cNvSpPr/>
          <p:nvPr/>
        </p:nvSpPr>
        <p:spPr>
          <a:xfrm>
            <a:off x="9418320" y="2674620"/>
            <a:ext cx="411480" cy="914"/>
          </a:xfrm>
          <a:prstGeom prst="line">
            <a:avLst/>
          </a:prstGeom>
          <a:noFill/>
          <a:ln w="12700">
            <a:solidFill>
              <a:srgbClr val="197A56"/>
            </a:solidFill>
            <a:prstDash val="solid"/>
            <a:tailEnd type="triangle"/>
          </a:ln>
        </p:spPr>
      </p:sp>
      <p:sp>
        <p:nvSpPr>
          <p:cNvPr id="67" name="ovl_arrow"/>
          <p:cNvSpPr/>
          <p:nvPr/>
        </p:nvSpPr>
        <p:spPr>
          <a:xfrm>
            <a:off x="9418320" y="4823460"/>
            <a:ext cx="411480" cy="914"/>
          </a:xfrm>
          <a:prstGeom prst="line">
            <a:avLst/>
          </a:prstGeom>
          <a:noFill/>
          <a:ln w="12700">
            <a:solidFill>
              <a:srgbClr val="C0392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4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agenda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3" name="bg_agenda_lbl"/>
          <p:cNvSpPr txBox="1"/>
          <p:nvPr/>
        </p:nvSpPr>
        <p:spPr>
          <a:xfrm>
            <a:off x="822960" y="2651760"/>
            <a:ext cx="292608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目次</a:t>
            </a:r>
            <a:endParaRPr lang="en-US" sz="2800" dirty="0"/>
          </a:p>
        </p:txBody>
      </p:sp>
      <p:sp>
        <p:nvSpPr>
          <p:cNvPr id="4" name="bg_agenda_n0"/>
          <p:cNvSpPr/>
          <p:nvPr/>
        </p:nvSpPr>
        <p:spPr>
          <a:xfrm>
            <a:off x="4572000" y="1828800"/>
            <a:ext cx="475488" cy="475488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bg_agenda_nt0"/>
          <p:cNvSpPr txBox="1"/>
          <p:nvPr/>
        </p:nvSpPr>
        <p:spPr>
          <a:xfrm>
            <a:off x="4572000" y="1828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bg_agenda_ch0"/>
          <p:cNvSpPr txBox="1"/>
          <p:nvPr/>
        </p:nvSpPr>
        <p:spPr>
          <a:xfrm>
            <a:off x="5257800" y="1847088"/>
            <a:ext cx="64008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評価総括</a:t>
            </a:r>
            <a:endParaRPr lang="en-US" sz="1800" dirty="0"/>
          </a:p>
        </p:txBody>
      </p:sp>
      <p:sp>
        <p:nvSpPr>
          <p:cNvPr id="7" name="bg_agenda_n1"/>
          <p:cNvSpPr/>
          <p:nvPr/>
        </p:nvSpPr>
        <p:spPr>
          <a:xfrm>
            <a:off x="4572000" y="2697480"/>
            <a:ext cx="475488" cy="475488"/>
          </a:xfrm>
          <a:prstGeom prst="ellipse">
            <a:avLst/>
          </a:prstGeom>
          <a:solidFill>
            <a:srgbClr val="197A5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g_agenda_nt1"/>
          <p:cNvSpPr txBox="1"/>
          <p:nvPr/>
        </p:nvSpPr>
        <p:spPr>
          <a:xfrm>
            <a:off x="4572000" y="2697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bg_agenda_ch1"/>
          <p:cNvSpPr txBox="1"/>
          <p:nvPr/>
        </p:nvSpPr>
        <p:spPr>
          <a:xfrm>
            <a:off x="5257800" y="2715768"/>
            <a:ext cx="64008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事業・需給・成長</a:t>
            </a:r>
            <a:endParaRPr lang="en-US" sz="1800" dirty="0"/>
          </a:p>
        </p:txBody>
      </p:sp>
      <p:sp>
        <p:nvSpPr>
          <p:cNvPr id="10" name="bg_agenda_n2"/>
          <p:cNvSpPr/>
          <p:nvPr/>
        </p:nvSpPr>
        <p:spPr>
          <a:xfrm>
            <a:off x="4572000" y="3566160"/>
            <a:ext cx="475488" cy="475488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g_agenda_nt2"/>
          <p:cNvSpPr txBox="1"/>
          <p:nvPr/>
        </p:nvSpPr>
        <p:spPr>
          <a:xfrm>
            <a:off x="4572000" y="35661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bg_agenda_ch2"/>
          <p:cNvSpPr txBox="1"/>
          <p:nvPr/>
        </p:nvSpPr>
        <p:spPr>
          <a:xfrm>
            <a:off x="5257800" y="3584448"/>
            <a:ext cx="64008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13条件の構造分析</a:t>
            </a:r>
            <a:endParaRPr lang="en-US" sz="1800" dirty="0"/>
          </a:p>
        </p:txBody>
      </p:sp>
      <p:sp>
        <p:nvSpPr>
          <p:cNvPr id="13" name="bg_agenda_n3"/>
          <p:cNvSpPr/>
          <p:nvPr/>
        </p:nvSpPr>
        <p:spPr>
          <a:xfrm>
            <a:off x="4572000" y="4434840"/>
            <a:ext cx="475488" cy="475488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g_agenda_nt3"/>
          <p:cNvSpPr txBox="1"/>
          <p:nvPr/>
        </p:nvSpPr>
        <p:spPr>
          <a:xfrm>
            <a:off x="4572000" y="4434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bg_agenda_ch3"/>
          <p:cNvSpPr txBox="1"/>
          <p:nvPr/>
        </p:nvSpPr>
        <p:spPr>
          <a:xfrm>
            <a:off x="5257800" y="4453128"/>
            <a:ext cx="64008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バリュエーション・リスク・投資アクション</a:t>
            </a:r>
            <a:endParaRPr lang="en-US" sz="1800" dirty="0"/>
          </a:p>
        </p:txBody>
      </p:sp>
      <p:sp>
        <p:nvSpPr>
          <p:cNvPr id="16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製品・サービスを 8 群に分けると、利益は DB 保守、成長は AI 容量、上積みは Database@ と SaaS が担う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製品・サービスの 5W1H 台帳(8 群に集約)。売上は報告区分の値で、製品単独の額はほとんど開示されていない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report/r3_sections_5w1h_f20.md §2-0(会社開示・10-Q・価格表の第三者集計)。Q1 FY27 = 2026 年 6〜8 月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8</a:t>
            </a:r>
            <a:endParaRPr lang="en-US" sz="800" dirty="0"/>
          </a:p>
        </p:txBody>
      </p:sp>
      <p:graphicFrame>
        <p:nvGraphicFramePr>
          <p:cNvPr id="9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81328"/>
          <a:ext cx="11274552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2377440"/>
                <a:gridCol w="3291840"/>
                <a:gridCol w="2240280"/>
                <a:gridCol w="13990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群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誰が買う(Who)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何を・どう課金(What / How)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売上(Q1 FY27、前年比)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役割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DB ライセンス・保守(Java・旧来アプリ含む)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既存の大企業・官公庁。Java は全業種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DB はプロセッサー単位 + 年 22% の保守。Java は従業員数 × 月額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Software 区分 55.5 億ドル(−3%)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E4D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利益の柱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OCI 一般・主権クラウド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企業全般。主権は NRI・富士通・中東の通信会社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計算・保存・通信の従量。主権クラウドは最低 5 年のコミット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IaaS 区分 74 億ドル(+121%、AI を含む)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成長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 容量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OpenAI・xAI・Meta など AI 研究所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GPU 時間(H100 定価 10 ドル/時)。6 年で 600 億ドルの契約例。更新は +20%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IaaS 区分に含む(単独は非開示)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成長の主因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Database@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他社クラウド中心で Oracle DB を使う企業(顧客数 +180%)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他社の DC 内で Exadata・Autonomous を稼働。ECPU 時間で課金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+353%(額は非開示)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A1A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上積み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Autonomous・Exadata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大規模な Oracle DB の既存顧客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ECPU 時間。Cloud@Customer は 4 年のサブスク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Hardware 区分 約 8 億ドル(+15%)ほか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DB の器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SaaS(Fusion・NetSuite)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大企業(Fusion)・中堅(NetSuite)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従業員数・ユーザー数 × 月額。AI エージェントは追加料金なし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SaaS 区分 42 億ドル(+10%)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A1A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上積み(加速の候補)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業種別・Oracle Health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病院・退役軍人省、ホテル・銀行・小売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契約ごと。電子カルテは上限額方式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業種別 +20% 超(額は非開示)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選択的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サービス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Fusion・OCI・Health の導入顧客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導入・移行・運用支援。工数・固定額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14.1 億ドル(+4.8%)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付随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ovl_takeaway_bg"/>
          <p:cNvSpPr/>
          <p:nvPr/>
        </p:nvSpPr>
        <p:spPr>
          <a:xfrm>
            <a:off x="457200" y="5669280"/>
            <a:ext cx="11274552" cy="45720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8" name="takeaway"/>
          <p:cNvSpPr txBox="1"/>
          <p:nvPr/>
        </p:nvSpPr>
        <p:spPr>
          <a:xfrm>
            <a:off x="566928" y="5742432"/>
            <a:ext cx="11055096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利益は DB 保守、成長は AI 容量、上積みは Database@ と SaaS。AI 容量だけが製品単独の売上を開示していない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Q1 FY27 の売上 193 億ドルから GAAP 営業利益 67 億ドルが残る。費用の最大項目は AI 容量を含むクラウドの原価である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損益フロー(サンキー)、Q1 FY27(2026 年 6〜8 月)、10 億ドル。( )は前年同期比。GAAP 基準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Oracle FY27 Q1 決算発表・10-Q(2026-09)。非GAAP との差: 株式報酬 11.3 億・無形資産償却 2.0 億・リストラ等 0.9 億ドル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9</a:t>
            </a:r>
            <a:endParaRPr lang="en-US" sz="800" dirty="0"/>
          </a:p>
        </p:txBody>
      </p:sp>
      <p:pic>
        <p:nvPicPr>
          <p:cNvPr id="6" name="Image 0" descr="assets/sankey_q1fy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7680960" cy="4572000"/>
          </a:xfrm>
          <a:prstGeom prst="rect">
            <a:avLst/>
          </a:prstGeom>
        </p:spPr>
      </p:pic>
      <p:sp>
        <p:nvSpPr>
          <p:cNvPr id="7" name="ovl_takeaway_bg"/>
          <p:cNvSpPr/>
          <p:nvPr/>
        </p:nvSpPr>
        <p:spPr>
          <a:xfrm>
            <a:off x="8275320" y="1554480"/>
            <a:ext cx="3456432" cy="132588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8" name="takeaway"/>
          <p:cNvSpPr txBox="1"/>
          <p:nvPr/>
        </p:nvSpPr>
        <p:spPr>
          <a:xfrm>
            <a:off x="8385048" y="1627632"/>
            <a:ext cx="3236976" cy="11795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クラウド・ソフトの原価が +77% と売上(+33%)の 2 倍以上の速さで伸び、同部門の粗利率は 72.0% → 62.7% に下がった</a:t>
            </a:r>
            <a:endParaRPr lang="en-US" sz="1100" dirty="0"/>
          </a:p>
        </p:txBody>
      </p:sp>
      <p:sp>
        <p:nvSpPr>
          <p:cNvPr id="9" name="bullets"/>
          <p:cNvSpPr txBox="1"/>
          <p:nvPr/>
        </p:nvSpPr>
        <p:spPr>
          <a:xfrm>
            <a:off x="8275320" y="3017520"/>
            <a:ext cx="3456432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営業利益 +24.5 億ドル(+57%)は、営業費の減少 8.8 億ドル(うち償却とリストラの減少 5.4 億)に支えられた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GAAP 営業利益率 34.8%(非GAAP 42%)。差は株式報酬と償却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構成比: クラウド 60%・ソフトウェア 29%・サービス 7%・ハード 4%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原価の伸びは、AI 容量の稼働前の費用(電力・賃料)を含む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全社の営業利益率は AI の比率上昇で FY29 に 31% まで下がり、AI 事業内の改善で FY32 に 34% へ戻る。オーナー利益のルール・オブ・40 は 46〜76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事業実態の営業利益率(株式報酬を費用に含む。GAAP の Q1 は 34.8%、非GAAP は 42%)と AI 事業の利益率、%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需給エンジン第4.3版(calc/model8.py)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10</a:t>
            </a:r>
            <a:endParaRPr lang="en-US" sz="800" dirty="0"/>
          </a:p>
        </p:txBody>
      </p:sp>
      <p:graphicFrame>
        <p:nvGraphicFramePr>
          <p:cNvPr id="6" name="chart" descr=""/>
          <p:cNvGraphicFramePr/>
          <p:nvPr/>
        </p:nvGraphicFramePr>
        <p:xfrm>
          <a:off x="457200" y="1508760"/>
          <a:ext cx="76352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ovl_takeaway_bg"/>
          <p:cNvSpPr/>
          <p:nvPr/>
        </p:nvSpPr>
        <p:spPr>
          <a:xfrm>
            <a:off x="8275320" y="1554480"/>
            <a:ext cx="3456432" cy="123444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8" name="takeaway"/>
          <p:cNvSpPr txBox="1"/>
          <p:nvPr/>
        </p:nvSpPr>
        <p:spPr>
          <a:xfrm>
            <a:off x="8385048" y="1627632"/>
            <a:ext cx="3236976" cy="10881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利益率の低下は構成の変化(AI の売上比率 30% → 66%)によるもので、AI 事業そのものは稼働の成熟で改善する</a:t>
            </a:r>
            <a:endParaRPr lang="en-US" sz="1100" dirty="0"/>
          </a:p>
        </p:txBody>
      </p:sp>
      <p:graphicFrame>
        <p:nvGraphicFramePr>
          <p:cNvPr id="11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75320" y="2971800"/>
          <a:ext cx="3456432" cy="914400"/>
        </p:xfrm>
        <a:graphic>
          <a:graphicData uri="http://schemas.openxmlformats.org/drawingml/2006/table">
            <a:tbl>
              <a:tblPr/>
              <a:tblGrid>
                <a:gridCol w="713232"/>
                <a:gridCol w="822960"/>
                <a:gridCol w="868680"/>
                <a:gridCol w="10515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年度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売上成長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R40(FCF)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R40(オーナー)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43%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34%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FY30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29%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FY31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17%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FY32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note"/>
          <p:cNvSpPr txBox="1"/>
          <p:nvPr/>
        </p:nvSpPr>
        <p:spPr>
          <a:xfrm>
            <a:off x="8275320" y="4983480"/>
            <a:ext cx="3456432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R40 = 売上成長率 + 利益率。オーナー = オーナー利益(EBITDA − 維持投資 − 現金税)。償却費は将来の現金支出ではないため、維持投資で置き換えた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優位の源泉は価格ではなく DB と資金・敷地の確保にある。電力の確保に 3〜4 年かかる構造が参入を遅らせ、利益の上限は NVIDIA と買い手の集中が決める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左: 競合に対する価格・品質・差を生む活動(米国のオンデマンド定価)。右: ファイブフォース(各力の強さと Oracle の利益率への効き)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report/r3_sections_5w1h_f20.md §3-4(F20)、research3/W3_industry_structure.md、research2/R3_competition.md、ClusterMAX v3.0(2026-09)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11</a:t>
            </a:r>
            <a:endParaRPr lang="en-US" sz="800" dirty="0"/>
          </a:p>
        </p:txBody>
      </p:sp>
      <p:sp>
        <p:nvSpPr>
          <p:cNvPr id="6" name="pane_l"/>
          <p:cNvSpPr txBox="1"/>
          <p:nvPr/>
        </p:nvSpPr>
        <p:spPr>
          <a:xfrm>
            <a:off x="457200" y="1481328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競合比較: 品質 × 価格 × 価値連鎖</a:t>
            </a:r>
            <a:endParaRPr lang="en-US" sz="1200" dirty="0"/>
          </a:p>
        </p:txBody>
      </p:sp>
      <p:graphicFrame>
        <p:nvGraphicFramePr>
          <p:cNvPr id="12" name="tbl_compet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553212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00200"/>
                <a:gridCol w="141732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製品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価格(対競合)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差を生む活動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 容量(H100)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 ドル/時。AWS の 1.45 倍・CoreWeave の 1.62 倍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ClusterMAX は Gold(最上位は CoreWeave・Nebius)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資金と DC・電力の確保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汎用計算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月額で AWS・Azure より 45% 安い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SLA 99.99% で同水準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ハード外の仮想化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外向き通信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月 50TB で AWS の 12.6 分の 1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比較なし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ネットワーク設計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DB ライセンス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同じコアで必要なライセンスが半分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DB 本体は同一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ライセンス規則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Database@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OCI と同一価格。他社の契約枠に算入可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移設不要で低遅延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他社クラウド内への配置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ovl_takeaway_bg"/>
          <p:cNvSpPr/>
          <p:nvPr/>
        </p:nvSpPr>
        <p:spPr>
          <a:xfrm>
            <a:off x="457200" y="5257800"/>
            <a:ext cx="5532120" cy="86868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9" name="takeaway"/>
          <p:cNvSpPr txBox="1"/>
          <p:nvPr/>
        </p:nvSpPr>
        <p:spPr>
          <a:xfrm>
            <a:off x="566928" y="5330952"/>
            <a:ext cx="5312664" cy="7223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安いのは汎用計算・通信・DB ライセンス。GPU は高く品質も最上位ではない。優位は価格ではなく DB と資金・敷地の確保</a:t>
            </a:r>
            <a:endParaRPr lang="en-US" sz="1100" dirty="0"/>
          </a:p>
        </p:txBody>
      </p:sp>
      <p:sp>
        <p:nvSpPr>
          <p:cNvPr id="10" name="pane_r"/>
          <p:cNvSpPr txBox="1"/>
          <p:nvPr/>
        </p:nvSpPr>
        <p:spPr>
          <a:xfrm>
            <a:off x="6199632" y="1481328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ファイブフォース(業界構造)</a:t>
            </a:r>
            <a:endParaRPr lang="en-US" sz="1200" dirty="0"/>
          </a:p>
        </p:txBody>
      </p:sp>
      <p:sp>
        <p:nvSpPr>
          <p:cNvPr id="11" name="ovl_force_entry"/>
          <p:cNvSpPr/>
          <p:nvPr/>
        </p:nvSpPr>
        <p:spPr>
          <a:xfrm>
            <a:off x="8097012" y="1828800"/>
            <a:ext cx="17373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2" name="force_n_entry"/>
          <p:cNvSpPr txBox="1"/>
          <p:nvPr/>
        </p:nvSpPr>
        <p:spPr>
          <a:xfrm>
            <a:off x="8170164" y="18928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新規参入</a:t>
            </a:r>
            <a:endParaRPr lang="en-US" sz="1000" dirty="0"/>
          </a:p>
        </p:txBody>
      </p:sp>
      <p:sp>
        <p:nvSpPr>
          <p:cNvPr id="13" name="force_s_entry"/>
          <p:cNvSpPr txBox="1"/>
          <p:nvPr/>
        </p:nvSpPr>
        <p:spPr>
          <a:xfrm>
            <a:off x="9358884" y="1892808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弱</a:t>
            </a:r>
            <a:endParaRPr lang="en-US" sz="1000" dirty="0"/>
          </a:p>
        </p:txBody>
      </p:sp>
      <p:sp>
        <p:nvSpPr>
          <p:cNvPr id="14" name="force_f_entry"/>
          <p:cNvSpPr txBox="1"/>
          <p:nvPr/>
        </p:nvSpPr>
        <p:spPr>
          <a:xfrm>
            <a:off x="8170164" y="2194560"/>
            <a:ext cx="15910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ガスタービン納期 約 3 年、系統連系 約 40 か月、変圧器 128〜160 週</a:t>
            </a:r>
            <a:endParaRPr lang="en-US" sz="850" dirty="0"/>
          </a:p>
        </p:txBody>
      </p:sp>
      <p:sp>
        <p:nvSpPr>
          <p:cNvPr id="15" name="ovl_force_supp"/>
          <p:cNvSpPr/>
          <p:nvPr/>
        </p:nvSpPr>
        <p:spPr>
          <a:xfrm>
            <a:off x="6199632" y="3246120"/>
            <a:ext cx="17373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6" name="force_n_supp"/>
          <p:cNvSpPr txBox="1"/>
          <p:nvPr/>
        </p:nvSpPr>
        <p:spPr>
          <a:xfrm>
            <a:off x="6272784" y="33101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供給者</a:t>
            </a:r>
            <a:endParaRPr lang="en-US" sz="1000" dirty="0"/>
          </a:p>
        </p:txBody>
      </p:sp>
      <p:sp>
        <p:nvSpPr>
          <p:cNvPr id="17" name="force_s_supp"/>
          <p:cNvSpPr txBox="1"/>
          <p:nvPr/>
        </p:nvSpPr>
        <p:spPr>
          <a:xfrm>
            <a:off x="7461504" y="3310128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強</a:t>
            </a:r>
            <a:endParaRPr lang="en-US" sz="1000" dirty="0"/>
          </a:p>
        </p:txBody>
      </p:sp>
      <p:sp>
        <p:nvSpPr>
          <p:cNvPr id="18" name="force_f_supp"/>
          <p:cNvSpPr txBox="1"/>
          <p:nvPr/>
        </p:nvSpPr>
        <p:spPr>
          <a:xfrm>
            <a:off x="6272784" y="3611880"/>
            <a:ext cx="15910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NVIDIA が AI 計算の約 8 割(近似)。メモリ価格の上昇が capex を押し上げ</a:t>
            </a:r>
            <a:endParaRPr lang="en-US" sz="850" dirty="0"/>
          </a:p>
        </p:txBody>
      </p:sp>
      <p:sp>
        <p:nvSpPr>
          <p:cNvPr id="19" name="ovl_force_rival"/>
          <p:cNvSpPr/>
          <p:nvPr/>
        </p:nvSpPr>
        <p:spPr>
          <a:xfrm>
            <a:off x="8097012" y="3246120"/>
            <a:ext cx="17373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0" name="force_n_rival"/>
          <p:cNvSpPr txBox="1"/>
          <p:nvPr/>
        </p:nvSpPr>
        <p:spPr>
          <a:xfrm>
            <a:off x="8170164" y="33101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業界内の競争</a:t>
            </a:r>
            <a:endParaRPr lang="en-US" sz="1000" dirty="0"/>
          </a:p>
        </p:txBody>
      </p:sp>
      <p:sp>
        <p:nvSpPr>
          <p:cNvPr id="21" name="force_s_rival"/>
          <p:cNvSpPr txBox="1"/>
          <p:nvPr/>
        </p:nvSpPr>
        <p:spPr>
          <a:xfrm>
            <a:off x="9358884" y="3310128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6891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中</a:t>
            </a:r>
            <a:endParaRPr lang="en-US" sz="1000" dirty="0"/>
          </a:p>
        </p:txBody>
      </p:sp>
      <p:sp>
        <p:nvSpPr>
          <p:cNvPr id="22" name="force_f_rival"/>
          <p:cNvSpPr txBox="1"/>
          <p:nvPr/>
        </p:nvSpPr>
        <p:spPr>
          <a:xfrm>
            <a:off x="8170164" y="3611880"/>
            <a:ext cx="15910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H100 実勢: 大手 7.19 ドル・ネオクラウド 2.80 ドル。1 年契約は +38%</a:t>
            </a:r>
            <a:endParaRPr lang="en-US" sz="850" dirty="0"/>
          </a:p>
        </p:txBody>
      </p:sp>
      <p:sp>
        <p:nvSpPr>
          <p:cNvPr id="23" name="ovl_force_buyer"/>
          <p:cNvSpPr/>
          <p:nvPr/>
        </p:nvSpPr>
        <p:spPr>
          <a:xfrm>
            <a:off x="9994392" y="3246120"/>
            <a:ext cx="17373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4" name="force_n_buyer"/>
          <p:cNvSpPr txBox="1"/>
          <p:nvPr/>
        </p:nvSpPr>
        <p:spPr>
          <a:xfrm>
            <a:off x="10067544" y="33101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買い手</a:t>
            </a:r>
            <a:endParaRPr lang="en-US" sz="1000" dirty="0"/>
          </a:p>
        </p:txBody>
      </p:sp>
      <p:sp>
        <p:nvSpPr>
          <p:cNvPr id="25" name="force_s_buyer"/>
          <p:cNvSpPr txBox="1"/>
          <p:nvPr/>
        </p:nvSpPr>
        <p:spPr>
          <a:xfrm>
            <a:off x="11256264" y="3310128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強</a:t>
            </a:r>
            <a:endParaRPr lang="en-US" sz="1000" dirty="0"/>
          </a:p>
        </p:txBody>
      </p:sp>
      <p:sp>
        <p:nvSpPr>
          <p:cNvPr id="26" name="force_f_buyer"/>
          <p:cNvSpPr txBox="1"/>
          <p:nvPr/>
        </p:nvSpPr>
        <p:spPr>
          <a:xfrm>
            <a:off x="10067544" y="3611880"/>
            <a:ext cx="15910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OpenAI が受注残の約 45%。計算契約は売上見通しの約 32 倍</a:t>
            </a:r>
            <a:endParaRPr lang="en-US" sz="850" dirty="0"/>
          </a:p>
        </p:txBody>
      </p:sp>
      <p:sp>
        <p:nvSpPr>
          <p:cNvPr id="27" name="ovl_force_subst"/>
          <p:cNvSpPr/>
          <p:nvPr/>
        </p:nvSpPr>
        <p:spPr>
          <a:xfrm>
            <a:off x="8097012" y="4663440"/>
            <a:ext cx="17373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8" name="force_n_subst"/>
          <p:cNvSpPr txBox="1"/>
          <p:nvPr/>
        </p:nvSpPr>
        <p:spPr>
          <a:xfrm>
            <a:off x="8170164" y="472744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代替</a:t>
            </a:r>
            <a:endParaRPr lang="en-US" sz="1000" dirty="0"/>
          </a:p>
        </p:txBody>
      </p:sp>
      <p:sp>
        <p:nvSpPr>
          <p:cNvPr id="29" name="force_s_subst"/>
          <p:cNvSpPr txBox="1"/>
          <p:nvPr/>
        </p:nvSpPr>
        <p:spPr>
          <a:xfrm>
            <a:off x="9358884" y="4727448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6891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中</a:t>
            </a:r>
            <a:endParaRPr lang="en-US" sz="1000" dirty="0"/>
          </a:p>
        </p:txBody>
      </p:sp>
      <p:sp>
        <p:nvSpPr>
          <p:cNvPr id="30" name="force_f_subst"/>
          <p:cNvSpPr txBox="1"/>
          <p:nvPr/>
        </p:nvSpPr>
        <p:spPr>
          <a:xfrm>
            <a:off x="8170164" y="5029200"/>
            <a:ext cx="15910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Google TPU(Anthropic 2027 年から約 3.5GW)、AWS 自社チップ 年換算 250 億ドル超</a:t>
            </a:r>
            <a:endParaRPr lang="en-US" sz="850" dirty="0"/>
          </a:p>
        </p:txBody>
      </p:sp>
      <p:sp>
        <p:nvSpPr>
          <p:cNvPr id="31" name="ovl_arrow"/>
          <p:cNvSpPr/>
          <p:nvPr/>
        </p:nvSpPr>
        <p:spPr>
          <a:xfrm flipV="1">
            <a:off x="8965692" y="3154680"/>
            <a:ext cx="914" cy="91440"/>
          </a:xfrm>
          <a:prstGeom prst="line">
            <a:avLst/>
          </a:prstGeom>
          <a:noFill/>
          <a:ln w="12700">
            <a:solidFill>
              <a:srgbClr val="767676"/>
            </a:solidFill>
            <a:prstDash val="solid"/>
            <a:tailEnd type="triangle"/>
          </a:ln>
        </p:spPr>
      </p:sp>
      <p:sp>
        <p:nvSpPr>
          <p:cNvPr id="32" name="ovl_arrow"/>
          <p:cNvSpPr/>
          <p:nvPr/>
        </p:nvSpPr>
        <p:spPr>
          <a:xfrm>
            <a:off x="8965692" y="4572000"/>
            <a:ext cx="914" cy="91440"/>
          </a:xfrm>
          <a:prstGeom prst="line">
            <a:avLst/>
          </a:prstGeom>
          <a:noFill/>
          <a:ln w="12700">
            <a:solidFill>
              <a:srgbClr val="767676"/>
            </a:solidFill>
            <a:prstDash val="solid"/>
            <a:tailEnd type="triangle"/>
          </a:ln>
        </p:spPr>
      </p:sp>
      <p:sp>
        <p:nvSpPr>
          <p:cNvPr id="33" name="ovl_arrow"/>
          <p:cNvSpPr/>
          <p:nvPr/>
        </p:nvSpPr>
        <p:spPr>
          <a:xfrm flipH="1">
            <a:off x="7936992" y="3909060"/>
            <a:ext cx="16002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olid"/>
            <a:tailEnd type="triangle"/>
          </a:ln>
        </p:spPr>
      </p:sp>
      <p:sp>
        <p:nvSpPr>
          <p:cNvPr id="34" name="ovl_arrow"/>
          <p:cNvSpPr/>
          <p:nvPr/>
        </p:nvSpPr>
        <p:spPr>
          <a:xfrm>
            <a:off x="9834372" y="3909060"/>
            <a:ext cx="160020" cy="914"/>
          </a:xfrm>
          <a:prstGeom prst="line">
            <a:avLst/>
          </a:prstGeom>
          <a:noFill/>
          <a:ln w="12700">
            <a:solidFill>
              <a:srgbClr val="767676"/>
            </a:solidFill>
            <a:prstDash val="solid"/>
            <a:tailEnd type="triangle"/>
          </a:ln>
        </p:spPr>
      </p:sp>
      <p:sp>
        <p:nvSpPr>
          <p:cNvPr id="35" name="force_legend"/>
          <p:cNvSpPr txBox="1"/>
          <p:nvPr/>
        </p:nvSpPr>
        <p:spPr>
          <a:xfrm>
            <a:off x="9994392" y="4663440"/>
            <a:ext cx="173736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強さは Oracle の利益率への圧力。弱 = 参入が遅く Oracle に有利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推論・エージェント・ソブリン AI で需要は供給を上回り、部材と電力の不足を背景に 2026 年は主要クラウドが 15〜25% 値上げした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左: 需要の種類と規模。右: 2026 年の値上げ(前回価格比)と供給の制約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research4/T4_ai_demand.md(McKinsey・Google・Anthropic・Gartner)、research4/T5_supply_components.md(TrendForce・UBS・各社の価格表)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12</a:t>
            </a:r>
            <a:endParaRPr lang="en-US" sz="800" dirty="0"/>
          </a:p>
        </p:txBody>
      </p:sp>
      <p:sp>
        <p:nvSpPr>
          <p:cNvPr id="6" name="pane_head"/>
          <p:cNvSpPr txBox="1"/>
          <p:nvPr/>
        </p:nvSpPr>
        <p:spPr>
          <a:xfrm>
            <a:off x="457200" y="1481328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需要: 推論・エージェント・ソブリン</a:t>
            </a:r>
            <a:endParaRPr lang="en-US" sz="1200" dirty="0"/>
          </a:p>
        </p:txBody>
      </p:sp>
      <p:graphicFrame>
        <p:nvGraphicFramePr>
          <p:cNvPr id="13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553212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4480560"/>
              </a:tblGrid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種類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規模と伸び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推論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Google の月間トークン処理量 480 兆 → 3,200 兆(1 年で 6.7 倍)。推論の電力需要は 20.9 → 93.3GW(2030 年、年 35%)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エージェント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 タスクのトークンはチャットの約 4 倍、複数エージェントで約 15 倍(Anthropic の自社データ)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ソブリン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Stargate UAE 1GW(Oracle が運営)。ソブリンクラウド IaaS は 2026 年 800 億ドル(+35.6%)。Oracle は日本に 80 億ドル超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 全体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学習 + 推論の電力は 44 → 156GW(2030 年、年 29%)。Google・AWS・Azure はそろって「供給制約」を明言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5486400"/>
            <a:ext cx="55321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推論型モデルの計算 150 倍は DeepSeek と非推論モデルの 1 例の比較で、推論型モデル全般の値ではない</a:t>
            </a:r>
            <a:endParaRPr lang="en-US" sz="850" dirty="0"/>
          </a:p>
        </p:txBody>
      </p:sp>
      <p:sp>
        <p:nvSpPr>
          <p:cNvPr id="9" name="pane_head"/>
          <p:cNvSpPr txBox="1"/>
          <p:nvPr/>
        </p:nvSpPr>
        <p:spPr>
          <a:xfrm>
            <a:off x="6199632" y="1481328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供給: 値上げと制約</a:t>
            </a:r>
            <a:endParaRPr lang="en-US" sz="1200" dirty="0"/>
          </a:p>
        </p:txBody>
      </p:sp>
      <p:graphicFrame>
        <p:nvGraphicFramePr>
          <p:cNvPr id="10" name="chart" descr=""/>
          <p:cNvGraphicFramePr/>
          <p:nvPr/>
        </p:nvGraphicFramePr>
        <p:xfrm>
          <a:off x="6199632" y="1828800"/>
          <a:ext cx="553212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bullets"/>
          <p:cNvSpPr txBox="1"/>
          <p:nvPr/>
        </p:nvSpPr>
        <p:spPr>
          <a:xfrm>
            <a:off x="6199632" y="4251960"/>
            <a:ext cx="553212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メモリ: DRAM 契約価格は 2026 年に累計 約 3.7 倍、HBM の平均単価は 2027 年 +121%(TrendForce)。逼迫は 2028 年まで(UBS)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電力: ガスタービンの受注残 116GW、計画中の DC 容量の 30〜50% が 2028 年へ後ろ倒しの予想</a:t>
            </a:r>
            <a:endParaRPr lang="en-US" sz="950" dirty="0"/>
          </a:p>
        </p:txBody>
      </p:sp>
      <p:sp>
        <p:nvSpPr>
          <p:cNvPr id="12" name="ovl_takeaway_bg"/>
          <p:cNvSpPr/>
          <p:nvPr/>
        </p:nvSpPr>
        <p:spPr>
          <a:xfrm>
            <a:off x="6199632" y="5394960"/>
            <a:ext cx="5532120" cy="73152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3" name="takeaway"/>
          <p:cNvSpPr txBox="1"/>
          <p:nvPr/>
        </p:nvSpPr>
        <p:spPr>
          <a:xfrm>
            <a:off x="6309360" y="5468112"/>
            <a:ext cx="5312664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スマホと同じく、部材の逼迫が完成品(計算容量)の値上げとして買い手に転嫁されている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FY29 までのコンセンサス売上は受注残と確保電力で裏付けられる。FY30 以降の伸びは電力と資金で決まり、年 3.5GW を続ければベース +17 ドル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左: コンセンサスの需給検証(売上 10 億ドル、容量 GW)。右: FY30〜32 の容量を年 3.5GW 追加し続けた場合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コンセンサス(Yahoo・Simply Wall St・MarketScreener)、会社開示(RPO・10GW・Q1 納入)、需給エンジン第4.3版(calc/m8_cap_sens.py)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13</a:t>
            </a:r>
            <a:endParaRPr lang="en-US" sz="800" dirty="0"/>
          </a:p>
        </p:txBody>
      </p:sp>
      <p:sp>
        <p:nvSpPr>
          <p:cNvPr id="6" name="pane_head"/>
          <p:cNvSpPr txBox="1"/>
          <p:nvPr/>
        </p:nvSpPr>
        <p:spPr>
          <a:xfrm>
            <a:off x="457200" y="148132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コンセンサスの需給検証</a:t>
            </a:r>
            <a:endParaRPr lang="en-US" sz="1200" dirty="0"/>
          </a:p>
        </p:txBody>
      </p:sp>
      <p:graphicFrame>
        <p:nvGraphicFramePr>
          <p:cNvPr id="14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6400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960120"/>
                <a:gridCol w="960120"/>
                <a:gridCol w="731520"/>
                <a:gridCol w="210312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年度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コンセンサス売上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エンジン売上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容量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裏付け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判定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FY27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90.5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94.2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4.7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Q1 に 850MW 納入(前年度通期の 73%)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供給済み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FY28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131.5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134.5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7.4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36 か月以内の受注残 3,320 億ドル、10GW 超を確保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裏付けあり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FY29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183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181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11.5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確保した 10GW 超をここで使い切る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裏付けあり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FY30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(会社 225)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233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14.0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10GW 超より先の電力は未開示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D6891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電力が条件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bullets"/>
          <p:cNvSpPr txBox="1"/>
          <p:nvPr/>
        </p:nvSpPr>
        <p:spPr>
          <a:xfrm>
            <a:off x="457200" y="4343400"/>
            <a:ext cx="6400800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EPS(非GAAP)はエンジンが FY29 13.59・FY30 18.99 で、コンセンサス 15.78・20.53 より 14%・8% 低い。差は償却の重さ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理論株価はコンセンサスの EPS を使い、エンジンの EPS を使った場合(−11.5 ドル)を感応度に示した</a:t>
            </a:r>
            <a:endParaRPr lang="en-US" sz="1000" dirty="0"/>
          </a:p>
        </p:txBody>
      </p:sp>
      <p:sp>
        <p:nvSpPr>
          <p:cNvPr id="9" name="pane_head"/>
          <p:cNvSpPr txBox="1"/>
          <p:nvPr/>
        </p:nvSpPr>
        <p:spPr>
          <a:xfrm>
            <a:off x="7132320" y="1481328"/>
            <a:ext cx="4599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年 3.5GW を続けた場合</a:t>
            </a:r>
            <a:endParaRPr lang="en-US" sz="1200" dirty="0"/>
          </a:p>
        </p:txBody>
      </p:sp>
      <p:graphicFrame>
        <p:nvGraphicFramePr>
          <p:cNvPr id="27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0" y="1828800"/>
          <a:ext cx="459943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417320"/>
                <a:gridCol w="144475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項目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ベース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 3.5GW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容量 FY30/31/32(GW)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 / 16 / 18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15 / 18.5 / 22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EPS の伸び FY31 / FY32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+26% / +21%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+29% / +26%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FCF FY29 / FY30(億ドル)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−135 / +390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−260 / +70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格付け(機械判定)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BB+ は FY29〜30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BB+ は FY29〜30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理論株価 ベース / 加重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261 / 251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279 / 259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ovl_takeaway_bg"/>
          <p:cNvSpPr/>
          <p:nvPr/>
        </p:nvSpPr>
        <p:spPr>
          <a:xfrm>
            <a:off x="7132320" y="4343400"/>
            <a:ext cx="4599432" cy="91440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2" name="takeaway"/>
          <p:cNvSpPr txBox="1"/>
          <p:nvPr/>
        </p:nvSpPr>
        <p:spPr>
          <a:xfrm>
            <a:off x="7242048" y="4416552"/>
            <a:ext cx="4379976" cy="7680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減速は需要ではなく、確保済み電力の期限と資金(FCF・格付け)で決まる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7132320" y="5349240"/>
            <a:ext cx="4599432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強気に寄せる条件: 10GW 超より先の電力・拠点の開示、顧客の前払い・チップ持ち込みで Oracle の capex が減ること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上積みの2つ: SaaS は旧 ERP 顧客の移行で 10% → 14% に加速すると見て、Database@ は FY30 に 46 億ドル・1株 5 ドルの純増と置く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左: SaaS の先行指標・製品特性・反証と前提。右: Database@ の伸び(前年同期比)と前提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research4/T3_saas_products.md、research2/R4_database_at.md、research3/W6_database_at.md、需給エンジン第4.3版(calc/model8.py)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14</a:t>
            </a:r>
            <a:endParaRPr lang="en-US" sz="800" dirty="0"/>
          </a:p>
        </p:txBody>
      </p:sp>
      <p:sp>
        <p:nvSpPr>
          <p:cNvPr id="6" name="pane_head"/>
          <p:cNvSpPr txBox="1"/>
          <p:nvPr/>
        </p:nvSpPr>
        <p:spPr>
          <a:xfrm>
            <a:off x="457200" y="1481328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SaaS: 製品の特性から加速を読む</a:t>
            </a:r>
            <a:endParaRPr lang="en-US" sz="1200" dirty="0"/>
          </a:p>
        </p:txBody>
      </p:sp>
      <p:graphicFrame>
        <p:nvGraphicFramePr>
          <p:cNvPr id="15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55321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42062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観点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事実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実績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SaaS +10%(Q1 FY27)。直近 5 四半期は 10〜13% で、まだ加速していない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先行指標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繰延収益 +16% が売上 +10% を上回る(Q4 FY26、要約 1 件)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移行の余地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旧来 ERP の顧客 8,500 社のうち Fusion へ移行済みは約 1,000 社(CEO 発言、時点不明)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需要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エージェント型 AI のソフト支出は 2030 年に 9,850 億ドル(Gartner)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同業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SAP クラウド +22%、ServiceNow 購読 +24.5%、Salesforce +11%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反証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エージェントは追加料金なし。AI で席数が減る懸念(2026-02 にソフト株が急落)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ovl_takeaway_bg"/>
          <p:cNvSpPr/>
          <p:nvPr/>
        </p:nvSpPr>
        <p:spPr>
          <a:xfrm>
            <a:off x="457200" y="4754880"/>
            <a:ext cx="5532120" cy="137160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9" name="takeaway"/>
          <p:cNvSpPr txBox="1"/>
          <p:nvPr/>
        </p:nvSpPr>
        <p:spPr>
          <a:xfrm>
            <a:off x="566928" y="4828032"/>
            <a:ext cx="5312664" cy="12252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前提: FY27 10% → FY31 14% → FY36 に 8%。ERP は取引データと実行権限を持つため、エージェントの普及は移行を後押しする。反証は弱気シナリオで −2pt として数える</a:t>
            </a:r>
            <a:endParaRPr lang="en-US" sz="1100" dirty="0"/>
          </a:p>
        </p:txBody>
      </p:sp>
      <p:sp>
        <p:nvSpPr>
          <p:cNvPr id="10" name="pane_head"/>
          <p:cNvSpPr txBox="1"/>
          <p:nvPr/>
        </p:nvSpPr>
        <p:spPr>
          <a:xfrm>
            <a:off x="6199632" y="1481328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Database@: 3 桁成長は続くが減速している</a:t>
            </a:r>
            <a:endParaRPr lang="en-US" sz="1200" dirty="0"/>
          </a:p>
        </p:txBody>
      </p:sp>
      <p:graphicFrame>
        <p:nvGraphicFramePr>
          <p:cNvPr id="11" name="chart" descr=""/>
          <p:cNvGraphicFramePr/>
          <p:nvPr/>
        </p:nvGraphicFramePr>
        <p:xfrm>
          <a:off x="6199632" y="182880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bullets"/>
          <p:cNvSpPr txBox="1"/>
          <p:nvPr/>
        </p:nvSpPr>
        <p:spPr>
          <a:xfrm>
            <a:off x="6199632" y="4343400"/>
            <a:ext cx="5532120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70 リージョン・119 AZ(Azure 33・Google 14・AWS 22)、顧客数 +180%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前提: FY30 に 46 億ドル。移行した保守売上(70%)÷ 移行倍率 2.5 を保守から差し引いても 1 株 5.4 ドルの純増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会社の FY30 目標(クラウド DB 全体 200 億ドル)より保守的。伸びは毎期 5pt ずつ減速させた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エンジンでは FY29〜30 に BB+ だが、S&amp;P とコンセンサスは FY29 黒字。金利が下がれば 265 ドル、6% で高止まりでも 242 ドルで株価を上回る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左: FCF と格付けの経路(需給エンジン、ベース)。右: 金利の経路と理論株価(株主資本コストも同じ前提で変える)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需給エンジン第4.3版(calc/out/m8_all.json・m8_extra.json)、research2/R5_credit.md、research3/W4_rates.md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15</a:t>
            </a:r>
            <a:endParaRPr lang="en-US" sz="800" dirty="0"/>
          </a:p>
        </p:txBody>
      </p:sp>
      <p:sp>
        <p:nvSpPr>
          <p:cNvPr id="6" name="pane_head"/>
          <p:cNvSpPr txBox="1"/>
          <p:nvPr/>
        </p:nvSpPr>
        <p:spPr>
          <a:xfrm>
            <a:off x="457200" y="148132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FCF(10 億ドル)と格付け</a:t>
            </a:r>
            <a:endParaRPr lang="en-US" sz="1200" dirty="0"/>
          </a:p>
        </p:txBody>
      </p:sp>
      <p:graphicFrame>
        <p:nvGraphicFramePr>
          <p:cNvPr id="7" name="chart" descr=""/>
          <p:cNvGraphicFramePr/>
          <p:nvPr/>
        </p:nvGraphicFramePr>
        <p:xfrm>
          <a:off x="457200" y="1783080"/>
          <a:ext cx="57607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663440"/>
          <a:ext cx="57607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  <a:gridCol w="9601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FY30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FY31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FY32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BBB-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BBB-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6891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BB+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6891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BB+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BBB-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BBB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5349240"/>
            <a:ext cx="576072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S&amp;P の格下げ条件: 調整後レバレッジ 4.5 倍超が続く、FY29 までに FOCF が黒字化しない、AI 戦略への否定的な見方。S&amp;P の基本シナリオとコンセンサスは FY29 に黒字(エンジンとの差は capex の水準)</a:t>
            </a:r>
            <a:endParaRPr lang="en-US" sz="950" dirty="0"/>
          </a:p>
        </p:txBody>
      </p:sp>
      <p:sp>
        <p:nvSpPr>
          <p:cNvPr id="10" name="pane_head"/>
          <p:cNvSpPr txBox="1"/>
          <p:nvPr/>
        </p:nvSpPr>
        <p:spPr>
          <a:xfrm>
            <a:off x="6446520" y="1481328"/>
            <a:ext cx="5285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金利の経路と理論株価</a:t>
            </a:r>
            <a:endParaRPr lang="en-US" sz="1200" dirty="0"/>
          </a:p>
        </p:txBody>
      </p:sp>
      <p:graphicFrame>
        <p:nvGraphicFramePr>
          <p:cNvPr id="31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828800"/>
          <a:ext cx="5285232" cy="914400"/>
        </p:xfrm>
        <a:graphic>
          <a:graphicData uri="http://schemas.openxmlformats.org/drawingml/2006/table">
            <a:tbl>
              <a:tblPr/>
              <a:tblGrid>
                <a:gridCol w="2176272"/>
                <a:gridCol w="1005840"/>
                <a:gridCol w="1051560"/>
                <a:gridCol w="1051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金利の経路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株主資本コスト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理論株価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(加重)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DCF(加重)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市場の曲線(ベース)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10.77%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251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予測どおり低下(5.2 → 4.2%)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10.43%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6.0% で高止まり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11.57%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242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bullets"/>
          <p:cNvSpPr txBox="1"/>
          <p:nvPr/>
        </p:nvSpPr>
        <p:spPr>
          <a:xfrm>
            <a:off x="6446520" y="3611880"/>
            <a:ext cx="5285232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ベースは市場の利回り曲線で割り引く(2 年 4.85% が FF 3.75〜4.00% を上回り、市場は利上げも織り込む)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利下げの見通しはシナリオとして示す。DCF は金利に敏感だが、年度別理論株価は近い年度が重いので動きが小さい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10 年金利は 2026 年 10 月初めに約 5.3%(2002 年以来の高値)。足元の金利は歴史的に低くない</a:t>
            </a:r>
            <a:endParaRPr lang="en-US" sz="1000" dirty="0"/>
          </a:p>
        </p:txBody>
      </p:sp>
      <p:sp>
        <p:nvSpPr>
          <p:cNvPr id="13" name="ovl_takeaway_bg"/>
          <p:cNvSpPr/>
          <p:nvPr/>
        </p:nvSpPr>
        <p:spPr>
          <a:xfrm>
            <a:off x="6446520" y="5166360"/>
            <a:ext cx="5285232" cy="86868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4" name="takeaway"/>
          <p:cNvSpPr txBox="1"/>
          <p:nvPr/>
        </p:nvSpPr>
        <p:spPr>
          <a:xfrm>
            <a:off x="6556248" y="5239512"/>
            <a:ext cx="5065776" cy="7223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どの金利の経路でも、理論株価は株価 143 ドルを 68% 以上上回る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4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agenda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3" name="bg_agenda_lbl"/>
          <p:cNvSpPr txBox="1"/>
          <p:nvPr/>
        </p:nvSpPr>
        <p:spPr>
          <a:xfrm>
            <a:off x="822960" y="2651760"/>
            <a:ext cx="292608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目次</a:t>
            </a:r>
            <a:endParaRPr lang="en-US" sz="2800" dirty="0"/>
          </a:p>
        </p:txBody>
      </p:sp>
      <p:sp>
        <p:nvSpPr>
          <p:cNvPr id="4" name="bg_agenda_n0"/>
          <p:cNvSpPr/>
          <p:nvPr/>
        </p:nvSpPr>
        <p:spPr>
          <a:xfrm>
            <a:off x="4572000" y="1828800"/>
            <a:ext cx="475488" cy="475488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bg_agenda_nt0"/>
          <p:cNvSpPr txBox="1"/>
          <p:nvPr/>
        </p:nvSpPr>
        <p:spPr>
          <a:xfrm>
            <a:off x="4572000" y="1828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bg_agenda_ch0"/>
          <p:cNvSpPr txBox="1"/>
          <p:nvPr/>
        </p:nvSpPr>
        <p:spPr>
          <a:xfrm>
            <a:off x="5257800" y="1847088"/>
            <a:ext cx="64008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評価総括</a:t>
            </a:r>
            <a:endParaRPr lang="en-US" sz="1800" dirty="0"/>
          </a:p>
        </p:txBody>
      </p:sp>
      <p:sp>
        <p:nvSpPr>
          <p:cNvPr id="7" name="bg_agenda_n1"/>
          <p:cNvSpPr/>
          <p:nvPr/>
        </p:nvSpPr>
        <p:spPr>
          <a:xfrm>
            <a:off x="4572000" y="2697480"/>
            <a:ext cx="475488" cy="475488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g_agenda_nt1"/>
          <p:cNvSpPr txBox="1"/>
          <p:nvPr/>
        </p:nvSpPr>
        <p:spPr>
          <a:xfrm>
            <a:off x="4572000" y="2697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bg_agenda_ch1"/>
          <p:cNvSpPr txBox="1"/>
          <p:nvPr/>
        </p:nvSpPr>
        <p:spPr>
          <a:xfrm>
            <a:off x="5257800" y="2715768"/>
            <a:ext cx="64008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事業・需給・成長</a:t>
            </a:r>
            <a:endParaRPr lang="en-US" sz="1800" dirty="0"/>
          </a:p>
        </p:txBody>
      </p:sp>
      <p:sp>
        <p:nvSpPr>
          <p:cNvPr id="10" name="bg_agenda_n2"/>
          <p:cNvSpPr/>
          <p:nvPr/>
        </p:nvSpPr>
        <p:spPr>
          <a:xfrm>
            <a:off x="4572000" y="3566160"/>
            <a:ext cx="475488" cy="475488"/>
          </a:xfrm>
          <a:prstGeom prst="ellipse">
            <a:avLst/>
          </a:prstGeom>
          <a:solidFill>
            <a:srgbClr val="197A5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g_agenda_nt2"/>
          <p:cNvSpPr txBox="1"/>
          <p:nvPr/>
        </p:nvSpPr>
        <p:spPr>
          <a:xfrm>
            <a:off x="4572000" y="35661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bg_agenda_ch2"/>
          <p:cNvSpPr txBox="1"/>
          <p:nvPr/>
        </p:nvSpPr>
        <p:spPr>
          <a:xfrm>
            <a:off x="5257800" y="3584448"/>
            <a:ext cx="64008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13条件の構造分析</a:t>
            </a:r>
            <a:endParaRPr lang="en-US" sz="1800" dirty="0"/>
          </a:p>
        </p:txBody>
      </p:sp>
      <p:sp>
        <p:nvSpPr>
          <p:cNvPr id="13" name="bg_agenda_n3"/>
          <p:cNvSpPr/>
          <p:nvPr/>
        </p:nvSpPr>
        <p:spPr>
          <a:xfrm>
            <a:off x="4572000" y="4434840"/>
            <a:ext cx="475488" cy="475488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g_agenda_nt3"/>
          <p:cNvSpPr txBox="1"/>
          <p:nvPr/>
        </p:nvSpPr>
        <p:spPr>
          <a:xfrm>
            <a:off x="4572000" y="4434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bg_agenda_ch3"/>
          <p:cNvSpPr txBox="1"/>
          <p:nvPr/>
        </p:nvSpPr>
        <p:spPr>
          <a:xfrm>
            <a:off x="5257800" y="4453128"/>
            <a:ext cx="64008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バリュエーション・リスク・投資アクション</a:t>
            </a:r>
            <a:endParaRPr lang="en-US" sz="1800" dirty="0"/>
          </a:p>
        </p:txBody>
      </p:sp>
      <p:sp>
        <p:nvSpPr>
          <p:cNvPr id="16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DB の切替コストは 10 年以上続くが、AI の単価優位は逼迫期(FY32 まで)に限られ、10 年の圧倒的優位とは言えない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条件1 10年間の価格決定力・競争優位・成長性を圧倒的水準で維持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会社開示(Q1 FY27 説明会)、research4/T5_supply_components.md、research4/T3_saas_products.md、calc/prereg2.md §9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17</a:t>
            </a:r>
            <a:endParaRPr lang="en-US" sz="800" dirty="0"/>
          </a:p>
        </p:txBody>
      </p:sp>
      <p:sp>
        <p:nvSpPr>
          <p:cNvPr id="6" name="ovl_badge"/>
          <p:cNvSpPr/>
          <p:nvPr/>
        </p:nvSpPr>
        <p:spPr>
          <a:xfrm>
            <a:off x="10820095" y="329184"/>
            <a:ext cx="914400" cy="713232"/>
          </a:xfrm>
          <a:prstGeom prst="roundRect">
            <a:avLst>
              <a:gd name="adj" fmla="val 10256"/>
            </a:avLst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7" name="ovl_badge_t"/>
          <p:cNvSpPr txBox="1"/>
          <p:nvPr/>
        </p:nvSpPr>
        <p:spPr>
          <a:xfrm>
            <a:off x="10820095" y="329184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3000" dirty="0"/>
          </a:p>
        </p:txBody>
      </p:sp>
      <p:sp>
        <p:nvSpPr>
          <p:cNvPr id="8" name="ovl_badge_l"/>
          <p:cNvSpPr txBox="1"/>
          <p:nvPr/>
        </p:nvSpPr>
        <p:spPr>
          <a:xfrm>
            <a:off x="10820095" y="78638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条件1</a:t>
            </a:r>
            <a:endParaRPr lang="en-US" sz="800" dirty="0"/>
          </a:p>
        </p:txBody>
      </p:sp>
      <p:sp>
        <p:nvSpPr>
          <p:cNvPr id="9" name="ovl_arrow"/>
          <p:cNvSpPr/>
          <p:nvPr/>
        </p:nvSpPr>
        <p:spPr>
          <a:xfrm>
            <a:off x="2148840" y="2157984"/>
            <a:ext cx="301752" cy="1298448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10" name="ovl_arrow"/>
          <p:cNvSpPr/>
          <p:nvPr/>
        </p:nvSpPr>
        <p:spPr>
          <a:xfrm flipH="1">
            <a:off x="4050792" y="2157984"/>
            <a:ext cx="2203704" cy="1298448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11" name="ovl_arrow"/>
          <p:cNvSpPr/>
          <p:nvPr/>
        </p:nvSpPr>
        <p:spPr>
          <a:xfrm flipH="1" flipV="1">
            <a:off x="4050792" y="3456432"/>
            <a:ext cx="2203704" cy="1298448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12" name="ovl_arrow"/>
          <p:cNvSpPr/>
          <p:nvPr/>
        </p:nvSpPr>
        <p:spPr>
          <a:xfrm flipH="1">
            <a:off x="2148840" y="3456432"/>
            <a:ext cx="301752" cy="1298448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13" name="ovl_elabel0"/>
          <p:cNvSpPr txBox="1"/>
          <p:nvPr/>
        </p:nvSpPr>
        <p:spPr>
          <a:xfrm>
            <a:off x="1488643" y="3072384"/>
            <a:ext cx="890626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保守料・購読料</a:t>
            </a:r>
            <a:endParaRPr lang="en-US" sz="850" dirty="0"/>
          </a:p>
        </p:txBody>
      </p:sp>
      <p:sp>
        <p:nvSpPr>
          <p:cNvPr id="14" name="ovl_elabel1"/>
          <p:cNvSpPr txBox="1"/>
          <p:nvPr/>
        </p:nvSpPr>
        <p:spPr>
          <a:xfrm>
            <a:off x="4496105" y="2688336"/>
            <a:ext cx="1313078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容量料(逼迫期 +5%/年)</a:t>
            </a:r>
            <a:endParaRPr lang="en-US" sz="850" dirty="0"/>
          </a:p>
        </p:txBody>
      </p:sp>
      <p:sp>
        <p:nvSpPr>
          <p:cNvPr id="15" name="ovl_elabel2"/>
          <p:cNvSpPr txBox="1"/>
          <p:nvPr/>
        </p:nvSpPr>
        <p:spPr>
          <a:xfrm>
            <a:off x="4595774" y="3986784"/>
            <a:ext cx="1113739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緩和後の値下げ圧力</a:t>
            </a:r>
            <a:endParaRPr lang="en-US" sz="850" dirty="0"/>
          </a:p>
        </p:txBody>
      </p:sp>
      <p:sp>
        <p:nvSpPr>
          <p:cNvPr id="16" name="ovl_elabel3"/>
          <p:cNvSpPr txBox="1"/>
          <p:nvPr/>
        </p:nvSpPr>
        <p:spPr>
          <a:xfrm>
            <a:off x="2021738" y="3986784"/>
            <a:ext cx="555955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固定賃料</a:t>
            </a:r>
            <a:endParaRPr lang="en-US" sz="850" dirty="0"/>
          </a:p>
        </p:txBody>
      </p:sp>
      <p:sp>
        <p:nvSpPr>
          <p:cNvPr id="17" name="ovl_node_db"/>
          <p:cNvSpPr/>
          <p:nvPr/>
        </p:nvSpPr>
        <p:spPr>
          <a:xfrm>
            <a:off x="548640" y="1737360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767676"/>
            </a:solidFill>
            <a:prstDash val="solid"/>
          </a:ln>
        </p:spPr>
      </p:sp>
      <p:sp>
        <p:nvSpPr>
          <p:cNvPr id="18" name="ovl_node_t_db"/>
          <p:cNvSpPr txBox="1"/>
          <p:nvPr/>
        </p:nvSpPr>
        <p:spPr>
          <a:xfrm>
            <a:off x="594360" y="1792224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DB・SaaS 顧客</a:t>
            </a:r>
            <a:endParaRPr lang="en-US" sz="1050" dirty="0"/>
          </a:p>
        </p:txBody>
      </p:sp>
      <p:sp>
        <p:nvSpPr>
          <p:cNvPr id="19" name="ovl_node_s_db"/>
          <p:cNvSpPr txBox="1"/>
          <p:nvPr/>
        </p:nvSpPr>
        <p:spPr>
          <a:xfrm>
            <a:off x="594360" y="2121408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切替に数年。保守料は継続課金</a:t>
            </a:r>
            <a:endParaRPr lang="en-US" sz="850" dirty="0"/>
          </a:p>
        </p:txBody>
      </p:sp>
      <p:sp>
        <p:nvSpPr>
          <p:cNvPr id="20" name="ovl_node_orcl"/>
          <p:cNvSpPr/>
          <p:nvPr/>
        </p:nvSpPr>
        <p:spPr>
          <a:xfrm>
            <a:off x="2450592" y="3035808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21" name="ovl_node_t_orcl"/>
          <p:cNvSpPr txBox="1"/>
          <p:nvPr/>
        </p:nvSpPr>
        <p:spPr>
          <a:xfrm>
            <a:off x="2496312" y="309067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Oracle</a:t>
            </a:r>
            <a:endParaRPr lang="en-US" sz="1050" dirty="0"/>
          </a:p>
        </p:txBody>
      </p:sp>
      <p:sp>
        <p:nvSpPr>
          <p:cNvPr id="22" name="ovl_node_s_orcl"/>
          <p:cNvSpPr txBox="1"/>
          <p:nvPr/>
        </p:nvSpPr>
        <p:spPr>
          <a:xfrm>
            <a:off x="2496312" y="3419856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DB を土台に複数の収益線</a:t>
            </a:r>
            <a:endParaRPr lang="en-US" sz="850" dirty="0"/>
          </a:p>
        </p:txBody>
      </p:sp>
      <p:sp>
        <p:nvSpPr>
          <p:cNvPr id="23" name="ovl_node_lab"/>
          <p:cNvSpPr/>
          <p:nvPr/>
        </p:nvSpPr>
        <p:spPr>
          <a:xfrm>
            <a:off x="6254496" y="1737360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767676"/>
            </a:solidFill>
            <a:prstDash val="solid"/>
          </a:ln>
        </p:spPr>
      </p:sp>
      <p:sp>
        <p:nvSpPr>
          <p:cNvPr id="24" name="ovl_node_t_lab"/>
          <p:cNvSpPr txBox="1"/>
          <p:nvPr/>
        </p:nvSpPr>
        <p:spPr>
          <a:xfrm>
            <a:off x="6300216" y="1792224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 研究所</a:t>
            </a:r>
            <a:endParaRPr lang="en-US" sz="1050" dirty="0"/>
          </a:p>
        </p:txBody>
      </p:sp>
      <p:sp>
        <p:nvSpPr>
          <p:cNvPr id="25" name="ovl_node_s_lab"/>
          <p:cNvSpPr txBox="1"/>
          <p:nvPr/>
        </p:nvSpPr>
        <p:spPr>
          <a:xfrm>
            <a:off x="6300216" y="2121408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容量料。更新は従来比 +20%</a:t>
            </a:r>
            <a:endParaRPr lang="en-US" sz="850" dirty="0"/>
          </a:p>
        </p:txBody>
      </p:sp>
      <p:sp>
        <p:nvSpPr>
          <p:cNvPr id="26" name="ovl_node_comp"/>
          <p:cNvSpPr/>
          <p:nvPr/>
        </p:nvSpPr>
        <p:spPr>
          <a:xfrm>
            <a:off x="6254496" y="4334256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F2F2F2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7" name="ovl_node_t_comp"/>
          <p:cNvSpPr txBox="1"/>
          <p:nvPr/>
        </p:nvSpPr>
        <p:spPr>
          <a:xfrm>
            <a:off x="6300216" y="43891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競合クラウド</a:t>
            </a:r>
            <a:endParaRPr lang="en-US" sz="1050" dirty="0"/>
          </a:p>
        </p:txBody>
      </p:sp>
      <p:sp>
        <p:nvSpPr>
          <p:cNvPr id="28" name="ovl_node_s_comp"/>
          <p:cNvSpPr txBox="1"/>
          <p:nvPr/>
        </p:nvSpPr>
        <p:spPr>
          <a:xfrm>
            <a:off x="6300216" y="4718304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AWS・Azure・GCP・ネオクラウド</a:t>
            </a:r>
            <a:endParaRPr lang="en-US" sz="850" dirty="0"/>
          </a:p>
        </p:txBody>
      </p:sp>
      <p:sp>
        <p:nvSpPr>
          <p:cNvPr id="29" name="ovl_node_lease"/>
          <p:cNvSpPr/>
          <p:nvPr/>
        </p:nvSpPr>
        <p:spPr>
          <a:xfrm>
            <a:off x="548640" y="4334256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EAF4EE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30" name="ovl_node_t_lease"/>
          <p:cNvSpPr txBox="1"/>
          <p:nvPr/>
        </p:nvSpPr>
        <p:spPr>
          <a:xfrm>
            <a:off x="594360" y="43891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長期リース</a:t>
            </a:r>
            <a:endParaRPr lang="en-US" sz="1050" dirty="0"/>
          </a:p>
        </p:txBody>
      </p:sp>
      <p:sp>
        <p:nvSpPr>
          <p:cNvPr id="31" name="ovl_node_s_lease"/>
          <p:cNvSpPr txBox="1"/>
          <p:nvPr/>
        </p:nvSpPr>
        <p:spPr>
          <a:xfrm>
            <a:off x="594360" y="4718304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賃料を FY47 まで固定</a:t>
            </a:r>
            <a:endParaRPr lang="en-US" sz="850" dirty="0"/>
          </a:p>
        </p:txBody>
      </p:sp>
      <p:sp>
        <p:nvSpPr>
          <p:cNvPr id="32" name="ovl_tag0"/>
          <p:cNvSpPr/>
          <p:nvPr/>
        </p:nvSpPr>
        <p:spPr>
          <a:xfrm>
            <a:off x="548640" y="2615184"/>
            <a:ext cx="1600200" cy="237744"/>
          </a:xfrm>
          <a:prstGeom prst="roundRect">
            <a:avLst>
              <a:gd name="adj" fmla="val 19231"/>
            </a:avLst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33" name="ovl_tag_t0"/>
          <p:cNvSpPr txBox="1"/>
          <p:nvPr/>
        </p:nvSpPr>
        <p:spPr>
          <a:xfrm>
            <a:off x="548640" y="261518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優位: 数十年</a:t>
            </a:r>
            <a:endParaRPr lang="en-US" sz="800" dirty="0"/>
          </a:p>
        </p:txBody>
      </p:sp>
      <p:sp>
        <p:nvSpPr>
          <p:cNvPr id="34" name="ovl_tag1"/>
          <p:cNvSpPr/>
          <p:nvPr/>
        </p:nvSpPr>
        <p:spPr>
          <a:xfrm>
            <a:off x="6254496" y="2615184"/>
            <a:ext cx="1600200" cy="237744"/>
          </a:xfrm>
          <a:prstGeom prst="roundRect">
            <a:avLst>
              <a:gd name="adj" fmla="val 19231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5" name="ovl_tag_t1"/>
          <p:cNvSpPr txBox="1"/>
          <p:nvPr/>
        </p:nvSpPr>
        <p:spPr>
          <a:xfrm>
            <a:off x="6254496" y="261518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優位: FY32 まで</a:t>
            </a:r>
            <a:endParaRPr lang="en-US" sz="800" dirty="0"/>
          </a:p>
        </p:txBody>
      </p:sp>
      <p:sp>
        <p:nvSpPr>
          <p:cNvPr id="36" name="ovl_arrow"/>
          <p:cNvSpPr/>
          <p:nvPr/>
        </p:nvSpPr>
        <p:spPr>
          <a:xfrm>
            <a:off x="548640" y="5724144"/>
            <a:ext cx="411480" cy="914"/>
          </a:xfrm>
          <a:prstGeom prst="line">
            <a:avLst/>
          </a:prstGeom>
          <a:noFill/>
          <a:ln w="1587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37" name="ovl_legend0"/>
          <p:cNvSpPr txBox="1"/>
          <p:nvPr/>
        </p:nvSpPr>
        <p:spPr>
          <a:xfrm>
            <a:off x="1024128" y="55961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カネ</a:t>
            </a:r>
            <a:endParaRPr lang="en-US" sz="850" dirty="0"/>
          </a:p>
        </p:txBody>
      </p:sp>
      <p:sp>
        <p:nvSpPr>
          <p:cNvPr id="38" name="ovl_arrow"/>
          <p:cNvSpPr/>
          <p:nvPr/>
        </p:nvSpPr>
        <p:spPr>
          <a:xfrm>
            <a:off x="2377440" y="5724144"/>
            <a:ext cx="411480" cy="914"/>
          </a:xfrm>
          <a:prstGeom prst="line">
            <a:avLst/>
          </a:prstGeom>
          <a:noFill/>
          <a:ln w="15875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39" name="ovl_legend1"/>
          <p:cNvSpPr txBox="1"/>
          <p:nvPr/>
        </p:nvSpPr>
        <p:spPr>
          <a:xfrm>
            <a:off x="2852928" y="55961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モノ・サービス</a:t>
            </a:r>
            <a:endParaRPr lang="en-US" sz="850" dirty="0"/>
          </a:p>
        </p:txBody>
      </p:sp>
      <p:sp>
        <p:nvSpPr>
          <p:cNvPr id="40" name="ovl_arrow"/>
          <p:cNvSpPr/>
          <p:nvPr/>
        </p:nvSpPr>
        <p:spPr>
          <a:xfrm>
            <a:off x="4206240" y="5724144"/>
            <a:ext cx="41148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41" name="ovl_legend2"/>
          <p:cNvSpPr txBox="1"/>
          <p:nvPr/>
        </p:nvSpPr>
        <p:spPr>
          <a:xfrm>
            <a:off x="4681728" y="55961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リスク</a:t>
            </a:r>
            <a:endParaRPr lang="en-US" sz="850" dirty="0"/>
          </a:p>
        </p:txBody>
      </p:sp>
      <p:sp>
        <p:nvSpPr>
          <p:cNvPr id="42" name="ovl_evbox"/>
          <p:cNvSpPr/>
          <p:nvPr/>
        </p:nvSpPr>
        <p:spPr>
          <a:xfrm>
            <a:off x="8275320" y="1481328"/>
            <a:ext cx="345643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3" name="ev_head"/>
          <p:cNvSpPr txBox="1"/>
          <p:nvPr/>
        </p:nvSpPr>
        <p:spPr>
          <a:xfrm>
            <a:off x="8385048" y="15361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根拠</a:t>
            </a:r>
            <a:endParaRPr lang="en-US" sz="1200" dirty="0"/>
          </a:p>
        </p:txBody>
      </p:sp>
      <p:sp>
        <p:nvSpPr>
          <p:cNvPr id="44" name="evidence"/>
          <p:cNvSpPr txBox="1"/>
          <p:nvPr/>
        </p:nvSpPr>
        <p:spPr>
          <a:xfrm>
            <a:off x="8385048" y="1847088"/>
            <a:ext cx="3255264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更新期の GPU をすべて従来契約比 +20% で更新・再販(Q1 FY27)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 年の値上げ: AWS +15〜20%、Nebius +17〜21%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需給が緩んだ後の長期の超過利益はベースで 0%(逼迫の終わり FY32)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SaaS +10%・Software −3% は SAP クラウド ERP +25% より遅い</a:t>
            </a:r>
            <a:endParaRPr lang="en-US" sz="950" dirty="0"/>
          </a:p>
        </p:txBody>
      </p:sp>
      <p:sp>
        <p:nvSpPr>
          <p:cNvPr id="45" name="ovl_takeaway_bg"/>
          <p:cNvSpPr/>
          <p:nvPr/>
        </p:nvSpPr>
        <p:spPr>
          <a:xfrm>
            <a:off x="8275320" y="4389120"/>
            <a:ext cx="3456432" cy="114300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46" name="takeaway"/>
          <p:cNvSpPr txBox="1"/>
          <p:nvPr/>
        </p:nvSpPr>
        <p:spPr>
          <a:xfrm>
            <a:off x="8385048" y="4462272"/>
            <a:ext cx="3236976" cy="9966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DB の優位は長いが、AI の価格優位は業界全体の逼迫によるもので、緩和後は消えるため B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コア事業は税引後 230 億ドルを稼ぎ、AI の投資は前払いと長期リースで外部化するが、全社 FCF はエンジンで FY29 まで赤字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条件2 コア事業が潤沢なキャッシュフローを持つ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会社開示(Q1 FY27、10-Q)、需給エンジン第4.3版(calc/out/m8_all.json)、research2/R7_capital_power.md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18</a:t>
            </a:r>
            <a:endParaRPr lang="en-US" sz="800" dirty="0"/>
          </a:p>
        </p:txBody>
      </p:sp>
      <p:sp>
        <p:nvSpPr>
          <p:cNvPr id="6" name="ovl_badge"/>
          <p:cNvSpPr/>
          <p:nvPr/>
        </p:nvSpPr>
        <p:spPr>
          <a:xfrm>
            <a:off x="10820095" y="329184"/>
            <a:ext cx="914400" cy="713232"/>
          </a:xfrm>
          <a:prstGeom prst="roundRect">
            <a:avLst>
              <a:gd name="adj" fmla="val 10256"/>
            </a:avLst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7" name="ovl_badge_t"/>
          <p:cNvSpPr txBox="1"/>
          <p:nvPr/>
        </p:nvSpPr>
        <p:spPr>
          <a:xfrm>
            <a:off x="10820095" y="329184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3000" dirty="0"/>
          </a:p>
        </p:txBody>
      </p:sp>
      <p:sp>
        <p:nvSpPr>
          <p:cNvPr id="8" name="ovl_badge_l"/>
          <p:cNvSpPr txBox="1"/>
          <p:nvPr/>
        </p:nvSpPr>
        <p:spPr>
          <a:xfrm>
            <a:off x="10820095" y="78638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条件2</a:t>
            </a:r>
            <a:endParaRPr lang="en-US" sz="800" dirty="0"/>
          </a:p>
        </p:txBody>
      </p:sp>
      <p:sp>
        <p:nvSpPr>
          <p:cNvPr id="9" name="ovl_arrow"/>
          <p:cNvSpPr/>
          <p:nvPr/>
        </p:nvSpPr>
        <p:spPr>
          <a:xfrm>
            <a:off x="2148840" y="2157984"/>
            <a:ext cx="301752" cy="1298448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10" name="ovl_arrow"/>
          <p:cNvSpPr/>
          <p:nvPr/>
        </p:nvSpPr>
        <p:spPr>
          <a:xfrm flipH="1">
            <a:off x="4050792" y="2157984"/>
            <a:ext cx="2203704" cy="1298448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11" name="ovl_arrow"/>
          <p:cNvSpPr/>
          <p:nvPr/>
        </p:nvSpPr>
        <p:spPr>
          <a:xfrm flipH="1">
            <a:off x="2148840" y="3456432"/>
            <a:ext cx="301752" cy="1298448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12" name="ovl_arrow"/>
          <p:cNvSpPr/>
          <p:nvPr/>
        </p:nvSpPr>
        <p:spPr>
          <a:xfrm>
            <a:off x="4050792" y="3456432"/>
            <a:ext cx="2203704" cy="1298448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13" name="ovl_arrow"/>
          <p:cNvSpPr/>
          <p:nvPr/>
        </p:nvSpPr>
        <p:spPr>
          <a:xfrm flipV="1">
            <a:off x="7237476" y="2578608"/>
            <a:ext cx="914" cy="1755648"/>
          </a:xfrm>
          <a:prstGeom prst="line">
            <a:avLst/>
          </a:prstGeom>
          <a:noFill/>
          <a:ln w="15875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14" name="ovl_elabel0"/>
          <p:cNvSpPr txBox="1"/>
          <p:nvPr/>
        </p:nvSpPr>
        <p:spPr>
          <a:xfrm>
            <a:off x="2042770" y="2688336"/>
            <a:ext cx="513893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営業 CF</a:t>
            </a:r>
            <a:endParaRPr lang="en-US" sz="850" dirty="0"/>
          </a:p>
        </p:txBody>
      </p:sp>
      <p:sp>
        <p:nvSpPr>
          <p:cNvPr id="15" name="ovl_elabel1"/>
          <p:cNvSpPr txBox="1"/>
          <p:nvPr/>
        </p:nvSpPr>
        <p:spPr>
          <a:xfrm>
            <a:off x="4707331" y="2688336"/>
            <a:ext cx="890626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前払い・利用料</a:t>
            </a:r>
            <a:endParaRPr lang="en-US" sz="850" dirty="0"/>
          </a:p>
        </p:txBody>
      </p:sp>
      <p:sp>
        <p:nvSpPr>
          <p:cNvPr id="16" name="ovl_elabel2"/>
          <p:cNvSpPr txBox="1"/>
          <p:nvPr/>
        </p:nvSpPr>
        <p:spPr>
          <a:xfrm>
            <a:off x="1961388" y="3986784"/>
            <a:ext cx="676656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賃料(固定)</a:t>
            </a:r>
            <a:endParaRPr lang="en-US" sz="850" dirty="0"/>
          </a:p>
        </p:txBody>
      </p:sp>
      <p:sp>
        <p:nvSpPr>
          <p:cNvPr id="17" name="ovl_elabel3"/>
          <p:cNvSpPr txBox="1"/>
          <p:nvPr/>
        </p:nvSpPr>
        <p:spPr>
          <a:xfrm>
            <a:off x="4924044" y="3986784"/>
            <a:ext cx="457200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capex</a:t>
            </a:r>
            <a:endParaRPr lang="en-US" sz="850" dirty="0"/>
          </a:p>
        </p:txBody>
      </p:sp>
      <p:sp>
        <p:nvSpPr>
          <p:cNvPr id="18" name="ovl_elabel4"/>
          <p:cNvSpPr txBox="1"/>
          <p:nvPr/>
        </p:nvSpPr>
        <p:spPr>
          <a:xfrm>
            <a:off x="7292340" y="3337560"/>
            <a:ext cx="555955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計算容量</a:t>
            </a:r>
            <a:endParaRPr lang="en-US" sz="850" dirty="0"/>
          </a:p>
        </p:txBody>
      </p:sp>
      <p:sp>
        <p:nvSpPr>
          <p:cNvPr id="19" name="ovl_node_core"/>
          <p:cNvSpPr/>
          <p:nvPr/>
        </p:nvSpPr>
        <p:spPr>
          <a:xfrm>
            <a:off x="548640" y="1737360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20" name="ovl_node_t_core"/>
          <p:cNvSpPr txBox="1"/>
          <p:nvPr/>
        </p:nvSpPr>
        <p:spPr>
          <a:xfrm>
            <a:off x="594360" y="1792224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DB 保守・SaaS</a:t>
            </a:r>
            <a:endParaRPr lang="en-US" sz="1050" dirty="0"/>
          </a:p>
        </p:txBody>
      </p:sp>
      <p:sp>
        <p:nvSpPr>
          <p:cNvPr id="21" name="ovl_node_s_core"/>
          <p:cNvSpPr txBox="1"/>
          <p:nvPr/>
        </p:nvSpPr>
        <p:spPr>
          <a:xfrm>
            <a:off x="594360" y="2121408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税引後 230 億ドル(FY27)</a:t>
            </a:r>
            <a:endParaRPr lang="en-US" sz="850" dirty="0"/>
          </a:p>
        </p:txBody>
      </p:sp>
      <p:sp>
        <p:nvSpPr>
          <p:cNvPr id="22" name="ovl_node_orcl"/>
          <p:cNvSpPr/>
          <p:nvPr/>
        </p:nvSpPr>
        <p:spPr>
          <a:xfrm>
            <a:off x="2450592" y="3035808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23" name="ovl_node_t_orcl"/>
          <p:cNvSpPr txBox="1"/>
          <p:nvPr/>
        </p:nvSpPr>
        <p:spPr>
          <a:xfrm>
            <a:off x="2496312" y="309067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Oracle</a:t>
            </a:r>
            <a:endParaRPr lang="en-US" sz="1050" dirty="0"/>
          </a:p>
        </p:txBody>
      </p:sp>
      <p:sp>
        <p:nvSpPr>
          <p:cNvPr id="24" name="ovl_node_s_orcl"/>
          <p:cNvSpPr txBox="1"/>
          <p:nvPr/>
        </p:nvSpPr>
        <p:spPr>
          <a:xfrm>
            <a:off x="2496312" y="3419856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 容量の投資</a:t>
            </a:r>
            <a:endParaRPr lang="en-US" sz="850" dirty="0"/>
          </a:p>
        </p:txBody>
      </p:sp>
      <p:sp>
        <p:nvSpPr>
          <p:cNvPr id="25" name="ovl_node_cust"/>
          <p:cNvSpPr/>
          <p:nvPr/>
        </p:nvSpPr>
        <p:spPr>
          <a:xfrm>
            <a:off x="6254496" y="1737360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767676"/>
            </a:solidFill>
            <a:prstDash val="solid"/>
          </a:ln>
        </p:spPr>
      </p:sp>
      <p:sp>
        <p:nvSpPr>
          <p:cNvPr id="26" name="ovl_node_t_cust"/>
          <p:cNvSpPr txBox="1"/>
          <p:nvPr/>
        </p:nvSpPr>
        <p:spPr>
          <a:xfrm>
            <a:off x="6300216" y="1792224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顧客(OpenAI ほか)</a:t>
            </a:r>
            <a:endParaRPr lang="en-US" sz="1050" dirty="0"/>
          </a:p>
        </p:txBody>
      </p:sp>
      <p:sp>
        <p:nvSpPr>
          <p:cNvPr id="27" name="ovl_node_s_cust"/>
          <p:cNvSpPr txBox="1"/>
          <p:nvPr/>
        </p:nvSpPr>
        <p:spPr>
          <a:xfrm>
            <a:off x="6300216" y="2121408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前払い 24%・受注残 6,640 億ドル</a:t>
            </a:r>
            <a:endParaRPr lang="en-US" sz="850" dirty="0"/>
          </a:p>
        </p:txBody>
      </p:sp>
      <p:sp>
        <p:nvSpPr>
          <p:cNvPr id="28" name="ovl_node_partner"/>
          <p:cNvSpPr/>
          <p:nvPr/>
        </p:nvSpPr>
        <p:spPr>
          <a:xfrm>
            <a:off x="548640" y="4334256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EAF4EE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29" name="ovl_node_t_partner"/>
          <p:cNvSpPr txBox="1"/>
          <p:nvPr/>
        </p:nvSpPr>
        <p:spPr>
          <a:xfrm>
            <a:off x="594360" y="43891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DC パートナー</a:t>
            </a:r>
            <a:endParaRPr lang="en-US" sz="1050" dirty="0"/>
          </a:p>
        </p:txBody>
      </p:sp>
      <p:sp>
        <p:nvSpPr>
          <p:cNvPr id="30" name="ovl_node_s_partner"/>
          <p:cNvSpPr txBox="1"/>
          <p:nvPr/>
        </p:nvSpPr>
        <p:spPr>
          <a:xfrm>
            <a:off x="594360" y="4718304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建屋・電力(15〜19 年リース)</a:t>
            </a:r>
            <a:endParaRPr lang="en-US" sz="850" dirty="0"/>
          </a:p>
        </p:txBody>
      </p:sp>
      <p:sp>
        <p:nvSpPr>
          <p:cNvPr id="31" name="ovl_node_gpu"/>
          <p:cNvSpPr/>
          <p:nvPr/>
        </p:nvSpPr>
        <p:spPr>
          <a:xfrm>
            <a:off x="6254496" y="4334256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F2F2F2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2" name="ovl_node_t_gpu"/>
          <p:cNvSpPr txBox="1"/>
          <p:nvPr/>
        </p:nvSpPr>
        <p:spPr>
          <a:xfrm>
            <a:off x="6300216" y="43891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GPU・ネットワーク</a:t>
            </a:r>
            <a:endParaRPr lang="en-US" sz="1050" dirty="0"/>
          </a:p>
        </p:txBody>
      </p:sp>
      <p:sp>
        <p:nvSpPr>
          <p:cNvPr id="33" name="ovl_node_s_gpu"/>
          <p:cNvSpPr txBox="1"/>
          <p:nvPr/>
        </p:nvSpPr>
        <p:spPr>
          <a:xfrm>
            <a:off x="6300216" y="4718304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Oracle が保有(6 年償却)</a:t>
            </a:r>
            <a:endParaRPr lang="en-US" sz="850" dirty="0"/>
          </a:p>
        </p:txBody>
      </p:sp>
      <p:sp>
        <p:nvSpPr>
          <p:cNvPr id="34" name="ovl_tag0"/>
          <p:cNvSpPr/>
          <p:nvPr/>
        </p:nvSpPr>
        <p:spPr>
          <a:xfrm>
            <a:off x="6254496" y="5212080"/>
            <a:ext cx="1600200" cy="237744"/>
          </a:xfrm>
          <a:prstGeom prst="roundRect">
            <a:avLst>
              <a:gd name="adj" fmla="val 19231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5" name="ovl_tag_t0"/>
          <p:cNvSpPr txBox="1"/>
          <p:nvPr/>
        </p:nvSpPr>
        <p:spPr>
          <a:xfrm>
            <a:off x="6254496" y="521208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陳腐化リスク: Oracle 負担</a:t>
            </a:r>
            <a:endParaRPr lang="en-US" sz="800" dirty="0"/>
          </a:p>
        </p:txBody>
      </p:sp>
      <p:sp>
        <p:nvSpPr>
          <p:cNvPr id="36" name="ovl_tag1"/>
          <p:cNvSpPr/>
          <p:nvPr/>
        </p:nvSpPr>
        <p:spPr>
          <a:xfrm>
            <a:off x="548640" y="5212080"/>
            <a:ext cx="1600200" cy="237744"/>
          </a:xfrm>
          <a:prstGeom prst="roundRect">
            <a:avLst>
              <a:gd name="adj" fmla="val 19231"/>
            </a:avLst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37" name="ovl_tag_t1"/>
          <p:cNvSpPr txBox="1"/>
          <p:nvPr/>
        </p:nvSpPr>
        <p:spPr>
          <a:xfrm>
            <a:off x="548640" y="521208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建屋の資金: パートナー</a:t>
            </a:r>
            <a:endParaRPr lang="en-US" sz="800" dirty="0"/>
          </a:p>
        </p:txBody>
      </p:sp>
      <p:sp>
        <p:nvSpPr>
          <p:cNvPr id="38" name="ovl_arrow"/>
          <p:cNvSpPr/>
          <p:nvPr/>
        </p:nvSpPr>
        <p:spPr>
          <a:xfrm>
            <a:off x="548640" y="5724144"/>
            <a:ext cx="411480" cy="914"/>
          </a:xfrm>
          <a:prstGeom prst="line">
            <a:avLst/>
          </a:prstGeom>
          <a:noFill/>
          <a:ln w="1587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39" name="ovl_legend0"/>
          <p:cNvSpPr txBox="1"/>
          <p:nvPr/>
        </p:nvSpPr>
        <p:spPr>
          <a:xfrm>
            <a:off x="1024128" y="55961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カネ</a:t>
            </a:r>
            <a:endParaRPr lang="en-US" sz="850" dirty="0"/>
          </a:p>
        </p:txBody>
      </p:sp>
      <p:sp>
        <p:nvSpPr>
          <p:cNvPr id="40" name="ovl_arrow"/>
          <p:cNvSpPr/>
          <p:nvPr/>
        </p:nvSpPr>
        <p:spPr>
          <a:xfrm>
            <a:off x="2377440" y="5724144"/>
            <a:ext cx="411480" cy="914"/>
          </a:xfrm>
          <a:prstGeom prst="line">
            <a:avLst/>
          </a:prstGeom>
          <a:noFill/>
          <a:ln w="15875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41" name="ovl_legend1"/>
          <p:cNvSpPr txBox="1"/>
          <p:nvPr/>
        </p:nvSpPr>
        <p:spPr>
          <a:xfrm>
            <a:off x="2852928" y="55961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モノ・サービス</a:t>
            </a:r>
            <a:endParaRPr lang="en-US" sz="850" dirty="0"/>
          </a:p>
        </p:txBody>
      </p:sp>
      <p:sp>
        <p:nvSpPr>
          <p:cNvPr id="42" name="ovl_arrow"/>
          <p:cNvSpPr/>
          <p:nvPr/>
        </p:nvSpPr>
        <p:spPr>
          <a:xfrm>
            <a:off x="4206240" y="5724144"/>
            <a:ext cx="41148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43" name="ovl_legend2"/>
          <p:cNvSpPr txBox="1"/>
          <p:nvPr/>
        </p:nvSpPr>
        <p:spPr>
          <a:xfrm>
            <a:off x="4681728" y="55961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リスク</a:t>
            </a:r>
            <a:endParaRPr lang="en-US" sz="850" dirty="0"/>
          </a:p>
        </p:txBody>
      </p:sp>
      <p:sp>
        <p:nvSpPr>
          <p:cNvPr id="44" name="ovl_evbox"/>
          <p:cNvSpPr/>
          <p:nvPr/>
        </p:nvSpPr>
        <p:spPr>
          <a:xfrm>
            <a:off x="8275320" y="1481328"/>
            <a:ext cx="345643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5" name="ev_head"/>
          <p:cNvSpPr txBox="1"/>
          <p:nvPr/>
        </p:nvSpPr>
        <p:spPr>
          <a:xfrm>
            <a:off x="8385048" y="15361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根拠</a:t>
            </a:r>
            <a:endParaRPr lang="en-US" sz="1200" dirty="0"/>
          </a:p>
        </p:txBody>
      </p:sp>
      <p:sp>
        <p:nvSpPr>
          <p:cNvPr id="46" name="evidence"/>
          <p:cNvSpPr txBox="1"/>
          <p:nvPr/>
        </p:nvSpPr>
        <p:spPr>
          <a:xfrm>
            <a:off x="8385048" y="1847088"/>
            <a:ext cx="3255264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コア事業の税引後利益 230 億ドル(FY27、エンジン)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前払い・持ち込み 750 億ドル累計(会社開示)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FCF: FY27 −342 億 / FY28 −340 億 / FY29 −135 億ドル(エンジン)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S&amp;P の基本シナリオとコンセンサスは FY29 に FCF 黒字(エンジンは −135 億ドル)</a:t>
            </a:r>
            <a:endParaRPr lang="en-US" sz="950" dirty="0"/>
          </a:p>
        </p:txBody>
      </p:sp>
      <p:sp>
        <p:nvSpPr>
          <p:cNvPr id="47" name="ovl_takeaway_bg"/>
          <p:cNvSpPr/>
          <p:nvPr/>
        </p:nvSpPr>
        <p:spPr>
          <a:xfrm>
            <a:off x="8275320" y="4389120"/>
            <a:ext cx="3456432" cy="114300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48" name="takeaway"/>
          <p:cNvSpPr txBox="1"/>
          <p:nvPr/>
        </p:nvSpPr>
        <p:spPr>
          <a:xfrm>
            <a:off x="8385048" y="4462272"/>
            <a:ext cx="3236976" cy="9966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コアの現金は潤沢で投資の多くは外部化されているが、自己資金で賄えない期間が FY29 まで続くため B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DB とネットワークの技術が OCI(+121%)と Database@(+353%)に転用され、増収の主因になった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条件3 コア技術・データが AI 事業に転用され成果が出始めている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会社開示(Q1 FY27)、research3/W6_database_at.md、research3/W8_aws_vs_commodity.md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19</a:t>
            </a:r>
            <a:endParaRPr lang="en-US" sz="800" dirty="0"/>
          </a:p>
        </p:txBody>
      </p:sp>
      <p:sp>
        <p:nvSpPr>
          <p:cNvPr id="6" name="ovl_badge"/>
          <p:cNvSpPr/>
          <p:nvPr/>
        </p:nvSpPr>
        <p:spPr>
          <a:xfrm>
            <a:off x="10820095" y="329184"/>
            <a:ext cx="914400" cy="713232"/>
          </a:xfrm>
          <a:prstGeom prst="roundRect">
            <a:avLst>
              <a:gd name="adj" fmla="val 10256"/>
            </a:avLst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7" name="ovl_badge_t"/>
          <p:cNvSpPr txBox="1"/>
          <p:nvPr/>
        </p:nvSpPr>
        <p:spPr>
          <a:xfrm>
            <a:off x="10820095" y="329184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</a:t>
            </a:r>
            <a:endParaRPr lang="en-US" sz="3000" dirty="0"/>
          </a:p>
        </p:txBody>
      </p:sp>
      <p:sp>
        <p:nvSpPr>
          <p:cNvPr id="8" name="ovl_badge_l"/>
          <p:cNvSpPr txBox="1"/>
          <p:nvPr/>
        </p:nvSpPr>
        <p:spPr>
          <a:xfrm>
            <a:off x="10820095" y="78638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条件3</a:t>
            </a:r>
            <a:endParaRPr lang="en-US" sz="800" dirty="0"/>
          </a:p>
        </p:txBody>
      </p:sp>
      <p:sp>
        <p:nvSpPr>
          <p:cNvPr id="9" name="ovl_arrow"/>
          <p:cNvSpPr/>
          <p:nvPr/>
        </p:nvSpPr>
        <p:spPr>
          <a:xfrm flipV="1">
            <a:off x="2148840" y="2157984"/>
            <a:ext cx="301752" cy="1298448"/>
          </a:xfrm>
          <a:prstGeom prst="line">
            <a:avLst/>
          </a:prstGeom>
          <a:noFill/>
          <a:ln w="15875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10" name="ovl_arrow"/>
          <p:cNvSpPr/>
          <p:nvPr/>
        </p:nvSpPr>
        <p:spPr>
          <a:xfrm>
            <a:off x="2148840" y="3456432"/>
            <a:ext cx="301752" cy="1298448"/>
          </a:xfrm>
          <a:prstGeom prst="line">
            <a:avLst/>
          </a:prstGeom>
          <a:noFill/>
          <a:ln w="15875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11" name="ovl_arrow"/>
          <p:cNvSpPr/>
          <p:nvPr/>
        </p:nvSpPr>
        <p:spPr>
          <a:xfrm>
            <a:off x="4050792" y="2157984"/>
            <a:ext cx="2203704" cy="914"/>
          </a:xfrm>
          <a:prstGeom prst="line">
            <a:avLst/>
          </a:prstGeom>
          <a:noFill/>
          <a:ln w="15875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12" name="ovl_arrow"/>
          <p:cNvSpPr/>
          <p:nvPr/>
        </p:nvSpPr>
        <p:spPr>
          <a:xfrm>
            <a:off x="4050792" y="4754880"/>
            <a:ext cx="2203704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13" name="ovl_elabel0"/>
          <p:cNvSpPr txBox="1"/>
          <p:nvPr/>
        </p:nvSpPr>
        <p:spPr>
          <a:xfrm>
            <a:off x="1798625" y="2688336"/>
            <a:ext cx="1002182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ネットワーク設計</a:t>
            </a:r>
            <a:endParaRPr lang="en-US" sz="850" dirty="0"/>
          </a:p>
        </p:txBody>
      </p:sp>
      <p:sp>
        <p:nvSpPr>
          <p:cNvPr id="14" name="ovl_elabel1"/>
          <p:cNvSpPr txBox="1"/>
          <p:nvPr/>
        </p:nvSpPr>
        <p:spPr>
          <a:xfrm>
            <a:off x="1763878" y="3986784"/>
            <a:ext cx="1071677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DB をそのまま提供</a:t>
            </a:r>
            <a:endParaRPr lang="en-US" sz="850" dirty="0"/>
          </a:p>
        </p:txBody>
      </p:sp>
      <p:sp>
        <p:nvSpPr>
          <p:cNvPr id="15" name="ovl_elabel2"/>
          <p:cNvSpPr txBox="1"/>
          <p:nvPr/>
        </p:nvSpPr>
        <p:spPr>
          <a:xfrm>
            <a:off x="4874666" y="1883664"/>
            <a:ext cx="555955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計算容量</a:t>
            </a:r>
            <a:endParaRPr lang="en-US" sz="850" dirty="0"/>
          </a:p>
        </p:txBody>
      </p:sp>
      <p:sp>
        <p:nvSpPr>
          <p:cNvPr id="16" name="ovl_elabel3"/>
          <p:cNvSpPr txBox="1"/>
          <p:nvPr/>
        </p:nvSpPr>
        <p:spPr>
          <a:xfrm>
            <a:off x="4651553" y="4480560"/>
            <a:ext cx="1002182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顧客接点は提携先</a:t>
            </a:r>
            <a:endParaRPr lang="en-US" sz="850" dirty="0"/>
          </a:p>
        </p:txBody>
      </p:sp>
      <p:sp>
        <p:nvSpPr>
          <p:cNvPr id="17" name="ovl_node_tech"/>
          <p:cNvSpPr/>
          <p:nvPr/>
        </p:nvSpPr>
        <p:spPr>
          <a:xfrm>
            <a:off x="548640" y="3035808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18" name="ovl_node_t_tech"/>
          <p:cNvSpPr txBox="1"/>
          <p:nvPr/>
        </p:nvSpPr>
        <p:spPr>
          <a:xfrm>
            <a:off x="594360" y="309067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DB・Exadata の技術</a:t>
            </a:r>
            <a:endParaRPr lang="en-US" sz="1050" dirty="0"/>
          </a:p>
        </p:txBody>
      </p:sp>
      <p:sp>
        <p:nvSpPr>
          <p:cNvPr id="19" name="ovl_node_s_tech"/>
          <p:cNvSpPr txBox="1"/>
          <p:nvPr/>
        </p:nvSpPr>
        <p:spPr>
          <a:xfrm>
            <a:off x="594360" y="3419856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RDMA ネットワーク・Autonomous</a:t>
            </a:r>
            <a:endParaRPr lang="en-US" sz="850" dirty="0"/>
          </a:p>
        </p:txBody>
      </p:sp>
      <p:sp>
        <p:nvSpPr>
          <p:cNvPr id="20" name="ovl_node_oci"/>
          <p:cNvSpPr/>
          <p:nvPr/>
        </p:nvSpPr>
        <p:spPr>
          <a:xfrm>
            <a:off x="2450592" y="1737360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21" name="ovl_node_t_oci"/>
          <p:cNvSpPr txBox="1"/>
          <p:nvPr/>
        </p:nvSpPr>
        <p:spPr>
          <a:xfrm>
            <a:off x="2496312" y="1792224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OCI</a:t>
            </a:r>
            <a:endParaRPr lang="en-US" sz="1050" dirty="0"/>
          </a:p>
        </p:txBody>
      </p:sp>
      <p:sp>
        <p:nvSpPr>
          <p:cNvPr id="22" name="ovl_node_s_oci"/>
          <p:cNvSpPr txBox="1"/>
          <p:nvPr/>
        </p:nvSpPr>
        <p:spPr>
          <a:xfrm>
            <a:off x="2496312" y="2121408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売上 74 億ドル(+121%)</a:t>
            </a:r>
            <a:endParaRPr lang="en-US" sz="850" dirty="0"/>
          </a:p>
        </p:txBody>
      </p:sp>
      <p:sp>
        <p:nvSpPr>
          <p:cNvPr id="23" name="ovl_node_dbat"/>
          <p:cNvSpPr/>
          <p:nvPr/>
        </p:nvSpPr>
        <p:spPr>
          <a:xfrm>
            <a:off x="2450592" y="4334256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24" name="ovl_node_t_dbat"/>
          <p:cNvSpPr txBox="1"/>
          <p:nvPr/>
        </p:nvSpPr>
        <p:spPr>
          <a:xfrm>
            <a:off x="2496312" y="43891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Database@</a:t>
            </a:r>
            <a:endParaRPr lang="en-US" sz="1050" dirty="0"/>
          </a:p>
        </p:txBody>
      </p:sp>
      <p:sp>
        <p:nvSpPr>
          <p:cNvPr id="25" name="ovl_node_s_dbat"/>
          <p:cNvSpPr txBox="1"/>
          <p:nvPr/>
        </p:nvSpPr>
        <p:spPr>
          <a:xfrm>
            <a:off x="2496312" y="4718304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他社クラウド内の Oracle DB(+353%)</a:t>
            </a:r>
            <a:endParaRPr lang="en-US" sz="850" dirty="0"/>
          </a:p>
        </p:txBody>
      </p:sp>
      <p:sp>
        <p:nvSpPr>
          <p:cNvPr id="26" name="ovl_node_lab"/>
          <p:cNvSpPr/>
          <p:nvPr/>
        </p:nvSpPr>
        <p:spPr>
          <a:xfrm>
            <a:off x="6254496" y="1737360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767676"/>
            </a:solidFill>
            <a:prstDash val="solid"/>
          </a:ln>
        </p:spPr>
      </p:sp>
      <p:sp>
        <p:nvSpPr>
          <p:cNvPr id="27" name="ovl_node_t_lab"/>
          <p:cNvSpPr txBox="1"/>
          <p:nvPr/>
        </p:nvSpPr>
        <p:spPr>
          <a:xfrm>
            <a:off x="6300216" y="1792224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 研究所</a:t>
            </a:r>
            <a:endParaRPr lang="en-US" sz="1050" dirty="0"/>
          </a:p>
        </p:txBody>
      </p:sp>
      <p:sp>
        <p:nvSpPr>
          <p:cNvPr id="28" name="ovl_node_s_lab"/>
          <p:cNvSpPr txBox="1"/>
          <p:nvPr/>
        </p:nvSpPr>
        <p:spPr>
          <a:xfrm>
            <a:off x="6300216" y="2121408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GPU クラスタを利用</a:t>
            </a:r>
            <a:endParaRPr lang="en-US" sz="850" dirty="0"/>
          </a:p>
        </p:txBody>
      </p:sp>
      <p:sp>
        <p:nvSpPr>
          <p:cNvPr id="29" name="ovl_node_hyper"/>
          <p:cNvSpPr/>
          <p:nvPr/>
        </p:nvSpPr>
        <p:spPr>
          <a:xfrm>
            <a:off x="6254496" y="4334256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767676"/>
            </a:solidFill>
            <a:prstDash val="solid"/>
          </a:ln>
        </p:spPr>
      </p:sp>
      <p:sp>
        <p:nvSpPr>
          <p:cNvPr id="30" name="ovl_node_t_hyper"/>
          <p:cNvSpPr txBox="1"/>
          <p:nvPr/>
        </p:nvSpPr>
        <p:spPr>
          <a:xfrm>
            <a:off x="6300216" y="43891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AWS・Azure・GCP</a:t>
            </a:r>
            <a:endParaRPr lang="en-US" sz="1050" dirty="0"/>
          </a:p>
        </p:txBody>
      </p:sp>
      <p:sp>
        <p:nvSpPr>
          <p:cNvPr id="31" name="ovl_node_s_hyper"/>
          <p:cNvSpPr txBox="1"/>
          <p:nvPr/>
        </p:nvSpPr>
        <p:spPr>
          <a:xfrm>
            <a:off x="6300216" y="4718304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70 リージョンに配置</a:t>
            </a:r>
            <a:endParaRPr lang="en-US" sz="850" dirty="0"/>
          </a:p>
        </p:txBody>
      </p:sp>
      <p:sp>
        <p:nvSpPr>
          <p:cNvPr id="32" name="ovl_tag0"/>
          <p:cNvSpPr/>
          <p:nvPr/>
        </p:nvSpPr>
        <p:spPr>
          <a:xfrm>
            <a:off x="2450592" y="5212080"/>
            <a:ext cx="1600200" cy="237744"/>
          </a:xfrm>
          <a:prstGeom prst="roundRect">
            <a:avLst>
              <a:gd name="adj" fmla="val 19231"/>
            </a:avLst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33" name="ovl_tag_t0"/>
          <p:cNvSpPr txBox="1"/>
          <p:nvPr/>
        </p:nvSpPr>
        <p:spPr>
          <a:xfrm>
            <a:off x="2450592" y="521208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追加投資は小さい</a:t>
            </a:r>
            <a:endParaRPr lang="en-US" sz="800" dirty="0"/>
          </a:p>
        </p:txBody>
      </p:sp>
      <p:sp>
        <p:nvSpPr>
          <p:cNvPr id="34" name="ovl_arrow"/>
          <p:cNvSpPr/>
          <p:nvPr/>
        </p:nvSpPr>
        <p:spPr>
          <a:xfrm>
            <a:off x="548640" y="5724144"/>
            <a:ext cx="411480" cy="914"/>
          </a:xfrm>
          <a:prstGeom prst="line">
            <a:avLst/>
          </a:prstGeom>
          <a:noFill/>
          <a:ln w="1587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35" name="ovl_legend0"/>
          <p:cNvSpPr txBox="1"/>
          <p:nvPr/>
        </p:nvSpPr>
        <p:spPr>
          <a:xfrm>
            <a:off x="1024128" y="55961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カネ</a:t>
            </a:r>
            <a:endParaRPr lang="en-US" sz="850" dirty="0"/>
          </a:p>
        </p:txBody>
      </p:sp>
      <p:sp>
        <p:nvSpPr>
          <p:cNvPr id="36" name="ovl_arrow"/>
          <p:cNvSpPr/>
          <p:nvPr/>
        </p:nvSpPr>
        <p:spPr>
          <a:xfrm>
            <a:off x="2377440" y="5724144"/>
            <a:ext cx="411480" cy="914"/>
          </a:xfrm>
          <a:prstGeom prst="line">
            <a:avLst/>
          </a:prstGeom>
          <a:noFill/>
          <a:ln w="15875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37" name="ovl_legend1"/>
          <p:cNvSpPr txBox="1"/>
          <p:nvPr/>
        </p:nvSpPr>
        <p:spPr>
          <a:xfrm>
            <a:off x="2852928" y="55961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モノ・サービス</a:t>
            </a:r>
            <a:endParaRPr lang="en-US" sz="850" dirty="0"/>
          </a:p>
        </p:txBody>
      </p:sp>
      <p:sp>
        <p:nvSpPr>
          <p:cNvPr id="38" name="ovl_arrow"/>
          <p:cNvSpPr/>
          <p:nvPr/>
        </p:nvSpPr>
        <p:spPr>
          <a:xfrm>
            <a:off x="4206240" y="5724144"/>
            <a:ext cx="41148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39" name="ovl_legend2"/>
          <p:cNvSpPr txBox="1"/>
          <p:nvPr/>
        </p:nvSpPr>
        <p:spPr>
          <a:xfrm>
            <a:off x="4681728" y="55961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リスク</a:t>
            </a:r>
            <a:endParaRPr lang="en-US" sz="850" dirty="0"/>
          </a:p>
        </p:txBody>
      </p:sp>
      <p:sp>
        <p:nvSpPr>
          <p:cNvPr id="40" name="ovl_evbox"/>
          <p:cNvSpPr/>
          <p:nvPr/>
        </p:nvSpPr>
        <p:spPr>
          <a:xfrm>
            <a:off x="8275320" y="1481328"/>
            <a:ext cx="345643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1" name="ev_head"/>
          <p:cNvSpPr txBox="1"/>
          <p:nvPr/>
        </p:nvSpPr>
        <p:spPr>
          <a:xfrm>
            <a:off x="8385048" y="15361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根拠</a:t>
            </a:r>
            <a:endParaRPr lang="en-US" sz="1200" dirty="0"/>
          </a:p>
        </p:txBody>
      </p:sp>
      <p:sp>
        <p:nvSpPr>
          <p:cNvPr id="42" name="evidence"/>
          <p:cNvSpPr txBox="1"/>
          <p:nvPr/>
        </p:nvSpPr>
        <p:spPr>
          <a:xfrm>
            <a:off x="8385048" y="1847088"/>
            <a:ext cx="3255264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OCI 売上 74 億ドル(+121%、Q1 FY27)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Database@ +353%、70 リージョン・119 AZ(AWS は 22 リージョン)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 容量の顧客が DB・アプリも買う証拠は見つからない</a:t>
            </a:r>
            <a:endParaRPr lang="en-US" sz="950" dirty="0"/>
          </a:p>
        </p:txBody>
      </p:sp>
      <p:sp>
        <p:nvSpPr>
          <p:cNvPr id="43" name="ovl_takeaway_bg"/>
          <p:cNvSpPr/>
          <p:nvPr/>
        </p:nvSpPr>
        <p:spPr>
          <a:xfrm>
            <a:off x="8275320" y="4389120"/>
            <a:ext cx="3456432" cy="114300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44" name="takeaway"/>
          <p:cNvSpPr txBox="1"/>
          <p:nvPr/>
        </p:nvSpPr>
        <p:spPr>
          <a:xfrm>
            <a:off x="8385048" y="4462272"/>
            <a:ext cx="3236976" cy="9966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転用は増収の主因になったが、主因は容量の貸し出しで、DB の転用収益が過半ではないため S でなく A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NYSE 上場の米国企業で、審査の前提条件を満たす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条件4 日本株か米国株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NYSE 上場銘柄情報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</a:t>
            </a:r>
            <a:endParaRPr lang="en-US" sz="800" dirty="0"/>
          </a:p>
        </p:txBody>
      </p:sp>
      <p:sp>
        <p:nvSpPr>
          <p:cNvPr id="6" name="ovl_badge"/>
          <p:cNvSpPr/>
          <p:nvPr/>
        </p:nvSpPr>
        <p:spPr>
          <a:xfrm>
            <a:off x="10820095" y="329184"/>
            <a:ext cx="914400" cy="713232"/>
          </a:xfrm>
          <a:prstGeom prst="roundRect">
            <a:avLst>
              <a:gd name="adj" fmla="val 10256"/>
            </a:avLst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7" name="ovl_badge_t"/>
          <p:cNvSpPr txBox="1"/>
          <p:nvPr/>
        </p:nvSpPr>
        <p:spPr>
          <a:xfrm>
            <a:off x="10820095" y="329184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</a:t>
            </a:r>
            <a:endParaRPr lang="en-US" sz="3000" dirty="0"/>
          </a:p>
        </p:txBody>
      </p:sp>
      <p:sp>
        <p:nvSpPr>
          <p:cNvPr id="8" name="ovl_badge_l"/>
          <p:cNvSpPr txBox="1"/>
          <p:nvPr/>
        </p:nvSpPr>
        <p:spPr>
          <a:xfrm>
            <a:off x="10820095" y="78638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条件4</a:t>
            </a:r>
            <a:endParaRPr lang="en-US" sz="800" dirty="0"/>
          </a:p>
        </p:txBody>
      </p:sp>
      <p:sp>
        <p:nvSpPr>
          <p:cNvPr id="9" name="ovl_tile0"/>
          <p:cNvSpPr/>
          <p:nvPr/>
        </p:nvSpPr>
        <p:spPr>
          <a:xfrm>
            <a:off x="457200" y="1554480"/>
            <a:ext cx="3606698" cy="1417320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10" name="tile_v0"/>
          <p:cNvSpPr txBox="1"/>
          <p:nvPr/>
        </p:nvSpPr>
        <p:spPr>
          <a:xfrm>
            <a:off x="548640" y="1627632"/>
            <a:ext cx="34238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NYSE</a:t>
            </a:r>
            <a:endParaRPr lang="en-US" sz="3200" dirty="0"/>
          </a:p>
        </p:txBody>
      </p:sp>
      <p:sp>
        <p:nvSpPr>
          <p:cNvPr id="11" name="tile_l0"/>
          <p:cNvSpPr txBox="1"/>
          <p:nvPr/>
        </p:nvSpPr>
        <p:spPr>
          <a:xfrm>
            <a:off x="548640" y="2359152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上場市場</a:t>
            </a:r>
            <a:endParaRPr lang="en-US" sz="1050" dirty="0"/>
          </a:p>
        </p:txBody>
      </p:sp>
      <p:sp>
        <p:nvSpPr>
          <p:cNvPr id="12" name="tile_n0"/>
          <p:cNvSpPr txBox="1"/>
          <p:nvPr/>
        </p:nvSpPr>
        <p:spPr>
          <a:xfrm>
            <a:off x="548640" y="2624328"/>
            <a:ext cx="342381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ティッカー ORCL</a:t>
            </a:r>
            <a:endParaRPr lang="en-US" sz="850" dirty="0"/>
          </a:p>
        </p:txBody>
      </p:sp>
      <p:sp>
        <p:nvSpPr>
          <p:cNvPr id="13" name="ovl_tile1"/>
          <p:cNvSpPr/>
          <p:nvPr/>
        </p:nvSpPr>
        <p:spPr>
          <a:xfrm>
            <a:off x="4292498" y="1554480"/>
            <a:ext cx="3606698" cy="1417320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14" name="tile_v1"/>
          <p:cNvSpPr txBox="1"/>
          <p:nvPr/>
        </p:nvSpPr>
        <p:spPr>
          <a:xfrm>
            <a:off x="4383938" y="1627632"/>
            <a:ext cx="34238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米ドル</a:t>
            </a:r>
            <a:endParaRPr lang="en-US" sz="3200" dirty="0"/>
          </a:p>
        </p:txBody>
      </p:sp>
      <p:sp>
        <p:nvSpPr>
          <p:cNvPr id="15" name="tile_l1"/>
          <p:cNvSpPr txBox="1"/>
          <p:nvPr/>
        </p:nvSpPr>
        <p:spPr>
          <a:xfrm>
            <a:off x="4383938" y="2359152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取引通貨</a:t>
            </a:r>
            <a:endParaRPr lang="en-US" sz="1050" dirty="0"/>
          </a:p>
        </p:txBody>
      </p:sp>
      <p:sp>
        <p:nvSpPr>
          <p:cNvPr id="16" name="tile_n1"/>
          <p:cNvSpPr txBox="1"/>
          <p:nvPr/>
        </p:nvSpPr>
        <p:spPr>
          <a:xfrm>
            <a:off x="4383938" y="2624328"/>
            <a:ext cx="342381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米国の普通株</a:t>
            </a:r>
            <a:endParaRPr lang="en-US" sz="850" dirty="0"/>
          </a:p>
        </p:txBody>
      </p:sp>
      <p:sp>
        <p:nvSpPr>
          <p:cNvPr id="17" name="ovl_tile2"/>
          <p:cNvSpPr/>
          <p:nvPr/>
        </p:nvSpPr>
        <p:spPr>
          <a:xfrm>
            <a:off x="8127797" y="1554480"/>
            <a:ext cx="3606698" cy="1417320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18" name="tile_v2"/>
          <p:cNvSpPr txBox="1"/>
          <p:nvPr/>
        </p:nvSpPr>
        <p:spPr>
          <a:xfrm>
            <a:off x="8219237" y="1627632"/>
            <a:ext cx="34238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充足</a:t>
            </a:r>
            <a:endParaRPr lang="en-US" sz="3200" dirty="0"/>
          </a:p>
        </p:txBody>
      </p:sp>
      <p:sp>
        <p:nvSpPr>
          <p:cNvPr id="19" name="tile_l2"/>
          <p:cNvSpPr txBox="1"/>
          <p:nvPr/>
        </p:nvSpPr>
        <p:spPr>
          <a:xfrm>
            <a:off x="8219237" y="2359152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判定</a:t>
            </a:r>
            <a:endParaRPr lang="en-US" sz="1050" dirty="0"/>
          </a:p>
        </p:txBody>
      </p:sp>
      <p:sp>
        <p:nvSpPr>
          <p:cNvPr id="20" name="tile_n2"/>
          <p:cNvSpPr txBox="1"/>
          <p:nvPr/>
        </p:nvSpPr>
        <p:spPr>
          <a:xfrm>
            <a:off x="8219237" y="2624328"/>
            <a:ext cx="342381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ゲート条件。減点要素なし</a:t>
            </a:r>
            <a:endParaRPr lang="en-US" sz="850" dirty="0"/>
          </a:p>
        </p:txBody>
      </p:sp>
      <p:sp>
        <p:nvSpPr>
          <p:cNvPr id="21" name="ovl_takeaway_bg"/>
          <p:cNvSpPr/>
          <p:nvPr/>
        </p:nvSpPr>
        <p:spPr>
          <a:xfrm>
            <a:off x="457200" y="3291840"/>
            <a:ext cx="11274552" cy="64008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22" name="takeaway"/>
          <p:cNvSpPr txBox="1"/>
          <p:nvPr/>
        </p:nvSpPr>
        <p:spPr>
          <a:xfrm>
            <a:off x="566928" y="3364992"/>
            <a:ext cx="11055096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ゲート条件のため構造図は不要。評価の集計には S として数える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CEO は OCI をゼロから築き容量と受注で実績を出したが、capex は見通しを繰り返し超え、報酬は総売上で決まる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条件5 CEO が信頼に足り事業拡大の経歴を持つ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DEF 14A(報酬)、会社開示(FY26〜27 のガイダンス)、research4/T2_company_rpo_capacity.md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21</a:t>
            </a:r>
            <a:endParaRPr lang="en-US" sz="800" dirty="0"/>
          </a:p>
        </p:txBody>
      </p:sp>
      <p:sp>
        <p:nvSpPr>
          <p:cNvPr id="6" name="ovl_badge"/>
          <p:cNvSpPr/>
          <p:nvPr/>
        </p:nvSpPr>
        <p:spPr>
          <a:xfrm>
            <a:off x="10820095" y="329184"/>
            <a:ext cx="914400" cy="713232"/>
          </a:xfrm>
          <a:prstGeom prst="roundRect">
            <a:avLst>
              <a:gd name="adj" fmla="val 10256"/>
            </a:avLst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7" name="ovl_badge_t"/>
          <p:cNvSpPr txBox="1"/>
          <p:nvPr/>
        </p:nvSpPr>
        <p:spPr>
          <a:xfrm>
            <a:off x="10820095" y="329184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3000" dirty="0"/>
          </a:p>
        </p:txBody>
      </p:sp>
      <p:sp>
        <p:nvSpPr>
          <p:cNvPr id="8" name="ovl_badge_l"/>
          <p:cNvSpPr txBox="1"/>
          <p:nvPr/>
        </p:nvSpPr>
        <p:spPr>
          <a:xfrm>
            <a:off x="10820095" y="78638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条件5</a:t>
            </a:r>
            <a:endParaRPr lang="en-US" sz="800" dirty="0"/>
          </a:p>
        </p:txBody>
      </p:sp>
      <p:sp>
        <p:nvSpPr>
          <p:cNvPr id="9" name="ovl_arrow"/>
          <p:cNvSpPr/>
          <p:nvPr/>
        </p:nvSpPr>
        <p:spPr>
          <a:xfrm>
            <a:off x="1348740" y="2578608"/>
            <a:ext cx="914" cy="457200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10" name="ovl_arrow"/>
          <p:cNvSpPr/>
          <p:nvPr/>
        </p:nvSpPr>
        <p:spPr>
          <a:xfrm flipV="1">
            <a:off x="2148840" y="2157984"/>
            <a:ext cx="2203704" cy="1298448"/>
          </a:xfrm>
          <a:prstGeom prst="line">
            <a:avLst/>
          </a:prstGeom>
          <a:noFill/>
          <a:ln w="15875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11" name="ovl_arrow"/>
          <p:cNvSpPr/>
          <p:nvPr/>
        </p:nvSpPr>
        <p:spPr>
          <a:xfrm>
            <a:off x="2148840" y="3456432"/>
            <a:ext cx="2203704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12" name="ovl_arrow"/>
          <p:cNvSpPr/>
          <p:nvPr/>
        </p:nvSpPr>
        <p:spPr>
          <a:xfrm>
            <a:off x="5952744" y="3456432"/>
            <a:ext cx="301752" cy="1298448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13" name="ovl_elabel0"/>
          <p:cNvSpPr txBox="1"/>
          <p:nvPr/>
        </p:nvSpPr>
        <p:spPr>
          <a:xfrm>
            <a:off x="1403604" y="2688336"/>
            <a:ext cx="1364285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報酬(80% は時間ベース)</a:t>
            </a:r>
            <a:endParaRPr lang="en-US" sz="850" dirty="0"/>
          </a:p>
        </p:txBody>
      </p:sp>
      <p:sp>
        <p:nvSpPr>
          <p:cNvPr id="14" name="ovl_elabel1"/>
          <p:cNvSpPr txBox="1"/>
          <p:nvPr/>
        </p:nvSpPr>
        <p:spPr>
          <a:xfrm>
            <a:off x="3069641" y="2578608"/>
            <a:ext cx="1002182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容量で受注を確保</a:t>
            </a:r>
            <a:endParaRPr lang="en-US" sz="850" dirty="0"/>
          </a:p>
        </p:txBody>
      </p:sp>
      <p:sp>
        <p:nvSpPr>
          <p:cNvPr id="15" name="ovl_elabel2"/>
          <p:cNvSpPr txBox="1"/>
          <p:nvPr/>
        </p:nvSpPr>
        <p:spPr>
          <a:xfrm>
            <a:off x="2450592" y="2999232"/>
            <a:ext cx="160020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見通し 350 → 500 → 557 億ドル</a:t>
            </a:r>
            <a:endParaRPr lang="en-US" sz="850" dirty="0"/>
          </a:p>
        </p:txBody>
      </p:sp>
      <p:sp>
        <p:nvSpPr>
          <p:cNvPr id="16" name="ovl_elabel3"/>
          <p:cNvSpPr txBox="1"/>
          <p:nvPr/>
        </p:nvSpPr>
        <p:spPr>
          <a:xfrm>
            <a:off x="5365699" y="3986784"/>
            <a:ext cx="1475842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総額 KPI と1株価値のずれ</a:t>
            </a:r>
            <a:endParaRPr lang="en-US" sz="850" dirty="0"/>
          </a:p>
        </p:txBody>
      </p:sp>
      <p:sp>
        <p:nvSpPr>
          <p:cNvPr id="17" name="ovl_node_ceo"/>
          <p:cNvSpPr/>
          <p:nvPr/>
        </p:nvSpPr>
        <p:spPr>
          <a:xfrm>
            <a:off x="548640" y="3035808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18" name="ovl_node_t_ceo"/>
          <p:cNvSpPr txBox="1"/>
          <p:nvPr/>
        </p:nvSpPr>
        <p:spPr>
          <a:xfrm>
            <a:off x="594360" y="309067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共同 CEO</a:t>
            </a:r>
            <a:endParaRPr lang="en-US" sz="1050" dirty="0"/>
          </a:p>
        </p:txBody>
      </p:sp>
      <p:sp>
        <p:nvSpPr>
          <p:cNvPr id="19" name="ovl_node_s_ceo"/>
          <p:cNvSpPr txBox="1"/>
          <p:nvPr/>
        </p:nvSpPr>
        <p:spPr>
          <a:xfrm>
            <a:off x="594360" y="3419856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Magouyrk(OCI 創設者)・Sicilia</a:t>
            </a:r>
            <a:endParaRPr lang="en-US" sz="850" dirty="0"/>
          </a:p>
        </p:txBody>
      </p:sp>
      <p:sp>
        <p:nvSpPr>
          <p:cNvPr id="20" name="ovl_node_board"/>
          <p:cNvSpPr/>
          <p:nvPr/>
        </p:nvSpPr>
        <p:spPr>
          <a:xfrm>
            <a:off x="548640" y="1737360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767676"/>
            </a:solidFill>
            <a:prstDash val="solid"/>
          </a:ln>
        </p:spPr>
      </p:sp>
      <p:sp>
        <p:nvSpPr>
          <p:cNvPr id="21" name="ovl_node_t_board"/>
          <p:cNvSpPr txBox="1"/>
          <p:nvPr/>
        </p:nvSpPr>
        <p:spPr>
          <a:xfrm>
            <a:off x="594360" y="1792224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報酬委員会</a:t>
            </a:r>
            <a:endParaRPr lang="en-US" sz="1050" dirty="0"/>
          </a:p>
        </p:txBody>
      </p:sp>
      <p:sp>
        <p:nvSpPr>
          <p:cNvPr id="22" name="ovl_node_s_board"/>
          <p:cNvSpPr txBox="1"/>
          <p:nvPr/>
        </p:nvSpPr>
        <p:spPr>
          <a:xfrm>
            <a:off x="594360" y="2121408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PSO の KPI = FY28 総売上</a:t>
            </a:r>
            <a:endParaRPr lang="en-US" sz="850" dirty="0"/>
          </a:p>
        </p:txBody>
      </p:sp>
      <p:sp>
        <p:nvSpPr>
          <p:cNvPr id="23" name="ovl_node_capex"/>
          <p:cNvSpPr/>
          <p:nvPr/>
        </p:nvSpPr>
        <p:spPr>
          <a:xfrm>
            <a:off x="4352544" y="3035808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F2F2F2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4" name="ovl_node_t_capex"/>
          <p:cNvSpPr txBox="1"/>
          <p:nvPr/>
        </p:nvSpPr>
        <p:spPr>
          <a:xfrm>
            <a:off x="4398264" y="309067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capex</a:t>
            </a:r>
            <a:endParaRPr lang="en-US" sz="1050" dirty="0"/>
          </a:p>
        </p:txBody>
      </p:sp>
      <p:sp>
        <p:nvSpPr>
          <p:cNvPr id="25" name="ovl_node_s_capex"/>
          <p:cNvSpPr txBox="1"/>
          <p:nvPr/>
        </p:nvSpPr>
        <p:spPr>
          <a:xfrm>
            <a:off x="4398264" y="3419856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FY26 実績 557 億ドル</a:t>
            </a:r>
            <a:endParaRPr lang="en-US" sz="850" dirty="0"/>
          </a:p>
        </p:txBody>
      </p:sp>
      <p:sp>
        <p:nvSpPr>
          <p:cNvPr id="26" name="ovl_node_rpo"/>
          <p:cNvSpPr/>
          <p:nvPr/>
        </p:nvSpPr>
        <p:spPr>
          <a:xfrm>
            <a:off x="4352544" y="1737360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EAF4EE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27" name="ovl_node_t_rpo"/>
          <p:cNvSpPr txBox="1"/>
          <p:nvPr/>
        </p:nvSpPr>
        <p:spPr>
          <a:xfrm>
            <a:off x="4398264" y="1792224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受注残</a:t>
            </a:r>
            <a:endParaRPr lang="en-US" sz="1050" dirty="0"/>
          </a:p>
        </p:txBody>
      </p:sp>
      <p:sp>
        <p:nvSpPr>
          <p:cNvPr id="28" name="ovl_node_s_rpo"/>
          <p:cNvSpPr txBox="1"/>
          <p:nvPr/>
        </p:nvSpPr>
        <p:spPr>
          <a:xfrm>
            <a:off x="4398264" y="2121408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6,640 億ドル</a:t>
            </a:r>
            <a:endParaRPr lang="en-US" sz="850" dirty="0"/>
          </a:p>
        </p:txBody>
      </p:sp>
      <p:sp>
        <p:nvSpPr>
          <p:cNvPr id="29" name="ovl_node_sh"/>
          <p:cNvSpPr/>
          <p:nvPr/>
        </p:nvSpPr>
        <p:spPr>
          <a:xfrm>
            <a:off x="6254496" y="4334256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767676"/>
            </a:solidFill>
            <a:prstDash val="solid"/>
          </a:ln>
        </p:spPr>
      </p:sp>
      <p:sp>
        <p:nvSpPr>
          <p:cNvPr id="30" name="ovl_node_t_sh"/>
          <p:cNvSpPr txBox="1"/>
          <p:nvPr/>
        </p:nvSpPr>
        <p:spPr>
          <a:xfrm>
            <a:off x="6300216" y="43891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株主</a:t>
            </a:r>
            <a:endParaRPr lang="en-US" sz="1050" dirty="0"/>
          </a:p>
        </p:txBody>
      </p:sp>
      <p:sp>
        <p:nvSpPr>
          <p:cNvPr id="31" name="ovl_node_s_sh"/>
          <p:cNvSpPr txBox="1"/>
          <p:nvPr/>
        </p:nvSpPr>
        <p:spPr>
          <a:xfrm>
            <a:off x="6300216" y="4718304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1株価値</a:t>
            </a:r>
            <a:endParaRPr lang="en-US" sz="850" dirty="0"/>
          </a:p>
        </p:txBody>
      </p:sp>
      <p:sp>
        <p:nvSpPr>
          <p:cNvPr id="32" name="ovl_arrow"/>
          <p:cNvSpPr/>
          <p:nvPr/>
        </p:nvSpPr>
        <p:spPr>
          <a:xfrm>
            <a:off x="548640" y="5724144"/>
            <a:ext cx="411480" cy="914"/>
          </a:xfrm>
          <a:prstGeom prst="line">
            <a:avLst/>
          </a:prstGeom>
          <a:noFill/>
          <a:ln w="1587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33" name="ovl_legend0"/>
          <p:cNvSpPr txBox="1"/>
          <p:nvPr/>
        </p:nvSpPr>
        <p:spPr>
          <a:xfrm>
            <a:off x="1024128" y="55961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カネ</a:t>
            </a:r>
            <a:endParaRPr lang="en-US" sz="850" dirty="0"/>
          </a:p>
        </p:txBody>
      </p:sp>
      <p:sp>
        <p:nvSpPr>
          <p:cNvPr id="34" name="ovl_arrow"/>
          <p:cNvSpPr/>
          <p:nvPr/>
        </p:nvSpPr>
        <p:spPr>
          <a:xfrm>
            <a:off x="2377440" y="5724144"/>
            <a:ext cx="411480" cy="914"/>
          </a:xfrm>
          <a:prstGeom prst="line">
            <a:avLst/>
          </a:prstGeom>
          <a:noFill/>
          <a:ln w="15875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35" name="ovl_legend1"/>
          <p:cNvSpPr txBox="1"/>
          <p:nvPr/>
        </p:nvSpPr>
        <p:spPr>
          <a:xfrm>
            <a:off x="2852928" y="55961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モノ・サービス</a:t>
            </a:r>
            <a:endParaRPr lang="en-US" sz="850" dirty="0"/>
          </a:p>
        </p:txBody>
      </p:sp>
      <p:sp>
        <p:nvSpPr>
          <p:cNvPr id="36" name="ovl_arrow"/>
          <p:cNvSpPr/>
          <p:nvPr/>
        </p:nvSpPr>
        <p:spPr>
          <a:xfrm>
            <a:off x="4206240" y="5724144"/>
            <a:ext cx="41148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37" name="ovl_legend2"/>
          <p:cNvSpPr txBox="1"/>
          <p:nvPr/>
        </p:nvSpPr>
        <p:spPr>
          <a:xfrm>
            <a:off x="4681728" y="55961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リスク</a:t>
            </a:r>
            <a:endParaRPr lang="en-US" sz="850" dirty="0"/>
          </a:p>
        </p:txBody>
      </p:sp>
      <p:sp>
        <p:nvSpPr>
          <p:cNvPr id="38" name="ovl_evbox"/>
          <p:cNvSpPr/>
          <p:nvPr/>
        </p:nvSpPr>
        <p:spPr>
          <a:xfrm>
            <a:off x="8275320" y="1481328"/>
            <a:ext cx="345643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9" name="ev_head"/>
          <p:cNvSpPr txBox="1"/>
          <p:nvPr/>
        </p:nvSpPr>
        <p:spPr>
          <a:xfrm>
            <a:off x="8385048" y="15361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根拠</a:t>
            </a:r>
            <a:endParaRPr lang="en-US" sz="1200" dirty="0"/>
          </a:p>
        </p:txBody>
      </p:sp>
      <p:sp>
        <p:nvSpPr>
          <p:cNvPr id="40" name="evidence"/>
          <p:cNvSpPr txBox="1"/>
          <p:nvPr/>
        </p:nvSpPr>
        <p:spPr>
          <a:xfrm>
            <a:off x="8385048" y="1847088"/>
            <a:ext cx="3255264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FY26 capex: 当初見通し 約 350 億 → 2025-12 に約 500 億 → 実績 557 億ドル(最新見通し比 +11%)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FY27 売上ガイダンスは 85 → 89 → 90 → 90 以上と引き上げ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PSO の KPI は FY28 の非GAAP 総売上(1株指標ではない)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FAM の FY27 EPS 目標 10.65 ドルは単一出典で、FactSet の FY28 中央値と同値(年度ずれの可能性)</a:t>
            </a:r>
            <a:endParaRPr lang="en-US" sz="950" dirty="0"/>
          </a:p>
        </p:txBody>
      </p:sp>
      <p:sp>
        <p:nvSpPr>
          <p:cNvPr id="41" name="ovl_takeaway_bg"/>
          <p:cNvSpPr/>
          <p:nvPr/>
        </p:nvSpPr>
        <p:spPr>
          <a:xfrm>
            <a:off x="8275320" y="4389120"/>
            <a:ext cx="3456432" cy="114300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42" name="takeaway"/>
          <p:cNvSpPr txBox="1"/>
          <p:nvPr/>
        </p:nvSpPr>
        <p:spPr>
          <a:xfrm>
            <a:off x="8385048" y="4462272"/>
            <a:ext cx="3236976" cy="9966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成長の実行力は高いが、資本配分の規律と報酬の設計に留保が残るため B(C との境界)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事業実態 EPS の5年成長率は3経路とも 30% を超え PEG は 0.60〜0.66 だが、エンジン経路の余裕は 1.5pt で自社株買いに依存する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条件6 5年後 EPS 成長率で PEG&lt;1(EPS CAGR 30% 以上)。事業実態 EPS = 非GAAP EPS − 株式報酬の税引後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コンセンサス(Yahoo・FactSet・tickflow)、会社の FY30 目標(FAM 2025-10)、需給エンジン第4.3版(calc/out/m8_extra.json)。株価 143.20 ドル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22</a:t>
            </a:r>
            <a:endParaRPr lang="en-US" sz="800" dirty="0"/>
          </a:p>
        </p:txBody>
      </p:sp>
      <p:sp>
        <p:nvSpPr>
          <p:cNvPr id="6" name="ovl_badge"/>
          <p:cNvSpPr/>
          <p:nvPr/>
        </p:nvSpPr>
        <p:spPr>
          <a:xfrm>
            <a:off x="10820095" y="329184"/>
            <a:ext cx="914400" cy="713232"/>
          </a:xfrm>
          <a:prstGeom prst="roundRect">
            <a:avLst>
              <a:gd name="adj" fmla="val 10256"/>
            </a:avLst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7" name="ovl_badge_t"/>
          <p:cNvSpPr txBox="1"/>
          <p:nvPr/>
        </p:nvSpPr>
        <p:spPr>
          <a:xfrm>
            <a:off x="10820095" y="329184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3000" dirty="0"/>
          </a:p>
        </p:txBody>
      </p:sp>
      <p:sp>
        <p:nvSpPr>
          <p:cNvPr id="8" name="ovl_badge_l"/>
          <p:cNvSpPr txBox="1"/>
          <p:nvPr/>
        </p:nvSpPr>
        <p:spPr>
          <a:xfrm>
            <a:off x="10820095" y="78638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条件6</a:t>
            </a:r>
            <a:endParaRPr lang="en-US" sz="800" dirty="0"/>
          </a:p>
        </p:txBody>
      </p:sp>
      <p:graphicFrame>
        <p:nvGraphicFramePr>
          <p:cNvPr id="23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143000"/>
                <a:gridCol w="1143000"/>
                <a:gridCol w="1097280"/>
                <a:gridCol w="109728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経路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FY27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FY32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5年 CAGR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PER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PEG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コンセンサス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6.85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29.48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33.9%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20.9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0.62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会社(FY30 目標 21 ドル)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6.89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30.20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34.4%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20.8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0.60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需給エンジン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6.89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27.14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31.5%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20.8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0.66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bullets"/>
          <p:cNvSpPr txBox="1"/>
          <p:nvPr/>
        </p:nvSpPr>
        <p:spPr>
          <a:xfrm>
            <a:off x="457200" y="3383280"/>
            <a:ext cx="758952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エンジン経路の余裕は 1.5pt。超過 FCF の自社株買いがなければ 30.0%、確率加重の経路では 28.6%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条件7 が C(安い理由の一部は実在のリスク)のため、規則により S は無効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FY27→FY30 の3年では全経路が 36% 超。減速は FY30〜32 の容量追加の減速による</a:t>
            </a:r>
            <a:endParaRPr lang="en-US" sz="1050" dirty="0"/>
          </a:p>
        </p:txBody>
      </p:sp>
      <p:graphicFrame>
        <p:nvGraphicFramePr>
          <p:cNvPr id="11" name="chart_cagr" descr=""/>
          <p:cNvGraphicFramePr/>
          <p:nvPr/>
        </p:nvGraphicFramePr>
        <p:xfrm>
          <a:off x="457200" y="4343400"/>
          <a:ext cx="758952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ovl_thr"/>
          <p:cNvSpPr txBox="1"/>
          <p:nvPr/>
        </p:nvSpPr>
        <p:spPr>
          <a:xfrm>
            <a:off x="6309360" y="4663440"/>
            <a:ext cx="1737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D6891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閾値 30%</a:t>
            </a:r>
            <a:endParaRPr lang="en-US" sz="900" dirty="0"/>
          </a:p>
        </p:txBody>
      </p:sp>
      <p:sp>
        <p:nvSpPr>
          <p:cNvPr id="13" name="ovl_evbox"/>
          <p:cNvSpPr/>
          <p:nvPr/>
        </p:nvSpPr>
        <p:spPr>
          <a:xfrm>
            <a:off x="8275320" y="1481328"/>
            <a:ext cx="345643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4" name="ev_head"/>
          <p:cNvSpPr txBox="1"/>
          <p:nvPr/>
        </p:nvSpPr>
        <p:spPr>
          <a:xfrm>
            <a:off x="8385048" y="15361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根拠</a:t>
            </a:r>
            <a:endParaRPr lang="en-US" sz="1200" dirty="0"/>
          </a:p>
        </p:txBody>
      </p:sp>
      <p:sp>
        <p:nvSpPr>
          <p:cNvPr id="15" name="evidence"/>
          <p:cNvSpPr txBox="1"/>
          <p:nvPr/>
        </p:nvSpPr>
        <p:spPr>
          <a:xfrm>
            <a:off x="8385048" y="1847088"/>
            <a:ext cx="3255264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5年 CAGR の閾値 30%: FY32 の事業実態 EPS 25.6 ドル以上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PER は 143.20 ÷ FY27 の事業実態 EPS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第1版の評価は C(エンジン 22.1%)</a:t>
            </a:r>
            <a:endParaRPr lang="en-US" sz="950" dirty="0"/>
          </a:p>
        </p:txBody>
      </p:sp>
      <p:sp>
        <p:nvSpPr>
          <p:cNvPr id="16" name="ovl_takeaway_bg"/>
          <p:cNvSpPr/>
          <p:nvPr/>
        </p:nvSpPr>
        <p:spPr>
          <a:xfrm>
            <a:off x="8275320" y="4389120"/>
            <a:ext cx="3456432" cy="114300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7" name="takeaway"/>
          <p:cNvSpPr txBox="1"/>
          <p:nvPr/>
        </p:nvSpPr>
        <p:spPr>
          <a:xfrm>
            <a:off x="8385048" y="4462272"/>
            <a:ext cx="3236976" cy="9966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数値は S の基準を満たすが、余裕が薄く条件7 と対で評価して B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株価が安い主因は市場の見落としではなく、OpenAI への集中(受注残の約 45%)と CDS 227bp が示す実在の信用リスクである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条件7 PEG が低い理由がリスクの過大評価であること(MU 型の陳腐化 capex が理由ではない)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research2/R5_credit.md、research4/T2_company_rpo_capacity.md、research3/W2_gpu_economic_life.md、Bloomberg(2026-10-08)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23</a:t>
            </a:r>
            <a:endParaRPr lang="en-US" sz="800" dirty="0"/>
          </a:p>
        </p:txBody>
      </p:sp>
      <p:sp>
        <p:nvSpPr>
          <p:cNvPr id="6" name="ovl_badge"/>
          <p:cNvSpPr/>
          <p:nvPr/>
        </p:nvSpPr>
        <p:spPr>
          <a:xfrm>
            <a:off x="10820095" y="329184"/>
            <a:ext cx="914400" cy="713232"/>
          </a:xfrm>
          <a:prstGeom prst="roundRect">
            <a:avLst>
              <a:gd name="adj" fmla="val 10256"/>
            </a:avLst>
          </a:prstGeom>
          <a:solidFill>
            <a:srgbClr val="D68910"/>
          </a:solidFill>
          <a:ln w="12700">
            <a:solidFill>
              <a:srgbClr val="D68910"/>
            </a:solidFill>
            <a:prstDash val="solid"/>
          </a:ln>
        </p:spPr>
      </p:sp>
      <p:sp>
        <p:nvSpPr>
          <p:cNvPr id="7" name="ovl_badge_t"/>
          <p:cNvSpPr txBox="1"/>
          <p:nvPr/>
        </p:nvSpPr>
        <p:spPr>
          <a:xfrm>
            <a:off x="10820095" y="329184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</a:t>
            </a:r>
            <a:endParaRPr lang="en-US" sz="3000" dirty="0"/>
          </a:p>
        </p:txBody>
      </p:sp>
      <p:sp>
        <p:nvSpPr>
          <p:cNvPr id="8" name="ovl_badge_l"/>
          <p:cNvSpPr txBox="1"/>
          <p:nvPr/>
        </p:nvSpPr>
        <p:spPr>
          <a:xfrm>
            <a:off x="10820095" y="78638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条件7</a:t>
            </a:r>
            <a:endParaRPr lang="en-US" sz="800" dirty="0"/>
          </a:p>
        </p:txBody>
      </p:sp>
      <p:sp>
        <p:nvSpPr>
          <p:cNvPr id="9" name="ovl_arrow"/>
          <p:cNvSpPr/>
          <p:nvPr/>
        </p:nvSpPr>
        <p:spPr>
          <a:xfrm flipH="1">
            <a:off x="4050792" y="2157984"/>
            <a:ext cx="2203704" cy="1298448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10" name="ovl_arrow"/>
          <p:cNvSpPr/>
          <p:nvPr/>
        </p:nvSpPr>
        <p:spPr>
          <a:xfrm>
            <a:off x="4050792" y="3456432"/>
            <a:ext cx="2203704" cy="1298448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11" name="ovl_arrow"/>
          <p:cNvSpPr/>
          <p:nvPr/>
        </p:nvSpPr>
        <p:spPr>
          <a:xfrm flipV="1">
            <a:off x="2148840" y="3456432"/>
            <a:ext cx="301752" cy="1298448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12" name="ovl_arrow"/>
          <p:cNvSpPr/>
          <p:nvPr/>
        </p:nvSpPr>
        <p:spPr>
          <a:xfrm flipH="1">
            <a:off x="4050792" y="2386584"/>
            <a:ext cx="2203704" cy="1298448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13" name="ovl_arrow"/>
          <p:cNvSpPr/>
          <p:nvPr/>
        </p:nvSpPr>
        <p:spPr>
          <a:xfrm flipH="1" flipV="1">
            <a:off x="2148840" y="2157984"/>
            <a:ext cx="301752" cy="1298448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14" name="ovl_elabel0"/>
          <p:cNvSpPr txBox="1"/>
          <p:nvPr/>
        </p:nvSpPr>
        <p:spPr>
          <a:xfrm>
            <a:off x="4401007" y="2688336"/>
            <a:ext cx="1503274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年 約 300 億ドル(2027〜)</a:t>
            </a:r>
            <a:endParaRPr lang="en-US" sz="850" dirty="0"/>
          </a:p>
        </p:txBody>
      </p:sp>
      <p:sp>
        <p:nvSpPr>
          <p:cNvPr id="15" name="ovl_elabel1"/>
          <p:cNvSpPr txBox="1"/>
          <p:nvPr/>
        </p:nvSpPr>
        <p:spPr>
          <a:xfrm>
            <a:off x="4809744" y="3986784"/>
            <a:ext cx="685800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GPU の購入</a:t>
            </a:r>
            <a:endParaRPr lang="en-US" sz="850" dirty="0"/>
          </a:p>
        </p:txBody>
      </p:sp>
      <p:sp>
        <p:nvSpPr>
          <p:cNvPr id="16" name="ovl_elabel2"/>
          <p:cNvSpPr txBox="1"/>
          <p:nvPr/>
        </p:nvSpPr>
        <p:spPr>
          <a:xfrm>
            <a:off x="1849831" y="3986784"/>
            <a:ext cx="899770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資金(高い金利)</a:t>
            </a:r>
            <a:endParaRPr lang="en-US" sz="850" dirty="0"/>
          </a:p>
        </p:txBody>
      </p:sp>
      <p:sp>
        <p:nvSpPr>
          <p:cNvPr id="17" name="ovl_elabel3"/>
          <p:cNvSpPr txBox="1"/>
          <p:nvPr/>
        </p:nvSpPr>
        <p:spPr>
          <a:xfrm>
            <a:off x="4763110" y="2916936"/>
            <a:ext cx="779069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不払いリスク</a:t>
            </a:r>
            <a:endParaRPr lang="en-US" sz="850" dirty="0"/>
          </a:p>
        </p:txBody>
      </p:sp>
      <p:sp>
        <p:nvSpPr>
          <p:cNvPr id="18" name="ovl_elabel4"/>
          <p:cNvSpPr txBox="1"/>
          <p:nvPr/>
        </p:nvSpPr>
        <p:spPr>
          <a:xfrm>
            <a:off x="1854403" y="2688336"/>
            <a:ext cx="890626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現金化への疑い</a:t>
            </a:r>
            <a:endParaRPr lang="en-US" sz="850" dirty="0"/>
          </a:p>
        </p:txBody>
      </p:sp>
      <p:sp>
        <p:nvSpPr>
          <p:cNvPr id="19" name="ovl_node_mkt"/>
          <p:cNvSpPr/>
          <p:nvPr/>
        </p:nvSpPr>
        <p:spPr>
          <a:xfrm>
            <a:off x="548640" y="1737360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767676"/>
            </a:solidFill>
            <a:prstDash val="solid"/>
          </a:ln>
        </p:spPr>
      </p:sp>
      <p:sp>
        <p:nvSpPr>
          <p:cNvPr id="20" name="ovl_node_t_mkt"/>
          <p:cNvSpPr txBox="1"/>
          <p:nvPr/>
        </p:nvSpPr>
        <p:spPr>
          <a:xfrm>
            <a:off x="594360" y="1792224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株式市場</a:t>
            </a:r>
            <a:endParaRPr lang="en-US" sz="1050" dirty="0"/>
          </a:p>
        </p:txBody>
      </p:sp>
      <p:sp>
        <p:nvSpPr>
          <p:cNvPr id="21" name="ovl_node_s_mkt"/>
          <p:cNvSpPr txBox="1"/>
          <p:nvPr/>
        </p:nvSpPr>
        <p:spPr>
          <a:xfrm>
            <a:off x="594360" y="2121408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事業実態 EPS の 15.7 倍</a:t>
            </a:r>
            <a:endParaRPr lang="en-US" sz="850" dirty="0"/>
          </a:p>
        </p:txBody>
      </p:sp>
      <p:sp>
        <p:nvSpPr>
          <p:cNvPr id="22" name="ovl_node_orcl"/>
          <p:cNvSpPr/>
          <p:nvPr/>
        </p:nvSpPr>
        <p:spPr>
          <a:xfrm>
            <a:off x="2450592" y="3035808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23" name="ovl_node_t_orcl"/>
          <p:cNvSpPr txBox="1"/>
          <p:nvPr/>
        </p:nvSpPr>
        <p:spPr>
          <a:xfrm>
            <a:off x="2496312" y="309067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Oracle</a:t>
            </a:r>
            <a:endParaRPr lang="en-US" sz="1050" dirty="0"/>
          </a:p>
        </p:txBody>
      </p:sp>
      <p:sp>
        <p:nvSpPr>
          <p:cNvPr id="24" name="ovl_node_s_orcl"/>
          <p:cNvSpPr txBox="1"/>
          <p:nvPr/>
        </p:nvSpPr>
        <p:spPr>
          <a:xfrm>
            <a:off x="2496312" y="3419856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GPU を自社調達</a:t>
            </a:r>
            <a:endParaRPr lang="en-US" sz="850" dirty="0"/>
          </a:p>
        </p:txBody>
      </p:sp>
      <p:sp>
        <p:nvSpPr>
          <p:cNvPr id="25" name="ovl_node_oai"/>
          <p:cNvSpPr/>
          <p:nvPr/>
        </p:nvSpPr>
        <p:spPr>
          <a:xfrm>
            <a:off x="6254496" y="1737360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F2F2F2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6" name="ovl_node_t_oai"/>
          <p:cNvSpPr txBox="1"/>
          <p:nvPr/>
        </p:nvSpPr>
        <p:spPr>
          <a:xfrm>
            <a:off x="6300216" y="1792224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OpenAI</a:t>
            </a:r>
            <a:endParaRPr lang="en-US" sz="1050" dirty="0"/>
          </a:p>
        </p:txBody>
      </p:sp>
      <p:sp>
        <p:nvSpPr>
          <p:cNvPr id="27" name="ovl_node_s_oai"/>
          <p:cNvSpPr txBox="1"/>
          <p:nvPr/>
        </p:nvSpPr>
        <p:spPr>
          <a:xfrm>
            <a:off x="6300216" y="2121408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受注残の約 45%・約 3,000 億ドル</a:t>
            </a:r>
            <a:endParaRPr lang="en-US" sz="850" dirty="0"/>
          </a:p>
        </p:txBody>
      </p:sp>
      <p:sp>
        <p:nvSpPr>
          <p:cNvPr id="28" name="ovl_node_bond"/>
          <p:cNvSpPr/>
          <p:nvPr/>
        </p:nvSpPr>
        <p:spPr>
          <a:xfrm>
            <a:off x="548640" y="4334256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F2F2F2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9" name="ovl_node_t_bond"/>
          <p:cNvSpPr txBox="1"/>
          <p:nvPr/>
        </p:nvSpPr>
        <p:spPr>
          <a:xfrm>
            <a:off x="594360" y="43891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社債・CDS 市場</a:t>
            </a:r>
            <a:endParaRPr lang="en-US" sz="1050" dirty="0"/>
          </a:p>
        </p:txBody>
      </p:sp>
      <p:sp>
        <p:nvSpPr>
          <p:cNvPr id="30" name="ovl_node_s_bond"/>
          <p:cNvSpPr txBox="1"/>
          <p:nvPr/>
        </p:nvSpPr>
        <p:spPr>
          <a:xfrm>
            <a:off x="594360" y="4718304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CDS 227bp、2056 年債 8% 超</a:t>
            </a:r>
            <a:endParaRPr lang="en-US" sz="850" dirty="0"/>
          </a:p>
        </p:txBody>
      </p:sp>
      <p:sp>
        <p:nvSpPr>
          <p:cNvPr id="31" name="ovl_node_nv"/>
          <p:cNvSpPr/>
          <p:nvPr/>
        </p:nvSpPr>
        <p:spPr>
          <a:xfrm>
            <a:off x="6254496" y="4334256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767676"/>
            </a:solidFill>
            <a:prstDash val="solid"/>
          </a:ln>
        </p:spPr>
      </p:sp>
      <p:sp>
        <p:nvSpPr>
          <p:cNvPr id="32" name="ovl_node_t_nv"/>
          <p:cNvSpPr txBox="1"/>
          <p:nvPr/>
        </p:nvSpPr>
        <p:spPr>
          <a:xfrm>
            <a:off x="6300216" y="43891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NVIDIA</a:t>
            </a:r>
            <a:endParaRPr lang="en-US" sz="1050" dirty="0"/>
          </a:p>
        </p:txBody>
      </p:sp>
      <p:sp>
        <p:nvSpPr>
          <p:cNvPr id="33" name="ovl_node_s_nv"/>
          <p:cNvSpPr txBox="1"/>
          <p:nvPr/>
        </p:nvSpPr>
        <p:spPr>
          <a:xfrm>
            <a:off x="6300216" y="4718304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GPU 代</a:t>
            </a:r>
            <a:endParaRPr lang="en-US" sz="850" dirty="0"/>
          </a:p>
        </p:txBody>
      </p:sp>
      <p:sp>
        <p:nvSpPr>
          <p:cNvPr id="34" name="ovl_tag0"/>
          <p:cNvSpPr/>
          <p:nvPr/>
        </p:nvSpPr>
        <p:spPr>
          <a:xfrm>
            <a:off x="6254496" y="2615184"/>
            <a:ext cx="1600200" cy="237744"/>
          </a:xfrm>
          <a:prstGeom prst="roundRect">
            <a:avLst>
              <a:gd name="adj" fmla="val 19231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5" name="ovl_tag_t0"/>
          <p:cNvSpPr txBox="1"/>
          <p:nvPr/>
        </p:nvSpPr>
        <p:spPr>
          <a:xfrm>
            <a:off x="6254496" y="261518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集中リスク: Oracle 負担</a:t>
            </a:r>
            <a:endParaRPr lang="en-US" sz="800" dirty="0"/>
          </a:p>
        </p:txBody>
      </p:sp>
      <p:sp>
        <p:nvSpPr>
          <p:cNvPr id="36" name="ovl_arrow"/>
          <p:cNvSpPr/>
          <p:nvPr/>
        </p:nvSpPr>
        <p:spPr>
          <a:xfrm>
            <a:off x="548640" y="5724144"/>
            <a:ext cx="411480" cy="914"/>
          </a:xfrm>
          <a:prstGeom prst="line">
            <a:avLst/>
          </a:prstGeom>
          <a:noFill/>
          <a:ln w="1587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37" name="ovl_legend0"/>
          <p:cNvSpPr txBox="1"/>
          <p:nvPr/>
        </p:nvSpPr>
        <p:spPr>
          <a:xfrm>
            <a:off x="1024128" y="55961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カネ</a:t>
            </a:r>
            <a:endParaRPr lang="en-US" sz="850" dirty="0"/>
          </a:p>
        </p:txBody>
      </p:sp>
      <p:sp>
        <p:nvSpPr>
          <p:cNvPr id="38" name="ovl_arrow"/>
          <p:cNvSpPr/>
          <p:nvPr/>
        </p:nvSpPr>
        <p:spPr>
          <a:xfrm>
            <a:off x="2377440" y="5724144"/>
            <a:ext cx="411480" cy="914"/>
          </a:xfrm>
          <a:prstGeom prst="line">
            <a:avLst/>
          </a:prstGeom>
          <a:noFill/>
          <a:ln w="15875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39" name="ovl_legend1"/>
          <p:cNvSpPr txBox="1"/>
          <p:nvPr/>
        </p:nvSpPr>
        <p:spPr>
          <a:xfrm>
            <a:off x="2852928" y="55961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モノ・サービス</a:t>
            </a:r>
            <a:endParaRPr lang="en-US" sz="850" dirty="0"/>
          </a:p>
        </p:txBody>
      </p:sp>
      <p:sp>
        <p:nvSpPr>
          <p:cNvPr id="40" name="ovl_arrow"/>
          <p:cNvSpPr/>
          <p:nvPr/>
        </p:nvSpPr>
        <p:spPr>
          <a:xfrm>
            <a:off x="4206240" y="5724144"/>
            <a:ext cx="41148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41" name="ovl_legend2"/>
          <p:cNvSpPr txBox="1"/>
          <p:nvPr/>
        </p:nvSpPr>
        <p:spPr>
          <a:xfrm>
            <a:off x="4681728" y="55961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リスク</a:t>
            </a:r>
            <a:endParaRPr lang="en-US" sz="850" dirty="0"/>
          </a:p>
        </p:txBody>
      </p:sp>
      <p:sp>
        <p:nvSpPr>
          <p:cNvPr id="42" name="ovl_evbox"/>
          <p:cNvSpPr/>
          <p:nvPr/>
        </p:nvSpPr>
        <p:spPr>
          <a:xfrm>
            <a:off x="8275320" y="1481328"/>
            <a:ext cx="345643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3" name="ev_head"/>
          <p:cNvSpPr txBox="1"/>
          <p:nvPr/>
        </p:nvSpPr>
        <p:spPr>
          <a:xfrm>
            <a:off x="8385048" y="15361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根拠</a:t>
            </a:r>
            <a:endParaRPr lang="en-US" sz="1200" dirty="0"/>
          </a:p>
        </p:txBody>
      </p:sp>
      <p:sp>
        <p:nvSpPr>
          <p:cNvPr id="44" name="evidence"/>
          <p:cNvSpPr txBox="1"/>
          <p:nvPr/>
        </p:nvSpPr>
        <p:spPr>
          <a:xfrm>
            <a:off x="8385048" y="1847088"/>
            <a:ext cx="3255264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OpenAI の年換算売上 240 億ドル(3 月)→ 約 500 億ドル(10/8、700 億ドル報道を下方修正)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OpenAI の計算契約は 1.15〜1.5 兆ドル、2026〜30 年の FCF 累計 −2,780 億ドル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S&amp;P BBB-(2026-07)。FY29 までに FOCF が黒字化しなければ再格下げ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見落としで説明できるのは GPU 寿命の悲観だけ(H100 を元の 95% で再契約の例)</a:t>
            </a:r>
            <a:endParaRPr lang="en-US" sz="950" dirty="0"/>
          </a:p>
        </p:txBody>
      </p:sp>
      <p:sp>
        <p:nvSpPr>
          <p:cNvPr id="45" name="ovl_takeaway_bg"/>
          <p:cNvSpPr/>
          <p:nvPr/>
        </p:nvSpPr>
        <p:spPr>
          <a:xfrm>
            <a:off x="8275320" y="4389120"/>
            <a:ext cx="3456432" cy="114300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46" name="takeaway"/>
          <p:cNvSpPr txBox="1"/>
          <p:nvPr/>
        </p:nvSpPr>
        <p:spPr>
          <a:xfrm>
            <a:off x="8385048" y="4462272"/>
            <a:ext cx="3236976" cy="9966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安さの主因は実在のリスクで、見落としは一部(GPU 寿命・J カーブ)に限られるため C</a:t>
            </a:r>
            <a:endParaRPr lang="en-US" sz="1050" dirty="0"/>
          </a:p>
        </p:txBody>
      </p:sp>
      <p:sp>
        <p:nvSpPr>
          <p:cNvPr id="47" name="ovl_kpibox"/>
          <p:cNvSpPr/>
          <p:nvPr/>
        </p:nvSpPr>
        <p:spPr>
          <a:xfrm>
            <a:off x="457200" y="5870448"/>
            <a:ext cx="11277295" cy="384048"/>
          </a:xfrm>
          <a:prstGeom prst="rect">
            <a:avLst/>
          </a:prstGeom>
          <a:solidFill>
            <a:srgbClr val="F2F2F2"/>
          </a:solidFill>
          <a:ln w="9525">
            <a:solidFill>
              <a:srgbClr val="D68910"/>
            </a:solidFill>
            <a:prstDash val="solid"/>
          </a:ln>
        </p:spPr>
      </p:sp>
      <p:sp>
        <p:nvSpPr>
          <p:cNvPr id="48" name="kpi"/>
          <p:cNvSpPr txBox="1"/>
          <p:nvPr/>
        </p:nvSpPr>
        <p:spPr>
          <a:xfrm>
            <a:off x="548640" y="5888736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監視 KPI とトリガー: CDS 5年 200bp 未満で確度を上げ、300bp 超で D 候補 / FY29 より前の BB+ 格下げで D 候補 / OpenAI の比率 40% 未満で確度を上げ、契約変更・支払遅延の報道で E 候補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DB は代替の利かない製品だが、価値の 45% を占める AI 容量は、需給が緩むと限界供給者の損益分岐で値が決まる商品になる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条件8 コモディティではない(AVGO 型でない)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需給エンジン第4.3版(セグメント価値)、research3/W3_industry_structure.md、ICE・CME の発表(2026-05)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24</a:t>
            </a:r>
            <a:endParaRPr lang="en-US" sz="800" dirty="0"/>
          </a:p>
        </p:txBody>
      </p:sp>
      <p:sp>
        <p:nvSpPr>
          <p:cNvPr id="6" name="ovl_badge"/>
          <p:cNvSpPr/>
          <p:nvPr/>
        </p:nvSpPr>
        <p:spPr>
          <a:xfrm>
            <a:off x="10820095" y="329184"/>
            <a:ext cx="914400" cy="713232"/>
          </a:xfrm>
          <a:prstGeom prst="roundRect">
            <a:avLst>
              <a:gd name="adj" fmla="val 10256"/>
            </a:avLst>
          </a:prstGeom>
          <a:solidFill>
            <a:srgbClr val="D68910"/>
          </a:solidFill>
          <a:ln w="12700">
            <a:solidFill>
              <a:srgbClr val="D68910"/>
            </a:solidFill>
            <a:prstDash val="solid"/>
          </a:ln>
        </p:spPr>
      </p:sp>
      <p:sp>
        <p:nvSpPr>
          <p:cNvPr id="7" name="ovl_badge_t"/>
          <p:cNvSpPr txBox="1"/>
          <p:nvPr/>
        </p:nvSpPr>
        <p:spPr>
          <a:xfrm>
            <a:off x="10820095" y="329184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</a:t>
            </a:r>
            <a:endParaRPr lang="en-US" sz="3000" dirty="0"/>
          </a:p>
        </p:txBody>
      </p:sp>
      <p:sp>
        <p:nvSpPr>
          <p:cNvPr id="8" name="ovl_badge_l"/>
          <p:cNvSpPr txBox="1"/>
          <p:nvPr/>
        </p:nvSpPr>
        <p:spPr>
          <a:xfrm>
            <a:off x="10820095" y="78638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条件8</a:t>
            </a:r>
            <a:endParaRPr lang="en-US" sz="800" dirty="0"/>
          </a:p>
        </p:txBody>
      </p:sp>
      <p:sp>
        <p:nvSpPr>
          <p:cNvPr id="9" name="ovl_arrow"/>
          <p:cNvSpPr/>
          <p:nvPr/>
        </p:nvSpPr>
        <p:spPr>
          <a:xfrm>
            <a:off x="2148840" y="2157984"/>
            <a:ext cx="2203704" cy="1298448"/>
          </a:xfrm>
          <a:prstGeom prst="line">
            <a:avLst/>
          </a:prstGeom>
          <a:noFill/>
          <a:ln w="15875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10" name="ovl_arrow"/>
          <p:cNvSpPr/>
          <p:nvPr/>
        </p:nvSpPr>
        <p:spPr>
          <a:xfrm flipV="1">
            <a:off x="2148840" y="3456432"/>
            <a:ext cx="2203704" cy="1298448"/>
          </a:xfrm>
          <a:prstGeom prst="line">
            <a:avLst/>
          </a:prstGeom>
          <a:noFill/>
          <a:ln w="15875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11" name="ovl_arrow"/>
          <p:cNvSpPr/>
          <p:nvPr/>
        </p:nvSpPr>
        <p:spPr>
          <a:xfrm flipH="1">
            <a:off x="5952744" y="2157984"/>
            <a:ext cx="301752" cy="1298448"/>
          </a:xfrm>
          <a:prstGeom prst="line">
            <a:avLst/>
          </a:prstGeom>
          <a:noFill/>
          <a:ln w="15875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12" name="ovl_arrow"/>
          <p:cNvSpPr/>
          <p:nvPr/>
        </p:nvSpPr>
        <p:spPr>
          <a:xfrm flipH="1">
            <a:off x="2148840" y="4754880"/>
            <a:ext cx="4105656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13" name="ovl_elabel0"/>
          <p:cNvSpPr txBox="1"/>
          <p:nvPr/>
        </p:nvSpPr>
        <p:spPr>
          <a:xfrm>
            <a:off x="2693822" y="2688336"/>
            <a:ext cx="1113739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データの近くで推論</a:t>
            </a:r>
            <a:endParaRPr lang="en-US" sz="850" dirty="0"/>
          </a:p>
        </p:txBody>
      </p:sp>
      <p:sp>
        <p:nvSpPr>
          <p:cNvPr id="14" name="ovl_elabel1"/>
          <p:cNvSpPr txBox="1"/>
          <p:nvPr/>
        </p:nvSpPr>
        <p:spPr>
          <a:xfrm>
            <a:off x="2963570" y="3986784"/>
            <a:ext cx="574243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GPU 時間</a:t>
            </a:r>
            <a:endParaRPr lang="en-US" sz="850" dirty="0"/>
          </a:p>
        </p:txBody>
      </p:sp>
      <p:sp>
        <p:nvSpPr>
          <p:cNvPr id="15" name="ovl_elabel2"/>
          <p:cNvSpPr txBox="1"/>
          <p:nvPr/>
        </p:nvSpPr>
        <p:spPr>
          <a:xfrm>
            <a:off x="5769864" y="2688336"/>
            <a:ext cx="667512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代替の容量</a:t>
            </a:r>
            <a:endParaRPr lang="en-US" sz="850" dirty="0"/>
          </a:p>
        </p:txBody>
      </p:sp>
      <p:sp>
        <p:nvSpPr>
          <p:cNvPr id="16" name="ovl_elabel3"/>
          <p:cNvSpPr txBox="1"/>
          <p:nvPr/>
        </p:nvSpPr>
        <p:spPr>
          <a:xfrm>
            <a:off x="3812134" y="4480560"/>
            <a:ext cx="779069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価格の標準化</a:t>
            </a:r>
            <a:endParaRPr lang="en-US" sz="850" dirty="0"/>
          </a:p>
        </p:txBody>
      </p:sp>
      <p:sp>
        <p:nvSpPr>
          <p:cNvPr id="17" name="ovl_node_db"/>
          <p:cNvSpPr/>
          <p:nvPr/>
        </p:nvSpPr>
        <p:spPr>
          <a:xfrm>
            <a:off x="548640" y="1737360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EAF4EE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18" name="ovl_node_t_db"/>
          <p:cNvSpPr txBox="1"/>
          <p:nvPr/>
        </p:nvSpPr>
        <p:spPr>
          <a:xfrm>
            <a:off x="594360" y="1792224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Oracle DB・Database@</a:t>
            </a:r>
            <a:endParaRPr lang="en-US" sz="1050" dirty="0"/>
          </a:p>
        </p:txBody>
      </p:sp>
      <p:sp>
        <p:nvSpPr>
          <p:cNvPr id="19" name="ovl_node_s_db"/>
          <p:cNvSpPr txBox="1"/>
          <p:nvPr/>
        </p:nvSpPr>
        <p:spPr>
          <a:xfrm>
            <a:off x="594360" y="2121408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差別化あり</a:t>
            </a:r>
            <a:endParaRPr lang="en-US" sz="850" dirty="0"/>
          </a:p>
        </p:txBody>
      </p:sp>
      <p:sp>
        <p:nvSpPr>
          <p:cNvPr id="20" name="ovl_node_gpu"/>
          <p:cNvSpPr/>
          <p:nvPr/>
        </p:nvSpPr>
        <p:spPr>
          <a:xfrm>
            <a:off x="548640" y="4334256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F2F2F2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ovl_node_t_gpu"/>
          <p:cNvSpPr txBox="1"/>
          <p:nvPr/>
        </p:nvSpPr>
        <p:spPr>
          <a:xfrm>
            <a:off x="594360" y="43891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 容量(GPU 時間)</a:t>
            </a:r>
            <a:endParaRPr lang="en-US" sz="1050" dirty="0"/>
          </a:p>
        </p:txBody>
      </p:sp>
      <p:sp>
        <p:nvSpPr>
          <p:cNvPr id="22" name="ovl_node_s_gpu"/>
          <p:cNvSpPr txBox="1"/>
          <p:nvPr/>
        </p:nvSpPr>
        <p:spPr>
          <a:xfrm>
            <a:off x="594360" y="4718304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価値の 45%</a:t>
            </a:r>
            <a:endParaRPr lang="en-US" sz="850" dirty="0"/>
          </a:p>
        </p:txBody>
      </p:sp>
      <p:sp>
        <p:nvSpPr>
          <p:cNvPr id="23" name="ovl_node_lab"/>
          <p:cNvSpPr/>
          <p:nvPr/>
        </p:nvSpPr>
        <p:spPr>
          <a:xfrm>
            <a:off x="4352544" y="3035808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767676"/>
            </a:solidFill>
            <a:prstDash val="solid"/>
          </a:ln>
        </p:spPr>
      </p:sp>
      <p:sp>
        <p:nvSpPr>
          <p:cNvPr id="24" name="ovl_node_t_lab"/>
          <p:cNvSpPr txBox="1"/>
          <p:nvPr/>
        </p:nvSpPr>
        <p:spPr>
          <a:xfrm>
            <a:off x="4398264" y="309067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 研究所</a:t>
            </a:r>
            <a:endParaRPr lang="en-US" sz="1050" dirty="0"/>
          </a:p>
        </p:txBody>
      </p:sp>
      <p:sp>
        <p:nvSpPr>
          <p:cNvPr id="25" name="ovl_node_s_lab"/>
          <p:cNvSpPr txBox="1"/>
          <p:nvPr/>
        </p:nvSpPr>
        <p:spPr>
          <a:xfrm>
            <a:off x="4398264" y="3419856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最も安い容量を選ぶ</a:t>
            </a:r>
            <a:endParaRPr lang="en-US" sz="850" dirty="0"/>
          </a:p>
        </p:txBody>
      </p:sp>
      <p:sp>
        <p:nvSpPr>
          <p:cNvPr id="26" name="ovl_node_neo"/>
          <p:cNvSpPr/>
          <p:nvPr/>
        </p:nvSpPr>
        <p:spPr>
          <a:xfrm>
            <a:off x="6254496" y="1737360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767676"/>
            </a:solidFill>
            <a:prstDash val="solid"/>
          </a:ln>
        </p:spPr>
      </p:sp>
      <p:sp>
        <p:nvSpPr>
          <p:cNvPr id="27" name="ovl_node_t_neo"/>
          <p:cNvSpPr txBox="1"/>
          <p:nvPr/>
        </p:nvSpPr>
        <p:spPr>
          <a:xfrm>
            <a:off x="6300216" y="1792224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ネオクラウド</a:t>
            </a:r>
            <a:endParaRPr lang="en-US" sz="1050" dirty="0"/>
          </a:p>
        </p:txBody>
      </p:sp>
      <p:sp>
        <p:nvSpPr>
          <p:cNvPr id="28" name="ovl_node_s_neo"/>
          <p:cNvSpPr txBox="1"/>
          <p:nvPr/>
        </p:nvSpPr>
        <p:spPr>
          <a:xfrm>
            <a:off x="6300216" y="2121408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H100 で約 2.6 倍安い</a:t>
            </a:r>
            <a:endParaRPr lang="en-US" sz="850" dirty="0"/>
          </a:p>
        </p:txBody>
      </p:sp>
      <p:sp>
        <p:nvSpPr>
          <p:cNvPr id="29" name="ovl_node_fut"/>
          <p:cNvSpPr/>
          <p:nvPr/>
        </p:nvSpPr>
        <p:spPr>
          <a:xfrm>
            <a:off x="6254496" y="4334256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F2F2F2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0" name="ovl_node_t_fut"/>
          <p:cNvSpPr txBox="1"/>
          <p:nvPr/>
        </p:nvSpPr>
        <p:spPr>
          <a:xfrm>
            <a:off x="6300216" y="43891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計算の先物</a:t>
            </a:r>
            <a:endParaRPr lang="en-US" sz="1050" dirty="0"/>
          </a:p>
        </p:txBody>
      </p:sp>
      <p:sp>
        <p:nvSpPr>
          <p:cNvPr id="31" name="ovl_node_s_fut"/>
          <p:cNvSpPr txBox="1"/>
          <p:nvPr/>
        </p:nvSpPr>
        <p:spPr>
          <a:xfrm>
            <a:off x="6300216" y="4718304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ICE・CME が準備</a:t>
            </a:r>
            <a:endParaRPr lang="en-US" sz="850" dirty="0"/>
          </a:p>
        </p:txBody>
      </p:sp>
      <p:sp>
        <p:nvSpPr>
          <p:cNvPr id="32" name="ovl_tag0"/>
          <p:cNvSpPr/>
          <p:nvPr/>
        </p:nvSpPr>
        <p:spPr>
          <a:xfrm>
            <a:off x="548640" y="5212080"/>
            <a:ext cx="1600200" cy="237744"/>
          </a:xfrm>
          <a:prstGeom prst="roundRect">
            <a:avLst>
              <a:gd name="adj" fmla="val 19231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3" name="ovl_tag_t0"/>
          <p:cNvSpPr txBox="1"/>
          <p:nvPr/>
        </p:nvSpPr>
        <p:spPr>
          <a:xfrm>
            <a:off x="548640" y="521208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緩和後の値下げ: Oracle 負担</a:t>
            </a:r>
            <a:endParaRPr lang="en-US" sz="800" dirty="0"/>
          </a:p>
        </p:txBody>
      </p:sp>
      <p:sp>
        <p:nvSpPr>
          <p:cNvPr id="34" name="ovl_tag1"/>
          <p:cNvSpPr/>
          <p:nvPr/>
        </p:nvSpPr>
        <p:spPr>
          <a:xfrm>
            <a:off x="548640" y="2615184"/>
            <a:ext cx="1600200" cy="237744"/>
          </a:xfrm>
          <a:prstGeom prst="roundRect">
            <a:avLst>
              <a:gd name="adj" fmla="val 19231"/>
            </a:avLst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35" name="ovl_tag_t1"/>
          <p:cNvSpPr txBox="1"/>
          <p:nvPr/>
        </p:nvSpPr>
        <p:spPr>
          <a:xfrm>
            <a:off x="548640" y="261518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代替なし</a:t>
            </a:r>
            <a:endParaRPr lang="en-US" sz="800" dirty="0"/>
          </a:p>
        </p:txBody>
      </p:sp>
      <p:sp>
        <p:nvSpPr>
          <p:cNvPr id="36" name="ovl_arrow"/>
          <p:cNvSpPr/>
          <p:nvPr/>
        </p:nvSpPr>
        <p:spPr>
          <a:xfrm>
            <a:off x="548640" y="5724144"/>
            <a:ext cx="411480" cy="914"/>
          </a:xfrm>
          <a:prstGeom prst="line">
            <a:avLst/>
          </a:prstGeom>
          <a:noFill/>
          <a:ln w="1587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37" name="ovl_legend0"/>
          <p:cNvSpPr txBox="1"/>
          <p:nvPr/>
        </p:nvSpPr>
        <p:spPr>
          <a:xfrm>
            <a:off x="1024128" y="55961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カネ</a:t>
            </a:r>
            <a:endParaRPr lang="en-US" sz="850" dirty="0"/>
          </a:p>
        </p:txBody>
      </p:sp>
      <p:sp>
        <p:nvSpPr>
          <p:cNvPr id="38" name="ovl_arrow"/>
          <p:cNvSpPr/>
          <p:nvPr/>
        </p:nvSpPr>
        <p:spPr>
          <a:xfrm>
            <a:off x="2377440" y="5724144"/>
            <a:ext cx="411480" cy="914"/>
          </a:xfrm>
          <a:prstGeom prst="line">
            <a:avLst/>
          </a:prstGeom>
          <a:noFill/>
          <a:ln w="15875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39" name="ovl_legend1"/>
          <p:cNvSpPr txBox="1"/>
          <p:nvPr/>
        </p:nvSpPr>
        <p:spPr>
          <a:xfrm>
            <a:off x="2852928" y="55961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モノ・サービス</a:t>
            </a:r>
            <a:endParaRPr lang="en-US" sz="850" dirty="0"/>
          </a:p>
        </p:txBody>
      </p:sp>
      <p:sp>
        <p:nvSpPr>
          <p:cNvPr id="40" name="ovl_arrow"/>
          <p:cNvSpPr/>
          <p:nvPr/>
        </p:nvSpPr>
        <p:spPr>
          <a:xfrm>
            <a:off x="4206240" y="5724144"/>
            <a:ext cx="41148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41" name="ovl_legend2"/>
          <p:cNvSpPr txBox="1"/>
          <p:nvPr/>
        </p:nvSpPr>
        <p:spPr>
          <a:xfrm>
            <a:off x="4681728" y="55961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リスク</a:t>
            </a:r>
            <a:endParaRPr lang="en-US" sz="850" dirty="0"/>
          </a:p>
        </p:txBody>
      </p:sp>
      <p:sp>
        <p:nvSpPr>
          <p:cNvPr id="42" name="ovl_evbox"/>
          <p:cNvSpPr/>
          <p:nvPr/>
        </p:nvSpPr>
        <p:spPr>
          <a:xfrm>
            <a:off x="8275320" y="1481328"/>
            <a:ext cx="345643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3" name="ev_head"/>
          <p:cNvSpPr txBox="1"/>
          <p:nvPr/>
        </p:nvSpPr>
        <p:spPr>
          <a:xfrm>
            <a:off x="8385048" y="15361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根拠</a:t>
            </a:r>
            <a:endParaRPr lang="en-US" sz="1200" dirty="0"/>
          </a:p>
        </p:txBody>
      </p:sp>
      <p:sp>
        <p:nvSpPr>
          <p:cNvPr id="44" name="evidence"/>
          <p:cNvSpPr txBox="1"/>
          <p:nvPr/>
        </p:nvSpPr>
        <p:spPr>
          <a:xfrm>
            <a:off x="8385048" y="1847088"/>
            <a:ext cx="3255264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セグメント価値(1株): AI 117、ソフト保守 45、SaaS 44、OCI 一般 31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需給が緩んだ後の超過利益はベース 0%(NVIDIA の取り分、TPU、買い手の集中)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推論トークンの価格は同等性能で年 9〜900 倍の速さで下落(Epoch)</a:t>
            </a:r>
            <a:endParaRPr lang="en-US" sz="950" dirty="0"/>
          </a:p>
        </p:txBody>
      </p:sp>
      <p:sp>
        <p:nvSpPr>
          <p:cNvPr id="45" name="ovl_takeaway_bg"/>
          <p:cNvSpPr/>
          <p:nvPr/>
        </p:nvSpPr>
        <p:spPr>
          <a:xfrm>
            <a:off x="8275320" y="4389120"/>
            <a:ext cx="3456432" cy="114300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46" name="takeaway"/>
          <p:cNvSpPr txBox="1"/>
          <p:nvPr/>
        </p:nvSpPr>
        <p:spPr>
          <a:xfrm>
            <a:off x="8385048" y="4462272"/>
            <a:ext cx="3236976" cy="9966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価値の半分近くが、緩和後に商品化する層にあるため C</a:t>
            </a:r>
            <a:endParaRPr lang="en-US" sz="1050" dirty="0"/>
          </a:p>
        </p:txBody>
      </p:sp>
      <p:sp>
        <p:nvSpPr>
          <p:cNvPr id="47" name="ovl_kpibox"/>
          <p:cNvSpPr/>
          <p:nvPr/>
        </p:nvSpPr>
        <p:spPr>
          <a:xfrm>
            <a:off x="457200" y="5870448"/>
            <a:ext cx="11277295" cy="384048"/>
          </a:xfrm>
          <a:prstGeom prst="rect">
            <a:avLst/>
          </a:prstGeom>
          <a:solidFill>
            <a:srgbClr val="F2F2F2"/>
          </a:solidFill>
          <a:ln w="9525">
            <a:solidFill>
              <a:srgbClr val="D68910"/>
            </a:solidFill>
            <a:prstDash val="solid"/>
          </a:ln>
        </p:spPr>
      </p:sp>
      <p:sp>
        <p:nvSpPr>
          <p:cNvPr id="48" name="kpi"/>
          <p:cNvSpPr txBox="1"/>
          <p:nvPr/>
        </p:nvSpPr>
        <p:spPr>
          <a:xfrm>
            <a:off x="548640" y="5888736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監視 KPI とトリガー: AI 粗利率(最終開示 32%)が 25% 未満で D 候補・35% 以上で B 候補 / 更新プレミアム(+20%)が 0% 以下で D 候補 / H100 1年契約指数(2.65 ドル)が 2.00 ドル未満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止まれば顧客の AI 事業が止まる電力付きの容量で更新率は高いが、代替のクラウドもあり不可欠とまでは言えない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条件9 顧客の AI 実装の「停めない運用」に不可欠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会社開示(Q4 FY26・Q1 FY27 説明会)、research4/T4_ai_demand.md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25</a:t>
            </a:r>
            <a:endParaRPr lang="en-US" sz="800" dirty="0"/>
          </a:p>
        </p:txBody>
      </p:sp>
      <p:sp>
        <p:nvSpPr>
          <p:cNvPr id="6" name="ovl_badge"/>
          <p:cNvSpPr/>
          <p:nvPr/>
        </p:nvSpPr>
        <p:spPr>
          <a:xfrm>
            <a:off x="10820095" y="329184"/>
            <a:ext cx="914400" cy="713232"/>
          </a:xfrm>
          <a:prstGeom prst="roundRect">
            <a:avLst>
              <a:gd name="adj" fmla="val 10256"/>
            </a:avLst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7" name="ovl_badge_t"/>
          <p:cNvSpPr txBox="1"/>
          <p:nvPr/>
        </p:nvSpPr>
        <p:spPr>
          <a:xfrm>
            <a:off x="10820095" y="329184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3000" dirty="0"/>
          </a:p>
        </p:txBody>
      </p:sp>
      <p:sp>
        <p:nvSpPr>
          <p:cNvPr id="8" name="ovl_badge_l"/>
          <p:cNvSpPr txBox="1"/>
          <p:nvPr/>
        </p:nvSpPr>
        <p:spPr>
          <a:xfrm>
            <a:off x="10820095" y="78638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条件9</a:t>
            </a:r>
            <a:endParaRPr lang="en-US" sz="800" dirty="0"/>
          </a:p>
        </p:txBody>
      </p:sp>
      <p:sp>
        <p:nvSpPr>
          <p:cNvPr id="9" name="ovl_arrow"/>
          <p:cNvSpPr/>
          <p:nvPr/>
        </p:nvSpPr>
        <p:spPr>
          <a:xfrm>
            <a:off x="2148840" y="3456432"/>
            <a:ext cx="301752" cy="914"/>
          </a:xfrm>
          <a:prstGeom prst="line">
            <a:avLst/>
          </a:prstGeom>
          <a:noFill/>
          <a:ln w="15875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10" name="ovl_arrow"/>
          <p:cNvSpPr/>
          <p:nvPr/>
        </p:nvSpPr>
        <p:spPr>
          <a:xfrm flipV="1">
            <a:off x="4050792" y="2157984"/>
            <a:ext cx="2203704" cy="1298448"/>
          </a:xfrm>
          <a:prstGeom prst="line">
            <a:avLst/>
          </a:prstGeom>
          <a:noFill/>
          <a:ln w="15875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11" name="ovl_arrow"/>
          <p:cNvSpPr/>
          <p:nvPr/>
        </p:nvSpPr>
        <p:spPr>
          <a:xfrm>
            <a:off x="4050792" y="3456432"/>
            <a:ext cx="2203704" cy="1298448"/>
          </a:xfrm>
          <a:prstGeom prst="line">
            <a:avLst/>
          </a:prstGeom>
          <a:noFill/>
          <a:ln w="15875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12" name="ovl_arrow"/>
          <p:cNvSpPr/>
          <p:nvPr/>
        </p:nvSpPr>
        <p:spPr>
          <a:xfrm>
            <a:off x="4050792" y="4754880"/>
            <a:ext cx="2203704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13" name="ovl_elabel0"/>
          <p:cNvSpPr txBox="1"/>
          <p:nvPr/>
        </p:nvSpPr>
        <p:spPr>
          <a:xfrm>
            <a:off x="2071116" y="3182112"/>
            <a:ext cx="457200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容量</a:t>
            </a:r>
            <a:endParaRPr lang="en-US" sz="850" dirty="0"/>
          </a:p>
        </p:txBody>
      </p:sp>
      <p:sp>
        <p:nvSpPr>
          <p:cNvPr id="14" name="ovl_elabel1"/>
          <p:cNvSpPr txBox="1"/>
          <p:nvPr/>
        </p:nvSpPr>
        <p:spPr>
          <a:xfrm>
            <a:off x="4874666" y="2688336"/>
            <a:ext cx="555955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計算容量</a:t>
            </a:r>
            <a:endParaRPr lang="en-US" sz="850" dirty="0"/>
          </a:p>
        </p:txBody>
      </p:sp>
      <p:sp>
        <p:nvSpPr>
          <p:cNvPr id="15" name="ovl_elabel2"/>
          <p:cNvSpPr txBox="1"/>
          <p:nvPr/>
        </p:nvSpPr>
        <p:spPr>
          <a:xfrm>
            <a:off x="4839919" y="3986784"/>
            <a:ext cx="625450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DB と推論</a:t>
            </a:r>
            <a:endParaRPr lang="en-US" sz="850" dirty="0"/>
          </a:p>
        </p:txBody>
      </p:sp>
      <p:sp>
        <p:nvSpPr>
          <p:cNvPr id="16" name="ovl_elabel3"/>
          <p:cNvSpPr txBox="1"/>
          <p:nvPr/>
        </p:nvSpPr>
        <p:spPr>
          <a:xfrm>
            <a:off x="4651553" y="4480560"/>
            <a:ext cx="1002182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乗り換えの選択肢</a:t>
            </a:r>
            <a:endParaRPr lang="en-US" sz="850" dirty="0"/>
          </a:p>
        </p:txBody>
      </p:sp>
      <p:sp>
        <p:nvSpPr>
          <p:cNvPr id="17" name="ovl_node_orcl"/>
          <p:cNvSpPr/>
          <p:nvPr/>
        </p:nvSpPr>
        <p:spPr>
          <a:xfrm>
            <a:off x="2450592" y="3035808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18" name="ovl_node_t_orcl"/>
          <p:cNvSpPr txBox="1"/>
          <p:nvPr/>
        </p:nvSpPr>
        <p:spPr>
          <a:xfrm>
            <a:off x="2496312" y="309067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Oracle OCI</a:t>
            </a:r>
            <a:endParaRPr lang="en-US" sz="1050" dirty="0"/>
          </a:p>
        </p:txBody>
      </p:sp>
      <p:sp>
        <p:nvSpPr>
          <p:cNvPr id="19" name="ovl_node_s_orcl"/>
          <p:cNvSpPr txBox="1"/>
          <p:nvPr/>
        </p:nvSpPr>
        <p:spPr>
          <a:xfrm>
            <a:off x="2496312" y="3419856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稼働率 97.9%</a:t>
            </a:r>
            <a:endParaRPr lang="en-US" sz="850" dirty="0"/>
          </a:p>
        </p:txBody>
      </p:sp>
      <p:sp>
        <p:nvSpPr>
          <p:cNvPr id="20" name="ovl_node_lab"/>
          <p:cNvSpPr/>
          <p:nvPr/>
        </p:nvSpPr>
        <p:spPr>
          <a:xfrm>
            <a:off x="6254496" y="1737360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767676"/>
            </a:solidFill>
            <a:prstDash val="solid"/>
          </a:ln>
        </p:spPr>
      </p:sp>
      <p:sp>
        <p:nvSpPr>
          <p:cNvPr id="21" name="ovl_node_t_lab"/>
          <p:cNvSpPr txBox="1"/>
          <p:nvPr/>
        </p:nvSpPr>
        <p:spPr>
          <a:xfrm>
            <a:off x="6300216" y="1792224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 研究所</a:t>
            </a:r>
            <a:endParaRPr lang="en-US" sz="1050" dirty="0"/>
          </a:p>
        </p:txBody>
      </p:sp>
      <p:sp>
        <p:nvSpPr>
          <p:cNvPr id="22" name="ovl_node_s_lab"/>
          <p:cNvSpPr txBox="1"/>
          <p:nvPr/>
        </p:nvSpPr>
        <p:spPr>
          <a:xfrm>
            <a:off x="6300216" y="2121408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学習・推論(本番)</a:t>
            </a:r>
            <a:endParaRPr lang="en-US" sz="850" dirty="0"/>
          </a:p>
        </p:txBody>
      </p:sp>
      <p:sp>
        <p:nvSpPr>
          <p:cNvPr id="23" name="ovl_node_ent"/>
          <p:cNvSpPr/>
          <p:nvPr/>
        </p:nvSpPr>
        <p:spPr>
          <a:xfrm>
            <a:off x="6254496" y="4334256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767676"/>
            </a:solidFill>
            <a:prstDash val="solid"/>
          </a:ln>
        </p:spPr>
      </p:sp>
      <p:sp>
        <p:nvSpPr>
          <p:cNvPr id="24" name="ovl_node_t_ent"/>
          <p:cNvSpPr txBox="1"/>
          <p:nvPr/>
        </p:nvSpPr>
        <p:spPr>
          <a:xfrm>
            <a:off x="6300216" y="43891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企業</a:t>
            </a:r>
            <a:endParaRPr lang="en-US" sz="1050" dirty="0"/>
          </a:p>
        </p:txBody>
      </p:sp>
      <p:sp>
        <p:nvSpPr>
          <p:cNvPr id="25" name="ovl_node_s_ent"/>
          <p:cNvSpPr txBox="1"/>
          <p:nvPr/>
        </p:nvSpPr>
        <p:spPr>
          <a:xfrm>
            <a:off x="6300216" y="4718304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Oracle DB 内のデータで推論</a:t>
            </a:r>
            <a:endParaRPr lang="en-US" sz="850" dirty="0"/>
          </a:p>
        </p:txBody>
      </p:sp>
      <p:sp>
        <p:nvSpPr>
          <p:cNvPr id="26" name="ovl_node_power"/>
          <p:cNvSpPr/>
          <p:nvPr/>
        </p:nvSpPr>
        <p:spPr>
          <a:xfrm>
            <a:off x="548640" y="3035808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EAF4EE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27" name="ovl_node_t_power"/>
          <p:cNvSpPr txBox="1"/>
          <p:nvPr/>
        </p:nvSpPr>
        <p:spPr>
          <a:xfrm>
            <a:off x="594360" y="309067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電力付きの容量</a:t>
            </a:r>
            <a:endParaRPr lang="en-US" sz="1050" dirty="0"/>
          </a:p>
        </p:txBody>
      </p:sp>
      <p:sp>
        <p:nvSpPr>
          <p:cNvPr id="28" name="ovl_node_s_power"/>
          <p:cNvSpPr txBox="1"/>
          <p:nvPr/>
        </p:nvSpPr>
        <p:spPr>
          <a:xfrm>
            <a:off x="594360" y="3419856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Q1 FY27 に 850MW 納入</a:t>
            </a:r>
            <a:endParaRPr lang="en-US" sz="850" dirty="0"/>
          </a:p>
        </p:txBody>
      </p:sp>
      <p:sp>
        <p:nvSpPr>
          <p:cNvPr id="29" name="ovl_node_alt"/>
          <p:cNvSpPr/>
          <p:nvPr/>
        </p:nvSpPr>
        <p:spPr>
          <a:xfrm>
            <a:off x="2450592" y="4334256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F2F2F2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0" name="ovl_node_t_alt"/>
          <p:cNvSpPr txBox="1"/>
          <p:nvPr/>
        </p:nvSpPr>
        <p:spPr>
          <a:xfrm>
            <a:off x="2496312" y="43891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代替のクラウド</a:t>
            </a:r>
            <a:endParaRPr lang="en-US" sz="1050" dirty="0"/>
          </a:p>
        </p:txBody>
      </p:sp>
      <p:sp>
        <p:nvSpPr>
          <p:cNvPr id="31" name="ovl_node_s_alt"/>
          <p:cNvSpPr txBox="1"/>
          <p:nvPr/>
        </p:nvSpPr>
        <p:spPr>
          <a:xfrm>
            <a:off x="2496312" y="4718304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乗り換えに数か月〜数年</a:t>
            </a:r>
            <a:endParaRPr lang="en-US" sz="850" dirty="0"/>
          </a:p>
        </p:txBody>
      </p:sp>
      <p:sp>
        <p:nvSpPr>
          <p:cNvPr id="32" name="ovl_arrow"/>
          <p:cNvSpPr/>
          <p:nvPr/>
        </p:nvSpPr>
        <p:spPr>
          <a:xfrm>
            <a:off x="548640" y="5724144"/>
            <a:ext cx="411480" cy="914"/>
          </a:xfrm>
          <a:prstGeom prst="line">
            <a:avLst/>
          </a:prstGeom>
          <a:noFill/>
          <a:ln w="1587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33" name="ovl_legend0"/>
          <p:cNvSpPr txBox="1"/>
          <p:nvPr/>
        </p:nvSpPr>
        <p:spPr>
          <a:xfrm>
            <a:off x="1024128" y="55961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カネ</a:t>
            </a:r>
            <a:endParaRPr lang="en-US" sz="850" dirty="0"/>
          </a:p>
        </p:txBody>
      </p:sp>
      <p:sp>
        <p:nvSpPr>
          <p:cNvPr id="34" name="ovl_arrow"/>
          <p:cNvSpPr/>
          <p:nvPr/>
        </p:nvSpPr>
        <p:spPr>
          <a:xfrm>
            <a:off x="2377440" y="5724144"/>
            <a:ext cx="411480" cy="914"/>
          </a:xfrm>
          <a:prstGeom prst="line">
            <a:avLst/>
          </a:prstGeom>
          <a:noFill/>
          <a:ln w="15875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35" name="ovl_legend1"/>
          <p:cNvSpPr txBox="1"/>
          <p:nvPr/>
        </p:nvSpPr>
        <p:spPr>
          <a:xfrm>
            <a:off x="2852928" y="55961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モノ・サービス</a:t>
            </a:r>
            <a:endParaRPr lang="en-US" sz="850" dirty="0"/>
          </a:p>
        </p:txBody>
      </p:sp>
      <p:sp>
        <p:nvSpPr>
          <p:cNvPr id="36" name="ovl_arrow"/>
          <p:cNvSpPr/>
          <p:nvPr/>
        </p:nvSpPr>
        <p:spPr>
          <a:xfrm>
            <a:off x="4206240" y="5724144"/>
            <a:ext cx="41148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37" name="ovl_legend2"/>
          <p:cNvSpPr txBox="1"/>
          <p:nvPr/>
        </p:nvSpPr>
        <p:spPr>
          <a:xfrm>
            <a:off x="4681728" y="55961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リスク</a:t>
            </a:r>
            <a:endParaRPr lang="en-US" sz="850" dirty="0"/>
          </a:p>
        </p:txBody>
      </p:sp>
      <p:sp>
        <p:nvSpPr>
          <p:cNvPr id="38" name="ovl_evbox"/>
          <p:cNvSpPr/>
          <p:nvPr/>
        </p:nvSpPr>
        <p:spPr>
          <a:xfrm>
            <a:off x="8275320" y="1481328"/>
            <a:ext cx="345643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9" name="ev_head"/>
          <p:cNvSpPr txBox="1"/>
          <p:nvPr/>
        </p:nvSpPr>
        <p:spPr>
          <a:xfrm>
            <a:off x="8385048" y="15361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根拠</a:t>
            </a:r>
            <a:endParaRPr lang="en-US" sz="1200" dirty="0"/>
          </a:p>
        </p:txBody>
      </p:sp>
      <p:sp>
        <p:nvSpPr>
          <p:cNvPr id="40" name="evidence"/>
          <p:cNvSpPr txBox="1"/>
          <p:nvPr/>
        </p:nvSpPr>
        <p:spPr>
          <a:xfrm>
            <a:off x="8385048" y="1847088"/>
            <a:ext cx="3255264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Q4 FY26 は顧客の 49% が GPU の 92% を更新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推論の比率(電力): 2025 年 47.5% → 2030 年 60.0%(McKinsey)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推論は本番稼働で、止まると顧客の売上が止まる</a:t>
            </a:r>
            <a:endParaRPr lang="en-US" sz="950" dirty="0"/>
          </a:p>
        </p:txBody>
      </p:sp>
      <p:sp>
        <p:nvSpPr>
          <p:cNvPr id="41" name="ovl_takeaway_bg"/>
          <p:cNvSpPr/>
          <p:nvPr/>
        </p:nvSpPr>
        <p:spPr>
          <a:xfrm>
            <a:off x="8275320" y="4389120"/>
            <a:ext cx="3456432" cy="114300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42" name="takeaway"/>
          <p:cNvSpPr txBox="1"/>
          <p:nvPr/>
        </p:nvSpPr>
        <p:spPr>
          <a:xfrm>
            <a:off x="8385048" y="4462272"/>
            <a:ext cx="3236976" cy="9966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電力付きの容量と DB は止められない運用を支えるが、代替が存在するため B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DB の技術と顧客関係は長寿命で、GPU の6年償却は更新・再販の実績と整合する。ただし GPU の世代交代は速い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条件10 無形資産投資も陳腐化リスクを厳格に評価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research3/W2_gpu_economic_life.md、会社開示(耐用年数の変更)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26</a:t>
            </a:r>
            <a:endParaRPr lang="en-US" sz="800" dirty="0"/>
          </a:p>
        </p:txBody>
      </p:sp>
      <p:sp>
        <p:nvSpPr>
          <p:cNvPr id="6" name="ovl_badge"/>
          <p:cNvSpPr/>
          <p:nvPr/>
        </p:nvSpPr>
        <p:spPr>
          <a:xfrm>
            <a:off x="10820095" y="329184"/>
            <a:ext cx="914400" cy="713232"/>
          </a:xfrm>
          <a:prstGeom prst="roundRect">
            <a:avLst>
              <a:gd name="adj" fmla="val 10256"/>
            </a:avLst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7" name="ovl_badge_t"/>
          <p:cNvSpPr txBox="1"/>
          <p:nvPr/>
        </p:nvSpPr>
        <p:spPr>
          <a:xfrm>
            <a:off x="10820095" y="329184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3000" dirty="0"/>
          </a:p>
        </p:txBody>
      </p:sp>
      <p:sp>
        <p:nvSpPr>
          <p:cNvPr id="8" name="ovl_badge_l"/>
          <p:cNvSpPr txBox="1"/>
          <p:nvPr/>
        </p:nvSpPr>
        <p:spPr>
          <a:xfrm>
            <a:off x="10820095" y="78638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条件10</a:t>
            </a:r>
            <a:endParaRPr lang="en-US" sz="800" dirty="0"/>
          </a:p>
        </p:txBody>
      </p:sp>
      <p:sp>
        <p:nvSpPr>
          <p:cNvPr id="9" name="ovl_arrow"/>
          <p:cNvSpPr/>
          <p:nvPr/>
        </p:nvSpPr>
        <p:spPr>
          <a:xfrm>
            <a:off x="2148840" y="2157984"/>
            <a:ext cx="301752" cy="1298448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10" name="ovl_arrow"/>
          <p:cNvSpPr/>
          <p:nvPr/>
        </p:nvSpPr>
        <p:spPr>
          <a:xfrm flipV="1">
            <a:off x="2148840" y="3456432"/>
            <a:ext cx="301752" cy="1298448"/>
          </a:xfrm>
          <a:prstGeom prst="line">
            <a:avLst/>
          </a:prstGeom>
          <a:noFill/>
          <a:ln w="15875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11" name="ovl_arrow"/>
          <p:cNvSpPr/>
          <p:nvPr/>
        </p:nvSpPr>
        <p:spPr>
          <a:xfrm flipH="1">
            <a:off x="4050792" y="3456432"/>
            <a:ext cx="2203704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12" name="ovl_arrow"/>
          <p:cNvSpPr/>
          <p:nvPr/>
        </p:nvSpPr>
        <p:spPr>
          <a:xfrm flipH="1">
            <a:off x="2148840" y="4754880"/>
            <a:ext cx="4105656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13" name="ovl_elabel0"/>
          <p:cNvSpPr txBox="1"/>
          <p:nvPr/>
        </p:nvSpPr>
        <p:spPr>
          <a:xfrm>
            <a:off x="1956816" y="2688336"/>
            <a:ext cx="685800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保守・SaaS</a:t>
            </a:r>
            <a:endParaRPr lang="en-US" sz="850" dirty="0"/>
          </a:p>
        </p:txBody>
      </p:sp>
      <p:sp>
        <p:nvSpPr>
          <p:cNvPr id="14" name="ovl_elabel1"/>
          <p:cNvSpPr txBox="1"/>
          <p:nvPr/>
        </p:nvSpPr>
        <p:spPr>
          <a:xfrm>
            <a:off x="2071116" y="3986784"/>
            <a:ext cx="457200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容量</a:t>
            </a:r>
            <a:endParaRPr lang="en-US" sz="850" dirty="0"/>
          </a:p>
        </p:txBody>
      </p:sp>
      <p:sp>
        <p:nvSpPr>
          <p:cNvPr id="15" name="ovl_elabel2"/>
          <p:cNvSpPr txBox="1"/>
          <p:nvPr/>
        </p:nvSpPr>
        <p:spPr>
          <a:xfrm>
            <a:off x="4924044" y="3182112"/>
            <a:ext cx="457200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更新料</a:t>
            </a:r>
            <a:endParaRPr lang="en-US" sz="850" dirty="0"/>
          </a:p>
        </p:txBody>
      </p:sp>
      <p:sp>
        <p:nvSpPr>
          <p:cNvPr id="16" name="ovl_elabel3"/>
          <p:cNvSpPr txBox="1"/>
          <p:nvPr/>
        </p:nvSpPr>
        <p:spPr>
          <a:xfrm>
            <a:off x="3923690" y="4480560"/>
            <a:ext cx="555955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世代交代</a:t>
            </a:r>
            <a:endParaRPr lang="en-US" sz="850" dirty="0"/>
          </a:p>
        </p:txBody>
      </p:sp>
      <p:sp>
        <p:nvSpPr>
          <p:cNvPr id="17" name="ovl_node_intang"/>
          <p:cNvSpPr/>
          <p:nvPr/>
        </p:nvSpPr>
        <p:spPr>
          <a:xfrm>
            <a:off x="548640" y="1737360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EAF4EE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18" name="ovl_node_t_intang"/>
          <p:cNvSpPr txBox="1"/>
          <p:nvPr/>
        </p:nvSpPr>
        <p:spPr>
          <a:xfrm>
            <a:off x="594360" y="1792224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DB 技術・顧客関係</a:t>
            </a:r>
            <a:endParaRPr lang="en-US" sz="1050" dirty="0"/>
          </a:p>
        </p:txBody>
      </p:sp>
      <p:sp>
        <p:nvSpPr>
          <p:cNvPr id="19" name="ovl_node_s_intang"/>
          <p:cNvSpPr txBox="1"/>
          <p:nvPr/>
        </p:nvSpPr>
        <p:spPr>
          <a:xfrm>
            <a:off x="594360" y="2121408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寿命は数十年</a:t>
            </a:r>
            <a:endParaRPr lang="en-US" sz="850" dirty="0"/>
          </a:p>
        </p:txBody>
      </p:sp>
      <p:sp>
        <p:nvSpPr>
          <p:cNvPr id="20" name="ovl_node_gpu"/>
          <p:cNvSpPr/>
          <p:nvPr/>
        </p:nvSpPr>
        <p:spPr>
          <a:xfrm>
            <a:off x="548640" y="4334256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F2F2F2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ovl_node_t_gpu"/>
          <p:cNvSpPr txBox="1"/>
          <p:nvPr/>
        </p:nvSpPr>
        <p:spPr>
          <a:xfrm>
            <a:off x="594360" y="43891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GPU</a:t>
            </a:r>
            <a:endParaRPr lang="en-US" sz="1050" dirty="0"/>
          </a:p>
        </p:txBody>
      </p:sp>
      <p:sp>
        <p:nvSpPr>
          <p:cNvPr id="22" name="ovl_node_s_gpu"/>
          <p:cNvSpPr txBox="1"/>
          <p:nvPr/>
        </p:nvSpPr>
        <p:spPr>
          <a:xfrm>
            <a:off x="594360" y="4718304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 年償却・上限 10 年</a:t>
            </a:r>
            <a:endParaRPr lang="en-US" sz="850" dirty="0"/>
          </a:p>
        </p:txBody>
      </p:sp>
      <p:sp>
        <p:nvSpPr>
          <p:cNvPr id="23" name="ovl_node_orcl"/>
          <p:cNvSpPr/>
          <p:nvPr/>
        </p:nvSpPr>
        <p:spPr>
          <a:xfrm>
            <a:off x="2450592" y="3035808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24" name="ovl_node_t_orcl"/>
          <p:cNvSpPr txBox="1"/>
          <p:nvPr/>
        </p:nvSpPr>
        <p:spPr>
          <a:xfrm>
            <a:off x="2496312" y="309067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Oracle</a:t>
            </a:r>
            <a:endParaRPr lang="en-US" sz="1050" dirty="0"/>
          </a:p>
        </p:txBody>
      </p:sp>
      <p:sp>
        <p:nvSpPr>
          <p:cNvPr id="25" name="ovl_node_s_orcl"/>
          <p:cNvSpPr txBox="1"/>
          <p:nvPr/>
        </p:nvSpPr>
        <p:spPr>
          <a:xfrm>
            <a:off x="2496312" y="3419856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更新・再販で回収</a:t>
            </a:r>
            <a:endParaRPr lang="en-US" sz="850" dirty="0"/>
          </a:p>
        </p:txBody>
      </p:sp>
      <p:sp>
        <p:nvSpPr>
          <p:cNvPr id="26" name="ovl_node_cust"/>
          <p:cNvSpPr/>
          <p:nvPr/>
        </p:nvSpPr>
        <p:spPr>
          <a:xfrm>
            <a:off x="6254496" y="3035808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767676"/>
            </a:solidFill>
            <a:prstDash val="solid"/>
          </a:ln>
        </p:spPr>
      </p:sp>
      <p:sp>
        <p:nvSpPr>
          <p:cNvPr id="27" name="ovl_node_t_cust"/>
          <p:cNvSpPr txBox="1"/>
          <p:nvPr/>
        </p:nvSpPr>
        <p:spPr>
          <a:xfrm>
            <a:off x="6300216" y="309067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顧客</a:t>
            </a:r>
            <a:endParaRPr lang="en-US" sz="1050" dirty="0"/>
          </a:p>
        </p:txBody>
      </p:sp>
      <p:sp>
        <p:nvSpPr>
          <p:cNvPr id="28" name="ovl_node_s_cust"/>
          <p:cNvSpPr txBox="1"/>
          <p:nvPr/>
        </p:nvSpPr>
        <p:spPr>
          <a:xfrm>
            <a:off x="6300216" y="3419856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更新 +20%</a:t>
            </a:r>
            <a:endParaRPr lang="en-US" sz="850" dirty="0"/>
          </a:p>
        </p:txBody>
      </p:sp>
      <p:sp>
        <p:nvSpPr>
          <p:cNvPr id="29" name="ovl_node_nv"/>
          <p:cNvSpPr/>
          <p:nvPr/>
        </p:nvSpPr>
        <p:spPr>
          <a:xfrm>
            <a:off x="6254496" y="4334256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F2F2F2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0" name="ovl_node_t_nv"/>
          <p:cNvSpPr txBox="1"/>
          <p:nvPr/>
        </p:nvSpPr>
        <p:spPr>
          <a:xfrm>
            <a:off x="6300216" y="43891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NVIDIA の新世代</a:t>
            </a:r>
            <a:endParaRPr lang="en-US" sz="1050" dirty="0"/>
          </a:p>
        </p:txBody>
      </p:sp>
      <p:sp>
        <p:nvSpPr>
          <p:cNvPr id="31" name="ovl_node_s_nv"/>
          <p:cNvSpPr txBox="1"/>
          <p:nvPr/>
        </p:nvSpPr>
        <p:spPr>
          <a:xfrm>
            <a:off x="6300216" y="4718304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Rubin は電力あたり約 10 倍</a:t>
            </a:r>
            <a:endParaRPr lang="en-US" sz="850" dirty="0"/>
          </a:p>
        </p:txBody>
      </p:sp>
      <p:sp>
        <p:nvSpPr>
          <p:cNvPr id="32" name="ovl_arrow"/>
          <p:cNvSpPr/>
          <p:nvPr/>
        </p:nvSpPr>
        <p:spPr>
          <a:xfrm>
            <a:off x="548640" y="5724144"/>
            <a:ext cx="411480" cy="914"/>
          </a:xfrm>
          <a:prstGeom prst="line">
            <a:avLst/>
          </a:prstGeom>
          <a:noFill/>
          <a:ln w="1587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33" name="ovl_legend0"/>
          <p:cNvSpPr txBox="1"/>
          <p:nvPr/>
        </p:nvSpPr>
        <p:spPr>
          <a:xfrm>
            <a:off x="1024128" y="55961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カネ</a:t>
            </a:r>
            <a:endParaRPr lang="en-US" sz="850" dirty="0"/>
          </a:p>
        </p:txBody>
      </p:sp>
      <p:sp>
        <p:nvSpPr>
          <p:cNvPr id="34" name="ovl_arrow"/>
          <p:cNvSpPr/>
          <p:nvPr/>
        </p:nvSpPr>
        <p:spPr>
          <a:xfrm>
            <a:off x="2377440" y="5724144"/>
            <a:ext cx="411480" cy="914"/>
          </a:xfrm>
          <a:prstGeom prst="line">
            <a:avLst/>
          </a:prstGeom>
          <a:noFill/>
          <a:ln w="15875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35" name="ovl_legend1"/>
          <p:cNvSpPr txBox="1"/>
          <p:nvPr/>
        </p:nvSpPr>
        <p:spPr>
          <a:xfrm>
            <a:off x="2852928" y="55961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モノ・サービス</a:t>
            </a:r>
            <a:endParaRPr lang="en-US" sz="850" dirty="0"/>
          </a:p>
        </p:txBody>
      </p:sp>
      <p:sp>
        <p:nvSpPr>
          <p:cNvPr id="36" name="ovl_arrow"/>
          <p:cNvSpPr/>
          <p:nvPr/>
        </p:nvSpPr>
        <p:spPr>
          <a:xfrm>
            <a:off x="4206240" y="5724144"/>
            <a:ext cx="41148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37" name="ovl_legend2"/>
          <p:cNvSpPr txBox="1"/>
          <p:nvPr/>
        </p:nvSpPr>
        <p:spPr>
          <a:xfrm>
            <a:off x="4681728" y="55961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リスク</a:t>
            </a:r>
            <a:endParaRPr lang="en-US" sz="850" dirty="0"/>
          </a:p>
        </p:txBody>
      </p:sp>
      <p:sp>
        <p:nvSpPr>
          <p:cNvPr id="38" name="ovl_evbox"/>
          <p:cNvSpPr/>
          <p:nvPr/>
        </p:nvSpPr>
        <p:spPr>
          <a:xfrm>
            <a:off x="8275320" y="1481328"/>
            <a:ext cx="345643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9" name="ev_head"/>
          <p:cNvSpPr txBox="1"/>
          <p:nvPr/>
        </p:nvSpPr>
        <p:spPr>
          <a:xfrm>
            <a:off x="8385048" y="15361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根拠</a:t>
            </a:r>
            <a:endParaRPr lang="en-US" sz="1200" dirty="0"/>
          </a:p>
        </p:txBody>
      </p:sp>
      <p:sp>
        <p:nvSpPr>
          <p:cNvPr id="40" name="evidence"/>
          <p:cNvSpPr txBox="1"/>
          <p:nvPr/>
        </p:nvSpPr>
        <p:spPr>
          <a:xfrm>
            <a:off x="8385048" y="1847088"/>
            <a:ext cx="3255264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CoreWeave は H100 を元の価格の 95% で再契約。中古 H100 は新品の 61% → 69%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Amazon はサーバーの耐用年数を 6 → 5 年に短縮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年耐用なら Oracle の EPS は −17%(JPMorgan AM の試算)</a:t>
            </a:r>
            <a:endParaRPr lang="en-US" sz="950" dirty="0"/>
          </a:p>
        </p:txBody>
      </p:sp>
      <p:sp>
        <p:nvSpPr>
          <p:cNvPr id="41" name="ovl_takeaway_bg"/>
          <p:cNvSpPr/>
          <p:nvPr/>
        </p:nvSpPr>
        <p:spPr>
          <a:xfrm>
            <a:off x="8275320" y="4389120"/>
            <a:ext cx="3456432" cy="114300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42" name="takeaway"/>
          <p:cNvSpPr txBox="1"/>
          <p:nvPr/>
        </p:nvSpPr>
        <p:spPr>
          <a:xfrm>
            <a:off x="8385048" y="4462272"/>
            <a:ext cx="3236976" cy="9966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経済的寿命 ≧ 会計の耐用年数を示す証拠が優勢だが、電力制約の下での置き換えリスクが残るため B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DB の顧客基盤と他社クラウド内の配置は再現が難しいが、AI 容量は資本と電力があれば 2〜4 年で再現できる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条件11 既存 CF・設備・技術が停めない運用に不可欠かつ模倣困難・代替不可能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research3/W3_industry_structure.md、research4/T5_supply_components.md、research4/T2_company_rpo_capacity.md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27</a:t>
            </a:r>
            <a:endParaRPr lang="en-US" sz="800" dirty="0"/>
          </a:p>
        </p:txBody>
      </p:sp>
      <p:sp>
        <p:nvSpPr>
          <p:cNvPr id="6" name="ovl_badge"/>
          <p:cNvSpPr/>
          <p:nvPr/>
        </p:nvSpPr>
        <p:spPr>
          <a:xfrm>
            <a:off x="10820095" y="329184"/>
            <a:ext cx="914400" cy="713232"/>
          </a:xfrm>
          <a:prstGeom prst="roundRect">
            <a:avLst>
              <a:gd name="adj" fmla="val 10256"/>
            </a:avLst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7" name="ovl_badge_t"/>
          <p:cNvSpPr txBox="1"/>
          <p:nvPr/>
        </p:nvSpPr>
        <p:spPr>
          <a:xfrm>
            <a:off x="10820095" y="329184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3000" dirty="0"/>
          </a:p>
        </p:txBody>
      </p:sp>
      <p:sp>
        <p:nvSpPr>
          <p:cNvPr id="8" name="ovl_badge_l"/>
          <p:cNvSpPr txBox="1"/>
          <p:nvPr/>
        </p:nvSpPr>
        <p:spPr>
          <a:xfrm>
            <a:off x="10820095" y="78638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条件11</a:t>
            </a:r>
            <a:endParaRPr lang="en-US" sz="800" dirty="0"/>
          </a:p>
        </p:txBody>
      </p:sp>
      <p:sp>
        <p:nvSpPr>
          <p:cNvPr id="9" name="ovl_arrow"/>
          <p:cNvSpPr/>
          <p:nvPr/>
        </p:nvSpPr>
        <p:spPr>
          <a:xfrm>
            <a:off x="2148840" y="3319272"/>
            <a:ext cx="2203704" cy="914"/>
          </a:xfrm>
          <a:prstGeom prst="line">
            <a:avLst/>
          </a:prstGeom>
          <a:noFill/>
          <a:ln w="15875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10" name="ovl_arrow"/>
          <p:cNvSpPr/>
          <p:nvPr/>
        </p:nvSpPr>
        <p:spPr>
          <a:xfrm flipH="1">
            <a:off x="2148840" y="3593592"/>
            <a:ext cx="2203704" cy="914"/>
          </a:xfrm>
          <a:prstGeom prst="line">
            <a:avLst/>
          </a:prstGeom>
          <a:noFill/>
          <a:ln w="2222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11" name="ovl_arrow"/>
          <p:cNvSpPr/>
          <p:nvPr/>
        </p:nvSpPr>
        <p:spPr>
          <a:xfrm>
            <a:off x="1348740" y="2578608"/>
            <a:ext cx="914" cy="45720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12" name="ovl_arrow"/>
          <p:cNvSpPr/>
          <p:nvPr/>
        </p:nvSpPr>
        <p:spPr>
          <a:xfrm flipV="1">
            <a:off x="5952744" y="2157984"/>
            <a:ext cx="301752" cy="1298448"/>
          </a:xfrm>
          <a:prstGeom prst="line">
            <a:avLst/>
          </a:prstGeom>
          <a:noFill/>
          <a:ln w="15875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13" name="ovl_arrow"/>
          <p:cNvSpPr/>
          <p:nvPr/>
        </p:nvSpPr>
        <p:spPr>
          <a:xfrm flipH="1" flipV="1">
            <a:off x="5952744" y="3456432"/>
            <a:ext cx="301752" cy="1298448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14" name="ovl_elabel0"/>
          <p:cNvSpPr txBox="1"/>
          <p:nvPr/>
        </p:nvSpPr>
        <p:spPr>
          <a:xfrm>
            <a:off x="2450592" y="2862072"/>
            <a:ext cx="160020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電力付き建屋(90% 超を相手が資金負担)</a:t>
            </a:r>
            <a:endParaRPr lang="en-US" sz="850" dirty="0"/>
          </a:p>
        </p:txBody>
      </p:sp>
      <p:sp>
        <p:nvSpPr>
          <p:cNvPr id="15" name="ovl_elabel1"/>
          <p:cNvSpPr txBox="1"/>
          <p:nvPr/>
        </p:nvSpPr>
        <p:spPr>
          <a:xfrm>
            <a:off x="2766060" y="3630168"/>
            <a:ext cx="969264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15〜19 年の賃料</a:t>
            </a:r>
            <a:endParaRPr lang="en-US" sz="850" dirty="0"/>
          </a:p>
        </p:txBody>
      </p:sp>
      <p:sp>
        <p:nvSpPr>
          <p:cNvPr id="16" name="ovl_elabel2"/>
          <p:cNvSpPr txBox="1"/>
          <p:nvPr/>
        </p:nvSpPr>
        <p:spPr>
          <a:xfrm>
            <a:off x="1403604" y="2688336"/>
            <a:ext cx="667512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電力の制約</a:t>
            </a:r>
            <a:endParaRPr lang="en-US" sz="850" dirty="0"/>
          </a:p>
        </p:txBody>
      </p:sp>
      <p:sp>
        <p:nvSpPr>
          <p:cNvPr id="17" name="ovl_elabel3"/>
          <p:cNvSpPr txBox="1"/>
          <p:nvPr/>
        </p:nvSpPr>
        <p:spPr>
          <a:xfrm>
            <a:off x="5790895" y="2688336"/>
            <a:ext cx="625450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A1A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DB の配置</a:t>
            </a:r>
            <a:endParaRPr lang="en-US" sz="850" dirty="0"/>
          </a:p>
        </p:txBody>
      </p:sp>
      <p:sp>
        <p:nvSpPr>
          <p:cNvPr id="18" name="ovl_elabel4"/>
          <p:cNvSpPr txBox="1"/>
          <p:nvPr/>
        </p:nvSpPr>
        <p:spPr>
          <a:xfrm>
            <a:off x="5875020" y="3986784"/>
            <a:ext cx="457200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追随</a:t>
            </a:r>
            <a:endParaRPr lang="en-US" sz="850" dirty="0"/>
          </a:p>
        </p:txBody>
      </p:sp>
      <p:sp>
        <p:nvSpPr>
          <p:cNvPr id="19" name="ovl_node_dev"/>
          <p:cNvSpPr/>
          <p:nvPr/>
        </p:nvSpPr>
        <p:spPr>
          <a:xfrm>
            <a:off x="548640" y="3035808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EAF4EE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20" name="ovl_node_t_dev"/>
          <p:cNvSpPr txBox="1"/>
          <p:nvPr/>
        </p:nvSpPr>
        <p:spPr>
          <a:xfrm>
            <a:off x="594360" y="309067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DC 開発事業者</a:t>
            </a:r>
            <a:endParaRPr lang="en-US" sz="1050" dirty="0"/>
          </a:p>
        </p:txBody>
      </p:sp>
      <p:sp>
        <p:nvSpPr>
          <p:cNvPr id="21" name="ovl_node_s_dev"/>
          <p:cNvSpPr txBox="1"/>
          <p:nvPr/>
        </p:nvSpPr>
        <p:spPr>
          <a:xfrm>
            <a:off x="594360" y="3419856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Crusoe・Vantage・Related・STACK</a:t>
            </a:r>
            <a:endParaRPr lang="en-US" sz="850" dirty="0"/>
          </a:p>
        </p:txBody>
      </p:sp>
      <p:sp>
        <p:nvSpPr>
          <p:cNvPr id="22" name="ovl_node_grid"/>
          <p:cNvSpPr/>
          <p:nvPr/>
        </p:nvSpPr>
        <p:spPr>
          <a:xfrm>
            <a:off x="548640" y="1737360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F2F2F2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3" name="ovl_node_t_grid"/>
          <p:cNvSpPr txBox="1"/>
          <p:nvPr/>
        </p:nvSpPr>
        <p:spPr>
          <a:xfrm>
            <a:off x="594360" y="1792224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電力・系統</a:t>
            </a:r>
            <a:endParaRPr lang="en-US" sz="1050" dirty="0"/>
          </a:p>
        </p:txBody>
      </p:sp>
      <p:sp>
        <p:nvSpPr>
          <p:cNvPr id="24" name="ovl_node_s_grid"/>
          <p:cNvSpPr txBox="1"/>
          <p:nvPr/>
        </p:nvSpPr>
        <p:spPr>
          <a:xfrm>
            <a:off x="594360" y="2121408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連系 約 40 か月、タービン 2031 年分を販売中</a:t>
            </a:r>
            <a:endParaRPr lang="en-US" sz="850" dirty="0"/>
          </a:p>
        </p:txBody>
      </p:sp>
      <p:sp>
        <p:nvSpPr>
          <p:cNvPr id="25" name="ovl_node_orcl"/>
          <p:cNvSpPr/>
          <p:nvPr/>
        </p:nvSpPr>
        <p:spPr>
          <a:xfrm>
            <a:off x="4352544" y="3035808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26" name="ovl_node_t_orcl"/>
          <p:cNvSpPr txBox="1"/>
          <p:nvPr/>
        </p:nvSpPr>
        <p:spPr>
          <a:xfrm>
            <a:off x="4398264" y="309067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Oracle</a:t>
            </a:r>
            <a:endParaRPr lang="en-US" sz="1050" dirty="0"/>
          </a:p>
        </p:txBody>
      </p:sp>
      <p:sp>
        <p:nvSpPr>
          <p:cNvPr id="27" name="ovl_node_s_orcl"/>
          <p:cNvSpPr txBox="1"/>
          <p:nvPr/>
        </p:nvSpPr>
        <p:spPr>
          <a:xfrm>
            <a:off x="4398264" y="3419856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10GW 超を確保(FY29 まで)</a:t>
            </a:r>
            <a:endParaRPr lang="en-US" sz="850" dirty="0"/>
          </a:p>
        </p:txBody>
      </p:sp>
      <p:sp>
        <p:nvSpPr>
          <p:cNvPr id="28" name="ovl_node_hyper"/>
          <p:cNvSpPr/>
          <p:nvPr/>
        </p:nvSpPr>
        <p:spPr>
          <a:xfrm>
            <a:off x="6254496" y="1737360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767676"/>
            </a:solidFill>
            <a:prstDash val="solid"/>
          </a:ln>
        </p:spPr>
      </p:sp>
      <p:sp>
        <p:nvSpPr>
          <p:cNvPr id="29" name="ovl_node_t_hyper"/>
          <p:cNvSpPr txBox="1"/>
          <p:nvPr/>
        </p:nvSpPr>
        <p:spPr>
          <a:xfrm>
            <a:off x="6300216" y="1792224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提携先クラウド</a:t>
            </a:r>
            <a:endParaRPr lang="en-US" sz="1050" dirty="0"/>
          </a:p>
        </p:txBody>
      </p:sp>
      <p:sp>
        <p:nvSpPr>
          <p:cNvPr id="30" name="ovl_node_s_hyper"/>
          <p:cNvSpPr txBox="1"/>
          <p:nvPr/>
        </p:nvSpPr>
        <p:spPr>
          <a:xfrm>
            <a:off x="6300216" y="2121408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Oracle DB を 70 リージョンに</a:t>
            </a:r>
            <a:endParaRPr lang="en-US" sz="850" dirty="0"/>
          </a:p>
        </p:txBody>
      </p:sp>
      <p:sp>
        <p:nvSpPr>
          <p:cNvPr id="31" name="ovl_node_comp"/>
          <p:cNvSpPr/>
          <p:nvPr/>
        </p:nvSpPr>
        <p:spPr>
          <a:xfrm>
            <a:off x="6254496" y="4334256"/>
            <a:ext cx="1600200" cy="841248"/>
          </a:xfrm>
          <a:prstGeom prst="roundRect">
            <a:avLst>
              <a:gd name="adj" fmla="val 8696"/>
            </a:avLst>
          </a:prstGeom>
          <a:solidFill>
            <a:srgbClr val="F2F2F2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2" name="ovl_node_t_comp"/>
          <p:cNvSpPr txBox="1"/>
          <p:nvPr/>
        </p:nvSpPr>
        <p:spPr>
          <a:xfrm>
            <a:off x="6300216" y="43891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資金のある競合</a:t>
            </a:r>
            <a:endParaRPr lang="en-US" sz="1050" dirty="0"/>
          </a:p>
        </p:txBody>
      </p:sp>
      <p:sp>
        <p:nvSpPr>
          <p:cNvPr id="33" name="ovl_node_s_comp"/>
          <p:cNvSpPr txBox="1"/>
          <p:nvPr/>
        </p:nvSpPr>
        <p:spPr>
          <a:xfrm>
            <a:off x="6300216" y="4718304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2〜4 年で再現</a:t>
            </a:r>
            <a:endParaRPr lang="en-US" sz="850" dirty="0"/>
          </a:p>
        </p:txBody>
      </p:sp>
      <p:sp>
        <p:nvSpPr>
          <p:cNvPr id="34" name="ovl_arrow"/>
          <p:cNvSpPr/>
          <p:nvPr/>
        </p:nvSpPr>
        <p:spPr>
          <a:xfrm>
            <a:off x="548640" y="5724144"/>
            <a:ext cx="411480" cy="914"/>
          </a:xfrm>
          <a:prstGeom prst="line">
            <a:avLst/>
          </a:prstGeom>
          <a:noFill/>
          <a:ln w="15875">
            <a:solidFill>
              <a:srgbClr val="0E4D33"/>
            </a:solidFill>
            <a:prstDash val="solid"/>
            <a:tailEnd type="triangle"/>
          </a:ln>
        </p:spPr>
      </p:sp>
      <p:sp>
        <p:nvSpPr>
          <p:cNvPr id="35" name="ovl_legend0"/>
          <p:cNvSpPr txBox="1"/>
          <p:nvPr/>
        </p:nvSpPr>
        <p:spPr>
          <a:xfrm>
            <a:off x="1024128" y="55961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カネ</a:t>
            </a:r>
            <a:endParaRPr lang="en-US" sz="850" dirty="0"/>
          </a:p>
        </p:txBody>
      </p:sp>
      <p:sp>
        <p:nvSpPr>
          <p:cNvPr id="36" name="ovl_arrow"/>
          <p:cNvSpPr/>
          <p:nvPr/>
        </p:nvSpPr>
        <p:spPr>
          <a:xfrm>
            <a:off x="2377440" y="5724144"/>
            <a:ext cx="411480" cy="914"/>
          </a:xfrm>
          <a:prstGeom prst="line">
            <a:avLst/>
          </a:prstGeom>
          <a:noFill/>
          <a:ln w="15875">
            <a:solidFill>
              <a:srgbClr val="1BA1A6"/>
            </a:solidFill>
            <a:prstDash val="solid"/>
            <a:tailEnd type="triangle"/>
          </a:ln>
        </p:spPr>
      </p:sp>
      <p:sp>
        <p:nvSpPr>
          <p:cNvPr id="37" name="ovl_legend1"/>
          <p:cNvSpPr txBox="1"/>
          <p:nvPr/>
        </p:nvSpPr>
        <p:spPr>
          <a:xfrm>
            <a:off x="2852928" y="55961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モノ・サービス</a:t>
            </a:r>
            <a:endParaRPr lang="en-US" sz="850" dirty="0"/>
          </a:p>
        </p:txBody>
      </p:sp>
      <p:sp>
        <p:nvSpPr>
          <p:cNvPr id="38" name="ovl_arrow"/>
          <p:cNvSpPr/>
          <p:nvPr/>
        </p:nvSpPr>
        <p:spPr>
          <a:xfrm>
            <a:off x="4206240" y="5724144"/>
            <a:ext cx="411480" cy="91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39" name="ovl_legend2"/>
          <p:cNvSpPr txBox="1"/>
          <p:nvPr/>
        </p:nvSpPr>
        <p:spPr>
          <a:xfrm>
            <a:off x="4681728" y="55961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リスク</a:t>
            </a:r>
            <a:endParaRPr lang="en-US" sz="850" dirty="0"/>
          </a:p>
        </p:txBody>
      </p:sp>
      <p:sp>
        <p:nvSpPr>
          <p:cNvPr id="40" name="ovl_evbox"/>
          <p:cNvSpPr/>
          <p:nvPr/>
        </p:nvSpPr>
        <p:spPr>
          <a:xfrm>
            <a:off x="8275320" y="1481328"/>
            <a:ext cx="345643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1" name="ev_head"/>
          <p:cNvSpPr txBox="1"/>
          <p:nvPr/>
        </p:nvSpPr>
        <p:spPr>
          <a:xfrm>
            <a:off x="8385048" y="15361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根拠</a:t>
            </a:r>
            <a:endParaRPr lang="en-US" sz="1200" dirty="0"/>
          </a:p>
        </p:txBody>
      </p:sp>
      <p:sp>
        <p:nvSpPr>
          <p:cNvPr id="42" name="evidence"/>
          <p:cNvSpPr txBox="1"/>
          <p:nvPr/>
        </p:nvSpPr>
        <p:spPr>
          <a:xfrm>
            <a:off x="8385048" y="1847088"/>
            <a:ext cx="3255264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GE Vernova のガス発電の受注残 116GW、変圧器 128〜144 週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PJM 2028/29 で信頼度要件に 6,831MW 不足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Jupiter(2.45GW)は不可抗力通知の報道(単一系統、未確認)。10/13 に電力計画を提案</a:t>
            </a:r>
            <a:endParaRPr lang="en-US" sz="950" dirty="0"/>
          </a:p>
        </p:txBody>
      </p:sp>
      <p:sp>
        <p:nvSpPr>
          <p:cNvPr id="43" name="ovl_takeaway_bg"/>
          <p:cNvSpPr/>
          <p:nvPr/>
        </p:nvSpPr>
        <p:spPr>
          <a:xfrm>
            <a:off x="8275320" y="4389120"/>
            <a:ext cx="3456432" cy="114300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44" name="takeaway"/>
          <p:cNvSpPr txBox="1"/>
          <p:nvPr/>
        </p:nvSpPr>
        <p:spPr>
          <a:xfrm>
            <a:off x="8385048" y="4462272"/>
            <a:ext cx="3236976" cy="9966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DB の配置は模倣困難だが、AI 容量の障壁は時間で、資本のある競合には破られるため B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OCI は従量・確約、保守・SaaS は継続課金で、受注残 6,640 億ドルが積み上がるストック型の収益である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条件12 従量課金型の収益性格(ORCL IaaS 型)であり売り切り・供給過多型(VRT 型)でない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会社開示(10-Q、RPO の期間別)、research4/T1_consensus.csv、research3/W5_oracle_ai_economics.md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28</a:t>
            </a:r>
            <a:endParaRPr lang="en-US" sz="800" dirty="0"/>
          </a:p>
        </p:txBody>
      </p:sp>
      <p:sp>
        <p:nvSpPr>
          <p:cNvPr id="6" name="ovl_badge"/>
          <p:cNvSpPr/>
          <p:nvPr/>
        </p:nvSpPr>
        <p:spPr>
          <a:xfrm>
            <a:off x="10820095" y="329184"/>
            <a:ext cx="914400" cy="713232"/>
          </a:xfrm>
          <a:prstGeom prst="roundRect">
            <a:avLst>
              <a:gd name="adj" fmla="val 10256"/>
            </a:avLst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7" name="ovl_badge_t"/>
          <p:cNvSpPr txBox="1"/>
          <p:nvPr/>
        </p:nvSpPr>
        <p:spPr>
          <a:xfrm>
            <a:off x="10820095" y="329184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</a:t>
            </a:r>
            <a:endParaRPr lang="en-US" sz="3000" dirty="0"/>
          </a:p>
        </p:txBody>
      </p:sp>
      <p:sp>
        <p:nvSpPr>
          <p:cNvPr id="8" name="ovl_badge_l"/>
          <p:cNvSpPr txBox="1"/>
          <p:nvPr/>
        </p:nvSpPr>
        <p:spPr>
          <a:xfrm>
            <a:off x="10820095" y="78638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条件12</a:t>
            </a:r>
            <a:endParaRPr lang="en-US" sz="800" dirty="0"/>
          </a:p>
        </p:txBody>
      </p:sp>
      <p:graphicFrame>
        <p:nvGraphicFramePr>
          <p:cNvPr id="9" name="chart" descr=""/>
          <p:cNvGraphicFramePr/>
          <p:nvPr/>
        </p:nvGraphicFramePr>
        <p:xfrm>
          <a:off x="457200" y="1600200"/>
          <a:ext cx="758952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bullets"/>
          <p:cNvSpPr txBox="1"/>
          <p:nvPr/>
        </p:nvSpPr>
        <p:spPr>
          <a:xfrm>
            <a:off x="457200" y="3794760"/>
            <a:ext cx="758952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36 か月以内の 3,320 億ドルが、コンセンサス売上(FY28 1,315 億、FY29 1,820 億ドル)の大半を裏付ける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前払い・持ち込み 750 億ドル分は陳腐化リスクを顧客に移している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take-or-pay・解約条項・価格改定条項は公開情報で確認できない</a:t>
            </a:r>
            <a:endParaRPr lang="en-US" sz="1050" dirty="0"/>
          </a:p>
        </p:txBody>
      </p:sp>
      <p:sp>
        <p:nvSpPr>
          <p:cNvPr id="11" name="ovl_evbox"/>
          <p:cNvSpPr/>
          <p:nvPr/>
        </p:nvSpPr>
        <p:spPr>
          <a:xfrm>
            <a:off x="8275320" y="1481328"/>
            <a:ext cx="345643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2" name="ev_head"/>
          <p:cNvSpPr txBox="1"/>
          <p:nvPr/>
        </p:nvSpPr>
        <p:spPr>
          <a:xfrm>
            <a:off x="8385048" y="15361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根拠</a:t>
            </a:r>
            <a:endParaRPr lang="en-US" sz="1200" dirty="0"/>
          </a:p>
        </p:txBody>
      </p:sp>
      <p:sp>
        <p:nvSpPr>
          <p:cNvPr id="13" name="evidence"/>
          <p:cNvSpPr txBox="1"/>
          <p:nvPr/>
        </p:nvSpPr>
        <p:spPr>
          <a:xfrm>
            <a:off x="8385048" y="1847088"/>
            <a:ext cx="3255264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RPO 6,640 億ドル(前年比 +2,090 億)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36 か月以内 50%(前期 46%)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OCI は従量・確約、保守・SaaS は継続課金</a:t>
            </a:r>
            <a:endParaRPr lang="en-US" sz="950" dirty="0"/>
          </a:p>
        </p:txBody>
      </p:sp>
      <p:sp>
        <p:nvSpPr>
          <p:cNvPr id="14" name="ovl_takeaway_bg"/>
          <p:cNvSpPr/>
          <p:nvPr/>
        </p:nvSpPr>
        <p:spPr>
          <a:xfrm>
            <a:off x="8275320" y="4389120"/>
            <a:ext cx="3456432" cy="114300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5" name="takeaway"/>
          <p:cNvSpPr txBox="1"/>
          <p:nvPr/>
        </p:nvSpPr>
        <p:spPr>
          <a:xfrm>
            <a:off x="8385048" y="4462272"/>
            <a:ext cx="3236976" cy="9966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継続課金と長期の確約が積み上がるストック型。解約条件が見えないため S でなく A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保守・SaaS・Database@ は ORCL 型だが、自社で GPU を買う大型 AI 契約の部分が MU 型に寄る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条件13(総合)アーキタイプ照合: ORCL 型か MU/VRT/AVGO 型か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需給エンジン第4.3版、会社開示(FY27 capex ガイダンス)、research4/T2_company_rpo_capacity.md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29</a:t>
            </a:r>
            <a:endParaRPr lang="en-US" sz="800" dirty="0"/>
          </a:p>
        </p:txBody>
      </p:sp>
      <p:sp>
        <p:nvSpPr>
          <p:cNvPr id="6" name="ovl_badge"/>
          <p:cNvSpPr/>
          <p:nvPr/>
        </p:nvSpPr>
        <p:spPr>
          <a:xfrm>
            <a:off x="10820095" y="329184"/>
            <a:ext cx="914400" cy="713232"/>
          </a:xfrm>
          <a:prstGeom prst="roundRect">
            <a:avLst>
              <a:gd name="adj" fmla="val 10256"/>
            </a:avLst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7" name="ovl_badge_t"/>
          <p:cNvSpPr txBox="1"/>
          <p:nvPr/>
        </p:nvSpPr>
        <p:spPr>
          <a:xfrm>
            <a:off x="10820095" y="329184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3000" dirty="0"/>
          </a:p>
        </p:txBody>
      </p:sp>
      <p:sp>
        <p:nvSpPr>
          <p:cNvPr id="8" name="ovl_badge_l"/>
          <p:cNvSpPr txBox="1"/>
          <p:nvPr/>
        </p:nvSpPr>
        <p:spPr>
          <a:xfrm>
            <a:off x="10820095" y="78638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条件13</a:t>
            </a:r>
            <a:endParaRPr lang="en-US" sz="800" dirty="0"/>
          </a:p>
        </p:txBody>
      </p:sp>
      <p:sp>
        <p:nvSpPr>
          <p:cNvPr id="9" name="flow_h0"/>
          <p:cNvSpPr txBox="1"/>
          <p:nvPr/>
        </p:nvSpPr>
        <p:spPr>
          <a:xfrm>
            <a:off x="457200" y="1600200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原型</a:t>
            </a:r>
            <a:endParaRPr lang="en-US" sz="1100" dirty="0"/>
          </a:p>
        </p:txBody>
      </p:sp>
      <p:sp>
        <p:nvSpPr>
          <p:cNvPr id="10" name="ovl_fbox0_0"/>
          <p:cNvSpPr/>
          <p:nvPr/>
        </p:nvSpPr>
        <p:spPr>
          <a:xfrm>
            <a:off x="457200" y="2066544"/>
            <a:ext cx="1408176" cy="822960"/>
          </a:xfrm>
          <a:prstGeom prst="roundRect">
            <a:avLst>
              <a:gd name="adj" fmla="val 6667"/>
            </a:avLst>
          </a:prstGeom>
          <a:solidFill>
            <a:srgbClr val="0E4D33"/>
          </a:solidFill>
          <a:ln w="9525">
            <a:solidFill>
              <a:srgbClr val="0E4D33"/>
            </a:solidFill>
            <a:prstDash val="solid"/>
          </a:ln>
        </p:spPr>
      </p:sp>
      <p:sp>
        <p:nvSpPr>
          <p:cNvPr id="11" name="flow_t0_0"/>
          <p:cNvSpPr txBox="1"/>
          <p:nvPr/>
        </p:nvSpPr>
        <p:spPr>
          <a:xfrm>
            <a:off x="530352" y="2103120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ORCL 型</a:t>
            </a:r>
            <a:endParaRPr lang="en-US" sz="1000" dirty="0"/>
          </a:p>
        </p:txBody>
      </p:sp>
      <p:sp>
        <p:nvSpPr>
          <p:cNvPr id="12" name="ovl_farrow0"/>
          <p:cNvSpPr/>
          <p:nvPr/>
        </p:nvSpPr>
        <p:spPr>
          <a:xfrm>
            <a:off x="1885950" y="2295144"/>
            <a:ext cx="109728" cy="365760"/>
          </a:xfrm>
          <a:prstGeom prst="rightArrow">
            <a:avLst/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13" name="flow_h1"/>
          <p:cNvSpPr txBox="1"/>
          <p:nvPr/>
        </p:nvSpPr>
        <p:spPr>
          <a:xfrm>
            <a:off x="2002536" y="1600200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</a:t>
            </a:r>
            <a:endParaRPr lang="en-US" sz="1100" dirty="0"/>
          </a:p>
        </p:txBody>
      </p:sp>
      <p:sp>
        <p:nvSpPr>
          <p:cNvPr id="14" name="ovl_fbox1_0"/>
          <p:cNvSpPr/>
          <p:nvPr/>
        </p:nvSpPr>
        <p:spPr>
          <a:xfrm>
            <a:off x="2002536" y="2066544"/>
            <a:ext cx="1408176" cy="822960"/>
          </a:xfrm>
          <a:prstGeom prst="roundRect">
            <a:avLst>
              <a:gd name="adj" fmla="val 6667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15" name="flow_t1_0"/>
          <p:cNvSpPr txBox="1"/>
          <p:nvPr/>
        </p:nvSpPr>
        <p:spPr>
          <a:xfrm>
            <a:off x="2075688" y="2103120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保守・SaaS</a:t>
            </a:r>
            <a:endParaRPr lang="en-US" sz="1000" dirty="0"/>
          </a:p>
        </p:txBody>
      </p:sp>
      <p:sp>
        <p:nvSpPr>
          <p:cNvPr id="16" name="ovl_farrow1"/>
          <p:cNvSpPr/>
          <p:nvPr/>
        </p:nvSpPr>
        <p:spPr>
          <a:xfrm>
            <a:off x="3431286" y="2295144"/>
            <a:ext cx="109728" cy="365760"/>
          </a:xfrm>
          <a:prstGeom prst="rightArrow">
            <a:avLst/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17" name="flow_h2"/>
          <p:cNvSpPr txBox="1"/>
          <p:nvPr/>
        </p:nvSpPr>
        <p:spPr>
          <a:xfrm>
            <a:off x="3547872" y="1600200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</a:t>
            </a:r>
            <a:endParaRPr lang="en-US" sz="1100" dirty="0"/>
          </a:p>
        </p:txBody>
      </p:sp>
      <p:sp>
        <p:nvSpPr>
          <p:cNvPr id="18" name="ovl_fbox2_0"/>
          <p:cNvSpPr/>
          <p:nvPr/>
        </p:nvSpPr>
        <p:spPr>
          <a:xfrm>
            <a:off x="3547872" y="2066544"/>
            <a:ext cx="1408176" cy="822960"/>
          </a:xfrm>
          <a:prstGeom prst="roundRect">
            <a:avLst>
              <a:gd name="adj" fmla="val 6667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19" name="flow_t2_0"/>
          <p:cNvSpPr txBox="1"/>
          <p:nvPr/>
        </p:nvSpPr>
        <p:spPr>
          <a:xfrm>
            <a:off x="3621024" y="2103120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Database@・OCI 一般</a:t>
            </a:r>
            <a:endParaRPr lang="en-US" sz="1000" dirty="0"/>
          </a:p>
        </p:txBody>
      </p:sp>
      <p:sp>
        <p:nvSpPr>
          <p:cNvPr id="20" name="ovl_farrow2"/>
          <p:cNvSpPr/>
          <p:nvPr/>
        </p:nvSpPr>
        <p:spPr>
          <a:xfrm>
            <a:off x="4976622" y="2295144"/>
            <a:ext cx="109728" cy="365760"/>
          </a:xfrm>
          <a:prstGeom prst="rightArrow">
            <a:avLst/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21" name="flow_h3"/>
          <p:cNvSpPr txBox="1"/>
          <p:nvPr/>
        </p:nvSpPr>
        <p:spPr>
          <a:xfrm>
            <a:off x="5093208" y="1600200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1100" dirty="0"/>
          </a:p>
        </p:txBody>
      </p:sp>
      <p:sp>
        <p:nvSpPr>
          <p:cNvPr id="22" name="ovl_fbox3_0"/>
          <p:cNvSpPr/>
          <p:nvPr/>
        </p:nvSpPr>
        <p:spPr>
          <a:xfrm>
            <a:off x="5093208" y="2066544"/>
            <a:ext cx="1408176" cy="822960"/>
          </a:xfrm>
          <a:prstGeom prst="roundRect">
            <a:avLst>
              <a:gd name="adj" fmla="val 6667"/>
            </a:avLst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23" name="flow_t3_0"/>
          <p:cNvSpPr txBox="1"/>
          <p:nvPr/>
        </p:nvSpPr>
        <p:spPr>
          <a:xfrm>
            <a:off x="5166360" y="2103120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 容量(前払い・持ち込み)</a:t>
            </a:r>
            <a:endParaRPr lang="en-US" sz="1000" dirty="0"/>
          </a:p>
        </p:txBody>
      </p:sp>
      <p:sp>
        <p:nvSpPr>
          <p:cNvPr id="24" name="ovl_farrow3"/>
          <p:cNvSpPr/>
          <p:nvPr/>
        </p:nvSpPr>
        <p:spPr>
          <a:xfrm>
            <a:off x="6521958" y="2295144"/>
            <a:ext cx="109728" cy="365760"/>
          </a:xfrm>
          <a:prstGeom prst="rightArrow">
            <a:avLst/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25" name="flow_h4"/>
          <p:cNvSpPr txBox="1"/>
          <p:nvPr/>
        </p:nvSpPr>
        <p:spPr>
          <a:xfrm>
            <a:off x="6638544" y="1600200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C〜G</a:t>
            </a:r>
            <a:endParaRPr lang="en-US" sz="1100" dirty="0"/>
          </a:p>
        </p:txBody>
      </p:sp>
      <p:sp>
        <p:nvSpPr>
          <p:cNvPr id="26" name="ovl_fbox4_0"/>
          <p:cNvSpPr/>
          <p:nvPr/>
        </p:nvSpPr>
        <p:spPr>
          <a:xfrm>
            <a:off x="6638544" y="2066544"/>
            <a:ext cx="1408176" cy="822960"/>
          </a:xfrm>
          <a:prstGeom prst="roundRect">
            <a:avLst>
              <a:gd name="adj" fmla="val 6667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27" name="flow_t4_0"/>
          <p:cNvSpPr txBox="1"/>
          <p:nvPr/>
        </p:nvSpPr>
        <p:spPr>
          <a:xfrm>
            <a:off x="6711696" y="2103120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 容量(自社調達 GPU)</a:t>
            </a:r>
            <a:endParaRPr lang="en-US" sz="1000" dirty="0"/>
          </a:p>
        </p:txBody>
      </p:sp>
      <p:graphicFrame>
        <p:nvGraphicFramePr>
          <p:cNvPr id="30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75895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観点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ORCL 型の要素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MU 型の要素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課金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継続課金・従量・確約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陳腐化リスク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前払い・持ち込みで顧客へ移す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自社調達 GPU は Oracle が負う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capex(FY27)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純現金 capex 700 億ドル以下(ガイダンス)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エンジン 942 億ドル・純現金 733 億ドル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価値の比率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保守・SaaS・OCI 一般 約 50%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 容量 45%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9" name="ovl_evbox"/>
          <p:cNvSpPr/>
          <p:nvPr/>
        </p:nvSpPr>
        <p:spPr>
          <a:xfrm>
            <a:off x="8275320" y="1481328"/>
            <a:ext cx="345643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0" name="ev_head"/>
          <p:cNvSpPr txBox="1"/>
          <p:nvPr/>
        </p:nvSpPr>
        <p:spPr>
          <a:xfrm>
            <a:off x="8385048" y="15361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根拠</a:t>
            </a:r>
            <a:endParaRPr lang="en-US" sz="1200" dirty="0"/>
          </a:p>
        </p:txBody>
      </p:sp>
      <p:sp>
        <p:nvSpPr>
          <p:cNvPr id="31" name="evidence"/>
          <p:cNvSpPr txBox="1"/>
          <p:nvPr/>
        </p:nvSpPr>
        <p:spPr>
          <a:xfrm>
            <a:off x="8385048" y="1847088"/>
            <a:ext cx="3255264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前払い・持ち込み累計 750 億ドル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10GW の 90% 超はパートナーが資金負担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FY27 の総 capex 900〜950 億ドルのうち、顧客の前払いが約 24%</a:t>
            </a:r>
            <a:endParaRPr lang="en-US" sz="950" dirty="0"/>
          </a:p>
        </p:txBody>
      </p:sp>
      <p:sp>
        <p:nvSpPr>
          <p:cNvPr id="32" name="ovl_takeaway_bg"/>
          <p:cNvSpPr/>
          <p:nvPr/>
        </p:nvSpPr>
        <p:spPr>
          <a:xfrm>
            <a:off x="8275320" y="4389120"/>
            <a:ext cx="3456432" cy="114300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33" name="takeaway"/>
          <p:cNvSpPr txBox="1"/>
          <p:nvPr/>
        </p:nvSpPr>
        <p:spPr>
          <a:xfrm>
            <a:off x="8385048" y="4462272"/>
            <a:ext cx="3236976" cy="9966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原型は ORCL 型のまま。自社調達の GPU が増えると MU 型に寄るため B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E4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agenda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3" name="bg_agenda_lbl"/>
          <p:cNvSpPr txBox="1"/>
          <p:nvPr/>
        </p:nvSpPr>
        <p:spPr>
          <a:xfrm>
            <a:off x="822960" y="2651760"/>
            <a:ext cx="292608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目次</a:t>
            </a:r>
            <a:endParaRPr lang="en-US" sz="2800" dirty="0"/>
          </a:p>
        </p:txBody>
      </p:sp>
      <p:sp>
        <p:nvSpPr>
          <p:cNvPr id="4" name="bg_agenda_n0"/>
          <p:cNvSpPr/>
          <p:nvPr/>
        </p:nvSpPr>
        <p:spPr>
          <a:xfrm>
            <a:off x="4572000" y="1828800"/>
            <a:ext cx="475488" cy="475488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bg_agenda_nt0"/>
          <p:cNvSpPr txBox="1"/>
          <p:nvPr/>
        </p:nvSpPr>
        <p:spPr>
          <a:xfrm>
            <a:off x="4572000" y="1828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bg_agenda_ch0"/>
          <p:cNvSpPr txBox="1"/>
          <p:nvPr/>
        </p:nvSpPr>
        <p:spPr>
          <a:xfrm>
            <a:off x="5257800" y="1847088"/>
            <a:ext cx="64008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評価総括</a:t>
            </a:r>
            <a:endParaRPr lang="en-US" sz="1800" dirty="0"/>
          </a:p>
        </p:txBody>
      </p:sp>
      <p:sp>
        <p:nvSpPr>
          <p:cNvPr id="7" name="bg_agenda_n1"/>
          <p:cNvSpPr/>
          <p:nvPr/>
        </p:nvSpPr>
        <p:spPr>
          <a:xfrm>
            <a:off x="4572000" y="2697480"/>
            <a:ext cx="475488" cy="475488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g_agenda_nt1"/>
          <p:cNvSpPr txBox="1"/>
          <p:nvPr/>
        </p:nvSpPr>
        <p:spPr>
          <a:xfrm>
            <a:off x="4572000" y="2697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bg_agenda_ch1"/>
          <p:cNvSpPr txBox="1"/>
          <p:nvPr/>
        </p:nvSpPr>
        <p:spPr>
          <a:xfrm>
            <a:off x="5257800" y="2715768"/>
            <a:ext cx="64008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事業・需給・成長</a:t>
            </a:r>
            <a:endParaRPr lang="en-US" sz="1800" dirty="0"/>
          </a:p>
        </p:txBody>
      </p:sp>
      <p:sp>
        <p:nvSpPr>
          <p:cNvPr id="10" name="bg_agenda_n2"/>
          <p:cNvSpPr/>
          <p:nvPr/>
        </p:nvSpPr>
        <p:spPr>
          <a:xfrm>
            <a:off x="4572000" y="3566160"/>
            <a:ext cx="475488" cy="475488"/>
          </a:xfrm>
          <a:prstGeom prst="ellipse">
            <a:avLst/>
          </a:prstGeom>
          <a:solidFill>
            <a:srgbClr val="0E4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g_agenda_nt2"/>
          <p:cNvSpPr txBox="1"/>
          <p:nvPr/>
        </p:nvSpPr>
        <p:spPr>
          <a:xfrm>
            <a:off x="4572000" y="35661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bg_agenda_ch2"/>
          <p:cNvSpPr txBox="1"/>
          <p:nvPr/>
        </p:nvSpPr>
        <p:spPr>
          <a:xfrm>
            <a:off x="5257800" y="3584448"/>
            <a:ext cx="64008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50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13条件の構造分析</a:t>
            </a:r>
            <a:endParaRPr lang="en-US" sz="1800" dirty="0"/>
          </a:p>
        </p:txBody>
      </p:sp>
      <p:sp>
        <p:nvSpPr>
          <p:cNvPr id="13" name="bg_agenda_n3"/>
          <p:cNvSpPr/>
          <p:nvPr/>
        </p:nvSpPr>
        <p:spPr>
          <a:xfrm>
            <a:off x="4572000" y="4434840"/>
            <a:ext cx="475488" cy="475488"/>
          </a:xfrm>
          <a:prstGeom prst="ellipse">
            <a:avLst/>
          </a:prstGeom>
          <a:solidFill>
            <a:srgbClr val="197A5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g_agenda_nt3"/>
          <p:cNvSpPr txBox="1"/>
          <p:nvPr/>
        </p:nvSpPr>
        <p:spPr>
          <a:xfrm>
            <a:off x="4572000" y="4434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bg_agenda_ch3"/>
          <p:cNvSpPr txBox="1"/>
          <p:nvPr/>
        </p:nvSpPr>
        <p:spPr>
          <a:xfrm>
            <a:off x="5257800" y="4453128"/>
            <a:ext cx="64008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バリュエーション・リスク・投資アクション</a:t>
            </a:r>
            <a:endParaRPr lang="en-US" sz="1800" dirty="0"/>
          </a:p>
        </p:txBody>
      </p:sp>
      <p:sp>
        <p:nvSpPr>
          <p:cNvPr id="16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30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株価は事業実態 EPS の 15.7 倍で弱気(13.6 倍)寄り。前払い・長期リースは ROIC を支え、OpenAI 集中は底堅さを下げる。試金石は 10 月末〜12 月の開示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左: 市場が付ける倍率と、株価が示す弱気の確率。右: 構造の変化が数字に及ぶ道筋と、カタリストの日程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需給エンジン第4.3版(calc/out/m8_fair.json)、Oracle AI World 公式ページ、会社開示、report/ORCL_report.md §11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31</a:t>
            </a:r>
            <a:endParaRPr lang="en-US" sz="800" dirty="0"/>
          </a:p>
        </p:txBody>
      </p:sp>
      <p:sp>
        <p:nvSpPr>
          <p:cNvPr id="6" name="pane_head"/>
          <p:cNvSpPr txBox="1"/>
          <p:nvPr/>
        </p:nvSpPr>
        <p:spPr>
          <a:xfrm>
            <a:off x="457200" y="1481328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市場の倍率(FY27 末、翌年度の事業実態 EPS 比)</a:t>
            </a:r>
            <a:endParaRPr lang="en-US" sz="1200" dirty="0"/>
          </a:p>
        </p:txBody>
      </p:sp>
      <p:graphicFrame>
        <p:nvGraphicFramePr>
          <p:cNvPr id="7" name="chart" descr=""/>
          <p:cNvGraphicFramePr/>
          <p:nvPr/>
        </p:nvGraphicFramePr>
        <p:xfrm>
          <a:off x="457200" y="1810512"/>
          <a:ext cx="553212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2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86200"/>
          <a:ext cx="5532120" cy="914400"/>
        </p:xfrm>
        <a:graphic>
          <a:graphicData uri="http://schemas.openxmlformats.org/drawingml/2006/table">
            <a:tbl>
              <a:tblPr/>
              <a:tblGrid>
                <a:gridCol w="38862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株価が示す弱気の確率(定義)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株価 143.20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強気:ベース = 1:2 を固定して弱気の確率を逆算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87%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ベースと弱気の 2 点で逆算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84%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DCF の値で定義1 と同じ計算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72%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note"/>
          <p:cNvSpPr txBox="1"/>
          <p:nvPr/>
        </p:nvSpPr>
        <p:spPr>
          <a:xfrm>
            <a:off x="457200" y="5257800"/>
            <a:ext cx="55321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市場は弱気とベースの間の、弱気側 16% の位置にいる。疑っているのは EPS ではなく、EPS が現金になるか(FY29 の FCF・格付け・OpenAI)</a:t>
            </a:r>
            <a:endParaRPr lang="en-US" sz="950" dirty="0"/>
          </a:p>
        </p:txBody>
      </p:sp>
      <p:sp>
        <p:nvSpPr>
          <p:cNvPr id="10" name="pane_head"/>
          <p:cNvSpPr txBox="1"/>
          <p:nvPr/>
        </p:nvSpPr>
        <p:spPr>
          <a:xfrm>
            <a:off x="6199632" y="1481328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構造の変化 → 数字への波及</a:t>
            </a:r>
            <a:endParaRPr lang="en-US" sz="1200" dirty="0"/>
          </a:p>
        </p:txBody>
      </p:sp>
      <p:graphicFrame>
        <p:nvGraphicFramePr>
          <p:cNvPr id="63" name="tbl_rip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810512"/>
          <a:ext cx="553212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188720"/>
                <a:gridCol w="1188720"/>
                <a:gridCol w="11887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構造の変化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ROIC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需要の長さ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底堅さ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前払い・持ち込み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↑ 進行中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↑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逼迫前の長期リース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↑ FY47 まで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↓ 需要鈍化時は固定費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OpenAI への集中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↑ 2032 年まで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↓ 2027〜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SaaS へのエージェント組込み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↑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↑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Database@ の配置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↑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↑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97A5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↑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pane_head"/>
          <p:cNvSpPr txBox="1"/>
          <p:nvPr/>
        </p:nvSpPr>
        <p:spPr>
          <a:xfrm>
            <a:off x="6199632" y="3840480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カタリストの日程</a:t>
            </a:r>
            <a:endParaRPr lang="en-US" sz="1200" dirty="0"/>
          </a:p>
        </p:txBody>
      </p:sp>
      <p:graphicFrame>
        <p:nvGraphicFramePr>
          <p:cNvPr id="94" name="tbl_catalys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4160520"/>
          <a:ext cx="55321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828800"/>
                <a:gridCol w="24688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時期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カタリスト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何が分かるか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10/25〜28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 World 2026(日程は出典で 1 日ずれあり)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新製品、FY30 以降の目標の有無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 月中旬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Q2 FY27 決算(日付は未確定)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納入 MW、AI 粗利率、FCF、受注残の構成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2027-02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NM のガス管の稼働予定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Jupiter(2.45GW)の時期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2027 前半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OpenAI の大型資金調達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支払能力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FY29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FCF の黒字化(S&amp;P の条件)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格下げの回避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事業実態 EPS はコンセンサス経路で 6.9 ドルから FY32 に 29 ドルへ年 34% 伸びる。弱気は FY31 に OpenAI の再販で落ち込む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事業実態 EPS(非GAAP EPS − 株式報酬の税引後)、ドル。FY27〜30 はコンセンサス × シナリオ比、FY31〜32 は需給エンジンの伸びで延長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コンセンサス(research4/T1_consensus.csv)、需給エンジン第4.3版(calc/out/m8_fair.json)。過去の成長率は使っていない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32</a:t>
            </a:r>
            <a:endParaRPr lang="en-US" sz="800" dirty="0"/>
          </a:p>
        </p:txBody>
      </p:sp>
      <p:graphicFrame>
        <p:nvGraphicFramePr>
          <p:cNvPr id="6" name="chart" descr=""/>
          <p:cNvGraphicFramePr/>
          <p:nvPr/>
        </p:nvGraphicFramePr>
        <p:xfrm>
          <a:off x="457200" y="1508760"/>
          <a:ext cx="76352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ovl_takeaway_bg"/>
          <p:cNvSpPr/>
          <p:nvPr/>
        </p:nvSpPr>
        <p:spPr>
          <a:xfrm>
            <a:off x="8275320" y="1554480"/>
            <a:ext cx="3456432" cy="123444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8" name="takeaway"/>
          <p:cNvSpPr txBox="1"/>
          <p:nvPr/>
        </p:nvSpPr>
        <p:spPr>
          <a:xfrm>
            <a:off x="8385048" y="1627632"/>
            <a:ext cx="3236976" cy="10881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ベースの 5 年 CAGR は 33.9%(PEG 0.62)。FY30 の非GAAP EPS はコンセンサス 20.5 ドルで、会社目標 21 ドルとほぼ同じ</a:t>
            </a:r>
            <a:endParaRPr lang="en-US" sz="1100" dirty="0"/>
          </a:p>
        </p:txBody>
      </p:sp>
      <p:sp>
        <p:nvSpPr>
          <p:cNvPr id="9" name="points"/>
          <p:cNvSpPr txBox="1"/>
          <p:nvPr/>
        </p:nvSpPr>
        <p:spPr>
          <a:xfrm>
            <a:off x="8275320" y="2926080"/>
            <a:ext cx="3456432" cy="3154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FY27→FY30 の 3 年は、どのシナリオでもコンセンサス × シナリオ比で置いた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弱気の FY31: OpenAI 向けとみなす容量の 6 割を、需給緩和後の相場で再販して 8.6 ドルへ下がる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FY31・32 は延長部分で、確度は FY27〜30 より低い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構造評価 B は許容 PEG 1.0 に当たる。3 経路の妥当 PER を年度別に当て、近い年度を重くするとベース 261 ドル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年度別理論株価 = Σ 重み × [ 妥当 PER × 翌年度の事業実態 EPS × 生存確率 を株主資本コスト 10.77% で今日へ割引 + 配当 ]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需給エンジン第4.3版(calc/m8_fair.py、out/m8_fair.json)、銘柄分析メソッド valuation-model §3-3(構造評価 B の出発 PEG 1.0〜1.3)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33</a:t>
            </a:r>
            <a:endParaRPr lang="en-US" sz="800" dirty="0"/>
          </a:p>
        </p:txBody>
      </p:sp>
      <p:sp>
        <p:nvSpPr>
          <p:cNvPr id="6" name="flow_h0"/>
          <p:cNvSpPr txBox="1"/>
          <p:nvPr/>
        </p:nvSpPr>
        <p:spPr>
          <a:xfrm>
            <a:off x="457200" y="1481328"/>
            <a:ext cx="20360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構造評価</a:t>
            </a:r>
            <a:endParaRPr lang="en-US" sz="1100" dirty="0"/>
          </a:p>
        </p:txBody>
      </p:sp>
      <p:sp>
        <p:nvSpPr>
          <p:cNvPr id="7" name="ovl_fbox0_0"/>
          <p:cNvSpPr/>
          <p:nvPr/>
        </p:nvSpPr>
        <p:spPr>
          <a:xfrm>
            <a:off x="457200" y="1865376"/>
            <a:ext cx="2036003" cy="731520"/>
          </a:xfrm>
          <a:prstGeom prst="roundRect">
            <a:avLst>
              <a:gd name="adj" fmla="val 7500"/>
            </a:avLst>
          </a:prstGeom>
          <a:solidFill>
            <a:srgbClr val="0E4D33"/>
          </a:solidFill>
          <a:ln w="9525">
            <a:solidFill>
              <a:srgbClr val="0E4D33"/>
            </a:solidFill>
            <a:prstDash val="solid"/>
          </a:ln>
        </p:spPr>
      </p:sp>
      <p:sp>
        <p:nvSpPr>
          <p:cNvPr id="8" name="flow_t0_0"/>
          <p:cNvSpPr txBox="1"/>
          <p:nvPr/>
        </p:nvSpPr>
        <p:spPr>
          <a:xfrm>
            <a:off x="530352" y="1901952"/>
            <a:ext cx="18896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2800" dirty="0"/>
          </a:p>
        </p:txBody>
      </p:sp>
      <p:sp>
        <p:nvSpPr>
          <p:cNvPr id="9" name="ovl_fbox0_1"/>
          <p:cNvSpPr/>
          <p:nvPr/>
        </p:nvSpPr>
        <p:spPr>
          <a:xfrm>
            <a:off x="457200" y="2706624"/>
            <a:ext cx="2036003" cy="502920"/>
          </a:xfrm>
          <a:prstGeom prst="roundRect">
            <a:avLst>
              <a:gd name="adj" fmla="val 10909"/>
            </a:avLst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10" name="flow_t0_1"/>
          <p:cNvSpPr txBox="1"/>
          <p:nvPr/>
        </p:nvSpPr>
        <p:spPr>
          <a:xfrm>
            <a:off x="530352" y="2743200"/>
            <a:ext cx="1889699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出発 PEG 1.0〜1.3</a:t>
            </a:r>
            <a:endParaRPr lang="en-US" sz="1000" dirty="0"/>
          </a:p>
        </p:txBody>
      </p:sp>
      <p:sp>
        <p:nvSpPr>
          <p:cNvPr id="11" name="ovl_farrow0"/>
          <p:cNvSpPr/>
          <p:nvPr/>
        </p:nvSpPr>
        <p:spPr>
          <a:xfrm>
            <a:off x="2534351" y="2221992"/>
            <a:ext cx="192024" cy="365760"/>
          </a:xfrm>
          <a:prstGeom prst="rightArrow">
            <a:avLst/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12" name="flow_h1"/>
          <p:cNvSpPr txBox="1"/>
          <p:nvPr/>
        </p:nvSpPr>
        <p:spPr>
          <a:xfrm>
            <a:off x="2767523" y="1481328"/>
            <a:ext cx="20360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許容 PEG</a:t>
            </a:r>
            <a:endParaRPr lang="en-US" sz="1100" dirty="0"/>
          </a:p>
        </p:txBody>
      </p:sp>
      <p:sp>
        <p:nvSpPr>
          <p:cNvPr id="13" name="ovl_fbox1_0"/>
          <p:cNvSpPr/>
          <p:nvPr/>
        </p:nvSpPr>
        <p:spPr>
          <a:xfrm>
            <a:off x="2767523" y="1865376"/>
            <a:ext cx="2036003" cy="731520"/>
          </a:xfrm>
          <a:prstGeom prst="roundRect">
            <a:avLst>
              <a:gd name="adj" fmla="val 7500"/>
            </a:avLst>
          </a:prstGeom>
          <a:solidFill>
            <a:srgbClr val="197A56"/>
          </a:solidFill>
          <a:ln w="9525">
            <a:solidFill>
              <a:srgbClr val="197A56"/>
            </a:solidFill>
            <a:prstDash val="solid"/>
          </a:ln>
        </p:spPr>
      </p:sp>
      <p:sp>
        <p:nvSpPr>
          <p:cNvPr id="14" name="flow_t1_0"/>
          <p:cNvSpPr txBox="1"/>
          <p:nvPr/>
        </p:nvSpPr>
        <p:spPr>
          <a:xfrm>
            <a:off x="2840675" y="1901952"/>
            <a:ext cx="18896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1.0</a:t>
            </a:r>
            <a:endParaRPr lang="en-US" sz="2800" dirty="0"/>
          </a:p>
        </p:txBody>
      </p:sp>
      <p:sp>
        <p:nvSpPr>
          <p:cNvPr id="15" name="ovl_fbox1_1"/>
          <p:cNvSpPr/>
          <p:nvPr/>
        </p:nvSpPr>
        <p:spPr>
          <a:xfrm>
            <a:off x="2767523" y="2706624"/>
            <a:ext cx="2036003" cy="502920"/>
          </a:xfrm>
          <a:prstGeom prst="roundRect">
            <a:avLst>
              <a:gd name="adj" fmla="val 10909"/>
            </a:avLst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16" name="flow_t1_1"/>
          <p:cNvSpPr txBox="1"/>
          <p:nvPr/>
        </p:nvSpPr>
        <p:spPr>
          <a:xfrm>
            <a:off x="2840675" y="2743200"/>
            <a:ext cx="1889699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下限を採用(倍率は全シナリオ共通)</a:t>
            </a:r>
            <a:endParaRPr lang="en-US" sz="1000" dirty="0"/>
          </a:p>
        </p:txBody>
      </p:sp>
      <p:sp>
        <p:nvSpPr>
          <p:cNvPr id="17" name="ovl_farrow1"/>
          <p:cNvSpPr/>
          <p:nvPr/>
        </p:nvSpPr>
        <p:spPr>
          <a:xfrm>
            <a:off x="4844674" y="2221992"/>
            <a:ext cx="192024" cy="365760"/>
          </a:xfrm>
          <a:prstGeom prst="rightArrow">
            <a:avLst/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18" name="flow_h2"/>
          <p:cNvSpPr txBox="1"/>
          <p:nvPr/>
        </p:nvSpPr>
        <p:spPr>
          <a:xfrm>
            <a:off x="5077846" y="1481328"/>
            <a:ext cx="20360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妥当 PER(3 経路の平均)</a:t>
            </a:r>
            <a:endParaRPr lang="en-US" sz="1100" dirty="0"/>
          </a:p>
        </p:txBody>
      </p:sp>
      <p:sp>
        <p:nvSpPr>
          <p:cNvPr id="19" name="ovl_fbox2_0"/>
          <p:cNvSpPr/>
          <p:nvPr/>
        </p:nvSpPr>
        <p:spPr>
          <a:xfrm>
            <a:off x="5077846" y="1865376"/>
            <a:ext cx="2036003" cy="1280160"/>
          </a:xfrm>
          <a:prstGeom prst="roundRect">
            <a:avLst>
              <a:gd name="adj" fmla="val 4286"/>
            </a:avLst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20" name="flow_t2_0"/>
          <p:cNvSpPr txBox="1"/>
          <p:nvPr/>
        </p:nvSpPr>
        <p:spPr>
          <a:xfrm>
            <a:off x="5150998" y="1901952"/>
            <a:ext cx="1889699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 同業 23 倍 / b PEG × 3 年成長率 / c 需給エンジンの価値</a:t>
            </a:r>
            <a:endParaRPr lang="en-US" sz="1000" dirty="0"/>
          </a:p>
        </p:txBody>
      </p:sp>
      <p:sp>
        <p:nvSpPr>
          <p:cNvPr id="21" name="ovl_farrow2"/>
          <p:cNvSpPr/>
          <p:nvPr/>
        </p:nvSpPr>
        <p:spPr>
          <a:xfrm>
            <a:off x="7154997" y="2221992"/>
            <a:ext cx="192024" cy="365760"/>
          </a:xfrm>
          <a:prstGeom prst="rightArrow">
            <a:avLst/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22" name="flow_h3"/>
          <p:cNvSpPr txBox="1"/>
          <p:nvPr/>
        </p:nvSpPr>
        <p:spPr>
          <a:xfrm>
            <a:off x="7388169" y="1481328"/>
            <a:ext cx="20360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年度末の目標</a:t>
            </a:r>
            <a:endParaRPr lang="en-US" sz="1100" dirty="0"/>
          </a:p>
        </p:txBody>
      </p:sp>
      <p:sp>
        <p:nvSpPr>
          <p:cNvPr id="23" name="ovl_fbox3_0"/>
          <p:cNvSpPr/>
          <p:nvPr/>
        </p:nvSpPr>
        <p:spPr>
          <a:xfrm>
            <a:off x="7388169" y="1865376"/>
            <a:ext cx="2036003" cy="1280160"/>
          </a:xfrm>
          <a:prstGeom prst="roundRect">
            <a:avLst>
              <a:gd name="adj" fmla="val 4286"/>
            </a:avLst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24" name="flow_t3_0"/>
          <p:cNvSpPr txBox="1"/>
          <p:nvPr/>
        </p:nvSpPr>
        <p:spPr>
          <a:xfrm>
            <a:off x="7461321" y="1901952"/>
            <a:ext cx="1889699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PER × 翌年度 EPS × 生存確率</a:t>
            </a:r>
            <a:endParaRPr lang="en-US" sz="1000" dirty="0"/>
          </a:p>
        </p:txBody>
      </p:sp>
      <p:sp>
        <p:nvSpPr>
          <p:cNvPr id="25" name="ovl_farrow3"/>
          <p:cNvSpPr/>
          <p:nvPr/>
        </p:nvSpPr>
        <p:spPr>
          <a:xfrm>
            <a:off x="9465320" y="2221992"/>
            <a:ext cx="192024" cy="365760"/>
          </a:xfrm>
          <a:prstGeom prst="rightArrow">
            <a:avLst/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26" name="flow_h4"/>
          <p:cNvSpPr txBox="1"/>
          <p:nvPr/>
        </p:nvSpPr>
        <p:spPr>
          <a:xfrm>
            <a:off x="9698492" y="1481328"/>
            <a:ext cx="20360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理論株価</a:t>
            </a:r>
            <a:endParaRPr lang="en-US" sz="1100" dirty="0"/>
          </a:p>
        </p:txBody>
      </p:sp>
      <p:sp>
        <p:nvSpPr>
          <p:cNvPr id="27" name="ovl_fbox4_0"/>
          <p:cNvSpPr/>
          <p:nvPr/>
        </p:nvSpPr>
        <p:spPr>
          <a:xfrm>
            <a:off x="9698492" y="1865376"/>
            <a:ext cx="2036003" cy="731520"/>
          </a:xfrm>
          <a:prstGeom prst="roundRect">
            <a:avLst>
              <a:gd name="adj" fmla="val 7500"/>
            </a:avLst>
          </a:prstGeom>
          <a:solidFill>
            <a:srgbClr val="0E4D33"/>
          </a:solidFill>
          <a:ln w="9525">
            <a:solidFill>
              <a:srgbClr val="0E4D33"/>
            </a:solidFill>
            <a:prstDash val="solid"/>
          </a:ln>
        </p:spPr>
      </p:sp>
      <p:sp>
        <p:nvSpPr>
          <p:cNvPr id="28" name="flow_t4_0"/>
          <p:cNvSpPr txBox="1"/>
          <p:nvPr/>
        </p:nvSpPr>
        <p:spPr>
          <a:xfrm>
            <a:off x="9771644" y="1901952"/>
            <a:ext cx="18896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261 ドル</a:t>
            </a:r>
            <a:endParaRPr lang="en-US" sz="2600" dirty="0"/>
          </a:p>
        </p:txBody>
      </p:sp>
      <p:sp>
        <p:nvSpPr>
          <p:cNvPr id="29" name="ovl_fbox4_1"/>
          <p:cNvSpPr/>
          <p:nvPr/>
        </p:nvSpPr>
        <p:spPr>
          <a:xfrm>
            <a:off x="9698492" y="2706624"/>
            <a:ext cx="2036003" cy="502920"/>
          </a:xfrm>
          <a:prstGeom prst="roundRect">
            <a:avLst>
              <a:gd name="adj" fmla="val 10909"/>
            </a:avLst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30" name="flow_t4_1"/>
          <p:cNvSpPr txBox="1"/>
          <p:nvPr/>
        </p:nvSpPr>
        <p:spPr>
          <a:xfrm>
            <a:off x="9771644" y="2743200"/>
            <a:ext cx="1889699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加重 251・株価 143</a:t>
            </a:r>
            <a:endParaRPr lang="en-US" sz="1000" dirty="0"/>
          </a:p>
        </p:txBody>
      </p:sp>
      <p:graphicFrame>
        <p:nvGraphicFramePr>
          <p:cNvPr id="34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9184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1280160"/>
                <a:gridCol w="1371600"/>
                <a:gridCol w="1371600"/>
                <a:gridCol w="1371600"/>
                <a:gridCol w="1463040"/>
                <a:gridCol w="1581912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年度末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翌年度 EPS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3年成長率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 同業 23 倍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 PEG × 成長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 エンジン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目標(平均)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今日の価値(重み)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FY27 末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9.65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36.1%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321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256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240(40%)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FY28 末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14.42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26.9%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317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371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316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268(30%)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FY29 末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19.07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21.7%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423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399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290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371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283(20%)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FY30 末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24.33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16.2%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544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383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322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417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285(10%)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ベース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bullets"/>
          <p:cNvSpPr txBox="1"/>
          <p:nvPr/>
        </p:nvSpPr>
        <p:spPr>
          <a:xfrm>
            <a:off x="457200" y="5349240"/>
            <a:ext cx="11274552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a・b は生存確率(倒産確率を反映)を掛けた後の値。b の成長率の上限 35%、下限は無成長の PER(1/株主資本コスト)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 は需給エンジンの年度末の1株価値そのもの(エンジンの倍率をコンセンサス EPS に掛けない)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株主資本コスト 10.77% = 5.2% + 株主β 1.32 × 4.23%(資産β 1.00、D/E 0.40)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確率加重 251 ドル。弱気の確率を 50% に上げても 207 ドルで、株価を 45% 上回る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左: 弱気シナリオの確率と理論株価(強気:ベース = 1:2 を固定)。右: 単独の前提を動かしたときの理論株価(加重)の変化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需給エンジン第4.3版(calc/out/m8_fair.json・m8_extra.json)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34</a:t>
            </a:r>
            <a:endParaRPr lang="en-US" sz="800" dirty="0"/>
          </a:p>
        </p:txBody>
      </p:sp>
      <p:graphicFrame>
        <p:nvGraphicFramePr>
          <p:cNvPr id="6" name="chart" descr=""/>
          <p:cNvGraphicFramePr/>
          <p:nvPr/>
        </p:nvGraphicFramePr>
        <p:xfrm>
          <a:off x="457200" y="1508760"/>
          <a:ext cx="57607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note"/>
          <p:cNvSpPr txBox="1"/>
          <p:nvPr/>
        </p:nvSpPr>
        <p:spPr>
          <a:xfrm>
            <a:off x="457200" y="5760720"/>
            <a:ext cx="576072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株価 143.20 ドルに一致する弱気の確率は 72〜87%(定義により異なる)</a:t>
            </a:r>
            <a:endParaRPr lang="en-US" sz="950" dirty="0"/>
          </a:p>
        </p:txBody>
      </p:sp>
      <p:graphicFrame>
        <p:nvGraphicFramePr>
          <p:cNvPr id="35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554480"/>
          <a:ext cx="528523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33856"/>
                <a:gridCol w="1133856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前提(ベース → 変化)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下側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上側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同業 PER 23 倍 → 20 / 26 倍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−10.8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+10.8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PEG 1.0 → 0.8 / 1.2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−16.7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+16.7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EPS −10% / +10%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−17.2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+17.2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重み → FY27 末のみ / 均等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−25.6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+9.5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金利 → 6% 高止まり / 予測どおり低下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−8.8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+14.6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EPS をエンジンの値にする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−11.5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PEG の成長率から自社株買いの効果を除く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−3.6〜−10.0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ovl_takeaway_bg"/>
          <p:cNvSpPr/>
          <p:nvPr/>
        </p:nvSpPr>
        <p:spPr>
          <a:xfrm>
            <a:off x="6446520" y="4663440"/>
            <a:ext cx="5285232" cy="100584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0" name="takeaway"/>
          <p:cNvSpPr txBox="1"/>
          <p:nvPr/>
        </p:nvSpPr>
        <p:spPr>
          <a:xfrm>
            <a:off x="6556248" y="4736592"/>
            <a:ext cx="5065776" cy="8595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最も効くのは重み・EPS・PEG。どれを単独で動かしても理論株価は株価を 57% 以上上回る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経路の乖離は +61〜+77% で表上「買い」だが、争点の差分が未確立のため「買い検討」。株価は分割エントリー圏(136〜229 ドル)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構造評価 × 価格乖離の 2 軸マトリクス(valuation-model §4-1)、3 経路の乖離、非対称性、エントリー価格帯(scenario-strategy §6)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需給エンジン第4.3版(calc/out/m8_fair.json・m8_extra.json)、銘柄分析メソッド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35</a:t>
            </a:r>
            <a:endParaRPr lang="en-US" sz="800" dirty="0"/>
          </a:p>
        </p:txBody>
      </p:sp>
      <p:sp>
        <p:nvSpPr>
          <p:cNvPr id="6" name="mx_yt"/>
          <p:cNvSpPr txBox="1"/>
          <p:nvPr/>
        </p:nvSpPr>
        <p:spPr>
          <a:xfrm>
            <a:off x="457200" y="15544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構造評価</a:t>
            </a:r>
            <a:endParaRPr lang="en-US" sz="900" dirty="0"/>
          </a:p>
        </p:txBody>
      </p:sp>
      <p:sp>
        <p:nvSpPr>
          <p:cNvPr id="7" name="mx_x0"/>
          <p:cNvSpPr txBox="1"/>
          <p:nvPr/>
        </p:nvSpPr>
        <p:spPr>
          <a:xfrm>
            <a:off x="1463040" y="1554480"/>
            <a:ext cx="1257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+30% 以上</a:t>
            </a:r>
            <a:endParaRPr lang="en-US" sz="950" dirty="0"/>
          </a:p>
        </p:txBody>
      </p:sp>
      <p:sp>
        <p:nvSpPr>
          <p:cNvPr id="8" name="mx_x1"/>
          <p:cNvSpPr txBox="1"/>
          <p:nvPr/>
        </p:nvSpPr>
        <p:spPr>
          <a:xfrm>
            <a:off x="2720340" y="1554480"/>
            <a:ext cx="1257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+10〜30%</a:t>
            </a:r>
            <a:endParaRPr lang="en-US" sz="950" dirty="0"/>
          </a:p>
        </p:txBody>
      </p:sp>
      <p:sp>
        <p:nvSpPr>
          <p:cNvPr id="9" name="mx_x2"/>
          <p:cNvSpPr txBox="1"/>
          <p:nvPr/>
        </p:nvSpPr>
        <p:spPr>
          <a:xfrm>
            <a:off x="3977640" y="1554480"/>
            <a:ext cx="1257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−10〜+10%</a:t>
            </a:r>
            <a:endParaRPr lang="en-US" sz="950" dirty="0"/>
          </a:p>
        </p:txBody>
      </p:sp>
      <p:sp>
        <p:nvSpPr>
          <p:cNvPr id="10" name="mx_x3"/>
          <p:cNvSpPr txBox="1"/>
          <p:nvPr/>
        </p:nvSpPr>
        <p:spPr>
          <a:xfrm>
            <a:off x="5234940" y="1554480"/>
            <a:ext cx="1257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−10% 未満</a:t>
            </a:r>
            <a:endParaRPr lang="en-US" sz="950" dirty="0"/>
          </a:p>
        </p:txBody>
      </p:sp>
      <p:sp>
        <p:nvSpPr>
          <p:cNvPr id="11" name="mx_y0"/>
          <p:cNvSpPr txBox="1"/>
          <p:nvPr/>
        </p:nvSpPr>
        <p:spPr>
          <a:xfrm>
            <a:off x="457200" y="1920240"/>
            <a:ext cx="960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S・A</a:t>
            </a:r>
            <a:endParaRPr lang="en-US" sz="950" dirty="0"/>
          </a:p>
        </p:txBody>
      </p:sp>
      <p:sp>
        <p:nvSpPr>
          <p:cNvPr id="12" name="ovl_mx0_0"/>
          <p:cNvSpPr/>
          <p:nvPr/>
        </p:nvSpPr>
        <p:spPr>
          <a:xfrm>
            <a:off x="1463040" y="1920240"/>
            <a:ext cx="1220724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mx_t0_0"/>
          <p:cNvSpPr txBox="1"/>
          <p:nvPr/>
        </p:nvSpPr>
        <p:spPr>
          <a:xfrm>
            <a:off x="1508760" y="1947672"/>
            <a:ext cx="11292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買い</a:t>
            </a:r>
            <a:endParaRPr lang="en-US" sz="950" dirty="0"/>
          </a:p>
        </p:txBody>
      </p:sp>
      <p:sp>
        <p:nvSpPr>
          <p:cNvPr id="14" name="ovl_mx1_0"/>
          <p:cNvSpPr/>
          <p:nvPr/>
        </p:nvSpPr>
        <p:spPr>
          <a:xfrm>
            <a:off x="2720340" y="1920240"/>
            <a:ext cx="1220724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5" name="mx_t1_0"/>
          <p:cNvSpPr txBox="1"/>
          <p:nvPr/>
        </p:nvSpPr>
        <p:spPr>
          <a:xfrm>
            <a:off x="2766060" y="1947672"/>
            <a:ext cx="11292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買い</a:t>
            </a:r>
            <a:endParaRPr lang="en-US" sz="950" dirty="0"/>
          </a:p>
        </p:txBody>
      </p:sp>
      <p:sp>
        <p:nvSpPr>
          <p:cNvPr id="16" name="ovl_mx2_0"/>
          <p:cNvSpPr/>
          <p:nvPr/>
        </p:nvSpPr>
        <p:spPr>
          <a:xfrm>
            <a:off x="3977640" y="1920240"/>
            <a:ext cx="1220724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7" name="mx_t2_0"/>
          <p:cNvSpPr txBox="1"/>
          <p:nvPr/>
        </p:nvSpPr>
        <p:spPr>
          <a:xfrm>
            <a:off x="4023360" y="1947672"/>
            <a:ext cx="11292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買い検討</a:t>
            </a:r>
            <a:endParaRPr lang="en-US" sz="950" dirty="0"/>
          </a:p>
        </p:txBody>
      </p:sp>
      <p:sp>
        <p:nvSpPr>
          <p:cNvPr id="18" name="ovl_mx3_0"/>
          <p:cNvSpPr/>
          <p:nvPr/>
        </p:nvSpPr>
        <p:spPr>
          <a:xfrm>
            <a:off x="5234940" y="1920240"/>
            <a:ext cx="1220724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9" name="mx_t3_0"/>
          <p:cNvSpPr txBox="1"/>
          <p:nvPr/>
        </p:nvSpPr>
        <p:spPr>
          <a:xfrm>
            <a:off x="5280660" y="1947672"/>
            <a:ext cx="11292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監視</a:t>
            </a:r>
            <a:endParaRPr lang="en-US" sz="950" dirty="0"/>
          </a:p>
        </p:txBody>
      </p:sp>
      <p:sp>
        <p:nvSpPr>
          <p:cNvPr id="20" name="mx_y1"/>
          <p:cNvSpPr txBox="1"/>
          <p:nvPr/>
        </p:nvSpPr>
        <p:spPr>
          <a:xfrm>
            <a:off x="457200" y="2606040"/>
            <a:ext cx="960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</a:t>
            </a:r>
            <a:endParaRPr lang="en-US" sz="950" dirty="0"/>
          </a:p>
        </p:txBody>
      </p:sp>
      <p:sp>
        <p:nvSpPr>
          <p:cNvPr id="21" name="ovl_mx0_1"/>
          <p:cNvSpPr/>
          <p:nvPr/>
        </p:nvSpPr>
        <p:spPr>
          <a:xfrm>
            <a:off x="1463040" y="2606040"/>
            <a:ext cx="1220724" cy="649224"/>
          </a:xfrm>
          <a:prstGeom prst="rect">
            <a:avLst/>
          </a:prstGeom>
          <a:solidFill>
            <a:srgbClr val="197A56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2" name="mx_t0_1"/>
          <p:cNvSpPr txBox="1"/>
          <p:nvPr/>
        </p:nvSpPr>
        <p:spPr>
          <a:xfrm>
            <a:off x="1508760" y="2633472"/>
            <a:ext cx="11292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買い</a:t>
            </a:r>
            <a:endParaRPr lang="en-US" sz="950" dirty="0"/>
          </a:p>
        </p:txBody>
      </p:sp>
      <p:sp>
        <p:nvSpPr>
          <p:cNvPr id="23" name="ovl_mx1_1"/>
          <p:cNvSpPr/>
          <p:nvPr/>
        </p:nvSpPr>
        <p:spPr>
          <a:xfrm>
            <a:off x="2720340" y="2606040"/>
            <a:ext cx="1220724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4" name="mx_t1_1"/>
          <p:cNvSpPr txBox="1"/>
          <p:nvPr/>
        </p:nvSpPr>
        <p:spPr>
          <a:xfrm>
            <a:off x="2766060" y="2633472"/>
            <a:ext cx="11292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買い検討</a:t>
            </a:r>
            <a:endParaRPr lang="en-US" sz="950" dirty="0"/>
          </a:p>
        </p:txBody>
      </p:sp>
      <p:sp>
        <p:nvSpPr>
          <p:cNvPr id="25" name="ovl_mx2_1"/>
          <p:cNvSpPr/>
          <p:nvPr/>
        </p:nvSpPr>
        <p:spPr>
          <a:xfrm>
            <a:off x="3977640" y="2606040"/>
            <a:ext cx="1220724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6" name="mx_t2_1"/>
          <p:cNvSpPr txBox="1"/>
          <p:nvPr/>
        </p:nvSpPr>
        <p:spPr>
          <a:xfrm>
            <a:off x="4023360" y="2633472"/>
            <a:ext cx="11292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監視</a:t>
            </a:r>
            <a:endParaRPr lang="en-US" sz="950" dirty="0"/>
          </a:p>
        </p:txBody>
      </p:sp>
      <p:sp>
        <p:nvSpPr>
          <p:cNvPr id="27" name="ovl_mx3_1"/>
          <p:cNvSpPr/>
          <p:nvPr/>
        </p:nvSpPr>
        <p:spPr>
          <a:xfrm>
            <a:off x="5234940" y="2606040"/>
            <a:ext cx="1220724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8" name="mx_t3_1"/>
          <p:cNvSpPr txBox="1"/>
          <p:nvPr/>
        </p:nvSpPr>
        <p:spPr>
          <a:xfrm>
            <a:off x="5280660" y="2633472"/>
            <a:ext cx="11292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見送り</a:t>
            </a:r>
            <a:endParaRPr lang="en-US" sz="950" dirty="0"/>
          </a:p>
        </p:txBody>
      </p:sp>
      <p:sp>
        <p:nvSpPr>
          <p:cNvPr id="29" name="mx_y2"/>
          <p:cNvSpPr txBox="1"/>
          <p:nvPr/>
        </p:nvSpPr>
        <p:spPr>
          <a:xfrm>
            <a:off x="457200" y="3291840"/>
            <a:ext cx="960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</a:t>
            </a:r>
            <a:endParaRPr lang="en-US" sz="950" dirty="0"/>
          </a:p>
        </p:txBody>
      </p:sp>
      <p:sp>
        <p:nvSpPr>
          <p:cNvPr id="30" name="ovl_mx0_2"/>
          <p:cNvSpPr/>
          <p:nvPr/>
        </p:nvSpPr>
        <p:spPr>
          <a:xfrm>
            <a:off x="1463040" y="3291840"/>
            <a:ext cx="1220724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1" name="mx_t0_2"/>
          <p:cNvSpPr txBox="1"/>
          <p:nvPr/>
        </p:nvSpPr>
        <p:spPr>
          <a:xfrm>
            <a:off x="1508760" y="3319272"/>
            <a:ext cx="11292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買い検討</a:t>
            </a:r>
            <a:endParaRPr lang="en-US" sz="950" dirty="0"/>
          </a:p>
        </p:txBody>
      </p:sp>
      <p:sp>
        <p:nvSpPr>
          <p:cNvPr id="32" name="ovl_mx1_2"/>
          <p:cNvSpPr/>
          <p:nvPr/>
        </p:nvSpPr>
        <p:spPr>
          <a:xfrm>
            <a:off x="2720340" y="3291840"/>
            <a:ext cx="1220724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3" name="mx_t1_2"/>
          <p:cNvSpPr txBox="1"/>
          <p:nvPr/>
        </p:nvSpPr>
        <p:spPr>
          <a:xfrm>
            <a:off x="2766060" y="3319272"/>
            <a:ext cx="11292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監視</a:t>
            </a:r>
            <a:endParaRPr lang="en-US" sz="950" dirty="0"/>
          </a:p>
        </p:txBody>
      </p:sp>
      <p:sp>
        <p:nvSpPr>
          <p:cNvPr id="34" name="ovl_mx2_2"/>
          <p:cNvSpPr/>
          <p:nvPr/>
        </p:nvSpPr>
        <p:spPr>
          <a:xfrm>
            <a:off x="3977640" y="3291840"/>
            <a:ext cx="1220724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5" name="mx_t2_2"/>
          <p:cNvSpPr txBox="1"/>
          <p:nvPr/>
        </p:nvSpPr>
        <p:spPr>
          <a:xfrm>
            <a:off x="4023360" y="3319272"/>
            <a:ext cx="11292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監視</a:t>
            </a:r>
            <a:endParaRPr lang="en-US" sz="950" dirty="0"/>
          </a:p>
        </p:txBody>
      </p:sp>
      <p:sp>
        <p:nvSpPr>
          <p:cNvPr id="36" name="ovl_mx3_2"/>
          <p:cNvSpPr/>
          <p:nvPr/>
        </p:nvSpPr>
        <p:spPr>
          <a:xfrm>
            <a:off x="5234940" y="3291840"/>
            <a:ext cx="1220724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7" name="mx_t3_2"/>
          <p:cNvSpPr txBox="1"/>
          <p:nvPr/>
        </p:nvSpPr>
        <p:spPr>
          <a:xfrm>
            <a:off x="5280660" y="3319272"/>
            <a:ext cx="11292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見送り</a:t>
            </a:r>
            <a:endParaRPr lang="en-US" sz="950" dirty="0"/>
          </a:p>
        </p:txBody>
      </p:sp>
      <p:sp>
        <p:nvSpPr>
          <p:cNvPr id="38" name="mx_y3"/>
          <p:cNvSpPr txBox="1"/>
          <p:nvPr/>
        </p:nvSpPr>
        <p:spPr>
          <a:xfrm>
            <a:off x="457200" y="3977640"/>
            <a:ext cx="960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 以下</a:t>
            </a:r>
            <a:endParaRPr lang="en-US" sz="950" dirty="0"/>
          </a:p>
        </p:txBody>
      </p:sp>
      <p:sp>
        <p:nvSpPr>
          <p:cNvPr id="39" name="ovl_mx0_3"/>
          <p:cNvSpPr/>
          <p:nvPr/>
        </p:nvSpPr>
        <p:spPr>
          <a:xfrm>
            <a:off x="1463040" y="3977640"/>
            <a:ext cx="1220724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0" name="mx_t0_3"/>
          <p:cNvSpPr txBox="1"/>
          <p:nvPr/>
        </p:nvSpPr>
        <p:spPr>
          <a:xfrm>
            <a:off x="1508760" y="4005072"/>
            <a:ext cx="11292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見送り</a:t>
            </a:r>
            <a:endParaRPr lang="en-US" sz="950" dirty="0"/>
          </a:p>
        </p:txBody>
      </p:sp>
      <p:sp>
        <p:nvSpPr>
          <p:cNvPr id="41" name="ovl_mx1_3"/>
          <p:cNvSpPr/>
          <p:nvPr/>
        </p:nvSpPr>
        <p:spPr>
          <a:xfrm>
            <a:off x="2720340" y="3977640"/>
            <a:ext cx="1220724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2" name="mx_t1_3"/>
          <p:cNvSpPr txBox="1"/>
          <p:nvPr/>
        </p:nvSpPr>
        <p:spPr>
          <a:xfrm>
            <a:off x="2766060" y="4005072"/>
            <a:ext cx="11292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見送り</a:t>
            </a:r>
            <a:endParaRPr lang="en-US" sz="950" dirty="0"/>
          </a:p>
        </p:txBody>
      </p:sp>
      <p:sp>
        <p:nvSpPr>
          <p:cNvPr id="43" name="ovl_mx2_3"/>
          <p:cNvSpPr/>
          <p:nvPr/>
        </p:nvSpPr>
        <p:spPr>
          <a:xfrm>
            <a:off x="3977640" y="3977640"/>
            <a:ext cx="1220724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4" name="mx_t2_3"/>
          <p:cNvSpPr txBox="1"/>
          <p:nvPr/>
        </p:nvSpPr>
        <p:spPr>
          <a:xfrm>
            <a:off x="4023360" y="4005072"/>
            <a:ext cx="11292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見送り</a:t>
            </a:r>
            <a:endParaRPr lang="en-US" sz="950" dirty="0"/>
          </a:p>
        </p:txBody>
      </p:sp>
      <p:sp>
        <p:nvSpPr>
          <p:cNvPr id="45" name="ovl_mx3_3"/>
          <p:cNvSpPr/>
          <p:nvPr/>
        </p:nvSpPr>
        <p:spPr>
          <a:xfrm>
            <a:off x="5234940" y="3977640"/>
            <a:ext cx="1220724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6" name="mx_t3_3"/>
          <p:cNvSpPr txBox="1"/>
          <p:nvPr/>
        </p:nvSpPr>
        <p:spPr>
          <a:xfrm>
            <a:off x="5280660" y="4005072"/>
            <a:ext cx="11292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見送り</a:t>
            </a:r>
            <a:endParaRPr lang="en-US" sz="950" dirty="0"/>
          </a:p>
        </p:txBody>
      </p:sp>
      <p:sp>
        <p:nvSpPr>
          <p:cNvPr id="47" name="mx_xt"/>
          <p:cNvSpPr txBox="1"/>
          <p:nvPr/>
        </p:nvSpPr>
        <p:spPr>
          <a:xfrm>
            <a:off x="1463040" y="468172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価格乖離(採用経路の理論株価 ÷ 株価 − 1)</a:t>
            </a:r>
            <a:endParaRPr lang="en-US" sz="900" dirty="0"/>
          </a:p>
        </p:txBody>
      </p:sp>
      <p:sp>
        <p:nvSpPr>
          <p:cNvPr id="48" name="ovl_takeaway_bg"/>
          <p:cNvSpPr/>
          <p:nvPr/>
        </p:nvSpPr>
        <p:spPr>
          <a:xfrm>
            <a:off x="457200" y="5010912"/>
            <a:ext cx="6035040" cy="73152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49" name="takeaway"/>
          <p:cNvSpPr txBox="1"/>
          <p:nvPr/>
        </p:nvSpPr>
        <p:spPr>
          <a:xfrm>
            <a:off x="566928" y="5084064"/>
            <a:ext cx="5815584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表上は「買い」。市場との差分(FY29 の FCF・OpenAI)が確立していないため、規則により「買い検討」を上限とする</a:t>
            </a:r>
            <a:endParaRPr lang="en-US" sz="1100" dirty="0"/>
          </a:p>
        </p:txBody>
      </p:sp>
      <p:graphicFrame>
        <p:nvGraphicFramePr>
          <p:cNvPr id="36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554480"/>
          <a:ext cx="501091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371600"/>
                <a:gridCol w="1444752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経路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理論株価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乖離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コンセンサス(採用)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251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+75%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会社シナリオ(FY30 EPS 21)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254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+77%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需給エンジンの EPS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+67%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DCF(照合)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+61%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1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3291840"/>
          <a:ext cx="501091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371600"/>
                <a:gridCol w="1444752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非対称性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理論株価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DCF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下値(弱気)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121(−16%)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92(−36%)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上値(強気)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359(+150%)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392(+173%)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2" name="bullets"/>
          <p:cNvSpPr txBox="1"/>
          <p:nvPr/>
        </p:nvSpPr>
        <p:spPr>
          <a:xfrm>
            <a:off x="6720840" y="4343400"/>
            <a:ext cx="5010912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α 25%(構造 B の上端。争点が未解決のため)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即エントリー上限 Z1 = min(261×0.75, 121×1.125)= 136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分割エントリー上限 Z2 = 261×0.875 = 229 → 株価 143.20 は分割エントリー圏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差分が確立するまで即エントリー圏は設けない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最大のリスクは OpenAI の支払能力と FY29 の格下げで、どちらも 12 月〜3 月の開示に兆候が出る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左: 発生確率 × 影響(本体評価に組み込んだリスクとテールリスク)。右: 兆候とトリガー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report/ORCL_report.md §12-2(テールリスクの確率は 3 年)、本資料 第3章の監視 KPI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36</a:t>
            </a:r>
            <a:endParaRPr lang="en-US" sz="800" dirty="0"/>
          </a:p>
        </p:txBody>
      </p:sp>
      <p:sp>
        <p:nvSpPr>
          <p:cNvPr id="6" name="mx_yt"/>
          <p:cNvSpPr txBox="1"/>
          <p:nvPr/>
        </p:nvSpPr>
        <p:spPr>
          <a:xfrm>
            <a:off x="457200" y="15544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発生確率</a:t>
            </a:r>
            <a:endParaRPr lang="en-US" sz="900" dirty="0"/>
          </a:p>
        </p:txBody>
      </p:sp>
      <p:sp>
        <p:nvSpPr>
          <p:cNvPr id="7" name="mx_x0"/>
          <p:cNvSpPr txBox="1"/>
          <p:nvPr/>
        </p:nvSpPr>
        <p:spPr>
          <a:xfrm>
            <a:off x="1463040" y="1554480"/>
            <a:ext cx="161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影響 中</a:t>
            </a:r>
            <a:endParaRPr lang="en-US" sz="950" dirty="0"/>
          </a:p>
        </p:txBody>
      </p:sp>
      <p:sp>
        <p:nvSpPr>
          <p:cNvPr id="8" name="mx_x1"/>
          <p:cNvSpPr txBox="1"/>
          <p:nvPr/>
        </p:nvSpPr>
        <p:spPr>
          <a:xfrm>
            <a:off x="3078480" y="1554480"/>
            <a:ext cx="161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影響 大</a:t>
            </a:r>
            <a:endParaRPr lang="en-US" sz="950" dirty="0"/>
          </a:p>
        </p:txBody>
      </p:sp>
      <p:sp>
        <p:nvSpPr>
          <p:cNvPr id="9" name="mx_x2"/>
          <p:cNvSpPr txBox="1"/>
          <p:nvPr/>
        </p:nvSpPr>
        <p:spPr>
          <a:xfrm>
            <a:off x="4693920" y="1554480"/>
            <a:ext cx="161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影響 極大</a:t>
            </a:r>
            <a:endParaRPr lang="en-US" sz="950" dirty="0"/>
          </a:p>
        </p:txBody>
      </p:sp>
      <p:sp>
        <p:nvSpPr>
          <p:cNvPr id="10" name="mx_y0"/>
          <p:cNvSpPr txBox="1"/>
          <p:nvPr/>
        </p:nvSpPr>
        <p:spPr>
          <a:xfrm>
            <a:off x="457200" y="1920240"/>
            <a:ext cx="960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確率 中(本体に組込み)</a:t>
            </a:r>
            <a:endParaRPr lang="en-US" sz="950" dirty="0"/>
          </a:p>
        </p:txBody>
      </p:sp>
      <p:sp>
        <p:nvSpPr>
          <p:cNvPr id="11" name="ovl_mx0_0"/>
          <p:cNvSpPr/>
          <p:nvPr/>
        </p:nvSpPr>
        <p:spPr>
          <a:xfrm>
            <a:off x="1463040" y="1920240"/>
            <a:ext cx="1578864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2" name="mx_t0_0"/>
          <p:cNvSpPr txBox="1"/>
          <p:nvPr/>
        </p:nvSpPr>
        <p:spPr>
          <a:xfrm>
            <a:off x="1508760" y="1947672"/>
            <a:ext cx="14874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FY29 の格下げ・電力と拠点の遅延・資金調達と希薄化</a:t>
            </a:r>
            <a:endParaRPr lang="en-US" sz="950" dirty="0"/>
          </a:p>
        </p:txBody>
      </p:sp>
      <p:sp>
        <p:nvSpPr>
          <p:cNvPr id="13" name="ovl_mx1_0"/>
          <p:cNvSpPr/>
          <p:nvPr/>
        </p:nvSpPr>
        <p:spPr>
          <a:xfrm>
            <a:off x="3078480" y="1920240"/>
            <a:ext cx="1578864" cy="1426464"/>
          </a:xfrm>
          <a:prstGeom prst="rect">
            <a:avLst/>
          </a:prstGeom>
          <a:solidFill>
            <a:srgbClr val="197A56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4" name="mx_t1_0"/>
          <p:cNvSpPr txBox="1"/>
          <p:nvPr/>
        </p:nvSpPr>
        <p:spPr>
          <a:xfrm>
            <a:off x="3124200" y="1947672"/>
            <a:ext cx="14874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OpenAI の支払能力・GPU の陳腐化と単価下落</a:t>
            </a:r>
            <a:endParaRPr lang="en-US" sz="950" dirty="0"/>
          </a:p>
        </p:txBody>
      </p:sp>
      <p:sp>
        <p:nvSpPr>
          <p:cNvPr id="15" name="ovl_mx2_0"/>
          <p:cNvSpPr/>
          <p:nvPr/>
        </p:nvSpPr>
        <p:spPr>
          <a:xfrm>
            <a:off x="4693920" y="1920240"/>
            <a:ext cx="1578864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6" name="mx_t2_0"/>
          <p:cNvSpPr txBox="1"/>
          <p:nvPr/>
        </p:nvSpPr>
        <p:spPr>
          <a:xfrm>
            <a:off x="4739640" y="1947672"/>
            <a:ext cx="14874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—</a:t>
            </a:r>
            <a:endParaRPr lang="en-US" sz="950" dirty="0"/>
          </a:p>
        </p:txBody>
      </p:sp>
      <p:sp>
        <p:nvSpPr>
          <p:cNvPr id="17" name="mx_y1"/>
          <p:cNvSpPr txBox="1"/>
          <p:nvPr/>
        </p:nvSpPr>
        <p:spPr>
          <a:xfrm>
            <a:off x="457200" y="3383280"/>
            <a:ext cx="960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確率 低(テール 3 年で 5〜10%)</a:t>
            </a:r>
            <a:endParaRPr lang="en-US" sz="950" dirty="0"/>
          </a:p>
        </p:txBody>
      </p:sp>
      <p:sp>
        <p:nvSpPr>
          <p:cNvPr id="18" name="ovl_mx0_1"/>
          <p:cNvSpPr/>
          <p:nvPr/>
        </p:nvSpPr>
        <p:spPr>
          <a:xfrm>
            <a:off x="1463040" y="3383280"/>
            <a:ext cx="1578864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9" name="mx_t0_1"/>
          <p:cNvSpPr txBox="1"/>
          <p:nvPr/>
        </p:nvSpPr>
        <p:spPr>
          <a:xfrm>
            <a:off x="1508760" y="3410712"/>
            <a:ext cx="14874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キーパーソン(5%)</a:t>
            </a:r>
            <a:endParaRPr lang="en-US" sz="950" dirty="0"/>
          </a:p>
        </p:txBody>
      </p:sp>
      <p:sp>
        <p:nvSpPr>
          <p:cNvPr id="20" name="ovl_mx1_1"/>
          <p:cNvSpPr/>
          <p:nvPr/>
        </p:nvSpPr>
        <p:spPr>
          <a:xfrm>
            <a:off x="3078480" y="3383280"/>
            <a:ext cx="1578864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1" name="mx_t1_1"/>
          <p:cNvSpPr txBox="1"/>
          <p:nvPr/>
        </p:nvSpPr>
        <p:spPr>
          <a:xfrm>
            <a:off x="3124200" y="3410712"/>
            <a:ext cx="14874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電力規制(5〜10%)・地政学(5%)</a:t>
            </a:r>
            <a:endParaRPr lang="en-US" sz="950" dirty="0"/>
          </a:p>
        </p:txBody>
      </p:sp>
      <p:sp>
        <p:nvSpPr>
          <p:cNvPr id="22" name="ovl_mx2_1"/>
          <p:cNvSpPr/>
          <p:nvPr/>
        </p:nvSpPr>
        <p:spPr>
          <a:xfrm>
            <a:off x="4693920" y="3383280"/>
            <a:ext cx="1578864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3" name="mx_t2_1"/>
          <p:cNvSpPr txBox="1"/>
          <p:nvPr/>
        </p:nvSpPr>
        <p:spPr>
          <a:xfrm>
            <a:off x="4739640" y="3410712"/>
            <a:ext cx="14874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 投資の全面的な逆回転(10%)</a:t>
            </a:r>
            <a:endParaRPr lang="en-US" sz="950" dirty="0"/>
          </a:p>
        </p:txBody>
      </p:sp>
      <p:sp>
        <p:nvSpPr>
          <p:cNvPr id="24" name="mx_xt"/>
          <p:cNvSpPr txBox="1"/>
          <p:nvPr/>
        </p:nvSpPr>
        <p:spPr>
          <a:xfrm>
            <a:off x="1463040" y="4864608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株価値への影響</a:t>
            </a:r>
            <a:endParaRPr lang="en-US" sz="900" dirty="0"/>
          </a:p>
        </p:txBody>
      </p:sp>
      <p:sp>
        <p:nvSpPr>
          <p:cNvPr id="25" name="ovl_takeaway_bg"/>
          <p:cNvSpPr/>
          <p:nvPr/>
        </p:nvSpPr>
        <p:spPr>
          <a:xfrm>
            <a:off x="457200" y="5120640"/>
            <a:ext cx="5852160" cy="96012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26" name="takeaway"/>
          <p:cNvSpPr txBox="1"/>
          <p:nvPr/>
        </p:nvSpPr>
        <p:spPr>
          <a:xfrm>
            <a:off x="566928" y="5193792"/>
            <a:ext cx="5632704" cy="8138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テールは本体評価から分けたが無視しない。AI 投資の逆回転で −50% になっても許容できる大きさに建玉を抑える</a:t>
            </a:r>
            <a:endParaRPr lang="en-US" sz="1100" dirty="0"/>
          </a:p>
        </p:txBody>
      </p:sp>
      <p:graphicFrame>
        <p:nvGraphicFramePr>
          <p:cNvPr id="37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1554480"/>
          <a:ext cx="5193792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2468880"/>
                <a:gridCol w="121615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リスク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兆候・トリガー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確認の時期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OpenAI の支払能力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契約変更・支払遅延の報道、受注残の OpenAI 比率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 月・2027 前半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FY29 の格下げ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四半期 FCF、S&amp;P の見通し、CDS 300bp 超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毎四半期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GPU の陳腐化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更新プレミアム 0% 以下、H100 1 年契約 2.00 ドル未満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毎四半期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電力・拠点の遅延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納入 0.8GW/四半期 未満が 2 期、NM のガス管(2027-02)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毎四半期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 投資の逆回転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OpenAI のダウンラウンド、大手の capex 引き下げ、H100 指数 1.5 ドル未満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随時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エントリー期は分割で建て、検証期に判別 KPI を 2 四半期確かめ、合格すれば本格保有期に移る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時系列投資戦略(4 フェーズ)。判別 KPI は第3章の監視 KPI と共通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銘柄分析メソッド scenario-strategy §7、本資料 第3章・最終判断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37</a:t>
            </a:r>
            <a:endParaRPr lang="en-US" sz="800" dirty="0"/>
          </a:p>
        </p:txBody>
      </p:sp>
      <p:sp>
        <p:nvSpPr>
          <p:cNvPr id="6" name="ovl_chev0"/>
          <p:cNvSpPr/>
          <p:nvPr/>
        </p:nvSpPr>
        <p:spPr>
          <a:xfrm>
            <a:off x="457200" y="1554480"/>
            <a:ext cx="2743200" cy="640080"/>
          </a:xfrm>
          <a:prstGeom prst="chevron">
            <a:avLst/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7" name="ovl_chev_t0"/>
          <p:cNvSpPr txBox="1"/>
          <p:nvPr/>
        </p:nvSpPr>
        <p:spPr>
          <a:xfrm>
            <a:off x="457200" y="15544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エントリー期</a:t>
            </a:r>
            <a:endParaRPr lang="en-US" sz="1200" dirty="0"/>
          </a:p>
        </p:txBody>
      </p:sp>
      <p:sp>
        <p:nvSpPr>
          <p:cNvPr id="8" name="ovl_chev1"/>
          <p:cNvSpPr/>
          <p:nvPr/>
        </p:nvSpPr>
        <p:spPr>
          <a:xfrm>
            <a:off x="3108960" y="1554480"/>
            <a:ext cx="2743200" cy="640080"/>
          </a:xfrm>
          <a:prstGeom prst="chevron">
            <a:avLst/>
          </a:prstGeom>
          <a:solidFill>
            <a:srgbClr val="197A56"/>
          </a:solidFill>
          <a:ln w="12700">
            <a:solidFill>
              <a:srgbClr val="197A56"/>
            </a:solidFill>
            <a:prstDash val="solid"/>
          </a:ln>
        </p:spPr>
      </p:sp>
      <p:sp>
        <p:nvSpPr>
          <p:cNvPr id="9" name="ovl_chev_t1"/>
          <p:cNvSpPr txBox="1"/>
          <p:nvPr/>
        </p:nvSpPr>
        <p:spPr>
          <a:xfrm>
            <a:off x="3108960" y="15544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検証期</a:t>
            </a:r>
            <a:endParaRPr lang="en-US" sz="1200" dirty="0"/>
          </a:p>
        </p:txBody>
      </p:sp>
      <p:sp>
        <p:nvSpPr>
          <p:cNvPr id="10" name="ovl_chev2"/>
          <p:cNvSpPr/>
          <p:nvPr/>
        </p:nvSpPr>
        <p:spPr>
          <a:xfrm>
            <a:off x="5760720" y="1554480"/>
            <a:ext cx="2743200" cy="640080"/>
          </a:xfrm>
          <a:prstGeom prst="chevron">
            <a:avLst/>
          </a:prstGeom>
          <a:solidFill>
            <a:srgbClr val="86C99B"/>
          </a:solidFill>
          <a:ln w="12700">
            <a:solidFill>
              <a:srgbClr val="86C99B"/>
            </a:solidFill>
            <a:prstDash val="solid"/>
          </a:ln>
        </p:spPr>
      </p:sp>
      <p:sp>
        <p:nvSpPr>
          <p:cNvPr id="11" name="ovl_chev_t2"/>
          <p:cNvSpPr txBox="1"/>
          <p:nvPr/>
        </p:nvSpPr>
        <p:spPr>
          <a:xfrm>
            <a:off x="5760720" y="15544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本格保有期</a:t>
            </a:r>
            <a:endParaRPr lang="en-US" sz="1200" dirty="0"/>
          </a:p>
        </p:txBody>
      </p:sp>
      <p:sp>
        <p:nvSpPr>
          <p:cNvPr id="12" name="ovl_chev3"/>
          <p:cNvSpPr/>
          <p:nvPr/>
        </p:nvSpPr>
        <p:spPr>
          <a:xfrm>
            <a:off x="8412480" y="1554480"/>
            <a:ext cx="2743200" cy="640080"/>
          </a:xfrm>
          <a:prstGeom prst="chevron">
            <a:avLst/>
          </a:prstGeom>
          <a:solidFill>
            <a:srgbClr val="1BA1A6"/>
          </a:solidFill>
          <a:ln w="12700">
            <a:solidFill>
              <a:srgbClr val="1BA1A6"/>
            </a:solidFill>
            <a:prstDash val="solid"/>
          </a:ln>
        </p:spPr>
      </p:sp>
      <p:sp>
        <p:nvSpPr>
          <p:cNvPr id="13" name="ovl_chev_t3"/>
          <p:cNvSpPr txBox="1"/>
          <p:nvPr/>
        </p:nvSpPr>
        <p:spPr>
          <a:xfrm>
            <a:off x="8412480" y="15544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再評価期</a:t>
            </a:r>
            <a:endParaRPr lang="en-US" sz="1200" dirty="0"/>
          </a:p>
        </p:txBody>
      </p:sp>
      <p:graphicFrame>
        <p:nvGraphicFramePr>
          <p:cNvPr id="38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11274552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487168"/>
                <a:gridCol w="2487168"/>
                <a:gridCol w="2487168"/>
                <a:gridCol w="2487168"/>
              </a:tblGrid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エントリー期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検証期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本格保有期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再評価期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期間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今から 1〜2 四半期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2〜4 四半期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FY29 の格付け通過と FY30 の FCF 反転の後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株価が理論株価に近づいた後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やること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分割エントリー圏(136〜229 ドル)で 3 回に分けて建てる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判別 KPI を四半期ごとに確かめる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確度に応じて増やす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新しい差分を探し、なければ縮小する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確認 KPI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Q2 FY27 の納入・FCF・受注残の構成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納入 1GW/四半期以上、36 か月比率 50% 以上、CDS 200bp 未満、OpenAI 比率 40% 未満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FCF 黒字の継続、AI 粗利率 35% 以上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PEG 1.0 以上、コンセンサスとの差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撤退条件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OpenAI の契約変更、FY29 より前の BB+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合格ラインを 2 四半期続けて下回り、一時要因で説明できない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OpenAI の支払いの破綻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差分の消失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5" name="ovl_takeaway_bg"/>
          <p:cNvSpPr/>
          <p:nvPr/>
        </p:nvSpPr>
        <p:spPr>
          <a:xfrm>
            <a:off x="457200" y="5440680"/>
            <a:ext cx="11274552" cy="640080"/>
          </a:xfrm>
          <a:prstGeom prst="rect">
            <a:avLst/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6" name="takeaway"/>
          <p:cNvSpPr txBox="1"/>
          <p:nvPr/>
        </p:nvSpPr>
        <p:spPr>
          <a:xfrm>
            <a:off x="566928" y="5513832"/>
            <a:ext cx="11055096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判別 KPI のうち 2 つ以上を満たしたら差分が確立したとみなし、「買い」に引き上げて即エントリー圏(136 ドル以下)を有効にする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評価の事実は「構造 B・価格 1.75 倍・差分未確立」で、行動は「分割で建て、KPI で差分を確かめる」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左: 分析結果のサマリ(事実)。右: 示唆とネクストアクション(左の行と対応)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本資料の各章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38</a:t>
            </a:r>
            <a:endParaRPr lang="en-US" sz="800" dirty="0"/>
          </a:p>
        </p:txBody>
      </p:sp>
      <p:sp>
        <p:nvSpPr>
          <p:cNvPr id="6" name="pane_head"/>
          <p:cNvSpPr txBox="1"/>
          <p:nvPr/>
        </p:nvSpPr>
        <p:spPr>
          <a:xfrm>
            <a:off x="457200" y="1481328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分析結果のサマリ</a:t>
            </a:r>
            <a:endParaRPr lang="en-US" sz="1200" dirty="0"/>
          </a:p>
        </p:txBody>
      </p:sp>
      <p:sp>
        <p:nvSpPr>
          <p:cNvPr id="7" name="pane_head"/>
          <p:cNvSpPr txBox="1"/>
          <p:nvPr/>
        </p:nvSpPr>
        <p:spPr>
          <a:xfrm>
            <a:off x="6199632" y="1481328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示唆・ネクストアクション</a:t>
            </a:r>
            <a:endParaRPr lang="en-US" sz="1200" dirty="0"/>
          </a:p>
        </p:txBody>
      </p:sp>
      <p:sp>
        <p:nvSpPr>
          <p:cNvPr id="8" name="ovl_sum0"/>
          <p:cNvSpPr/>
          <p:nvPr/>
        </p:nvSpPr>
        <p:spPr>
          <a:xfrm>
            <a:off x="457200" y="1874520"/>
            <a:ext cx="553212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sum_t0"/>
          <p:cNvSpPr txBox="1"/>
          <p:nvPr/>
        </p:nvSpPr>
        <p:spPr>
          <a:xfrm>
            <a:off x="566928" y="1947672"/>
            <a:ext cx="5312664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構造評価 B(S1・A2・B8・C2)。弱点は条件7・8</a:t>
            </a:r>
            <a:endParaRPr lang="en-US" sz="1050" dirty="0"/>
          </a:p>
        </p:txBody>
      </p:sp>
      <p:sp>
        <p:nvSpPr>
          <p:cNvPr id="10" name="ovl_imp0"/>
          <p:cNvSpPr/>
          <p:nvPr/>
        </p:nvSpPr>
        <p:spPr>
          <a:xfrm>
            <a:off x="6199632" y="1874520"/>
            <a:ext cx="5532120" cy="749808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11" name="imp_t0"/>
          <p:cNvSpPr txBox="1"/>
          <p:nvPr/>
        </p:nvSpPr>
        <p:spPr>
          <a:xfrm>
            <a:off x="6309360" y="1947672"/>
            <a:ext cx="5312664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判断は「買い検討」。株価 143.20 ドルは分割エントリー圏(136〜229 ドル)</a:t>
            </a:r>
            <a:endParaRPr lang="en-US" sz="1050" dirty="0"/>
          </a:p>
        </p:txBody>
      </p:sp>
      <p:sp>
        <p:nvSpPr>
          <p:cNvPr id="12" name="ovl_sum1"/>
          <p:cNvSpPr/>
          <p:nvPr/>
        </p:nvSpPr>
        <p:spPr>
          <a:xfrm>
            <a:off x="457200" y="2715768"/>
            <a:ext cx="553212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sum_t1"/>
          <p:cNvSpPr txBox="1"/>
          <p:nvPr/>
        </p:nvSpPr>
        <p:spPr>
          <a:xfrm>
            <a:off x="566928" y="2788920"/>
            <a:ext cx="5312664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理論株価 251 ドル(株価の 1.75 倍)。3 経路の乖離は +61〜+77%</a:t>
            </a:r>
            <a:endParaRPr lang="en-US" sz="1050" dirty="0"/>
          </a:p>
        </p:txBody>
      </p:sp>
      <p:sp>
        <p:nvSpPr>
          <p:cNvPr id="14" name="ovl_imp1"/>
          <p:cNvSpPr/>
          <p:nvPr/>
        </p:nvSpPr>
        <p:spPr>
          <a:xfrm>
            <a:off x="6199632" y="2715768"/>
            <a:ext cx="5532120" cy="749808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15" name="imp_t1"/>
          <p:cNvSpPr txBox="1"/>
          <p:nvPr/>
        </p:nvSpPr>
        <p:spPr>
          <a:xfrm>
            <a:off x="6309360" y="2788920"/>
            <a:ext cx="5312664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回に分けて建て、AI 投資の逆回転で −50% でも許容できる大きさに抑える</a:t>
            </a:r>
            <a:endParaRPr lang="en-US" sz="1050" dirty="0"/>
          </a:p>
        </p:txBody>
      </p:sp>
      <p:sp>
        <p:nvSpPr>
          <p:cNvPr id="16" name="ovl_sum2"/>
          <p:cNvSpPr/>
          <p:nvPr/>
        </p:nvSpPr>
        <p:spPr>
          <a:xfrm>
            <a:off x="457200" y="3557016"/>
            <a:ext cx="553212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7" name="sum_t2"/>
          <p:cNvSpPr txBox="1"/>
          <p:nvPr/>
        </p:nvSpPr>
        <p:spPr>
          <a:xfrm>
            <a:off x="566928" y="3630168"/>
            <a:ext cx="5312664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下値 −16%(DCF では −36%)、上値 +150%</a:t>
            </a:r>
            <a:endParaRPr lang="en-US" sz="1050" dirty="0"/>
          </a:p>
        </p:txBody>
      </p:sp>
      <p:sp>
        <p:nvSpPr>
          <p:cNvPr id="18" name="ovl_imp2"/>
          <p:cNvSpPr/>
          <p:nvPr/>
        </p:nvSpPr>
        <p:spPr>
          <a:xfrm>
            <a:off x="6199632" y="3557016"/>
            <a:ext cx="5532120" cy="749808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19" name="imp_t2"/>
          <p:cNvSpPr txBox="1"/>
          <p:nvPr/>
        </p:nvSpPr>
        <p:spPr>
          <a:xfrm>
            <a:off x="6309360" y="3630168"/>
            <a:ext cx="5312664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下値は DCF の −36% を前提に建玉を決める</a:t>
            </a:r>
            <a:endParaRPr lang="en-US" sz="1050" dirty="0"/>
          </a:p>
        </p:txBody>
      </p:sp>
      <p:sp>
        <p:nvSpPr>
          <p:cNvPr id="20" name="ovl_sum3"/>
          <p:cNvSpPr/>
          <p:nvPr/>
        </p:nvSpPr>
        <p:spPr>
          <a:xfrm>
            <a:off x="457200" y="4398264"/>
            <a:ext cx="553212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1" name="sum_t3"/>
          <p:cNvSpPr txBox="1"/>
          <p:nvPr/>
        </p:nvSpPr>
        <p:spPr>
          <a:xfrm>
            <a:off x="566928" y="4471416"/>
            <a:ext cx="5312664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市場は弱気寄りの倍率(15.7 倍)で、EPS ではなく現金化を疑う</a:t>
            </a:r>
            <a:endParaRPr lang="en-US" sz="1050" dirty="0"/>
          </a:p>
        </p:txBody>
      </p:sp>
      <p:sp>
        <p:nvSpPr>
          <p:cNvPr id="22" name="ovl_imp3"/>
          <p:cNvSpPr/>
          <p:nvPr/>
        </p:nvSpPr>
        <p:spPr>
          <a:xfrm>
            <a:off x="6199632" y="4398264"/>
            <a:ext cx="5532120" cy="749808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23" name="imp_t3"/>
          <p:cNvSpPr txBox="1"/>
          <p:nvPr/>
        </p:nvSpPr>
        <p:spPr>
          <a:xfrm>
            <a:off x="6309360" y="4471416"/>
            <a:ext cx="5312664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引き上げ条件: 納入 1GW/四半期・OpenAI 比率 40% 未満・CDS 200bp 未満・FY30〜32 の電力確保のうち 2 つ以上</a:t>
            </a:r>
            <a:endParaRPr lang="en-US" sz="1050" dirty="0"/>
          </a:p>
        </p:txBody>
      </p:sp>
      <p:sp>
        <p:nvSpPr>
          <p:cNvPr id="24" name="ovl_sum4"/>
          <p:cNvSpPr/>
          <p:nvPr/>
        </p:nvSpPr>
        <p:spPr>
          <a:xfrm>
            <a:off x="457200" y="5239512"/>
            <a:ext cx="553212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5" name="sum_t4"/>
          <p:cNvSpPr txBox="1"/>
          <p:nvPr/>
        </p:nvSpPr>
        <p:spPr>
          <a:xfrm>
            <a:off x="566928" y="5312664"/>
            <a:ext cx="5312664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争点は FY29 の FCF と OpenAI の支払能力</a:t>
            </a:r>
            <a:endParaRPr lang="en-US" sz="1050" dirty="0"/>
          </a:p>
        </p:txBody>
      </p:sp>
      <p:sp>
        <p:nvSpPr>
          <p:cNvPr id="26" name="ovl_imp4"/>
          <p:cNvSpPr/>
          <p:nvPr/>
        </p:nvSpPr>
        <p:spPr>
          <a:xfrm>
            <a:off x="6199632" y="5239512"/>
            <a:ext cx="5532120" cy="749808"/>
          </a:xfrm>
          <a:prstGeom prst="rect">
            <a:avLst/>
          </a:prstGeom>
          <a:solidFill>
            <a:srgbClr val="EAF4EE"/>
          </a:solidFill>
          <a:ln w="9525">
            <a:solidFill>
              <a:srgbClr val="EAF4EE"/>
            </a:solidFill>
            <a:prstDash val="solid"/>
          </a:ln>
        </p:spPr>
      </p:sp>
      <p:sp>
        <p:nvSpPr>
          <p:cNvPr id="27" name="imp_t4"/>
          <p:cNvSpPr txBox="1"/>
          <p:nvPr/>
        </p:nvSpPr>
        <p:spPr>
          <a:xfrm>
            <a:off x="6309360" y="5312664"/>
            <a:ext cx="5312664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E4D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撤退: OpenAI の契約変更・支払遅延、FY29 より前の BB+、CDS 300bp 超。次の確認は AI World と 12 月の Q2 決算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92608"/>
            <a:ext cx="101800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7A5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計算の前提と修正の履歴: 理論株価は第1版 134 ドルから第4.3版 251 ドルへ、各段の理由を記録した</a:t>
            </a:r>
            <a:endParaRPr lang="en-US" sz="1900" dirty="0"/>
          </a:p>
        </p:txBody>
      </p:sp>
      <p:sp>
        <p:nvSpPr>
          <p:cNvPr id="3" name="kicker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src"/>
          <p:cNvSpPr txBox="1"/>
          <p:nvPr/>
        </p:nvSpPr>
        <p:spPr>
          <a:xfrm>
            <a:off x="457200" y="6291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出所: calc/prereg.md・prereg2.md §9(すべての変更と「結果を見た後か」の記録)</a:t>
            </a:r>
            <a:endParaRPr lang="en-US" sz="8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39</a:t>
            </a:r>
            <a:endParaRPr lang="en-US" sz="800" dirty="0"/>
          </a:p>
        </p:txBody>
      </p:sp>
      <p:graphicFrame>
        <p:nvGraphicFramePr>
          <p:cNvPr id="40" name="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81328"/>
          <a:ext cx="56692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84048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項目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第4.3版の前提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3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EPS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事業実態 EPS。FY27〜30 はコンセンサス、FY31 以降は需給エンジンの伸び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妥当 PER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同業 23 倍・PEG 1.0 × 3 年成長率・エンジンの価値の平均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重み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FY27 末 40%・FY28 末 30%・FY29 末 20%・FY30 末 10%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株主資本コスト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10.77%(5.2% + 1.32 × 4.23%)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シナリオ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強気 25%・ベース 50%・弱気 25%(対称)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倒産確率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S&amp;P の条件で格付けを機械判定し、全経路に反映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配当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 2.00 ドル(FY27 は残り 1.00)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株価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143.20 ドル(2026-10-13 終値)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chart" descr=""/>
          <p:cNvGraphicFramePr/>
          <p:nvPr/>
        </p:nvGraphicFramePr>
        <p:xfrm>
          <a:off x="6355080" y="1508760"/>
          <a:ext cx="5376672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bullets"/>
          <p:cNvSpPr txBox="1"/>
          <p:nvPr/>
        </p:nvSpPr>
        <p:spPr>
          <a:xfrm>
            <a:off x="6355080" y="4892040"/>
            <a:ext cx="5376672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第3.1版→第4.0版: 方法の変更(利用者の指示: コンセンサス起点・年度別・対称)と容量計画の引き上げ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第4.1版→第4.3版: 品質確認で −27(EPS の基準・倒産確率・自社株買い・ガイダンス較正など)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どの変更も「結果を見た後」と記録している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E4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divid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D33"/>
          </a:solidFill>
          <a:ln w="12700">
            <a:solidFill>
              <a:srgbClr val="0E4D33"/>
            </a:solidFill>
            <a:prstDash val="solid"/>
          </a:ln>
        </p:spPr>
      </p:sp>
      <p:sp>
        <p:nvSpPr>
          <p:cNvPr id="3" name="bg_close_t"/>
          <p:cNvSpPr txBox="1"/>
          <p:nvPr/>
        </p:nvSpPr>
        <p:spPr>
          <a:xfrm>
            <a:off x="822960" y="2377440"/>
            <a:ext cx="1051560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免責と既知の制約</a:t>
            </a:r>
            <a:endParaRPr lang="en-US" sz="2600" dirty="0"/>
          </a:p>
        </p:txBody>
      </p:sp>
      <p:sp>
        <p:nvSpPr>
          <p:cNvPr id="4" name="bg_close_n"/>
          <p:cNvSpPr txBox="1"/>
          <p:nvPr/>
        </p:nvSpPr>
        <p:spPr>
          <a:xfrm>
            <a:off x="822960" y="3383280"/>
            <a:ext cx="1051560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本資料は情報の整理を目的とし、投資助言ではない。投資判断は自己の責任で行うこと。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数値の多くは検索要約経由で、一次資料の原本は未開封のものがある。TradingView の年度別予想は取得できず、他の集計サイトで代えた。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S&amp;P の格付けの判定は記載をもとにした機械判定で、格付会社の判断そのものではない。Jupiter の不可抗力通知は単一系統の報道で未確認。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需給エンジンの EPS は FY29〜30 にコンセンサスより 8〜14% 低い(償却負担)。理論株価はコンセンサスの EPS を使っている。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株価・コンセンサスは 2026-10-13〜15 時点。AI World(10/25〜28)と Q2 FY27 決算で更新が必要になる。</a:t>
            </a:r>
            <a:endParaRPr lang="en-US" sz="1100" dirty="0"/>
          </a:p>
        </p:txBody>
      </p:sp>
      <p:sp>
        <p:nvSpPr>
          <p:cNvPr id="5" name="pg"/>
          <p:cNvSpPr txBox="1"/>
          <p:nvPr/>
        </p:nvSpPr>
        <p:spPr>
          <a:xfrm>
            <a:off x="11185855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6C99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Oracle(ORCL)長期保有適格性審査</dc:title>
  <dc:subject>PptxGenJS Presentation</dc:subject>
  <dc:creator>Oracle 長期保有適格性審査</dc:creator>
  <cp:lastModifiedBy>Oracle 長期保有適格性審査</cp:lastModifiedBy>
  <cp:revision>1</cp:revision>
  <dcterms:created xsi:type="dcterms:W3CDTF">2026-10-17T02:43:45Z</dcterms:created>
  <dcterms:modified xsi:type="dcterms:W3CDTF">2026-10-17T02:43:45Z</dcterms:modified>
</cp:coreProperties>
</file>