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3.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4.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5.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6.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charts/chart7.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8.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charts/chart9.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10.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charts/chart11.xml" ContentType="application/vnd.openxmlformats-officedocument.drawingml.chart+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作動している +</c:v>
                </c:pt>
              </c:strCache>
            </c:strRef>
          </c:tx>
          <c:spPr>
            <a:solidFill>
              <a:srgbClr val="197A56"/>
            </a:solidFill>
            <a:effectLst/>
          </c:spPr>
          <c:invertIfNegative val="0"/>
          <c:dLbls>
            <c:numFmt formatCode="[&gt;=2]0&quot;%&quot;;&quot;&quot;" sourceLinked="0"/>
            <c:txPr>
              <a:bodyPr/>
              <a:lstStyle/>
              <a:p>
                <a:pPr>
                  <a:defRPr b="0" i="0" strike="noStrike" sz="900" u="none">
                    <a:solidFill>
                      <a:srgbClr val="FFFFFF"/>
                    </a:solidFill>
                    <a:latin typeface="Meiryo UI"/>
                  </a:defRPr>
                </a:pPr>
              </a:p>
            </c:txPr>
            <c:dLblPos val="ctr"/>
            <c:showLegendKey val="0"/>
            <c:showVal val="1"/>
            <c:showCatName val="0"/>
            <c:showSerName val="0"/>
            <c:showPercent val="0"/>
            <c:showBubbleSize val="0"/>
            <c:showLeaderLines val="0"/>
          </c:dLbls>
          <c:cat>
            <c:multiLvlStrRef>
              <c:f>Sheet1!$A$2:$A$2</c:f>
              <c:multiLvlStrCache>
                <c:ptCount val="1"/>
                <c:lvl>
                  <c:pt idx="0">
                    <c:v>重み</c:v>
                  </c:pt>
                </c:lvl>
              </c:multiLvlStrCache>
            </c:multiLvlStrRef>
          </c:cat>
          <c:val>
            <c:numRef>
              <c:f>Sheet1!$B$2:$B$2</c:f>
              <c:numCache>
                <c:formatCode>General</c:formatCode>
                <c:ptCount val="1"/>
                <c:pt idx="0">
                  <c:v>44</c:v>
                </c:pt>
              </c:numCache>
            </c:numRef>
          </c:val>
        </c:ser>
        <c:ser>
          <c:idx val="1"/>
          <c:order val="1"/>
          <c:tx>
            <c:strRef>
              <c:f>Sheet1!$C$1</c:f>
              <c:strCache>
                <c:ptCount val="1"/>
                <c:pt idx="0">
                  <c:v>両面・遅延・コスト</c:v>
                </c:pt>
              </c:strCache>
            </c:strRef>
          </c:tx>
          <c:spPr>
            <a:solidFill>
              <a:srgbClr val="D68910"/>
            </a:solidFill>
            <a:effectLst/>
          </c:spPr>
          <c:invertIfNegative val="0"/>
          <c:dLbls>
            <c:numFmt formatCode="[&gt;=2]0&quot;%&quot;;&quot;&quot;" sourceLinked="0"/>
            <c:txPr>
              <a:bodyPr/>
              <a:lstStyle/>
              <a:p>
                <a:pPr>
                  <a:defRPr b="0" i="0" strike="noStrike" sz="900" u="none">
                    <a:solidFill>
                      <a:srgbClr val="FFFFFF"/>
                    </a:solidFill>
                    <a:latin typeface="Meiryo UI"/>
                  </a:defRPr>
                </a:pPr>
              </a:p>
            </c:txPr>
            <c:dLblPos val="ctr"/>
            <c:showLegendKey val="0"/>
            <c:showVal val="1"/>
            <c:showCatName val="0"/>
            <c:showSerName val="0"/>
            <c:showPercent val="0"/>
            <c:showBubbleSize val="0"/>
            <c:showLeaderLines val="0"/>
          </c:dLbls>
          <c:cat>
            <c:multiLvlStrRef>
              <c:f>Sheet1!$A$2:$A$2</c:f>
              <c:multiLvlStrCache>
                <c:ptCount val="1"/>
                <c:lvl>
                  <c:pt idx="0">
                    <c:v>重み</c:v>
                  </c:pt>
                </c:lvl>
              </c:multiLvlStrCache>
            </c:multiLvlStrRef>
          </c:cat>
          <c:val>
            <c:numRef>
              <c:f>Sheet1!$C$2:$C$2</c:f>
              <c:numCache>
                <c:formatCode>General</c:formatCode>
                <c:ptCount val="1"/>
                <c:pt idx="0">
                  <c:v>55</c:v>
                </c:pt>
              </c:numCache>
            </c:numRef>
          </c:val>
        </c:ser>
        <c:ser>
          <c:idx val="2"/>
          <c:order val="2"/>
          <c:tx>
            <c:strRef>
              <c:f>Sheet1!$D$1</c:f>
              <c:strCache>
                <c:ptCount val="1"/>
                <c:pt idx="0">
                  <c:v>保留</c:v>
                </c:pt>
              </c:strCache>
            </c:strRef>
          </c:tx>
          <c:spPr>
            <a:solidFill>
              <a:srgbClr val="767676"/>
            </a:solidFill>
            <a:effectLst/>
          </c:spPr>
          <c:invertIfNegative val="0"/>
          <c:dLbls>
            <c:numFmt formatCode="[&gt;=2]0&quot;%&quot;;&quot;&quot;" sourceLinked="0"/>
            <c:txPr>
              <a:bodyPr/>
              <a:lstStyle/>
              <a:p>
                <a:pPr>
                  <a:defRPr b="0" i="0" strike="noStrike" sz="900" u="none">
                    <a:solidFill>
                      <a:srgbClr val="FFFFFF"/>
                    </a:solidFill>
                    <a:latin typeface="Meiryo UI"/>
                  </a:defRPr>
                </a:pPr>
              </a:p>
            </c:txPr>
            <c:dLblPos val="ctr"/>
            <c:showLegendKey val="0"/>
            <c:showVal val="1"/>
            <c:showCatName val="0"/>
            <c:showSerName val="0"/>
            <c:showPercent val="0"/>
            <c:showBubbleSize val="0"/>
            <c:showLeaderLines val="0"/>
          </c:dLbls>
          <c:cat>
            <c:multiLvlStrRef>
              <c:f>Sheet1!$A$2:$A$2</c:f>
              <c:multiLvlStrCache>
                <c:ptCount val="1"/>
                <c:lvl>
                  <c:pt idx="0">
                    <c:v>重み</c:v>
                  </c:pt>
                </c:lvl>
              </c:multiLvlStrCache>
            </c:multiLvlStrRef>
          </c:cat>
          <c:val>
            <c:numRef>
              <c:f>Sheet1!$D$2:$D$2</c:f>
              <c:numCache>
                <c:formatCode>General</c:formatCode>
                <c:ptCount val="1"/>
                <c:pt idx="0">
                  <c:v>1</c:v>
                </c:pt>
              </c:numCache>
            </c:numRef>
          </c:val>
        </c:ser>
        <c:dLbls>
          <c:numFmt formatCode="[&gt;=2]0&quot;%&quot;;&quot;&quot;" sourceLinked="0"/>
          <c:txPr>
            <a:bodyPr/>
            <a:lstStyle/>
            <a:p>
              <a:pPr>
                <a:defRPr b="0" i="0" strike="noStrike" sz="900" u="none">
                  <a:solidFill>
                    <a:srgbClr val="FFFFFF"/>
                  </a:solidFill>
                  <a:latin typeface="Meiryo UI"/>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legend>
      <c:legendPos val="b"/>
      <c:overlay val="0"/>
      <c:txPr>
        <a:bodyPr/>
        <a:lstStyle/>
        <a:p>
          <a:pPr>
            <a:defRPr sz="900">
              <a:latin typeface="Meiryo UI"/>
              <a:cs typeface="Meiryo U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全社の営業利益率</c:v>
                </c:pt>
              </c:strCache>
            </c:strRef>
          </c:tx>
          <c:spPr>
            <a:solidFill>
              <a:srgbClr val="0E4D33"/>
            </a:solidFill>
            <a:ln w="25400" cap="flat">
              <a:solidFill>
                <a:srgbClr val="0E4D33"/>
              </a:solidFill>
              <a:prstDash val="solid"/>
              <a:round/>
            </a:ln>
            <a:effectLst/>
          </c:spPr>
          <c:invertIfNegative val="0"/>
          <c:dLbls>
            <c:numFmt formatCode="0.0" sourceLinked="0"/>
            <c:txPr>
              <a:bodyPr/>
              <a:lstStyle/>
              <a:p>
                <a:pPr>
                  <a:defRPr b="0" i="0" strike="noStrike" sz="900" u="none">
                    <a:solidFill>
                      <a:srgbClr val="333333"/>
                    </a:solidFill>
                    <a:latin typeface="Meiryo UI"/>
                  </a:defRPr>
                </a:pPr>
              </a:p>
            </c:txPr>
            <c:dLblPos val="t"/>
            <c:showLegendKey val="0"/>
            <c:showVal val="1"/>
            <c:showCatName val="0"/>
            <c:showSerName val="0"/>
            <c:showPercent val="0"/>
            <c:showBubbleSize val="0"/>
            <c:showLeaderLines val="0"/>
          </c:dLbls>
          <c:marker>
            <c:symbol val="circle"/>
            <c:size val="6"/>
            <c:spPr>
              <a:solidFill>
                <a:srgbClr val="0E4D33"/>
              </a:solidFill>
              <a:ln w="9525" cap="flat">
                <a:solidFill>
                  <a:srgbClr val="0E4D33"/>
                </a:solidFill>
                <a:prstDash val="solid"/>
                <a:round/>
              </a:ln>
              <a:effectLst/>
            </c:spPr>
          </c:marker>
          <c:cat>
            <c:multiLvlStrRef>
              <c:f>Sheet1!$A$2:$A$7</c:f>
              <c:multiLvlStrCache>
                <c:ptCount val="6"/>
                <c:lvl>
                  <c:pt idx="0">
                    <c:v>FY27</c:v>
                  </c:pt>
                  <c:pt idx="1">
                    <c:v>FY28</c:v>
                  </c:pt>
                  <c:pt idx="2">
                    <c:v>FY29</c:v>
                  </c:pt>
                  <c:pt idx="3">
                    <c:v>FY30</c:v>
                  </c:pt>
                  <c:pt idx="4">
                    <c:v>FY31</c:v>
                  </c:pt>
                  <c:pt idx="5">
                    <c:v>FY32</c:v>
                  </c:pt>
                </c:lvl>
              </c:multiLvlStrCache>
            </c:multiLvlStrRef>
          </c:cat>
          <c:val>
            <c:numRef>
              <c:f>Sheet1!$B$2:$B$7</c:f>
              <c:numCache>
                <c:formatCode>General</c:formatCode>
                <c:ptCount val="6"/>
                <c:pt idx="0">
                  <c:v>33.3</c:v>
                </c:pt>
                <c:pt idx="1">
                  <c:v>32.9</c:v>
                </c:pt>
                <c:pt idx="2">
                  <c:v>31</c:v>
                </c:pt>
                <c:pt idx="3">
                  <c:v>32.7</c:v>
                </c:pt>
                <c:pt idx="4">
                  <c:v>33.5</c:v>
                </c:pt>
                <c:pt idx="5">
                  <c:v>34.1</c:v>
                </c:pt>
              </c:numCache>
            </c:numRef>
          </c:val>
          <c:smooth val="0"/>
        </c:ser>
        <c:ser>
          <c:idx val="1"/>
          <c:order val="1"/>
          <c:tx>
            <c:strRef>
              <c:f>Sheet1!$C$1</c:f>
              <c:strCache>
                <c:ptCount val="1"/>
                <c:pt idx="0">
                  <c:v>AI 事業の営業利益率</c:v>
                </c:pt>
              </c:strCache>
            </c:strRef>
          </c:tx>
          <c:spPr>
            <a:solidFill>
              <a:srgbClr val="86C99B"/>
            </a:solidFill>
            <a:ln w="25400" cap="flat">
              <a:solidFill>
                <a:srgbClr val="86C99B"/>
              </a:solidFill>
              <a:prstDash val="solid"/>
              <a:round/>
            </a:ln>
            <a:effectLst/>
          </c:spPr>
          <c:invertIfNegative val="0"/>
          <c:dLbls>
            <c:numFmt formatCode="0.0" sourceLinked="0"/>
            <c:txPr>
              <a:bodyPr/>
              <a:lstStyle/>
              <a:p>
                <a:pPr>
                  <a:defRPr b="0" i="0" strike="noStrike" sz="900" u="none">
                    <a:solidFill>
                      <a:srgbClr val="333333"/>
                    </a:solidFill>
                    <a:latin typeface="Meiryo UI"/>
                  </a:defRPr>
                </a:pPr>
              </a:p>
            </c:txPr>
            <c:dLblPos val="t"/>
            <c:showLegendKey val="0"/>
            <c:showVal val="1"/>
            <c:showCatName val="0"/>
            <c:showSerName val="0"/>
            <c:showPercent val="0"/>
            <c:showBubbleSize val="0"/>
            <c:showLeaderLines val="0"/>
          </c:dLbls>
          <c:marker>
            <c:symbol val="circle"/>
            <c:size val="6"/>
            <c:spPr>
              <a:solidFill>
                <a:srgbClr val="86C99B"/>
              </a:solidFill>
              <a:ln w="9525" cap="flat">
                <a:solidFill>
                  <a:srgbClr val="86C99B"/>
                </a:solidFill>
                <a:prstDash val="solid"/>
                <a:round/>
              </a:ln>
              <a:effectLst/>
            </c:spPr>
          </c:marker>
          <c:cat>
            <c:multiLvlStrRef>
              <c:f>Sheet1!$A$2:$A$7</c:f>
              <c:multiLvlStrCache>
                <c:ptCount val="6"/>
                <c:lvl>
                  <c:pt idx="0">
                    <c:v>FY27</c:v>
                  </c:pt>
                  <c:pt idx="1">
                    <c:v>FY28</c:v>
                  </c:pt>
                  <c:pt idx="2">
                    <c:v>FY29</c:v>
                  </c:pt>
                  <c:pt idx="3">
                    <c:v>FY30</c:v>
                  </c:pt>
                  <c:pt idx="4">
                    <c:v>FY31</c:v>
                  </c:pt>
                  <c:pt idx="5">
                    <c:v>FY32</c:v>
                  </c:pt>
                </c:lvl>
              </c:multiLvlStrCache>
            </c:multiLvlStrRef>
          </c:cat>
          <c:val>
            <c:numRef>
              <c:f>Sheet1!$C$2:$C$7</c:f>
              <c:numCache>
                <c:formatCode>General</c:formatCode>
                <c:ptCount val="6"/>
                <c:pt idx="0">
                  <c:v>10.5</c:v>
                </c:pt>
                <c:pt idx="1">
                  <c:v>22.1</c:v>
                </c:pt>
                <c:pt idx="2">
                  <c:v>22.6</c:v>
                </c:pt>
                <c:pt idx="3">
                  <c:v>27.6</c:v>
                </c:pt>
                <c:pt idx="4">
                  <c:v>29.3</c:v>
                </c:pt>
                <c:pt idx="5">
                  <c:v>30.4</c:v>
                </c:pt>
              </c:numCache>
            </c:numRef>
          </c:val>
          <c:smooth val="0"/>
        </c:ser>
        <c:dLbls>
          <c:numFmt formatCode="0.0" sourceLinked="0"/>
          <c:txPr>
            <a:bodyPr/>
            <a:lstStyle/>
            <a:p>
              <a:pPr>
                <a:defRPr b="0" i="0" strike="noStrike" sz="900" u="none">
                  <a:solidFill>
                    <a:srgbClr val="333333"/>
                  </a:solidFill>
                  <a:latin typeface="Meiryo U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legend>
      <c:legendPos val="b"/>
      <c:overlay val="0"/>
      <c:txPr>
        <a:bodyPr/>
        <a:lstStyle/>
        <a:p>
          <a:pPr>
            <a:defRPr sz="900">
              <a:latin typeface="Meiryo UI"/>
              <a:cs typeface="Meiryo U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値上げ率(%)</c:v>
                </c:pt>
              </c:strCache>
            </c:strRef>
          </c:tx>
          <c:spPr>
            <a:solidFill>
              <a:srgbClr val="197A56"/>
            </a:solidFill>
            <a:effectLst/>
          </c:spPr>
          <c:invertIfNegative val="0"/>
          <c:dLbls>
            <c:numFmt formatCode="&quot;+&quot;0&quot;%&quot;"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cat>
            <c:multiLvlStrRef>
              <c:f>Sheet1!$A$2:$A$7</c:f>
              <c:multiLvlStrCache>
                <c:ptCount val="6"/>
                <c:lvl>
                  <c:pt idx="0">
                    <c:v>H100 1年契約の指数</c:v>
                  </c:pt>
                  <c:pt idx="1">
                    <c:v>CoreWeave(全品目)</c:v>
                  </c:pt>
                  <c:pt idx="2">
                    <c:v>AWS Capacity Blocks</c:v>
                  </c:pt>
                  <c:pt idx="3">
                    <c:v>Oracle(GPU の更新)</c:v>
                  </c:pt>
                  <c:pt idx="4">
                    <c:v>Dell(全製品の定価)</c:v>
                  </c:pt>
                  <c:pt idx="5">
                    <c:v>Nebius(H100)</c:v>
                  </c:pt>
                </c:lvl>
              </c:multiLvlStrCache>
            </c:multiLvlStrRef>
          </c:cat>
          <c:val>
            <c:numRef>
              <c:f>Sheet1!$B$2:$B$7</c:f>
              <c:numCache>
                <c:formatCode>General</c:formatCode>
                <c:ptCount val="6"/>
                <c:pt idx="0">
                  <c:v>56</c:v>
                </c:pt>
                <c:pt idx="1">
                  <c:v>25</c:v>
                </c:pt>
                <c:pt idx="2">
                  <c:v>20</c:v>
                </c:pt>
                <c:pt idx="3">
                  <c:v>20</c:v>
                </c:pt>
                <c:pt idx="4">
                  <c:v>17</c:v>
                </c:pt>
                <c:pt idx="5">
                  <c:v>17</c:v>
                </c:pt>
              </c:numCache>
            </c:numRef>
          </c:val>
        </c:ser>
        <c:dLbls>
          <c:numFmt formatCode="&quot;+&quot;0&quot;%&quot;"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60"/>
        </c:scaling>
        <c:delete val="0"/>
        <c:axPos val="b"/>
        <c:majorGridlines>
          <c:spPr>
            <a:ln w="6350" cap="flat">
              <a:solidFill>
                <a:srgbClr val="E6E6E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Database@ 前年同期比(%)</c:v>
                </c:pt>
              </c:strCache>
            </c:strRef>
          </c:tx>
          <c:spPr>
            <a:solidFill>
              <a:srgbClr val="1BA1A6"/>
            </a:solidFill>
            <a:effectLst/>
          </c:spPr>
          <c:invertIfNegative val="0"/>
          <c:dLbls>
            <c:numFmt formatCode="0&quot;%&quot;"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cat>
            <c:multiLvlStrRef>
              <c:f>Sheet1!$A$2:$A$6</c:f>
              <c:multiLvlStrCache>
                <c:ptCount val="5"/>
                <c:lvl>
                  <c:pt idx="0">
                    <c:v>Q1 FY26</c:v>
                  </c:pt>
                  <c:pt idx="1">
                    <c:v>Q2</c:v>
                  </c:pt>
                  <c:pt idx="2">
                    <c:v>Q3</c:v>
                  </c:pt>
                  <c:pt idx="3">
                    <c:v>Q4</c:v>
                  </c:pt>
                  <c:pt idx="4">
                    <c:v>Q1 FY27</c:v>
                  </c:pt>
                </c:lvl>
              </c:multiLvlStrCache>
            </c:multiLvlStrRef>
          </c:cat>
          <c:val>
            <c:numRef>
              <c:f>Sheet1!$B$2:$B$6</c:f>
              <c:numCache>
                <c:formatCode>General</c:formatCode>
                <c:ptCount val="5"/>
                <c:pt idx="0">
                  <c:v>1529</c:v>
                </c:pt>
                <c:pt idx="1">
                  <c:v>817</c:v>
                </c:pt>
                <c:pt idx="2">
                  <c:v>531</c:v>
                </c:pt>
                <c:pt idx="3">
                  <c:v>404</c:v>
                </c:pt>
                <c:pt idx="4">
                  <c:v>353</c:v>
                </c:pt>
              </c:numCache>
            </c:numRef>
          </c:val>
        </c:ser>
        <c:dLbls>
          <c:numFmt formatCode="0&quot;%&quot;"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180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赤字</c:v>
                </c:pt>
              </c:strCache>
            </c:strRef>
          </c:tx>
          <c:spPr>
            <a:solidFill>
              <a:srgbClr val="C0392B"/>
            </a:solidFill>
            <a:effectLst/>
          </c:spPr>
          <c:invertIfNegative val="0"/>
          <c:dLbls>
            <c:numFmt formatCode="0.0;-0.0;;" sourceLinked="0"/>
            <c:txPr>
              <a:bodyPr/>
              <a:lstStyle/>
              <a:p>
                <a:pPr>
                  <a:defRPr b="0" i="0" strike="noStrike" sz="900" u="none">
                    <a:solidFill>
                      <a:srgbClr val="FFFFFF"/>
                    </a:solidFill>
                    <a:latin typeface="Meiryo UI"/>
                  </a:defRPr>
                </a:pPr>
              </a:p>
            </c:txPr>
            <c:dLblPos val="inEnd"/>
            <c:showLegendKey val="0"/>
            <c:showVal val="1"/>
            <c:showCatName val="0"/>
            <c:showSerName val="0"/>
            <c:showPercent val="0"/>
            <c:showBubbleSize val="0"/>
            <c:showLeaderLines val="0"/>
          </c:dLbls>
          <c:cat>
            <c:multiLvlStrRef>
              <c:f>Sheet1!$A$2:$A$7</c:f>
              <c:multiLvlStrCache>
                <c:ptCount val="6"/>
                <c:lvl>
                  <c:pt idx="0">
                    <c:v>FY27</c:v>
                  </c:pt>
                  <c:pt idx="1">
                    <c:v>FY28</c:v>
                  </c:pt>
                  <c:pt idx="2">
                    <c:v>FY29</c:v>
                  </c:pt>
                  <c:pt idx="3">
                    <c:v>FY30</c:v>
                  </c:pt>
                  <c:pt idx="4">
                    <c:v>FY31</c:v>
                  </c:pt>
                  <c:pt idx="5">
                    <c:v>FY32</c:v>
                  </c:pt>
                </c:lvl>
              </c:multiLvlStrCache>
            </c:multiLvlStrRef>
          </c:cat>
          <c:val>
            <c:numRef>
              <c:f>Sheet1!$B$2:$B$7</c:f>
              <c:numCache>
                <c:formatCode>General</c:formatCode>
                <c:ptCount val="6"/>
                <c:pt idx="0">
                  <c:v>-34.2</c:v>
                </c:pt>
                <c:pt idx="1">
                  <c:v>-34</c:v>
                </c:pt>
                <c:pt idx="2">
                  <c:v>-13.5</c:v>
                </c:pt>
                <c:pt idx="3">
                  <c:v>0</c:v>
                </c:pt>
                <c:pt idx="4">
                  <c:v>0</c:v>
                </c:pt>
                <c:pt idx="5">
                  <c:v>0</c:v>
                </c:pt>
              </c:numCache>
            </c:numRef>
          </c:val>
        </c:ser>
        <c:ser>
          <c:idx val="1"/>
          <c:order val="1"/>
          <c:tx>
            <c:strRef>
              <c:f>Sheet1!$C$1</c:f>
              <c:strCache>
                <c:ptCount val="1"/>
                <c:pt idx="0">
                  <c:v>黒字</c:v>
                </c:pt>
              </c:strCache>
            </c:strRef>
          </c:tx>
          <c:spPr>
            <a:solidFill>
              <a:srgbClr val="197A56"/>
            </a:solidFill>
            <a:effectLst/>
          </c:spPr>
          <c:invertIfNegative val="0"/>
          <c:dLbls>
            <c:numFmt formatCode="0.0;-0.0;;" sourceLinked="0"/>
            <c:txPr>
              <a:bodyPr/>
              <a:lstStyle/>
              <a:p>
                <a:pPr>
                  <a:defRPr b="0" i="0" strike="noStrike" sz="900" u="none">
                    <a:solidFill>
                      <a:srgbClr val="FFFFFF"/>
                    </a:solidFill>
                    <a:latin typeface="Meiryo UI"/>
                  </a:defRPr>
                </a:pPr>
              </a:p>
            </c:txPr>
            <c:dLblPos val="inEnd"/>
            <c:showLegendKey val="0"/>
            <c:showVal val="1"/>
            <c:showCatName val="0"/>
            <c:showSerName val="0"/>
            <c:showPercent val="0"/>
            <c:showBubbleSize val="0"/>
            <c:showLeaderLines val="0"/>
          </c:dLbls>
          <c:cat>
            <c:multiLvlStrRef>
              <c:f>Sheet1!$A$2:$A$7</c:f>
              <c:multiLvlStrCache>
                <c:ptCount val="6"/>
                <c:lvl>
                  <c:pt idx="0">
                    <c:v>FY27</c:v>
                  </c:pt>
                  <c:pt idx="1">
                    <c:v>FY28</c:v>
                  </c:pt>
                  <c:pt idx="2">
                    <c:v>FY29</c:v>
                  </c:pt>
                  <c:pt idx="3">
                    <c:v>FY30</c:v>
                  </c:pt>
                  <c:pt idx="4">
                    <c:v>FY31</c:v>
                  </c:pt>
                  <c:pt idx="5">
                    <c:v>FY32</c:v>
                  </c:pt>
                </c:lvl>
              </c:multiLvlStrCache>
            </c:multiLvlStrRef>
          </c:cat>
          <c:val>
            <c:numRef>
              <c:f>Sheet1!$C$2:$C$7</c:f>
              <c:numCache>
                <c:formatCode>General</c:formatCode>
                <c:ptCount val="6"/>
                <c:pt idx="0">
                  <c:v>0</c:v>
                </c:pt>
                <c:pt idx="1">
                  <c:v>0</c:v>
                </c:pt>
                <c:pt idx="2">
                  <c:v>0</c:v>
                </c:pt>
                <c:pt idx="3">
                  <c:v>39</c:v>
                </c:pt>
                <c:pt idx="4">
                  <c:v>64.1</c:v>
                </c:pt>
                <c:pt idx="5">
                  <c:v>43.1</c:v>
                </c:pt>
              </c:numCache>
            </c:numRef>
          </c:val>
        </c:ser>
        <c:dLbls>
          <c:numFmt formatCode="0.0;-0.0;;" sourceLinked="0"/>
          <c:txPr>
            <a:bodyPr/>
            <a:lstStyle/>
            <a:p>
              <a:pPr>
                <a:defRPr b="0" i="0" strike="noStrike" sz="900" u="none">
                  <a:solidFill>
                    <a:srgbClr val="FFFFFF"/>
                  </a:solidFill>
                  <a:latin typeface="Meiryo UI"/>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80"/>
          <c:min val="-4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majorUnit val="20"/>
      </c:valAx>
      <c:spPr>
        <a:noFill/>
        <a:ln>
          <a:noFill/>
        </a:ln>
        <a:effectLst/>
      </c:spPr>
    </c:plotArea>
    <c:legend>
      <c:legendPos val="b"/>
      <c:overlay val="0"/>
      <c:txPr>
        <a:bodyPr/>
        <a:lstStyle/>
        <a:p>
          <a:pPr>
            <a:defRPr sz="900">
              <a:latin typeface="Meiryo UI"/>
              <a:cs typeface="Meiryo U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5 年 CAGR</c:v>
                </c:pt>
              </c:strCache>
            </c:strRef>
          </c:tx>
          <c:spPr>
            <a:solidFill>
              <a:srgbClr val="197A56"/>
            </a:solidFill>
            <a:effectLst/>
          </c:spPr>
          <c:invertIfNegative val="0"/>
          <c:dLbls>
            <c:numFmt formatCode="0.0&quot;%&quot;"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cat>
            <c:multiLvlStrRef>
              <c:f>Sheet1!$A$2:$A$5</c:f>
              <c:multiLvlStrCache>
                <c:ptCount val="4"/>
                <c:lvl>
                  <c:pt idx="0">
                    <c:v>コンセンサス</c:v>
                  </c:pt>
                  <c:pt idx="1">
                    <c:v>会社(FY30 目標)</c:v>
                  </c:pt>
                  <c:pt idx="2">
                    <c:v>需給エンジン</c:v>
                  </c:pt>
                  <c:pt idx="3">
                    <c:v>確率加重の経路</c:v>
                  </c:pt>
                </c:lvl>
              </c:multiLvlStrCache>
            </c:multiLvlStrRef>
          </c:cat>
          <c:val>
            <c:numRef>
              <c:f>Sheet1!$B$2:$B$5</c:f>
              <c:numCache>
                <c:formatCode>General</c:formatCode>
                <c:ptCount val="4"/>
                <c:pt idx="0">
                  <c:v>33.9</c:v>
                </c:pt>
                <c:pt idx="1">
                  <c:v>34.4</c:v>
                </c:pt>
                <c:pt idx="2">
                  <c:v>31.5</c:v>
                </c:pt>
                <c:pt idx="3">
                  <c:v>28.6</c:v>
                </c:pt>
              </c:numCache>
            </c:numRef>
          </c:val>
        </c:ser>
        <c:dLbls>
          <c:numFmt formatCode="0.0&quot;%&quot;"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12か月以内 860 億</c:v>
                </c:pt>
              </c:strCache>
            </c:strRef>
          </c:tx>
          <c:spPr>
            <a:solidFill>
              <a:srgbClr val="0E4D33"/>
            </a:solidFill>
            <a:effectLst/>
          </c:spPr>
          <c:invertIfNegative val="0"/>
          <c:dLbls>
            <c:numFmt formatCode="#,##0" sourceLinked="0"/>
            <c:txPr>
              <a:bodyPr/>
              <a:lstStyle/>
              <a:p>
                <a:pPr>
                  <a:defRPr b="0" i="0" strike="noStrike" sz="900" u="none">
                    <a:solidFill>
                      <a:srgbClr val="FFFFFF"/>
                    </a:solidFill>
                    <a:latin typeface="Meiryo UI"/>
                  </a:defRPr>
                </a:pPr>
              </a:p>
            </c:txPr>
            <c:dLblPos val="ctr"/>
            <c:showLegendKey val="0"/>
            <c:showVal val="0"/>
            <c:showCatName val="0"/>
            <c:showSerName val="0"/>
            <c:showPercent val="0"/>
            <c:showBubbleSize val="0"/>
            <c:showLeaderLines val="0"/>
          </c:dLbls>
          <c:cat>
            <c:multiLvlStrRef>
              <c:f>Sheet1!$A$2:$A$2</c:f>
              <c:multiLvlStrCache>
                <c:ptCount val="1"/>
                <c:lvl>
                  <c:pt idx="0">
                    <c:v>RPO</c:v>
                  </c:pt>
                </c:lvl>
              </c:multiLvlStrCache>
            </c:multiLvlStrRef>
          </c:cat>
          <c:val>
            <c:numRef>
              <c:f>Sheet1!$B$2:$B$2</c:f>
              <c:numCache>
                <c:formatCode>General</c:formatCode>
                <c:ptCount val="1"/>
                <c:pt idx="0">
                  <c:v>86</c:v>
                </c:pt>
              </c:numCache>
            </c:numRef>
          </c:val>
        </c:ser>
        <c:ser>
          <c:idx val="1"/>
          <c:order val="1"/>
          <c:tx>
            <c:strRef>
              <c:f>Sheet1!$C$1</c:f>
              <c:strCache>
                <c:ptCount val="1"/>
                <c:pt idx="0">
                  <c:v>13〜36か月 2,460 億</c:v>
                </c:pt>
              </c:strCache>
            </c:strRef>
          </c:tx>
          <c:spPr>
            <a:solidFill>
              <a:srgbClr val="197A56"/>
            </a:solidFill>
            <a:effectLst/>
          </c:spPr>
          <c:invertIfNegative val="0"/>
          <c:dLbls>
            <c:numFmt formatCode="#,##0" sourceLinked="0"/>
            <c:txPr>
              <a:bodyPr/>
              <a:lstStyle/>
              <a:p>
                <a:pPr>
                  <a:defRPr b="0" i="0" strike="noStrike" sz="900" u="none">
                    <a:solidFill>
                      <a:srgbClr val="FFFFFF"/>
                    </a:solidFill>
                    <a:latin typeface="Meiryo UI"/>
                  </a:defRPr>
                </a:pPr>
              </a:p>
            </c:txPr>
            <c:dLblPos val="ctr"/>
            <c:showLegendKey val="0"/>
            <c:showVal val="0"/>
            <c:showCatName val="0"/>
            <c:showSerName val="0"/>
            <c:showPercent val="0"/>
            <c:showBubbleSize val="0"/>
            <c:showLeaderLines val="0"/>
          </c:dLbls>
          <c:cat>
            <c:multiLvlStrRef>
              <c:f>Sheet1!$A$2:$A$2</c:f>
              <c:multiLvlStrCache>
                <c:ptCount val="1"/>
                <c:lvl>
                  <c:pt idx="0">
                    <c:v>RPO</c:v>
                  </c:pt>
                </c:lvl>
              </c:multiLvlStrCache>
            </c:multiLvlStrRef>
          </c:cat>
          <c:val>
            <c:numRef>
              <c:f>Sheet1!$C$2:$C$2</c:f>
              <c:numCache>
                <c:formatCode>General</c:formatCode>
                <c:ptCount val="1"/>
                <c:pt idx="0">
                  <c:v>246</c:v>
                </c:pt>
              </c:numCache>
            </c:numRef>
          </c:val>
        </c:ser>
        <c:ser>
          <c:idx val="2"/>
          <c:order val="2"/>
          <c:tx>
            <c:strRef>
              <c:f>Sheet1!$D$1</c:f>
              <c:strCache>
                <c:ptCount val="1"/>
                <c:pt idx="0">
                  <c:v>37〜60か月 2,260 億</c:v>
                </c:pt>
              </c:strCache>
            </c:strRef>
          </c:tx>
          <c:spPr>
            <a:solidFill>
              <a:srgbClr val="86C99B"/>
            </a:solidFill>
            <a:effectLst/>
          </c:spPr>
          <c:invertIfNegative val="0"/>
          <c:dLbls>
            <c:numFmt formatCode="#,##0" sourceLinked="0"/>
            <c:txPr>
              <a:bodyPr/>
              <a:lstStyle/>
              <a:p>
                <a:pPr>
                  <a:defRPr b="0" i="0" strike="noStrike" sz="900" u="none">
                    <a:solidFill>
                      <a:srgbClr val="FFFFFF"/>
                    </a:solidFill>
                    <a:latin typeface="Meiryo UI"/>
                  </a:defRPr>
                </a:pPr>
              </a:p>
            </c:txPr>
            <c:dLblPos val="ctr"/>
            <c:showLegendKey val="0"/>
            <c:showVal val="0"/>
            <c:showCatName val="0"/>
            <c:showSerName val="0"/>
            <c:showPercent val="0"/>
            <c:showBubbleSize val="0"/>
            <c:showLeaderLines val="0"/>
          </c:dLbls>
          <c:cat>
            <c:multiLvlStrRef>
              <c:f>Sheet1!$A$2:$A$2</c:f>
              <c:multiLvlStrCache>
                <c:ptCount val="1"/>
                <c:lvl>
                  <c:pt idx="0">
                    <c:v>RPO</c:v>
                  </c:pt>
                </c:lvl>
              </c:multiLvlStrCache>
            </c:multiLvlStrRef>
          </c:cat>
          <c:val>
            <c:numRef>
              <c:f>Sheet1!$D$2:$D$2</c:f>
              <c:numCache>
                <c:formatCode>General</c:formatCode>
                <c:ptCount val="1"/>
                <c:pt idx="0">
                  <c:v>226</c:v>
                </c:pt>
              </c:numCache>
            </c:numRef>
          </c:val>
        </c:ser>
        <c:ser>
          <c:idx val="3"/>
          <c:order val="3"/>
          <c:tx>
            <c:strRef>
              <c:f>Sheet1!$E$1</c:f>
              <c:strCache>
                <c:ptCount val="1"/>
                <c:pt idx="0">
                  <c:v>60か月超 1,060 億</c:v>
                </c:pt>
              </c:strCache>
            </c:strRef>
          </c:tx>
          <c:spPr>
            <a:solidFill>
              <a:srgbClr val="1BA1A6"/>
            </a:solidFill>
            <a:effectLst/>
          </c:spPr>
          <c:invertIfNegative val="0"/>
          <c:dLbls>
            <c:numFmt formatCode="#,##0" sourceLinked="0"/>
            <c:txPr>
              <a:bodyPr/>
              <a:lstStyle/>
              <a:p>
                <a:pPr>
                  <a:defRPr b="0" i="0" strike="noStrike" sz="900" u="none">
                    <a:solidFill>
                      <a:srgbClr val="FFFFFF"/>
                    </a:solidFill>
                    <a:latin typeface="Meiryo UI"/>
                  </a:defRPr>
                </a:pPr>
              </a:p>
            </c:txPr>
            <c:dLblPos val="ctr"/>
            <c:showLegendKey val="0"/>
            <c:showVal val="0"/>
            <c:showCatName val="0"/>
            <c:showSerName val="0"/>
            <c:showPercent val="0"/>
            <c:showBubbleSize val="0"/>
            <c:showLeaderLines val="0"/>
          </c:dLbls>
          <c:cat>
            <c:multiLvlStrRef>
              <c:f>Sheet1!$A$2:$A$2</c:f>
              <c:multiLvlStrCache>
                <c:ptCount val="1"/>
                <c:lvl>
                  <c:pt idx="0">
                    <c:v>RPO</c:v>
                  </c:pt>
                </c:lvl>
              </c:multiLvlStrCache>
            </c:multiLvlStrRef>
          </c:cat>
          <c:val>
            <c:numRef>
              <c:f>Sheet1!$E$2:$E$2</c:f>
              <c:numCache>
                <c:formatCode>General</c:formatCode>
                <c:ptCount val="1"/>
                <c:pt idx="0">
                  <c:v>106</c:v>
                </c:pt>
              </c:numCache>
            </c:numRef>
          </c:val>
        </c:ser>
        <c:dLbls>
          <c:numFmt formatCode="#,##0" sourceLinked="0"/>
          <c:txPr>
            <a:bodyPr/>
            <a:lstStyle/>
            <a:p>
              <a:pPr>
                <a:defRPr b="0" i="0" strike="noStrike" sz="900" u="none">
                  <a:solidFill>
                    <a:srgbClr val="FFFFFF"/>
                  </a:solidFill>
                  <a:latin typeface="Meiryo UI"/>
                </a:defRPr>
              </a:pPr>
            </a:p>
          </c:txPr>
          <c:dLblPos val="ct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6E6E6"/>
              </a:solidFill>
              <a:prstDash val="solid"/>
              <a:round/>
            </a:ln>
          </c:spPr>
        </c:majorGridlines>
        <c:title>
          <c:tx>
            <c:rich>
              <a:bodyPr/>
              <a:lstStyle/>
              <a:p>
                <a:pPr>
                  <a:defRPr sz="900" b="0" i="0" u="none" strike="noStrike">
                    <a:solidFill>
                      <a:srgbClr val="767676"/>
                    </a:solidFill>
                    <a:latin typeface="Arial"/>
                  </a:defRPr>
                </a:pPr>
                <a:r>
                  <a:rPr sz="900" b="0" i="0" u="none" strike="noStrike">
                    <a:solidFill>
                      <a:srgbClr val="767676"/>
                    </a:solidFill>
                    <a:latin typeface="Arial"/>
                  </a:rPr>
                  <a:t>単位: 10 億ドル</a:t>
                </a:r>
              </a:p>
            </c:rich>
          </c:tx>
          <c:layout/>
          <c:overlay val="0"/>
        </c:title>
        <c:numFmt formatCode="General" sourceLinked="0"/>
        <c:majorTickMark val="out"/>
        <c:minorTickMark val="none"/>
        <c:tickLblPos val="low"/>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legend>
      <c:legendPos val="b"/>
      <c:overlay val="0"/>
      <c:txPr>
        <a:bodyPr/>
        <a:lstStyle/>
        <a:p>
          <a:pPr>
            <a:defRPr sz="900">
              <a:latin typeface="Meiryo UI"/>
              <a:cs typeface="Meiryo UI"/>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市場</c:v>
                </c:pt>
              </c:strCache>
            </c:strRef>
          </c:tx>
          <c:spPr>
            <a:solidFill>
              <a:srgbClr val="D68910"/>
            </a:solidFill>
            <a:effectLst/>
          </c:spPr>
          <c:invertIfNegative val="0"/>
          <c:dLbls>
            <c:numFmt formatCode="0.0&quot;倍&quot;;;;" sourceLinked="0"/>
            <c:txPr>
              <a:bodyPr/>
              <a:lstStyle/>
              <a:p>
                <a:pPr>
                  <a:defRPr b="0" i="0" strike="noStrike" sz="900" u="none">
                    <a:solidFill>
                      <a:srgbClr val="FFFFFF"/>
                    </a:solidFill>
                    <a:latin typeface="Meiryo UI"/>
                  </a:defRPr>
                </a:pPr>
              </a:p>
            </c:txPr>
            <c:dLblPos val="ctr"/>
            <c:showLegendKey val="0"/>
            <c:showVal val="1"/>
            <c:showCatName val="0"/>
            <c:showSerName val="0"/>
            <c:showPercent val="0"/>
            <c:showBubbleSize val="0"/>
            <c:showLeaderLines val="0"/>
          </c:dLbls>
          <c:cat>
            <c:multiLvlStrRef>
              <c:f>Sheet1!$A$2:$A$5</c:f>
              <c:multiLvlStrCache>
                <c:ptCount val="4"/>
                <c:lvl>
                  <c:pt idx="0">
                    <c:v>弱気</c:v>
                  </c:pt>
                  <c:pt idx="1">
                    <c:v>市場(株価 143.20)</c:v>
                  </c:pt>
                  <c:pt idx="2">
                    <c:v>ベース</c:v>
                  </c:pt>
                  <c:pt idx="3">
                    <c:v>強気</c:v>
                  </c:pt>
                </c:lvl>
              </c:multiLvlStrCache>
            </c:multiLvlStrRef>
          </c:cat>
          <c:val>
            <c:numRef>
              <c:f>Sheet1!$B$2:$B$5</c:f>
              <c:numCache>
                <c:formatCode>General</c:formatCode>
                <c:ptCount val="4"/>
                <c:pt idx="0">
                  <c:v>0</c:v>
                </c:pt>
                <c:pt idx="1">
                  <c:v>15.7</c:v>
                </c:pt>
                <c:pt idx="2">
                  <c:v>0</c:v>
                </c:pt>
                <c:pt idx="3">
                  <c:v>0</c:v>
                </c:pt>
              </c:numCache>
            </c:numRef>
          </c:val>
        </c:ser>
        <c:ser>
          <c:idx val="1"/>
          <c:order val="1"/>
          <c:tx>
            <c:strRef>
              <c:f>Sheet1!$C$1</c:f>
              <c:strCache>
                <c:ptCount val="1"/>
                <c:pt idx="0">
                  <c:v>シナリオ</c:v>
                </c:pt>
              </c:strCache>
            </c:strRef>
          </c:tx>
          <c:spPr>
            <a:solidFill>
              <a:srgbClr val="197A56"/>
            </a:solidFill>
            <a:effectLst/>
          </c:spPr>
          <c:invertIfNegative val="0"/>
          <c:dLbls>
            <c:numFmt formatCode="0.0&quot;倍&quot;;;;" sourceLinked="0"/>
            <c:txPr>
              <a:bodyPr/>
              <a:lstStyle/>
              <a:p>
                <a:pPr>
                  <a:defRPr b="0" i="0" strike="noStrike" sz="900" u="none">
                    <a:solidFill>
                      <a:srgbClr val="FFFFFF"/>
                    </a:solidFill>
                    <a:latin typeface="Meiryo UI"/>
                  </a:defRPr>
                </a:pPr>
              </a:p>
            </c:txPr>
            <c:dLblPos val="ctr"/>
            <c:showLegendKey val="0"/>
            <c:showVal val="1"/>
            <c:showCatName val="0"/>
            <c:showSerName val="0"/>
            <c:showPercent val="0"/>
            <c:showBubbleSize val="0"/>
            <c:showLeaderLines val="0"/>
          </c:dLbls>
          <c:cat>
            <c:multiLvlStrRef>
              <c:f>Sheet1!$A$2:$A$5</c:f>
              <c:multiLvlStrCache>
                <c:ptCount val="4"/>
                <c:lvl>
                  <c:pt idx="0">
                    <c:v>弱気</c:v>
                  </c:pt>
                  <c:pt idx="1">
                    <c:v>市場(株価 143.20)</c:v>
                  </c:pt>
                  <c:pt idx="2">
                    <c:v>ベース</c:v>
                  </c:pt>
                  <c:pt idx="3">
                    <c:v>強気</c:v>
                  </c:pt>
                </c:lvl>
              </c:multiLvlStrCache>
            </c:multiLvlStrRef>
          </c:cat>
          <c:val>
            <c:numRef>
              <c:f>Sheet1!$C$2:$C$5</c:f>
              <c:numCache>
                <c:formatCode>General</c:formatCode>
                <c:ptCount val="4"/>
                <c:pt idx="0">
                  <c:v>13.6</c:v>
                </c:pt>
                <c:pt idx="1">
                  <c:v>0</c:v>
                </c:pt>
                <c:pt idx="2">
                  <c:v>26.5</c:v>
                </c:pt>
                <c:pt idx="3">
                  <c:v>32.3</c:v>
                </c:pt>
              </c:numCache>
            </c:numRef>
          </c:val>
        </c:ser>
        <c:dLbls>
          <c:numFmt formatCode="0.0&quot;倍&quot;;;;" sourceLinked="0"/>
          <c:txPr>
            <a:bodyPr/>
            <a:lstStyle/>
            <a:p>
              <a:pPr>
                <a:defRPr b="0" i="0" strike="noStrike" sz="900" u="none">
                  <a:solidFill>
                    <a:srgbClr val="FFFFFF"/>
                  </a:solidFill>
                  <a:latin typeface="Meiryo UI"/>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6E6E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強気</c:v>
                </c:pt>
              </c:strCache>
            </c:strRef>
          </c:tx>
          <c:spPr>
            <a:solidFill>
              <a:srgbClr val="86C99B"/>
            </a:solidFill>
            <a:ln w="25400" cap="flat">
              <a:solidFill>
                <a:srgbClr val="86C99B"/>
              </a:solidFill>
              <a:prstDash val="solid"/>
              <a:round/>
            </a:ln>
            <a:effectLst/>
          </c:spPr>
          <c:invertIfNegative val="0"/>
          <c:dLbls>
            <c:numFmt formatCode="0.0" sourceLinked="0"/>
            <c:txPr>
              <a:bodyPr/>
              <a:lstStyle/>
              <a:p>
                <a:pPr>
                  <a:defRPr b="0" i="0" strike="noStrike" sz="900" u="none">
                    <a:solidFill>
                      <a:srgbClr val="333333"/>
                    </a:solidFill>
                    <a:latin typeface="Meiryo UI"/>
                  </a:defRPr>
                </a:pPr>
              </a:p>
            </c:txPr>
            <c:dLblPos val="t"/>
            <c:showLegendKey val="0"/>
            <c:showVal val="0"/>
            <c:showCatName val="0"/>
            <c:showSerName val="0"/>
            <c:showPercent val="0"/>
            <c:showBubbleSize val="0"/>
            <c:showLeaderLines val="0"/>
          </c:dLbls>
          <c:marker>
            <c:symbol val="circle"/>
            <c:size val="6"/>
            <c:spPr>
              <a:solidFill>
                <a:srgbClr val="86C99B"/>
              </a:solidFill>
              <a:ln w="9525" cap="flat">
                <a:solidFill>
                  <a:srgbClr val="86C99B"/>
                </a:solidFill>
                <a:prstDash val="solid"/>
                <a:round/>
              </a:ln>
              <a:effectLst/>
            </c:spPr>
          </c:marker>
          <c:cat>
            <c:multiLvlStrRef>
              <c:f>Sheet1!$A$2:$A$7</c:f>
              <c:multiLvlStrCache>
                <c:ptCount val="6"/>
                <c:lvl>
                  <c:pt idx="0">
                    <c:v>FY27</c:v>
                  </c:pt>
                  <c:pt idx="1">
                    <c:v>FY28</c:v>
                  </c:pt>
                  <c:pt idx="2">
                    <c:v>FY29</c:v>
                  </c:pt>
                  <c:pt idx="3">
                    <c:v>FY30</c:v>
                  </c:pt>
                  <c:pt idx="4">
                    <c:v>FY31(延長)</c:v>
                  </c:pt>
                  <c:pt idx="5">
                    <c:v>FY32(延長)</c:v>
                  </c:pt>
                </c:lvl>
              </c:multiLvlStrCache>
            </c:multiLvlStrRef>
          </c:cat>
          <c:val>
            <c:numRef>
              <c:f>Sheet1!$B$2:$B$7</c:f>
              <c:numCache>
                <c:formatCode>General</c:formatCode>
                <c:ptCount val="6"/>
                <c:pt idx="0">
                  <c:v>7.01</c:v>
                </c:pt>
                <c:pt idx="1">
                  <c:v>10</c:v>
                </c:pt>
                <c:pt idx="2">
                  <c:v>16</c:v>
                </c:pt>
                <c:pt idx="3">
                  <c:v>22.95</c:v>
                </c:pt>
                <c:pt idx="4">
                  <c:v>29.61</c:v>
                </c:pt>
                <c:pt idx="5">
                  <c:v>37.43</c:v>
                </c:pt>
              </c:numCache>
            </c:numRef>
          </c:val>
          <c:smooth val="0"/>
        </c:ser>
        <c:ser>
          <c:idx val="1"/>
          <c:order val="1"/>
          <c:tx>
            <c:strRef>
              <c:f>Sheet1!$C$1</c:f>
              <c:strCache>
                <c:ptCount val="1"/>
                <c:pt idx="0">
                  <c:v>弱気</c:v>
                </c:pt>
              </c:strCache>
            </c:strRef>
          </c:tx>
          <c:spPr>
            <a:solidFill>
              <a:srgbClr val="C0392B"/>
            </a:solidFill>
            <a:ln w="25400" cap="flat">
              <a:solidFill>
                <a:srgbClr val="C0392B"/>
              </a:solidFill>
              <a:prstDash val="solid"/>
              <a:round/>
            </a:ln>
            <a:effectLst/>
          </c:spPr>
          <c:invertIfNegative val="0"/>
          <c:dLbls>
            <c:numFmt formatCode="0.0" sourceLinked="0"/>
            <c:txPr>
              <a:bodyPr/>
              <a:lstStyle/>
              <a:p>
                <a:pPr>
                  <a:defRPr b="0" i="0" strike="noStrike" sz="900" u="none">
                    <a:solidFill>
                      <a:srgbClr val="333333"/>
                    </a:solidFill>
                    <a:latin typeface="Meiryo UI"/>
                  </a:defRPr>
                </a:pPr>
              </a:p>
            </c:txPr>
            <c:dLblPos val="t"/>
            <c:showLegendKey val="0"/>
            <c:showVal val="0"/>
            <c:showCatName val="0"/>
            <c:showSerName val="0"/>
            <c:showPercent val="0"/>
            <c:showBubbleSize val="0"/>
            <c:showLeaderLines val="0"/>
          </c:dLbls>
          <c:marker>
            <c:symbol val="circle"/>
            <c:size val="6"/>
            <c:spPr>
              <a:solidFill>
                <a:srgbClr val="C0392B"/>
              </a:solidFill>
              <a:ln w="9525" cap="flat">
                <a:solidFill>
                  <a:srgbClr val="C0392B"/>
                </a:solidFill>
                <a:prstDash val="solid"/>
                <a:round/>
              </a:ln>
              <a:effectLst/>
            </c:spPr>
          </c:marker>
          <c:cat>
            <c:multiLvlStrRef>
              <c:f>Sheet1!$A$2:$A$7</c:f>
              <c:multiLvlStrCache>
                <c:ptCount val="6"/>
                <c:lvl>
                  <c:pt idx="0">
                    <c:v>FY27</c:v>
                  </c:pt>
                  <c:pt idx="1">
                    <c:v>FY28</c:v>
                  </c:pt>
                  <c:pt idx="2">
                    <c:v>FY29</c:v>
                  </c:pt>
                  <c:pt idx="3">
                    <c:v>FY30</c:v>
                  </c:pt>
                  <c:pt idx="4">
                    <c:v>FY31(延長)</c:v>
                  </c:pt>
                  <c:pt idx="5">
                    <c:v>FY32(延長)</c:v>
                  </c:pt>
                </c:lvl>
              </c:multiLvlStrCache>
            </c:multiLvlStrRef>
          </c:cat>
          <c:val>
            <c:numRef>
              <c:f>Sheet1!$C$2:$C$7</c:f>
              <c:numCache>
                <c:formatCode>General</c:formatCode>
                <c:ptCount val="6"/>
                <c:pt idx="0">
                  <c:v>6.64</c:v>
                </c:pt>
                <c:pt idx="1">
                  <c:v>9.1</c:v>
                </c:pt>
                <c:pt idx="2">
                  <c:v>10.31</c:v>
                </c:pt>
                <c:pt idx="3">
                  <c:v>12.12</c:v>
                </c:pt>
                <c:pt idx="4">
                  <c:v>8.63</c:v>
                </c:pt>
                <c:pt idx="5">
                  <c:v>8.67</c:v>
                </c:pt>
              </c:numCache>
            </c:numRef>
          </c:val>
          <c:smooth val="0"/>
        </c:ser>
        <c:dLbls>
          <c:numFmt formatCode="0.0" sourceLinked="0"/>
          <c:txPr>
            <a:bodyPr/>
            <a:lstStyle/>
            <a:p>
              <a:pPr>
                <a:defRPr b="0" i="0" strike="noStrike" sz="900" u="none">
                  <a:solidFill>
                    <a:srgbClr val="333333"/>
                  </a:solidFill>
                  <a:latin typeface="Meiryo UI"/>
                </a:defRPr>
              </a:pPr>
            </a:p>
          </c:txPr>
          <c:dLblPos val="t"/>
          <c:showLegendKey val="0"/>
          <c:showVal val="0"/>
          <c:showCatName val="0"/>
          <c:showSerName val="0"/>
          <c:showPercent val="0"/>
          <c:showBubbleSize val="0"/>
          <c:showLeaderLines val="0"/>
        </c:dLbls>
        <c:marker val="1"/>
        <c:axId val="2094734554"/>
        <c:axId val="2094734552"/>
        <c:axId val="2094734556"/>
      </c:lineChart>
      <c:lineChart>
        <c:varyColors val="0"/>
        <c:ser>
          <c:idx val="2"/>
          <c:order val="2"/>
          <c:tx>
            <c:strRef>
              <c:f>Sheet1!$D$1</c:f>
              <c:strCache>
                <c:ptCount val="1"/>
                <c:pt idx="0">
                  <c:v>ベース</c:v>
                </c:pt>
              </c:strCache>
            </c:strRef>
          </c:tx>
          <c:spPr>
            <a:solidFill>
              <a:srgbClr val="197A56"/>
            </a:solidFill>
            <a:ln w="25400" cap="flat">
              <a:solidFill>
                <a:srgbClr val="197A56"/>
              </a:solidFill>
              <a:prstDash val="solid"/>
              <a:round/>
            </a:ln>
            <a:effectLst/>
          </c:spPr>
          <c:invertIfNegative val="0"/>
          <c:dLbls>
            <c:numFmt formatCode="0.0" sourceLinked="0"/>
            <c:txPr>
              <a:bodyPr/>
              <a:lstStyle/>
              <a:p>
                <a:pPr>
                  <a:defRPr b="0" i="0" strike="noStrike" sz="900" u="none">
                    <a:solidFill>
                      <a:srgbClr val="333333"/>
                    </a:solidFill>
                    <a:latin typeface="Meiryo UI"/>
                  </a:defRPr>
                </a:pPr>
              </a:p>
            </c:txPr>
            <c:dLblPos val="t"/>
            <c:showLegendKey val="0"/>
            <c:showVal val="1"/>
            <c:showCatName val="0"/>
            <c:showSerName val="0"/>
            <c:showPercent val="0"/>
            <c:showBubbleSize val="0"/>
            <c:showLeaderLines val="0"/>
          </c:dLbls>
          <c:marker>
            <c:symbol val="circle"/>
            <c:size val="6"/>
            <c:spPr>
              <a:solidFill>
                <a:srgbClr val="197A56"/>
              </a:solidFill>
              <a:ln w="9525" cap="flat">
                <a:solidFill>
                  <a:srgbClr val="197A56"/>
                </a:solidFill>
                <a:prstDash val="solid"/>
                <a:round/>
              </a:ln>
              <a:effectLst/>
            </c:spPr>
          </c:marker>
          <c:cat>
            <c:multiLvlStrRef>
              <c:f>Sheet1!$A$2:$A$7</c:f>
              <c:multiLvlStrCache>
                <c:ptCount val="6"/>
                <c:lvl>
                  <c:pt idx="0">
                    <c:v>FY27</c:v>
                  </c:pt>
                  <c:pt idx="1">
                    <c:v>FY28</c:v>
                  </c:pt>
                  <c:pt idx="2">
                    <c:v>FY29</c:v>
                  </c:pt>
                  <c:pt idx="3">
                    <c:v>FY30</c:v>
                  </c:pt>
                  <c:pt idx="4">
                    <c:v>FY31(延長)</c:v>
                  </c:pt>
                  <c:pt idx="5">
                    <c:v>FY32(延長)</c:v>
                  </c:pt>
                </c:lvl>
              </c:multiLvlStrCache>
            </c:multiLvlStrRef>
          </c:cat>
          <c:val>
            <c:numRef>
              <c:f>Sheet1!$D$2:$D$7</c:f>
              <c:numCache>
                <c:formatCode>General</c:formatCode>
                <c:ptCount val="6"/>
                <c:pt idx="0">
                  <c:v>6.85</c:v>
                </c:pt>
                <c:pt idx="1">
                  <c:v>9.65</c:v>
                </c:pt>
                <c:pt idx="2">
                  <c:v>14.42</c:v>
                </c:pt>
                <c:pt idx="3">
                  <c:v>19.07</c:v>
                </c:pt>
                <c:pt idx="4">
                  <c:v>24.33</c:v>
                </c:pt>
                <c:pt idx="5">
                  <c:v>29.48</c:v>
                </c:pt>
              </c:numCache>
            </c:numRef>
          </c:val>
          <c:smooth val="0"/>
        </c:ser>
        <c:dLbls>
          <c:numFmt formatCode="0.0" sourceLinked="0"/>
          <c:txPr>
            <a:bodyPr/>
            <a:lstStyle/>
            <a:p>
              <a:pPr>
                <a:defRPr b="0" i="0" strike="noStrike" sz="900" u="none">
                  <a:solidFill>
                    <a:srgbClr val="333333"/>
                  </a:solidFill>
                  <a:latin typeface="Meiryo UI"/>
                </a:defRPr>
              </a:pPr>
            </a:p>
          </c:txPr>
          <c:dLblPos val="t"/>
          <c:showLegendKey val="0"/>
          <c:showVal val="1"/>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valAx>
        <c:axId val="2094734553"/>
        <c:scaling>
          <c:orientation val="minMax"/>
          <c:max val="40"/>
          <c:min val="0"/>
        </c:scaling>
        <c:delete val="1"/>
        <c:axPos val="r"/>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3"/>
        <c:crosses val="autoZero"/>
        <c:auto val="1"/>
        <c:lblAlgn val="ctr"/>
        <c:noMultiLvlLbl val="1"/>
      </c:catAx>
      <c:spPr>
        <a:noFill/>
        <a:ln>
          <a:noFill/>
        </a:ln>
        <a:effectLst/>
      </c:spPr>
    </c:plotArea>
    <c:legend>
      <c:legendPos val="b"/>
      <c:overlay val="0"/>
      <c:txPr>
        <a:bodyPr/>
        <a:lstStyle/>
        <a:p>
          <a:pPr>
            <a:defRPr sz="900">
              <a:latin typeface="Meiryo UI"/>
              <a:cs typeface="Meiryo UI"/>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理論株価(ドル)</c:v>
                </c:pt>
              </c:strCache>
            </c:strRef>
          </c:tx>
          <c:spPr>
            <a:solidFill>
              <a:srgbClr val="197A56"/>
            </a:solidFill>
            <a:effectLst/>
          </c:spPr>
          <c:invertIfNegative val="0"/>
          <c:dLbls>
            <c:numFmt formatCode="0"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cat>
            <c:multiLvlStrRef>
              <c:f>Sheet1!$A$2:$A$6</c:f>
              <c:multiLvlStrCache>
                <c:ptCount val="5"/>
                <c:lvl>
                  <c:pt idx="0">
                    <c:v>弱気 15%</c:v>
                  </c:pt>
                  <c:pt idx="1">
                    <c:v>25%(本資料)</c:v>
                  </c:pt>
                  <c:pt idx="2">
                    <c:v>35%</c:v>
                  </c:pt>
                  <c:pt idx="3">
                    <c:v>50%</c:v>
                  </c:pt>
                  <c:pt idx="4">
                    <c:v>75%</c:v>
                  </c:pt>
                </c:lvl>
              </c:multiLvlStrCache>
            </c:multiLvlStrRef>
          </c:cat>
          <c:val>
            <c:numRef>
              <c:f>Sheet1!$B$2:$B$6</c:f>
              <c:numCache>
                <c:formatCode>General</c:formatCode>
                <c:ptCount val="5"/>
                <c:pt idx="0">
                  <c:v>268</c:v>
                </c:pt>
                <c:pt idx="1">
                  <c:v>251</c:v>
                </c:pt>
                <c:pt idx="2">
                  <c:v>233</c:v>
                </c:pt>
                <c:pt idx="3">
                  <c:v>207</c:v>
                </c:pt>
                <c:pt idx="4">
                  <c:v>164</c:v>
                </c:pt>
              </c:numCache>
            </c:numRef>
          </c:val>
        </c:ser>
        <c:dLbls>
          <c:numFmt formatCode="0"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300"/>
          <c:min val="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理論株価(ドル)</c:v>
                </c:pt>
              </c:strCache>
            </c:strRef>
          </c:tx>
          <c:spPr>
            <a:solidFill>
              <a:srgbClr val="197A56"/>
            </a:solidFill>
            <a:effectLst/>
          </c:spPr>
          <c:invertIfNegative val="0"/>
          <c:dLbls>
            <c:numFmt formatCode="0"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cat>
            <c:multiLvlStrRef>
              <c:f>Sheet1!$A$2:$A$8</c:f>
              <c:multiLvlStrCache>
                <c:ptCount val="7"/>
                <c:lvl>
                  <c:pt idx="0">
                    <c:v>第1版</c:v>
                  </c:pt>
                  <c:pt idx="1">
                    <c:v>第3版</c:v>
                  </c:pt>
                  <c:pt idx="2">
                    <c:v>第3.1版</c:v>
                  </c:pt>
                  <c:pt idx="3">
                    <c:v>第4.0版</c:v>
                  </c:pt>
                  <c:pt idx="4">
                    <c:v>第4.1版</c:v>
                  </c:pt>
                  <c:pt idx="5">
                    <c:v>第4.2版</c:v>
                  </c:pt>
                  <c:pt idx="6">
                    <c:v>第4.3版</c:v>
                  </c:pt>
                </c:lvl>
              </c:multiLvlStrCache>
            </c:multiLvlStrRef>
          </c:cat>
          <c:val>
            <c:numRef>
              <c:f>Sheet1!$B$2:$B$8</c:f>
              <c:numCache>
                <c:formatCode>General</c:formatCode>
                <c:ptCount val="7"/>
                <c:pt idx="0">
                  <c:v>134</c:v>
                </c:pt>
                <c:pt idx="1">
                  <c:v>137</c:v>
                </c:pt>
                <c:pt idx="2">
                  <c:v>151</c:v>
                </c:pt>
                <c:pt idx="3">
                  <c:v>270</c:v>
                </c:pt>
                <c:pt idx="4">
                  <c:v>277</c:v>
                </c:pt>
                <c:pt idx="5">
                  <c:v>255</c:v>
                </c:pt>
                <c:pt idx="6">
                  <c:v>251</c:v>
                </c:pt>
              </c:numCache>
            </c:numRef>
          </c:val>
        </c:ser>
        <c:dLbls>
          <c:numFmt formatCode="0"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bg_cover"/>
          <p:cNvSpPr/>
          <p:nvPr/>
        </p:nvSpPr>
        <p:spPr>
          <a:xfrm>
            <a:off x="0" y="0"/>
            <a:ext cx="7863840" cy="6858000"/>
          </a:xfrm>
          <a:prstGeom prst="rect">
            <a:avLst/>
          </a:prstGeom>
          <a:solidFill>
            <a:srgbClr val="0E4D33"/>
          </a:solidFill>
          <a:ln w="12700">
            <a:solidFill>
              <a:srgbClr val="0E4D33"/>
            </a:solidFill>
            <a:prstDash val="solid"/>
          </a:ln>
        </p:spPr>
      </p:sp>
      <p:sp>
        <p:nvSpPr>
          <p:cNvPr id="3" name="bg_cover_title"/>
          <p:cNvSpPr txBox="1"/>
          <p:nvPr/>
        </p:nvSpPr>
        <p:spPr>
          <a:xfrm>
            <a:off x="731520" y="1828800"/>
            <a:ext cx="6583680" cy="1737360"/>
          </a:xfrm>
          <a:prstGeom prst="rect">
            <a:avLst/>
          </a:prstGeom>
          <a:noFill/>
          <a:ln/>
        </p:spPr>
        <p:txBody>
          <a:bodyPr wrap="square" lIns="508" tIns="508" rIns="508" bIns="508" rtlCol="0" anchor="b"/>
          <a:lstStyle/>
          <a:p>
            <a:pPr indent="0" marL="0">
              <a:buNone/>
            </a:pPr>
            <a:r>
              <a:rPr lang="en-US" sz="3000" b="1" dirty="0">
                <a:solidFill>
                  <a:srgbClr val="FFFFFF"/>
                </a:solidFill>
                <a:latin typeface="Meiryo UI" pitchFamily="34" charset="0"/>
                <a:ea typeface="Meiryo UI" pitchFamily="34" charset="-122"/>
                <a:cs typeface="Meiryo UI" pitchFamily="34" charset="-120"/>
              </a:rPr>
              <a:t>Oracle(ORCL)</a:t>
            </a:r>
            <a:endParaRPr lang="en-US" sz="3000" dirty="0"/>
          </a:p>
          <a:p>
            <a:pPr indent="0" marL="0">
              <a:buNone/>
            </a:pPr>
            <a:r>
              <a:rPr lang="en-US" sz="3000" b="1" dirty="0">
                <a:solidFill>
                  <a:srgbClr val="FFFFFF"/>
                </a:solidFill>
                <a:latin typeface="Meiryo UI" pitchFamily="34" charset="0"/>
                <a:ea typeface="Meiryo UI" pitchFamily="34" charset="-122"/>
                <a:cs typeface="Meiryo UI" pitchFamily="34" charset="-120"/>
              </a:rPr>
              <a:t>長期保有適格性審査</a:t>
            </a:r>
            <a:endParaRPr lang="en-US" sz="3000" dirty="0"/>
          </a:p>
        </p:txBody>
      </p:sp>
      <p:sp>
        <p:nvSpPr>
          <p:cNvPr id="4" name="bg_cover_sub"/>
          <p:cNvSpPr txBox="1"/>
          <p:nvPr/>
        </p:nvSpPr>
        <p:spPr>
          <a:xfrm>
            <a:off x="731520" y="3749040"/>
            <a:ext cx="6583680" cy="1097280"/>
          </a:xfrm>
          <a:prstGeom prst="rect">
            <a:avLst/>
          </a:prstGeom>
          <a:noFill/>
          <a:ln/>
        </p:spPr>
        <p:txBody>
          <a:bodyPr wrap="square" lIns="508" tIns="508" rIns="508" bIns="508" rtlCol="0" anchor="t"/>
          <a:lstStyle/>
          <a:p>
            <a:pPr indent="0" marL="0">
              <a:buNone/>
            </a:pPr>
            <a:r>
              <a:rPr lang="en-US" sz="1400" dirty="0">
                <a:solidFill>
                  <a:srgbClr val="FFFFFF"/>
                </a:solidFill>
                <a:latin typeface="Meiryo UI" pitchFamily="34" charset="0"/>
                <a:ea typeface="Meiryo UI" pitchFamily="34" charset="-122"/>
                <a:cs typeface="Meiryo UI" pitchFamily="34" charset="-120"/>
              </a:rPr>
              <a:t>市場は AI 容量の現金化を疑い、株価は弱気寄りの倍率にとどまる</a:t>
            </a:r>
            <a:endParaRPr lang="en-US" sz="1400" dirty="0"/>
          </a:p>
          <a:p>
            <a:pPr indent="0" marL="0">
              <a:buNone/>
            </a:pPr>
            <a:r>
              <a:rPr lang="en-US" sz="1400" dirty="0">
                <a:solidFill>
                  <a:srgbClr val="FFFFFF"/>
                </a:solidFill>
                <a:latin typeface="Meiryo UI" pitchFamily="34" charset="0"/>
                <a:ea typeface="Meiryo UI" pitchFamily="34" charset="-122"/>
                <a:cs typeface="Meiryo UI" pitchFamily="34" charset="-120"/>
              </a:rPr>
              <a:t>第4.3版(品質確認と再検証の反映後)</a:t>
            </a:r>
            <a:endParaRPr lang="en-US" sz="1400" dirty="0"/>
          </a:p>
        </p:txBody>
      </p:sp>
      <p:sp>
        <p:nvSpPr>
          <p:cNvPr id="5" name="bg_cover_date"/>
          <p:cNvSpPr txBox="1"/>
          <p:nvPr/>
        </p:nvSpPr>
        <p:spPr>
          <a:xfrm>
            <a:off x="731520" y="5943600"/>
            <a:ext cx="4572000" cy="365760"/>
          </a:xfrm>
          <a:prstGeom prst="rect">
            <a:avLst/>
          </a:prstGeom>
          <a:noFill/>
          <a:ln/>
        </p:spPr>
        <p:txBody>
          <a:bodyPr wrap="square" lIns="508" tIns="508" rIns="508" bIns="508" rtlCol="0" anchor="t"/>
          <a:lstStyle/>
          <a:p>
            <a:pPr indent="0" marL="0">
              <a:buNone/>
            </a:pPr>
            <a:r>
              <a:rPr lang="en-US" sz="1100" dirty="0">
                <a:solidFill>
                  <a:srgbClr val="86C99B"/>
                </a:solidFill>
                <a:latin typeface="Meiryo UI" pitchFamily="34" charset="0"/>
                <a:ea typeface="Meiryo UI" pitchFamily="34" charset="-122"/>
                <a:cs typeface="Meiryo UI" pitchFamily="34" charset="-120"/>
              </a:rPr>
              <a:t>2026-10-17</a:t>
            </a:r>
            <a:endParaRPr lang="en-US" sz="1100" dirty="0"/>
          </a:p>
        </p:txBody>
      </p:sp>
      <p:sp>
        <p:nvSpPr>
          <p:cNvPr id="6" name="bg_cover_k1"/>
          <p:cNvSpPr txBox="1"/>
          <p:nvPr/>
        </p:nvSpPr>
        <p:spPr>
          <a:xfrm>
            <a:off x="8321040" y="1828800"/>
            <a:ext cx="3410712" cy="274320"/>
          </a:xfrm>
          <a:prstGeom prst="rect">
            <a:avLst/>
          </a:prstGeom>
          <a:noFill/>
          <a:ln/>
        </p:spPr>
        <p:txBody>
          <a:bodyPr wrap="square" lIns="508" tIns="508" rIns="508" bIns="508" rtlCol="0" anchor="t"/>
          <a:lstStyle/>
          <a:p>
            <a:pPr indent="0" marL="0">
              <a:buNone/>
            </a:pPr>
            <a:r>
              <a:rPr lang="en-US" sz="1100" dirty="0">
                <a:solidFill>
                  <a:srgbClr val="767676"/>
                </a:solidFill>
                <a:latin typeface="Meiryo UI" pitchFamily="34" charset="0"/>
                <a:ea typeface="Meiryo UI" pitchFamily="34" charset="-122"/>
                <a:cs typeface="Meiryo UI" pitchFamily="34" charset="-120"/>
              </a:rPr>
              <a:t>最終判断</a:t>
            </a:r>
            <a:endParaRPr lang="en-US" sz="1100" dirty="0"/>
          </a:p>
        </p:txBody>
      </p:sp>
      <p:sp>
        <p:nvSpPr>
          <p:cNvPr id="7" name="bg_cover_k1v"/>
          <p:cNvSpPr txBox="1"/>
          <p:nvPr/>
        </p:nvSpPr>
        <p:spPr>
          <a:xfrm>
            <a:off x="8321040" y="2121408"/>
            <a:ext cx="3410712" cy="548640"/>
          </a:xfrm>
          <a:prstGeom prst="rect">
            <a:avLst/>
          </a:prstGeom>
          <a:noFill/>
          <a:ln/>
        </p:spPr>
        <p:txBody>
          <a:bodyPr wrap="square" lIns="508" tIns="508" rIns="508" bIns="508" rtlCol="0" anchor="t"/>
          <a:lstStyle/>
          <a:p>
            <a:pPr indent="0" marL="0">
              <a:buNone/>
            </a:pPr>
            <a:r>
              <a:rPr lang="en-US" sz="2600" b="1" dirty="0">
                <a:solidFill>
                  <a:srgbClr val="197A56"/>
                </a:solidFill>
                <a:latin typeface="Meiryo UI" pitchFamily="34" charset="0"/>
                <a:ea typeface="Meiryo UI" pitchFamily="34" charset="-122"/>
                <a:cs typeface="Meiryo UI" pitchFamily="34" charset="-120"/>
              </a:rPr>
              <a:t>買い検討</a:t>
            </a:r>
            <a:endParaRPr lang="en-US" sz="2600" dirty="0"/>
          </a:p>
        </p:txBody>
      </p:sp>
      <p:sp>
        <p:nvSpPr>
          <p:cNvPr id="8" name="bg_cover_k2"/>
          <p:cNvSpPr txBox="1"/>
          <p:nvPr/>
        </p:nvSpPr>
        <p:spPr>
          <a:xfrm>
            <a:off x="8321040" y="3017520"/>
            <a:ext cx="3410712" cy="274320"/>
          </a:xfrm>
          <a:prstGeom prst="rect">
            <a:avLst/>
          </a:prstGeom>
          <a:noFill/>
          <a:ln/>
        </p:spPr>
        <p:txBody>
          <a:bodyPr wrap="square" lIns="508" tIns="508" rIns="508" bIns="508" rtlCol="0" anchor="t"/>
          <a:lstStyle/>
          <a:p>
            <a:pPr indent="0" marL="0">
              <a:buNone/>
            </a:pPr>
            <a:r>
              <a:rPr lang="en-US" sz="1100" dirty="0">
                <a:solidFill>
                  <a:srgbClr val="767676"/>
                </a:solidFill>
                <a:latin typeface="Meiryo UI" pitchFamily="34" charset="0"/>
                <a:ea typeface="Meiryo UI" pitchFamily="34" charset="-122"/>
                <a:cs typeface="Meiryo UI" pitchFamily="34" charset="-120"/>
              </a:rPr>
              <a:t>理論株価(確率加重)</a:t>
            </a:r>
            <a:endParaRPr lang="en-US" sz="1100" dirty="0"/>
          </a:p>
        </p:txBody>
      </p:sp>
      <p:sp>
        <p:nvSpPr>
          <p:cNvPr id="9" name="bg_cover_k2v"/>
          <p:cNvSpPr txBox="1"/>
          <p:nvPr/>
        </p:nvSpPr>
        <p:spPr>
          <a:xfrm>
            <a:off x="8321040" y="3310128"/>
            <a:ext cx="3410712" cy="548640"/>
          </a:xfrm>
          <a:prstGeom prst="rect">
            <a:avLst/>
          </a:prstGeom>
          <a:noFill/>
          <a:ln/>
        </p:spPr>
        <p:txBody>
          <a:bodyPr wrap="square" lIns="508" tIns="508" rIns="508" bIns="508" rtlCol="0" anchor="t"/>
          <a:lstStyle/>
          <a:p>
            <a:pPr indent="0" marL="0">
              <a:buNone/>
            </a:pPr>
            <a:r>
              <a:rPr lang="en-US" sz="2600" b="1" dirty="0">
                <a:solidFill>
                  <a:srgbClr val="197A56"/>
                </a:solidFill>
                <a:latin typeface="Meiryo UI" pitchFamily="34" charset="0"/>
                <a:ea typeface="Meiryo UI" pitchFamily="34" charset="-122"/>
                <a:cs typeface="Meiryo UI" pitchFamily="34" charset="-120"/>
              </a:rPr>
              <a:t>251 ドル</a:t>
            </a:r>
            <a:endParaRPr lang="en-US" sz="2600" dirty="0"/>
          </a:p>
        </p:txBody>
      </p:sp>
      <p:sp>
        <p:nvSpPr>
          <p:cNvPr id="10" name="bg_cover_k3"/>
          <p:cNvSpPr txBox="1"/>
          <p:nvPr/>
        </p:nvSpPr>
        <p:spPr>
          <a:xfrm>
            <a:off x="8321040" y="4206240"/>
            <a:ext cx="3410712" cy="274320"/>
          </a:xfrm>
          <a:prstGeom prst="rect">
            <a:avLst/>
          </a:prstGeom>
          <a:noFill/>
          <a:ln/>
        </p:spPr>
        <p:txBody>
          <a:bodyPr wrap="square" lIns="508" tIns="508" rIns="508" bIns="508" rtlCol="0" anchor="t"/>
          <a:lstStyle/>
          <a:p>
            <a:pPr indent="0" marL="0">
              <a:buNone/>
            </a:pPr>
            <a:r>
              <a:rPr lang="en-US" sz="1100" dirty="0">
                <a:solidFill>
                  <a:srgbClr val="767676"/>
                </a:solidFill>
                <a:latin typeface="Meiryo UI" pitchFamily="34" charset="0"/>
                <a:ea typeface="Meiryo UI" pitchFamily="34" charset="-122"/>
                <a:cs typeface="Meiryo UI" pitchFamily="34" charset="-120"/>
              </a:rPr>
              <a:t>構造評価</a:t>
            </a:r>
            <a:endParaRPr lang="en-US" sz="1100" dirty="0"/>
          </a:p>
        </p:txBody>
      </p:sp>
      <p:sp>
        <p:nvSpPr>
          <p:cNvPr id="11" name="bg_cover_k3v"/>
          <p:cNvSpPr txBox="1"/>
          <p:nvPr/>
        </p:nvSpPr>
        <p:spPr>
          <a:xfrm>
            <a:off x="8321040" y="4498848"/>
            <a:ext cx="3410712" cy="548640"/>
          </a:xfrm>
          <a:prstGeom prst="rect">
            <a:avLst/>
          </a:prstGeom>
          <a:noFill/>
          <a:ln/>
        </p:spPr>
        <p:txBody>
          <a:bodyPr wrap="square" lIns="508" tIns="508" rIns="508" bIns="508" rtlCol="0" anchor="t"/>
          <a:lstStyle/>
          <a:p>
            <a:pPr indent="0" marL="0">
              <a:buNone/>
            </a:pPr>
            <a:r>
              <a:rPr lang="en-US" sz="2600" b="1" dirty="0">
                <a:solidFill>
                  <a:srgbClr val="197A56"/>
                </a:solidFill>
                <a:latin typeface="Meiryo UI" pitchFamily="34" charset="0"/>
                <a:ea typeface="Meiryo UI" pitchFamily="34" charset="-122"/>
                <a:cs typeface="Meiryo UI" pitchFamily="34" charset="-120"/>
              </a:rPr>
              <a:t>B</a:t>
            </a:r>
            <a:endParaRPr lang="en-US" sz="2600" dirty="0"/>
          </a:p>
        </p:txBody>
      </p:sp>
      <p:sp>
        <p:nvSpPr>
          <p:cNvPr id="12" name="bg_cover_note"/>
          <p:cNvSpPr txBox="1"/>
          <p:nvPr/>
        </p:nvSpPr>
        <p:spPr>
          <a:xfrm>
            <a:off x="8321040" y="5303520"/>
            <a:ext cx="3410712" cy="548640"/>
          </a:xfrm>
          <a:prstGeom prst="rect">
            <a:avLst/>
          </a:prstGeom>
          <a:noFill/>
          <a:ln/>
        </p:spPr>
        <p:txBody>
          <a:bodyPr wrap="square" lIns="508" tIns="508" rIns="508" bIns="508" rtlCol="0" anchor="t"/>
          <a:lstStyle/>
          <a:p>
            <a:pPr indent="0" marL="0">
              <a:buNone/>
            </a:pPr>
            <a:r>
              <a:rPr lang="en-US" sz="950" dirty="0">
                <a:solidFill>
                  <a:srgbClr val="767676"/>
                </a:solidFill>
                <a:latin typeface="Meiryo UI" pitchFamily="34" charset="0"/>
                <a:ea typeface="Meiryo UI" pitchFamily="34" charset="-122"/>
                <a:cs typeface="Meiryo UI" pitchFamily="34" charset="-120"/>
              </a:rPr>
              <a:t>株価 143.20 ドル(2026-10-13 終値)の 1.75 倍</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第1章 評価総括</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1-1 結論</a:t>
            </a:r>
            <a:endParaRPr lang="en-US" sz="900" dirty="0"/>
          </a:p>
        </p:txBody>
      </p:sp>
      <p:sp>
        <p:nvSpPr>
          <p:cNvPr id="4" name="bg_hdr_pill0"/>
          <p:cNvSpPr/>
          <p:nvPr/>
        </p:nvSpPr>
        <p:spPr>
          <a:xfrm>
            <a:off x="8479231" y="64008"/>
            <a:ext cx="786384" cy="182880"/>
          </a:xfrm>
          <a:prstGeom prst="roundRect">
            <a:avLst>
              <a:gd name="adj" fmla="val 20000"/>
            </a:avLst>
          </a:prstGeom>
          <a:solidFill>
            <a:srgbClr val="197A56"/>
          </a:solidFill>
          <a:ln w="9525">
            <a:solidFill>
              <a:srgbClr val="197A56"/>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017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017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結論</a:t>
            </a:r>
            <a:endParaRPr lang="en-US" sz="1000" dirty="0"/>
          </a:p>
        </p:txBody>
      </p:sp>
      <p:sp>
        <p:nvSpPr>
          <p:cNvPr id="14" name="hdr_why"/>
          <p:cNvSpPr txBox="1"/>
          <p:nvPr/>
        </p:nvSpPr>
        <p:spPr>
          <a:xfrm>
            <a:off x="1620774" y="356616"/>
            <a:ext cx="10113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最初に判断と根拠の骨格を示す。詳しい根拠は各章で確かめる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構造評価 B・理論株価 251 ドル(株価の 1.75 倍)で「買い検討」。</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争点は FY29 の FCF と OpenAI の支払能力</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エグゼクティブサマリ</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会社開示(Q1 FY27)、コンセンサス(Yahoo・FactSet・tickflow)、需給エンジン第4.3版(calc/out/m8_fair.json)。株価は 2026-10-13 終値</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a:t>
            </a:r>
            <a:endParaRPr lang="en-US" sz="800" dirty="0"/>
          </a:p>
        </p:txBody>
      </p:sp>
      <p:sp>
        <p:nvSpPr>
          <p:cNvPr id="19" name="ovl_tile0"/>
          <p:cNvSpPr/>
          <p:nvPr/>
        </p:nvSpPr>
        <p:spPr>
          <a:xfrm>
            <a:off x="457200" y="1481328"/>
            <a:ext cx="2647874" cy="1325880"/>
          </a:xfrm>
          <a:prstGeom prst="rect">
            <a:avLst/>
          </a:prstGeom>
          <a:solidFill>
            <a:srgbClr val="EAF4EE"/>
          </a:solidFill>
          <a:ln w="9525">
            <a:solidFill>
              <a:srgbClr val="EAF4EE"/>
            </a:solidFill>
            <a:prstDash val="solid"/>
          </a:ln>
        </p:spPr>
      </p:sp>
      <p:sp>
        <p:nvSpPr>
          <p:cNvPr id="20" name="tile_v0"/>
          <p:cNvSpPr txBox="1"/>
          <p:nvPr/>
        </p:nvSpPr>
        <p:spPr>
          <a:xfrm>
            <a:off x="548640" y="1554480"/>
            <a:ext cx="2464994" cy="713232"/>
          </a:xfrm>
          <a:prstGeom prst="rect">
            <a:avLst/>
          </a:prstGeom>
          <a:noFill/>
          <a:ln/>
        </p:spPr>
        <p:txBody>
          <a:bodyPr wrap="square" lIns="0" tIns="0" rIns="0" bIns="0" rtlCol="0" anchor="ctr"/>
          <a:lstStyle/>
          <a:p>
            <a:pPr algn="ctr" indent="0" marL="0">
              <a:buNone/>
            </a:pPr>
            <a:r>
              <a:rPr lang="en-US" sz="3200" b="1" dirty="0">
                <a:solidFill>
                  <a:srgbClr val="197A56"/>
                </a:solidFill>
                <a:latin typeface="Meiryo UI" pitchFamily="34" charset="0"/>
                <a:ea typeface="Meiryo UI" pitchFamily="34" charset="-122"/>
                <a:cs typeface="Meiryo UI" pitchFamily="34" charset="-120"/>
              </a:rPr>
              <a:t>251 ドル</a:t>
            </a:r>
            <a:endParaRPr lang="en-US" sz="3200" dirty="0"/>
          </a:p>
        </p:txBody>
      </p:sp>
      <p:sp>
        <p:nvSpPr>
          <p:cNvPr id="21" name="tile_l0"/>
          <p:cNvSpPr txBox="1"/>
          <p:nvPr/>
        </p:nvSpPr>
        <p:spPr>
          <a:xfrm>
            <a:off x="548640" y="2286000"/>
            <a:ext cx="2464994" cy="274320"/>
          </a:xfrm>
          <a:prstGeom prst="rect">
            <a:avLst/>
          </a:prstGeom>
          <a:noFill/>
          <a:ln/>
        </p:spPr>
        <p:txBody>
          <a:bodyPr wrap="square" lIns="0" tIns="0" rIns="0" bIns="0" rtlCol="0" anchor="t"/>
          <a:lstStyle/>
          <a:p>
            <a:pPr algn="ctr" indent="0" marL="0">
              <a:buNone/>
            </a:pPr>
            <a:r>
              <a:rPr lang="en-US" sz="1050" b="1" dirty="0">
                <a:solidFill>
                  <a:srgbClr val="0E4D33"/>
                </a:solidFill>
                <a:latin typeface="Meiryo UI" pitchFamily="34" charset="0"/>
                <a:ea typeface="Meiryo UI" pitchFamily="34" charset="-122"/>
                <a:cs typeface="Meiryo UI" pitchFamily="34" charset="-120"/>
              </a:rPr>
              <a:t>理論株価(確率加重)</a:t>
            </a:r>
            <a:endParaRPr lang="en-US" sz="1050" dirty="0"/>
          </a:p>
        </p:txBody>
      </p:sp>
      <p:sp>
        <p:nvSpPr>
          <p:cNvPr id="22" name="tile_n0"/>
          <p:cNvSpPr txBox="1"/>
          <p:nvPr/>
        </p:nvSpPr>
        <p:spPr>
          <a:xfrm>
            <a:off x="548640" y="2551176"/>
            <a:ext cx="2464994" cy="301752"/>
          </a:xfrm>
          <a:prstGeom prst="rect">
            <a:avLst/>
          </a:prstGeom>
          <a:noFill/>
          <a:ln/>
        </p:spPr>
        <p:txBody>
          <a:bodyPr wrap="square" lIns="0" tIns="0" rIns="0" bIns="0" rtlCol="0" anchor="t"/>
          <a:lstStyle/>
          <a:p>
            <a:pPr algn="ctr" indent="0" marL="0">
              <a:buNone/>
            </a:pPr>
            <a:r>
              <a:rPr lang="en-US" sz="850" dirty="0">
                <a:solidFill>
                  <a:srgbClr val="767676"/>
                </a:solidFill>
                <a:latin typeface="Meiryo UI" pitchFamily="34" charset="0"/>
                <a:ea typeface="Meiryo UI" pitchFamily="34" charset="-122"/>
                <a:cs typeface="Meiryo UI" pitchFamily="34" charset="-120"/>
              </a:rPr>
              <a:t>ベース 261・強気 359・弱気 121</a:t>
            </a:r>
            <a:endParaRPr lang="en-US" sz="850" dirty="0"/>
          </a:p>
        </p:txBody>
      </p:sp>
      <p:sp>
        <p:nvSpPr>
          <p:cNvPr id="23" name="ovl_tile1"/>
          <p:cNvSpPr/>
          <p:nvPr/>
        </p:nvSpPr>
        <p:spPr>
          <a:xfrm>
            <a:off x="3333674" y="1481328"/>
            <a:ext cx="2647874" cy="1325880"/>
          </a:xfrm>
          <a:prstGeom prst="rect">
            <a:avLst/>
          </a:prstGeom>
          <a:solidFill>
            <a:srgbClr val="EAF4EE"/>
          </a:solidFill>
          <a:ln w="9525">
            <a:solidFill>
              <a:srgbClr val="EAF4EE"/>
            </a:solidFill>
            <a:prstDash val="solid"/>
          </a:ln>
        </p:spPr>
      </p:sp>
      <p:sp>
        <p:nvSpPr>
          <p:cNvPr id="24" name="tile_v1"/>
          <p:cNvSpPr txBox="1"/>
          <p:nvPr/>
        </p:nvSpPr>
        <p:spPr>
          <a:xfrm>
            <a:off x="3425114" y="1554480"/>
            <a:ext cx="2464994" cy="713232"/>
          </a:xfrm>
          <a:prstGeom prst="rect">
            <a:avLst/>
          </a:prstGeom>
          <a:noFill/>
          <a:ln/>
        </p:spPr>
        <p:txBody>
          <a:bodyPr wrap="square" lIns="0" tIns="0" rIns="0" bIns="0" rtlCol="0" anchor="ctr"/>
          <a:lstStyle/>
          <a:p>
            <a:pPr algn="ctr" indent="0" marL="0">
              <a:buNone/>
            </a:pPr>
            <a:r>
              <a:rPr lang="en-US" sz="3200" b="1" dirty="0">
                <a:solidFill>
                  <a:srgbClr val="197A56"/>
                </a:solidFill>
                <a:latin typeface="Meiryo UI" pitchFamily="34" charset="0"/>
                <a:ea typeface="Meiryo UI" pitchFamily="34" charset="-122"/>
                <a:cs typeface="Meiryo UI" pitchFamily="34" charset="-120"/>
              </a:rPr>
              <a:t>143.20 ドル</a:t>
            </a:r>
            <a:endParaRPr lang="en-US" sz="3200" dirty="0"/>
          </a:p>
        </p:txBody>
      </p:sp>
      <p:sp>
        <p:nvSpPr>
          <p:cNvPr id="25" name="tile_l1"/>
          <p:cNvSpPr txBox="1"/>
          <p:nvPr/>
        </p:nvSpPr>
        <p:spPr>
          <a:xfrm>
            <a:off x="3425114" y="2286000"/>
            <a:ext cx="2464994" cy="274320"/>
          </a:xfrm>
          <a:prstGeom prst="rect">
            <a:avLst/>
          </a:prstGeom>
          <a:noFill/>
          <a:ln/>
        </p:spPr>
        <p:txBody>
          <a:bodyPr wrap="square" lIns="0" tIns="0" rIns="0" bIns="0" rtlCol="0" anchor="t"/>
          <a:lstStyle/>
          <a:p>
            <a:pPr algn="ctr" indent="0" marL="0">
              <a:buNone/>
            </a:pPr>
            <a:r>
              <a:rPr lang="en-US" sz="1050" b="1" dirty="0">
                <a:solidFill>
                  <a:srgbClr val="0E4D33"/>
                </a:solidFill>
                <a:latin typeface="Meiryo UI" pitchFamily="34" charset="0"/>
                <a:ea typeface="Meiryo UI" pitchFamily="34" charset="-122"/>
                <a:cs typeface="Meiryo UI" pitchFamily="34" charset="-120"/>
              </a:rPr>
              <a:t>株価(10/13)</a:t>
            </a:r>
            <a:endParaRPr lang="en-US" sz="1050" dirty="0"/>
          </a:p>
        </p:txBody>
      </p:sp>
      <p:sp>
        <p:nvSpPr>
          <p:cNvPr id="26" name="tile_n1"/>
          <p:cNvSpPr txBox="1"/>
          <p:nvPr/>
        </p:nvSpPr>
        <p:spPr>
          <a:xfrm>
            <a:off x="3425114" y="2551176"/>
            <a:ext cx="2464994" cy="301752"/>
          </a:xfrm>
          <a:prstGeom prst="rect">
            <a:avLst/>
          </a:prstGeom>
          <a:noFill/>
          <a:ln/>
        </p:spPr>
        <p:txBody>
          <a:bodyPr wrap="square" lIns="0" tIns="0" rIns="0" bIns="0" rtlCol="0" anchor="t"/>
          <a:lstStyle/>
          <a:p>
            <a:pPr algn="ctr" indent="0" marL="0">
              <a:buNone/>
            </a:pPr>
            <a:r>
              <a:rPr lang="en-US" sz="850" dirty="0">
                <a:solidFill>
                  <a:srgbClr val="767676"/>
                </a:solidFill>
                <a:latin typeface="Meiryo UI" pitchFamily="34" charset="0"/>
                <a:ea typeface="Meiryo UI" pitchFamily="34" charset="-122"/>
                <a:cs typeface="Meiryo UI" pitchFamily="34" charset="-120"/>
              </a:rPr>
              <a:t>理論株価の 57%</a:t>
            </a:r>
            <a:endParaRPr lang="en-US" sz="850" dirty="0"/>
          </a:p>
        </p:txBody>
      </p:sp>
      <p:sp>
        <p:nvSpPr>
          <p:cNvPr id="27" name="ovl_tile2"/>
          <p:cNvSpPr/>
          <p:nvPr/>
        </p:nvSpPr>
        <p:spPr>
          <a:xfrm>
            <a:off x="6210148" y="1481328"/>
            <a:ext cx="2647874" cy="1325880"/>
          </a:xfrm>
          <a:prstGeom prst="rect">
            <a:avLst/>
          </a:prstGeom>
          <a:solidFill>
            <a:srgbClr val="EAF4EE"/>
          </a:solidFill>
          <a:ln w="9525">
            <a:solidFill>
              <a:srgbClr val="EAF4EE"/>
            </a:solidFill>
            <a:prstDash val="solid"/>
          </a:ln>
        </p:spPr>
      </p:sp>
      <p:sp>
        <p:nvSpPr>
          <p:cNvPr id="28" name="tile_v2"/>
          <p:cNvSpPr txBox="1"/>
          <p:nvPr/>
        </p:nvSpPr>
        <p:spPr>
          <a:xfrm>
            <a:off x="6301588" y="1554480"/>
            <a:ext cx="2464994" cy="713232"/>
          </a:xfrm>
          <a:prstGeom prst="rect">
            <a:avLst/>
          </a:prstGeom>
          <a:noFill/>
          <a:ln/>
        </p:spPr>
        <p:txBody>
          <a:bodyPr wrap="square" lIns="0" tIns="0" rIns="0" bIns="0" rtlCol="0" anchor="ctr"/>
          <a:lstStyle/>
          <a:p>
            <a:pPr algn="ctr" indent="0" marL="0">
              <a:buNone/>
            </a:pPr>
            <a:r>
              <a:rPr lang="en-US" sz="3200" b="1" dirty="0">
                <a:solidFill>
                  <a:srgbClr val="197A56"/>
                </a:solidFill>
                <a:latin typeface="Meiryo UI" pitchFamily="34" charset="0"/>
                <a:ea typeface="Meiryo UI" pitchFamily="34" charset="-122"/>
                <a:cs typeface="Meiryo UI" pitchFamily="34" charset="-120"/>
              </a:rPr>
              <a:t>B</a:t>
            </a:r>
            <a:endParaRPr lang="en-US" sz="3200" dirty="0"/>
          </a:p>
        </p:txBody>
      </p:sp>
      <p:sp>
        <p:nvSpPr>
          <p:cNvPr id="29" name="tile_l2"/>
          <p:cNvSpPr txBox="1"/>
          <p:nvPr/>
        </p:nvSpPr>
        <p:spPr>
          <a:xfrm>
            <a:off x="6301588" y="2286000"/>
            <a:ext cx="2464994" cy="274320"/>
          </a:xfrm>
          <a:prstGeom prst="rect">
            <a:avLst/>
          </a:prstGeom>
          <a:noFill/>
          <a:ln/>
        </p:spPr>
        <p:txBody>
          <a:bodyPr wrap="square" lIns="0" tIns="0" rIns="0" bIns="0" rtlCol="0" anchor="t"/>
          <a:lstStyle/>
          <a:p>
            <a:pPr algn="ctr" indent="0" marL="0">
              <a:buNone/>
            </a:pPr>
            <a:r>
              <a:rPr lang="en-US" sz="1050" b="1" dirty="0">
                <a:solidFill>
                  <a:srgbClr val="0E4D33"/>
                </a:solidFill>
                <a:latin typeface="Meiryo UI" pitchFamily="34" charset="0"/>
                <a:ea typeface="Meiryo UI" pitchFamily="34" charset="-122"/>
                <a:cs typeface="Meiryo UI" pitchFamily="34" charset="-120"/>
              </a:rPr>
              <a:t>構造評価</a:t>
            </a:r>
            <a:endParaRPr lang="en-US" sz="1050" dirty="0"/>
          </a:p>
        </p:txBody>
      </p:sp>
      <p:sp>
        <p:nvSpPr>
          <p:cNvPr id="30" name="tile_n2"/>
          <p:cNvSpPr txBox="1"/>
          <p:nvPr/>
        </p:nvSpPr>
        <p:spPr>
          <a:xfrm>
            <a:off x="6301588" y="2551176"/>
            <a:ext cx="2464994" cy="301752"/>
          </a:xfrm>
          <a:prstGeom prst="rect">
            <a:avLst/>
          </a:prstGeom>
          <a:noFill/>
          <a:ln/>
        </p:spPr>
        <p:txBody>
          <a:bodyPr wrap="square" lIns="0" tIns="0" rIns="0" bIns="0" rtlCol="0" anchor="t"/>
          <a:lstStyle/>
          <a:p>
            <a:pPr algn="ctr" indent="0" marL="0">
              <a:buNone/>
            </a:pPr>
            <a:r>
              <a:rPr lang="en-US" sz="850" dirty="0">
                <a:solidFill>
                  <a:srgbClr val="767676"/>
                </a:solidFill>
                <a:latin typeface="Meiryo UI" pitchFamily="34" charset="0"/>
                <a:ea typeface="Meiryo UI" pitchFamily="34" charset="-122"/>
                <a:cs typeface="Meiryo UI" pitchFamily="34" charset="-120"/>
              </a:rPr>
              <a:t>S1・A2・B8・C2</a:t>
            </a:r>
            <a:endParaRPr lang="en-US" sz="850" dirty="0"/>
          </a:p>
        </p:txBody>
      </p:sp>
      <p:sp>
        <p:nvSpPr>
          <p:cNvPr id="31" name="ovl_tile3"/>
          <p:cNvSpPr/>
          <p:nvPr/>
        </p:nvSpPr>
        <p:spPr>
          <a:xfrm>
            <a:off x="9086621" y="1481328"/>
            <a:ext cx="2647874" cy="1325880"/>
          </a:xfrm>
          <a:prstGeom prst="rect">
            <a:avLst/>
          </a:prstGeom>
          <a:solidFill>
            <a:srgbClr val="EAF4EE"/>
          </a:solidFill>
          <a:ln w="9525">
            <a:solidFill>
              <a:srgbClr val="EAF4EE"/>
            </a:solidFill>
            <a:prstDash val="solid"/>
          </a:ln>
        </p:spPr>
      </p:sp>
      <p:sp>
        <p:nvSpPr>
          <p:cNvPr id="32" name="tile_v3"/>
          <p:cNvSpPr txBox="1"/>
          <p:nvPr/>
        </p:nvSpPr>
        <p:spPr>
          <a:xfrm>
            <a:off x="9178061" y="1554480"/>
            <a:ext cx="2464994" cy="713232"/>
          </a:xfrm>
          <a:prstGeom prst="rect">
            <a:avLst/>
          </a:prstGeom>
          <a:noFill/>
          <a:ln/>
        </p:spPr>
        <p:txBody>
          <a:bodyPr wrap="square" lIns="0" tIns="0" rIns="0" bIns="0" rtlCol="0" anchor="ctr"/>
          <a:lstStyle/>
          <a:p>
            <a:pPr algn="ctr" indent="0" marL="0">
              <a:buNone/>
            </a:pPr>
            <a:r>
              <a:rPr lang="en-US" sz="3200" b="1" dirty="0">
                <a:solidFill>
                  <a:srgbClr val="0E4D33"/>
                </a:solidFill>
                <a:latin typeface="Meiryo UI" pitchFamily="34" charset="0"/>
                <a:ea typeface="Meiryo UI" pitchFamily="34" charset="-122"/>
                <a:cs typeface="Meiryo UI" pitchFamily="34" charset="-120"/>
              </a:rPr>
              <a:t>買い検討</a:t>
            </a:r>
            <a:endParaRPr lang="en-US" sz="3200" dirty="0"/>
          </a:p>
        </p:txBody>
      </p:sp>
      <p:sp>
        <p:nvSpPr>
          <p:cNvPr id="33" name="tile_l3"/>
          <p:cNvSpPr txBox="1"/>
          <p:nvPr/>
        </p:nvSpPr>
        <p:spPr>
          <a:xfrm>
            <a:off x="9178061" y="2286000"/>
            <a:ext cx="2464994" cy="274320"/>
          </a:xfrm>
          <a:prstGeom prst="rect">
            <a:avLst/>
          </a:prstGeom>
          <a:noFill/>
          <a:ln/>
        </p:spPr>
        <p:txBody>
          <a:bodyPr wrap="square" lIns="0" tIns="0" rIns="0" bIns="0" rtlCol="0" anchor="t"/>
          <a:lstStyle/>
          <a:p>
            <a:pPr algn="ctr" indent="0" marL="0">
              <a:buNone/>
            </a:pPr>
            <a:r>
              <a:rPr lang="en-US" sz="1050" b="1" dirty="0">
                <a:solidFill>
                  <a:srgbClr val="0E4D33"/>
                </a:solidFill>
                <a:latin typeface="Meiryo UI" pitchFamily="34" charset="0"/>
                <a:ea typeface="Meiryo UI" pitchFamily="34" charset="-122"/>
                <a:cs typeface="Meiryo UI" pitchFamily="34" charset="-120"/>
              </a:rPr>
              <a:t>最終判断</a:t>
            </a:r>
            <a:endParaRPr lang="en-US" sz="1050" dirty="0"/>
          </a:p>
        </p:txBody>
      </p:sp>
      <p:sp>
        <p:nvSpPr>
          <p:cNvPr id="34" name="tile_n3"/>
          <p:cNvSpPr txBox="1"/>
          <p:nvPr/>
        </p:nvSpPr>
        <p:spPr>
          <a:xfrm>
            <a:off x="9178061" y="2551176"/>
            <a:ext cx="2464994" cy="301752"/>
          </a:xfrm>
          <a:prstGeom prst="rect">
            <a:avLst/>
          </a:prstGeom>
          <a:noFill/>
          <a:ln/>
        </p:spPr>
        <p:txBody>
          <a:bodyPr wrap="square" lIns="0" tIns="0" rIns="0" bIns="0" rtlCol="0" anchor="t"/>
          <a:lstStyle/>
          <a:p>
            <a:pPr algn="ctr" indent="0" marL="0">
              <a:buNone/>
            </a:pPr>
            <a:r>
              <a:rPr lang="en-US" sz="850" dirty="0">
                <a:solidFill>
                  <a:srgbClr val="767676"/>
                </a:solidFill>
                <a:latin typeface="Meiryo UI" pitchFamily="34" charset="0"/>
                <a:ea typeface="Meiryo UI" pitchFamily="34" charset="-122"/>
                <a:cs typeface="Meiryo UI" pitchFamily="34" charset="-120"/>
              </a:rPr>
              <a:t>分割エントリー圏 136〜229 ドル</a:t>
            </a:r>
            <a:endParaRPr lang="en-US" sz="850" dirty="0"/>
          </a:p>
        </p:txBody>
      </p:sp>
      <p:sp>
        <p:nvSpPr>
          <p:cNvPr id="35" name="ovl_rail0"/>
          <p:cNvSpPr/>
          <p:nvPr/>
        </p:nvSpPr>
        <p:spPr>
          <a:xfrm>
            <a:off x="457200" y="2971800"/>
            <a:ext cx="2103120" cy="603504"/>
          </a:xfrm>
          <a:prstGeom prst="rect">
            <a:avLst/>
          </a:prstGeom>
          <a:solidFill>
            <a:srgbClr val="0E4D33"/>
          </a:solidFill>
          <a:ln w="9525">
            <a:solidFill>
              <a:srgbClr val="0E4D33"/>
            </a:solidFill>
            <a:prstDash val="solid"/>
          </a:ln>
        </p:spPr>
      </p:sp>
      <p:sp>
        <p:nvSpPr>
          <p:cNvPr id="36" name="rail0"/>
          <p:cNvSpPr txBox="1"/>
          <p:nvPr/>
        </p:nvSpPr>
        <p:spPr>
          <a:xfrm>
            <a:off x="566928" y="2971800"/>
            <a:ext cx="1920240" cy="603504"/>
          </a:xfrm>
          <a:prstGeom prst="rect">
            <a:avLst/>
          </a:prstGeom>
          <a:noFill/>
          <a:ln/>
        </p:spPr>
        <p:txBody>
          <a:bodyPr wrap="square" lIns="0" tIns="0" rIns="0" bIns="0" rtlCol="0" anchor="ctr"/>
          <a:lstStyle/>
          <a:p>
            <a:pPr indent="0" marL="0">
              <a:buNone/>
            </a:pPr>
            <a:r>
              <a:rPr lang="en-US" sz="1200" b="1" dirty="0">
                <a:solidFill>
                  <a:srgbClr val="FFFFFF"/>
                </a:solidFill>
                <a:latin typeface="Meiryo UI" pitchFamily="34" charset="0"/>
                <a:ea typeface="Meiryo UI" pitchFamily="34" charset="-122"/>
                <a:cs typeface="Meiryo UI" pitchFamily="34" charset="-120"/>
              </a:rPr>
              <a:t>結論</a:t>
            </a:r>
            <a:endParaRPr lang="en-US" sz="1200" dirty="0"/>
          </a:p>
        </p:txBody>
      </p:sp>
      <p:sp>
        <p:nvSpPr>
          <p:cNvPr id="37" name="body0"/>
          <p:cNvSpPr txBox="1"/>
          <p:nvPr/>
        </p:nvSpPr>
        <p:spPr>
          <a:xfrm>
            <a:off x="2743200" y="2971800"/>
            <a:ext cx="8988552" cy="603504"/>
          </a:xfrm>
          <a:prstGeom prst="rect">
            <a:avLst/>
          </a:prstGeom>
          <a:noFill/>
          <a:ln/>
        </p:spPr>
        <p:txBody>
          <a:bodyPr wrap="square" lIns="508" tIns="508" rIns="508" bIns="508" rtlCol="0" anchor="ctr"/>
          <a:lstStyle/>
          <a:p>
            <a:pPr indent="0" marL="0">
              <a:buNone/>
            </a:pPr>
            <a:r>
              <a:rPr lang="en-US" sz="1100" dirty="0">
                <a:solidFill>
                  <a:srgbClr val="333333"/>
                </a:solidFill>
                <a:latin typeface="Meiryo UI" pitchFamily="34" charset="0"/>
                <a:ea typeface="Meiryo UI" pitchFamily="34" charset="-122"/>
                <a:cs typeface="Meiryo UI" pitchFamily="34" charset="-120"/>
              </a:rPr>
              <a:t>構造は B、価格は理論株価の 57%。ただし争点(FY29 の FCF・OpenAI)で市場との差分が確立していないため「買い」ではなく</a:t>
            </a:r>
            <a:endParaRPr lang="en-US" sz="1100" dirty="0"/>
          </a:p>
          <a:p>
            <a:pPr indent="0" marL="0">
              <a:buNone/>
            </a:pPr>
            <a:r>
              <a:rPr lang="en-US" sz="1100" dirty="0">
                <a:solidFill>
                  <a:srgbClr val="333333"/>
                </a:solidFill>
                <a:latin typeface="Meiryo UI" pitchFamily="34" charset="0"/>
                <a:ea typeface="Meiryo UI" pitchFamily="34" charset="-122"/>
                <a:cs typeface="Meiryo UI" pitchFamily="34" charset="-120"/>
              </a:rPr>
              <a:t>「買い検討」</a:t>
            </a:r>
            <a:endParaRPr lang="en-US" sz="1100" dirty="0"/>
          </a:p>
        </p:txBody>
      </p:sp>
      <p:sp>
        <p:nvSpPr>
          <p:cNvPr id="38" name="ovl_rail1"/>
          <p:cNvSpPr/>
          <p:nvPr/>
        </p:nvSpPr>
        <p:spPr>
          <a:xfrm>
            <a:off x="457200" y="3630168"/>
            <a:ext cx="2103120" cy="603504"/>
          </a:xfrm>
          <a:prstGeom prst="rect">
            <a:avLst/>
          </a:prstGeom>
          <a:solidFill>
            <a:srgbClr val="EAF4EE"/>
          </a:solidFill>
          <a:ln w="9525">
            <a:solidFill>
              <a:srgbClr val="EAF4EE"/>
            </a:solidFill>
            <a:prstDash val="solid"/>
          </a:ln>
        </p:spPr>
      </p:sp>
      <p:sp>
        <p:nvSpPr>
          <p:cNvPr id="39" name="rail1"/>
          <p:cNvSpPr txBox="1"/>
          <p:nvPr/>
        </p:nvSpPr>
        <p:spPr>
          <a:xfrm>
            <a:off x="566928" y="3630168"/>
            <a:ext cx="1920240" cy="603504"/>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事業</a:t>
            </a:r>
            <a:endParaRPr lang="en-US" sz="1200" dirty="0"/>
          </a:p>
        </p:txBody>
      </p:sp>
      <p:sp>
        <p:nvSpPr>
          <p:cNvPr id="40" name="body1"/>
          <p:cNvSpPr txBox="1"/>
          <p:nvPr/>
        </p:nvSpPr>
        <p:spPr>
          <a:xfrm>
            <a:off x="2743200" y="3630168"/>
            <a:ext cx="8988552" cy="603504"/>
          </a:xfrm>
          <a:prstGeom prst="rect">
            <a:avLst/>
          </a:prstGeom>
          <a:noFill/>
          <a:ln/>
        </p:spPr>
        <p:txBody>
          <a:bodyPr wrap="square" lIns="508" tIns="508" rIns="508" bIns="508" rtlCol="0" anchor="ctr"/>
          <a:lstStyle/>
          <a:p>
            <a:pPr indent="0" marL="0">
              <a:buNone/>
            </a:pPr>
            <a:r>
              <a:rPr lang="en-US" sz="1100" dirty="0">
                <a:solidFill>
                  <a:srgbClr val="333333"/>
                </a:solidFill>
                <a:latin typeface="Meiryo UI" pitchFamily="34" charset="0"/>
                <a:ea typeface="Meiryo UI" pitchFamily="34" charset="-122"/>
                <a:cs typeface="Meiryo UI" pitchFamily="34" charset="-120"/>
              </a:rPr>
              <a:t>DB 保守・SaaS の現金と顧客の前払い・逼迫前の長期リースで AI 容量を建てる設備先行型(AWS 型)</a:t>
            </a:r>
            <a:endParaRPr lang="en-US" sz="1100" dirty="0"/>
          </a:p>
        </p:txBody>
      </p:sp>
      <p:sp>
        <p:nvSpPr>
          <p:cNvPr id="41" name="ovl_rail2"/>
          <p:cNvSpPr/>
          <p:nvPr/>
        </p:nvSpPr>
        <p:spPr>
          <a:xfrm>
            <a:off x="457200" y="4288536"/>
            <a:ext cx="2103120" cy="603504"/>
          </a:xfrm>
          <a:prstGeom prst="rect">
            <a:avLst/>
          </a:prstGeom>
          <a:solidFill>
            <a:srgbClr val="EAF4EE"/>
          </a:solidFill>
          <a:ln w="9525">
            <a:solidFill>
              <a:srgbClr val="EAF4EE"/>
            </a:solidFill>
            <a:prstDash val="solid"/>
          </a:ln>
        </p:spPr>
      </p:sp>
      <p:sp>
        <p:nvSpPr>
          <p:cNvPr id="42" name="rail2"/>
          <p:cNvSpPr txBox="1"/>
          <p:nvPr/>
        </p:nvSpPr>
        <p:spPr>
          <a:xfrm>
            <a:off x="566928" y="4288536"/>
            <a:ext cx="1920240" cy="603504"/>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需給</a:t>
            </a:r>
            <a:endParaRPr lang="en-US" sz="1200" dirty="0"/>
          </a:p>
        </p:txBody>
      </p:sp>
      <p:sp>
        <p:nvSpPr>
          <p:cNvPr id="43" name="body2"/>
          <p:cNvSpPr txBox="1"/>
          <p:nvPr/>
        </p:nvSpPr>
        <p:spPr>
          <a:xfrm>
            <a:off x="2743200" y="4288536"/>
            <a:ext cx="8988552" cy="603504"/>
          </a:xfrm>
          <a:prstGeom prst="rect">
            <a:avLst/>
          </a:prstGeom>
          <a:noFill/>
          <a:ln/>
        </p:spPr>
        <p:txBody>
          <a:bodyPr wrap="square" lIns="508" tIns="508" rIns="508" bIns="508" rtlCol="0" anchor="ctr"/>
          <a:lstStyle/>
          <a:p>
            <a:pPr indent="0" marL="0">
              <a:buNone/>
            </a:pPr>
            <a:r>
              <a:rPr lang="en-US" sz="1100" dirty="0">
                <a:solidFill>
                  <a:srgbClr val="333333"/>
                </a:solidFill>
                <a:latin typeface="Meiryo UI" pitchFamily="34" charset="0"/>
                <a:ea typeface="Meiryo UI" pitchFamily="34" charset="-122"/>
                <a:cs typeface="Meiryo UI" pitchFamily="34" charset="-120"/>
              </a:rPr>
              <a:t>受注残 6,640 億ドル・確保電力 10GW 超で FY29 までのコンセンサス売上は裏付けあり。FY30 以降は電力と資金が伸びを決める</a:t>
            </a:r>
            <a:endParaRPr lang="en-US" sz="1100" dirty="0"/>
          </a:p>
        </p:txBody>
      </p:sp>
      <p:sp>
        <p:nvSpPr>
          <p:cNvPr id="44" name="ovl_rail3"/>
          <p:cNvSpPr/>
          <p:nvPr/>
        </p:nvSpPr>
        <p:spPr>
          <a:xfrm>
            <a:off x="457200" y="4946904"/>
            <a:ext cx="2103120" cy="603504"/>
          </a:xfrm>
          <a:prstGeom prst="rect">
            <a:avLst/>
          </a:prstGeom>
          <a:solidFill>
            <a:srgbClr val="EAF4EE"/>
          </a:solidFill>
          <a:ln w="9525">
            <a:solidFill>
              <a:srgbClr val="EAF4EE"/>
            </a:solidFill>
            <a:prstDash val="solid"/>
          </a:ln>
        </p:spPr>
      </p:sp>
      <p:sp>
        <p:nvSpPr>
          <p:cNvPr id="45" name="rail3"/>
          <p:cNvSpPr txBox="1"/>
          <p:nvPr/>
        </p:nvSpPr>
        <p:spPr>
          <a:xfrm>
            <a:off x="566928" y="4946904"/>
            <a:ext cx="1920240" cy="603504"/>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価値</a:t>
            </a:r>
            <a:endParaRPr lang="en-US" sz="1200" dirty="0"/>
          </a:p>
        </p:txBody>
      </p:sp>
      <p:sp>
        <p:nvSpPr>
          <p:cNvPr id="46" name="body3"/>
          <p:cNvSpPr txBox="1"/>
          <p:nvPr/>
        </p:nvSpPr>
        <p:spPr>
          <a:xfrm>
            <a:off x="2743200" y="4946904"/>
            <a:ext cx="8988552" cy="603504"/>
          </a:xfrm>
          <a:prstGeom prst="rect">
            <a:avLst/>
          </a:prstGeom>
          <a:noFill/>
          <a:ln/>
        </p:spPr>
        <p:txBody>
          <a:bodyPr wrap="square" lIns="508" tIns="508" rIns="508" bIns="508" rtlCol="0" anchor="ctr"/>
          <a:lstStyle/>
          <a:p>
            <a:pPr indent="0" marL="0">
              <a:buNone/>
            </a:pPr>
            <a:r>
              <a:rPr lang="en-US" sz="1100" dirty="0">
                <a:solidFill>
                  <a:srgbClr val="333333"/>
                </a:solidFill>
                <a:latin typeface="Meiryo UI" pitchFamily="34" charset="0"/>
                <a:ea typeface="Meiryo UI" pitchFamily="34" charset="-122"/>
                <a:cs typeface="Meiryo UI" pitchFamily="34" charset="-120"/>
              </a:rPr>
              <a:t>事業実態 EPS × 妥当 PER(同業 23 倍・成長率×PEG・需給エンジン)を年度別に評価し、近い年度を重くして 251 ドル。</a:t>
            </a:r>
            <a:endParaRPr lang="en-US" sz="1100" dirty="0"/>
          </a:p>
          <a:p>
            <a:pPr indent="0" marL="0">
              <a:buNone/>
            </a:pPr>
            <a:r>
              <a:rPr lang="en-US" sz="1100" dirty="0">
                <a:solidFill>
                  <a:srgbClr val="333333"/>
                </a:solidFill>
                <a:latin typeface="Meiryo UI" pitchFamily="34" charset="0"/>
                <a:ea typeface="Meiryo UI" pitchFamily="34" charset="-122"/>
                <a:cs typeface="Meiryo UI" pitchFamily="34" charset="-120"/>
              </a:rPr>
              <a:t>DCF 231 ドルと整合</a:t>
            </a:r>
            <a:endParaRPr lang="en-US" sz="1100" dirty="0"/>
          </a:p>
        </p:txBody>
      </p:sp>
      <p:sp>
        <p:nvSpPr>
          <p:cNvPr id="47" name="ovl_rail4"/>
          <p:cNvSpPr/>
          <p:nvPr/>
        </p:nvSpPr>
        <p:spPr>
          <a:xfrm>
            <a:off x="457200" y="5605272"/>
            <a:ext cx="2103120" cy="603504"/>
          </a:xfrm>
          <a:prstGeom prst="rect">
            <a:avLst/>
          </a:prstGeom>
          <a:solidFill>
            <a:srgbClr val="EAF4EE"/>
          </a:solidFill>
          <a:ln w="9525">
            <a:solidFill>
              <a:srgbClr val="EAF4EE"/>
            </a:solidFill>
            <a:prstDash val="solid"/>
          </a:ln>
        </p:spPr>
      </p:sp>
      <p:sp>
        <p:nvSpPr>
          <p:cNvPr id="48" name="rail4"/>
          <p:cNvSpPr txBox="1"/>
          <p:nvPr/>
        </p:nvSpPr>
        <p:spPr>
          <a:xfrm>
            <a:off x="566928" y="5605272"/>
            <a:ext cx="1920240" cy="603504"/>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市場との差分</a:t>
            </a:r>
            <a:endParaRPr lang="en-US" sz="1200" dirty="0"/>
          </a:p>
        </p:txBody>
      </p:sp>
      <p:sp>
        <p:nvSpPr>
          <p:cNvPr id="49" name="body4"/>
          <p:cNvSpPr txBox="1"/>
          <p:nvPr/>
        </p:nvSpPr>
        <p:spPr>
          <a:xfrm>
            <a:off x="2743200" y="5605272"/>
            <a:ext cx="8988552" cy="603504"/>
          </a:xfrm>
          <a:prstGeom prst="rect">
            <a:avLst/>
          </a:prstGeom>
          <a:noFill/>
          <a:ln/>
        </p:spPr>
        <p:txBody>
          <a:bodyPr wrap="square" lIns="508" tIns="508" rIns="508" bIns="508" rtlCol="0" anchor="ctr"/>
          <a:lstStyle/>
          <a:p>
            <a:pPr indent="0" marL="0">
              <a:buNone/>
            </a:pPr>
            <a:r>
              <a:rPr lang="en-US" sz="1100" dirty="0">
                <a:solidFill>
                  <a:srgbClr val="333333"/>
                </a:solidFill>
                <a:latin typeface="Meiryo UI" pitchFamily="34" charset="0"/>
                <a:ea typeface="Meiryo UI" pitchFamily="34" charset="-122"/>
                <a:cs typeface="Meiryo UI" pitchFamily="34" charset="-120"/>
              </a:rPr>
              <a:t>株価は事業実態 EPS の 15.7 倍で弱気(13.6 倍)寄り。疑われているのは EPS ではなく現金化(FY29 の FCF・格付け・OpenAI)</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4D33"/>
        </a:solidFill>
      </p:bgPr>
    </p:bg>
    <p:spTree>
      <p:nvGrpSpPr>
        <p:cNvPr id="1" name=""/>
        <p:cNvGrpSpPr/>
        <p:nvPr/>
      </p:nvGrpSpPr>
      <p:grpSpPr>
        <a:xfrm>
          <a:off x="0" y="0"/>
          <a:ext cx="0" cy="0"/>
          <a:chOff x="0" y="0"/>
          <a:chExt cx="0" cy="0"/>
        </a:xfrm>
      </p:grpSpPr>
      <p:sp>
        <p:nvSpPr>
          <p:cNvPr id="2" name="bg_agenda"/>
          <p:cNvSpPr/>
          <p:nvPr/>
        </p:nvSpPr>
        <p:spPr>
          <a:xfrm>
            <a:off x="0" y="0"/>
            <a:ext cx="12191695" cy="6858000"/>
          </a:xfrm>
          <a:prstGeom prst="rect">
            <a:avLst/>
          </a:prstGeom>
          <a:solidFill>
            <a:srgbClr val="0E4D33"/>
          </a:solidFill>
          <a:ln w="12700">
            <a:solidFill>
              <a:srgbClr val="0E4D33"/>
            </a:solidFill>
            <a:prstDash val="solid"/>
          </a:ln>
        </p:spPr>
      </p:sp>
      <p:sp>
        <p:nvSpPr>
          <p:cNvPr id="3" name="bg_agenda_lbl"/>
          <p:cNvSpPr txBox="1"/>
          <p:nvPr/>
        </p:nvSpPr>
        <p:spPr>
          <a:xfrm>
            <a:off x="731520" y="502920"/>
            <a:ext cx="2743200" cy="640080"/>
          </a:xfrm>
          <a:prstGeom prst="rect">
            <a:avLst/>
          </a:prstGeom>
          <a:noFill/>
          <a:ln/>
        </p:spPr>
        <p:txBody>
          <a:bodyPr wrap="square" lIns="508" tIns="508" rIns="508" bIns="508" rtlCol="0" anchor="t"/>
          <a:lstStyle/>
          <a:p>
            <a:pPr indent="0" marL="0">
              <a:buNone/>
            </a:pPr>
            <a:r>
              <a:rPr lang="en-US" sz="2600" b="1" dirty="0">
                <a:solidFill>
                  <a:srgbClr val="FFFFFF"/>
                </a:solidFill>
                <a:latin typeface="Meiryo UI" pitchFamily="34" charset="0"/>
                <a:ea typeface="Meiryo UI" pitchFamily="34" charset="-122"/>
                <a:cs typeface="Meiryo UI" pitchFamily="34" charset="-120"/>
              </a:rPr>
              <a:t>目次</a:t>
            </a:r>
            <a:endParaRPr lang="en-US" sz="2600" dirty="0"/>
          </a:p>
        </p:txBody>
      </p:sp>
      <p:sp>
        <p:nvSpPr>
          <p:cNvPr id="4" name="bg_agenda_n0"/>
          <p:cNvSpPr/>
          <p:nvPr/>
        </p:nvSpPr>
        <p:spPr>
          <a:xfrm>
            <a:off x="777240" y="1463040"/>
            <a:ext cx="457200" cy="457200"/>
          </a:xfrm>
          <a:prstGeom prst="ellipse">
            <a:avLst/>
          </a:prstGeom>
          <a:solidFill>
            <a:srgbClr val="197A56"/>
          </a:solidFill>
          <a:ln w="12700">
            <a:solidFill>
              <a:srgbClr val="FFFFFF"/>
            </a:solidFill>
            <a:prstDash val="solid"/>
          </a:ln>
        </p:spPr>
      </p:sp>
      <p:sp>
        <p:nvSpPr>
          <p:cNvPr id="5" name="bg_agenda_nt0"/>
          <p:cNvSpPr txBox="1"/>
          <p:nvPr/>
        </p:nvSpPr>
        <p:spPr>
          <a:xfrm>
            <a:off x="777240" y="14630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1</a:t>
            </a:r>
            <a:endParaRPr lang="en-US" sz="1400" dirty="0"/>
          </a:p>
        </p:txBody>
      </p:sp>
      <p:sp>
        <p:nvSpPr>
          <p:cNvPr id="6" name="bg_agenda_ch0"/>
          <p:cNvSpPr txBox="1"/>
          <p:nvPr/>
        </p:nvSpPr>
        <p:spPr>
          <a:xfrm>
            <a:off x="1417320" y="1444752"/>
            <a:ext cx="5669280" cy="493776"/>
          </a:xfrm>
          <a:prstGeom prst="rect">
            <a:avLst/>
          </a:prstGeom>
          <a:noFill/>
          <a:ln/>
        </p:spPr>
        <p:txBody>
          <a:bodyPr wrap="square" lIns="0" tIns="0" rIns="0" bIns="0" rtlCol="0" anchor="ctr"/>
          <a:lstStyle/>
          <a:p>
            <a:pPr indent="0" marL="0">
              <a:buNone/>
            </a:pPr>
            <a:r>
              <a:rPr lang="en-US" sz="1800" b="1" dirty="0">
                <a:solidFill>
                  <a:srgbClr val="FFFFFF"/>
                </a:solidFill>
                <a:latin typeface="Meiryo UI" pitchFamily="34" charset="0"/>
                <a:ea typeface="Meiryo UI" pitchFamily="34" charset="-122"/>
                <a:cs typeface="Meiryo UI" pitchFamily="34" charset="-120"/>
              </a:rPr>
              <a:t>評価総括</a:t>
            </a:r>
            <a:endParaRPr lang="en-US" sz="1800" dirty="0"/>
          </a:p>
        </p:txBody>
      </p:sp>
      <p:sp>
        <p:nvSpPr>
          <p:cNvPr id="7" name="bg_agenda_why0"/>
          <p:cNvSpPr txBox="1"/>
          <p:nvPr/>
        </p:nvSpPr>
        <p:spPr>
          <a:xfrm>
            <a:off x="1417320" y="1938528"/>
            <a:ext cx="5669280" cy="566928"/>
          </a:xfrm>
          <a:prstGeom prst="rect">
            <a:avLst/>
          </a:prstGeom>
          <a:noFill/>
          <a:ln/>
        </p:spPr>
        <p:txBody>
          <a:bodyPr wrap="square" lIns="0" tIns="0" rIns="0" bIns="0" rtlCol="0" anchor="t"/>
          <a:lstStyle/>
          <a:p>
            <a:pPr indent="0" marL="0">
              <a:buNone/>
            </a:pPr>
            <a:r>
              <a:rPr lang="en-US" sz="1050" dirty="0">
                <a:solidFill>
                  <a:srgbClr val="86C99B"/>
                </a:solidFill>
                <a:latin typeface="Meiryo UI" pitchFamily="34" charset="0"/>
                <a:ea typeface="Meiryo UI" pitchFamily="34" charset="-122"/>
                <a:cs typeface="Meiryo UI" pitchFamily="34" charset="-120"/>
              </a:rPr>
              <a:t>結論と評価の全体像を先に示し、以降の章で根拠を確かめる</a:t>
            </a:r>
            <a:endParaRPr lang="en-US" sz="1050" dirty="0"/>
          </a:p>
        </p:txBody>
      </p:sp>
      <p:sp>
        <p:nvSpPr>
          <p:cNvPr id="8" name="bg_agenda_n1"/>
          <p:cNvSpPr/>
          <p:nvPr/>
        </p:nvSpPr>
        <p:spPr>
          <a:xfrm>
            <a:off x="777240" y="2606040"/>
            <a:ext cx="457200" cy="457200"/>
          </a:xfrm>
          <a:prstGeom prst="ellipse">
            <a:avLst/>
          </a:prstGeom>
          <a:solidFill>
            <a:srgbClr val="0E4D33"/>
          </a:solidFill>
          <a:ln w="12700">
            <a:solidFill>
              <a:srgbClr val="FFFFFF"/>
            </a:solidFill>
            <a:prstDash val="solid"/>
          </a:ln>
        </p:spPr>
      </p:sp>
      <p:sp>
        <p:nvSpPr>
          <p:cNvPr id="9" name="bg_agenda_nt1"/>
          <p:cNvSpPr txBox="1"/>
          <p:nvPr/>
        </p:nvSpPr>
        <p:spPr>
          <a:xfrm>
            <a:off x="777240" y="2606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2</a:t>
            </a:r>
            <a:endParaRPr lang="en-US" sz="1400" dirty="0"/>
          </a:p>
        </p:txBody>
      </p:sp>
      <p:sp>
        <p:nvSpPr>
          <p:cNvPr id="10" name="bg_agenda_ch1"/>
          <p:cNvSpPr txBox="1"/>
          <p:nvPr/>
        </p:nvSpPr>
        <p:spPr>
          <a:xfrm>
            <a:off x="1417320" y="2587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事業・需給・成長</a:t>
            </a:r>
            <a:endParaRPr lang="en-US" sz="1800" dirty="0"/>
          </a:p>
        </p:txBody>
      </p:sp>
      <p:sp>
        <p:nvSpPr>
          <p:cNvPr id="11" name="bg_agenda_n2"/>
          <p:cNvSpPr/>
          <p:nvPr/>
        </p:nvSpPr>
        <p:spPr>
          <a:xfrm>
            <a:off x="777240" y="3749040"/>
            <a:ext cx="457200" cy="457200"/>
          </a:xfrm>
          <a:prstGeom prst="ellipse">
            <a:avLst/>
          </a:prstGeom>
          <a:solidFill>
            <a:srgbClr val="0E4D33"/>
          </a:solidFill>
          <a:ln w="12700">
            <a:solidFill>
              <a:srgbClr val="FFFFFF"/>
            </a:solidFill>
            <a:prstDash val="solid"/>
          </a:ln>
        </p:spPr>
      </p:sp>
      <p:sp>
        <p:nvSpPr>
          <p:cNvPr id="12" name="bg_agenda_nt2"/>
          <p:cNvSpPr txBox="1"/>
          <p:nvPr/>
        </p:nvSpPr>
        <p:spPr>
          <a:xfrm>
            <a:off x="777240" y="3749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3</a:t>
            </a:r>
            <a:endParaRPr lang="en-US" sz="1400" dirty="0"/>
          </a:p>
        </p:txBody>
      </p:sp>
      <p:sp>
        <p:nvSpPr>
          <p:cNvPr id="13" name="bg_agenda_ch2"/>
          <p:cNvSpPr txBox="1"/>
          <p:nvPr/>
        </p:nvSpPr>
        <p:spPr>
          <a:xfrm>
            <a:off x="1417320" y="3730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13条件の構造分析</a:t>
            </a:r>
            <a:endParaRPr lang="en-US" sz="1800" dirty="0"/>
          </a:p>
        </p:txBody>
      </p:sp>
      <p:sp>
        <p:nvSpPr>
          <p:cNvPr id="14" name="bg_agenda_n3"/>
          <p:cNvSpPr/>
          <p:nvPr/>
        </p:nvSpPr>
        <p:spPr>
          <a:xfrm>
            <a:off x="777240" y="4892040"/>
            <a:ext cx="457200" cy="457200"/>
          </a:xfrm>
          <a:prstGeom prst="ellipse">
            <a:avLst/>
          </a:prstGeom>
          <a:solidFill>
            <a:srgbClr val="0E4D33"/>
          </a:solidFill>
          <a:ln w="12700">
            <a:solidFill>
              <a:srgbClr val="FFFFFF"/>
            </a:solidFill>
            <a:prstDash val="solid"/>
          </a:ln>
        </p:spPr>
      </p:sp>
      <p:sp>
        <p:nvSpPr>
          <p:cNvPr id="15" name="bg_agenda_nt3"/>
          <p:cNvSpPr txBox="1"/>
          <p:nvPr/>
        </p:nvSpPr>
        <p:spPr>
          <a:xfrm>
            <a:off x="777240" y="4892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4</a:t>
            </a:r>
            <a:endParaRPr lang="en-US" sz="1400" dirty="0"/>
          </a:p>
        </p:txBody>
      </p:sp>
      <p:sp>
        <p:nvSpPr>
          <p:cNvPr id="16" name="bg_agenda_ch3"/>
          <p:cNvSpPr txBox="1"/>
          <p:nvPr/>
        </p:nvSpPr>
        <p:spPr>
          <a:xfrm>
            <a:off x="1417320" y="4873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バリュエーション・リスク・投資アクション</a:t>
            </a:r>
            <a:endParaRPr lang="en-US" sz="1800" dirty="0"/>
          </a:p>
        </p:txBody>
      </p:sp>
      <p:sp>
        <p:nvSpPr>
          <p:cNvPr id="17" name="bg_agenda_rule"/>
          <p:cNvSpPr/>
          <p:nvPr/>
        </p:nvSpPr>
        <p:spPr>
          <a:xfrm>
            <a:off x="7543800" y="1463040"/>
            <a:ext cx="0" cy="4389120"/>
          </a:xfrm>
          <a:prstGeom prst="line">
            <a:avLst/>
          </a:prstGeom>
          <a:noFill/>
          <a:ln w="9525">
            <a:solidFill>
              <a:srgbClr val="86C99B"/>
            </a:solidFill>
            <a:prstDash val="solid"/>
          </a:ln>
        </p:spPr>
      </p:sp>
      <p:sp>
        <p:nvSpPr>
          <p:cNvPr id="18" name="bg_agenda_sh"/>
          <p:cNvSpPr txBox="1"/>
          <p:nvPr/>
        </p:nvSpPr>
        <p:spPr>
          <a:xfrm>
            <a:off x="7818120" y="1417320"/>
            <a:ext cx="3840480" cy="365760"/>
          </a:xfrm>
          <a:prstGeom prst="rect">
            <a:avLst/>
          </a:prstGeom>
          <a:noFill/>
          <a:ln/>
        </p:spPr>
        <p:txBody>
          <a:bodyPr wrap="square" lIns="0" tIns="0" rIns="0" bIns="0" rtlCol="0" anchor="t"/>
          <a:lstStyle/>
          <a:p>
            <a:pPr indent="0" marL="0">
              <a:buNone/>
            </a:pPr>
            <a:r>
              <a:rPr lang="en-US" sz="1300" b="1" dirty="0">
                <a:solidFill>
                  <a:srgbClr val="86C99B"/>
                </a:solidFill>
                <a:latin typeface="Meiryo UI" pitchFamily="34" charset="0"/>
                <a:ea typeface="Meiryo UI" pitchFamily="34" charset="-122"/>
                <a:cs typeface="Meiryo UI" pitchFamily="34" charset="-120"/>
              </a:rPr>
              <a:t>第1章の構成</a:t>
            </a:r>
            <a:endParaRPr lang="en-US" sz="1300" dirty="0"/>
          </a:p>
        </p:txBody>
      </p:sp>
      <p:sp>
        <p:nvSpPr>
          <p:cNvPr id="19" name="bg_agenda_s0"/>
          <p:cNvSpPr txBox="1"/>
          <p:nvPr/>
        </p:nvSpPr>
        <p:spPr>
          <a:xfrm>
            <a:off x="7818120" y="19202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1-1  結論</a:t>
            </a:r>
            <a:endParaRPr lang="en-US" sz="1250" dirty="0"/>
          </a:p>
        </p:txBody>
      </p:sp>
      <p:sp>
        <p:nvSpPr>
          <p:cNvPr id="20" name="bg_agenda_p0"/>
          <p:cNvSpPr txBox="1"/>
          <p:nvPr/>
        </p:nvSpPr>
        <p:spPr>
          <a:xfrm>
            <a:off x="10881360" y="19202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p.2</a:t>
            </a:r>
            <a:endParaRPr lang="en-US" sz="1050" dirty="0"/>
          </a:p>
        </p:txBody>
      </p:sp>
      <p:sp>
        <p:nvSpPr>
          <p:cNvPr id="21" name="bg_agenda_s1"/>
          <p:cNvSpPr txBox="1"/>
          <p:nvPr/>
        </p:nvSpPr>
        <p:spPr>
          <a:xfrm>
            <a:off x="7818120" y="23774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1-2  評価の全体像</a:t>
            </a:r>
            <a:endParaRPr lang="en-US" sz="1250" dirty="0"/>
          </a:p>
        </p:txBody>
      </p:sp>
      <p:sp>
        <p:nvSpPr>
          <p:cNvPr id="22" name="bg_agenda_p1"/>
          <p:cNvSpPr txBox="1"/>
          <p:nvPr/>
        </p:nvSpPr>
        <p:spPr>
          <a:xfrm>
            <a:off x="10881360" y="23774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p.4–6</a:t>
            </a:r>
            <a:endParaRPr lang="en-US" sz="1050" dirty="0"/>
          </a:p>
        </p:txBody>
      </p:sp>
      <p:sp>
        <p:nvSpPr>
          <p:cNvPr id="23"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86C99B"/>
                </a:solidFill>
                <a:latin typeface="Meiryo UI" pitchFamily="34" charset="0"/>
                <a:ea typeface="Meiryo UI" pitchFamily="34" charset="-122"/>
                <a:cs typeface="Meiryo U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第1章 評価総括</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1-2 評価の全体像(1/3)</a:t>
            </a:r>
            <a:endParaRPr lang="en-US" sz="900" dirty="0"/>
          </a:p>
        </p:txBody>
      </p:sp>
      <p:sp>
        <p:nvSpPr>
          <p:cNvPr id="4" name="bg_hdr_pill0"/>
          <p:cNvSpPr/>
          <p:nvPr/>
        </p:nvSpPr>
        <p:spPr>
          <a:xfrm>
            <a:off x="8479231" y="64008"/>
            <a:ext cx="786384" cy="182880"/>
          </a:xfrm>
          <a:prstGeom prst="roundRect">
            <a:avLst>
              <a:gd name="adj" fmla="val 20000"/>
            </a:avLst>
          </a:prstGeom>
          <a:solidFill>
            <a:srgbClr val="197A56"/>
          </a:solidFill>
          <a:ln w="9525">
            <a:solidFill>
              <a:srgbClr val="197A56"/>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525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525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評価の全体像</a:t>
            </a:r>
            <a:endParaRPr lang="en-US" sz="1000" dirty="0"/>
          </a:p>
        </p:txBody>
      </p:sp>
      <p:sp>
        <p:nvSpPr>
          <p:cNvPr id="14" name="hdr_why"/>
          <p:cNvSpPr txBox="1"/>
          <p:nvPr/>
        </p:nvSpPr>
        <p:spPr>
          <a:xfrm>
            <a:off x="2128774" y="356616"/>
            <a:ext cx="9605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13 条件のどこが強く、どこが弱いかを一覧し、構造評価 B の内訳を示す</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13 条件は S1・A2・B8・C2 で構造評価は B。弱点は</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「安い理由の検証」(条件7)と「コモディティ性」(条件8)に集中する</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13 条件の評価一覧(評価の色は全スライド共通: S 濃緑・A 緑・B 薄緑・C アンバー)</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本資料 第3章(条件別の構造分析)、銘柄分析メソッド Phase 3・6</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4</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構造評価</a:t>
            </a:r>
            <a:endParaRPr lang="en-US" sz="800" dirty="0"/>
          </a:p>
        </p:txBody>
      </p:sp>
      <p:graphicFrame>
        <p:nvGraphicFramePr>
          <p:cNvPr id="5" name="tbl"/>
          <p:cNvGraphicFramePr>
            <a:graphicFrameLocks noGrp="1"/>
          </p:cNvGraphicFramePr>
          <p:nvPr>
            <p:extLst>
              <p:ext uri="{D42A27DB-BD31-4B8C-83A1-F6EECF244321}">
                <p14:modId xmlns:p14="http://schemas.microsoft.com/office/powerpoint/2010/main" val="1579011935"/>
              </p:ext>
            </p:extLst>
          </p:nvPr>
        </p:nvGraphicFramePr>
        <p:xfrm>
          <a:off x="457200" y="1481328"/>
          <a:ext cx="11274552" cy="914400"/>
        </p:xfrm>
        <a:graphic>
          <a:graphicData uri="http://schemas.openxmlformats.org/drawingml/2006/table">
            <a:tbl>
              <a:tblPr/>
              <a:tblGrid>
                <a:gridCol w="411480"/>
                <a:gridCol w="2926080"/>
                <a:gridCol w="685800"/>
                <a:gridCol w="5120640"/>
                <a:gridCol w="2130552"/>
              </a:tblGrid>
              <a:tr h="310896">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条件</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評価</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根拠(一文)</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監視 KPI(C のみ)</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10 年の価格決定力・競争優位・成長性</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E4D33"/>
                          </a:solidFill>
                          <a:latin typeface="Meiryo UI" pitchFamily="34" charset="0"/>
                          <a:ea typeface="Meiryo UI" pitchFamily="34" charset="-122"/>
                          <a:cs typeface="Meiryo UI" pitchFamily="34" charset="-120"/>
                        </a:rPr>
                        <a:t>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86C99B"/>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DB の切替コストは長いが、AI の単価優位は逼迫期(FY32 まで)に限られる</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コア事業の潤沢なキャッシュフロー</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b="1" dirty="0">
                          <a:solidFill>
                            <a:srgbClr val="0E4D33"/>
                          </a:solidFill>
                          <a:latin typeface="Meiryo UI" pitchFamily="34" charset="0"/>
                          <a:ea typeface="Meiryo UI" pitchFamily="34" charset="-122"/>
                          <a:cs typeface="Meiryo UI" pitchFamily="34" charset="-120"/>
                        </a:rPr>
                        <a:t>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86C99B"/>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コアは税引後 230 億ドル。全社 FCF はエンジンで FY29 まで赤字</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コア技術・データの AI 転用</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197A56"/>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OCI +121%、Database@ +353% が増収の主因</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日本株か米国株</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S</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NYSE 上場の米国企業</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経営陣の経歴と資本配分</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E4D33"/>
                          </a:solidFill>
                          <a:latin typeface="Meiryo UI" pitchFamily="34" charset="0"/>
                          <a:ea typeface="Meiryo UI" pitchFamily="34" charset="-122"/>
                          <a:cs typeface="Meiryo UI" pitchFamily="34" charset="-120"/>
                        </a:rPr>
                        <a:t>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86C99B"/>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経歴は事業に合う(OCI の創設者・電力インフラ出身の CFO)が、</a:t>
                      </a:r>
                      <a:endParaRPr lang="en-US" sz="1000" dirty="0">
                        <a:latin typeface="Meiryo UI" charset="0"/>
                        <a:ea typeface="Meiryo UI" charset="0"/>
                        <a:cs typeface="Meiryo UI" charset="0"/>
                      </a:endParaRPr>
                    </a:p>
                    <a:p>
                      <a:pPr algn="l" indent="0" marL="0">
                        <a:buNone/>
                      </a:pPr>
                      <a:r>
                        <a:rPr lang="en-US" sz="1000" dirty="0">
                          <a:solidFill>
                            <a:srgbClr val="333333"/>
                          </a:solidFill>
                          <a:latin typeface="Meiryo UI" pitchFamily="34" charset="0"/>
                          <a:ea typeface="Meiryo UI" pitchFamily="34" charset="-122"/>
                          <a:cs typeface="Meiryo UI" pitchFamily="34" charset="-120"/>
                        </a:rPr>
                        <a:t>CEO として資本配分の実績が 1 年と短い</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5 年 EPS 成長率 30% 以上で PEG&lt;1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b="1" dirty="0">
                          <a:solidFill>
                            <a:srgbClr val="0E4D33"/>
                          </a:solidFill>
                          <a:latin typeface="Meiryo UI" pitchFamily="34" charset="0"/>
                          <a:ea typeface="Meiryo UI" pitchFamily="34" charset="-122"/>
                          <a:cs typeface="Meiryo UI" pitchFamily="34" charset="-120"/>
                        </a:rPr>
                        <a:t>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86C99B"/>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3 経路とも CAGR 30% 超・PEG 0.60〜0.66 だが余裕が薄い</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低 PEG の理由がリスクの過大評価</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C</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D68910"/>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安さの主因は OpenAI 集中と信用リスク(実在)</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CDS 200bp / 300bp、</a:t>
                      </a:r>
                      <a:endParaRPr lang="en-US" sz="1000" dirty="0">
                        <a:latin typeface="Meiryo UI" charset="0"/>
                        <a:ea typeface="Meiryo UI" charset="0"/>
                        <a:cs typeface="Meiryo UI" charset="0"/>
                      </a:endParaRPr>
                    </a:p>
                    <a:p>
                      <a:pPr algn="l" indent="0" marL="0">
                        <a:buNone/>
                      </a:pPr>
                      <a:r>
                        <a:rPr lang="en-US" sz="1000" dirty="0">
                          <a:solidFill>
                            <a:srgbClr val="333333"/>
                          </a:solidFill>
                          <a:latin typeface="Meiryo UI" pitchFamily="34" charset="0"/>
                          <a:ea typeface="Meiryo UI" pitchFamily="34" charset="-122"/>
                          <a:cs typeface="Meiryo UI" pitchFamily="34" charset="-120"/>
                        </a:rPr>
                        <a:t>OpenAI 比率 40%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8</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コモディティでない</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C</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D68910"/>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価値の 45% の AI 容量は需給が緩むと商品化</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AI 粗利率 25% / 35%、</a:t>
                      </a:r>
                      <a:endParaRPr lang="en-US" sz="1000" dirty="0">
                        <a:latin typeface="Meiryo UI" charset="0"/>
                        <a:ea typeface="Meiryo UI" charset="0"/>
                        <a:cs typeface="Meiryo UI" charset="0"/>
                      </a:endParaRPr>
                    </a:p>
                    <a:p>
                      <a:pPr algn="l" indent="0" marL="0">
                        <a:buNone/>
                      </a:pPr>
                      <a:r>
                        <a:rPr lang="en-US" sz="1000" dirty="0">
                          <a:solidFill>
                            <a:srgbClr val="333333"/>
                          </a:solidFill>
                          <a:latin typeface="Meiryo UI" pitchFamily="34" charset="0"/>
                          <a:ea typeface="Meiryo UI" pitchFamily="34" charset="-122"/>
                          <a:cs typeface="Meiryo UI" pitchFamily="34" charset="-120"/>
                        </a:rPr>
                        <a:t>更新 +20%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停めない運用に不可欠</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E4D33"/>
                          </a:solidFill>
                          <a:latin typeface="Meiryo UI" pitchFamily="34" charset="0"/>
                          <a:ea typeface="Meiryo UI" pitchFamily="34" charset="-122"/>
                          <a:cs typeface="Meiryo UI" pitchFamily="34" charset="-120"/>
                        </a:rPr>
                        <a:t>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86C99B"/>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稼働率 97.9%・更新率は高いが代替のクラウドがある</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無形資産の陳腐化リスク</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b="1" dirty="0">
                          <a:solidFill>
                            <a:srgbClr val="0E4D33"/>
                          </a:solidFill>
                          <a:latin typeface="Meiryo UI" pitchFamily="34" charset="0"/>
                          <a:ea typeface="Meiryo UI" pitchFamily="34" charset="-122"/>
                          <a:cs typeface="Meiryo UI" pitchFamily="34" charset="-120"/>
                        </a:rPr>
                        <a:t>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86C99B"/>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GPU の 6 年償却は更新・再販の実績と整合</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模倣困難・代替不可能</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E4D33"/>
                          </a:solidFill>
                          <a:latin typeface="Meiryo UI" pitchFamily="34" charset="0"/>
                          <a:ea typeface="Meiryo UI" pitchFamily="34" charset="-122"/>
                          <a:cs typeface="Meiryo UI" pitchFamily="34" charset="-120"/>
                        </a:rPr>
                        <a:t>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86C99B"/>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DB の配置は再現困難、AI 容量は 2〜4 年で再現可能</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従量課金型の収益</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197A56"/>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受注残 6,640 億ドルが積み上がるストック型</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アーキタイプ照合</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E4D33"/>
                          </a:solidFill>
                          <a:latin typeface="Meiryo UI" pitchFamily="34" charset="0"/>
                          <a:ea typeface="Meiryo UI" pitchFamily="34" charset="-122"/>
                          <a:cs typeface="Meiryo UI" pitchFamily="34" charset="-120"/>
                        </a:rPr>
                        <a:t>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86C99B"/>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原型は ORCL 型、自社調達 GPU は MU 型に寄る</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第1章 評価総括</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1-2 評価の全体像(2/3)</a:t>
            </a:r>
            <a:endParaRPr lang="en-US" sz="900" dirty="0"/>
          </a:p>
        </p:txBody>
      </p:sp>
      <p:sp>
        <p:nvSpPr>
          <p:cNvPr id="4" name="bg_hdr_pill0"/>
          <p:cNvSpPr/>
          <p:nvPr/>
        </p:nvSpPr>
        <p:spPr>
          <a:xfrm>
            <a:off x="8479231" y="64008"/>
            <a:ext cx="786384" cy="182880"/>
          </a:xfrm>
          <a:prstGeom prst="roundRect">
            <a:avLst>
              <a:gd name="adj" fmla="val 20000"/>
            </a:avLst>
          </a:prstGeom>
          <a:solidFill>
            <a:srgbClr val="197A56"/>
          </a:solidFill>
          <a:ln w="9525">
            <a:solidFill>
              <a:srgbClr val="197A56"/>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525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525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評価の全体像</a:t>
            </a:r>
            <a:endParaRPr lang="en-US" sz="1000" dirty="0"/>
          </a:p>
        </p:txBody>
      </p:sp>
      <p:sp>
        <p:nvSpPr>
          <p:cNvPr id="14" name="hdr_why"/>
          <p:cNvSpPr txBox="1"/>
          <p:nvPr/>
        </p:nvSpPr>
        <p:spPr>
          <a:xfrm>
            <a:off x="2128774" y="356616"/>
            <a:ext cx="9605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集計の規則(拒否権・C 上限・対評価)を当てた結果を示し、評価に恣意がないことを確かめる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拒否権と C 上限の規則は発動しない。条件6 は数値上 S だが、</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条件7 との対評価で S を無効にし、余裕の薄さから B とした</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構造評価の導出: 評価分布 → 適用ルール → 構造評価</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銘柄分析メソッド Phase 6、本資料の評価一覧</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5</a:t>
            </a:r>
            <a:endParaRPr lang="en-US" sz="800" dirty="0"/>
          </a:p>
        </p:txBody>
      </p:sp>
      <p:sp>
        <p:nvSpPr>
          <p:cNvPr id="19" name="flow_h0"/>
          <p:cNvSpPr txBox="1"/>
          <p:nvPr/>
        </p:nvSpPr>
        <p:spPr>
          <a:xfrm>
            <a:off x="457200" y="1554480"/>
            <a:ext cx="3484778"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入力: 13 条件の評価</a:t>
            </a:r>
            <a:endParaRPr lang="en-US" sz="1100" dirty="0"/>
          </a:p>
        </p:txBody>
      </p:sp>
      <p:sp>
        <p:nvSpPr>
          <p:cNvPr id="20" name="ovl_fbox0_0"/>
          <p:cNvSpPr/>
          <p:nvPr/>
        </p:nvSpPr>
        <p:spPr>
          <a:xfrm>
            <a:off x="457200" y="1947672"/>
            <a:ext cx="3484778" cy="822960"/>
          </a:xfrm>
          <a:prstGeom prst="roundRect">
            <a:avLst>
              <a:gd name="adj" fmla="val 6667"/>
            </a:avLst>
          </a:prstGeom>
          <a:solidFill>
            <a:srgbClr val="0E4D33"/>
          </a:solidFill>
          <a:ln w="9525">
            <a:solidFill>
              <a:srgbClr val="0E4D33"/>
            </a:solidFill>
            <a:prstDash val="solid"/>
          </a:ln>
        </p:spPr>
      </p:sp>
      <p:sp>
        <p:nvSpPr>
          <p:cNvPr id="21" name="flow_t0_0"/>
          <p:cNvSpPr txBox="1"/>
          <p:nvPr/>
        </p:nvSpPr>
        <p:spPr>
          <a:xfrm>
            <a:off x="530352" y="1984248"/>
            <a:ext cx="3338474" cy="749808"/>
          </a:xfrm>
          <a:prstGeom prst="rect">
            <a:avLst/>
          </a:prstGeom>
          <a:noFill/>
          <a:ln/>
        </p:spPr>
        <p:txBody>
          <a:bodyPr wrap="square" lIns="0" tIns="0" rIns="0" bIns="0" rtlCol="0" anchor="ctr"/>
          <a:lstStyle/>
          <a:p>
            <a:pPr algn="ctr" indent="0" marL="0">
              <a:buNone/>
            </a:pPr>
            <a:r>
              <a:rPr lang="en-US" sz="1000" dirty="0">
                <a:solidFill>
                  <a:srgbClr val="FFFFFF"/>
                </a:solidFill>
                <a:latin typeface="Meiryo UI" pitchFamily="34" charset="0"/>
                <a:ea typeface="Meiryo UI" pitchFamily="34" charset="-122"/>
                <a:cs typeface="Meiryo UI" pitchFamily="34" charset="-120"/>
              </a:rPr>
              <a:t>S × 1(条件4)</a:t>
            </a:r>
            <a:endParaRPr lang="en-US" sz="1000" dirty="0"/>
          </a:p>
        </p:txBody>
      </p:sp>
      <p:sp>
        <p:nvSpPr>
          <p:cNvPr id="22" name="ovl_fbox0_1"/>
          <p:cNvSpPr/>
          <p:nvPr/>
        </p:nvSpPr>
        <p:spPr>
          <a:xfrm>
            <a:off x="457200" y="2880360"/>
            <a:ext cx="3484778" cy="822960"/>
          </a:xfrm>
          <a:prstGeom prst="roundRect">
            <a:avLst>
              <a:gd name="adj" fmla="val 6667"/>
            </a:avLst>
          </a:prstGeom>
          <a:solidFill>
            <a:srgbClr val="197A56"/>
          </a:solidFill>
          <a:ln w="9525">
            <a:solidFill>
              <a:srgbClr val="197A56"/>
            </a:solidFill>
            <a:prstDash val="solid"/>
          </a:ln>
        </p:spPr>
      </p:sp>
      <p:sp>
        <p:nvSpPr>
          <p:cNvPr id="23" name="flow_t0_1"/>
          <p:cNvSpPr txBox="1"/>
          <p:nvPr/>
        </p:nvSpPr>
        <p:spPr>
          <a:xfrm>
            <a:off x="530352" y="2916936"/>
            <a:ext cx="3338474" cy="749808"/>
          </a:xfrm>
          <a:prstGeom prst="rect">
            <a:avLst/>
          </a:prstGeom>
          <a:noFill/>
          <a:ln/>
        </p:spPr>
        <p:txBody>
          <a:bodyPr wrap="square" lIns="0" tIns="0" rIns="0" bIns="0" rtlCol="0" anchor="ctr"/>
          <a:lstStyle/>
          <a:p>
            <a:pPr algn="ctr" indent="0" marL="0">
              <a:buNone/>
            </a:pPr>
            <a:r>
              <a:rPr lang="en-US" sz="1000" dirty="0">
                <a:solidFill>
                  <a:srgbClr val="FFFFFF"/>
                </a:solidFill>
                <a:latin typeface="Meiryo UI" pitchFamily="34" charset="0"/>
                <a:ea typeface="Meiryo UI" pitchFamily="34" charset="-122"/>
                <a:cs typeface="Meiryo UI" pitchFamily="34" charset="-120"/>
              </a:rPr>
              <a:t>A × 2(条件3・12)</a:t>
            </a:r>
            <a:endParaRPr lang="en-US" sz="1000" dirty="0"/>
          </a:p>
        </p:txBody>
      </p:sp>
      <p:sp>
        <p:nvSpPr>
          <p:cNvPr id="24" name="ovl_fbox0_2"/>
          <p:cNvSpPr/>
          <p:nvPr/>
        </p:nvSpPr>
        <p:spPr>
          <a:xfrm>
            <a:off x="457200" y="3813048"/>
            <a:ext cx="3484778" cy="822960"/>
          </a:xfrm>
          <a:prstGeom prst="roundRect">
            <a:avLst>
              <a:gd name="adj" fmla="val 6667"/>
            </a:avLst>
          </a:prstGeom>
          <a:solidFill>
            <a:srgbClr val="EAF4EE"/>
          </a:solidFill>
          <a:ln w="9525">
            <a:solidFill>
              <a:srgbClr val="EAF4EE"/>
            </a:solidFill>
            <a:prstDash val="solid"/>
          </a:ln>
        </p:spPr>
      </p:sp>
      <p:sp>
        <p:nvSpPr>
          <p:cNvPr id="25" name="flow_t0_2"/>
          <p:cNvSpPr txBox="1"/>
          <p:nvPr/>
        </p:nvSpPr>
        <p:spPr>
          <a:xfrm>
            <a:off x="530352" y="3849624"/>
            <a:ext cx="3338474" cy="749808"/>
          </a:xfrm>
          <a:prstGeom prst="rect">
            <a:avLst/>
          </a:prstGeom>
          <a:noFill/>
          <a:ln/>
        </p:spPr>
        <p:txBody>
          <a:bodyPr wrap="square" lIns="0" tIns="0" rIns="0" bIns="0" rtlCol="0" anchor="ctr"/>
          <a:lstStyle/>
          <a:p>
            <a:pPr algn="ctr" indent="0" marL="0">
              <a:buNone/>
            </a:pPr>
            <a:r>
              <a:rPr lang="en-US" sz="1000" dirty="0">
                <a:solidFill>
                  <a:srgbClr val="0E4D33"/>
                </a:solidFill>
                <a:latin typeface="Meiryo UI" pitchFamily="34" charset="0"/>
                <a:ea typeface="Meiryo UI" pitchFamily="34" charset="-122"/>
                <a:cs typeface="Meiryo UI" pitchFamily="34" charset="-120"/>
              </a:rPr>
              <a:t>B × 8</a:t>
            </a:r>
            <a:endParaRPr lang="en-US" sz="1000" dirty="0"/>
          </a:p>
        </p:txBody>
      </p:sp>
      <p:sp>
        <p:nvSpPr>
          <p:cNvPr id="26" name="ovl_fbox0_3"/>
          <p:cNvSpPr/>
          <p:nvPr/>
        </p:nvSpPr>
        <p:spPr>
          <a:xfrm>
            <a:off x="457200" y="4745736"/>
            <a:ext cx="3484778" cy="822960"/>
          </a:xfrm>
          <a:prstGeom prst="roundRect">
            <a:avLst>
              <a:gd name="adj" fmla="val 6667"/>
            </a:avLst>
          </a:prstGeom>
          <a:solidFill>
            <a:srgbClr val="EAF4EE"/>
          </a:solidFill>
          <a:ln w="9525">
            <a:solidFill>
              <a:srgbClr val="EAF4EE"/>
            </a:solidFill>
            <a:prstDash val="solid"/>
          </a:ln>
        </p:spPr>
      </p:sp>
      <p:sp>
        <p:nvSpPr>
          <p:cNvPr id="27" name="flow_t0_3"/>
          <p:cNvSpPr txBox="1"/>
          <p:nvPr/>
        </p:nvSpPr>
        <p:spPr>
          <a:xfrm>
            <a:off x="530352" y="4782312"/>
            <a:ext cx="3338474" cy="749808"/>
          </a:xfrm>
          <a:prstGeom prst="rect">
            <a:avLst/>
          </a:prstGeom>
          <a:noFill/>
          <a:ln/>
        </p:spPr>
        <p:txBody>
          <a:bodyPr wrap="square" lIns="0" tIns="0" rIns="0" bIns="0" rtlCol="0" anchor="ctr"/>
          <a:lstStyle/>
          <a:p>
            <a:pPr algn="ctr" indent="0" marL="0">
              <a:buNone/>
            </a:pPr>
            <a:r>
              <a:rPr lang="en-US" sz="1000" dirty="0">
                <a:solidFill>
                  <a:srgbClr val="0E4D33"/>
                </a:solidFill>
                <a:latin typeface="Meiryo UI" pitchFamily="34" charset="0"/>
                <a:ea typeface="Meiryo UI" pitchFamily="34" charset="-122"/>
                <a:cs typeface="Meiryo UI" pitchFamily="34" charset="-120"/>
              </a:rPr>
              <a:t>C × 2(条件7・8)</a:t>
            </a:r>
            <a:endParaRPr lang="en-US" sz="1000" dirty="0"/>
          </a:p>
        </p:txBody>
      </p:sp>
      <p:sp>
        <p:nvSpPr>
          <p:cNvPr id="28" name="ovl_farrow0"/>
          <p:cNvSpPr/>
          <p:nvPr/>
        </p:nvSpPr>
        <p:spPr>
          <a:xfrm>
            <a:off x="4003700" y="3575304"/>
            <a:ext cx="288036" cy="365760"/>
          </a:xfrm>
          <a:prstGeom prst="rightArrow">
            <a:avLst/>
          </a:prstGeom>
          <a:solidFill>
            <a:srgbClr val="86C99B"/>
          </a:solidFill>
          <a:ln w="12700">
            <a:solidFill>
              <a:srgbClr val="86C99B"/>
            </a:solidFill>
            <a:prstDash val="solid"/>
          </a:ln>
        </p:spPr>
      </p:sp>
      <p:sp>
        <p:nvSpPr>
          <p:cNvPr id="29" name="flow_h1"/>
          <p:cNvSpPr txBox="1"/>
          <p:nvPr/>
        </p:nvSpPr>
        <p:spPr>
          <a:xfrm>
            <a:off x="4353458" y="1554480"/>
            <a:ext cx="3484778"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処理: 適用ルール</a:t>
            </a:r>
            <a:endParaRPr lang="en-US" sz="1100" dirty="0"/>
          </a:p>
        </p:txBody>
      </p:sp>
      <p:sp>
        <p:nvSpPr>
          <p:cNvPr id="30" name="ovl_fbox1_0"/>
          <p:cNvSpPr/>
          <p:nvPr/>
        </p:nvSpPr>
        <p:spPr>
          <a:xfrm>
            <a:off x="4353458" y="2414016"/>
            <a:ext cx="3484778" cy="822960"/>
          </a:xfrm>
          <a:prstGeom prst="roundRect">
            <a:avLst>
              <a:gd name="adj" fmla="val 6667"/>
            </a:avLst>
          </a:prstGeom>
          <a:solidFill>
            <a:srgbClr val="F2F2F2"/>
          </a:solidFill>
          <a:ln w="9525">
            <a:solidFill>
              <a:srgbClr val="F2F2F2"/>
            </a:solidFill>
            <a:prstDash val="solid"/>
          </a:ln>
        </p:spPr>
      </p:sp>
      <p:sp>
        <p:nvSpPr>
          <p:cNvPr id="31" name="flow_t1_0"/>
          <p:cNvSpPr txBox="1"/>
          <p:nvPr/>
        </p:nvSpPr>
        <p:spPr>
          <a:xfrm>
            <a:off x="4426610" y="2450592"/>
            <a:ext cx="3338474" cy="749808"/>
          </a:xfrm>
          <a:prstGeom prst="rect">
            <a:avLst/>
          </a:prstGeom>
          <a:noFill/>
          <a:ln/>
        </p:spPr>
        <p:txBody>
          <a:bodyPr wrap="square" lIns="0" tIns="0" rIns="0" bIns="0" rtlCol="0" anchor="ctr"/>
          <a:lstStyle/>
          <a:p>
            <a:pPr algn="ctr" indent="0" marL="0">
              <a:buNone/>
            </a:pPr>
            <a:r>
              <a:rPr lang="en-US" sz="1000" dirty="0">
                <a:solidFill>
                  <a:srgbClr val="767676"/>
                </a:solidFill>
                <a:latin typeface="Meiryo UI" pitchFamily="34" charset="0"/>
                <a:ea typeface="Meiryo UI" pitchFamily="34" charset="-122"/>
                <a:cs typeface="Meiryo UI" pitchFamily="34" charset="-120"/>
              </a:rPr>
              <a:t>致命条件の拒否権(E 以下): 非発動</a:t>
            </a:r>
            <a:endParaRPr lang="en-US" sz="1000" dirty="0"/>
          </a:p>
        </p:txBody>
      </p:sp>
      <p:sp>
        <p:nvSpPr>
          <p:cNvPr id="32" name="ovl_fbox1_1"/>
          <p:cNvSpPr/>
          <p:nvPr/>
        </p:nvSpPr>
        <p:spPr>
          <a:xfrm>
            <a:off x="4353458" y="3346704"/>
            <a:ext cx="3484778" cy="822960"/>
          </a:xfrm>
          <a:prstGeom prst="roundRect">
            <a:avLst>
              <a:gd name="adj" fmla="val 6667"/>
            </a:avLst>
          </a:prstGeom>
          <a:solidFill>
            <a:srgbClr val="197A56"/>
          </a:solidFill>
          <a:ln w="9525">
            <a:solidFill>
              <a:srgbClr val="197A56"/>
            </a:solidFill>
            <a:prstDash val="solid"/>
          </a:ln>
        </p:spPr>
      </p:sp>
      <p:sp>
        <p:nvSpPr>
          <p:cNvPr id="33" name="flow_t1_1"/>
          <p:cNvSpPr txBox="1"/>
          <p:nvPr/>
        </p:nvSpPr>
        <p:spPr>
          <a:xfrm>
            <a:off x="4426610" y="3383280"/>
            <a:ext cx="3338474" cy="749808"/>
          </a:xfrm>
          <a:prstGeom prst="rect">
            <a:avLst/>
          </a:prstGeom>
          <a:noFill/>
          <a:ln/>
        </p:spPr>
        <p:txBody>
          <a:bodyPr wrap="square" lIns="0" tIns="0" rIns="0" bIns="0" rtlCol="0" anchor="ctr"/>
          <a:lstStyle/>
          <a:p>
            <a:pPr algn="ctr" indent="0" marL="0">
              <a:buNone/>
            </a:pPr>
            <a:r>
              <a:rPr lang="en-US" sz="1000" dirty="0">
                <a:solidFill>
                  <a:srgbClr val="FFFFFF"/>
                </a:solidFill>
                <a:latin typeface="Meiryo UI" pitchFamily="34" charset="0"/>
                <a:ea typeface="Meiryo UI" pitchFamily="34" charset="-122"/>
                <a:cs typeface="Meiryo UI" pitchFamily="34" charset="-120"/>
              </a:rPr>
              <a:t>条件6・7 の対評価: 発動(条件6 の S を無効)</a:t>
            </a:r>
            <a:endParaRPr lang="en-US" sz="1000" dirty="0"/>
          </a:p>
        </p:txBody>
      </p:sp>
      <p:sp>
        <p:nvSpPr>
          <p:cNvPr id="34" name="ovl_fbox1_2"/>
          <p:cNvSpPr/>
          <p:nvPr/>
        </p:nvSpPr>
        <p:spPr>
          <a:xfrm>
            <a:off x="4353458" y="4279392"/>
            <a:ext cx="3484778" cy="822960"/>
          </a:xfrm>
          <a:prstGeom prst="roundRect">
            <a:avLst>
              <a:gd name="adj" fmla="val 6667"/>
            </a:avLst>
          </a:prstGeom>
          <a:solidFill>
            <a:srgbClr val="F2F2F2"/>
          </a:solidFill>
          <a:ln w="9525">
            <a:solidFill>
              <a:srgbClr val="F2F2F2"/>
            </a:solidFill>
            <a:prstDash val="solid"/>
          </a:ln>
        </p:spPr>
      </p:sp>
      <p:sp>
        <p:nvSpPr>
          <p:cNvPr id="35" name="flow_t1_2"/>
          <p:cNvSpPr txBox="1"/>
          <p:nvPr/>
        </p:nvSpPr>
        <p:spPr>
          <a:xfrm>
            <a:off x="4426610" y="4315968"/>
            <a:ext cx="3338474" cy="749808"/>
          </a:xfrm>
          <a:prstGeom prst="rect">
            <a:avLst/>
          </a:prstGeom>
          <a:noFill/>
          <a:ln/>
        </p:spPr>
        <p:txBody>
          <a:bodyPr wrap="square" lIns="0" tIns="0" rIns="0" bIns="0" rtlCol="0" anchor="ctr"/>
          <a:lstStyle/>
          <a:p>
            <a:pPr algn="ctr" indent="0" marL="0">
              <a:buNone/>
            </a:pPr>
            <a:r>
              <a:rPr lang="en-US" sz="1000" dirty="0">
                <a:solidFill>
                  <a:srgbClr val="767676"/>
                </a:solidFill>
                <a:latin typeface="Meiryo UI" pitchFamily="34" charset="0"/>
                <a:ea typeface="Meiryo UI" pitchFamily="34" charset="-122"/>
                <a:cs typeface="Meiryo UI" pitchFamily="34" charset="-120"/>
              </a:rPr>
              <a:t>C × 4 以上で上限 C: 非発動(C は 2)</a:t>
            </a:r>
            <a:endParaRPr lang="en-US" sz="1000" dirty="0"/>
          </a:p>
        </p:txBody>
      </p:sp>
      <p:sp>
        <p:nvSpPr>
          <p:cNvPr id="36" name="ovl_farrow1"/>
          <p:cNvSpPr/>
          <p:nvPr/>
        </p:nvSpPr>
        <p:spPr>
          <a:xfrm>
            <a:off x="7899959" y="3575304"/>
            <a:ext cx="288036" cy="365760"/>
          </a:xfrm>
          <a:prstGeom prst="rightArrow">
            <a:avLst/>
          </a:prstGeom>
          <a:solidFill>
            <a:srgbClr val="86C99B"/>
          </a:solidFill>
          <a:ln w="12700">
            <a:solidFill>
              <a:srgbClr val="86C99B"/>
            </a:solidFill>
            <a:prstDash val="solid"/>
          </a:ln>
        </p:spPr>
      </p:sp>
      <p:sp>
        <p:nvSpPr>
          <p:cNvPr id="37" name="flow_h2"/>
          <p:cNvSpPr txBox="1"/>
          <p:nvPr/>
        </p:nvSpPr>
        <p:spPr>
          <a:xfrm>
            <a:off x="8249717" y="1554480"/>
            <a:ext cx="3484778"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出力: 構造評価</a:t>
            </a:r>
            <a:endParaRPr lang="en-US" sz="1100" dirty="0"/>
          </a:p>
        </p:txBody>
      </p:sp>
      <p:sp>
        <p:nvSpPr>
          <p:cNvPr id="38" name="ovl_fbox2_0"/>
          <p:cNvSpPr/>
          <p:nvPr/>
        </p:nvSpPr>
        <p:spPr>
          <a:xfrm>
            <a:off x="8249717" y="2560320"/>
            <a:ext cx="3484778" cy="1463040"/>
          </a:xfrm>
          <a:prstGeom prst="roundRect">
            <a:avLst>
              <a:gd name="adj" fmla="val 3750"/>
            </a:avLst>
          </a:prstGeom>
          <a:solidFill>
            <a:srgbClr val="0E4D33"/>
          </a:solidFill>
          <a:ln w="9525">
            <a:solidFill>
              <a:srgbClr val="0E4D33"/>
            </a:solidFill>
            <a:prstDash val="solid"/>
          </a:ln>
        </p:spPr>
      </p:sp>
      <p:sp>
        <p:nvSpPr>
          <p:cNvPr id="39" name="flow_t2_0"/>
          <p:cNvSpPr txBox="1"/>
          <p:nvPr/>
        </p:nvSpPr>
        <p:spPr>
          <a:xfrm>
            <a:off x="8322869" y="2596896"/>
            <a:ext cx="3338474" cy="1389888"/>
          </a:xfrm>
          <a:prstGeom prst="rect">
            <a:avLst/>
          </a:prstGeom>
          <a:noFill/>
          <a:ln/>
        </p:spPr>
        <p:txBody>
          <a:bodyPr wrap="square" lIns="0" tIns="0" rIns="0" bIns="0" rtlCol="0" anchor="ctr"/>
          <a:lstStyle/>
          <a:p>
            <a:pPr algn="ctr" indent="0" marL="0">
              <a:buNone/>
            </a:pPr>
            <a:r>
              <a:rPr lang="en-US" sz="4000" b="1" dirty="0">
                <a:solidFill>
                  <a:srgbClr val="FFFFFF"/>
                </a:solidFill>
                <a:latin typeface="Meiryo UI" pitchFamily="34" charset="0"/>
                <a:ea typeface="Meiryo UI" pitchFamily="34" charset="-122"/>
                <a:cs typeface="Meiryo UI" pitchFamily="34" charset="-120"/>
              </a:rPr>
              <a:t>B</a:t>
            </a:r>
            <a:endParaRPr lang="en-US" sz="4000" dirty="0"/>
          </a:p>
        </p:txBody>
      </p:sp>
      <p:sp>
        <p:nvSpPr>
          <p:cNvPr id="40" name="ovl_fbox2_1"/>
          <p:cNvSpPr/>
          <p:nvPr/>
        </p:nvSpPr>
        <p:spPr>
          <a:xfrm>
            <a:off x="8249717" y="4133088"/>
            <a:ext cx="3484778" cy="822960"/>
          </a:xfrm>
          <a:prstGeom prst="roundRect">
            <a:avLst>
              <a:gd name="adj" fmla="val 6667"/>
            </a:avLst>
          </a:prstGeom>
          <a:solidFill>
            <a:srgbClr val="EAF4EE"/>
          </a:solidFill>
          <a:ln w="9525">
            <a:solidFill>
              <a:srgbClr val="EAF4EE"/>
            </a:solidFill>
            <a:prstDash val="solid"/>
          </a:ln>
        </p:spPr>
      </p:sp>
      <p:sp>
        <p:nvSpPr>
          <p:cNvPr id="41" name="flow_t2_1"/>
          <p:cNvSpPr txBox="1"/>
          <p:nvPr/>
        </p:nvSpPr>
        <p:spPr>
          <a:xfrm>
            <a:off x="8322869" y="4169664"/>
            <a:ext cx="3338474" cy="749808"/>
          </a:xfrm>
          <a:prstGeom prst="rect">
            <a:avLst/>
          </a:prstGeom>
          <a:noFill/>
          <a:ln/>
        </p:spPr>
        <p:txBody>
          <a:bodyPr wrap="square" lIns="0" tIns="0" rIns="0" bIns="0" rtlCol="0" anchor="ctr"/>
          <a:lstStyle/>
          <a:p>
            <a:pPr algn="ctr" indent="0" marL="0">
              <a:buNone/>
            </a:pPr>
            <a:r>
              <a:rPr lang="en-US" sz="1000" dirty="0">
                <a:solidFill>
                  <a:srgbClr val="0E4D33"/>
                </a:solidFill>
                <a:latin typeface="Meiryo UI" pitchFamily="34" charset="0"/>
                <a:ea typeface="Meiryo UI" pitchFamily="34" charset="-122"/>
                <a:cs typeface="Meiryo UI" pitchFamily="34" charset="-120"/>
              </a:rPr>
              <a:t>最頻の B を採用(機械的な平均はしない)</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第1章 評価総括</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1-2 評価の全体像(3/3)</a:t>
            </a:r>
            <a:endParaRPr lang="en-US" sz="900" dirty="0"/>
          </a:p>
        </p:txBody>
      </p:sp>
      <p:sp>
        <p:nvSpPr>
          <p:cNvPr id="4" name="bg_hdr_pill0"/>
          <p:cNvSpPr/>
          <p:nvPr/>
        </p:nvSpPr>
        <p:spPr>
          <a:xfrm>
            <a:off x="8479231" y="64008"/>
            <a:ext cx="786384" cy="182880"/>
          </a:xfrm>
          <a:prstGeom prst="roundRect">
            <a:avLst>
              <a:gd name="adj" fmla="val 20000"/>
            </a:avLst>
          </a:prstGeom>
          <a:solidFill>
            <a:srgbClr val="197A56"/>
          </a:solidFill>
          <a:ln w="9525">
            <a:solidFill>
              <a:srgbClr val="197A56"/>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525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525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評価の全体像</a:t>
            </a:r>
            <a:endParaRPr lang="en-US" sz="1000" dirty="0"/>
          </a:p>
        </p:txBody>
      </p:sp>
      <p:sp>
        <p:nvSpPr>
          <p:cNvPr id="14" name="hdr_why"/>
          <p:cNvSpPr txBox="1"/>
          <p:nvPr/>
        </p:nvSpPr>
        <p:spPr>
          <a:xfrm>
            <a:off x="2128774" y="356616"/>
            <a:ext cx="9605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どの事業構造が評価を押し上げ、どれが押し下げたかを、原因から結果の順に示す</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DB の切替コストと前払い・長期リースの資金構造が評価を押し上げ、</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AI 容量の商品性と OpenAI 集中が押し下げる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構造的要因サマリー: 構造(だから)→ 条件の評価(となり)→ 構造評価への効き(を動かした)</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本資料 第3章、需給エンジン第4.3版</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6</a:t>
            </a:r>
            <a:endParaRPr lang="en-US" sz="800" dirty="0"/>
          </a:p>
        </p:txBody>
      </p:sp>
      <p:sp>
        <p:nvSpPr>
          <p:cNvPr id="19" name="head_up"/>
          <p:cNvSpPr txBox="1"/>
          <p:nvPr/>
        </p:nvSpPr>
        <p:spPr>
          <a:xfrm>
            <a:off x="457200" y="1481328"/>
            <a:ext cx="8961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押し上げ要因</a:t>
            </a:r>
            <a:endParaRPr lang="en-US" sz="1200" dirty="0"/>
          </a:p>
        </p:txBody>
      </p:sp>
      <p:sp>
        <p:nvSpPr>
          <p:cNvPr id="20" name="head_down"/>
          <p:cNvSpPr txBox="1"/>
          <p:nvPr/>
        </p:nvSpPr>
        <p:spPr>
          <a:xfrm>
            <a:off x="457200" y="3630168"/>
            <a:ext cx="8961120" cy="292608"/>
          </a:xfrm>
          <a:prstGeom prst="rect">
            <a:avLst/>
          </a:prstGeom>
          <a:noFill/>
          <a:ln/>
        </p:spPr>
        <p:txBody>
          <a:bodyPr wrap="square" lIns="0" tIns="0" rIns="0" bIns="0" rtlCol="0" anchor="ctr"/>
          <a:lstStyle/>
          <a:p>
            <a:pPr indent="0" marL="0">
              <a:buNone/>
            </a:pPr>
            <a:r>
              <a:rPr lang="en-US" sz="1200" b="1" dirty="0">
                <a:solidFill>
                  <a:srgbClr val="C0392B"/>
                </a:solidFill>
                <a:latin typeface="Meiryo UI" pitchFamily="34" charset="0"/>
                <a:ea typeface="Meiryo UI" pitchFamily="34" charset="-122"/>
                <a:cs typeface="Meiryo UI" pitchFamily="34" charset="-120"/>
              </a:rPr>
              <a:t>押し下げ要因</a:t>
            </a:r>
            <a:endParaRPr lang="en-US" sz="1200" dirty="0"/>
          </a:p>
        </p:txBody>
      </p:sp>
      <p:sp>
        <p:nvSpPr>
          <p:cNvPr id="21" name="ovl_card_up0"/>
          <p:cNvSpPr/>
          <p:nvPr/>
        </p:nvSpPr>
        <p:spPr>
          <a:xfrm>
            <a:off x="457200" y="1828800"/>
            <a:ext cx="2834640" cy="1691640"/>
          </a:xfrm>
          <a:prstGeom prst="rect">
            <a:avLst/>
          </a:prstGeom>
          <a:solidFill>
            <a:srgbClr val="EAF4EE"/>
          </a:solidFill>
          <a:ln w="9525">
            <a:solidFill>
              <a:srgbClr val="86C99B"/>
            </a:solidFill>
            <a:prstDash val="solid"/>
          </a:ln>
        </p:spPr>
      </p:sp>
      <p:sp>
        <p:nvSpPr>
          <p:cNvPr id="22" name="cn_up0"/>
          <p:cNvSpPr txBox="1"/>
          <p:nvPr/>
        </p:nvSpPr>
        <p:spPr>
          <a:xfrm>
            <a:off x="548640" y="1920240"/>
            <a:ext cx="365760" cy="384048"/>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条件</a:t>
            </a:r>
            <a:endParaRPr lang="en-US" sz="950" dirty="0"/>
          </a:p>
        </p:txBody>
      </p:sp>
      <p:sp>
        <p:nvSpPr>
          <p:cNvPr id="23" name="ovl_badge"/>
          <p:cNvSpPr/>
          <p:nvPr/>
        </p:nvSpPr>
        <p:spPr>
          <a:xfrm>
            <a:off x="932688" y="1920240"/>
            <a:ext cx="384048" cy="384048"/>
          </a:xfrm>
          <a:prstGeom prst="roundRect">
            <a:avLst>
              <a:gd name="adj" fmla="val 19048"/>
            </a:avLst>
          </a:prstGeom>
          <a:solidFill>
            <a:srgbClr val="86C99B"/>
          </a:solidFill>
          <a:ln w="12700">
            <a:solidFill>
              <a:srgbClr val="86C99B"/>
            </a:solidFill>
            <a:prstDash val="solid"/>
          </a:ln>
        </p:spPr>
      </p:sp>
      <p:sp>
        <p:nvSpPr>
          <p:cNvPr id="24" name="ovl_badge_t"/>
          <p:cNvSpPr txBox="1"/>
          <p:nvPr/>
        </p:nvSpPr>
        <p:spPr>
          <a:xfrm>
            <a:off x="932688" y="1920240"/>
            <a:ext cx="384048" cy="384048"/>
          </a:xfrm>
          <a:prstGeom prst="rect">
            <a:avLst/>
          </a:prstGeom>
          <a:noFill/>
          <a:ln/>
        </p:spPr>
        <p:txBody>
          <a:bodyPr wrap="square" lIns="0" tIns="0" rIns="0" bIns="0" rtlCol="0" anchor="ctr"/>
          <a:lstStyle/>
          <a:p>
            <a:pPr algn="ctr" indent="0" marL="0">
              <a:buNone/>
            </a:pPr>
            <a:r>
              <a:rPr lang="en-US" sz="1300" b="1" dirty="0">
                <a:solidFill>
                  <a:srgbClr val="0E4D33"/>
                </a:solidFill>
                <a:latin typeface="Meiryo UI" pitchFamily="34" charset="0"/>
                <a:ea typeface="Meiryo UI" pitchFamily="34" charset="-122"/>
                <a:cs typeface="Meiryo UI" pitchFamily="34" charset="-120"/>
              </a:rPr>
              <a:t>B</a:t>
            </a:r>
            <a:endParaRPr lang="en-US" sz="1300" dirty="0"/>
          </a:p>
        </p:txBody>
      </p:sp>
      <p:sp>
        <p:nvSpPr>
          <p:cNvPr id="25" name="no_up0_0"/>
          <p:cNvSpPr txBox="1"/>
          <p:nvPr/>
        </p:nvSpPr>
        <p:spPr>
          <a:xfrm>
            <a:off x="1344168" y="1920240"/>
            <a:ext cx="192024"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1</a:t>
            </a:r>
            <a:endParaRPr lang="en-US" sz="950" dirty="0"/>
          </a:p>
        </p:txBody>
      </p:sp>
      <p:sp>
        <p:nvSpPr>
          <p:cNvPr id="26" name="ovl_badge"/>
          <p:cNvSpPr/>
          <p:nvPr/>
        </p:nvSpPr>
        <p:spPr>
          <a:xfrm>
            <a:off x="1591056" y="1920240"/>
            <a:ext cx="384048" cy="384048"/>
          </a:xfrm>
          <a:prstGeom prst="roundRect">
            <a:avLst>
              <a:gd name="adj" fmla="val 19048"/>
            </a:avLst>
          </a:prstGeom>
          <a:solidFill>
            <a:srgbClr val="86C99B"/>
          </a:solidFill>
          <a:ln w="12700">
            <a:solidFill>
              <a:srgbClr val="86C99B"/>
            </a:solidFill>
            <a:prstDash val="solid"/>
          </a:ln>
        </p:spPr>
      </p:sp>
      <p:sp>
        <p:nvSpPr>
          <p:cNvPr id="27" name="ovl_badge_t"/>
          <p:cNvSpPr txBox="1"/>
          <p:nvPr/>
        </p:nvSpPr>
        <p:spPr>
          <a:xfrm>
            <a:off x="1591056" y="1920240"/>
            <a:ext cx="384048" cy="384048"/>
          </a:xfrm>
          <a:prstGeom prst="rect">
            <a:avLst/>
          </a:prstGeom>
          <a:noFill/>
          <a:ln/>
        </p:spPr>
        <p:txBody>
          <a:bodyPr wrap="square" lIns="0" tIns="0" rIns="0" bIns="0" rtlCol="0" anchor="ctr"/>
          <a:lstStyle/>
          <a:p>
            <a:pPr algn="ctr" indent="0" marL="0">
              <a:buNone/>
            </a:pPr>
            <a:r>
              <a:rPr lang="en-US" sz="1300" b="1" dirty="0">
                <a:solidFill>
                  <a:srgbClr val="0E4D33"/>
                </a:solidFill>
                <a:latin typeface="Meiryo UI" pitchFamily="34" charset="0"/>
                <a:ea typeface="Meiryo UI" pitchFamily="34" charset="-122"/>
                <a:cs typeface="Meiryo UI" pitchFamily="34" charset="-120"/>
              </a:rPr>
              <a:t>B</a:t>
            </a:r>
            <a:endParaRPr lang="en-US" sz="1300" dirty="0"/>
          </a:p>
        </p:txBody>
      </p:sp>
      <p:sp>
        <p:nvSpPr>
          <p:cNvPr id="28" name="no_up0_1"/>
          <p:cNvSpPr txBox="1"/>
          <p:nvPr/>
        </p:nvSpPr>
        <p:spPr>
          <a:xfrm>
            <a:off x="2002536" y="1920240"/>
            <a:ext cx="274320"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11</a:t>
            </a:r>
            <a:endParaRPr lang="en-US" sz="950" dirty="0"/>
          </a:p>
        </p:txBody>
      </p:sp>
      <p:sp>
        <p:nvSpPr>
          <p:cNvPr id="29" name="ovl_badge"/>
          <p:cNvSpPr/>
          <p:nvPr/>
        </p:nvSpPr>
        <p:spPr>
          <a:xfrm>
            <a:off x="2331720" y="1920240"/>
            <a:ext cx="384048" cy="384048"/>
          </a:xfrm>
          <a:prstGeom prst="roundRect">
            <a:avLst>
              <a:gd name="adj" fmla="val 19048"/>
            </a:avLst>
          </a:prstGeom>
          <a:solidFill>
            <a:srgbClr val="197A56"/>
          </a:solidFill>
          <a:ln w="12700">
            <a:solidFill>
              <a:srgbClr val="197A56"/>
            </a:solidFill>
            <a:prstDash val="solid"/>
          </a:ln>
        </p:spPr>
      </p:sp>
      <p:sp>
        <p:nvSpPr>
          <p:cNvPr id="30" name="ovl_badge_t"/>
          <p:cNvSpPr txBox="1"/>
          <p:nvPr/>
        </p:nvSpPr>
        <p:spPr>
          <a:xfrm>
            <a:off x="2331720" y="1920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A</a:t>
            </a:r>
            <a:endParaRPr lang="en-US" sz="1300" dirty="0"/>
          </a:p>
        </p:txBody>
      </p:sp>
      <p:sp>
        <p:nvSpPr>
          <p:cNvPr id="31" name="no_up0_2"/>
          <p:cNvSpPr txBox="1"/>
          <p:nvPr/>
        </p:nvSpPr>
        <p:spPr>
          <a:xfrm>
            <a:off x="2743200" y="1920240"/>
            <a:ext cx="274320"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12</a:t>
            </a:r>
            <a:endParaRPr lang="en-US" sz="950" dirty="0"/>
          </a:p>
        </p:txBody>
      </p:sp>
      <p:sp>
        <p:nvSpPr>
          <p:cNvPr id="32" name="h_up0"/>
          <p:cNvSpPr txBox="1"/>
          <p:nvPr/>
        </p:nvSpPr>
        <p:spPr>
          <a:xfrm>
            <a:off x="548640" y="2359152"/>
            <a:ext cx="2651760" cy="274320"/>
          </a:xfrm>
          <a:prstGeom prst="rect">
            <a:avLst/>
          </a:prstGeom>
          <a:noFill/>
          <a:ln/>
        </p:spPr>
        <p:txBody>
          <a:bodyPr wrap="square" lIns="0" tIns="0" rIns="0" bIns="0"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DB の切替コスト</a:t>
            </a:r>
            <a:endParaRPr lang="en-US" sz="1100" dirty="0"/>
          </a:p>
        </p:txBody>
      </p:sp>
      <p:sp>
        <p:nvSpPr>
          <p:cNvPr id="33" name="b_up0"/>
          <p:cNvSpPr txBox="1"/>
          <p:nvPr/>
        </p:nvSpPr>
        <p:spPr>
          <a:xfrm>
            <a:off x="548640" y="2670048"/>
            <a:ext cx="2651760" cy="777240"/>
          </a:xfrm>
          <a:prstGeom prst="rect">
            <a:avLst/>
          </a:prstGeom>
          <a:noFill/>
          <a:ln/>
        </p:spPr>
        <p:txBody>
          <a:bodyPr wrap="square" lIns="0" tIns="0" rIns="0" bIns="0" rtlCol="0" anchor="t"/>
          <a:lstStyle/>
          <a:p>
            <a:pPr indent="0" marL="0">
              <a:buNone/>
            </a:pPr>
            <a:r>
              <a:rPr lang="en-US" sz="950" dirty="0">
                <a:solidFill>
                  <a:srgbClr val="333333"/>
                </a:solidFill>
                <a:latin typeface="Meiryo UI" pitchFamily="34" charset="0"/>
                <a:ea typeface="Meiryo UI" pitchFamily="34" charset="-122"/>
                <a:cs typeface="Meiryo UI" pitchFamily="34" charset="-120"/>
              </a:rPr>
              <a:t>数十年続く保守・継続課金が土台になり、価格決定力と模倣困難性を支えて評価を上げた</a:t>
            </a:r>
            <a:endParaRPr lang="en-US" sz="950" dirty="0"/>
          </a:p>
        </p:txBody>
      </p:sp>
      <p:sp>
        <p:nvSpPr>
          <p:cNvPr id="34" name="ovl_card_up1"/>
          <p:cNvSpPr/>
          <p:nvPr/>
        </p:nvSpPr>
        <p:spPr>
          <a:xfrm>
            <a:off x="3520440" y="1828800"/>
            <a:ext cx="2834640" cy="1691640"/>
          </a:xfrm>
          <a:prstGeom prst="rect">
            <a:avLst/>
          </a:prstGeom>
          <a:solidFill>
            <a:srgbClr val="EAF4EE"/>
          </a:solidFill>
          <a:ln w="9525">
            <a:solidFill>
              <a:srgbClr val="86C99B"/>
            </a:solidFill>
            <a:prstDash val="solid"/>
          </a:ln>
        </p:spPr>
      </p:sp>
      <p:sp>
        <p:nvSpPr>
          <p:cNvPr id="35" name="cn_up1"/>
          <p:cNvSpPr txBox="1"/>
          <p:nvPr/>
        </p:nvSpPr>
        <p:spPr>
          <a:xfrm>
            <a:off x="3611880" y="1920240"/>
            <a:ext cx="365760" cy="384048"/>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条件</a:t>
            </a:r>
            <a:endParaRPr lang="en-US" sz="950" dirty="0"/>
          </a:p>
        </p:txBody>
      </p:sp>
      <p:sp>
        <p:nvSpPr>
          <p:cNvPr id="36" name="ovl_badge"/>
          <p:cNvSpPr/>
          <p:nvPr/>
        </p:nvSpPr>
        <p:spPr>
          <a:xfrm>
            <a:off x="3995928" y="1920240"/>
            <a:ext cx="384048" cy="384048"/>
          </a:xfrm>
          <a:prstGeom prst="roundRect">
            <a:avLst>
              <a:gd name="adj" fmla="val 19048"/>
            </a:avLst>
          </a:prstGeom>
          <a:solidFill>
            <a:srgbClr val="86C99B"/>
          </a:solidFill>
          <a:ln w="12700">
            <a:solidFill>
              <a:srgbClr val="86C99B"/>
            </a:solidFill>
            <a:prstDash val="solid"/>
          </a:ln>
        </p:spPr>
      </p:sp>
      <p:sp>
        <p:nvSpPr>
          <p:cNvPr id="37" name="ovl_badge_t"/>
          <p:cNvSpPr txBox="1"/>
          <p:nvPr/>
        </p:nvSpPr>
        <p:spPr>
          <a:xfrm>
            <a:off x="3995928" y="1920240"/>
            <a:ext cx="384048" cy="384048"/>
          </a:xfrm>
          <a:prstGeom prst="rect">
            <a:avLst/>
          </a:prstGeom>
          <a:noFill/>
          <a:ln/>
        </p:spPr>
        <p:txBody>
          <a:bodyPr wrap="square" lIns="0" tIns="0" rIns="0" bIns="0" rtlCol="0" anchor="ctr"/>
          <a:lstStyle/>
          <a:p>
            <a:pPr algn="ctr" indent="0" marL="0">
              <a:buNone/>
            </a:pPr>
            <a:r>
              <a:rPr lang="en-US" sz="1300" b="1" dirty="0">
                <a:solidFill>
                  <a:srgbClr val="0E4D33"/>
                </a:solidFill>
                <a:latin typeface="Meiryo UI" pitchFamily="34" charset="0"/>
                <a:ea typeface="Meiryo UI" pitchFamily="34" charset="-122"/>
                <a:cs typeface="Meiryo UI" pitchFamily="34" charset="-120"/>
              </a:rPr>
              <a:t>B</a:t>
            </a:r>
            <a:endParaRPr lang="en-US" sz="1300" dirty="0"/>
          </a:p>
        </p:txBody>
      </p:sp>
      <p:sp>
        <p:nvSpPr>
          <p:cNvPr id="38" name="no_up1_0"/>
          <p:cNvSpPr txBox="1"/>
          <p:nvPr/>
        </p:nvSpPr>
        <p:spPr>
          <a:xfrm>
            <a:off x="4407408" y="1920240"/>
            <a:ext cx="192024"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2</a:t>
            </a:r>
            <a:endParaRPr lang="en-US" sz="950" dirty="0"/>
          </a:p>
        </p:txBody>
      </p:sp>
      <p:sp>
        <p:nvSpPr>
          <p:cNvPr id="39" name="ovl_badge"/>
          <p:cNvSpPr/>
          <p:nvPr/>
        </p:nvSpPr>
        <p:spPr>
          <a:xfrm>
            <a:off x="4654296" y="1920240"/>
            <a:ext cx="384048" cy="384048"/>
          </a:xfrm>
          <a:prstGeom prst="roundRect">
            <a:avLst>
              <a:gd name="adj" fmla="val 19048"/>
            </a:avLst>
          </a:prstGeom>
          <a:solidFill>
            <a:srgbClr val="86C99B"/>
          </a:solidFill>
          <a:ln w="12700">
            <a:solidFill>
              <a:srgbClr val="86C99B"/>
            </a:solidFill>
            <a:prstDash val="solid"/>
          </a:ln>
        </p:spPr>
      </p:sp>
      <p:sp>
        <p:nvSpPr>
          <p:cNvPr id="40" name="ovl_badge_t"/>
          <p:cNvSpPr txBox="1"/>
          <p:nvPr/>
        </p:nvSpPr>
        <p:spPr>
          <a:xfrm>
            <a:off x="4654296" y="1920240"/>
            <a:ext cx="384048" cy="384048"/>
          </a:xfrm>
          <a:prstGeom prst="rect">
            <a:avLst/>
          </a:prstGeom>
          <a:noFill/>
          <a:ln/>
        </p:spPr>
        <p:txBody>
          <a:bodyPr wrap="square" lIns="0" tIns="0" rIns="0" bIns="0" rtlCol="0" anchor="ctr"/>
          <a:lstStyle/>
          <a:p>
            <a:pPr algn="ctr" indent="0" marL="0">
              <a:buNone/>
            </a:pPr>
            <a:r>
              <a:rPr lang="en-US" sz="1300" b="1" dirty="0">
                <a:solidFill>
                  <a:srgbClr val="0E4D33"/>
                </a:solidFill>
                <a:latin typeface="Meiryo UI" pitchFamily="34" charset="0"/>
                <a:ea typeface="Meiryo UI" pitchFamily="34" charset="-122"/>
                <a:cs typeface="Meiryo UI" pitchFamily="34" charset="-120"/>
              </a:rPr>
              <a:t>B</a:t>
            </a:r>
            <a:endParaRPr lang="en-US" sz="1300" dirty="0"/>
          </a:p>
        </p:txBody>
      </p:sp>
      <p:sp>
        <p:nvSpPr>
          <p:cNvPr id="41" name="no_up1_1"/>
          <p:cNvSpPr txBox="1"/>
          <p:nvPr/>
        </p:nvSpPr>
        <p:spPr>
          <a:xfrm>
            <a:off x="5065776" y="1920240"/>
            <a:ext cx="274320"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13</a:t>
            </a:r>
            <a:endParaRPr lang="en-US" sz="950" dirty="0"/>
          </a:p>
        </p:txBody>
      </p:sp>
      <p:sp>
        <p:nvSpPr>
          <p:cNvPr id="42" name="h_up1"/>
          <p:cNvSpPr txBox="1"/>
          <p:nvPr/>
        </p:nvSpPr>
        <p:spPr>
          <a:xfrm>
            <a:off x="3611880" y="2359152"/>
            <a:ext cx="2651760" cy="274320"/>
          </a:xfrm>
          <a:prstGeom prst="rect">
            <a:avLst/>
          </a:prstGeom>
          <a:noFill/>
          <a:ln/>
        </p:spPr>
        <p:txBody>
          <a:bodyPr wrap="square" lIns="0" tIns="0" rIns="0" bIns="0"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前払い・長期リースの資金構造</a:t>
            </a:r>
            <a:endParaRPr lang="en-US" sz="1100" dirty="0"/>
          </a:p>
        </p:txBody>
      </p:sp>
      <p:sp>
        <p:nvSpPr>
          <p:cNvPr id="43" name="b_up1"/>
          <p:cNvSpPr txBox="1"/>
          <p:nvPr/>
        </p:nvSpPr>
        <p:spPr>
          <a:xfrm>
            <a:off x="3611880" y="2670048"/>
            <a:ext cx="2651760" cy="777240"/>
          </a:xfrm>
          <a:prstGeom prst="rect">
            <a:avLst/>
          </a:prstGeom>
          <a:noFill/>
          <a:ln/>
        </p:spPr>
        <p:txBody>
          <a:bodyPr wrap="square" lIns="0" tIns="0" rIns="0" bIns="0" rtlCol="0" anchor="t"/>
          <a:lstStyle/>
          <a:p>
            <a:pPr indent="0" marL="0">
              <a:buNone/>
            </a:pPr>
            <a:r>
              <a:rPr lang="en-US" sz="950" dirty="0">
                <a:solidFill>
                  <a:srgbClr val="333333"/>
                </a:solidFill>
                <a:latin typeface="Meiryo UI" pitchFamily="34" charset="0"/>
                <a:ea typeface="Meiryo UI" pitchFamily="34" charset="-122"/>
                <a:cs typeface="Meiryo UI" pitchFamily="34" charset="-120"/>
              </a:rPr>
              <a:t>GPU の一部と建屋の資金を</a:t>
            </a:r>
            <a:endParaRPr lang="en-US" sz="950" dirty="0"/>
          </a:p>
          <a:p>
            <a:pPr indent="0" marL="0">
              <a:buNone/>
            </a:pPr>
            <a:r>
              <a:rPr lang="en-US" sz="950" dirty="0">
                <a:solidFill>
                  <a:srgbClr val="333333"/>
                </a:solidFill>
                <a:latin typeface="Meiryo UI" pitchFamily="34" charset="0"/>
                <a:ea typeface="Meiryo UI" pitchFamily="34" charset="-122"/>
                <a:cs typeface="Meiryo UI" pitchFamily="34" charset="-120"/>
              </a:rPr>
              <a:t>顧客・パートナーに移し、</a:t>
            </a:r>
            <a:endParaRPr lang="en-US" sz="950" dirty="0"/>
          </a:p>
          <a:p>
            <a:pPr indent="0" marL="0">
              <a:buNone/>
            </a:pPr>
            <a:r>
              <a:rPr lang="en-US" sz="950" dirty="0">
                <a:solidFill>
                  <a:srgbClr val="333333"/>
                </a:solidFill>
                <a:latin typeface="Meiryo UI" pitchFamily="34" charset="0"/>
                <a:ea typeface="Meiryo UI" pitchFamily="34" charset="-122"/>
                <a:cs typeface="Meiryo UI" pitchFamily="34" charset="-120"/>
              </a:rPr>
              <a:t>自己資金の負担を軽くして評価を支えた</a:t>
            </a:r>
            <a:endParaRPr lang="en-US" sz="950" dirty="0"/>
          </a:p>
        </p:txBody>
      </p:sp>
      <p:sp>
        <p:nvSpPr>
          <p:cNvPr id="44" name="ovl_card_up2"/>
          <p:cNvSpPr/>
          <p:nvPr/>
        </p:nvSpPr>
        <p:spPr>
          <a:xfrm>
            <a:off x="6583680" y="1828800"/>
            <a:ext cx="2834640" cy="1691640"/>
          </a:xfrm>
          <a:prstGeom prst="rect">
            <a:avLst/>
          </a:prstGeom>
          <a:solidFill>
            <a:srgbClr val="EAF4EE"/>
          </a:solidFill>
          <a:ln w="9525">
            <a:solidFill>
              <a:srgbClr val="86C99B"/>
            </a:solidFill>
            <a:prstDash val="solid"/>
          </a:ln>
        </p:spPr>
      </p:sp>
      <p:sp>
        <p:nvSpPr>
          <p:cNvPr id="45" name="cn_up2"/>
          <p:cNvSpPr txBox="1"/>
          <p:nvPr/>
        </p:nvSpPr>
        <p:spPr>
          <a:xfrm>
            <a:off x="6675120" y="1920240"/>
            <a:ext cx="365760" cy="384048"/>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条件</a:t>
            </a:r>
            <a:endParaRPr lang="en-US" sz="950" dirty="0"/>
          </a:p>
        </p:txBody>
      </p:sp>
      <p:sp>
        <p:nvSpPr>
          <p:cNvPr id="46" name="ovl_badge"/>
          <p:cNvSpPr/>
          <p:nvPr/>
        </p:nvSpPr>
        <p:spPr>
          <a:xfrm>
            <a:off x="7059168" y="1920240"/>
            <a:ext cx="384048" cy="384048"/>
          </a:xfrm>
          <a:prstGeom prst="roundRect">
            <a:avLst>
              <a:gd name="adj" fmla="val 19048"/>
            </a:avLst>
          </a:prstGeom>
          <a:solidFill>
            <a:srgbClr val="197A56"/>
          </a:solidFill>
          <a:ln w="12700">
            <a:solidFill>
              <a:srgbClr val="197A56"/>
            </a:solidFill>
            <a:prstDash val="solid"/>
          </a:ln>
        </p:spPr>
      </p:sp>
      <p:sp>
        <p:nvSpPr>
          <p:cNvPr id="47" name="ovl_badge_t"/>
          <p:cNvSpPr txBox="1"/>
          <p:nvPr/>
        </p:nvSpPr>
        <p:spPr>
          <a:xfrm>
            <a:off x="7059168" y="1920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A</a:t>
            </a:r>
            <a:endParaRPr lang="en-US" sz="1300" dirty="0"/>
          </a:p>
        </p:txBody>
      </p:sp>
      <p:sp>
        <p:nvSpPr>
          <p:cNvPr id="48" name="no_up2_0"/>
          <p:cNvSpPr txBox="1"/>
          <p:nvPr/>
        </p:nvSpPr>
        <p:spPr>
          <a:xfrm>
            <a:off x="7470648" y="1920240"/>
            <a:ext cx="192024"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3</a:t>
            </a:r>
            <a:endParaRPr lang="en-US" sz="950" dirty="0"/>
          </a:p>
        </p:txBody>
      </p:sp>
      <p:sp>
        <p:nvSpPr>
          <p:cNvPr id="49" name="h_up2"/>
          <p:cNvSpPr txBox="1"/>
          <p:nvPr/>
        </p:nvSpPr>
        <p:spPr>
          <a:xfrm>
            <a:off x="6675120" y="2359152"/>
            <a:ext cx="2651760" cy="274320"/>
          </a:xfrm>
          <a:prstGeom prst="rect">
            <a:avLst/>
          </a:prstGeom>
          <a:noFill/>
          <a:ln/>
        </p:spPr>
        <p:txBody>
          <a:bodyPr wrap="square" lIns="0" tIns="0" rIns="0" bIns="0"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DB の AI 転用</a:t>
            </a:r>
            <a:endParaRPr lang="en-US" sz="1100" dirty="0"/>
          </a:p>
        </p:txBody>
      </p:sp>
      <p:sp>
        <p:nvSpPr>
          <p:cNvPr id="50" name="b_up2"/>
          <p:cNvSpPr txBox="1"/>
          <p:nvPr/>
        </p:nvSpPr>
        <p:spPr>
          <a:xfrm>
            <a:off x="6675120" y="2670048"/>
            <a:ext cx="2651760" cy="777240"/>
          </a:xfrm>
          <a:prstGeom prst="rect">
            <a:avLst/>
          </a:prstGeom>
          <a:noFill/>
          <a:ln/>
        </p:spPr>
        <p:txBody>
          <a:bodyPr wrap="square" lIns="0" tIns="0" rIns="0" bIns="0" rtlCol="0" anchor="t"/>
          <a:lstStyle/>
          <a:p>
            <a:pPr indent="0" marL="0">
              <a:buNone/>
            </a:pPr>
            <a:r>
              <a:rPr lang="en-US" sz="950" dirty="0">
                <a:solidFill>
                  <a:srgbClr val="333333"/>
                </a:solidFill>
                <a:latin typeface="Meiryo UI" pitchFamily="34" charset="0"/>
                <a:ea typeface="Meiryo UI" pitchFamily="34" charset="-122"/>
                <a:cs typeface="Meiryo UI" pitchFamily="34" charset="-120"/>
              </a:rPr>
              <a:t>OCI と Database@ が増収の主因になり、転用の成果として評価を上げた</a:t>
            </a:r>
            <a:endParaRPr lang="en-US" sz="950" dirty="0"/>
          </a:p>
        </p:txBody>
      </p:sp>
      <p:sp>
        <p:nvSpPr>
          <p:cNvPr id="51" name="ovl_card_down0"/>
          <p:cNvSpPr/>
          <p:nvPr/>
        </p:nvSpPr>
        <p:spPr>
          <a:xfrm>
            <a:off x="457200" y="3977640"/>
            <a:ext cx="2834640" cy="1691640"/>
          </a:xfrm>
          <a:prstGeom prst="rect">
            <a:avLst/>
          </a:prstGeom>
          <a:solidFill>
            <a:srgbClr val="F2F2F2"/>
          </a:solidFill>
          <a:ln w="9525">
            <a:solidFill>
              <a:srgbClr val="C0392B"/>
            </a:solidFill>
            <a:prstDash val="solid"/>
          </a:ln>
        </p:spPr>
      </p:sp>
      <p:sp>
        <p:nvSpPr>
          <p:cNvPr id="52" name="cn_down0"/>
          <p:cNvSpPr txBox="1"/>
          <p:nvPr/>
        </p:nvSpPr>
        <p:spPr>
          <a:xfrm>
            <a:off x="548640" y="4069080"/>
            <a:ext cx="365760" cy="384048"/>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条件</a:t>
            </a:r>
            <a:endParaRPr lang="en-US" sz="950" dirty="0"/>
          </a:p>
        </p:txBody>
      </p:sp>
      <p:sp>
        <p:nvSpPr>
          <p:cNvPr id="53" name="ovl_badge"/>
          <p:cNvSpPr/>
          <p:nvPr/>
        </p:nvSpPr>
        <p:spPr>
          <a:xfrm>
            <a:off x="932688" y="4069080"/>
            <a:ext cx="384048" cy="384048"/>
          </a:xfrm>
          <a:prstGeom prst="roundRect">
            <a:avLst>
              <a:gd name="adj" fmla="val 19048"/>
            </a:avLst>
          </a:prstGeom>
          <a:solidFill>
            <a:srgbClr val="D68910"/>
          </a:solidFill>
          <a:ln w="12700">
            <a:solidFill>
              <a:srgbClr val="D68910"/>
            </a:solidFill>
            <a:prstDash val="solid"/>
          </a:ln>
        </p:spPr>
      </p:sp>
      <p:sp>
        <p:nvSpPr>
          <p:cNvPr id="54" name="ovl_badge_t"/>
          <p:cNvSpPr txBox="1"/>
          <p:nvPr/>
        </p:nvSpPr>
        <p:spPr>
          <a:xfrm>
            <a:off x="932688" y="4069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C</a:t>
            </a:r>
            <a:endParaRPr lang="en-US" sz="1300" dirty="0"/>
          </a:p>
        </p:txBody>
      </p:sp>
      <p:sp>
        <p:nvSpPr>
          <p:cNvPr id="55" name="no_down0_0"/>
          <p:cNvSpPr txBox="1"/>
          <p:nvPr/>
        </p:nvSpPr>
        <p:spPr>
          <a:xfrm>
            <a:off x="1344168" y="4069080"/>
            <a:ext cx="192024"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8</a:t>
            </a:r>
            <a:endParaRPr lang="en-US" sz="950" dirty="0"/>
          </a:p>
        </p:txBody>
      </p:sp>
      <p:sp>
        <p:nvSpPr>
          <p:cNvPr id="56" name="h_down0"/>
          <p:cNvSpPr txBox="1"/>
          <p:nvPr/>
        </p:nvSpPr>
        <p:spPr>
          <a:xfrm>
            <a:off x="548640" y="4507992"/>
            <a:ext cx="2651760" cy="274320"/>
          </a:xfrm>
          <a:prstGeom prst="rect">
            <a:avLst/>
          </a:prstGeom>
          <a:noFill/>
          <a:ln/>
        </p:spPr>
        <p:txBody>
          <a:bodyPr wrap="square" lIns="0" tIns="0" rIns="0" bIns="0"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AI 容量の商品性</a:t>
            </a:r>
            <a:endParaRPr lang="en-US" sz="1100" dirty="0"/>
          </a:p>
        </p:txBody>
      </p:sp>
      <p:sp>
        <p:nvSpPr>
          <p:cNvPr id="57" name="b_down0"/>
          <p:cNvSpPr txBox="1"/>
          <p:nvPr/>
        </p:nvSpPr>
        <p:spPr>
          <a:xfrm>
            <a:off x="548640" y="4818888"/>
            <a:ext cx="2651760" cy="777240"/>
          </a:xfrm>
          <a:prstGeom prst="rect">
            <a:avLst/>
          </a:prstGeom>
          <a:noFill/>
          <a:ln/>
        </p:spPr>
        <p:txBody>
          <a:bodyPr wrap="square" lIns="0" tIns="0" rIns="0" bIns="0" rtlCol="0" anchor="t"/>
          <a:lstStyle/>
          <a:p>
            <a:pPr indent="0" marL="0">
              <a:buNone/>
            </a:pPr>
            <a:r>
              <a:rPr lang="en-US" sz="950" dirty="0">
                <a:solidFill>
                  <a:srgbClr val="333333"/>
                </a:solidFill>
                <a:latin typeface="Meiryo UI" pitchFamily="34" charset="0"/>
                <a:ea typeface="Meiryo UI" pitchFamily="34" charset="-122"/>
                <a:cs typeface="Meiryo UI" pitchFamily="34" charset="-120"/>
              </a:rPr>
              <a:t>価値の 45% が需給緩和後に限界供給者の損益分岐で値決めされ、評価を下げた</a:t>
            </a:r>
            <a:endParaRPr lang="en-US" sz="950" dirty="0"/>
          </a:p>
        </p:txBody>
      </p:sp>
      <p:sp>
        <p:nvSpPr>
          <p:cNvPr id="58" name="ovl_card_down1"/>
          <p:cNvSpPr/>
          <p:nvPr/>
        </p:nvSpPr>
        <p:spPr>
          <a:xfrm>
            <a:off x="3520440" y="3977640"/>
            <a:ext cx="2834640" cy="1691640"/>
          </a:xfrm>
          <a:prstGeom prst="rect">
            <a:avLst/>
          </a:prstGeom>
          <a:solidFill>
            <a:srgbClr val="F2F2F2"/>
          </a:solidFill>
          <a:ln w="9525">
            <a:solidFill>
              <a:srgbClr val="C0392B"/>
            </a:solidFill>
            <a:prstDash val="solid"/>
          </a:ln>
        </p:spPr>
      </p:sp>
      <p:sp>
        <p:nvSpPr>
          <p:cNvPr id="59" name="cn_down1"/>
          <p:cNvSpPr txBox="1"/>
          <p:nvPr/>
        </p:nvSpPr>
        <p:spPr>
          <a:xfrm>
            <a:off x="3611880" y="4069080"/>
            <a:ext cx="365760" cy="384048"/>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条件</a:t>
            </a:r>
            <a:endParaRPr lang="en-US" sz="950" dirty="0"/>
          </a:p>
        </p:txBody>
      </p:sp>
      <p:sp>
        <p:nvSpPr>
          <p:cNvPr id="60" name="ovl_badge"/>
          <p:cNvSpPr/>
          <p:nvPr/>
        </p:nvSpPr>
        <p:spPr>
          <a:xfrm>
            <a:off x="3995928" y="4069080"/>
            <a:ext cx="384048" cy="384048"/>
          </a:xfrm>
          <a:prstGeom prst="roundRect">
            <a:avLst>
              <a:gd name="adj" fmla="val 19048"/>
            </a:avLst>
          </a:prstGeom>
          <a:solidFill>
            <a:srgbClr val="D68910"/>
          </a:solidFill>
          <a:ln w="12700">
            <a:solidFill>
              <a:srgbClr val="D68910"/>
            </a:solidFill>
            <a:prstDash val="solid"/>
          </a:ln>
        </p:spPr>
      </p:sp>
      <p:sp>
        <p:nvSpPr>
          <p:cNvPr id="61" name="ovl_badge_t"/>
          <p:cNvSpPr txBox="1"/>
          <p:nvPr/>
        </p:nvSpPr>
        <p:spPr>
          <a:xfrm>
            <a:off x="3995928" y="4069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C</a:t>
            </a:r>
            <a:endParaRPr lang="en-US" sz="1300" dirty="0"/>
          </a:p>
        </p:txBody>
      </p:sp>
      <p:sp>
        <p:nvSpPr>
          <p:cNvPr id="62" name="no_down1_0"/>
          <p:cNvSpPr txBox="1"/>
          <p:nvPr/>
        </p:nvSpPr>
        <p:spPr>
          <a:xfrm>
            <a:off x="4407408" y="4069080"/>
            <a:ext cx="192024"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7</a:t>
            </a:r>
            <a:endParaRPr lang="en-US" sz="950" dirty="0"/>
          </a:p>
        </p:txBody>
      </p:sp>
      <p:sp>
        <p:nvSpPr>
          <p:cNvPr id="63" name="h_down1"/>
          <p:cNvSpPr txBox="1"/>
          <p:nvPr/>
        </p:nvSpPr>
        <p:spPr>
          <a:xfrm>
            <a:off x="3611880" y="4507992"/>
            <a:ext cx="2651760" cy="274320"/>
          </a:xfrm>
          <a:prstGeom prst="rect">
            <a:avLst/>
          </a:prstGeom>
          <a:noFill/>
          <a:ln/>
        </p:spPr>
        <p:txBody>
          <a:bodyPr wrap="square" lIns="0" tIns="0" rIns="0" bIns="0"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OpenAI 集中と信用リスク</a:t>
            </a:r>
            <a:endParaRPr lang="en-US" sz="1100" dirty="0"/>
          </a:p>
        </p:txBody>
      </p:sp>
      <p:sp>
        <p:nvSpPr>
          <p:cNvPr id="64" name="b_down1"/>
          <p:cNvSpPr txBox="1"/>
          <p:nvPr/>
        </p:nvSpPr>
        <p:spPr>
          <a:xfrm>
            <a:off x="3611880" y="4818888"/>
            <a:ext cx="2651760" cy="777240"/>
          </a:xfrm>
          <a:prstGeom prst="rect">
            <a:avLst/>
          </a:prstGeom>
          <a:noFill/>
          <a:ln/>
        </p:spPr>
        <p:txBody>
          <a:bodyPr wrap="square" lIns="0" tIns="0" rIns="0" bIns="0" rtlCol="0" anchor="t"/>
          <a:lstStyle/>
          <a:p>
            <a:pPr indent="0" marL="0">
              <a:buNone/>
            </a:pPr>
            <a:r>
              <a:rPr lang="en-US" sz="950" dirty="0">
                <a:solidFill>
                  <a:srgbClr val="333333"/>
                </a:solidFill>
                <a:latin typeface="Meiryo UI" pitchFamily="34" charset="0"/>
                <a:ea typeface="Meiryo UI" pitchFamily="34" charset="-122"/>
                <a:cs typeface="Meiryo UI" pitchFamily="34" charset="-120"/>
              </a:rPr>
              <a:t>受注残の約 45% が1社に集中し、CDS 227bp が示す実在のリスクが安さの主因になった</a:t>
            </a:r>
            <a:endParaRPr lang="en-US" sz="950" dirty="0"/>
          </a:p>
        </p:txBody>
      </p:sp>
      <p:sp>
        <p:nvSpPr>
          <p:cNvPr id="65" name="ovl_card_down2"/>
          <p:cNvSpPr/>
          <p:nvPr/>
        </p:nvSpPr>
        <p:spPr>
          <a:xfrm>
            <a:off x="6583680" y="3977640"/>
            <a:ext cx="2834640" cy="1691640"/>
          </a:xfrm>
          <a:prstGeom prst="rect">
            <a:avLst/>
          </a:prstGeom>
          <a:solidFill>
            <a:srgbClr val="F2F2F2"/>
          </a:solidFill>
          <a:ln w="9525">
            <a:solidFill>
              <a:srgbClr val="C0392B"/>
            </a:solidFill>
            <a:prstDash val="solid"/>
          </a:ln>
        </p:spPr>
      </p:sp>
      <p:sp>
        <p:nvSpPr>
          <p:cNvPr id="66" name="cn_down2"/>
          <p:cNvSpPr txBox="1"/>
          <p:nvPr/>
        </p:nvSpPr>
        <p:spPr>
          <a:xfrm>
            <a:off x="6675120" y="4069080"/>
            <a:ext cx="365760" cy="384048"/>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条件</a:t>
            </a:r>
            <a:endParaRPr lang="en-US" sz="950" dirty="0"/>
          </a:p>
        </p:txBody>
      </p:sp>
      <p:sp>
        <p:nvSpPr>
          <p:cNvPr id="67" name="ovl_badge"/>
          <p:cNvSpPr/>
          <p:nvPr/>
        </p:nvSpPr>
        <p:spPr>
          <a:xfrm>
            <a:off x="7059168" y="4069080"/>
            <a:ext cx="384048" cy="384048"/>
          </a:xfrm>
          <a:prstGeom prst="roundRect">
            <a:avLst>
              <a:gd name="adj" fmla="val 19048"/>
            </a:avLst>
          </a:prstGeom>
          <a:solidFill>
            <a:srgbClr val="86C99B"/>
          </a:solidFill>
          <a:ln w="12700">
            <a:solidFill>
              <a:srgbClr val="86C99B"/>
            </a:solidFill>
            <a:prstDash val="solid"/>
          </a:ln>
        </p:spPr>
      </p:sp>
      <p:sp>
        <p:nvSpPr>
          <p:cNvPr id="68" name="ovl_badge_t"/>
          <p:cNvSpPr txBox="1"/>
          <p:nvPr/>
        </p:nvSpPr>
        <p:spPr>
          <a:xfrm>
            <a:off x="7059168" y="4069080"/>
            <a:ext cx="384048" cy="384048"/>
          </a:xfrm>
          <a:prstGeom prst="rect">
            <a:avLst/>
          </a:prstGeom>
          <a:noFill/>
          <a:ln/>
        </p:spPr>
        <p:txBody>
          <a:bodyPr wrap="square" lIns="0" tIns="0" rIns="0" bIns="0" rtlCol="0" anchor="ctr"/>
          <a:lstStyle/>
          <a:p>
            <a:pPr algn="ctr" indent="0" marL="0">
              <a:buNone/>
            </a:pPr>
            <a:r>
              <a:rPr lang="en-US" sz="1300" b="1" dirty="0">
                <a:solidFill>
                  <a:srgbClr val="0E4D33"/>
                </a:solidFill>
                <a:latin typeface="Meiryo UI" pitchFamily="34" charset="0"/>
                <a:ea typeface="Meiryo UI" pitchFamily="34" charset="-122"/>
                <a:cs typeface="Meiryo UI" pitchFamily="34" charset="-120"/>
              </a:rPr>
              <a:t>B</a:t>
            </a:r>
            <a:endParaRPr lang="en-US" sz="1300" dirty="0"/>
          </a:p>
        </p:txBody>
      </p:sp>
      <p:sp>
        <p:nvSpPr>
          <p:cNvPr id="69" name="no_down2_0"/>
          <p:cNvSpPr txBox="1"/>
          <p:nvPr/>
        </p:nvSpPr>
        <p:spPr>
          <a:xfrm>
            <a:off x="7470648" y="4069080"/>
            <a:ext cx="192024"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2</a:t>
            </a:r>
            <a:endParaRPr lang="en-US" sz="950" dirty="0"/>
          </a:p>
        </p:txBody>
      </p:sp>
      <p:sp>
        <p:nvSpPr>
          <p:cNvPr id="70" name="ovl_badge"/>
          <p:cNvSpPr/>
          <p:nvPr/>
        </p:nvSpPr>
        <p:spPr>
          <a:xfrm>
            <a:off x="7717536" y="4069080"/>
            <a:ext cx="384048" cy="384048"/>
          </a:xfrm>
          <a:prstGeom prst="roundRect">
            <a:avLst>
              <a:gd name="adj" fmla="val 19048"/>
            </a:avLst>
          </a:prstGeom>
          <a:solidFill>
            <a:srgbClr val="86C99B"/>
          </a:solidFill>
          <a:ln w="12700">
            <a:solidFill>
              <a:srgbClr val="86C99B"/>
            </a:solidFill>
            <a:prstDash val="solid"/>
          </a:ln>
        </p:spPr>
      </p:sp>
      <p:sp>
        <p:nvSpPr>
          <p:cNvPr id="71" name="ovl_badge_t"/>
          <p:cNvSpPr txBox="1"/>
          <p:nvPr/>
        </p:nvSpPr>
        <p:spPr>
          <a:xfrm>
            <a:off x="7717536" y="4069080"/>
            <a:ext cx="384048" cy="384048"/>
          </a:xfrm>
          <a:prstGeom prst="rect">
            <a:avLst/>
          </a:prstGeom>
          <a:noFill/>
          <a:ln/>
        </p:spPr>
        <p:txBody>
          <a:bodyPr wrap="square" lIns="0" tIns="0" rIns="0" bIns="0" rtlCol="0" anchor="ctr"/>
          <a:lstStyle/>
          <a:p>
            <a:pPr algn="ctr" indent="0" marL="0">
              <a:buNone/>
            </a:pPr>
            <a:r>
              <a:rPr lang="en-US" sz="1300" b="1" dirty="0">
                <a:solidFill>
                  <a:srgbClr val="0E4D33"/>
                </a:solidFill>
                <a:latin typeface="Meiryo UI" pitchFamily="34" charset="0"/>
                <a:ea typeface="Meiryo UI" pitchFamily="34" charset="-122"/>
                <a:cs typeface="Meiryo UI" pitchFamily="34" charset="-120"/>
              </a:rPr>
              <a:t>B</a:t>
            </a:r>
            <a:endParaRPr lang="en-US" sz="1300" dirty="0"/>
          </a:p>
        </p:txBody>
      </p:sp>
      <p:sp>
        <p:nvSpPr>
          <p:cNvPr id="72" name="no_down2_1"/>
          <p:cNvSpPr txBox="1"/>
          <p:nvPr/>
        </p:nvSpPr>
        <p:spPr>
          <a:xfrm>
            <a:off x="8129016" y="4069080"/>
            <a:ext cx="274320"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11</a:t>
            </a:r>
            <a:endParaRPr lang="en-US" sz="950" dirty="0"/>
          </a:p>
        </p:txBody>
      </p:sp>
      <p:sp>
        <p:nvSpPr>
          <p:cNvPr id="73" name="h_down2"/>
          <p:cNvSpPr txBox="1"/>
          <p:nvPr/>
        </p:nvSpPr>
        <p:spPr>
          <a:xfrm>
            <a:off x="6675120" y="4507992"/>
            <a:ext cx="2651760" cy="274320"/>
          </a:xfrm>
          <a:prstGeom prst="rect">
            <a:avLst/>
          </a:prstGeom>
          <a:noFill/>
          <a:ln/>
        </p:spPr>
        <p:txBody>
          <a:bodyPr wrap="square" lIns="0" tIns="0" rIns="0" bIns="0"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長期リースの固定費</a:t>
            </a:r>
            <a:endParaRPr lang="en-US" sz="1100" dirty="0"/>
          </a:p>
        </p:txBody>
      </p:sp>
      <p:sp>
        <p:nvSpPr>
          <p:cNvPr id="74" name="b_down2"/>
          <p:cNvSpPr txBox="1"/>
          <p:nvPr/>
        </p:nvSpPr>
        <p:spPr>
          <a:xfrm>
            <a:off x="6675120" y="4818888"/>
            <a:ext cx="2651760" cy="777240"/>
          </a:xfrm>
          <a:prstGeom prst="rect">
            <a:avLst/>
          </a:prstGeom>
          <a:noFill/>
          <a:ln/>
        </p:spPr>
        <p:txBody>
          <a:bodyPr wrap="square" lIns="0" tIns="0" rIns="0" bIns="0" rtlCol="0" anchor="t"/>
          <a:lstStyle/>
          <a:p>
            <a:pPr indent="0" marL="0">
              <a:buNone/>
            </a:pPr>
            <a:r>
              <a:rPr lang="en-US" sz="950" dirty="0">
                <a:solidFill>
                  <a:srgbClr val="333333"/>
                </a:solidFill>
                <a:latin typeface="Meiryo UI" pitchFamily="34" charset="0"/>
                <a:ea typeface="Meiryo UI" pitchFamily="34" charset="-122"/>
                <a:cs typeface="Meiryo UI" pitchFamily="34" charset="-120"/>
              </a:rPr>
              <a:t>需要が鈍れば 15〜19 年の賃料が空室のまま残り、資金構造の利点の裏返しとして評価を抑えた</a:t>
            </a:r>
            <a:endParaRPr lang="en-US" sz="950" dirty="0"/>
          </a:p>
        </p:txBody>
      </p:sp>
      <p:sp>
        <p:nvSpPr>
          <p:cNvPr id="75" name="ovl_band"/>
          <p:cNvSpPr/>
          <p:nvPr/>
        </p:nvSpPr>
        <p:spPr>
          <a:xfrm>
            <a:off x="9829800" y="1828800"/>
            <a:ext cx="1901952" cy="3840480"/>
          </a:xfrm>
          <a:prstGeom prst="rect">
            <a:avLst/>
          </a:prstGeom>
          <a:solidFill>
            <a:srgbClr val="0E4D33"/>
          </a:solidFill>
          <a:ln w="9525">
            <a:solidFill>
              <a:srgbClr val="0E4D33"/>
            </a:solidFill>
            <a:prstDash val="solid"/>
          </a:ln>
        </p:spPr>
      </p:sp>
      <p:sp>
        <p:nvSpPr>
          <p:cNvPr id="76" name="ovl_badge"/>
          <p:cNvSpPr/>
          <p:nvPr/>
        </p:nvSpPr>
        <p:spPr>
          <a:xfrm>
            <a:off x="10140696" y="2880360"/>
            <a:ext cx="1280160" cy="1280160"/>
          </a:xfrm>
          <a:prstGeom prst="roundRect">
            <a:avLst>
              <a:gd name="adj" fmla="val 5714"/>
            </a:avLst>
          </a:prstGeom>
          <a:solidFill>
            <a:srgbClr val="86C99B"/>
          </a:solidFill>
          <a:ln w="12700">
            <a:solidFill>
              <a:srgbClr val="86C99B"/>
            </a:solidFill>
            <a:prstDash val="solid"/>
          </a:ln>
        </p:spPr>
      </p:sp>
      <p:sp>
        <p:nvSpPr>
          <p:cNvPr id="77" name="ovl_badge_t"/>
          <p:cNvSpPr txBox="1"/>
          <p:nvPr/>
        </p:nvSpPr>
        <p:spPr>
          <a:xfrm>
            <a:off x="10140696" y="2880360"/>
            <a:ext cx="1280160" cy="1280160"/>
          </a:xfrm>
          <a:prstGeom prst="rect">
            <a:avLst/>
          </a:prstGeom>
          <a:noFill/>
          <a:ln/>
        </p:spPr>
        <p:txBody>
          <a:bodyPr wrap="square" lIns="0" tIns="0" rIns="0" bIns="0" rtlCol="0" anchor="ctr"/>
          <a:lstStyle/>
          <a:p>
            <a:pPr algn="ctr" indent="0" marL="0">
              <a:buNone/>
            </a:pPr>
            <a:r>
              <a:rPr lang="en-US" sz="4200" b="1" dirty="0">
                <a:solidFill>
                  <a:srgbClr val="0E4D33"/>
                </a:solidFill>
                <a:latin typeface="Meiryo UI" pitchFamily="34" charset="0"/>
                <a:ea typeface="Meiryo UI" pitchFamily="34" charset="-122"/>
                <a:cs typeface="Meiryo UI" pitchFamily="34" charset="-120"/>
              </a:rPr>
              <a:t>B</a:t>
            </a:r>
            <a:endParaRPr lang="en-US" sz="4200" dirty="0"/>
          </a:p>
        </p:txBody>
      </p:sp>
      <p:sp>
        <p:nvSpPr>
          <p:cNvPr id="78" name="band_label"/>
          <p:cNvSpPr txBox="1"/>
          <p:nvPr/>
        </p:nvSpPr>
        <p:spPr>
          <a:xfrm>
            <a:off x="9829800" y="4297680"/>
            <a:ext cx="1901952"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構造評価</a:t>
            </a:r>
            <a:endParaRPr lang="en-US" sz="1400" dirty="0"/>
          </a:p>
        </p:txBody>
      </p:sp>
      <p:sp>
        <p:nvSpPr>
          <p:cNvPr id="79" name="ovl_arrow"/>
          <p:cNvSpPr/>
          <p:nvPr/>
        </p:nvSpPr>
        <p:spPr>
          <a:xfrm>
            <a:off x="9418320" y="2674620"/>
            <a:ext cx="411480" cy="914"/>
          </a:xfrm>
          <a:prstGeom prst="line">
            <a:avLst/>
          </a:prstGeom>
          <a:noFill/>
          <a:ln w="12700">
            <a:solidFill>
              <a:srgbClr val="197A56"/>
            </a:solidFill>
            <a:prstDash val="solid"/>
            <a:tailEnd type="triangle"/>
          </a:ln>
        </p:spPr>
      </p:sp>
      <p:sp>
        <p:nvSpPr>
          <p:cNvPr id="80" name="ovl_arrow"/>
          <p:cNvSpPr/>
          <p:nvPr/>
        </p:nvSpPr>
        <p:spPr>
          <a:xfrm>
            <a:off x="9418320" y="4823460"/>
            <a:ext cx="411480" cy="914"/>
          </a:xfrm>
          <a:prstGeom prst="line">
            <a:avLst/>
          </a:prstGeom>
          <a:noFill/>
          <a:ln w="12700">
            <a:solidFill>
              <a:srgbClr val="C0392B"/>
            </a:solidFill>
            <a:prstDash val="solid"/>
            <a:tailEnd type="triangle"/>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4D33"/>
        </a:solidFill>
      </p:bgPr>
    </p:bg>
    <p:spTree>
      <p:nvGrpSpPr>
        <p:cNvPr id="1" name=""/>
        <p:cNvGrpSpPr/>
        <p:nvPr/>
      </p:nvGrpSpPr>
      <p:grpSpPr>
        <a:xfrm>
          <a:off x="0" y="0"/>
          <a:ext cx="0" cy="0"/>
          <a:chOff x="0" y="0"/>
          <a:chExt cx="0" cy="0"/>
        </a:xfrm>
      </p:grpSpPr>
      <p:sp>
        <p:nvSpPr>
          <p:cNvPr id="2" name="bg_agenda"/>
          <p:cNvSpPr/>
          <p:nvPr/>
        </p:nvSpPr>
        <p:spPr>
          <a:xfrm>
            <a:off x="0" y="0"/>
            <a:ext cx="12191695" cy="6858000"/>
          </a:xfrm>
          <a:prstGeom prst="rect">
            <a:avLst/>
          </a:prstGeom>
          <a:solidFill>
            <a:srgbClr val="0E4D33"/>
          </a:solidFill>
          <a:ln w="12700">
            <a:solidFill>
              <a:srgbClr val="0E4D33"/>
            </a:solidFill>
            <a:prstDash val="solid"/>
          </a:ln>
        </p:spPr>
      </p:sp>
      <p:sp>
        <p:nvSpPr>
          <p:cNvPr id="3" name="bg_agenda_lbl"/>
          <p:cNvSpPr txBox="1"/>
          <p:nvPr/>
        </p:nvSpPr>
        <p:spPr>
          <a:xfrm>
            <a:off x="731520" y="502920"/>
            <a:ext cx="2743200" cy="640080"/>
          </a:xfrm>
          <a:prstGeom prst="rect">
            <a:avLst/>
          </a:prstGeom>
          <a:noFill/>
          <a:ln/>
        </p:spPr>
        <p:txBody>
          <a:bodyPr wrap="square" lIns="508" tIns="508" rIns="508" bIns="508" rtlCol="0" anchor="t"/>
          <a:lstStyle/>
          <a:p>
            <a:pPr indent="0" marL="0">
              <a:buNone/>
            </a:pPr>
            <a:r>
              <a:rPr lang="en-US" sz="2600" b="1" dirty="0">
                <a:solidFill>
                  <a:srgbClr val="FFFFFF"/>
                </a:solidFill>
                <a:latin typeface="Meiryo UI" pitchFamily="34" charset="0"/>
                <a:ea typeface="Meiryo UI" pitchFamily="34" charset="-122"/>
                <a:cs typeface="Meiryo UI" pitchFamily="34" charset="-120"/>
              </a:rPr>
              <a:t>目次</a:t>
            </a:r>
            <a:endParaRPr lang="en-US" sz="2600" dirty="0"/>
          </a:p>
        </p:txBody>
      </p:sp>
      <p:sp>
        <p:nvSpPr>
          <p:cNvPr id="4" name="bg_agenda_n0"/>
          <p:cNvSpPr/>
          <p:nvPr/>
        </p:nvSpPr>
        <p:spPr>
          <a:xfrm>
            <a:off x="777240" y="1463040"/>
            <a:ext cx="457200" cy="457200"/>
          </a:xfrm>
          <a:prstGeom prst="ellipse">
            <a:avLst/>
          </a:prstGeom>
          <a:solidFill>
            <a:srgbClr val="0E4D33"/>
          </a:solidFill>
          <a:ln w="12700">
            <a:solidFill>
              <a:srgbClr val="FFFFFF"/>
            </a:solidFill>
            <a:prstDash val="solid"/>
          </a:ln>
        </p:spPr>
      </p:sp>
      <p:sp>
        <p:nvSpPr>
          <p:cNvPr id="5" name="bg_agenda_nt0"/>
          <p:cNvSpPr txBox="1"/>
          <p:nvPr/>
        </p:nvSpPr>
        <p:spPr>
          <a:xfrm>
            <a:off x="777240" y="1463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1</a:t>
            </a:r>
            <a:endParaRPr lang="en-US" sz="1400" dirty="0"/>
          </a:p>
        </p:txBody>
      </p:sp>
      <p:sp>
        <p:nvSpPr>
          <p:cNvPr id="6" name="bg_agenda_ch0"/>
          <p:cNvSpPr txBox="1"/>
          <p:nvPr/>
        </p:nvSpPr>
        <p:spPr>
          <a:xfrm>
            <a:off x="1417320" y="1444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評価総括</a:t>
            </a:r>
            <a:endParaRPr lang="en-US" sz="1800" dirty="0"/>
          </a:p>
        </p:txBody>
      </p:sp>
      <p:sp>
        <p:nvSpPr>
          <p:cNvPr id="7" name="bg_agenda_n1"/>
          <p:cNvSpPr/>
          <p:nvPr/>
        </p:nvSpPr>
        <p:spPr>
          <a:xfrm>
            <a:off x="777240" y="2606040"/>
            <a:ext cx="457200" cy="457200"/>
          </a:xfrm>
          <a:prstGeom prst="ellipse">
            <a:avLst/>
          </a:prstGeom>
          <a:solidFill>
            <a:srgbClr val="197A56"/>
          </a:solidFill>
          <a:ln w="12700">
            <a:solidFill>
              <a:srgbClr val="FFFFFF"/>
            </a:solidFill>
            <a:prstDash val="solid"/>
          </a:ln>
        </p:spPr>
      </p:sp>
      <p:sp>
        <p:nvSpPr>
          <p:cNvPr id="8" name="bg_agenda_nt1"/>
          <p:cNvSpPr txBox="1"/>
          <p:nvPr/>
        </p:nvSpPr>
        <p:spPr>
          <a:xfrm>
            <a:off x="777240" y="26060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2</a:t>
            </a:r>
            <a:endParaRPr lang="en-US" sz="1400" dirty="0"/>
          </a:p>
        </p:txBody>
      </p:sp>
      <p:sp>
        <p:nvSpPr>
          <p:cNvPr id="9" name="bg_agenda_ch1"/>
          <p:cNvSpPr txBox="1"/>
          <p:nvPr/>
        </p:nvSpPr>
        <p:spPr>
          <a:xfrm>
            <a:off x="1417320" y="2587752"/>
            <a:ext cx="5669280" cy="493776"/>
          </a:xfrm>
          <a:prstGeom prst="rect">
            <a:avLst/>
          </a:prstGeom>
          <a:noFill/>
          <a:ln/>
        </p:spPr>
        <p:txBody>
          <a:bodyPr wrap="square" lIns="0" tIns="0" rIns="0" bIns="0" rtlCol="0" anchor="ctr"/>
          <a:lstStyle/>
          <a:p>
            <a:pPr indent="0" marL="0">
              <a:buNone/>
            </a:pPr>
            <a:r>
              <a:rPr lang="en-US" sz="1800" b="1" dirty="0">
                <a:solidFill>
                  <a:srgbClr val="FFFFFF"/>
                </a:solidFill>
                <a:latin typeface="Meiryo UI" pitchFamily="34" charset="0"/>
                <a:ea typeface="Meiryo UI" pitchFamily="34" charset="-122"/>
                <a:cs typeface="Meiryo UI" pitchFamily="34" charset="-120"/>
              </a:rPr>
              <a:t>事業・需給・成長</a:t>
            </a:r>
            <a:endParaRPr lang="en-US" sz="1800" dirty="0"/>
          </a:p>
        </p:txBody>
      </p:sp>
      <p:sp>
        <p:nvSpPr>
          <p:cNvPr id="10" name="bg_agenda_why1"/>
          <p:cNvSpPr txBox="1"/>
          <p:nvPr/>
        </p:nvSpPr>
        <p:spPr>
          <a:xfrm>
            <a:off x="1417320" y="3081528"/>
            <a:ext cx="5669280" cy="566928"/>
          </a:xfrm>
          <a:prstGeom prst="rect">
            <a:avLst/>
          </a:prstGeom>
          <a:noFill/>
          <a:ln/>
        </p:spPr>
        <p:txBody>
          <a:bodyPr wrap="square" lIns="0" tIns="0" rIns="0" bIns="0" rtlCol="0" anchor="t"/>
          <a:lstStyle/>
          <a:p>
            <a:pPr indent="0" marL="0">
              <a:buNone/>
            </a:pPr>
            <a:r>
              <a:rPr lang="en-US" sz="1050" dirty="0">
                <a:solidFill>
                  <a:srgbClr val="86C99B"/>
                </a:solidFill>
                <a:latin typeface="Meiryo UI" pitchFamily="34" charset="0"/>
                <a:ea typeface="Meiryo UI" pitchFamily="34" charset="-122"/>
                <a:cs typeface="Meiryo UI" pitchFamily="34" charset="-120"/>
              </a:rPr>
              <a:t>何で稼ぎ、会社がどんな筋書きを描き、</a:t>
            </a:r>
            <a:endParaRPr lang="en-US" sz="1050" dirty="0"/>
          </a:p>
          <a:p>
            <a:pPr indent="0" marL="0">
              <a:buNone/>
            </a:pPr>
            <a:r>
              <a:rPr lang="en-US" sz="1050" dirty="0">
                <a:solidFill>
                  <a:srgbClr val="86C99B"/>
                </a:solidFill>
                <a:latin typeface="Meiryo UI" pitchFamily="34" charset="0"/>
                <a:ea typeface="Meiryo UI" pitchFamily="34" charset="-122"/>
                <a:cs typeface="Meiryo UI" pitchFamily="34" charset="-120"/>
              </a:rPr>
              <a:t>需要・供給・資金がそれを支えるかを確かめる。価値評価の前提になる</a:t>
            </a:r>
            <a:endParaRPr lang="en-US" sz="1050" dirty="0"/>
          </a:p>
        </p:txBody>
      </p:sp>
      <p:sp>
        <p:nvSpPr>
          <p:cNvPr id="11" name="bg_agenda_n2"/>
          <p:cNvSpPr/>
          <p:nvPr/>
        </p:nvSpPr>
        <p:spPr>
          <a:xfrm>
            <a:off x="777240" y="3749040"/>
            <a:ext cx="457200" cy="457200"/>
          </a:xfrm>
          <a:prstGeom prst="ellipse">
            <a:avLst/>
          </a:prstGeom>
          <a:solidFill>
            <a:srgbClr val="0E4D33"/>
          </a:solidFill>
          <a:ln w="12700">
            <a:solidFill>
              <a:srgbClr val="FFFFFF"/>
            </a:solidFill>
            <a:prstDash val="solid"/>
          </a:ln>
        </p:spPr>
      </p:sp>
      <p:sp>
        <p:nvSpPr>
          <p:cNvPr id="12" name="bg_agenda_nt2"/>
          <p:cNvSpPr txBox="1"/>
          <p:nvPr/>
        </p:nvSpPr>
        <p:spPr>
          <a:xfrm>
            <a:off x="777240" y="3749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3</a:t>
            </a:r>
            <a:endParaRPr lang="en-US" sz="1400" dirty="0"/>
          </a:p>
        </p:txBody>
      </p:sp>
      <p:sp>
        <p:nvSpPr>
          <p:cNvPr id="13" name="bg_agenda_ch2"/>
          <p:cNvSpPr txBox="1"/>
          <p:nvPr/>
        </p:nvSpPr>
        <p:spPr>
          <a:xfrm>
            <a:off x="1417320" y="3730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13条件の構造分析</a:t>
            </a:r>
            <a:endParaRPr lang="en-US" sz="1800" dirty="0"/>
          </a:p>
        </p:txBody>
      </p:sp>
      <p:sp>
        <p:nvSpPr>
          <p:cNvPr id="14" name="bg_agenda_n3"/>
          <p:cNvSpPr/>
          <p:nvPr/>
        </p:nvSpPr>
        <p:spPr>
          <a:xfrm>
            <a:off x="777240" y="4892040"/>
            <a:ext cx="457200" cy="457200"/>
          </a:xfrm>
          <a:prstGeom prst="ellipse">
            <a:avLst/>
          </a:prstGeom>
          <a:solidFill>
            <a:srgbClr val="0E4D33"/>
          </a:solidFill>
          <a:ln w="12700">
            <a:solidFill>
              <a:srgbClr val="FFFFFF"/>
            </a:solidFill>
            <a:prstDash val="solid"/>
          </a:ln>
        </p:spPr>
      </p:sp>
      <p:sp>
        <p:nvSpPr>
          <p:cNvPr id="15" name="bg_agenda_nt3"/>
          <p:cNvSpPr txBox="1"/>
          <p:nvPr/>
        </p:nvSpPr>
        <p:spPr>
          <a:xfrm>
            <a:off x="777240" y="4892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4</a:t>
            </a:r>
            <a:endParaRPr lang="en-US" sz="1400" dirty="0"/>
          </a:p>
        </p:txBody>
      </p:sp>
      <p:sp>
        <p:nvSpPr>
          <p:cNvPr id="16" name="bg_agenda_ch3"/>
          <p:cNvSpPr txBox="1"/>
          <p:nvPr/>
        </p:nvSpPr>
        <p:spPr>
          <a:xfrm>
            <a:off x="1417320" y="4873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バリュエーション・リスク・投資アクション</a:t>
            </a:r>
            <a:endParaRPr lang="en-US" sz="1800" dirty="0"/>
          </a:p>
        </p:txBody>
      </p:sp>
      <p:sp>
        <p:nvSpPr>
          <p:cNvPr id="17" name="bg_agenda_rule"/>
          <p:cNvSpPr/>
          <p:nvPr/>
        </p:nvSpPr>
        <p:spPr>
          <a:xfrm>
            <a:off x="7543800" y="1463040"/>
            <a:ext cx="0" cy="4389120"/>
          </a:xfrm>
          <a:prstGeom prst="line">
            <a:avLst/>
          </a:prstGeom>
          <a:noFill/>
          <a:ln w="9525">
            <a:solidFill>
              <a:srgbClr val="86C99B"/>
            </a:solidFill>
            <a:prstDash val="solid"/>
          </a:ln>
        </p:spPr>
      </p:sp>
      <p:sp>
        <p:nvSpPr>
          <p:cNvPr id="18" name="bg_agenda_sh"/>
          <p:cNvSpPr txBox="1"/>
          <p:nvPr/>
        </p:nvSpPr>
        <p:spPr>
          <a:xfrm>
            <a:off x="7818120" y="1417320"/>
            <a:ext cx="3840480" cy="365760"/>
          </a:xfrm>
          <a:prstGeom prst="rect">
            <a:avLst/>
          </a:prstGeom>
          <a:noFill/>
          <a:ln/>
        </p:spPr>
        <p:txBody>
          <a:bodyPr wrap="square" lIns="0" tIns="0" rIns="0" bIns="0" rtlCol="0" anchor="t"/>
          <a:lstStyle/>
          <a:p>
            <a:pPr indent="0" marL="0">
              <a:buNone/>
            </a:pPr>
            <a:r>
              <a:rPr lang="en-US" sz="1300" b="1" dirty="0">
                <a:solidFill>
                  <a:srgbClr val="86C99B"/>
                </a:solidFill>
                <a:latin typeface="Meiryo UI" pitchFamily="34" charset="0"/>
                <a:ea typeface="Meiryo UI" pitchFamily="34" charset="-122"/>
                <a:cs typeface="Meiryo UI" pitchFamily="34" charset="-120"/>
              </a:rPr>
              <a:t>第2章の構成</a:t>
            </a:r>
            <a:endParaRPr lang="en-US" sz="1300" dirty="0"/>
          </a:p>
        </p:txBody>
      </p:sp>
      <p:sp>
        <p:nvSpPr>
          <p:cNvPr id="19" name="bg_agenda_s0"/>
          <p:cNvSpPr txBox="1"/>
          <p:nvPr/>
        </p:nvSpPr>
        <p:spPr>
          <a:xfrm>
            <a:off x="7818120" y="19202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2-1  事業理解</a:t>
            </a:r>
            <a:endParaRPr lang="en-US" sz="1250" dirty="0"/>
          </a:p>
        </p:txBody>
      </p:sp>
      <p:sp>
        <p:nvSpPr>
          <p:cNvPr id="20" name="bg_agenda_p0"/>
          <p:cNvSpPr txBox="1"/>
          <p:nvPr/>
        </p:nvSpPr>
        <p:spPr>
          <a:xfrm>
            <a:off x="10881360" y="19202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p.8–10</a:t>
            </a:r>
            <a:endParaRPr lang="en-US" sz="1050" dirty="0"/>
          </a:p>
        </p:txBody>
      </p:sp>
      <p:sp>
        <p:nvSpPr>
          <p:cNvPr id="21" name="bg_agenda_s1"/>
          <p:cNvSpPr txBox="1"/>
          <p:nvPr/>
        </p:nvSpPr>
        <p:spPr>
          <a:xfrm>
            <a:off x="7818120" y="23774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2-2  会社のシナリオ</a:t>
            </a:r>
            <a:endParaRPr lang="en-US" sz="1250" dirty="0"/>
          </a:p>
        </p:txBody>
      </p:sp>
      <p:sp>
        <p:nvSpPr>
          <p:cNvPr id="22" name="bg_agenda_p1"/>
          <p:cNvSpPr txBox="1"/>
          <p:nvPr/>
        </p:nvSpPr>
        <p:spPr>
          <a:xfrm>
            <a:off x="10881360" y="23774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p.11–12</a:t>
            </a:r>
            <a:endParaRPr lang="en-US" sz="1050" dirty="0"/>
          </a:p>
        </p:txBody>
      </p:sp>
      <p:sp>
        <p:nvSpPr>
          <p:cNvPr id="23" name="bg_agenda_s2"/>
          <p:cNvSpPr txBox="1"/>
          <p:nvPr/>
        </p:nvSpPr>
        <p:spPr>
          <a:xfrm>
            <a:off x="7818120" y="28346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2-3  収益構造</a:t>
            </a:r>
            <a:endParaRPr lang="en-US" sz="1250" dirty="0"/>
          </a:p>
        </p:txBody>
      </p:sp>
      <p:sp>
        <p:nvSpPr>
          <p:cNvPr id="24" name="bg_agenda_p2"/>
          <p:cNvSpPr txBox="1"/>
          <p:nvPr/>
        </p:nvSpPr>
        <p:spPr>
          <a:xfrm>
            <a:off x="10881360" y="28346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p.13–14</a:t>
            </a:r>
            <a:endParaRPr lang="en-US" sz="1050" dirty="0"/>
          </a:p>
        </p:txBody>
      </p:sp>
      <p:sp>
        <p:nvSpPr>
          <p:cNvPr id="25" name="bg_agenda_s3"/>
          <p:cNvSpPr txBox="1"/>
          <p:nvPr/>
        </p:nvSpPr>
        <p:spPr>
          <a:xfrm>
            <a:off x="7818120" y="32918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2-4  競争優位</a:t>
            </a:r>
            <a:endParaRPr lang="en-US" sz="1250" dirty="0"/>
          </a:p>
        </p:txBody>
      </p:sp>
      <p:sp>
        <p:nvSpPr>
          <p:cNvPr id="26" name="bg_agenda_p3"/>
          <p:cNvSpPr txBox="1"/>
          <p:nvPr/>
        </p:nvSpPr>
        <p:spPr>
          <a:xfrm>
            <a:off x="10881360" y="32918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p.15</a:t>
            </a:r>
            <a:endParaRPr lang="en-US" sz="1050" dirty="0"/>
          </a:p>
        </p:txBody>
      </p:sp>
      <p:sp>
        <p:nvSpPr>
          <p:cNvPr id="27" name="bg_agenda_s4"/>
          <p:cNvSpPr txBox="1"/>
          <p:nvPr/>
        </p:nvSpPr>
        <p:spPr>
          <a:xfrm>
            <a:off x="7818120" y="37490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2-5  需給</a:t>
            </a:r>
            <a:endParaRPr lang="en-US" sz="1250" dirty="0"/>
          </a:p>
        </p:txBody>
      </p:sp>
      <p:sp>
        <p:nvSpPr>
          <p:cNvPr id="28" name="bg_agenda_p4"/>
          <p:cNvSpPr txBox="1"/>
          <p:nvPr/>
        </p:nvSpPr>
        <p:spPr>
          <a:xfrm>
            <a:off x="10881360" y="37490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p.16</a:t>
            </a:r>
            <a:endParaRPr lang="en-US" sz="1050" dirty="0"/>
          </a:p>
        </p:txBody>
      </p:sp>
      <p:sp>
        <p:nvSpPr>
          <p:cNvPr id="29" name="bg_agenda_s5"/>
          <p:cNvSpPr txBox="1"/>
          <p:nvPr/>
        </p:nvSpPr>
        <p:spPr>
          <a:xfrm>
            <a:off x="7818120" y="42062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2-6  成長の前提</a:t>
            </a:r>
            <a:endParaRPr lang="en-US" sz="1250" dirty="0"/>
          </a:p>
        </p:txBody>
      </p:sp>
      <p:sp>
        <p:nvSpPr>
          <p:cNvPr id="30" name="bg_agenda_p5"/>
          <p:cNvSpPr txBox="1"/>
          <p:nvPr/>
        </p:nvSpPr>
        <p:spPr>
          <a:xfrm>
            <a:off x="10881360" y="42062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p.17–18</a:t>
            </a:r>
            <a:endParaRPr lang="en-US" sz="1050" dirty="0"/>
          </a:p>
        </p:txBody>
      </p:sp>
      <p:sp>
        <p:nvSpPr>
          <p:cNvPr id="31" name="bg_agenda_s6"/>
          <p:cNvSpPr txBox="1"/>
          <p:nvPr/>
        </p:nvSpPr>
        <p:spPr>
          <a:xfrm>
            <a:off x="7818120" y="46634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2-7  資金と信用</a:t>
            </a:r>
            <a:endParaRPr lang="en-US" sz="1250" dirty="0"/>
          </a:p>
        </p:txBody>
      </p:sp>
      <p:sp>
        <p:nvSpPr>
          <p:cNvPr id="32" name="bg_agenda_p6"/>
          <p:cNvSpPr txBox="1"/>
          <p:nvPr/>
        </p:nvSpPr>
        <p:spPr>
          <a:xfrm>
            <a:off x="10881360" y="46634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p.19</a:t>
            </a:r>
            <a:endParaRPr lang="en-US" sz="1050" dirty="0"/>
          </a:p>
        </p:txBody>
      </p:sp>
      <p:sp>
        <p:nvSpPr>
          <p:cNvPr id="33"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86C99B"/>
                </a:solidFill>
                <a:latin typeface="Meiryo UI" pitchFamily="34" charset="0"/>
                <a:ea typeface="Meiryo UI" pitchFamily="34" charset="-122"/>
                <a:cs typeface="Meiryo U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2-1 事業理解(1/3)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事業理解</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Oracle が何を誰にどう売るかを押さえる。以降の分析はすべてこの区分の上に立つ</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Oracle は DB を土台に、業務アプリ・クラウド・AI 容量を重ねて売る。</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利益は DB 保守、成長は AI 容量が担う</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事業の積み木(どの層を、どこで売るか)。右: 8 群の 5W1H 台帳。下: この資料で使う用語の注釈</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report/r3_sections_5w1h_f20.md §2-0(会社開示・10-Q・価格表の第三者集計)、research2/R4_database_at.md。Q1 FY27 = 2026 年 6〜8 月</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8</a:t>
            </a:r>
            <a:endParaRPr lang="en-US" sz="800" dirty="0"/>
          </a:p>
        </p:txBody>
      </p:sp>
      <p:sp>
        <p:nvSpPr>
          <p:cNvPr id="19" name="pane_head"/>
          <p:cNvSpPr txBox="1"/>
          <p:nvPr/>
        </p:nvSpPr>
        <p:spPr>
          <a:xfrm>
            <a:off x="457200" y="1481328"/>
            <a:ext cx="406908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事業の積み木(層 × 動く場所)</a:t>
            </a:r>
            <a:endParaRPr lang="en-US" sz="1200" dirty="0"/>
          </a:p>
        </p:txBody>
      </p:sp>
      <p:sp>
        <p:nvSpPr>
          <p:cNvPr id="20" name="blk_colh0"/>
          <p:cNvSpPr txBox="1"/>
          <p:nvPr/>
        </p:nvSpPr>
        <p:spPr>
          <a:xfrm>
            <a:off x="1371600" y="1810512"/>
            <a:ext cx="1005840" cy="237744"/>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顧客の DC</a:t>
            </a:r>
            <a:endParaRPr lang="en-US" sz="900" dirty="0"/>
          </a:p>
        </p:txBody>
      </p:sp>
      <p:sp>
        <p:nvSpPr>
          <p:cNvPr id="21" name="blk_colh1"/>
          <p:cNvSpPr txBox="1"/>
          <p:nvPr/>
        </p:nvSpPr>
        <p:spPr>
          <a:xfrm>
            <a:off x="2423160" y="1810512"/>
            <a:ext cx="1005840" cy="237744"/>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OCI</a:t>
            </a:r>
            <a:endParaRPr lang="en-US" sz="900" dirty="0"/>
          </a:p>
        </p:txBody>
      </p:sp>
      <p:sp>
        <p:nvSpPr>
          <p:cNvPr id="22" name="blk_colh2"/>
          <p:cNvSpPr txBox="1"/>
          <p:nvPr/>
        </p:nvSpPr>
        <p:spPr>
          <a:xfrm>
            <a:off x="3474720" y="1810512"/>
            <a:ext cx="1005840" cy="237744"/>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他社クラウド</a:t>
            </a:r>
            <a:endParaRPr lang="en-US" sz="900" dirty="0"/>
          </a:p>
        </p:txBody>
      </p:sp>
      <p:sp>
        <p:nvSpPr>
          <p:cNvPr id="23" name="blk_rowh0"/>
          <p:cNvSpPr txBox="1"/>
          <p:nvPr/>
        </p:nvSpPr>
        <p:spPr>
          <a:xfrm>
            <a:off x="457200" y="2103120"/>
            <a:ext cx="868680" cy="658368"/>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アプリ</a:t>
            </a:r>
            <a:endParaRPr lang="en-US" sz="900" dirty="0"/>
          </a:p>
        </p:txBody>
      </p:sp>
      <p:sp>
        <p:nvSpPr>
          <p:cNvPr id="24" name="blk_rowh1"/>
          <p:cNvSpPr txBox="1"/>
          <p:nvPr/>
        </p:nvSpPr>
        <p:spPr>
          <a:xfrm>
            <a:off x="457200" y="2834640"/>
            <a:ext cx="868680" cy="658368"/>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データ(DB)</a:t>
            </a:r>
            <a:endParaRPr lang="en-US" sz="900" dirty="0"/>
          </a:p>
        </p:txBody>
      </p:sp>
      <p:sp>
        <p:nvSpPr>
          <p:cNvPr id="25" name="blk_rowh2"/>
          <p:cNvSpPr txBox="1"/>
          <p:nvPr/>
        </p:nvSpPr>
        <p:spPr>
          <a:xfrm>
            <a:off x="457200" y="3566160"/>
            <a:ext cx="868680" cy="658368"/>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インフラ</a:t>
            </a:r>
            <a:endParaRPr lang="en-US" sz="900" dirty="0"/>
          </a:p>
        </p:txBody>
      </p:sp>
      <p:sp>
        <p:nvSpPr>
          <p:cNvPr id="26" name="blk_rowh3"/>
          <p:cNvSpPr txBox="1"/>
          <p:nvPr/>
        </p:nvSpPr>
        <p:spPr>
          <a:xfrm>
            <a:off x="457200" y="4297680"/>
            <a:ext cx="868680" cy="384048"/>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土台</a:t>
            </a:r>
            <a:endParaRPr lang="en-US" sz="900" dirty="0"/>
          </a:p>
        </p:txBody>
      </p:sp>
      <p:sp>
        <p:nvSpPr>
          <p:cNvPr id="27" name="blk_c00"/>
          <p:cNvSpPr/>
          <p:nvPr/>
        </p:nvSpPr>
        <p:spPr>
          <a:xfrm>
            <a:off x="1371600" y="2103120"/>
            <a:ext cx="1005840" cy="658368"/>
          </a:xfrm>
          <a:prstGeom prst="roundRect">
            <a:avLst>
              <a:gd name="adj" fmla="val 8333"/>
            </a:avLst>
          </a:prstGeom>
          <a:solidFill>
            <a:srgbClr val="EAF4EE"/>
          </a:solidFill>
          <a:ln w="9525">
            <a:solidFill>
              <a:srgbClr val="86C99B"/>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旧来の業務アプリ</a:t>
            </a:r>
            <a:endParaRPr lang="en-US" sz="850" dirty="0"/>
          </a:p>
          <a:p>
            <a:pPr algn="ctr" indent="0" marL="0">
              <a:buNone/>
            </a:pPr>
            <a:r>
              <a:rPr lang="en-US" sz="850" dirty="0">
                <a:solidFill>
                  <a:srgbClr val="0E4D33"/>
                </a:solidFill>
                <a:latin typeface="Meiryo UI" pitchFamily="34" charset="0"/>
                <a:ea typeface="Meiryo UI" pitchFamily="34" charset="-122"/>
                <a:cs typeface="Meiryo UI" pitchFamily="34" charset="-120"/>
              </a:rPr>
              <a:t>(E-Business ほか)</a:t>
            </a:r>
            <a:endParaRPr lang="en-US" sz="850" dirty="0"/>
          </a:p>
        </p:txBody>
      </p:sp>
      <p:sp>
        <p:nvSpPr>
          <p:cNvPr id="28" name="blk_c01"/>
          <p:cNvSpPr/>
          <p:nvPr/>
        </p:nvSpPr>
        <p:spPr>
          <a:xfrm>
            <a:off x="2423160" y="2103120"/>
            <a:ext cx="1005840" cy="658368"/>
          </a:xfrm>
          <a:prstGeom prst="roundRect">
            <a:avLst>
              <a:gd name="adj" fmla="val 8333"/>
            </a:avLst>
          </a:prstGeom>
          <a:solidFill>
            <a:srgbClr val="EAF4EE"/>
          </a:solidFill>
          <a:ln w="9525">
            <a:solidFill>
              <a:srgbClr val="86C99B"/>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Fusion・NetSuite</a:t>
            </a:r>
            <a:endParaRPr lang="en-US" sz="850" dirty="0"/>
          </a:p>
          <a:p>
            <a:pPr algn="ctr" indent="0" marL="0">
              <a:buNone/>
            </a:pPr>
            <a:r>
              <a:rPr lang="en-US" sz="850" dirty="0">
                <a:solidFill>
                  <a:srgbClr val="0E4D33"/>
                </a:solidFill>
                <a:latin typeface="Meiryo UI" pitchFamily="34" charset="0"/>
                <a:ea typeface="Meiryo UI" pitchFamily="34" charset="-122"/>
                <a:cs typeface="Meiryo UI" pitchFamily="34" charset="-120"/>
              </a:rPr>
              <a:t>(SaaS)</a:t>
            </a:r>
            <a:endParaRPr lang="en-US" sz="850" dirty="0"/>
          </a:p>
        </p:txBody>
      </p:sp>
      <p:sp>
        <p:nvSpPr>
          <p:cNvPr id="29" name="blk_c02"/>
          <p:cNvSpPr/>
          <p:nvPr/>
        </p:nvSpPr>
        <p:spPr>
          <a:xfrm>
            <a:off x="3474720" y="2103120"/>
            <a:ext cx="1005840" cy="658368"/>
          </a:xfrm>
          <a:prstGeom prst="roundRect">
            <a:avLst>
              <a:gd name="adj" fmla="val 8333"/>
            </a:avLst>
          </a:prstGeom>
          <a:solidFill>
            <a:srgbClr val="F2F2F2"/>
          </a:solidFill>
          <a:ln w="9525">
            <a:solidFill>
              <a:srgbClr val="F2F2F2"/>
            </a:solidFill>
          </a:ln>
        </p:spPr>
        <p:txBody>
          <a:bodyPr wrap="square" lIns="254" tIns="254" rIns="254" bIns="254"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a:t>
            </a:r>
            <a:endParaRPr lang="en-US" sz="850" dirty="0"/>
          </a:p>
        </p:txBody>
      </p:sp>
      <p:sp>
        <p:nvSpPr>
          <p:cNvPr id="30" name="blk_c10"/>
          <p:cNvSpPr/>
          <p:nvPr/>
        </p:nvSpPr>
        <p:spPr>
          <a:xfrm>
            <a:off x="1371600" y="2834640"/>
            <a:ext cx="1005840" cy="658368"/>
          </a:xfrm>
          <a:prstGeom prst="roundRect">
            <a:avLst>
              <a:gd name="adj" fmla="val 8333"/>
            </a:avLst>
          </a:prstGeom>
          <a:solidFill>
            <a:srgbClr val="0E4D33"/>
          </a:solidFill>
          <a:ln w="9525">
            <a:solidFill>
              <a:srgbClr val="0E4D33"/>
            </a:solidFill>
          </a:ln>
        </p:spPr>
        <p:txBody>
          <a:bodyPr wrap="square" lIns="254" tIns="254" rIns="254" bIns="254" rtlCol="0" anchor="ctr"/>
          <a:lstStyle/>
          <a:p>
            <a:pPr algn="ctr" indent="0" marL="0">
              <a:buNone/>
            </a:pPr>
            <a:r>
              <a:rPr lang="en-US" sz="850" dirty="0">
                <a:solidFill>
                  <a:srgbClr val="FFFFFF"/>
                </a:solidFill>
                <a:latin typeface="Meiryo UI" pitchFamily="34" charset="0"/>
                <a:ea typeface="Meiryo UI" pitchFamily="34" charset="-122"/>
                <a:cs typeface="Meiryo UI" pitchFamily="34" charset="-120"/>
              </a:rPr>
              <a:t>DB ライセンス・</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保守・Exadata</a:t>
            </a:r>
            <a:endParaRPr lang="en-US" sz="850" dirty="0"/>
          </a:p>
        </p:txBody>
      </p:sp>
      <p:sp>
        <p:nvSpPr>
          <p:cNvPr id="31" name="blk_c11"/>
          <p:cNvSpPr/>
          <p:nvPr/>
        </p:nvSpPr>
        <p:spPr>
          <a:xfrm>
            <a:off x="2423160" y="2834640"/>
            <a:ext cx="1005840" cy="658368"/>
          </a:xfrm>
          <a:prstGeom prst="roundRect">
            <a:avLst>
              <a:gd name="adj" fmla="val 8333"/>
            </a:avLst>
          </a:prstGeom>
          <a:solidFill>
            <a:srgbClr val="0E4D33"/>
          </a:solidFill>
          <a:ln w="9525">
            <a:solidFill>
              <a:srgbClr val="0E4D33"/>
            </a:solidFill>
          </a:ln>
        </p:spPr>
        <p:txBody>
          <a:bodyPr wrap="square" lIns="254" tIns="254" rIns="254" bIns="254" rtlCol="0" anchor="ctr"/>
          <a:lstStyle/>
          <a:p>
            <a:pPr algn="ctr" indent="0" marL="0">
              <a:buNone/>
            </a:pPr>
            <a:r>
              <a:rPr lang="en-US" sz="850" dirty="0">
                <a:solidFill>
                  <a:srgbClr val="FFFFFF"/>
                </a:solidFill>
                <a:latin typeface="Meiryo UI" pitchFamily="34" charset="0"/>
                <a:ea typeface="Meiryo UI" pitchFamily="34" charset="-122"/>
                <a:cs typeface="Meiryo UI" pitchFamily="34" charset="-120"/>
              </a:rPr>
              <a:t>Autonomous</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AI Database 26ai</a:t>
            </a:r>
            <a:endParaRPr lang="en-US" sz="850" dirty="0"/>
          </a:p>
        </p:txBody>
      </p:sp>
      <p:sp>
        <p:nvSpPr>
          <p:cNvPr id="32" name="blk_c12"/>
          <p:cNvSpPr/>
          <p:nvPr/>
        </p:nvSpPr>
        <p:spPr>
          <a:xfrm>
            <a:off x="3474720" y="2834640"/>
            <a:ext cx="1005840" cy="658368"/>
          </a:xfrm>
          <a:prstGeom prst="roundRect">
            <a:avLst>
              <a:gd name="adj" fmla="val 8333"/>
            </a:avLst>
          </a:prstGeom>
          <a:solidFill>
            <a:srgbClr val="0E4D33"/>
          </a:solidFill>
          <a:ln w="9525">
            <a:solidFill>
              <a:srgbClr val="0E4D33"/>
            </a:solidFill>
          </a:ln>
        </p:spPr>
        <p:txBody>
          <a:bodyPr wrap="square" lIns="254" tIns="254" rIns="254" bIns="254" rtlCol="0" anchor="ctr"/>
          <a:lstStyle/>
          <a:p>
            <a:pPr algn="ctr" indent="0" marL="0">
              <a:buNone/>
            </a:pPr>
            <a:r>
              <a:rPr lang="en-US" sz="850" dirty="0">
                <a:solidFill>
                  <a:srgbClr val="FFFFFF"/>
                </a:solidFill>
                <a:latin typeface="Meiryo UI" pitchFamily="34" charset="0"/>
                <a:ea typeface="Meiryo UI" pitchFamily="34" charset="-122"/>
                <a:cs typeface="Meiryo UI" pitchFamily="34" charset="-120"/>
              </a:rPr>
              <a:t>Database@</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(AWS・Azure・</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Google)</a:t>
            </a:r>
            <a:endParaRPr lang="en-US" sz="850" dirty="0"/>
          </a:p>
        </p:txBody>
      </p:sp>
      <p:sp>
        <p:nvSpPr>
          <p:cNvPr id="33" name="blk_c20"/>
          <p:cNvSpPr/>
          <p:nvPr/>
        </p:nvSpPr>
        <p:spPr>
          <a:xfrm>
            <a:off x="1371600" y="3566160"/>
            <a:ext cx="1005840" cy="658368"/>
          </a:xfrm>
          <a:prstGeom prst="roundRect">
            <a:avLst>
              <a:gd name="adj" fmla="val 8333"/>
            </a:avLst>
          </a:prstGeom>
          <a:solidFill>
            <a:srgbClr val="197A56"/>
          </a:solidFill>
          <a:ln w="9525">
            <a:solidFill>
              <a:srgbClr val="197A56"/>
            </a:solidFill>
          </a:ln>
        </p:spPr>
        <p:txBody>
          <a:bodyPr wrap="square" lIns="254" tIns="254" rIns="254" bIns="254" rtlCol="0" anchor="ctr"/>
          <a:lstStyle/>
          <a:p>
            <a:pPr algn="ctr" indent="0" marL="0">
              <a:buNone/>
            </a:pPr>
            <a:r>
              <a:rPr lang="en-US" sz="850" dirty="0">
                <a:solidFill>
                  <a:srgbClr val="FFFFFF"/>
                </a:solidFill>
                <a:latin typeface="Meiryo UI" pitchFamily="34" charset="0"/>
                <a:ea typeface="Meiryo UI" pitchFamily="34" charset="-122"/>
                <a:cs typeface="Meiryo UI" pitchFamily="34" charset="-120"/>
              </a:rPr>
              <a:t>Cloud@Customer</a:t>
            </a:r>
            <a:endParaRPr lang="en-US" sz="850" dirty="0"/>
          </a:p>
        </p:txBody>
      </p:sp>
      <p:sp>
        <p:nvSpPr>
          <p:cNvPr id="34" name="blk_c21"/>
          <p:cNvSpPr/>
          <p:nvPr/>
        </p:nvSpPr>
        <p:spPr>
          <a:xfrm>
            <a:off x="2423160" y="3566160"/>
            <a:ext cx="1005840" cy="658368"/>
          </a:xfrm>
          <a:prstGeom prst="roundRect">
            <a:avLst>
              <a:gd name="adj" fmla="val 8333"/>
            </a:avLst>
          </a:prstGeom>
          <a:solidFill>
            <a:srgbClr val="197A56"/>
          </a:solidFill>
          <a:ln w="9525">
            <a:solidFill>
              <a:srgbClr val="197A56"/>
            </a:solidFill>
          </a:ln>
        </p:spPr>
        <p:txBody>
          <a:bodyPr wrap="square" lIns="254" tIns="254" rIns="254" bIns="254" rtlCol="0" anchor="ctr"/>
          <a:lstStyle/>
          <a:p>
            <a:pPr algn="ctr" indent="0" marL="0">
              <a:buNone/>
            </a:pPr>
            <a:r>
              <a:rPr lang="en-US" sz="850" dirty="0">
                <a:solidFill>
                  <a:srgbClr val="FFFFFF"/>
                </a:solidFill>
                <a:latin typeface="Meiryo UI" pitchFamily="34" charset="0"/>
                <a:ea typeface="Meiryo UI" pitchFamily="34" charset="-122"/>
                <a:cs typeface="Meiryo UI" pitchFamily="34" charset="-120"/>
              </a:rPr>
              <a:t>OCI 一般・主権</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AI 容量(GPU)</a:t>
            </a:r>
            <a:endParaRPr lang="en-US" sz="850" dirty="0"/>
          </a:p>
        </p:txBody>
      </p:sp>
      <p:sp>
        <p:nvSpPr>
          <p:cNvPr id="35" name="blk_c22"/>
          <p:cNvSpPr/>
          <p:nvPr/>
        </p:nvSpPr>
        <p:spPr>
          <a:xfrm>
            <a:off x="3474720" y="3566160"/>
            <a:ext cx="1005840" cy="658368"/>
          </a:xfrm>
          <a:prstGeom prst="roundRect">
            <a:avLst>
              <a:gd name="adj" fmla="val 8333"/>
            </a:avLst>
          </a:prstGeom>
          <a:solidFill>
            <a:srgbClr val="F2F2F2"/>
          </a:solidFill>
          <a:ln w="9525">
            <a:solidFill>
              <a:srgbClr val="F2F2F2"/>
            </a:solidFill>
          </a:ln>
        </p:spPr>
        <p:txBody>
          <a:bodyPr wrap="square" lIns="254" tIns="254" rIns="254" bIns="254"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a:t>
            </a:r>
            <a:endParaRPr lang="en-US" sz="850" dirty="0"/>
          </a:p>
        </p:txBody>
      </p:sp>
      <p:sp>
        <p:nvSpPr>
          <p:cNvPr id="36" name="blk_base"/>
          <p:cNvSpPr/>
          <p:nvPr/>
        </p:nvSpPr>
        <p:spPr>
          <a:xfrm>
            <a:off x="1371600" y="4297680"/>
            <a:ext cx="3108960" cy="384048"/>
          </a:xfrm>
          <a:prstGeom prst="roundRect">
            <a:avLst>
              <a:gd name="adj" fmla="val 14286"/>
            </a:avLst>
          </a:prstGeom>
          <a:solidFill>
            <a:srgbClr val="F2F2F2"/>
          </a:solidFill>
          <a:ln w="9525">
            <a:solidFill>
              <a:srgbClr val="D9D9D9"/>
            </a:solidFill>
          </a:ln>
        </p:spPr>
        <p:txBody>
          <a:bodyPr wrap="square" lIns="508" tIns="508" rIns="508" bIns="508"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電力付きの建屋(開発事業者が建てて 15〜19 年で貸す)</a:t>
            </a:r>
            <a:endParaRPr lang="en-US" sz="850" dirty="0"/>
          </a:p>
        </p:txBody>
      </p:sp>
      <p:sp>
        <p:nvSpPr>
          <p:cNvPr id="37" name="blk_legend"/>
          <p:cNvSpPr txBox="1"/>
          <p:nvPr/>
        </p:nvSpPr>
        <p:spPr>
          <a:xfrm>
            <a:off x="457200" y="4754880"/>
            <a:ext cx="4069080" cy="292608"/>
          </a:xfrm>
          <a:prstGeom prst="rect">
            <a:avLst/>
          </a:prstGeom>
          <a:noFill/>
          <a:ln/>
        </p:spPr>
        <p:txBody>
          <a:bodyPr wrap="square" lIns="0" tIns="0" rIns="0" bIns="0" rtlCol="0" anchor="ctr"/>
          <a:lstStyle/>
          <a:p>
            <a:pPr indent="0" marL="0">
              <a:buNone/>
            </a:pPr>
            <a:r>
              <a:rPr lang="en-US" sz="850" dirty="0">
                <a:solidFill>
                  <a:srgbClr val="767676"/>
                </a:solidFill>
                <a:latin typeface="Meiryo UI" pitchFamily="34" charset="0"/>
                <a:ea typeface="Meiryo UI" pitchFamily="34" charset="-122"/>
                <a:cs typeface="Meiryo UI" pitchFamily="34" charset="-120"/>
              </a:rPr>
              <a:t>濃緑 = 利益の柱、緑 = 成長、薄緑 = 上積み</a:t>
            </a:r>
            <a:endParaRPr lang="en-US" sz="850" dirty="0"/>
          </a:p>
        </p:txBody>
      </p:sp>
      <p:sp>
        <p:nvSpPr>
          <p:cNvPr id="38" name="pane_head"/>
          <p:cNvSpPr txBox="1"/>
          <p:nvPr/>
        </p:nvSpPr>
        <p:spPr>
          <a:xfrm>
            <a:off x="4709160" y="1481328"/>
            <a:ext cx="702259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8 群の 5W1H 台帳(売上は Q1 FY27 の報告区分)</a:t>
            </a:r>
            <a:endParaRPr lang="en-US" sz="1200" dirty="0"/>
          </a:p>
        </p:txBody>
      </p:sp>
      <p:graphicFrame>
        <p:nvGraphicFramePr>
          <p:cNvPr id="9" name="tbl"/>
          <p:cNvGraphicFramePr>
            <a:graphicFrameLocks noGrp="1"/>
          </p:cNvGraphicFramePr>
          <p:nvPr>
            <p:extLst>
              <p:ext uri="{D42A27DB-BD31-4B8C-83A1-F6EECF244321}">
                <p14:modId xmlns:p14="http://schemas.microsoft.com/office/powerpoint/2010/main" val="1579011935"/>
              </p:ext>
            </p:extLst>
          </p:nvPr>
        </p:nvGraphicFramePr>
        <p:xfrm>
          <a:off x="4709160" y="1810512"/>
          <a:ext cx="7022592" cy="914400"/>
        </p:xfrm>
        <a:graphic>
          <a:graphicData uri="http://schemas.openxmlformats.org/drawingml/2006/table">
            <a:tbl>
              <a:tblPr/>
              <a:tblGrid>
                <a:gridCol w="1417320"/>
                <a:gridCol w="1600200"/>
                <a:gridCol w="2103120"/>
                <a:gridCol w="1188720"/>
                <a:gridCol w="713232"/>
              </a:tblGrid>
              <a:tr h="365760">
                <a:tc>
                  <a:txBody>
                    <a:bodyPr/>
                    <a:lstStyle/>
                    <a:p>
                      <a:pPr algn="l" indent="0" marL="0">
                        <a:buNone/>
                      </a:pPr>
                      <a:r>
                        <a:rPr lang="en-US" sz="850" b="1" dirty="0">
                          <a:solidFill>
                            <a:srgbClr val="FFFFFF"/>
                          </a:solidFill>
                          <a:latin typeface="Meiryo UI" pitchFamily="34" charset="0"/>
                          <a:ea typeface="Meiryo UI" pitchFamily="34" charset="-122"/>
                          <a:cs typeface="Meiryo UI" pitchFamily="34" charset="-120"/>
                        </a:rPr>
                        <a:t>群</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850" b="1" dirty="0">
                          <a:solidFill>
                            <a:srgbClr val="FFFFFF"/>
                          </a:solidFill>
                          <a:latin typeface="Meiryo UI" pitchFamily="34" charset="0"/>
                          <a:ea typeface="Meiryo UI" pitchFamily="34" charset="-122"/>
                          <a:cs typeface="Meiryo UI" pitchFamily="34" charset="-120"/>
                        </a:rPr>
                        <a:t>誰が買う</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850" b="1" dirty="0">
                          <a:solidFill>
                            <a:srgbClr val="FFFFFF"/>
                          </a:solidFill>
                          <a:latin typeface="Meiryo UI" pitchFamily="34" charset="0"/>
                          <a:ea typeface="Meiryo UI" pitchFamily="34" charset="-122"/>
                          <a:cs typeface="Meiryo UI" pitchFamily="34" charset="-120"/>
                        </a:rPr>
                        <a:t>何を・どう課金</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850" b="1" dirty="0">
                          <a:solidFill>
                            <a:srgbClr val="FFFFFF"/>
                          </a:solidFill>
                          <a:latin typeface="Meiryo UI" pitchFamily="34" charset="0"/>
                          <a:ea typeface="Meiryo UI" pitchFamily="34" charset="-122"/>
                          <a:cs typeface="Meiryo UI" pitchFamily="34" charset="-120"/>
                        </a:rPr>
                        <a:t>売上(前年比)</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役割</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6576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DB ライセンス・保守</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(Java・旧来アプリ含む)</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既存の大企業・官公庁</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Java は全業種</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DB はプロセッサ単位 + 保守は年 22%</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Java は従業員数 × 月額</a:t>
                      </a:r>
                      <a:endParaRPr lang="en-US" sz="850" dirty="0">
                        <a:latin typeface="Meiryo UI" charset="0"/>
                        <a:ea typeface="Meiryo UI" charset="0"/>
                        <a:cs typeface="Meiryo UI" charset="0"/>
                      </a:endParaRPr>
                    </a:p>
                  </a:txBody>
                  <a:tcPr marL="54864" marR="0"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Software 区分</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55.5 億ドル(−3%)</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E4D33"/>
                          </a:solidFill>
                          <a:latin typeface="Meiryo UI" pitchFamily="34" charset="0"/>
                          <a:ea typeface="Meiryo UI" pitchFamily="34" charset="-122"/>
                          <a:cs typeface="Meiryo UI" pitchFamily="34" charset="-120"/>
                        </a:rPr>
                        <a:t>利益の柱</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OCI 一般・主権クラウド</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企業全般。主権は NRI・</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富士通・中東の通信会社</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計算・保存・通信の従量課金</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主権は最低 5 年のコミット</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IaaS 区分 74 億ドル</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(+121%、AI 含む)</a:t>
                      </a:r>
                      <a:endParaRPr lang="en-US" sz="850" dirty="0">
                        <a:latin typeface="Meiryo UI" charset="0"/>
                        <a:ea typeface="Meiryo UI" charset="0"/>
                        <a:cs typeface="Meiryo UI" charset="0"/>
                      </a:endParaRPr>
                    </a:p>
                  </a:txBody>
                  <a:tcPr marL="54864" marR="0"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成長</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6576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AI 容量</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OpenAI・xAI・Meta など</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AI 研究所</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GPU 時間(H100 定価 10 ドル/時)</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例: 6 年 600 億ドル。更新 +20%</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IaaS 区分に含む</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(単独は非開示)</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成長の主因</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Database@</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Oracle DB を他社クラウドで</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使う企業(顧客数 +180%)</a:t>
                      </a:r>
                      <a:endParaRPr lang="en-US" sz="850" dirty="0">
                        <a:latin typeface="Meiryo UI" charset="0"/>
                        <a:ea typeface="Meiryo UI" charset="0"/>
                        <a:cs typeface="Meiryo UI" charset="0"/>
                      </a:endParaRPr>
                    </a:p>
                  </a:txBody>
                  <a:tcPr marL="54864" marR="0"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他社の DC 内で Exadata・</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Autonomous を稼働。ECPU 時間課金</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+353%</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(額は非開示)</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1BA1A6"/>
                          </a:solidFill>
                          <a:latin typeface="Meiryo UI" pitchFamily="34" charset="0"/>
                          <a:ea typeface="Meiryo UI" pitchFamily="34" charset="-122"/>
                          <a:cs typeface="Meiryo UI" pitchFamily="34" charset="-120"/>
                        </a:rPr>
                        <a:t>上積み</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6576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Autonomous・Exadata</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大規模な Oracle DB の</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既存顧客</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ECPU 時間で課金</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Cloud@Customer は 4 年のサブスク</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Hardware 区分</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約 8 億ドル(+15%)</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767676"/>
                          </a:solidFill>
                          <a:latin typeface="Meiryo UI" pitchFamily="34" charset="0"/>
                          <a:ea typeface="Meiryo UI" pitchFamily="34" charset="-122"/>
                          <a:cs typeface="Meiryo UI" pitchFamily="34" charset="-120"/>
                        </a:rPr>
                        <a:t>DB の器</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SaaS</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(Fusion・NetSuite)</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大企業(Fusion)</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中堅(NetSuite)</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従業員数・ユーザー数 × 月額</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AI エージェントは追加料金なし</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SaaS 区分</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42 億ドル(+10%)</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1BA1A6"/>
                          </a:solidFill>
                          <a:latin typeface="Meiryo UI" pitchFamily="34" charset="0"/>
                          <a:ea typeface="Meiryo UI" pitchFamily="34" charset="-122"/>
                          <a:cs typeface="Meiryo UI" pitchFamily="34" charset="-120"/>
                        </a:rPr>
                        <a:t>上積み</a:t>
                      </a:r>
                      <a:endParaRPr lang="en-US" sz="850" dirty="0">
                        <a:latin typeface="Meiryo UI" charset="0"/>
                        <a:ea typeface="Meiryo UI" charset="0"/>
                        <a:cs typeface="Meiryo UI" charset="0"/>
                      </a:endParaRPr>
                    </a:p>
                    <a:p>
                      <a:pPr algn="ctr" indent="0" marL="0">
                        <a:buNone/>
                      </a:pPr>
                      <a:r>
                        <a:rPr lang="en-US" sz="850" dirty="0">
                          <a:solidFill>
                            <a:srgbClr val="1BA1A6"/>
                          </a:solidFill>
                          <a:latin typeface="Meiryo UI" pitchFamily="34" charset="0"/>
                          <a:ea typeface="Meiryo UI" pitchFamily="34" charset="-122"/>
                          <a:cs typeface="Meiryo UI" pitchFamily="34" charset="-120"/>
                        </a:rPr>
                        <a:t>(加速候補)</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6576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業種別・Oracle Health</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病院・退役軍人省</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ホテル・銀行・小売</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契約ごと</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電子カルテは上限額方式</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業種別 +20% 超</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(額は非開示)</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767676"/>
                          </a:solidFill>
                          <a:latin typeface="Meiryo UI" pitchFamily="34" charset="0"/>
                          <a:ea typeface="Meiryo UI" pitchFamily="34" charset="-122"/>
                          <a:cs typeface="Meiryo UI" pitchFamily="34" charset="-120"/>
                        </a:rPr>
                        <a:t>選択的</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サービス</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Fusion・OCI・Health の</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導入顧客</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導入・移行・運用支援</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工数・固定額</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14.1 億ドル</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(+4.8%)</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767676"/>
                          </a:solidFill>
                          <a:latin typeface="Meiryo UI" pitchFamily="34" charset="0"/>
                          <a:ea typeface="Meiryo UI" pitchFamily="34" charset="-122"/>
                          <a:cs typeface="Meiryo UI" pitchFamily="34" charset="-120"/>
                        </a:rPr>
                        <a:t>付随</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40" name="pane_head"/>
          <p:cNvSpPr txBox="1"/>
          <p:nvPr/>
        </p:nvSpPr>
        <p:spPr>
          <a:xfrm>
            <a:off x="457200" y="5102352"/>
            <a:ext cx="1127455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用語の注釈(この資料に出てくる順)</a:t>
            </a:r>
            <a:endParaRPr lang="en-US" sz="1200" dirty="0"/>
          </a:p>
        </p:txBody>
      </p:sp>
      <p:sp>
        <p:nvSpPr>
          <p:cNvPr id="41" name="note_0"/>
          <p:cNvSpPr txBox="1"/>
          <p:nvPr/>
        </p:nvSpPr>
        <p:spPr>
          <a:xfrm>
            <a:off x="457200" y="541324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OCI</a:t>
            </a:r>
            <a:r>
              <a:rPr lang="en-US" sz="850" dirty="0">
                <a:solidFill>
                  <a:srgbClr val="333333"/>
                </a:solidFill>
                <a:latin typeface="Meiryo UI" pitchFamily="34" charset="0"/>
                <a:ea typeface="Meiryo UI" pitchFamily="34" charset="-122"/>
                <a:cs typeface="Meiryo UI" pitchFamily="34" charset="-120"/>
              </a:rPr>
              <a:t> — Oracle のクラウド。計算・保存・通信を従量で貸す</a:t>
            </a:r>
            <a:endParaRPr lang="en-US" sz="850" dirty="0"/>
          </a:p>
        </p:txBody>
      </p:sp>
      <p:sp>
        <p:nvSpPr>
          <p:cNvPr id="42" name="note_1"/>
          <p:cNvSpPr txBox="1"/>
          <p:nvPr/>
        </p:nvSpPr>
        <p:spPr>
          <a:xfrm>
            <a:off x="457200" y="559612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AI 容量</a:t>
            </a:r>
            <a:r>
              <a:rPr lang="en-US" sz="850" dirty="0">
                <a:solidFill>
                  <a:srgbClr val="333333"/>
                </a:solidFill>
                <a:latin typeface="Meiryo UI" pitchFamily="34" charset="0"/>
                <a:ea typeface="Meiryo UI" pitchFamily="34" charset="-122"/>
                <a:cs typeface="Meiryo UI" pitchFamily="34" charset="-120"/>
              </a:rPr>
              <a:t> — AI 用の GPU 計算力の貸出。OCI の一部</a:t>
            </a:r>
            <a:endParaRPr lang="en-US" sz="850" dirty="0"/>
          </a:p>
        </p:txBody>
      </p:sp>
      <p:sp>
        <p:nvSpPr>
          <p:cNvPr id="43" name="note_2"/>
          <p:cNvSpPr txBox="1"/>
          <p:nvPr/>
        </p:nvSpPr>
        <p:spPr>
          <a:xfrm>
            <a:off x="457200" y="577900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GW(ギガワット)</a:t>
            </a:r>
            <a:r>
              <a:rPr lang="en-US" sz="850" dirty="0">
                <a:solidFill>
                  <a:srgbClr val="333333"/>
                </a:solidFill>
                <a:latin typeface="Meiryo UI" pitchFamily="34" charset="0"/>
                <a:ea typeface="Meiryo UI" pitchFamily="34" charset="-122"/>
                <a:cs typeface="Meiryo UI" pitchFamily="34" charset="-120"/>
              </a:rPr>
              <a:t> — データセンターの電力容量。AI 容量の規模の単位</a:t>
            </a:r>
            <a:endParaRPr lang="en-US" sz="850" dirty="0"/>
          </a:p>
        </p:txBody>
      </p:sp>
      <p:sp>
        <p:nvSpPr>
          <p:cNvPr id="44" name="note_3"/>
          <p:cNvSpPr txBox="1"/>
          <p:nvPr/>
        </p:nvSpPr>
        <p:spPr>
          <a:xfrm>
            <a:off x="457200" y="596188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受注残(RPO)</a:t>
            </a:r>
            <a:r>
              <a:rPr lang="en-US" sz="850" dirty="0">
                <a:solidFill>
                  <a:srgbClr val="333333"/>
                </a:solidFill>
                <a:latin typeface="Meiryo UI" pitchFamily="34" charset="0"/>
                <a:ea typeface="Meiryo UI" pitchFamily="34" charset="-122"/>
                <a:cs typeface="Meiryo UI" pitchFamily="34" charset="-120"/>
              </a:rPr>
              <a:t> — 契約済みでまだ売上にしていない額。6,640 億ドル</a:t>
            </a:r>
            <a:endParaRPr lang="en-US" sz="850" dirty="0"/>
          </a:p>
        </p:txBody>
      </p:sp>
      <p:sp>
        <p:nvSpPr>
          <p:cNvPr id="45" name="note_4"/>
          <p:cNvSpPr txBox="1"/>
          <p:nvPr/>
        </p:nvSpPr>
        <p:spPr>
          <a:xfrm>
            <a:off x="4251960" y="541324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Database@</a:t>
            </a:r>
            <a:r>
              <a:rPr lang="en-US" sz="850" dirty="0">
                <a:solidFill>
                  <a:srgbClr val="333333"/>
                </a:solidFill>
                <a:latin typeface="Meiryo UI" pitchFamily="34" charset="0"/>
                <a:ea typeface="Meiryo UI" pitchFamily="34" charset="-122"/>
                <a:cs typeface="Meiryo UI" pitchFamily="34" charset="-120"/>
              </a:rPr>
              <a:t> — 他社クラウドの DC 内で動く Oracle DB</a:t>
            </a:r>
            <a:endParaRPr lang="en-US" sz="850" dirty="0"/>
          </a:p>
        </p:txBody>
      </p:sp>
      <p:sp>
        <p:nvSpPr>
          <p:cNvPr id="46" name="note_5"/>
          <p:cNvSpPr txBox="1"/>
          <p:nvPr/>
        </p:nvSpPr>
        <p:spPr>
          <a:xfrm>
            <a:off x="4251960" y="559612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Exadata・Autonomous</a:t>
            </a:r>
            <a:r>
              <a:rPr lang="en-US" sz="850" dirty="0">
                <a:solidFill>
                  <a:srgbClr val="333333"/>
                </a:solidFill>
                <a:latin typeface="Meiryo UI" pitchFamily="34" charset="0"/>
                <a:ea typeface="Meiryo UI" pitchFamily="34" charset="-122"/>
                <a:cs typeface="Meiryo UI" pitchFamily="34" charset="-120"/>
              </a:rPr>
              <a:t> — DB 専用の機械と、運用を自動化した DB</a:t>
            </a:r>
            <a:endParaRPr lang="en-US" sz="850" dirty="0"/>
          </a:p>
        </p:txBody>
      </p:sp>
      <p:sp>
        <p:nvSpPr>
          <p:cNvPr id="47" name="note_6"/>
          <p:cNvSpPr txBox="1"/>
          <p:nvPr/>
        </p:nvSpPr>
        <p:spPr>
          <a:xfrm>
            <a:off x="4251960" y="577900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AI Database 26ai</a:t>
            </a:r>
            <a:r>
              <a:rPr lang="en-US" sz="850" dirty="0">
                <a:solidFill>
                  <a:srgbClr val="333333"/>
                </a:solidFill>
                <a:latin typeface="Meiryo UI" pitchFamily="34" charset="0"/>
                <a:ea typeface="Meiryo UI" pitchFamily="34" charset="-122"/>
                <a:cs typeface="Meiryo UI" pitchFamily="34" charset="-120"/>
              </a:rPr>
              <a:t> — AI 検索とエージェントを内蔵した DB の最新版</a:t>
            </a:r>
            <a:endParaRPr lang="en-US" sz="850" dirty="0"/>
          </a:p>
        </p:txBody>
      </p:sp>
      <p:sp>
        <p:nvSpPr>
          <p:cNvPr id="48" name="note_7"/>
          <p:cNvSpPr txBox="1"/>
          <p:nvPr/>
        </p:nvSpPr>
        <p:spPr>
          <a:xfrm>
            <a:off x="4251960" y="596188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保守(サポート)</a:t>
            </a:r>
            <a:r>
              <a:rPr lang="en-US" sz="850" dirty="0">
                <a:solidFill>
                  <a:srgbClr val="333333"/>
                </a:solidFill>
                <a:latin typeface="Meiryo UI" pitchFamily="34" charset="0"/>
                <a:ea typeface="Meiryo UI" pitchFamily="34" charset="-122"/>
                <a:cs typeface="Meiryo UI" pitchFamily="34" charset="-120"/>
              </a:rPr>
              <a:t> — ライセンス価格の年 22% を毎年払う更新料</a:t>
            </a:r>
            <a:endParaRPr lang="en-US" sz="850" dirty="0"/>
          </a:p>
        </p:txBody>
      </p:sp>
      <p:sp>
        <p:nvSpPr>
          <p:cNvPr id="49" name="note_8"/>
          <p:cNvSpPr txBox="1"/>
          <p:nvPr/>
        </p:nvSpPr>
        <p:spPr>
          <a:xfrm>
            <a:off x="8046720" y="541324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BYOL</a:t>
            </a:r>
            <a:r>
              <a:rPr lang="en-US" sz="850" dirty="0">
                <a:solidFill>
                  <a:srgbClr val="333333"/>
                </a:solidFill>
                <a:latin typeface="Meiryo UI" pitchFamily="34" charset="0"/>
                <a:ea typeface="Meiryo UI" pitchFamily="34" charset="-122"/>
                <a:cs typeface="Meiryo UI" pitchFamily="34" charset="-120"/>
              </a:rPr>
              <a:t> — 持っているライセンスをクラウドへ持ち込むこと</a:t>
            </a:r>
            <a:endParaRPr lang="en-US" sz="850" dirty="0"/>
          </a:p>
        </p:txBody>
      </p:sp>
      <p:sp>
        <p:nvSpPr>
          <p:cNvPr id="50" name="note_9"/>
          <p:cNvSpPr txBox="1"/>
          <p:nvPr/>
        </p:nvSpPr>
        <p:spPr>
          <a:xfrm>
            <a:off x="8046720" y="559612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ソブリンクラウド</a:t>
            </a:r>
            <a:r>
              <a:rPr lang="en-US" sz="850" dirty="0">
                <a:solidFill>
                  <a:srgbClr val="333333"/>
                </a:solidFill>
                <a:latin typeface="Meiryo UI" pitchFamily="34" charset="0"/>
                <a:ea typeface="Meiryo UI" pitchFamily="34" charset="-122"/>
                <a:cs typeface="Meiryo UI" pitchFamily="34" charset="-120"/>
              </a:rPr>
              <a:t> — データを国内に置く政府・規制業種向け</a:t>
            </a:r>
            <a:endParaRPr lang="en-US" sz="850" dirty="0"/>
          </a:p>
        </p:txBody>
      </p:sp>
      <p:sp>
        <p:nvSpPr>
          <p:cNvPr id="51" name="note_10"/>
          <p:cNvSpPr txBox="1"/>
          <p:nvPr/>
        </p:nvSpPr>
        <p:spPr>
          <a:xfrm>
            <a:off x="8046720" y="577900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ネオクラウド</a:t>
            </a:r>
            <a:r>
              <a:rPr lang="en-US" sz="850" dirty="0">
                <a:solidFill>
                  <a:srgbClr val="333333"/>
                </a:solidFill>
                <a:latin typeface="Meiryo UI" pitchFamily="34" charset="0"/>
                <a:ea typeface="Meiryo UI" pitchFamily="34" charset="-122"/>
                <a:cs typeface="Meiryo UI" pitchFamily="34" charset="-120"/>
              </a:rPr>
              <a:t> — GPU 貸出の専業(CoreWeave・Nebius など)</a:t>
            </a:r>
            <a:endParaRPr lang="en-US" sz="850" dirty="0"/>
          </a:p>
        </p:txBody>
      </p:sp>
      <p:sp>
        <p:nvSpPr>
          <p:cNvPr id="52" name="note_11"/>
          <p:cNvSpPr txBox="1"/>
          <p:nvPr/>
        </p:nvSpPr>
        <p:spPr>
          <a:xfrm>
            <a:off x="8046720" y="596188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事業実態 EPS</a:t>
            </a:r>
            <a:r>
              <a:rPr lang="en-US" sz="850" dirty="0">
                <a:solidFill>
                  <a:srgbClr val="333333"/>
                </a:solidFill>
                <a:latin typeface="Meiryo UI" pitchFamily="34" charset="0"/>
                <a:ea typeface="Meiryo UI" pitchFamily="34" charset="-122"/>
                <a:cs typeface="Meiryo UI" pitchFamily="34" charset="-120"/>
              </a:rPr>
              <a:t> — 非GAAP EPS から株式報酬(税引後)を引いた EPS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2-1 事業理解(2/3)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事業理解</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事業どうしが顧客と資金をどう受け渡すかを見る。単体の売上より、つながりが成長を生むため</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DB の顧客基盤が OCI・Database@・AI Database へ顧客を送り、</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DB の現金と顧客の前払い・他人の建屋が AI 容量の建設を支える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顧客 → Oracle の事業(稼ぐ柱 → 伸びる柱)。右: 提携先と資本の出し手。①〜⑦ は右の「仕組み」と対応。売上は Q1 FY27(2026 年 6〜8 月)</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report/r3_sections_5w1h_f20.md §2-0・§3-4、research2/R4_database_at.md、10-Q と決算資料(Q4 FY26・Q1 FY27)、calc/prereg2.md(コアの税引後利益)</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9</a:t>
            </a:r>
            <a:endParaRPr lang="en-US" sz="800" dirty="0"/>
          </a:p>
        </p:txBody>
      </p:sp>
      <p:sp>
        <p:nvSpPr>
          <p:cNvPr id="19" name="bg_lane0"/>
          <p:cNvSpPr/>
          <p:nvPr/>
        </p:nvSpPr>
        <p:spPr>
          <a:xfrm>
            <a:off x="347472" y="1517904"/>
            <a:ext cx="1426464" cy="4315968"/>
          </a:xfrm>
          <a:prstGeom prst="rect">
            <a:avLst/>
          </a:prstGeom>
          <a:solidFill>
            <a:srgbClr val="F2F2F2"/>
          </a:solidFill>
          <a:ln w="12700">
            <a:solidFill>
              <a:srgbClr val="F2F2F2"/>
            </a:solidFill>
            <a:prstDash val="solid"/>
          </a:ln>
        </p:spPr>
      </p:sp>
      <p:sp>
        <p:nvSpPr>
          <p:cNvPr id="20" name="bg_laneh0"/>
          <p:cNvSpPr/>
          <p:nvPr/>
        </p:nvSpPr>
        <p:spPr>
          <a:xfrm>
            <a:off x="347472" y="1517904"/>
            <a:ext cx="1426464" cy="274320"/>
          </a:xfrm>
          <a:prstGeom prst="rect">
            <a:avLst/>
          </a:prstGeom>
          <a:solidFill>
            <a:srgbClr val="D9D9D9"/>
          </a:solidFill>
          <a:ln w="12700">
            <a:solidFill>
              <a:srgbClr val="D9D9D9"/>
            </a:solidFill>
            <a:prstDash val="solid"/>
          </a:ln>
        </p:spPr>
      </p:sp>
      <p:sp>
        <p:nvSpPr>
          <p:cNvPr id="21" name="bg_lanet0"/>
          <p:cNvSpPr txBox="1"/>
          <p:nvPr/>
        </p:nvSpPr>
        <p:spPr>
          <a:xfrm>
            <a:off x="347472" y="1517904"/>
            <a:ext cx="1426464"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顧客</a:t>
            </a:r>
            <a:endParaRPr lang="en-US" sz="950" dirty="0"/>
          </a:p>
        </p:txBody>
      </p:sp>
      <p:sp>
        <p:nvSpPr>
          <p:cNvPr id="22" name="bg_lane1"/>
          <p:cNvSpPr/>
          <p:nvPr/>
        </p:nvSpPr>
        <p:spPr>
          <a:xfrm>
            <a:off x="2484120" y="1517904"/>
            <a:ext cx="3764280" cy="4315968"/>
          </a:xfrm>
          <a:prstGeom prst="rect">
            <a:avLst/>
          </a:prstGeom>
          <a:solidFill>
            <a:srgbClr val="EAF4EE"/>
          </a:solidFill>
          <a:ln w="12700">
            <a:solidFill>
              <a:srgbClr val="EAF4EE"/>
            </a:solidFill>
            <a:prstDash val="solid"/>
          </a:ln>
        </p:spPr>
      </p:sp>
      <p:sp>
        <p:nvSpPr>
          <p:cNvPr id="23" name="bg_laneh1"/>
          <p:cNvSpPr/>
          <p:nvPr/>
        </p:nvSpPr>
        <p:spPr>
          <a:xfrm>
            <a:off x="2484120" y="1517904"/>
            <a:ext cx="3764280" cy="274320"/>
          </a:xfrm>
          <a:prstGeom prst="rect">
            <a:avLst/>
          </a:prstGeom>
          <a:solidFill>
            <a:srgbClr val="197A56"/>
          </a:solidFill>
          <a:ln w="12700">
            <a:solidFill>
              <a:srgbClr val="197A56"/>
            </a:solidFill>
            <a:prstDash val="solid"/>
          </a:ln>
        </p:spPr>
      </p:sp>
      <p:sp>
        <p:nvSpPr>
          <p:cNvPr id="24" name="bg_lanet1"/>
          <p:cNvSpPr txBox="1"/>
          <p:nvPr/>
        </p:nvSpPr>
        <p:spPr>
          <a:xfrm>
            <a:off x="2484120" y="1517904"/>
            <a:ext cx="37642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 の事業</a:t>
            </a:r>
            <a:endParaRPr lang="en-US" sz="950" dirty="0"/>
          </a:p>
        </p:txBody>
      </p:sp>
      <p:sp>
        <p:nvSpPr>
          <p:cNvPr id="25" name="bg_lane2"/>
          <p:cNvSpPr/>
          <p:nvPr/>
        </p:nvSpPr>
        <p:spPr>
          <a:xfrm>
            <a:off x="6958584" y="1517904"/>
            <a:ext cx="1426464" cy="4315968"/>
          </a:xfrm>
          <a:prstGeom prst="rect">
            <a:avLst/>
          </a:prstGeom>
          <a:solidFill>
            <a:srgbClr val="F2F2F2"/>
          </a:solidFill>
          <a:ln w="12700">
            <a:solidFill>
              <a:srgbClr val="F2F2F2"/>
            </a:solidFill>
            <a:prstDash val="solid"/>
          </a:ln>
        </p:spPr>
      </p:sp>
      <p:sp>
        <p:nvSpPr>
          <p:cNvPr id="26" name="bg_laneh2"/>
          <p:cNvSpPr/>
          <p:nvPr/>
        </p:nvSpPr>
        <p:spPr>
          <a:xfrm>
            <a:off x="6958584" y="1517904"/>
            <a:ext cx="1426464" cy="274320"/>
          </a:xfrm>
          <a:prstGeom prst="rect">
            <a:avLst/>
          </a:prstGeom>
          <a:solidFill>
            <a:srgbClr val="D9D9D9"/>
          </a:solidFill>
          <a:ln w="12700">
            <a:solidFill>
              <a:srgbClr val="D9D9D9"/>
            </a:solidFill>
            <a:prstDash val="solid"/>
          </a:ln>
        </p:spPr>
      </p:sp>
      <p:sp>
        <p:nvSpPr>
          <p:cNvPr id="27" name="bg_lanet2"/>
          <p:cNvSpPr txBox="1"/>
          <p:nvPr/>
        </p:nvSpPr>
        <p:spPr>
          <a:xfrm>
            <a:off x="6958584" y="1517904"/>
            <a:ext cx="1426464"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提携先・資本の出し手</a:t>
            </a:r>
            <a:endParaRPr lang="en-US" sz="950" dirty="0"/>
          </a:p>
        </p:txBody>
      </p:sp>
      <p:sp>
        <p:nvSpPr>
          <p:cNvPr id="28" name="ovl_grp0"/>
          <p:cNvSpPr/>
          <p:nvPr/>
        </p:nvSpPr>
        <p:spPr>
          <a:xfrm>
            <a:off x="2529840" y="1911096"/>
            <a:ext cx="1371600" cy="2894076"/>
          </a:xfrm>
          <a:prstGeom prst="roundRect">
            <a:avLst>
              <a:gd name="adj" fmla="val 4000"/>
            </a:avLst>
          </a:prstGeom>
          <a:solidFill>
            <a:srgbClr val="FFFFFF">
              <a:alpha val="0"/>
            </a:srgbClr>
          </a:solidFill>
          <a:ln w="12700">
            <a:solidFill>
              <a:srgbClr val="197A56"/>
            </a:solidFill>
            <a:prstDash val="dash"/>
          </a:ln>
        </p:spPr>
      </p:sp>
      <p:sp>
        <p:nvSpPr>
          <p:cNvPr id="29" name="ovl_grp1"/>
          <p:cNvSpPr/>
          <p:nvPr/>
        </p:nvSpPr>
        <p:spPr>
          <a:xfrm>
            <a:off x="4703064" y="1911096"/>
            <a:ext cx="1499616" cy="3877056"/>
          </a:xfrm>
          <a:prstGeom prst="roundRect">
            <a:avLst>
              <a:gd name="adj" fmla="val 3659"/>
            </a:avLst>
          </a:prstGeom>
          <a:solidFill>
            <a:srgbClr val="FFFFFF">
              <a:alpha val="0"/>
            </a:srgbClr>
          </a:solidFill>
          <a:ln w="12700">
            <a:solidFill>
              <a:srgbClr val="197A56"/>
            </a:solidFill>
            <a:prstDash val="dash"/>
          </a:ln>
        </p:spPr>
      </p:sp>
      <p:sp>
        <p:nvSpPr>
          <p:cNvPr id="30" name="ovl_s08b_e0_0"/>
          <p:cNvSpPr/>
          <p:nvPr/>
        </p:nvSpPr>
        <p:spPr>
          <a:xfrm>
            <a:off x="1664208" y="2375154"/>
            <a:ext cx="929640" cy="914"/>
          </a:xfrm>
          <a:prstGeom prst="line">
            <a:avLst/>
          </a:prstGeom>
          <a:noFill/>
          <a:ln w="22225">
            <a:solidFill>
              <a:srgbClr val="0E4D33"/>
            </a:solidFill>
            <a:prstDash val="solid"/>
            <a:tailEnd type="triangle"/>
          </a:ln>
        </p:spPr>
      </p:sp>
      <p:sp>
        <p:nvSpPr>
          <p:cNvPr id="31" name="ovl_s08b_e1_0"/>
          <p:cNvSpPr/>
          <p:nvPr/>
        </p:nvSpPr>
        <p:spPr>
          <a:xfrm>
            <a:off x="1664208" y="3849624"/>
            <a:ext cx="929640" cy="914"/>
          </a:xfrm>
          <a:prstGeom prst="line">
            <a:avLst/>
          </a:prstGeom>
          <a:noFill/>
          <a:ln w="22225">
            <a:solidFill>
              <a:srgbClr val="0E4D33"/>
            </a:solidFill>
            <a:prstDash val="solid"/>
            <a:tailEnd type="triangle"/>
          </a:ln>
        </p:spPr>
      </p:sp>
      <p:sp>
        <p:nvSpPr>
          <p:cNvPr id="32" name="ovl_s08b_e2_0"/>
          <p:cNvSpPr/>
          <p:nvPr/>
        </p:nvSpPr>
        <p:spPr>
          <a:xfrm>
            <a:off x="3837432" y="2375154"/>
            <a:ext cx="929640" cy="914"/>
          </a:xfrm>
          <a:prstGeom prst="line">
            <a:avLst/>
          </a:prstGeom>
          <a:noFill/>
          <a:ln w="19050">
            <a:solidFill>
              <a:srgbClr val="1BA1A6"/>
            </a:solidFill>
            <a:prstDash val="solid"/>
            <a:tailEnd type="triangle"/>
          </a:ln>
        </p:spPr>
      </p:sp>
      <p:sp>
        <p:nvSpPr>
          <p:cNvPr id="33" name="ovl_s08b_e3_0"/>
          <p:cNvSpPr/>
          <p:nvPr/>
        </p:nvSpPr>
        <p:spPr>
          <a:xfrm>
            <a:off x="3837432" y="3248406"/>
            <a:ext cx="400812" cy="914"/>
          </a:xfrm>
          <a:prstGeom prst="line">
            <a:avLst/>
          </a:prstGeom>
          <a:noFill/>
          <a:ln w="19050">
            <a:solidFill>
              <a:srgbClr val="1BA1A6"/>
            </a:solidFill>
            <a:prstDash val="solid"/>
          </a:ln>
        </p:spPr>
      </p:sp>
      <p:sp>
        <p:nvSpPr>
          <p:cNvPr id="34" name="ovl_s08b_e3_1"/>
          <p:cNvSpPr/>
          <p:nvPr/>
        </p:nvSpPr>
        <p:spPr>
          <a:xfrm flipV="1">
            <a:off x="4238244" y="2484882"/>
            <a:ext cx="914" cy="763524"/>
          </a:xfrm>
          <a:prstGeom prst="line">
            <a:avLst/>
          </a:prstGeom>
          <a:noFill/>
          <a:ln w="19050">
            <a:solidFill>
              <a:srgbClr val="1BA1A6"/>
            </a:solidFill>
            <a:prstDash val="solid"/>
          </a:ln>
        </p:spPr>
      </p:sp>
      <p:sp>
        <p:nvSpPr>
          <p:cNvPr id="35" name="ovl_s08b_e3_2"/>
          <p:cNvSpPr/>
          <p:nvPr/>
        </p:nvSpPr>
        <p:spPr>
          <a:xfrm>
            <a:off x="4238244" y="2484882"/>
            <a:ext cx="528828" cy="914"/>
          </a:xfrm>
          <a:prstGeom prst="line">
            <a:avLst/>
          </a:prstGeom>
          <a:noFill/>
          <a:ln w="19050">
            <a:solidFill>
              <a:srgbClr val="1BA1A6"/>
            </a:solidFill>
            <a:prstDash val="solid"/>
            <a:tailEnd type="triangle"/>
          </a:ln>
        </p:spPr>
      </p:sp>
      <p:sp>
        <p:nvSpPr>
          <p:cNvPr id="36" name="ovl_s08b_e4_0"/>
          <p:cNvSpPr/>
          <p:nvPr/>
        </p:nvSpPr>
        <p:spPr>
          <a:xfrm>
            <a:off x="3837432" y="3358134"/>
            <a:ext cx="929640" cy="914"/>
          </a:xfrm>
          <a:prstGeom prst="line">
            <a:avLst/>
          </a:prstGeom>
          <a:noFill/>
          <a:ln w="19050">
            <a:solidFill>
              <a:srgbClr val="1BA1A6"/>
            </a:solidFill>
            <a:prstDash val="solid"/>
            <a:tailEnd type="triangle"/>
          </a:ln>
        </p:spPr>
      </p:sp>
      <p:sp>
        <p:nvSpPr>
          <p:cNvPr id="37" name="ovl_s08b_e5_0"/>
          <p:cNvSpPr/>
          <p:nvPr/>
        </p:nvSpPr>
        <p:spPr>
          <a:xfrm>
            <a:off x="6138672" y="3358134"/>
            <a:ext cx="400812" cy="914"/>
          </a:xfrm>
          <a:prstGeom prst="line">
            <a:avLst/>
          </a:prstGeom>
          <a:noFill/>
          <a:ln w="12700">
            <a:solidFill>
              <a:srgbClr val="767676"/>
            </a:solidFill>
            <a:prstDash val="sysDash"/>
          </a:ln>
        </p:spPr>
      </p:sp>
      <p:sp>
        <p:nvSpPr>
          <p:cNvPr id="38" name="ovl_s08b_e5_1"/>
          <p:cNvSpPr/>
          <p:nvPr/>
        </p:nvSpPr>
        <p:spPr>
          <a:xfrm flipV="1">
            <a:off x="6539484" y="2375154"/>
            <a:ext cx="914" cy="982980"/>
          </a:xfrm>
          <a:prstGeom prst="line">
            <a:avLst/>
          </a:prstGeom>
          <a:noFill/>
          <a:ln w="12700">
            <a:solidFill>
              <a:srgbClr val="767676"/>
            </a:solidFill>
            <a:prstDash val="sysDash"/>
          </a:ln>
        </p:spPr>
      </p:sp>
      <p:sp>
        <p:nvSpPr>
          <p:cNvPr id="39" name="ovl_s08b_e5_2"/>
          <p:cNvSpPr/>
          <p:nvPr/>
        </p:nvSpPr>
        <p:spPr>
          <a:xfrm>
            <a:off x="6539484" y="2375154"/>
            <a:ext cx="528828" cy="914"/>
          </a:xfrm>
          <a:prstGeom prst="line">
            <a:avLst/>
          </a:prstGeom>
          <a:noFill/>
          <a:ln w="12700">
            <a:solidFill>
              <a:srgbClr val="767676"/>
            </a:solidFill>
            <a:prstDash val="sysDash"/>
            <a:tailEnd type="triangle"/>
          </a:ln>
        </p:spPr>
      </p:sp>
      <p:sp>
        <p:nvSpPr>
          <p:cNvPr id="40" name="ovl_s08b_e6_0"/>
          <p:cNvSpPr/>
          <p:nvPr/>
        </p:nvSpPr>
        <p:spPr>
          <a:xfrm>
            <a:off x="3837432" y="4341114"/>
            <a:ext cx="929640" cy="914"/>
          </a:xfrm>
          <a:prstGeom prst="line">
            <a:avLst/>
          </a:prstGeom>
          <a:noFill/>
          <a:ln w="19050">
            <a:solidFill>
              <a:srgbClr val="1BA1A6"/>
            </a:solidFill>
            <a:prstDash val="solid"/>
            <a:tailEnd type="triangle"/>
          </a:ln>
        </p:spPr>
      </p:sp>
      <p:sp>
        <p:nvSpPr>
          <p:cNvPr id="41" name="ovl_s08b_e7_0"/>
          <p:cNvSpPr/>
          <p:nvPr/>
        </p:nvSpPr>
        <p:spPr>
          <a:xfrm>
            <a:off x="3837432" y="4450842"/>
            <a:ext cx="528828" cy="914"/>
          </a:xfrm>
          <a:prstGeom prst="line">
            <a:avLst/>
          </a:prstGeom>
          <a:noFill/>
          <a:ln w="22225">
            <a:solidFill>
              <a:srgbClr val="0E4D33"/>
            </a:solidFill>
            <a:prstDash val="solid"/>
          </a:ln>
        </p:spPr>
      </p:sp>
      <p:sp>
        <p:nvSpPr>
          <p:cNvPr id="42" name="ovl_s08b_e7_1"/>
          <p:cNvSpPr/>
          <p:nvPr/>
        </p:nvSpPr>
        <p:spPr>
          <a:xfrm>
            <a:off x="4366260" y="4450842"/>
            <a:ext cx="914" cy="681228"/>
          </a:xfrm>
          <a:prstGeom prst="line">
            <a:avLst/>
          </a:prstGeom>
          <a:noFill/>
          <a:ln w="22225">
            <a:solidFill>
              <a:srgbClr val="0E4D33"/>
            </a:solidFill>
            <a:prstDash val="solid"/>
          </a:ln>
        </p:spPr>
      </p:sp>
      <p:sp>
        <p:nvSpPr>
          <p:cNvPr id="43" name="ovl_s08b_e7_2"/>
          <p:cNvSpPr/>
          <p:nvPr/>
        </p:nvSpPr>
        <p:spPr>
          <a:xfrm>
            <a:off x="4366260" y="5132070"/>
            <a:ext cx="400812" cy="914"/>
          </a:xfrm>
          <a:prstGeom prst="line">
            <a:avLst/>
          </a:prstGeom>
          <a:noFill/>
          <a:ln w="22225">
            <a:solidFill>
              <a:srgbClr val="0E4D33"/>
            </a:solidFill>
            <a:prstDash val="solid"/>
            <a:tailEnd type="triangle"/>
          </a:ln>
        </p:spPr>
      </p:sp>
      <p:sp>
        <p:nvSpPr>
          <p:cNvPr id="44" name="ovl_s08b_e8_0"/>
          <p:cNvSpPr/>
          <p:nvPr/>
        </p:nvSpPr>
        <p:spPr>
          <a:xfrm>
            <a:off x="1664208" y="5241798"/>
            <a:ext cx="3102864" cy="914"/>
          </a:xfrm>
          <a:prstGeom prst="line">
            <a:avLst/>
          </a:prstGeom>
          <a:noFill/>
          <a:ln w="22225">
            <a:solidFill>
              <a:srgbClr val="0E4D33"/>
            </a:solidFill>
            <a:prstDash val="solid"/>
            <a:tailEnd type="triangle"/>
          </a:ln>
        </p:spPr>
      </p:sp>
      <p:sp>
        <p:nvSpPr>
          <p:cNvPr id="45" name="ovl_s08b_e9_0"/>
          <p:cNvSpPr/>
          <p:nvPr/>
        </p:nvSpPr>
        <p:spPr>
          <a:xfrm flipH="1">
            <a:off x="1664208" y="5406390"/>
            <a:ext cx="3102864" cy="914"/>
          </a:xfrm>
          <a:prstGeom prst="line">
            <a:avLst/>
          </a:prstGeom>
          <a:noFill/>
          <a:ln w="19050">
            <a:solidFill>
              <a:srgbClr val="1BA1A6"/>
            </a:solidFill>
            <a:prstDash val="solid"/>
            <a:tailEnd type="triangle"/>
          </a:ln>
        </p:spPr>
      </p:sp>
      <p:sp>
        <p:nvSpPr>
          <p:cNvPr id="46" name="ovl_s08b_e10_0"/>
          <p:cNvSpPr/>
          <p:nvPr/>
        </p:nvSpPr>
        <p:spPr>
          <a:xfrm flipH="1">
            <a:off x="6138672" y="5324094"/>
            <a:ext cx="929640" cy="914"/>
          </a:xfrm>
          <a:prstGeom prst="line">
            <a:avLst/>
          </a:prstGeom>
          <a:noFill/>
          <a:ln w="19050">
            <a:solidFill>
              <a:srgbClr val="1BA1A6"/>
            </a:solidFill>
            <a:prstDash val="solid"/>
            <a:tailEnd type="triangle"/>
          </a:ln>
        </p:spPr>
      </p:sp>
      <p:sp>
        <p:nvSpPr>
          <p:cNvPr id="47" name="ovl_s08b_e11_0"/>
          <p:cNvSpPr/>
          <p:nvPr/>
        </p:nvSpPr>
        <p:spPr>
          <a:xfrm flipH="1">
            <a:off x="6667500" y="4341114"/>
            <a:ext cx="400812" cy="914"/>
          </a:xfrm>
          <a:prstGeom prst="line">
            <a:avLst/>
          </a:prstGeom>
          <a:noFill/>
          <a:ln w="22225">
            <a:solidFill>
              <a:srgbClr val="0E4D33"/>
            </a:solidFill>
            <a:prstDash val="solid"/>
          </a:ln>
        </p:spPr>
      </p:sp>
      <p:sp>
        <p:nvSpPr>
          <p:cNvPr id="48" name="ovl_s08b_e11_1"/>
          <p:cNvSpPr/>
          <p:nvPr/>
        </p:nvSpPr>
        <p:spPr>
          <a:xfrm>
            <a:off x="6667500" y="4341114"/>
            <a:ext cx="914" cy="873252"/>
          </a:xfrm>
          <a:prstGeom prst="line">
            <a:avLst/>
          </a:prstGeom>
          <a:noFill/>
          <a:ln w="22225">
            <a:solidFill>
              <a:srgbClr val="0E4D33"/>
            </a:solidFill>
            <a:prstDash val="solid"/>
          </a:ln>
        </p:spPr>
      </p:sp>
      <p:sp>
        <p:nvSpPr>
          <p:cNvPr id="49" name="ovl_s08b_e11_2"/>
          <p:cNvSpPr/>
          <p:nvPr/>
        </p:nvSpPr>
        <p:spPr>
          <a:xfrm flipH="1">
            <a:off x="6138672" y="5214366"/>
            <a:ext cx="528828" cy="914"/>
          </a:xfrm>
          <a:prstGeom prst="line">
            <a:avLst/>
          </a:prstGeom>
          <a:noFill/>
          <a:ln w="22225">
            <a:solidFill>
              <a:srgbClr val="0E4D33"/>
            </a:solidFill>
            <a:prstDash val="solid"/>
            <a:tailEnd type="triangle"/>
          </a:ln>
        </p:spPr>
      </p:sp>
      <p:sp>
        <p:nvSpPr>
          <p:cNvPr id="50" name="ovl_s08b_n_apps"/>
          <p:cNvSpPr/>
          <p:nvPr/>
        </p:nvSpPr>
        <p:spPr>
          <a:xfrm>
            <a:off x="457200" y="2018538"/>
            <a:ext cx="1207008" cy="713232"/>
          </a:xfrm>
          <a:prstGeom prst="roundRect">
            <a:avLst>
              <a:gd name="adj" fmla="val 7692"/>
            </a:avLst>
          </a:prstGeom>
          <a:solidFill>
            <a:srgbClr val="FFFFFF"/>
          </a:solidFill>
          <a:ln w="9525">
            <a:solidFill>
              <a:srgbClr val="767676"/>
            </a:solidFill>
            <a:prstDash val="solid"/>
          </a:ln>
        </p:spPr>
      </p:sp>
      <p:sp>
        <p:nvSpPr>
          <p:cNvPr id="51" name="ovl_s08b_nt_apps"/>
          <p:cNvSpPr txBox="1"/>
          <p:nvPr/>
        </p:nvSpPr>
        <p:spPr>
          <a:xfrm>
            <a:off x="493776" y="2045970"/>
            <a:ext cx="1133856"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業務アプリの</a:t>
            </a:r>
            <a:endParaRPr lang="en-US" sz="900" dirty="0"/>
          </a:p>
          <a:p>
            <a:pPr algn="ctr" indent="0" marL="0">
              <a:buNone/>
            </a:pPr>
            <a:r>
              <a:rPr lang="en-US" sz="900" b="1" dirty="0">
                <a:solidFill>
                  <a:srgbClr val="0E4D33"/>
                </a:solidFill>
                <a:latin typeface="Meiryo UI" pitchFamily="34" charset="0"/>
                <a:ea typeface="Meiryo UI" pitchFamily="34" charset="-122"/>
                <a:cs typeface="Meiryo UI" pitchFamily="34" charset="-120"/>
              </a:rPr>
              <a:t>利用企業</a:t>
            </a:r>
            <a:endParaRPr lang="en-US" sz="900" dirty="0"/>
          </a:p>
        </p:txBody>
      </p:sp>
      <p:sp>
        <p:nvSpPr>
          <p:cNvPr id="52" name="ovl_s08b_ns_apps"/>
          <p:cNvSpPr txBox="1"/>
          <p:nvPr/>
        </p:nvSpPr>
        <p:spPr>
          <a:xfrm>
            <a:off x="502920" y="2402586"/>
            <a:ext cx="1115568" cy="3017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大企業・中堅</a:t>
            </a:r>
            <a:endParaRPr lang="en-US" sz="850" dirty="0"/>
          </a:p>
        </p:txBody>
      </p:sp>
      <p:sp>
        <p:nvSpPr>
          <p:cNvPr id="53" name="ovl_s08b_n_ent"/>
          <p:cNvSpPr/>
          <p:nvPr/>
        </p:nvSpPr>
        <p:spPr>
          <a:xfrm>
            <a:off x="457200" y="2967228"/>
            <a:ext cx="1207008" cy="1764792"/>
          </a:xfrm>
          <a:prstGeom prst="roundRect">
            <a:avLst>
              <a:gd name="adj" fmla="val 4545"/>
            </a:avLst>
          </a:prstGeom>
          <a:solidFill>
            <a:srgbClr val="FFFFFF"/>
          </a:solidFill>
          <a:ln w="9525">
            <a:solidFill>
              <a:srgbClr val="767676"/>
            </a:solidFill>
            <a:prstDash val="solid"/>
          </a:ln>
        </p:spPr>
      </p:sp>
      <p:sp>
        <p:nvSpPr>
          <p:cNvPr id="54" name="ovl_s08b_nt_ent"/>
          <p:cNvSpPr txBox="1"/>
          <p:nvPr/>
        </p:nvSpPr>
        <p:spPr>
          <a:xfrm>
            <a:off x="493776" y="2994660"/>
            <a:ext cx="1133856"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既存の DB 顧客</a:t>
            </a:r>
            <a:endParaRPr lang="en-US" sz="1000" dirty="0"/>
          </a:p>
        </p:txBody>
      </p:sp>
      <p:sp>
        <p:nvSpPr>
          <p:cNvPr id="55" name="ovl_s08b_ns_ent"/>
          <p:cNvSpPr txBox="1"/>
          <p:nvPr/>
        </p:nvSpPr>
        <p:spPr>
          <a:xfrm>
            <a:off x="502920" y="3200400"/>
            <a:ext cx="1115568" cy="150418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大企業・官公庁</a:t>
            </a:r>
            <a:endParaRPr lang="en-US" sz="850" dirty="0"/>
          </a:p>
          <a:p>
            <a:pPr algn="ctr" indent="0" marL="0">
              <a:buNone/>
            </a:pP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DB の切替に数年</a:t>
            </a:r>
            <a:endParaRPr lang="en-US" sz="850" dirty="0"/>
          </a:p>
          <a:p>
            <a:pPr algn="ctr" indent="0" marL="0">
              <a:buNone/>
            </a:pP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他社クラウドへ</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移った企業も含む</a:t>
            </a:r>
            <a:endParaRPr lang="en-US" sz="850" dirty="0"/>
          </a:p>
        </p:txBody>
      </p:sp>
      <p:sp>
        <p:nvSpPr>
          <p:cNvPr id="56" name="ovl_s08b_n_lab"/>
          <p:cNvSpPr/>
          <p:nvPr/>
        </p:nvSpPr>
        <p:spPr>
          <a:xfrm>
            <a:off x="457200" y="4967478"/>
            <a:ext cx="1207008" cy="713232"/>
          </a:xfrm>
          <a:prstGeom prst="roundRect">
            <a:avLst>
              <a:gd name="adj" fmla="val 7692"/>
            </a:avLst>
          </a:prstGeom>
          <a:solidFill>
            <a:srgbClr val="FFFFFF"/>
          </a:solidFill>
          <a:ln w="9525">
            <a:solidFill>
              <a:srgbClr val="767676"/>
            </a:solidFill>
            <a:prstDash val="solid"/>
          </a:ln>
        </p:spPr>
      </p:sp>
      <p:sp>
        <p:nvSpPr>
          <p:cNvPr id="57" name="ovl_s08b_nt_lab"/>
          <p:cNvSpPr txBox="1"/>
          <p:nvPr/>
        </p:nvSpPr>
        <p:spPr>
          <a:xfrm>
            <a:off x="493776" y="4994910"/>
            <a:ext cx="1133856"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研究所</a:t>
            </a:r>
            <a:endParaRPr lang="en-US" sz="1000" dirty="0"/>
          </a:p>
        </p:txBody>
      </p:sp>
      <p:sp>
        <p:nvSpPr>
          <p:cNvPr id="58" name="ovl_s08b_ns_lab"/>
          <p:cNvSpPr txBox="1"/>
          <p:nvPr/>
        </p:nvSpPr>
        <p:spPr>
          <a:xfrm>
            <a:off x="502920" y="5200650"/>
            <a:ext cx="1115568" cy="4526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OpenAI・Meta・xAI</a:t>
            </a:r>
            <a:endParaRPr lang="en-US" sz="850" dirty="0"/>
          </a:p>
        </p:txBody>
      </p:sp>
      <p:sp>
        <p:nvSpPr>
          <p:cNvPr id="59" name="ovl_s08b_n_saas"/>
          <p:cNvSpPr/>
          <p:nvPr/>
        </p:nvSpPr>
        <p:spPr>
          <a:xfrm>
            <a:off x="2593848" y="2018538"/>
            <a:ext cx="1243584" cy="713232"/>
          </a:xfrm>
          <a:prstGeom prst="roundRect">
            <a:avLst>
              <a:gd name="adj" fmla="val 7692"/>
            </a:avLst>
          </a:prstGeom>
          <a:solidFill>
            <a:srgbClr val="FFFFFF"/>
          </a:solidFill>
          <a:ln w="19050">
            <a:solidFill>
              <a:srgbClr val="197A56"/>
            </a:solidFill>
            <a:prstDash val="solid"/>
          </a:ln>
        </p:spPr>
      </p:sp>
      <p:sp>
        <p:nvSpPr>
          <p:cNvPr id="60" name="ovl_s08b_nt_saas"/>
          <p:cNvSpPr txBox="1"/>
          <p:nvPr/>
        </p:nvSpPr>
        <p:spPr>
          <a:xfrm>
            <a:off x="2630424" y="2045970"/>
            <a:ext cx="1170432"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SaaS</a:t>
            </a:r>
            <a:endParaRPr lang="en-US" sz="1000" dirty="0"/>
          </a:p>
        </p:txBody>
      </p:sp>
      <p:sp>
        <p:nvSpPr>
          <p:cNvPr id="61" name="ovl_s08b_ns_saas"/>
          <p:cNvSpPr txBox="1"/>
          <p:nvPr/>
        </p:nvSpPr>
        <p:spPr>
          <a:xfrm>
            <a:off x="2639568" y="2251710"/>
            <a:ext cx="1152144" cy="4526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Fusion・NetSuite</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42 億ドル(+10%)</a:t>
            </a:r>
            <a:endParaRPr lang="en-US" sz="850" dirty="0"/>
          </a:p>
        </p:txBody>
      </p:sp>
      <p:sp>
        <p:nvSpPr>
          <p:cNvPr id="62" name="ovl_s08b_n_db"/>
          <p:cNvSpPr/>
          <p:nvPr/>
        </p:nvSpPr>
        <p:spPr>
          <a:xfrm>
            <a:off x="2593848" y="2967228"/>
            <a:ext cx="1243584" cy="1764792"/>
          </a:xfrm>
          <a:prstGeom prst="roundRect">
            <a:avLst>
              <a:gd name="adj" fmla="val 4412"/>
            </a:avLst>
          </a:prstGeom>
          <a:solidFill>
            <a:srgbClr val="0E4D33"/>
          </a:solidFill>
          <a:ln w="9525">
            <a:solidFill>
              <a:srgbClr val="0E4D33"/>
            </a:solidFill>
            <a:prstDash val="solid"/>
          </a:ln>
        </p:spPr>
      </p:sp>
      <p:sp>
        <p:nvSpPr>
          <p:cNvPr id="63" name="ovl_s08b_nt_db"/>
          <p:cNvSpPr txBox="1"/>
          <p:nvPr/>
        </p:nvSpPr>
        <p:spPr>
          <a:xfrm>
            <a:off x="2630424" y="2994660"/>
            <a:ext cx="1170432" cy="356616"/>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DB ライセンス・保守</a:t>
            </a:r>
            <a:endParaRPr lang="en-US" sz="900" dirty="0"/>
          </a:p>
        </p:txBody>
      </p:sp>
      <p:sp>
        <p:nvSpPr>
          <p:cNvPr id="64" name="ovl_s08b_ns_db"/>
          <p:cNvSpPr txBox="1"/>
          <p:nvPr/>
        </p:nvSpPr>
        <p:spPr>
          <a:xfrm>
            <a:off x="2639568" y="3351276"/>
            <a:ext cx="1152144" cy="1353312"/>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Software 区分</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55.5 億ドル(−3%)</a:t>
            </a:r>
            <a:endParaRPr lang="en-US" sz="850" dirty="0"/>
          </a:p>
          <a:p>
            <a:pPr algn="ctr" indent="0" marL="0">
              <a:buNone/>
            </a:pP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保守はライセンスの</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年 22%</a:t>
            </a:r>
            <a:endParaRPr lang="en-US" sz="850" dirty="0"/>
          </a:p>
          <a:p>
            <a:pPr algn="ctr" indent="0" marL="0">
              <a:buNone/>
            </a:pP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営業利益の柱</a:t>
            </a:r>
            <a:endParaRPr lang="en-US" sz="850" dirty="0"/>
          </a:p>
        </p:txBody>
      </p:sp>
      <p:sp>
        <p:nvSpPr>
          <p:cNvPr id="65" name="ovl_s08b_n_oci"/>
          <p:cNvSpPr/>
          <p:nvPr/>
        </p:nvSpPr>
        <p:spPr>
          <a:xfrm>
            <a:off x="4767072" y="2018538"/>
            <a:ext cx="1371600" cy="713232"/>
          </a:xfrm>
          <a:prstGeom prst="roundRect">
            <a:avLst>
              <a:gd name="adj" fmla="val 7692"/>
            </a:avLst>
          </a:prstGeom>
          <a:solidFill>
            <a:srgbClr val="FFFFFF"/>
          </a:solidFill>
          <a:ln w="19050">
            <a:solidFill>
              <a:srgbClr val="197A56"/>
            </a:solidFill>
            <a:prstDash val="solid"/>
          </a:ln>
        </p:spPr>
      </p:sp>
      <p:sp>
        <p:nvSpPr>
          <p:cNvPr id="66" name="ovl_s08b_nt_oci"/>
          <p:cNvSpPr txBox="1"/>
          <p:nvPr/>
        </p:nvSpPr>
        <p:spPr>
          <a:xfrm>
            <a:off x="4803648" y="2045970"/>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OCI 一般・主権</a:t>
            </a:r>
            <a:endParaRPr lang="en-US" sz="1000" dirty="0"/>
          </a:p>
        </p:txBody>
      </p:sp>
      <p:sp>
        <p:nvSpPr>
          <p:cNvPr id="67" name="ovl_s08b_ns_oci"/>
          <p:cNvSpPr txBox="1"/>
          <p:nvPr/>
        </p:nvSpPr>
        <p:spPr>
          <a:xfrm>
            <a:off x="4812792" y="2251710"/>
            <a:ext cx="1280160" cy="4526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計算・保存の従量課金</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主権は最低 5 年</a:t>
            </a:r>
            <a:endParaRPr lang="en-US" sz="850" dirty="0"/>
          </a:p>
        </p:txBody>
      </p:sp>
      <p:sp>
        <p:nvSpPr>
          <p:cNvPr id="68" name="ovl_s08b_n_dbat"/>
          <p:cNvSpPr/>
          <p:nvPr/>
        </p:nvSpPr>
        <p:spPr>
          <a:xfrm>
            <a:off x="4767072" y="3001518"/>
            <a:ext cx="1371600" cy="713232"/>
          </a:xfrm>
          <a:prstGeom prst="roundRect">
            <a:avLst>
              <a:gd name="adj" fmla="val 7692"/>
            </a:avLst>
          </a:prstGeom>
          <a:solidFill>
            <a:srgbClr val="FFFFFF"/>
          </a:solidFill>
          <a:ln w="19050">
            <a:solidFill>
              <a:srgbClr val="197A56"/>
            </a:solidFill>
            <a:prstDash val="solid"/>
          </a:ln>
        </p:spPr>
      </p:sp>
      <p:sp>
        <p:nvSpPr>
          <p:cNvPr id="69" name="ovl_s08b_nt_dbat"/>
          <p:cNvSpPr txBox="1"/>
          <p:nvPr/>
        </p:nvSpPr>
        <p:spPr>
          <a:xfrm>
            <a:off x="4803648" y="3028950"/>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Database@</a:t>
            </a:r>
            <a:endParaRPr lang="en-US" sz="1000" dirty="0"/>
          </a:p>
        </p:txBody>
      </p:sp>
      <p:sp>
        <p:nvSpPr>
          <p:cNvPr id="70" name="ovl_s08b_ns_dbat"/>
          <p:cNvSpPr txBox="1"/>
          <p:nvPr/>
        </p:nvSpPr>
        <p:spPr>
          <a:xfrm>
            <a:off x="4812792" y="3234690"/>
            <a:ext cx="1280160" cy="4526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他社 DC 内で稼働</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売上 +353%</a:t>
            </a:r>
            <a:endParaRPr lang="en-US" sz="850" dirty="0"/>
          </a:p>
        </p:txBody>
      </p:sp>
      <p:sp>
        <p:nvSpPr>
          <p:cNvPr id="71" name="ovl_s08b_n_aidb"/>
          <p:cNvSpPr/>
          <p:nvPr/>
        </p:nvSpPr>
        <p:spPr>
          <a:xfrm>
            <a:off x="4767072" y="3984498"/>
            <a:ext cx="1371600" cy="713232"/>
          </a:xfrm>
          <a:prstGeom prst="roundRect">
            <a:avLst>
              <a:gd name="adj" fmla="val 7692"/>
            </a:avLst>
          </a:prstGeom>
          <a:solidFill>
            <a:srgbClr val="FFFFFF"/>
          </a:solidFill>
          <a:ln w="19050">
            <a:solidFill>
              <a:srgbClr val="197A56"/>
            </a:solidFill>
            <a:prstDash val="solid"/>
          </a:ln>
        </p:spPr>
      </p:sp>
      <p:sp>
        <p:nvSpPr>
          <p:cNvPr id="72" name="ovl_s08b_nt_aidb"/>
          <p:cNvSpPr txBox="1"/>
          <p:nvPr/>
        </p:nvSpPr>
        <p:spPr>
          <a:xfrm>
            <a:off x="4803648" y="4011930"/>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Database 26ai</a:t>
            </a:r>
            <a:endParaRPr lang="en-US" sz="1000" dirty="0"/>
          </a:p>
        </p:txBody>
      </p:sp>
      <p:sp>
        <p:nvSpPr>
          <p:cNvPr id="73" name="ovl_s08b_ns_aidb"/>
          <p:cNvSpPr txBox="1"/>
          <p:nvPr/>
        </p:nvSpPr>
        <p:spPr>
          <a:xfrm>
            <a:off x="4812792" y="4217670"/>
            <a:ext cx="1280160" cy="4526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自社データで AI 推論</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売上は非開示</a:t>
            </a:r>
            <a:endParaRPr lang="en-US" sz="850" dirty="0"/>
          </a:p>
        </p:txBody>
      </p:sp>
      <p:sp>
        <p:nvSpPr>
          <p:cNvPr id="74" name="ovl_s08b_n_aicap"/>
          <p:cNvSpPr/>
          <p:nvPr/>
        </p:nvSpPr>
        <p:spPr>
          <a:xfrm>
            <a:off x="4767072" y="4967478"/>
            <a:ext cx="1371600" cy="713232"/>
          </a:xfrm>
          <a:prstGeom prst="roundRect">
            <a:avLst>
              <a:gd name="adj" fmla="val 7692"/>
            </a:avLst>
          </a:prstGeom>
          <a:solidFill>
            <a:srgbClr val="197A56"/>
          </a:solidFill>
          <a:ln w="9525">
            <a:solidFill>
              <a:srgbClr val="197A56"/>
            </a:solidFill>
            <a:prstDash val="solid"/>
          </a:ln>
        </p:spPr>
      </p:sp>
      <p:sp>
        <p:nvSpPr>
          <p:cNvPr id="75" name="ovl_s08b_nt_aicap"/>
          <p:cNvSpPr txBox="1"/>
          <p:nvPr/>
        </p:nvSpPr>
        <p:spPr>
          <a:xfrm>
            <a:off x="4803648" y="4994910"/>
            <a:ext cx="1298448" cy="20574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AI 容量</a:t>
            </a:r>
            <a:endParaRPr lang="en-US" sz="1000" dirty="0"/>
          </a:p>
        </p:txBody>
      </p:sp>
      <p:sp>
        <p:nvSpPr>
          <p:cNvPr id="76" name="ovl_s08b_ns_aicap"/>
          <p:cNvSpPr txBox="1"/>
          <p:nvPr/>
        </p:nvSpPr>
        <p:spPr>
          <a:xfrm>
            <a:off x="4812792" y="5200650"/>
            <a:ext cx="1280160" cy="452628"/>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GPU 時間の貸出</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IaaS +121% の主因</a:t>
            </a:r>
            <a:endParaRPr lang="en-US" sz="850" dirty="0"/>
          </a:p>
        </p:txBody>
      </p:sp>
      <p:sp>
        <p:nvSpPr>
          <p:cNvPr id="77" name="ovl_s08b_n_hyper"/>
          <p:cNvSpPr/>
          <p:nvPr/>
        </p:nvSpPr>
        <p:spPr>
          <a:xfrm>
            <a:off x="7068312" y="2018538"/>
            <a:ext cx="1207008" cy="713232"/>
          </a:xfrm>
          <a:prstGeom prst="roundRect">
            <a:avLst>
              <a:gd name="adj" fmla="val 7692"/>
            </a:avLst>
          </a:prstGeom>
          <a:solidFill>
            <a:srgbClr val="FFFFFF"/>
          </a:solidFill>
          <a:ln w="9525">
            <a:solidFill>
              <a:srgbClr val="767676"/>
            </a:solidFill>
            <a:prstDash val="solid"/>
          </a:ln>
        </p:spPr>
      </p:sp>
      <p:sp>
        <p:nvSpPr>
          <p:cNvPr id="78" name="ovl_s08b_nt_hyper"/>
          <p:cNvSpPr txBox="1"/>
          <p:nvPr/>
        </p:nvSpPr>
        <p:spPr>
          <a:xfrm>
            <a:off x="7104888" y="2045970"/>
            <a:ext cx="1133856"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AWS・Azure・</a:t>
            </a:r>
            <a:endParaRPr lang="en-US" sz="900" dirty="0"/>
          </a:p>
          <a:p>
            <a:pPr algn="ctr" indent="0" marL="0">
              <a:buNone/>
            </a:pPr>
            <a:r>
              <a:rPr lang="en-US" sz="900" b="1" dirty="0">
                <a:solidFill>
                  <a:srgbClr val="0E4D33"/>
                </a:solidFill>
                <a:latin typeface="Meiryo UI" pitchFamily="34" charset="0"/>
                <a:ea typeface="Meiryo UI" pitchFamily="34" charset="-122"/>
                <a:cs typeface="Meiryo UI" pitchFamily="34" charset="-120"/>
              </a:rPr>
              <a:t>Google</a:t>
            </a:r>
            <a:endParaRPr lang="en-US" sz="900" dirty="0"/>
          </a:p>
        </p:txBody>
      </p:sp>
      <p:sp>
        <p:nvSpPr>
          <p:cNvPr id="79" name="ovl_s08b_ns_hyper"/>
          <p:cNvSpPr txBox="1"/>
          <p:nvPr/>
        </p:nvSpPr>
        <p:spPr>
          <a:xfrm>
            <a:off x="7114032" y="2402586"/>
            <a:ext cx="1115568" cy="3017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競合かつ提携先</a:t>
            </a:r>
            <a:endParaRPr lang="en-US" sz="850" dirty="0"/>
          </a:p>
        </p:txBody>
      </p:sp>
      <p:sp>
        <p:nvSpPr>
          <p:cNvPr id="80" name="ovl_s08b_n_inv"/>
          <p:cNvSpPr/>
          <p:nvPr/>
        </p:nvSpPr>
        <p:spPr>
          <a:xfrm>
            <a:off x="7068312" y="3984498"/>
            <a:ext cx="1207008" cy="713232"/>
          </a:xfrm>
          <a:prstGeom prst="roundRect">
            <a:avLst>
              <a:gd name="adj" fmla="val 7692"/>
            </a:avLst>
          </a:prstGeom>
          <a:solidFill>
            <a:srgbClr val="FFFFFF"/>
          </a:solidFill>
          <a:ln w="9525">
            <a:solidFill>
              <a:srgbClr val="767676"/>
            </a:solidFill>
            <a:prstDash val="solid"/>
          </a:ln>
        </p:spPr>
      </p:sp>
      <p:sp>
        <p:nvSpPr>
          <p:cNvPr id="81" name="ovl_s08b_nt_inv"/>
          <p:cNvSpPr txBox="1"/>
          <p:nvPr/>
        </p:nvSpPr>
        <p:spPr>
          <a:xfrm>
            <a:off x="7104888" y="4011930"/>
            <a:ext cx="1133856"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社債・株式の</a:t>
            </a:r>
            <a:endParaRPr lang="en-US" sz="900" dirty="0"/>
          </a:p>
          <a:p>
            <a:pPr algn="ctr" indent="0" marL="0">
              <a:buNone/>
            </a:pPr>
            <a:r>
              <a:rPr lang="en-US" sz="900" b="1" dirty="0">
                <a:solidFill>
                  <a:srgbClr val="0E4D33"/>
                </a:solidFill>
                <a:latin typeface="Meiryo UI" pitchFamily="34" charset="0"/>
                <a:ea typeface="Meiryo UI" pitchFamily="34" charset="-122"/>
                <a:cs typeface="Meiryo UI" pitchFamily="34" charset="-120"/>
              </a:rPr>
              <a:t>投資家</a:t>
            </a:r>
            <a:endParaRPr lang="en-US" sz="900" dirty="0"/>
          </a:p>
        </p:txBody>
      </p:sp>
      <p:sp>
        <p:nvSpPr>
          <p:cNvPr id="82" name="ovl_s08b_ns_inv"/>
          <p:cNvSpPr txBox="1"/>
          <p:nvPr/>
        </p:nvSpPr>
        <p:spPr>
          <a:xfrm>
            <a:off x="7114032" y="4368546"/>
            <a:ext cx="1115568" cy="3017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社債 430 億ドル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ATM 200 億ドル</a:t>
            </a:r>
            <a:endParaRPr lang="en-US" sz="850" dirty="0"/>
          </a:p>
        </p:txBody>
      </p:sp>
      <p:sp>
        <p:nvSpPr>
          <p:cNvPr id="83" name="ovl_s08b_n_dev"/>
          <p:cNvSpPr/>
          <p:nvPr/>
        </p:nvSpPr>
        <p:spPr>
          <a:xfrm>
            <a:off x="7068312" y="4967478"/>
            <a:ext cx="1207008" cy="713232"/>
          </a:xfrm>
          <a:prstGeom prst="roundRect">
            <a:avLst>
              <a:gd name="adj" fmla="val 7692"/>
            </a:avLst>
          </a:prstGeom>
          <a:solidFill>
            <a:srgbClr val="FFFFFF"/>
          </a:solidFill>
          <a:ln w="9525">
            <a:solidFill>
              <a:srgbClr val="767676"/>
            </a:solidFill>
            <a:prstDash val="solid"/>
          </a:ln>
        </p:spPr>
      </p:sp>
      <p:sp>
        <p:nvSpPr>
          <p:cNvPr id="84" name="ovl_s08b_nt_dev"/>
          <p:cNvSpPr txBox="1"/>
          <p:nvPr/>
        </p:nvSpPr>
        <p:spPr>
          <a:xfrm>
            <a:off x="7104888" y="4994910"/>
            <a:ext cx="1133856"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DC 開発事業者</a:t>
            </a:r>
            <a:endParaRPr lang="en-US" sz="1000" dirty="0"/>
          </a:p>
        </p:txBody>
      </p:sp>
      <p:sp>
        <p:nvSpPr>
          <p:cNvPr id="85" name="ovl_s08b_ns_dev"/>
          <p:cNvSpPr txBox="1"/>
          <p:nvPr/>
        </p:nvSpPr>
        <p:spPr>
          <a:xfrm>
            <a:off x="7114032" y="5200650"/>
            <a:ext cx="1115568" cy="4526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建屋と電力を用意</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15〜19 年で貸す</a:t>
            </a:r>
            <a:endParaRPr lang="en-US" sz="850" dirty="0"/>
          </a:p>
        </p:txBody>
      </p:sp>
      <p:sp>
        <p:nvSpPr>
          <p:cNvPr id="86" name="ovl_s08b_lab0"/>
          <p:cNvSpPr txBox="1"/>
          <p:nvPr/>
        </p:nvSpPr>
        <p:spPr>
          <a:xfrm>
            <a:off x="1899285" y="2141982"/>
            <a:ext cx="459486"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購読料</a:t>
            </a:r>
            <a:endParaRPr lang="en-US" sz="850" dirty="0"/>
          </a:p>
        </p:txBody>
      </p:sp>
      <p:sp>
        <p:nvSpPr>
          <p:cNvPr id="87" name="ovl_s08b_lab1"/>
          <p:cNvSpPr txBox="1"/>
          <p:nvPr/>
        </p:nvSpPr>
        <p:spPr>
          <a:xfrm>
            <a:off x="1823504" y="3616452"/>
            <a:ext cx="611048"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0E4D33"/>
                </a:solidFill>
                <a:latin typeface="Meiryo UI" pitchFamily="34" charset="0"/>
                <a:ea typeface="Meiryo UI" pitchFamily="34" charset="-122"/>
                <a:cs typeface="Meiryo UI" pitchFamily="34" charset="-120"/>
              </a:rPr>
              <a:t>① </a:t>
            </a:r>
            <a:r>
              <a:rPr lang="en-US" sz="850" dirty="0">
                <a:solidFill>
                  <a:srgbClr val="0E4D33"/>
                </a:solidFill>
                <a:latin typeface="Meiryo UI" pitchFamily="34" charset="0"/>
                <a:ea typeface="Meiryo UI" pitchFamily="34" charset="-122"/>
                <a:cs typeface="Meiryo UI" pitchFamily="34" charset="-120"/>
              </a:rPr>
              <a:t>保守料</a:t>
            </a:r>
            <a:endParaRPr lang="en-US" sz="850" dirty="0"/>
          </a:p>
        </p:txBody>
      </p:sp>
      <p:sp>
        <p:nvSpPr>
          <p:cNvPr id="88" name="ovl_s08b_lab2"/>
          <p:cNvSpPr txBox="1"/>
          <p:nvPr/>
        </p:nvSpPr>
        <p:spPr>
          <a:xfrm>
            <a:off x="3900545" y="2141982"/>
            <a:ext cx="803415"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1BA1A6"/>
                </a:solidFill>
                <a:latin typeface="Meiryo UI" pitchFamily="34" charset="0"/>
                <a:ea typeface="Meiryo UI" pitchFamily="34" charset="-122"/>
                <a:cs typeface="Meiryo UI" pitchFamily="34" charset="-120"/>
              </a:rPr>
              <a:t>OCI 上で稼働</a:t>
            </a:r>
            <a:endParaRPr lang="en-US" sz="850" dirty="0"/>
          </a:p>
        </p:txBody>
      </p:sp>
      <p:sp>
        <p:nvSpPr>
          <p:cNvPr id="89" name="ovl_s08b_num3"/>
          <p:cNvSpPr/>
          <p:nvPr/>
        </p:nvSpPr>
        <p:spPr>
          <a:xfrm>
            <a:off x="4119372" y="2747772"/>
            <a:ext cx="237744" cy="237744"/>
          </a:xfrm>
          <a:prstGeom prst="ellipse">
            <a:avLst/>
          </a:prstGeom>
          <a:solidFill>
            <a:srgbClr val="1BA1A6"/>
          </a:solidFill>
          <a:ln w="12700">
            <a:solidFill>
              <a:srgbClr val="FFFFFF"/>
            </a:solidFill>
            <a:prstDash val="solid"/>
          </a:ln>
        </p:spPr>
      </p:sp>
      <p:sp>
        <p:nvSpPr>
          <p:cNvPr id="90" name="ovl_s08b_numt3"/>
          <p:cNvSpPr txBox="1"/>
          <p:nvPr/>
        </p:nvSpPr>
        <p:spPr>
          <a:xfrm>
            <a:off x="4119372" y="274777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2</a:t>
            </a:r>
            <a:endParaRPr lang="en-US" sz="900" dirty="0"/>
          </a:p>
        </p:txBody>
      </p:sp>
      <p:sp>
        <p:nvSpPr>
          <p:cNvPr id="91" name="ovl_s08b_lab4"/>
          <p:cNvSpPr txBox="1"/>
          <p:nvPr/>
        </p:nvSpPr>
        <p:spPr>
          <a:xfrm>
            <a:off x="3874008" y="3385566"/>
            <a:ext cx="856488"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③ </a:t>
            </a:r>
            <a:r>
              <a:rPr lang="en-US" sz="850" dirty="0">
                <a:solidFill>
                  <a:srgbClr val="1BA1A6"/>
                </a:solidFill>
                <a:latin typeface="Meiryo UI" pitchFamily="34" charset="0"/>
                <a:ea typeface="Meiryo UI" pitchFamily="34" charset="-122"/>
                <a:cs typeface="Meiryo UI" pitchFamily="34" charset="-120"/>
              </a:rPr>
              <a:t>同じ DB を他社の DC へ</a:t>
            </a:r>
            <a:endParaRPr lang="en-US" sz="850" dirty="0"/>
          </a:p>
        </p:txBody>
      </p:sp>
      <p:sp>
        <p:nvSpPr>
          <p:cNvPr id="92" name="ovl_s08b_num5"/>
          <p:cNvSpPr/>
          <p:nvPr/>
        </p:nvSpPr>
        <p:spPr>
          <a:xfrm>
            <a:off x="6420612" y="2747772"/>
            <a:ext cx="237744" cy="237744"/>
          </a:xfrm>
          <a:prstGeom prst="ellipse">
            <a:avLst/>
          </a:prstGeom>
          <a:solidFill>
            <a:srgbClr val="767676"/>
          </a:solidFill>
          <a:ln w="12700">
            <a:solidFill>
              <a:srgbClr val="FFFFFF"/>
            </a:solidFill>
            <a:prstDash val="solid"/>
          </a:ln>
        </p:spPr>
      </p:sp>
      <p:sp>
        <p:nvSpPr>
          <p:cNvPr id="93" name="ovl_s08b_numt5"/>
          <p:cNvSpPr txBox="1"/>
          <p:nvPr/>
        </p:nvSpPr>
        <p:spPr>
          <a:xfrm>
            <a:off x="6420612" y="274777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3</a:t>
            </a:r>
            <a:endParaRPr lang="en-US" sz="900" dirty="0"/>
          </a:p>
        </p:txBody>
      </p:sp>
      <p:sp>
        <p:nvSpPr>
          <p:cNvPr id="94" name="ovl_s08b_lab6"/>
          <p:cNvSpPr txBox="1"/>
          <p:nvPr/>
        </p:nvSpPr>
        <p:spPr>
          <a:xfrm>
            <a:off x="3915118" y="4107942"/>
            <a:ext cx="774268"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④ </a:t>
            </a:r>
            <a:r>
              <a:rPr lang="en-US" sz="850" dirty="0">
                <a:solidFill>
                  <a:srgbClr val="1BA1A6"/>
                </a:solidFill>
                <a:latin typeface="Meiryo UI" pitchFamily="34" charset="0"/>
                <a:ea typeface="Meiryo UI" pitchFamily="34" charset="-122"/>
                <a:cs typeface="Meiryo UI" pitchFamily="34" charset="-120"/>
              </a:rPr>
              <a:t>AI を内蔵</a:t>
            </a:r>
            <a:endParaRPr lang="en-US" sz="850" dirty="0"/>
          </a:p>
        </p:txBody>
      </p:sp>
      <p:sp>
        <p:nvSpPr>
          <p:cNvPr id="95" name="ovl_s08b_num7"/>
          <p:cNvSpPr/>
          <p:nvPr/>
        </p:nvSpPr>
        <p:spPr>
          <a:xfrm>
            <a:off x="4247388" y="4672584"/>
            <a:ext cx="237744" cy="237744"/>
          </a:xfrm>
          <a:prstGeom prst="ellipse">
            <a:avLst/>
          </a:prstGeom>
          <a:solidFill>
            <a:srgbClr val="0E4D33"/>
          </a:solidFill>
          <a:ln w="12700">
            <a:solidFill>
              <a:srgbClr val="FFFFFF"/>
            </a:solidFill>
            <a:prstDash val="solid"/>
          </a:ln>
        </p:spPr>
      </p:sp>
      <p:sp>
        <p:nvSpPr>
          <p:cNvPr id="96" name="ovl_s08b_numt7"/>
          <p:cNvSpPr txBox="1"/>
          <p:nvPr/>
        </p:nvSpPr>
        <p:spPr>
          <a:xfrm>
            <a:off x="4247388" y="467258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5</a:t>
            </a:r>
            <a:endParaRPr lang="en-US" sz="900" dirty="0"/>
          </a:p>
        </p:txBody>
      </p:sp>
      <p:sp>
        <p:nvSpPr>
          <p:cNvPr id="97" name="ovl_s08b_lab8"/>
          <p:cNvSpPr txBox="1"/>
          <p:nvPr/>
        </p:nvSpPr>
        <p:spPr>
          <a:xfrm>
            <a:off x="2429199" y="5008626"/>
            <a:ext cx="1572882"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0E4D33"/>
                </a:solidFill>
                <a:latin typeface="Meiryo UI" pitchFamily="34" charset="0"/>
                <a:ea typeface="Meiryo UI" pitchFamily="34" charset="-122"/>
                <a:cs typeface="Meiryo UI" pitchFamily="34" charset="-120"/>
              </a:rPr>
              <a:t>⑥ </a:t>
            </a:r>
            <a:r>
              <a:rPr lang="en-US" sz="850" dirty="0">
                <a:solidFill>
                  <a:srgbClr val="0E4D33"/>
                </a:solidFill>
                <a:latin typeface="Meiryo UI" pitchFamily="34" charset="0"/>
                <a:ea typeface="Meiryo UI" pitchFamily="34" charset="-122"/>
                <a:cs typeface="Meiryo UI" pitchFamily="34" charset="-120"/>
              </a:rPr>
              <a:t>利用料と GPU 代の前払い</a:t>
            </a:r>
            <a:endParaRPr lang="en-US" sz="850" dirty="0"/>
          </a:p>
        </p:txBody>
      </p:sp>
      <p:sp>
        <p:nvSpPr>
          <p:cNvPr id="98" name="ovl_s08b_lab9"/>
          <p:cNvSpPr txBox="1"/>
          <p:nvPr/>
        </p:nvSpPr>
        <p:spPr>
          <a:xfrm>
            <a:off x="2755640" y="5433822"/>
            <a:ext cx="920001"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1BA1A6"/>
                </a:solidFill>
                <a:latin typeface="Meiryo UI" pitchFamily="34" charset="0"/>
                <a:ea typeface="Meiryo UI" pitchFamily="34" charset="-122"/>
                <a:cs typeface="Meiryo UI" pitchFamily="34" charset="-120"/>
              </a:rPr>
              <a:t>GPU の計算容量</a:t>
            </a:r>
            <a:endParaRPr lang="en-US" sz="850" dirty="0"/>
          </a:p>
        </p:txBody>
      </p:sp>
      <p:sp>
        <p:nvSpPr>
          <p:cNvPr id="99" name="ovl_s08b_lab10"/>
          <p:cNvSpPr txBox="1"/>
          <p:nvPr/>
        </p:nvSpPr>
        <p:spPr>
          <a:xfrm>
            <a:off x="6181382" y="5351526"/>
            <a:ext cx="844220"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⑦ </a:t>
            </a:r>
            <a:r>
              <a:rPr lang="en-US" sz="850" dirty="0">
                <a:solidFill>
                  <a:srgbClr val="1BA1A6"/>
                </a:solidFill>
                <a:latin typeface="Meiryo UI" pitchFamily="34" charset="0"/>
                <a:ea typeface="Meiryo UI" pitchFamily="34" charset="-122"/>
                <a:cs typeface="Meiryo UI" pitchFamily="34" charset="-120"/>
              </a:rPr>
              <a:t>建屋を賃貸</a:t>
            </a:r>
            <a:endParaRPr lang="en-US" sz="850" dirty="0"/>
          </a:p>
        </p:txBody>
      </p:sp>
      <p:sp>
        <p:nvSpPr>
          <p:cNvPr id="100" name="ovl_s08b_num11"/>
          <p:cNvSpPr/>
          <p:nvPr/>
        </p:nvSpPr>
        <p:spPr>
          <a:xfrm>
            <a:off x="6548628" y="4658868"/>
            <a:ext cx="237744" cy="237744"/>
          </a:xfrm>
          <a:prstGeom prst="ellipse">
            <a:avLst/>
          </a:prstGeom>
          <a:solidFill>
            <a:srgbClr val="0E4D33"/>
          </a:solidFill>
          <a:ln w="12700">
            <a:solidFill>
              <a:srgbClr val="FFFFFF"/>
            </a:solidFill>
            <a:prstDash val="solid"/>
          </a:ln>
        </p:spPr>
      </p:sp>
      <p:sp>
        <p:nvSpPr>
          <p:cNvPr id="101" name="ovl_s08b_numt11"/>
          <p:cNvSpPr txBox="1"/>
          <p:nvPr/>
        </p:nvSpPr>
        <p:spPr>
          <a:xfrm>
            <a:off x="6548628" y="465886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7</a:t>
            </a:r>
            <a:endParaRPr lang="en-US" sz="900" dirty="0"/>
          </a:p>
        </p:txBody>
      </p:sp>
      <p:sp>
        <p:nvSpPr>
          <p:cNvPr id="102" name="ovl_s08b_glab0"/>
          <p:cNvSpPr txBox="1"/>
          <p:nvPr/>
        </p:nvSpPr>
        <p:spPr>
          <a:xfrm>
            <a:off x="2621280" y="1828800"/>
            <a:ext cx="451104" cy="164592"/>
          </a:xfrm>
          <a:prstGeom prst="rect">
            <a:avLst/>
          </a:prstGeom>
          <a:solidFill>
            <a:srgbClr val="FFFFFF"/>
          </a:solidFill>
          <a:ln/>
        </p:spPr>
        <p:txBody>
          <a:bodyPr wrap="square" lIns="0" tIns="0" rIns="0" bIns="0" rtlCol="0" anchor="ctr"/>
          <a:lstStyle/>
          <a:p>
            <a:pPr algn="ctr" indent="0" marL="0">
              <a:buNone/>
            </a:pPr>
            <a:r>
              <a:rPr lang="en-US" sz="800" b="1" dirty="0">
                <a:solidFill>
                  <a:srgbClr val="197A56"/>
                </a:solidFill>
                <a:latin typeface="Meiryo UI" pitchFamily="34" charset="0"/>
                <a:ea typeface="Meiryo UI" pitchFamily="34" charset="-122"/>
                <a:cs typeface="Meiryo UI" pitchFamily="34" charset="-120"/>
              </a:rPr>
              <a:t>稼ぐ柱</a:t>
            </a:r>
            <a:endParaRPr lang="en-US" sz="800" dirty="0"/>
          </a:p>
        </p:txBody>
      </p:sp>
      <p:sp>
        <p:nvSpPr>
          <p:cNvPr id="103" name="ovl_s08b_glab1"/>
          <p:cNvSpPr txBox="1"/>
          <p:nvPr/>
        </p:nvSpPr>
        <p:spPr>
          <a:xfrm>
            <a:off x="4794504" y="1828800"/>
            <a:ext cx="552704" cy="164592"/>
          </a:xfrm>
          <a:prstGeom prst="rect">
            <a:avLst/>
          </a:prstGeom>
          <a:solidFill>
            <a:srgbClr val="FFFFFF"/>
          </a:solidFill>
          <a:ln/>
        </p:spPr>
        <p:txBody>
          <a:bodyPr wrap="square" lIns="0" tIns="0" rIns="0" bIns="0" rtlCol="0" anchor="ctr"/>
          <a:lstStyle/>
          <a:p>
            <a:pPr algn="ctr" indent="0" marL="0">
              <a:buNone/>
            </a:pPr>
            <a:r>
              <a:rPr lang="en-US" sz="800" b="1" dirty="0">
                <a:solidFill>
                  <a:srgbClr val="197A56"/>
                </a:solidFill>
                <a:latin typeface="Meiryo UI" pitchFamily="34" charset="0"/>
                <a:ea typeface="Meiryo UI" pitchFamily="34" charset="-122"/>
                <a:cs typeface="Meiryo UI" pitchFamily="34" charset="-120"/>
              </a:rPr>
              <a:t>伸びる柱</a:t>
            </a:r>
            <a:endParaRPr lang="en-US" sz="800" dirty="0"/>
          </a:p>
        </p:txBody>
      </p:sp>
      <p:sp>
        <p:nvSpPr>
          <p:cNvPr id="104" name="ovl_s08b_leg0"/>
          <p:cNvSpPr/>
          <p:nvPr/>
        </p:nvSpPr>
        <p:spPr>
          <a:xfrm>
            <a:off x="457200" y="5971032"/>
            <a:ext cx="365760" cy="914"/>
          </a:xfrm>
          <a:prstGeom prst="line">
            <a:avLst/>
          </a:prstGeom>
          <a:noFill/>
          <a:ln w="22225">
            <a:solidFill>
              <a:srgbClr val="0E4D33"/>
            </a:solidFill>
            <a:prstDash val="solid"/>
            <a:tailEnd type="triangle"/>
          </a:ln>
        </p:spPr>
      </p:sp>
      <p:sp>
        <p:nvSpPr>
          <p:cNvPr id="105" name="ovl_s08b_legt0"/>
          <p:cNvSpPr txBox="1"/>
          <p:nvPr/>
        </p:nvSpPr>
        <p:spPr>
          <a:xfrm>
            <a:off x="87782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カネ</a:t>
            </a:r>
            <a:endParaRPr lang="en-US" sz="800" dirty="0"/>
          </a:p>
        </p:txBody>
      </p:sp>
      <p:sp>
        <p:nvSpPr>
          <p:cNvPr id="106" name="ovl_s08b_leg1"/>
          <p:cNvSpPr/>
          <p:nvPr/>
        </p:nvSpPr>
        <p:spPr>
          <a:xfrm>
            <a:off x="1874520" y="5971032"/>
            <a:ext cx="365760" cy="914"/>
          </a:xfrm>
          <a:prstGeom prst="line">
            <a:avLst/>
          </a:prstGeom>
          <a:noFill/>
          <a:ln w="19050">
            <a:solidFill>
              <a:srgbClr val="1BA1A6"/>
            </a:solidFill>
            <a:prstDash val="solid"/>
            <a:tailEnd type="triangle"/>
          </a:ln>
        </p:spPr>
      </p:sp>
      <p:sp>
        <p:nvSpPr>
          <p:cNvPr id="107" name="ovl_s08b_legt1"/>
          <p:cNvSpPr txBox="1"/>
          <p:nvPr/>
        </p:nvSpPr>
        <p:spPr>
          <a:xfrm>
            <a:off x="229514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モノ・サービス</a:t>
            </a:r>
            <a:endParaRPr lang="en-US" sz="800" dirty="0"/>
          </a:p>
        </p:txBody>
      </p:sp>
      <p:sp>
        <p:nvSpPr>
          <p:cNvPr id="108" name="ovl_s08b_leg2"/>
          <p:cNvSpPr/>
          <p:nvPr/>
        </p:nvSpPr>
        <p:spPr>
          <a:xfrm>
            <a:off x="3291840" y="5971032"/>
            <a:ext cx="365760" cy="914"/>
          </a:xfrm>
          <a:prstGeom prst="line">
            <a:avLst/>
          </a:prstGeom>
          <a:noFill/>
          <a:ln w="12700">
            <a:solidFill>
              <a:srgbClr val="767676"/>
            </a:solidFill>
            <a:prstDash val="sysDash"/>
            <a:tailEnd type="triangle"/>
          </a:ln>
        </p:spPr>
      </p:sp>
      <p:sp>
        <p:nvSpPr>
          <p:cNvPr id="109" name="ovl_s08b_legt2"/>
          <p:cNvSpPr txBox="1"/>
          <p:nvPr/>
        </p:nvSpPr>
        <p:spPr>
          <a:xfrm>
            <a:off x="371246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契約・統治</a:t>
            </a:r>
            <a:endParaRPr lang="en-US" sz="800" dirty="0"/>
          </a:p>
        </p:txBody>
      </p:sp>
      <p:sp>
        <p:nvSpPr>
          <p:cNvPr id="110" name="ovl_s08b_legn"/>
          <p:cNvSpPr txBox="1"/>
          <p:nvPr/>
        </p:nvSpPr>
        <p:spPr>
          <a:xfrm>
            <a:off x="6126480" y="5870448"/>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111"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112" name="mech"/>
          <p:cNvSpPr txBox="1"/>
          <p:nvPr/>
        </p:nvSpPr>
        <p:spPr>
          <a:xfrm>
            <a:off x="8458200" y="1810512"/>
            <a:ext cx="3276295" cy="3077972"/>
          </a:xfrm>
          <a:prstGeom prst="rect">
            <a:avLst/>
          </a:prstGeom>
          <a:noFill/>
          <a:ln/>
        </p:spPr>
        <p:txBody>
          <a:bodyPr wrap="square" lIns="381" tIns="381" rIns="381" bIns="381" rtlCol="0" anchor="t"/>
          <a:lstStyle/>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① </a:t>
            </a:r>
            <a:r>
              <a:rPr lang="en-US" sz="1050" dirty="0">
                <a:solidFill>
                  <a:srgbClr val="333333"/>
                </a:solidFill>
                <a:latin typeface="Meiryo UI" pitchFamily="34" charset="0"/>
                <a:ea typeface="Meiryo UI" pitchFamily="34" charset="-122"/>
                <a:cs typeface="Meiryo UI" pitchFamily="34" charset="-120"/>
              </a:rPr>
              <a:t>既存顧客は保守料(ライセンスの年 22%)を払い続ける。切替に数年かかり、営業利益の柱になる</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② </a:t>
            </a:r>
            <a:r>
              <a:rPr lang="en-US" sz="1050" dirty="0">
                <a:solidFill>
                  <a:srgbClr val="333333"/>
                </a:solidFill>
                <a:latin typeface="Meiryo UI" pitchFamily="34" charset="0"/>
                <a:ea typeface="Meiryo UI" pitchFamily="34" charset="-122"/>
                <a:cs typeface="Meiryo UI" pitchFamily="34" charset="-120"/>
              </a:rPr>
              <a:t>OCI へ持ち込むと必要なライセンスは半分。さらに OCI の利用額の 25% 以上を保守料から値引き</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③ </a:t>
            </a:r>
            <a:r>
              <a:rPr lang="en-US" sz="1050" dirty="0">
                <a:solidFill>
                  <a:srgbClr val="333333"/>
                </a:solidFill>
                <a:latin typeface="Meiryo UI" pitchFamily="34" charset="0"/>
                <a:ea typeface="Meiryo UI" pitchFamily="34" charset="-122"/>
                <a:cs typeface="Meiryo UI" pitchFamily="34" charset="-120"/>
              </a:rPr>
              <a:t>同じ DB を AWS・Azure・Google の DC 内で提供。顧客は他社の契約枠で買え、売上は +353%</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④ </a:t>
            </a:r>
            <a:r>
              <a:rPr lang="en-US" sz="1050" dirty="0">
                <a:solidFill>
                  <a:srgbClr val="333333"/>
                </a:solidFill>
                <a:latin typeface="Meiryo UI" pitchFamily="34" charset="0"/>
                <a:ea typeface="Meiryo UI" pitchFamily="34" charset="-122"/>
                <a:cs typeface="Meiryo UI" pitchFamily="34" charset="-120"/>
              </a:rPr>
              <a:t>26ai は DB に AI 検索とエージェントを追加費用なしで内蔵し、自社データで AI を動かす需要を DB の中に取り込む</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⑤ </a:t>
            </a:r>
            <a:r>
              <a:rPr lang="en-US" sz="1050" dirty="0">
                <a:solidFill>
                  <a:srgbClr val="333333"/>
                </a:solidFill>
                <a:latin typeface="Meiryo UI" pitchFamily="34" charset="0"/>
                <a:ea typeface="Meiryo UI" pitchFamily="34" charset="-122"/>
                <a:cs typeface="Meiryo UI" pitchFamily="34" charset="-120"/>
              </a:rPr>
              <a:t>DB 保守と SaaS が生む税引後 約 230 億ドル/年が、AI 容量の建設の自己資金になる</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⑥ </a:t>
            </a:r>
            <a:r>
              <a:rPr lang="en-US" sz="1050" dirty="0">
                <a:solidFill>
                  <a:srgbClr val="333333"/>
                </a:solidFill>
                <a:latin typeface="Meiryo UI" pitchFamily="34" charset="0"/>
                <a:ea typeface="Meiryo UI" pitchFamily="34" charset="-122"/>
                <a:cs typeface="Meiryo UI" pitchFamily="34" charset="-120"/>
              </a:rPr>
              <a:t>AI 研究所は容量の買い手であり、GPU 代の前払いや GPU の持込(該当契約 750 億ドル)で建設資金も出す</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⑦ </a:t>
            </a:r>
            <a:r>
              <a:rPr lang="en-US" sz="1050" dirty="0">
                <a:solidFill>
                  <a:srgbClr val="333333"/>
                </a:solidFill>
                <a:latin typeface="Meiryo UI" pitchFamily="34" charset="0"/>
                <a:ea typeface="Meiryo UI" pitchFamily="34" charset="-122"/>
                <a:cs typeface="Meiryo UI" pitchFamily="34" charset="-120"/>
              </a:rPr>
              <a:t>建屋は開発事業者が建てて 15〜19 年で貸す。不足分は社債 430 億ドルと ATM 200 億ドルで賄う</a:t>
            </a:r>
            <a:endParaRPr lang="en-US" sz="1050" dirty="0"/>
          </a:p>
        </p:txBody>
      </p:sp>
      <p:sp>
        <p:nvSpPr>
          <p:cNvPr id="113" name="ovl_takeaway_bg"/>
          <p:cNvSpPr/>
          <p:nvPr/>
        </p:nvSpPr>
        <p:spPr>
          <a:xfrm>
            <a:off x="8458200" y="5084064"/>
            <a:ext cx="3276295" cy="1005840"/>
          </a:xfrm>
          <a:prstGeom prst="rect">
            <a:avLst/>
          </a:prstGeom>
          <a:solidFill>
            <a:srgbClr val="EAF4EE"/>
          </a:solidFill>
          <a:ln w="12700">
            <a:solidFill>
              <a:srgbClr val="EAF4EE"/>
            </a:solidFill>
            <a:prstDash val="solid"/>
          </a:ln>
        </p:spPr>
      </p:sp>
      <p:sp>
        <p:nvSpPr>
          <p:cNvPr id="114" name="takeaway"/>
          <p:cNvSpPr txBox="1"/>
          <p:nvPr/>
        </p:nvSpPr>
        <p:spPr>
          <a:xfrm>
            <a:off x="8567928" y="5157216"/>
            <a:ext cx="3056839" cy="859536"/>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DB の顧客と現金が成長事業の土台。AI 容量だけは外部の資金(前払い・リース・社債)に頼り、ここが最大の争点</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2-1 事業理解(3/3)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成長分野</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今後の価値を左右する分野を、規模・伸び・確度で比べ、注目すべき順に絞り込む</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注目度が最も高いのは AI 容量と Database@。AI 容量は規模で、</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Database@ は伸びと DB 利益の延命で価値を動かす</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成長分野の比較(注目度の高い順)。右: 1 株価値 × 伸びで見た位置。注目度 = 価値への効きが大きいか、伸びが速く結果がまだ決まっていない分野</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需給エンジン第4.3版(セグメント価値)、research2/R4_database_at.md、research4/T4_ai_demand.md(Gartner)、会社開示(Q1 FY27)、本資料 2-6</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10</a:t>
            </a:r>
            <a:endParaRPr lang="en-US" sz="800" dirty="0"/>
          </a:p>
        </p:txBody>
      </p:sp>
      <p:graphicFrame>
        <p:nvGraphicFramePr>
          <p:cNvPr id="11" name="tbl"/>
          <p:cNvGraphicFramePr>
            <a:graphicFrameLocks noGrp="1"/>
          </p:cNvGraphicFramePr>
          <p:nvPr>
            <p:extLst>
              <p:ext uri="{D42A27DB-BD31-4B8C-83A1-F6EECF244321}">
                <p14:modId xmlns:p14="http://schemas.microsoft.com/office/powerpoint/2010/main" val="1579011935"/>
              </p:ext>
            </p:extLst>
          </p:nvPr>
        </p:nvGraphicFramePr>
        <p:xfrm>
          <a:off x="457200" y="1481328"/>
          <a:ext cx="7498080" cy="914400"/>
        </p:xfrm>
        <a:graphic>
          <a:graphicData uri="http://schemas.openxmlformats.org/drawingml/2006/table">
            <a:tbl>
              <a:tblPr/>
              <a:tblGrid>
                <a:gridCol w="1234440"/>
                <a:gridCol w="1280160"/>
                <a:gridCol w="1234440"/>
                <a:gridCol w="1417320"/>
                <a:gridCol w="1600200"/>
                <a:gridCol w="731520"/>
              </a:tblGrid>
              <a:tr h="566928">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分野</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規模(Q1 FY27)</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伸び</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1 株価値への効き</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見るべき KPI</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注目度</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566928">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AI 容量</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IaaS 区分</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74 億ドルの大半</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IaaS +121%</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1 株 117 ドル</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(価値の 45%)</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納入 GW/四半期・AI</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粗利率・更新プレミアム</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97A5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Database@</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額は非開示</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+353%(4 期前は +1,529%)</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FY30 に +5.4 ドル。</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DB 保守 45 ドルの</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流出を防ぐ</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伸びの減速の速さ・顧客数(+180%)</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b="1" dirty="0">
                          <a:solidFill>
                            <a:srgbClr val="197A5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566928">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AI Database 26ai</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非開示</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非開示</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未計上(オプション)</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顧客数と課金の開示</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BA1A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ソブリンクラウド</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UAE 1GW・</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日本に 80 億ドル超</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市場 +35.6%</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(2026 年)</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AI 容量・OCI に含む</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国別の受注の開示</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1BA1A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566928">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SaaS</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(AI エージェント)</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42 億ドル</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+10%(14% への加速を想定)</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SaaS 全体で</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1 株 44 ドル</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繰延収益の伸び・</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移行した社数</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76767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0" name="ovl_takeaway_bg"/>
          <p:cNvSpPr/>
          <p:nvPr/>
        </p:nvSpPr>
        <p:spPr>
          <a:xfrm>
            <a:off x="457200" y="5074920"/>
            <a:ext cx="7498080" cy="731520"/>
          </a:xfrm>
          <a:prstGeom prst="rect">
            <a:avLst/>
          </a:prstGeom>
          <a:solidFill>
            <a:srgbClr val="EAF4EE"/>
          </a:solidFill>
          <a:ln w="12700">
            <a:solidFill>
              <a:srgbClr val="EAF4EE"/>
            </a:solidFill>
            <a:prstDash val="solid"/>
          </a:ln>
        </p:spPr>
      </p:sp>
      <p:sp>
        <p:nvSpPr>
          <p:cNvPr id="21" name="takeaway"/>
          <p:cNvSpPr txBox="1"/>
          <p:nvPr/>
        </p:nvSpPr>
        <p:spPr>
          <a:xfrm>
            <a:off x="566928" y="5148072"/>
            <a:ext cx="7278624" cy="58521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AI 容量は価値の大きさで、Database@ は DB の利益を他社クラウドへ広げて守る点で注目度が最も高い。</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AI Database は数字が出るまでオプションとして扱う</a:t>
            </a:r>
            <a:endParaRPr lang="en-US" sz="1100" dirty="0"/>
          </a:p>
        </p:txBody>
      </p:sp>
      <p:sp>
        <p:nvSpPr>
          <p:cNvPr id="22" name="pane_head"/>
          <p:cNvSpPr txBox="1"/>
          <p:nvPr/>
        </p:nvSpPr>
        <p:spPr>
          <a:xfrm>
            <a:off x="8183880" y="1481328"/>
            <a:ext cx="354787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1 株価値 × 伸びで見た位置</a:t>
            </a:r>
            <a:endParaRPr lang="en-US" sz="1200" dirty="0"/>
          </a:p>
        </p:txBody>
      </p:sp>
      <p:sp>
        <p:nvSpPr>
          <p:cNvPr id="23" name="mx_yt"/>
          <p:cNvSpPr txBox="1"/>
          <p:nvPr/>
        </p:nvSpPr>
        <p:spPr>
          <a:xfrm>
            <a:off x="8183880" y="1810512"/>
            <a:ext cx="1005840" cy="365760"/>
          </a:xfrm>
          <a:prstGeom prst="rect">
            <a:avLst/>
          </a:prstGeom>
          <a:noFill/>
          <a:ln/>
        </p:spPr>
        <p:txBody>
          <a:bodyPr wrap="square" lIns="0" tIns="0" rIns="0" bIns="0" rtlCol="0" anchor="b"/>
          <a:lstStyle/>
          <a:p>
            <a:pPr indent="0" marL="0">
              <a:buNone/>
            </a:pPr>
            <a:endParaRPr lang="en-US" sz="900" dirty="0"/>
          </a:p>
        </p:txBody>
      </p:sp>
      <p:sp>
        <p:nvSpPr>
          <p:cNvPr id="24" name="mx_x0"/>
          <p:cNvSpPr txBox="1"/>
          <p:nvPr/>
        </p:nvSpPr>
        <p:spPr>
          <a:xfrm>
            <a:off x="9189720" y="1810512"/>
            <a:ext cx="1271016" cy="36576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伸び 穏やか</a:t>
            </a:r>
            <a:endParaRPr lang="en-US" sz="950" dirty="0"/>
          </a:p>
        </p:txBody>
      </p:sp>
      <p:sp>
        <p:nvSpPr>
          <p:cNvPr id="25" name="mx_x1"/>
          <p:cNvSpPr txBox="1"/>
          <p:nvPr/>
        </p:nvSpPr>
        <p:spPr>
          <a:xfrm>
            <a:off x="10460736" y="1810512"/>
            <a:ext cx="1271016" cy="36576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伸び 速い</a:t>
            </a:r>
            <a:endParaRPr lang="en-US" sz="950" dirty="0"/>
          </a:p>
        </p:txBody>
      </p:sp>
      <p:sp>
        <p:nvSpPr>
          <p:cNvPr id="26" name="mx_y0"/>
          <p:cNvSpPr txBox="1"/>
          <p:nvPr/>
        </p:nvSpPr>
        <p:spPr>
          <a:xfrm>
            <a:off x="8183880" y="2176272"/>
            <a:ext cx="960120" cy="1325880"/>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1 株価値 大</a:t>
            </a:r>
            <a:endParaRPr lang="en-US" sz="950" dirty="0"/>
          </a:p>
        </p:txBody>
      </p:sp>
      <p:sp>
        <p:nvSpPr>
          <p:cNvPr id="27" name="ovl_mx0_0"/>
          <p:cNvSpPr/>
          <p:nvPr/>
        </p:nvSpPr>
        <p:spPr>
          <a:xfrm>
            <a:off x="9189720" y="2176272"/>
            <a:ext cx="1234440" cy="1289304"/>
          </a:xfrm>
          <a:prstGeom prst="rect">
            <a:avLst/>
          </a:prstGeom>
          <a:solidFill>
            <a:srgbClr val="FFFFFF"/>
          </a:solidFill>
          <a:ln w="9525">
            <a:solidFill>
              <a:srgbClr val="D9D9D9"/>
            </a:solidFill>
            <a:prstDash val="solid"/>
          </a:ln>
        </p:spPr>
      </p:sp>
      <p:sp>
        <p:nvSpPr>
          <p:cNvPr id="28" name="mx_t0_0"/>
          <p:cNvSpPr txBox="1"/>
          <p:nvPr/>
        </p:nvSpPr>
        <p:spPr>
          <a:xfrm>
            <a:off x="9235440" y="2203704"/>
            <a:ext cx="1143000" cy="123444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SaaS</a:t>
            </a:r>
            <a:endParaRPr lang="en-US" sz="950" dirty="0"/>
          </a:p>
          <a:p>
            <a:pPr algn="ctr" indent="0" marL="0">
              <a:buNone/>
            </a:pPr>
            <a:r>
              <a:rPr lang="en-US" sz="950" dirty="0">
                <a:solidFill>
                  <a:srgbClr val="333333"/>
                </a:solidFill>
                <a:latin typeface="Meiryo UI" pitchFamily="34" charset="0"/>
                <a:ea typeface="Meiryo UI" pitchFamily="34" charset="-122"/>
                <a:cs typeface="Meiryo UI" pitchFamily="34" charset="-120"/>
              </a:rPr>
              <a:t>DB 保守</a:t>
            </a:r>
            <a:endParaRPr lang="en-US" sz="950" dirty="0"/>
          </a:p>
        </p:txBody>
      </p:sp>
      <p:sp>
        <p:nvSpPr>
          <p:cNvPr id="29" name="ovl_mx1_0"/>
          <p:cNvSpPr/>
          <p:nvPr/>
        </p:nvSpPr>
        <p:spPr>
          <a:xfrm>
            <a:off x="10460736" y="2176272"/>
            <a:ext cx="1234440" cy="1289304"/>
          </a:xfrm>
          <a:prstGeom prst="rect">
            <a:avLst/>
          </a:prstGeom>
          <a:solidFill>
            <a:srgbClr val="197A56"/>
          </a:solidFill>
          <a:ln w="9525">
            <a:solidFill>
              <a:srgbClr val="D9D9D9"/>
            </a:solidFill>
            <a:prstDash val="solid"/>
          </a:ln>
        </p:spPr>
      </p:sp>
      <p:sp>
        <p:nvSpPr>
          <p:cNvPr id="30" name="mx_t1_0"/>
          <p:cNvSpPr txBox="1"/>
          <p:nvPr/>
        </p:nvSpPr>
        <p:spPr>
          <a:xfrm>
            <a:off x="10506456" y="2203704"/>
            <a:ext cx="1143000" cy="123444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AI 容量</a:t>
            </a:r>
            <a:endParaRPr lang="en-US" sz="950" dirty="0"/>
          </a:p>
        </p:txBody>
      </p:sp>
      <p:sp>
        <p:nvSpPr>
          <p:cNvPr id="31" name="mx_y1"/>
          <p:cNvSpPr txBox="1"/>
          <p:nvPr/>
        </p:nvSpPr>
        <p:spPr>
          <a:xfrm>
            <a:off x="8183880" y="3502152"/>
            <a:ext cx="960120" cy="1325880"/>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1 株価値 小</a:t>
            </a:r>
            <a:endParaRPr lang="en-US" sz="950" dirty="0"/>
          </a:p>
        </p:txBody>
      </p:sp>
      <p:sp>
        <p:nvSpPr>
          <p:cNvPr id="32" name="ovl_mx0_1"/>
          <p:cNvSpPr/>
          <p:nvPr/>
        </p:nvSpPr>
        <p:spPr>
          <a:xfrm>
            <a:off x="9189720" y="3502152"/>
            <a:ext cx="1234440" cy="1289304"/>
          </a:xfrm>
          <a:prstGeom prst="rect">
            <a:avLst/>
          </a:prstGeom>
          <a:solidFill>
            <a:srgbClr val="FFFFFF"/>
          </a:solidFill>
          <a:ln w="9525">
            <a:solidFill>
              <a:srgbClr val="D9D9D9"/>
            </a:solidFill>
            <a:prstDash val="solid"/>
          </a:ln>
        </p:spPr>
      </p:sp>
      <p:sp>
        <p:nvSpPr>
          <p:cNvPr id="33" name="mx_t0_1"/>
          <p:cNvSpPr txBox="1"/>
          <p:nvPr/>
        </p:nvSpPr>
        <p:spPr>
          <a:xfrm>
            <a:off x="9235440" y="3529584"/>
            <a:ext cx="1143000" cy="123444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a:t>
            </a:r>
            <a:endParaRPr lang="en-US" sz="950" dirty="0"/>
          </a:p>
        </p:txBody>
      </p:sp>
      <p:sp>
        <p:nvSpPr>
          <p:cNvPr id="34" name="ovl_mx1_1"/>
          <p:cNvSpPr/>
          <p:nvPr/>
        </p:nvSpPr>
        <p:spPr>
          <a:xfrm>
            <a:off x="10460736" y="3502152"/>
            <a:ext cx="1234440" cy="1289304"/>
          </a:xfrm>
          <a:prstGeom prst="rect">
            <a:avLst/>
          </a:prstGeom>
          <a:solidFill>
            <a:srgbClr val="FFFFFF"/>
          </a:solidFill>
          <a:ln w="9525">
            <a:solidFill>
              <a:srgbClr val="D9D9D9"/>
            </a:solidFill>
            <a:prstDash val="solid"/>
          </a:ln>
        </p:spPr>
      </p:sp>
      <p:sp>
        <p:nvSpPr>
          <p:cNvPr id="35" name="mx_t1_1"/>
          <p:cNvSpPr txBox="1"/>
          <p:nvPr/>
        </p:nvSpPr>
        <p:spPr>
          <a:xfrm>
            <a:off x="10506456" y="3529584"/>
            <a:ext cx="1143000" cy="123444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Database@</a:t>
            </a:r>
            <a:endParaRPr lang="en-US" sz="950" dirty="0"/>
          </a:p>
          <a:p>
            <a:pPr algn="ctr" indent="0" marL="0">
              <a:buNone/>
            </a:pPr>
            <a:r>
              <a:rPr lang="en-US" sz="950" dirty="0">
                <a:solidFill>
                  <a:srgbClr val="333333"/>
                </a:solidFill>
                <a:latin typeface="Meiryo UI" pitchFamily="34" charset="0"/>
                <a:ea typeface="Meiryo UI" pitchFamily="34" charset="-122"/>
                <a:cs typeface="Meiryo UI" pitchFamily="34" charset="-120"/>
              </a:rPr>
              <a:t>ソブリン</a:t>
            </a:r>
            <a:endParaRPr lang="en-US" sz="950" dirty="0"/>
          </a:p>
          <a:p>
            <a:pPr algn="ctr" indent="0" marL="0">
              <a:buNone/>
            </a:pPr>
            <a:r>
              <a:rPr lang="en-US" sz="950" dirty="0">
                <a:solidFill>
                  <a:srgbClr val="333333"/>
                </a:solidFill>
                <a:latin typeface="Meiryo UI" pitchFamily="34" charset="0"/>
                <a:ea typeface="Meiryo UI" pitchFamily="34" charset="-122"/>
                <a:cs typeface="Meiryo UI" pitchFamily="34" charset="-120"/>
              </a:rPr>
              <a:t>AI Database</a:t>
            </a:r>
            <a:endParaRPr lang="en-US" sz="950" dirty="0"/>
          </a:p>
        </p:txBody>
      </p:sp>
      <p:sp>
        <p:nvSpPr>
          <p:cNvPr id="36" name="mx_xt"/>
          <p:cNvSpPr txBox="1"/>
          <p:nvPr/>
        </p:nvSpPr>
        <p:spPr>
          <a:xfrm>
            <a:off x="9189720" y="4846320"/>
            <a:ext cx="2542032" cy="237744"/>
          </a:xfrm>
          <a:prstGeom prst="rect">
            <a:avLst/>
          </a:prstGeom>
          <a:noFill/>
          <a:ln/>
        </p:spPr>
        <p:txBody>
          <a:bodyPr wrap="square" lIns="0" tIns="0" rIns="0" bIns="0" rtlCol="0" anchor="t"/>
          <a:lstStyle/>
          <a:p>
            <a:pPr algn="ctr" indent="0" marL="0">
              <a:buNone/>
            </a:pPr>
            <a:r>
              <a:rPr lang="en-US" sz="900" dirty="0">
                <a:solidFill>
                  <a:srgbClr val="767676"/>
                </a:solidFill>
                <a:latin typeface="Meiryo UI" pitchFamily="34" charset="0"/>
                <a:ea typeface="Meiryo UI" pitchFamily="34" charset="-122"/>
                <a:cs typeface="Meiryo UI" pitchFamily="34" charset="-120"/>
              </a:rPr>
              <a:t>伸びは前年同期比</a:t>
            </a:r>
            <a:endParaRPr lang="en-US" sz="900" dirty="0"/>
          </a:p>
        </p:txBody>
      </p:sp>
      <p:sp>
        <p:nvSpPr>
          <p:cNvPr id="37" name="Text 34"/>
          <p:cNvSpPr txBox="1"/>
          <p:nvPr/>
        </p:nvSpPr>
        <p:spPr>
          <a:xfrm>
            <a:off x="8183880" y="5074920"/>
            <a:ext cx="3547872" cy="1005840"/>
          </a:xfrm>
          <a:prstGeom prst="rect">
            <a:avLst/>
          </a:prstGeom>
          <a:noFill/>
          <a:ln/>
        </p:spPr>
        <p:txBody>
          <a:bodyPr wrap="square" lIns="508" tIns="508" rIns="508" bIns="508" rtlCol="0" anchor="t"/>
          <a:lstStyle/>
          <a:p>
            <a:pPr indent="0" marL="0">
              <a:buNone/>
            </a:pPr>
            <a:r>
              <a:rPr lang="en-US" sz="850" dirty="0">
                <a:solidFill>
                  <a:srgbClr val="767676"/>
                </a:solidFill>
                <a:latin typeface="Meiryo UI" pitchFamily="34" charset="0"/>
                <a:ea typeface="Meiryo UI" pitchFamily="34" charset="-122"/>
                <a:cs typeface="Meiryo UI" pitchFamily="34" charset="-120"/>
              </a:rPr>
              <a:t>★★★ = 1 株価値への効きが大きいか、伸びが速く結果が未確定の分野。</a:t>
            </a:r>
            <a:endParaRPr lang="en-US" sz="850" dirty="0"/>
          </a:p>
          <a:p>
            <a:pPr indent="0" marL="0">
              <a:buNone/>
            </a:pPr>
            <a:r>
              <a:rPr lang="en-US" sz="850" dirty="0">
                <a:solidFill>
                  <a:srgbClr val="767676"/>
                </a:solidFill>
                <a:latin typeface="Meiryo UI" pitchFamily="34" charset="0"/>
                <a:ea typeface="Meiryo UI" pitchFamily="34" charset="-122"/>
                <a:cs typeface="Meiryo UI" pitchFamily="34" charset="-120"/>
              </a:rPr>
              <a:t>★ = 伸びが穏やかで前提の幅が小さい分野。</a:t>
            </a:r>
            <a:endParaRPr lang="en-US" sz="850" dirty="0"/>
          </a:p>
          <a:p>
            <a:pPr indent="0" marL="0">
              <a:buNone/>
            </a:pPr>
            <a:r>
              <a:rPr lang="en-US" sz="850" dirty="0">
                <a:solidFill>
                  <a:srgbClr val="767676"/>
                </a:solidFill>
                <a:latin typeface="Meiryo UI" pitchFamily="34" charset="0"/>
                <a:ea typeface="Meiryo UI" pitchFamily="34" charset="-122"/>
                <a:cs typeface="Meiryo UI" pitchFamily="34" charset="-120"/>
              </a:rPr>
              <a:t>右下の 3 つは「次の大きな柱」の候補</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2-2 会社のシナリオ(1/2)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652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652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会社のシナリオ</a:t>
            </a:r>
            <a:endParaRPr lang="en-US" sz="1000" dirty="0"/>
          </a:p>
        </p:txBody>
      </p:sp>
      <p:sp>
        <p:nvSpPr>
          <p:cNvPr id="14" name="hdr_why"/>
          <p:cNvSpPr txBox="1"/>
          <p:nvPr/>
        </p:nvSpPr>
        <p:spPr>
          <a:xfrm>
            <a:off x="2255774" y="356616"/>
            <a:ext cx="9478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会社が描く成長の筋書きを 1 枚の図にし、以降の検証の地図にする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会社の筋書きは「DB の利益と顧客の資金で AI 容量を建て、FY30 に</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売上 2,250 億ドル・EPS 21 ドル」。進み方を決めるのは電力と資本</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経営陣の発言と目標を、需要 → 資金 → 建設 → 収益化 → 成果の順に並べた。赤は筋書きの進み方を決める制約。下は稼働容量の道筋と節目</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report/ORCL_report.md §4-1・4-2(FAM 2025-10、Q4 FY26・Q1 FY27 決算説明会、DEF 14A)、需給エンジン第4.3版(容量の道筋)</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11</a:t>
            </a:r>
            <a:endParaRPr lang="en-US" sz="800" dirty="0"/>
          </a:p>
        </p:txBody>
      </p:sp>
      <p:sp>
        <p:nvSpPr>
          <p:cNvPr id="19" name="goal_0"/>
          <p:cNvSpPr/>
          <p:nvPr/>
        </p:nvSpPr>
        <p:spPr>
          <a:xfrm>
            <a:off x="457200" y="1517904"/>
            <a:ext cx="2697480" cy="713232"/>
          </a:xfrm>
          <a:prstGeom prst="rect">
            <a:avLst/>
          </a:prstGeom>
          <a:solidFill>
            <a:srgbClr val="EAF4EE"/>
          </a:solidFill>
          <a:ln w="9525">
            <a:solidFill>
              <a:srgbClr val="EAF4EE"/>
            </a:solidFill>
          </a:ln>
        </p:spPr>
        <p:txBody>
          <a:bodyPr wrap="square" lIns="508" tIns="508" rIns="508" bIns="508" rtlCol="0" anchor="ctr"/>
          <a:lstStyle/>
          <a:p>
            <a:pPr algn="ctr" indent="0" marL="0">
              <a:buNone/>
            </a:pPr>
            <a:r>
              <a:rPr lang="en-US" sz="1600" b="1" dirty="0">
                <a:solidFill>
                  <a:srgbClr val="197A56"/>
                </a:solidFill>
                <a:latin typeface="Meiryo UI" pitchFamily="34" charset="0"/>
                <a:ea typeface="Meiryo UI" pitchFamily="34" charset="-122"/>
                <a:cs typeface="Meiryo UI" pitchFamily="34" charset="-120"/>
              </a:rPr>
              <a:t>売上 2,250 億ドル</a:t>
            </a:r>
            <a:endParaRPr lang="en-US" sz="1600" dirty="0"/>
          </a:p>
          <a:p>
            <a:pPr algn="ctr" indent="0" marL="0">
              <a:buNone/>
            </a:pPr>
            <a:r>
              <a:rPr lang="en-US" sz="850" dirty="0">
                <a:solidFill>
                  <a:srgbClr val="767676"/>
                </a:solidFill>
                <a:latin typeface="Meiryo UI" pitchFamily="34" charset="0"/>
                <a:ea typeface="Meiryo UI" pitchFamily="34" charset="-122"/>
                <a:cs typeface="Meiryo UI" pitchFamily="34" charset="-120"/>
              </a:rPr>
              <a:t>FY30 目標・5 年 CAGR 31%</a:t>
            </a:r>
            <a:endParaRPr lang="en-US" sz="1600" dirty="0"/>
          </a:p>
        </p:txBody>
      </p:sp>
      <p:sp>
        <p:nvSpPr>
          <p:cNvPr id="20" name="goal_1"/>
          <p:cNvSpPr/>
          <p:nvPr/>
        </p:nvSpPr>
        <p:spPr>
          <a:xfrm>
            <a:off x="3319272" y="1517904"/>
            <a:ext cx="2697480" cy="713232"/>
          </a:xfrm>
          <a:prstGeom prst="rect">
            <a:avLst/>
          </a:prstGeom>
          <a:solidFill>
            <a:srgbClr val="EAF4EE"/>
          </a:solidFill>
          <a:ln w="9525">
            <a:solidFill>
              <a:srgbClr val="EAF4EE"/>
            </a:solidFill>
          </a:ln>
        </p:spPr>
        <p:txBody>
          <a:bodyPr wrap="square" lIns="508" tIns="508" rIns="508" bIns="508" rtlCol="0" anchor="ctr"/>
          <a:lstStyle/>
          <a:p>
            <a:pPr algn="ctr" indent="0" marL="0">
              <a:buNone/>
            </a:pPr>
            <a:r>
              <a:rPr lang="en-US" sz="1600" b="1" dirty="0">
                <a:solidFill>
                  <a:srgbClr val="197A56"/>
                </a:solidFill>
                <a:latin typeface="Meiryo UI" pitchFamily="34" charset="0"/>
                <a:ea typeface="Meiryo UI" pitchFamily="34" charset="-122"/>
                <a:cs typeface="Meiryo UI" pitchFamily="34" charset="-120"/>
              </a:rPr>
              <a:t>OCI 1,660 億ドル</a:t>
            </a:r>
            <a:endParaRPr lang="en-US" sz="1600" dirty="0"/>
          </a:p>
          <a:p>
            <a:pPr algn="ctr" indent="0" marL="0">
              <a:buNone/>
            </a:pPr>
            <a:r>
              <a:rPr lang="en-US" sz="850" dirty="0">
                <a:solidFill>
                  <a:srgbClr val="767676"/>
                </a:solidFill>
                <a:latin typeface="Meiryo UI" pitchFamily="34" charset="0"/>
                <a:ea typeface="Meiryo UI" pitchFamily="34" charset="-122"/>
                <a:cs typeface="Meiryo UI" pitchFamily="34" charset="-120"/>
              </a:rPr>
              <a:t>売上に占める比率 38% → 74%</a:t>
            </a:r>
            <a:endParaRPr lang="en-US" sz="1600" dirty="0"/>
          </a:p>
        </p:txBody>
      </p:sp>
      <p:sp>
        <p:nvSpPr>
          <p:cNvPr id="21" name="goal_2"/>
          <p:cNvSpPr/>
          <p:nvPr/>
        </p:nvSpPr>
        <p:spPr>
          <a:xfrm>
            <a:off x="6181344" y="1517904"/>
            <a:ext cx="2697480" cy="713232"/>
          </a:xfrm>
          <a:prstGeom prst="rect">
            <a:avLst/>
          </a:prstGeom>
          <a:solidFill>
            <a:srgbClr val="EAF4EE"/>
          </a:solidFill>
          <a:ln w="9525">
            <a:solidFill>
              <a:srgbClr val="EAF4EE"/>
            </a:solidFill>
          </a:ln>
        </p:spPr>
        <p:txBody>
          <a:bodyPr wrap="square" lIns="508" tIns="508" rIns="508" bIns="508" rtlCol="0" anchor="ctr"/>
          <a:lstStyle/>
          <a:p>
            <a:pPr algn="ctr" indent="0" marL="0">
              <a:buNone/>
            </a:pPr>
            <a:r>
              <a:rPr lang="en-US" sz="1600" b="1" dirty="0">
                <a:solidFill>
                  <a:srgbClr val="197A56"/>
                </a:solidFill>
                <a:latin typeface="Meiryo UI" pitchFamily="34" charset="0"/>
                <a:ea typeface="Meiryo UI" pitchFamily="34" charset="-122"/>
                <a:cs typeface="Meiryo UI" pitchFamily="34" charset="-120"/>
              </a:rPr>
              <a:t>EPS 21 ドル</a:t>
            </a:r>
            <a:endParaRPr lang="en-US" sz="1600" dirty="0"/>
          </a:p>
          <a:p>
            <a:pPr algn="ctr" indent="0" marL="0">
              <a:buNone/>
            </a:pPr>
            <a:r>
              <a:rPr lang="en-US" sz="850" dirty="0">
                <a:solidFill>
                  <a:srgbClr val="767676"/>
                </a:solidFill>
                <a:latin typeface="Meiryo UI" pitchFamily="34" charset="0"/>
                <a:ea typeface="Meiryo UI" pitchFamily="34" charset="-122"/>
                <a:cs typeface="Meiryo UI" pitchFamily="34" charset="-120"/>
              </a:rPr>
              <a:t>非GAAP・5 年 CAGR 28%</a:t>
            </a:r>
            <a:endParaRPr lang="en-US" sz="1600" dirty="0"/>
          </a:p>
        </p:txBody>
      </p:sp>
      <p:sp>
        <p:nvSpPr>
          <p:cNvPr id="22" name="goal_3"/>
          <p:cNvSpPr/>
          <p:nvPr/>
        </p:nvSpPr>
        <p:spPr>
          <a:xfrm>
            <a:off x="9043416" y="1517904"/>
            <a:ext cx="2697480" cy="713232"/>
          </a:xfrm>
          <a:prstGeom prst="rect">
            <a:avLst/>
          </a:prstGeom>
          <a:solidFill>
            <a:srgbClr val="EAF4EE"/>
          </a:solidFill>
          <a:ln w="9525">
            <a:solidFill>
              <a:srgbClr val="EAF4EE"/>
            </a:solidFill>
          </a:ln>
        </p:spPr>
        <p:txBody>
          <a:bodyPr wrap="square" lIns="508" tIns="508" rIns="508" bIns="508" rtlCol="0" anchor="ctr"/>
          <a:lstStyle/>
          <a:p>
            <a:pPr algn="ctr" indent="0" marL="0">
              <a:buNone/>
            </a:pPr>
            <a:r>
              <a:rPr lang="en-US" sz="1600" b="1" dirty="0">
                <a:solidFill>
                  <a:srgbClr val="197A56"/>
                </a:solidFill>
                <a:latin typeface="Meiryo UI" pitchFamily="34" charset="0"/>
                <a:ea typeface="Meiryo UI" pitchFamily="34" charset="-122"/>
                <a:cs typeface="Meiryo UI" pitchFamily="34" charset="-120"/>
              </a:rPr>
              <a:t>AI 容量の粗利 30〜40%</a:t>
            </a:r>
            <a:endParaRPr lang="en-US" sz="1600" dirty="0"/>
          </a:p>
          <a:p>
            <a:pPr algn="ctr" indent="0" marL="0">
              <a:buNone/>
            </a:pPr>
            <a:r>
              <a:rPr lang="en-US" sz="850" dirty="0">
                <a:solidFill>
                  <a:srgbClr val="767676"/>
                </a:solidFill>
                <a:latin typeface="Meiryo UI" pitchFamily="34" charset="0"/>
                <a:ea typeface="Meiryo UI" pitchFamily="34" charset="-122"/>
                <a:cs typeface="Meiryo UI" pitchFamily="34" charset="-120"/>
              </a:rPr>
              <a:t>立ち上がり後(会社の言葉)</a:t>
            </a:r>
            <a:endParaRPr lang="en-US" sz="1600" dirty="0"/>
          </a:p>
        </p:txBody>
      </p:sp>
      <p:sp>
        <p:nvSpPr>
          <p:cNvPr id="23" name="ovl_s08d_e0_0"/>
          <p:cNvSpPr/>
          <p:nvPr/>
        </p:nvSpPr>
        <p:spPr>
          <a:xfrm>
            <a:off x="2148840" y="3006090"/>
            <a:ext cx="704088" cy="914"/>
          </a:xfrm>
          <a:prstGeom prst="line">
            <a:avLst/>
          </a:prstGeom>
          <a:noFill/>
          <a:ln w="22225">
            <a:solidFill>
              <a:srgbClr val="0E4D33"/>
            </a:solidFill>
            <a:prstDash val="solid"/>
            <a:tailEnd type="triangle"/>
          </a:ln>
        </p:spPr>
      </p:sp>
      <p:sp>
        <p:nvSpPr>
          <p:cNvPr id="24" name="ovl_s08d_e1_0"/>
          <p:cNvSpPr/>
          <p:nvPr/>
        </p:nvSpPr>
        <p:spPr>
          <a:xfrm>
            <a:off x="4544568" y="3006090"/>
            <a:ext cx="704088" cy="914"/>
          </a:xfrm>
          <a:prstGeom prst="line">
            <a:avLst/>
          </a:prstGeom>
          <a:noFill/>
          <a:ln w="22225">
            <a:solidFill>
              <a:srgbClr val="0E4D33"/>
            </a:solidFill>
            <a:prstDash val="solid"/>
            <a:tailEnd type="triangle"/>
          </a:ln>
        </p:spPr>
      </p:sp>
      <p:sp>
        <p:nvSpPr>
          <p:cNvPr id="25" name="ovl_s08d_e2_0"/>
          <p:cNvSpPr/>
          <p:nvPr/>
        </p:nvSpPr>
        <p:spPr>
          <a:xfrm>
            <a:off x="6940296" y="2923794"/>
            <a:ext cx="704088" cy="914"/>
          </a:xfrm>
          <a:prstGeom prst="line">
            <a:avLst/>
          </a:prstGeom>
          <a:noFill/>
          <a:ln w="19050">
            <a:solidFill>
              <a:srgbClr val="1BA1A6"/>
            </a:solidFill>
            <a:prstDash val="solid"/>
            <a:tailEnd type="triangle"/>
          </a:ln>
        </p:spPr>
      </p:sp>
      <p:sp>
        <p:nvSpPr>
          <p:cNvPr id="26" name="ovl_s08d_e3_0"/>
          <p:cNvSpPr/>
          <p:nvPr/>
        </p:nvSpPr>
        <p:spPr>
          <a:xfrm>
            <a:off x="9336024" y="3006090"/>
            <a:ext cx="704088" cy="914"/>
          </a:xfrm>
          <a:prstGeom prst="line">
            <a:avLst/>
          </a:prstGeom>
          <a:noFill/>
          <a:ln w="22225">
            <a:solidFill>
              <a:srgbClr val="0E4D33"/>
            </a:solidFill>
            <a:prstDash val="solid"/>
            <a:tailEnd type="triangle"/>
          </a:ln>
        </p:spPr>
      </p:sp>
      <p:sp>
        <p:nvSpPr>
          <p:cNvPr id="27" name="ovl_s08d_e4_0"/>
          <p:cNvSpPr/>
          <p:nvPr/>
        </p:nvSpPr>
        <p:spPr>
          <a:xfrm flipH="1">
            <a:off x="6940296" y="3088386"/>
            <a:ext cx="704088" cy="914"/>
          </a:xfrm>
          <a:prstGeom prst="line">
            <a:avLst/>
          </a:prstGeom>
          <a:noFill/>
          <a:ln w="22225">
            <a:solidFill>
              <a:srgbClr val="0E4D33"/>
            </a:solidFill>
            <a:prstDash val="solid"/>
            <a:tailEnd type="triangle"/>
          </a:ln>
        </p:spPr>
      </p:sp>
      <p:sp>
        <p:nvSpPr>
          <p:cNvPr id="28" name="ovl_s08d_e5_0"/>
          <p:cNvSpPr/>
          <p:nvPr/>
        </p:nvSpPr>
        <p:spPr>
          <a:xfrm flipV="1">
            <a:off x="10885932" y="3380994"/>
            <a:ext cx="914" cy="324612"/>
          </a:xfrm>
          <a:prstGeom prst="line">
            <a:avLst/>
          </a:prstGeom>
          <a:noFill/>
          <a:ln w="19050">
            <a:solidFill>
              <a:srgbClr val="1BA1A6"/>
            </a:solidFill>
            <a:prstDash val="solid"/>
            <a:tailEnd type="triangle"/>
          </a:ln>
        </p:spPr>
      </p:sp>
      <p:sp>
        <p:nvSpPr>
          <p:cNvPr id="29" name="ovl_s08d_e6_0"/>
          <p:cNvSpPr/>
          <p:nvPr/>
        </p:nvSpPr>
        <p:spPr>
          <a:xfrm flipV="1">
            <a:off x="3698748" y="3380994"/>
            <a:ext cx="914" cy="324612"/>
          </a:xfrm>
          <a:prstGeom prst="line">
            <a:avLst/>
          </a:prstGeom>
          <a:noFill/>
          <a:ln w="15875">
            <a:solidFill>
              <a:srgbClr val="C0392B"/>
            </a:solidFill>
            <a:prstDash val="dash"/>
            <a:tailEnd type="triangle"/>
          </a:ln>
        </p:spPr>
      </p:sp>
      <p:sp>
        <p:nvSpPr>
          <p:cNvPr id="30" name="ovl_s08d_e7_0"/>
          <p:cNvSpPr/>
          <p:nvPr/>
        </p:nvSpPr>
        <p:spPr>
          <a:xfrm flipV="1">
            <a:off x="6094476" y="3380994"/>
            <a:ext cx="914" cy="324612"/>
          </a:xfrm>
          <a:prstGeom prst="line">
            <a:avLst/>
          </a:prstGeom>
          <a:noFill/>
          <a:ln w="15875">
            <a:solidFill>
              <a:srgbClr val="C0392B"/>
            </a:solidFill>
            <a:prstDash val="dash"/>
            <a:tailEnd type="triangle"/>
          </a:ln>
        </p:spPr>
      </p:sp>
      <p:sp>
        <p:nvSpPr>
          <p:cNvPr id="31" name="ovl_s08d_e8_0"/>
          <p:cNvSpPr/>
          <p:nvPr/>
        </p:nvSpPr>
        <p:spPr>
          <a:xfrm flipV="1">
            <a:off x="8490204" y="3380994"/>
            <a:ext cx="914" cy="324612"/>
          </a:xfrm>
          <a:prstGeom prst="line">
            <a:avLst/>
          </a:prstGeom>
          <a:noFill/>
          <a:ln w="15875">
            <a:solidFill>
              <a:srgbClr val="C0392B"/>
            </a:solidFill>
            <a:prstDash val="dash"/>
            <a:tailEnd type="triangle"/>
          </a:ln>
        </p:spPr>
      </p:sp>
      <p:sp>
        <p:nvSpPr>
          <p:cNvPr id="32" name="ovl_s08d_n_dem"/>
          <p:cNvSpPr/>
          <p:nvPr/>
        </p:nvSpPr>
        <p:spPr>
          <a:xfrm>
            <a:off x="457200" y="2631186"/>
            <a:ext cx="1691640" cy="749808"/>
          </a:xfrm>
          <a:prstGeom prst="roundRect">
            <a:avLst>
              <a:gd name="adj" fmla="val 7317"/>
            </a:avLst>
          </a:prstGeom>
          <a:solidFill>
            <a:srgbClr val="FFFFFF"/>
          </a:solidFill>
          <a:ln w="19050">
            <a:solidFill>
              <a:srgbClr val="197A56"/>
            </a:solidFill>
            <a:prstDash val="solid"/>
          </a:ln>
        </p:spPr>
      </p:sp>
      <p:sp>
        <p:nvSpPr>
          <p:cNvPr id="33" name="ovl_s08d_nt_dem"/>
          <p:cNvSpPr txBox="1"/>
          <p:nvPr/>
        </p:nvSpPr>
        <p:spPr>
          <a:xfrm>
            <a:off x="493776" y="2658618"/>
            <a:ext cx="16184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① 需要</a:t>
            </a:r>
            <a:endParaRPr lang="en-US" sz="1000" dirty="0"/>
          </a:p>
        </p:txBody>
      </p:sp>
      <p:sp>
        <p:nvSpPr>
          <p:cNvPr id="34" name="ovl_s08d_ns_dem"/>
          <p:cNvSpPr txBox="1"/>
          <p:nvPr/>
        </p:nvSpPr>
        <p:spPr>
          <a:xfrm>
            <a:off x="502920" y="2864358"/>
            <a:ext cx="16002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AI 研究所と企業の推論</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30 日で新規契約 650 億ドル</a:t>
            </a:r>
            <a:endParaRPr lang="en-US" sz="850" dirty="0"/>
          </a:p>
        </p:txBody>
      </p:sp>
      <p:sp>
        <p:nvSpPr>
          <p:cNvPr id="35" name="ovl_s08d_n_fin"/>
          <p:cNvSpPr/>
          <p:nvPr/>
        </p:nvSpPr>
        <p:spPr>
          <a:xfrm>
            <a:off x="2852928" y="2631186"/>
            <a:ext cx="1691640" cy="749808"/>
          </a:xfrm>
          <a:prstGeom prst="roundRect">
            <a:avLst>
              <a:gd name="adj" fmla="val 7317"/>
            </a:avLst>
          </a:prstGeom>
          <a:solidFill>
            <a:srgbClr val="FFFFFF"/>
          </a:solidFill>
          <a:ln w="19050">
            <a:solidFill>
              <a:srgbClr val="197A56"/>
            </a:solidFill>
            <a:prstDash val="solid"/>
          </a:ln>
        </p:spPr>
      </p:sp>
      <p:sp>
        <p:nvSpPr>
          <p:cNvPr id="36" name="ovl_s08d_nt_fin"/>
          <p:cNvSpPr txBox="1"/>
          <p:nvPr/>
        </p:nvSpPr>
        <p:spPr>
          <a:xfrm>
            <a:off x="2889504" y="2658618"/>
            <a:ext cx="16184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② 資金の外部化</a:t>
            </a:r>
            <a:endParaRPr lang="en-US" sz="1000" dirty="0"/>
          </a:p>
        </p:txBody>
      </p:sp>
      <p:sp>
        <p:nvSpPr>
          <p:cNvPr id="37" name="ovl_s08d_ns_fin"/>
          <p:cNvSpPr txBox="1"/>
          <p:nvPr/>
        </p:nvSpPr>
        <p:spPr>
          <a:xfrm>
            <a:off x="2898648" y="2864358"/>
            <a:ext cx="16002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前払い・GPU 持込</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(750 億ドル)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建屋は 15〜19 年のリース</a:t>
            </a:r>
            <a:endParaRPr lang="en-US" sz="850" dirty="0"/>
          </a:p>
        </p:txBody>
      </p:sp>
      <p:sp>
        <p:nvSpPr>
          <p:cNvPr id="38" name="ovl_s08d_n_bld"/>
          <p:cNvSpPr/>
          <p:nvPr/>
        </p:nvSpPr>
        <p:spPr>
          <a:xfrm>
            <a:off x="5248656" y="2631186"/>
            <a:ext cx="1691640" cy="749808"/>
          </a:xfrm>
          <a:prstGeom prst="roundRect">
            <a:avLst>
              <a:gd name="adj" fmla="val 7317"/>
            </a:avLst>
          </a:prstGeom>
          <a:solidFill>
            <a:srgbClr val="FFFFFF"/>
          </a:solidFill>
          <a:ln w="19050">
            <a:solidFill>
              <a:srgbClr val="197A56"/>
            </a:solidFill>
            <a:prstDash val="solid"/>
          </a:ln>
        </p:spPr>
      </p:sp>
      <p:sp>
        <p:nvSpPr>
          <p:cNvPr id="39" name="ovl_s08d_nt_bld"/>
          <p:cNvSpPr txBox="1"/>
          <p:nvPr/>
        </p:nvSpPr>
        <p:spPr>
          <a:xfrm>
            <a:off x="5285232" y="2658618"/>
            <a:ext cx="16184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③ 建設</a:t>
            </a:r>
            <a:endParaRPr lang="en-US" sz="1000" dirty="0"/>
          </a:p>
        </p:txBody>
      </p:sp>
      <p:sp>
        <p:nvSpPr>
          <p:cNvPr id="40" name="ovl_s08d_ns_bld"/>
          <p:cNvSpPr txBox="1"/>
          <p:nvPr/>
        </p:nvSpPr>
        <p:spPr>
          <a:xfrm>
            <a:off x="5294376" y="2864358"/>
            <a:ext cx="16002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電力 10GW 超を確保</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FY30 に稼働 14〜15GW</a:t>
            </a:r>
            <a:endParaRPr lang="en-US" sz="850" dirty="0"/>
          </a:p>
        </p:txBody>
      </p:sp>
      <p:sp>
        <p:nvSpPr>
          <p:cNvPr id="41" name="ovl_s08d_n_mon"/>
          <p:cNvSpPr/>
          <p:nvPr/>
        </p:nvSpPr>
        <p:spPr>
          <a:xfrm>
            <a:off x="7644384" y="2631186"/>
            <a:ext cx="1691640" cy="749808"/>
          </a:xfrm>
          <a:prstGeom prst="roundRect">
            <a:avLst>
              <a:gd name="adj" fmla="val 7317"/>
            </a:avLst>
          </a:prstGeom>
          <a:solidFill>
            <a:srgbClr val="FFFFFF"/>
          </a:solidFill>
          <a:ln w="19050">
            <a:solidFill>
              <a:srgbClr val="197A56"/>
            </a:solidFill>
            <a:prstDash val="solid"/>
          </a:ln>
        </p:spPr>
      </p:sp>
      <p:sp>
        <p:nvSpPr>
          <p:cNvPr id="42" name="ovl_s08d_nt_mon"/>
          <p:cNvSpPr txBox="1"/>
          <p:nvPr/>
        </p:nvSpPr>
        <p:spPr>
          <a:xfrm>
            <a:off x="7680960" y="2658618"/>
            <a:ext cx="16184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④ 収益化</a:t>
            </a:r>
            <a:endParaRPr lang="en-US" sz="1000" dirty="0"/>
          </a:p>
        </p:txBody>
      </p:sp>
      <p:sp>
        <p:nvSpPr>
          <p:cNvPr id="43" name="ovl_s08d_ns_mon"/>
          <p:cNvSpPr txBox="1"/>
          <p:nvPr/>
        </p:nvSpPr>
        <p:spPr>
          <a:xfrm>
            <a:off x="7690104" y="2864358"/>
            <a:ext cx="16002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粗利 30〜40%</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(立ち上がり後)</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更新は従来比 +20%</a:t>
            </a:r>
            <a:endParaRPr lang="en-US" sz="850" dirty="0"/>
          </a:p>
        </p:txBody>
      </p:sp>
      <p:sp>
        <p:nvSpPr>
          <p:cNvPr id="44" name="ovl_s08d_n_out"/>
          <p:cNvSpPr/>
          <p:nvPr/>
        </p:nvSpPr>
        <p:spPr>
          <a:xfrm>
            <a:off x="10040112" y="2631186"/>
            <a:ext cx="1691640" cy="749808"/>
          </a:xfrm>
          <a:prstGeom prst="roundRect">
            <a:avLst>
              <a:gd name="adj" fmla="val 7317"/>
            </a:avLst>
          </a:prstGeom>
          <a:solidFill>
            <a:srgbClr val="0E4D33"/>
          </a:solidFill>
          <a:ln w="9525">
            <a:solidFill>
              <a:srgbClr val="0E4D33"/>
            </a:solidFill>
            <a:prstDash val="solid"/>
          </a:ln>
        </p:spPr>
      </p:sp>
      <p:sp>
        <p:nvSpPr>
          <p:cNvPr id="45" name="ovl_s08d_nt_out"/>
          <p:cNvSpPr txBox="1"/>
          <p:nvPr/>
        </p:nvSpPr>
        <p:spPr>
          <a:xfrm>
            <a:off x="10076688" y="2658618"/>
            <a:ext cx="1618488" cy="20574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⑥ 成果</a:t>
            </a:r>
            <a:endParaRPr lang="en-US" sz="1000" dirty="0"/>
          </a:p>
        </p:txBody>
      </p:sp>
      <p:sp>
        <p:nvSpPr>
          <p:cNvPr id="46" name="ovl_s08d_ns_out"/>
          <p:cNvSpPr txBox="1"/>
          <p:nvPr/>
        </p:nvSpPr>
        <p:spPr>
          <a:xfrm>
            <a:off x="10085832" y="2864358"/>
            <a:ext cx="1600200" cy="489204"/>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FY30 売上 2,250 億ドル</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EPS 21 ドル</a:t>
            </a:r>
            <a:endParaRPr lang="en-US" sz="850" dirty="0"/>
          </a:p>
        </p:txBody>
      </p:sp>
      <p:sp>
        <p:nvSpPr>
          <p:cNvPr id="47" name="ovl_s08d_n_quote"/>
          <p:cNvSpPr/>
          <p:nvPr/>
        </p:nvSpPr>
        <p:spPr>
          <a:xfrm>
            <a:off x="457200" y="3705606"/>
            <a:ext cx="1691640" cy="749808"/>
          </a:xfrm>
          <a:prstGeom prst="roundRect">
            <a:avLst>
              <a:gd name="adj" fmla="val 7317"/>
            </a:avLst>
          </a:prstGeom>
          <a:solidFill>
            <a:srgbClr val="EAF4EE"/>
          </a:solidFill>
          <a:ln w="9525">
            <a:solidFill>
              <a:srgbClr val="86C99B"/>
            </a:solidFill>
            <a:prstDash val="solid"/>
          </a:ln>
        </p:spPr>
      </p:sp>
      <p:sp>
        <p:nvSpPr>
          <p:cNvPr id="48" name="ovl_s08d_nt_quote"/>
          <p:cNvSpPr txBox="1"/>
          <p:nvPr/>
        </p:nvSpPr>
        <p:spPr>
          <a:xfrm>
            <a:off x="493776" y="3733038"/>
            <a:ext cx="16184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会社の言葉</a:t>
            </a:r>
            <a:endParaRPr lang="en-US" sz="1000" dirty="0"/>
          </a:p>
        </p:txBody>
      </p:sp>
      <p:sp>
        <p:nvSpPr>
          <p:cNvPr id="49" name="ovl_s08d_ns_quote"/>
          <p:cNvSpPr txBox="1"/>
          <p:nvPr/>
        </p:nvSpPr>
        <p:spPr>
          <a:xfrm>
            <a:off x="502920" y="3938778"/>
            <a:ext cx="1600200" cy="489204"/>
          </a:xfrm>
          <a:prstGeom prst="rect">
            <a:avLst/>
          </a:prstGeom>
          <a:noFill/>
          <a:ln/>
        </p:spPr>
        <p:txBody>
          <a:bodyPr wrap="square" lIns="0" tIns="0" rIns="0" bIns="0" rtlCol="0" anchor="t"/>
          <a:lstStyle/>
          <a:p>
            <a:pPr algn="ctr" indent="0" marL="0">
              <a:buNone/>
            </a:pPr>
            <a:r>
              <a:rPr lang="en-US" sz="800" dirty="0">
                <a:solidFill>
                  <a:srgbClr val="333333"/>
                </a:solidFill>
                <a:latin typeface="Meiryo UI" pitchFamily="34" charset="0"/>
                <a:ea typeface="Meiryo UI" pitchFamily="34" charset="-122"/>
                <a:cs typeface="Meiryo UI" pitchFamily="34" charset="-120"/>
              </a:rPr>
              <a:t>「最終的に粗利 30〜40%」</a:t>
            </a:r>
            <a:endParaRPr lang="en-US" sz="800" dirty="0"/>
          </a:p>
          <a:p>
            <a:pPr algn="ctr" indent="0" marL="0">
              <a:buNone/>
            </a:pPr>
            <a:r>
              <a:rPr lang="en-US" sz="800" dirty="0">
                <a:solidFill>
                  <a:srgbClr val="333333"/>
                </a:solidFill>
                <a:latin typeface="Meiryo UI" pitchFamily="34" charset="0"/>
                <a:ea typeface="Meiryo UI" pitchFamily="34" charset="-122"/>
                <a:cs typeface="Meiryo UI" pitchFamily="34" charset="-120"/>
              </a:rPr>
              <a:t>「前払いでも利益率は</a:t>
            </a:r>
            <a:endParaRPr lang="en-US" sz="800" dirty="0"/>
          </a:p>
          <a:p>
            <a:pPr algn="ctr" indent="0" marL="0">
              <a:buNone/>
            </a:pPr>
            <a:r>
              <a:rPr lang="en-US" sz="800" dirty="0">
                <a:solidFill>
                  <a:srgbClr val="333333"/>
                </a:solidFill>
                <a:latin typeface="Meiryo UI" pitchFamily="34" charset="0"/>
                <a:ea typeface="Meiryo UI" pitchFamily="34" charset="-122"/>
                <a:cs typeface="Meiryo UI" pitchFamily="34" charset="-120"/>
              </a:rPr>
              <a:t>下がらない」</a:t>
            </a:r>
            <a:endParaRPr lang="en-US" sz="800" dirty="0"/>
          </a:p>
          <a:p>
            <a:pPr algn="ctr" indent="0" marL="0">
              <a:buNone/>
            </a:pPr>
            <a:r>
              <a:rPr lang="en-US" sz="800" dirty="0">
                <a:solidFill>
                  <a:srgbClr val="333333"/>
                </a:solidFill>
                <a:latin typeface="Meiryo UI" pitchFamily="34" charset="0"/>
                <a:ea typeface="Meiryo UI" pitchFamily="34" charset="-122"/>
                <a:cs typeface="Meiryo UI" pitchFamily="34" charset="-120"/>
              </a:rPr>
              <a:t>「全量を +20% で更新・再販」</a:t>
            </a:r>
            <a:endParaRPr lang="en-US" sz="800" dirty="0"/>
          </a:p>
        </p:txBody>
      </p:sp>
      <p:sp>
        <p:nvSpPr>
          <p:cNvPr id="50" name="ovl_s08d_n_cap"/>
          <p:cNvSpPr/>
          <p:nvPr/>
        </p:nvSpPr>
        <p:spPr>
          <a:xfrm>
            <a:off x="2852928" y="3705606"/>
            <a:ext cx="1691640" cy="749808"/>
          </a:xfrm>
          <a:prstGeom prst="roundRect">
            <a:avLst>
              <a:gd name="adj" fmla="val 7317"/>
            </a:avLst>
          </a:prstGeom>
          <a:solidFill>
            <a:srgbClr val="FFFFFF"/>
          </a:solidFill>
          <a:ln w="19050">
            <a:solidFill>
              <a:srgbClr val="C0392B"/>
            </a:solidFill>
            <a:prstDash val="solid"/>
          </a:ln>
        </p:spPr>
      </p:sp>
      <p:sp>
        <p:nvSpPr>
          <p:cNvPr id="51" name="ovl_s08d_nt_cap"/>
          <p:cNvSpPr txBox="1"/>
          <p:nvPr/>
        </p:nvSpPr>
        <p:spPr>
          <a:xfrm>
            <a:off x="2889504" y="3733038"/>
            <a:ext cx="161848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資本と格付け</a:t>
            </a:r>
            <a:endParaRPr lang="en-US" sz="1000" dirty="0"/>
          </a:p>
        </p:txBody>
      </p:sp>
      <p:sp>
        <p:nvSpPr>
          <p:cNvPr id="52" name="ovl_s08d_ns_cap"/>
          <p:cNvSpPr txBox="1"/>
          <p:nvPr/>
        </p:nvSpPr>
        <p:spPr>
          <a:xfrm>
            <a:off x="2898648" y="3938778"/>
            <a:ext cx="16002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BBB−、FY27 の純現金</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capex 700 億ドル以下</a:t>
            </a:r>
            <a:endParaRPr lang="en-US" sz="850" dirty="0"/>
          </a:p>
        </p:txBody>
      </p:sp>
      <p:sp>
        <p:nvSpPr>
          <p:cNvPr id="53" name="ovl_s08d_n_pow"/>
          <p:cNvSpPr/>
          <p:nvPr/>
        </p:nvSpPr>
        <p:spPr>
          <a:xfrm>
            <a:off x="5248656" y="3705606"/>
            <a:ext cx="1691640" cy="749808"/>
          </a:xfrm>
          <a:prstGeom prst="roundRect">
            <a:avLst>
              <a:gd name="adj" fmla="val 7317"/>
            </a:avLst>
          </a:prstGeom>
          <a:solidFill>
            <a:srgbClr val="FFFFFF"/>
          </a:solidFill>
          <a:ln w="19050">
            <a:solidFill>
              <a:srgbClr val="C0392B"/>
            </a:solidFill>
            <a:prstDash val="solid"/>
          </a:ln>
        </p:spPr>
      </p:sp>
      <p:sp>
        <p:nvSpPr>
          <p:cNvPr id="54" name="ovl_s08d_nt_pow"/>
          <p:cNvSpPr txBox="1"/>
          <p:nvPr/>
        </p:nvSpPr>
        <p:spPr>
          <a:xfrm>
            <a:off x="5285232" y="3733038"/>
            <a:ext cx="161848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電力の解放</a:t>
            </a:r>
            <a:endParaRPr lang="en-US" sz="1000" dirty="0"/>
          </a:p>
        </p:txBody>
      </p:sp>
      <p:sp>
        <p:nvSpPr>
          <p:cNvPr id="55" name="ovl_s08d_ns_pow"/>
          <p:cNvSpPr txBox="1"/>
          <p:nvPr/>
        </p:nvSpPr>
        <p:spPr>
          <a:xfrm>
            <a:off x="5294376" y="3938778"/>
            <a:ext cx="16002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ガス管の延期(2027-02)</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不可抗力通知の報道</a:t>
            </a:r>
            <a:endParaRPr lang="en-US" sz="850" dirty="0"/>
          </a:p>
        </p:txBody>
      </p:sp>
      <p:sp>
        <p:nvSpPr>
          <p:cNvPr id="56" name="ovl_s08d_n_oai"/>
          <p:cNvSpPr/>
          <p:nvPr/>
        </p:nvSpPr>
        <p:spPr>
          <a:xfrm>
            <a:off x="7644384" y="3705606"/>
            <a:ext cx="1691640" cy="749808"/>
          </a:xfrm>
          <a:prstGeom prst="roundRect">
            <a:avLst>
              <a:gd name="adj" fmla="val 7317"/>
            </a:avLst>
          </a:prstGeom>
          <a:solidFill>
            <a:srgbClr val="FFFFFF"/>
          </a:solidFill>
          <a:ln w="19050">
            <a:solidFill>
              <a:srgbClr val="C0392B"/>
            </a:solidFill>
            <a:prstDash val="solid"/>
          </a:ln>
        </p:spPr>
      </p:sp>
      <p:sp>
        <p:nvSpPr>
          <p:cNvPr id="57" name="ovl_s08d_nt_oai"/>
          <p:cNvSpPr txBox="1"/>
          <p:nvPr/>
        </p:nvSpPr>
        <p:spPr>
          <a:xfrm>
            <a:off x="7680960" y="3733038"/>
            <a:ext cx="161848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OpenAI の支払能力</a:t>
            </a:r>
            <a:endParaRPr lang="en-US" sz="1000" dirty="0"/>
          </a:p>
        </p:txBody>
      </p:sp>
      <p:sp>
        <p:nvSpPr>
          <p:cNvPr id="58" name="ovl_s08d_ns_oai"/>
          <p:cNvSpPr txBox="1"/>
          <p:nvPr/>
        </p:nvSpPr>
        <p:spPr>
          <a:xfrm>
            <a:off x="7690104" y="3938778"/>
            <a:ext cx="16002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受注残の約 45%</a:t>
            </a:r>
            <a:endParaRPr lang="en-US" sz="850" dirty="0"/>
          </a:p>
        </p:txBody>
      </p:sp>
      <p:sp>
        <p:nvSpPr>
          <p:cNvPr id="59" name="ovl_s08d_n_add"/>
          <p:cNvSpPr/>
          <p:nvPr/>
        </p:nvSpPr>
        <p:spPr>
          <a:xfrm>
            <a:off x="10040112" y="3705606"/>
            <a:ext cx="1691640" cy="749808"/>
          </a:xfrm>
          <a:prstGeom prst="roundRect">
            <a:avLst>
              <a:gd name="adj" fmla="val 7317"/>
            </a:avLst>
          </a:prstGeom>
          <a:solidFill>
            <a:srgbClr val="FFFFFF"/>
          </a:solidFill>
          <a:ln w="19050">
            <a:solidFill>
              <a:srgbClr val="197A56"/>
            </a:solidFill>
            <a:prstDash val="solid"/>
          </a:ln>
        </p:spPr>
      </p:sp>
      <p:sp>
        <p:nvSpPr>
          <p:cNvPr id="60" name="ovl_s08d_nt_add"/>
          <p:cNvSpPr txBox="1"/>
          <p:nvPr/>
        </p:nvSpPr>
        <p:spPr>
          <a:xfrm>
            <a:off x="10076688" y="3733038"/>
            <a:ext cx="16184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⑤ 上積み</a:t>
            </a:r>
            <a:endParaRPr lang="en-US" sz="1000" dirty="0"/>
          </a:p>
        </p:txBody>
      </p:sp>
      <p:sp>
        <p:nvSpPr>
          <p:cNvPr id="61" name="ovl_s08d_ns_add"/>
          <p:cNvSpPr txBox="1"/>
          <p:nvPr/>
        </p:nvSpPr>
        <p:spPr>
          <a:xfrm>
            <a:off x="10085832" y="3938778"/>
            <a:ext cx="16002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Database@・AI Database</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SaaS のエージェント</a:t>
            </a:r>
            <a:endParaRPr lang="en-US" sz="850" dirty="0"/>
          </a:p>
        </p:txBody>
      </p:sp>
      <p:sp>
        <p:nvSpPr>
          <p:cNvPr id="62" name="ovl_s08d_lab0"/>
          <p:cNvSpPr txBox="1"/>
          <p:nvPr/>
        </p:nvSpPr>
        <p:spPr>
          <a:xfrm>
            <a:off x="2180844" y="2631186"/>
            <a:ext cx="640080" cy="347472"/>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契約が</a:t>
            </a:r>
            <a:endParaRPr lang="en-US" sz="850" dirty="0"/>
          </a:p>
          <a:p>
            <a:pPr algn="ctr" indent="0" marL="0">
              <a:buNone/>
            </a:pPr>
            <a:r>
              <a:rPr lang="en-US" sz="850" dirty="0">
                <a:solidFill>
                  <a:srgbClr val="0E4D33"/>
                </a:solidFill>
                <a:latin typeface="Meiryo UI" pitchFamily="34" charset="0"/>
                <a:ea typeface="Meiryo UI" pitchFamily="34" charset="-122"/>
                <a:cs typeface="Meiryo UI" pitchFamily="34" charset="-120"/>
              </a:rPr>
              <a:t>資金を呼ぶ</a:t>
            </a:r>
            <a:endParaRPr lang="en-US" sz="850" dirty="0"/>
          </a:p>
        </p:txBody>
      </p:sp>
      <p:sp>
        <p:nvSpPr>
          <p:cNvPr id="63" name="ovl_s08d_lab1"/>
          <p:cNvSpPr txBox="1"/>
          <p:nvPr/>
        </p:nvSpPr>
        <p:spPr>
          <a:xfrm>
            <a:off x="4725162" y="2772918"/>
            <a:ext cx="342900"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建設</a:t>
            </a:r>
            <a:endParaRPr lang="en-US" sz="850" dirty="0"/>
          </a:p>
        </p:txBody>
      </p:sp>
      <p:sp>
        <p:nvSpPr>
          <p:cNvPr id="64" name="ovl_s08d_lab2"/>
          <p:cNvSpPr txBox="1"/>
          <p:nvPr/>
        </p:nvSpPr>
        <p:spPr>
          <a:xfrm>
            <a:off x="7120890" y="2690622"/>
            <a:ext cx="342900"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1BA1A6"/>
                </a:solidFill>
                <a:latin typeface="Meiryo UI" pitchFamily="34" charset="0"/>
                <a:ea typeface="Meiryo UI" pitchFamily="34" charset="-122"/>
                <a:cs typeface="Meiryo UI" pitchFamily="34" charset="-120"/>
              </a:rPr>
              <a:t>稼働</a:t>
            </a:r>
            <a:endParaRPr lang="en-US" sz="850" dirty="0"/>
          </a:p>
        </p:txBody>
      </p:sp>
      <p:sp>
        <p:nvSpPr>
          <p:cNvPr id="65" name="ovl_s08d_lab3"/>
          <p:cNvSpPr txBox="1"/>
          <p:nvPr/>
        </p:nvSpPr>
        <p:spPr>
          <a:xfrm>
            <a:off x="9341739" y="2772918"/>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売上・利益</a:t>
            </a:r>
            <a:endParaRPr lang="en-US" sz="850" dirty="0"/>
          </a:p>
        </p:txBody>
      </p:sp>
      <p:sp>
        <p:nvSpPr>
          <p:cNvPr id="66" name="ovl_s08d_lab4"/>
          <p:cNvSpPr txBox="1"/>
          <p:nvPr/>
        </p:nvSpPr>
        <p:spPr>
          <a:xfrm>
            <a:off x="6972300" y="3115818"/>
            <a:ext cx="640080" cy="347472"/>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現金が次の</a:t>
            </a:r>
            <a:endParaRPr lang="en-US" sz="850" dirty="0"/>
          </a:p>
          <a:p>
            <a:pPr algn="ctr" indent="0" marL="0">
              <a:buNone/>
            </a:pPr>
            <a:r>
              <a:rPr lang="en-US" sz="850" dirty="0">
                <a:solidFill>
                  <a:srgbClr val="0E4D33"/>
                </a:solidFill>
                <a:latin typeface="Meiryo UI" pitchFamily="34" charset="0"/>
                <a:ea typeface="Meiryo UI" pitchFamily="34" charset="-122"/>
                <a:cs typeface="Meiryo UI" pitchFamily="34" charset="-120"/>
              </a:rPr>
              <a:t>建設へ</a:t>
            </a:r>
            <a:endParaRPr lang="en-US" sz="850" dirty="0"/>
          </a:p>
        </p:txBody>
      </p:sp>
      <p:sp>
        <p:nvSpPr>
          <p:cNvPr id="67" name="ovl_s08d_lab5"/>
          <p:cNvSpPr txBox="1"/>
          <p:nvPr/>
        </p:nvSpPr>
        <p:spPr>
          <a:xfrm>
            <a:off x="10931652" y="3440430"/>
            <a:ext cx="459486"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1BA1A6"/>
                </a:solidFill>
                <a:latin typeface="Meiryo UI" pitchFamily="34" charset="0"/>
                <a:ea typeface="Meiryo UI" pitchFamily="34" charset="-122"/>
                <a:cs typeface="Meiryo UI" pitchFamily="34" charset="-120"/>
              </a:rPr>
              <a:t>上積み</a:t>
            </a:r>
            <a:endParaRPr lang="en-US" sz="850" dirty="0"/>
          </a:p>
        </p:txBody>
      </p:sp>
      <p:sp>
        <p:nvSpPr>
          <p:cNvPr id="68" name="ovl_s08d_lab6"/>
          <p:cNvSpPr txBox="1"/>
          <p:nvPr/>
        </p:nvSpPr>
        <p:spPr>
          <a:xfrm>
            <a:off x="3744468" y="3440430"/>
            <a:ext cx="342900"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上限</a:t>
            </a:r>
            <a:endParaRPr lang="en-US" sz="850" dirty="0"/>
          </a:p>
        </p:txBody>
      </p:sp>
      <p:sp>
        <p:nvSpPr>
          <p:cNvPr id="69" name="ovl_s08d_lab7"/>
          <p:cNvSpPr txBox="1"/>
          <p:nvPr/>
        </p:nvSpPr>
        <p:spPr>
          <a:xfrm>
            <a:off x="6140196" y="3440430"/>
            <a:ext cx="342900"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律速</a:t>
            </a:r>
            <a:endParaRPr lang="en-US" sz="850" dirty="0"/>
          </a:p>
        </p:txBody>
      </p:sp>
      <p:sp>
        <p:nvSpPr>
          <p:cNvPr id="70" name="ovl_s08d_lab8"/>
          <p:cNvSpPr txBox="1"/>
          <p:nvPr/>
        </p:nvSpPr>
        <p:spPr>
          <a:xfrm>
            <a:off x="8535924" y="3440430"/>
            <a:ext cx="342900"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集中</a:t>
            </a:r>
            <a:endParaRPr lang="en-US" sz="850" dirty="0"/>
          </a:p>
        </p:txBody>
      </p:sp>
      <p:sp>
        <p:nvSpPr>
          <p:cNvPr id="71" name="ovl_s08d_leg0"/>
          <p:cNvSpPr/>
          <p:nvPr/>
        </p:nvSpPr>
        <p:spPr>
          <a:xfrm>
            <a:off x="457200" y="4773168"/>
            <a:ext cx="365760" cy="914"/>
          </a:xfrm>
          <a:prstGeom prst="line">
            <a:avLst/>
          </a:prstGeom>
          <a:noFill/>
          <a:ln w="22225">
            <a:solidFill>
              <a:srgbClr val="0E4D33"/>
            </a:solidFill>
            <a:prstDash val="solid"/>
            <a:tailEnd type="triangle"/>
          </a:ln>
        </p:spPr>
      </p:sp>
      <p:sp>
        <p:nvSpPr>
          <p:cNvPr id="72" name="ovl_s08d_legt0"/>
          <p:cNvSpPr txBox="1"/>
          <p:nvPr/>
        </p:nvSpPr>
        <p:spPr>
          <a:xfrm>
            <a:off x="877824" y="4672584"/>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カネ</a:t>
            </a:r>
            <a:endParaRPr lang="en-US" sz="800" dirty="0"/>
          </a:p>
        </p:txBody>
      </p:sp>
      <p:sp>
        <p:nvSpPr>
          <p:cNvPr id="73" name="ovl_s08d_leg1"/>
          <p:cNvSpPr/>
          <p:nvPr/>
        </p:nvSpPr>
        <p:spPr>
          <a:xfrm>
            <a:off x="1874520" y="4773168"/>
            <a:ext cx="365760" cy="914"/>
          </a:xfrm>
          <a:prstGeom prst="line">
            <a:avLst/>
          </a:prstGeom>
          <a:noFill/>
          <a:ln w="19050">
            <a:solidFill>
              <a:srgbClr val="1BA1A6"/>
            </a:solidFill>
            <a:prstDash val="solid"/>
            <a:tailEnd type="triangle"/>
          </a:ln>
        </p:spPr>
      </p:sp>
      <p:sp>
        <p:nvSpPr>
          <p:cNvPr id="74" name="ovl_s08d_legt1"/>
          <p:cNvSpPr txBox="1"/>
          <p:nvPr/>
        </p:nvSpPr>
        <p:spPr>
          <a:xfrm>
            <a:off x="2295144" y="4672584"/>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モノ・サービス</a:t>
            </a:r>
            <a:endParaRPr lang="en-US" sz="800" dirty="0"/>
          </a:p>
        </p:txBody>
      </p:sp>
      <p:sp>
        <p:nvSpPr>
          <p:cNvPr id="75" name="ovl_s08d_leg2"/>
          <p:cNvSpPr/>
          <p:nvPr/>
        </p:nvSpPr>
        <p:spPr>
          <a:xfrm>
            <a:off x="3291840" y="4773168"/>
            <a:ext cx="365760" cy="914"/>
          </a:xfrm>
          <a:prstGeom prst="line">
            <a:avLst/>
          </a:prstGeom>
          <a:noFill/>
          <a:ln w="15875">
            <a:solidFill>
              <a:srgbClr val="C0392B"/>
            </a:solidFill>
            <a:prstDash val="dash"/>
            <a:tailEnd type="triangle"/>
          </a:ln>
        </p:spPr>
      </p:sp>
      <p:sp>
        <p:nvSpPr>
          <p:cNvPr id="76" name="ovl_s08d_legt2"/>
          <p:cNvSpPr txBox="1"/>
          <p:nvPr/>
        </p:nvSpPr>
        <p:spPr>
          <a:xfrm>
            <a:off x="3712464" y="4672584"/>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リスク</a:t>
            </a:r>
            <a:endParaRPr lang="en-US" sz="800" dirty="0"/>
          </a:p>
        </p:txBody>
      </p:sp>
      <p:sp>
        <p:nvSpPr>
          <p:cNvPr id="77" name="ovl_tl_head"/>
          <p:cNvSpPr txBox="1"/>
          <p:nvPr/>
        </p:nvSpPr>
        <p:spPr>
          <a:xfrm>
            <a:off x="457200" y="5029200"/>
            <a:ext cx="1463040" cy="201168"/>
          </a:xfrm>
          <a:prstGeom prst="rect">
            <a:avLst/>
          </a:prstGeom>
          <a:noFill/>
          <a:ln/>
        </p:spPr>
        <p:txBody>
          <a:bodyPr wrap="square" lIns="0" tIns="0" rIns="0" bIns="0" rtlCol="0" anchor="ctr"/>
          <a:lstStyle/>
          <a:p>
            <a:pPr indent="0" marL="0">
              <a:buNone/>
            </a:pPr>
            <a:r>
              <a:rPr lang="en-US" sz="900" b="1" dirty="0">
                <a:solidFill>
                  <a:srgbClr val="0E4D33"/>
                </a:solidFill>
                <a:latin typeface="Meiryo UI" pitchFamily="34" charset="0"/>
                <a:ea typeface="Meiryo UI" pitchFamily="34" charset="-122"/>
                <a:cs typeface="Meiryo UI" pitchFamily="34" charset="-120"/>
              </a:rPr>
              <a:t>稼働容量(需給エンジン)</a:t>
            </a:r>
            <a:endParaRPr lang="en-US" sz="900" dirty="0"/>
          </a:p>
        </p:txBody>
      </p:sp>
      <p:sp>
        <p:nvSpPr>
          <p:cNvPr id="78" name="ovl_tl_axis"/>
          <p:cNvSpPr/>
          <p:nvPr/>
        </p:nvSpPr>
        <p:spPr>
          <a:xfrm>
            <a:off x="731520" y="5605272"/>
            <a:ext cx="10698480" cy="914"/>
          </a:xfrm>
          <a:prstGeom prst="line">
            <a:avLst/>
          </a:prstGeom>
          <a:noFill/>
          <a:ln w="15875">
            <a:solidFill>
              <a:srgbClr val="767676"/>
            </a:solidFill>
            <a:prstDash val="solid"/>
          </a:ln>
        </p:spPr>
      </p:sp>
      <p:sp>
        <p:nvSpPr>
          <p:cNvPr id="79" name="ovl_tl_dot_FY26"/>
          <p:cNvSpPr/>
          <p:nvPr/>
        </p:nvSpPr>
        <p:spPr>
          <a:xfrm>
            <a:off x="2212848" y="5532120"/>
            <a:ext cx="146304" cy="146304"/>
          </a:xfrm>
          <a:prstGeom prst="ellipse">
            <a:avLst/>
          </a:prstGeom>
          <a:solidFill>
            <a:srgbClr val="197A56"/>
          </a:solidFill>
          <a:ln w="12700">
            <a:solidFill>
              <a:srgbClr val="197A56"/>
            </a:solidFill>
            <a:prstDash val="solid"/>
          </a:ln>
        </p:spPr>
      </p:sp>
      <p:sp>
        <p:nvSpPr>
          <p:cNvPr id="80" name="ovl_tl_tick_FY26"/>
          <p:cNvSpPr txBox="1"/>
          <p:nvPr/>
        </p:nvSpPr>
        <p:spPr>
          <a:xfrm>
            <a:off x="1920240" y="5715000"/>
            <a:ext cx="731520" cy="182880"/>
          </a:xfrm>
          <a:prstGeom prst="rect">
            <a:avLst/>
          </a:prstGeom>
          <a:noFill/>
          <a:ln/>
        </p:spPr>
        <p:txBody>
          <a:bodyPr wrap="square" lIns="0" tIns="0" rIns="0" bIns="0"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FY26</a:t>
            </a:r>
            <a:endParaRPr lang="en-US" sz="850" dirty="0"/>
          </a:p>
        </p:txBody>
      </p:sp>
      <p:sp>
        <p:nvSpPr>
          <p:cNvPr id="81" name="ovl_tl_dot_FY27"/>
          <p:cNvSpPr/>
          <p:nvPr/>
        </p:nvSpPr>
        <p:spPr>
          <a:xfrm>
            <a:off x="4407408" y="5532120"/>
            <a:ext cx="146304" cy="146304"/>
          </a:xfrm>
          <a:prstGeom prst="ellipse">
            <a:avLst/>
          </a:prstGeom>
          <a:solidFill>
            <a:srgbClr val="197A56"/>
          </a:solidFill>
          <a:ln w="12700">
            <a:solidFill>
              <a:srgbClr val="197A56"/>
            </a:solidFill>
            <a:prstDash val="solid"/>
          </a:ln>
        </p:spPr>
      </p:sp>
      <p:sp>
        <p:nvSpPr>
          <p:cNvPr id="82" name="ovl_tl_tick_FY27"/>
          <p:cNvSpPr txBox="1"/>
          <p:nvPr/>
        </p:nvSpPr>
        <p:spPr>
          <a:xfrm>
            <a:off x="4114800" y="5715000"/>
            <a:ext cx="731520" cy="182880"/>
          </a:xfrm>
          <a:prstGeom prst="rect">
            <a:avLst/>
          </a:prstGeom>
          <a:noFill/>
          <a:ln/>
        </p:spPr>
        <p:txBody>
          <a:bodyPr wrap="square" lIns="0" tIns="0" rIns="0" bIns="0"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FY27</a:t>
            </a:r>
            <a:endParaRPr lang="en-US" sz="850" dirty="0"/>
          </a:p>
        </p:txBody>
      </p:sp>
      <p:sp>
        <p:nvSpPr>
          <p:cNvPr id="83" name="ovl_tl_val_FY27"/>
          <p:cNvSpPr txBox="1"/>
          <p:nvPr/>
        </p:nvSpPr>
        <p:spPr>
          <a:xfrm>
            <a:off x="4023360" y="5330952"/>
            <a:ext cx="914400" cy="182880"/>
          </a:xfrm>
          <a:prstGeom prst="rect">
            <a:avLst/>
          </a:prstGeom>
          <a:noFill/>
          <a:ln/>
        </p:spPr>
        <p:txBody>
          <a:bodyPr wrap="square" lIns="0" tIns="0" rIns="0" bIns="0" rtlCol="0" anchor="b"/>
          <a:lstStyle/>
          <a:p>
            <a:pPr algn="ctr" indent="0" marL="0">
              <a:buNone/>
            </a:pPr>
            <a:r>
              <a:rPr lang="en-US" sz="1000" b="1" dirty="0">
                <a:solidFill>
                  <a:srgbClr val="0E4D33"/>
                </a:solidFill>
                <a:latin typeface="Meiryo UI" pitchFamily="34" charset="0"/>
                <a:ea typeface="Meiryo UI" pitchFamily="34" charset="-122"/>
                <a:cs typeface="Meiryo UI" pitchFamily="34" charset="-120"/>
              </a:rPr>
              <a:t>4.7GW</a:t>
            </a:r>
            <a:endParaRPr lang="en-US" sz="1000" dirty="0"/>
          </a:p>
        </p:txBody>
      </p:sp>
      <p:sp>
        <p:nvSpPr>
          <p:cNvPr id="84" name="ovl_tl_dot_FY28"/>
          <p:cNvSpPr/>
          <p:nvPr/>
        </p:nvSpPr>
        <p:spPr>
          <a:xfrm>
            <a:off x="6601968" y="5532120"/>
            <a:ext cx="146304" cy="146304"/>
          </a:xfrm>
          <a:prstGeom prst="ellipse">
            <a:avLst/>
          </a:prstGeom>
          <a:solidFill>
            <a:srgbClr val="197A56"/>
          </a:solidFill>
          <a:ln w="12700">
            <a:solidFill>
              <a:srgbClr val="197A56"/>
            </a:solidFill>
            <a:prstDash val="solid"/>
          </a:ln>
        </p:spPr>
      </p:sp>
      <p:sp>
        <p:nvSpPr>
          <p:cNvPr id="85" name="ovl_tl_tick_FY28"/>
          <p:cNvSpPr txBox="1"/>
          <p:nvPr/>
        </p:nvSpPr>
        <p:spPr>
          <a:xfrm>
            <a:off x="6309360" y="5715000"/>
            <a:ext cx="731520" cy="182880"/>
          </a:xfrm>
          <a:prstGeom prst="rect">
            <a:avLst/>
          </a:prstGeom>
          <a:noFill/>
          <a:ln/>
        </p:spPr>
        <p:txBody>
          <a:bodyPr wrap="square" lIns="0" tIns="0" rIns="0" bIns="0"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FY28</a:t>
            </a:r>
            <a:endParaRPr lang="en-US" sz="850" dirty="0"/>
          </a:p>
        </p:txBody>
      </p:sp>
      <p:sp>
        <p:nvSpPr>
          <p:cNvPr id="86" name="ovl_tl_val_FY28"/>
          <p:cNvSpPr txBox="1"/>
          <p:nvPr/>
        </p:nvSpPr>
        <p:spPr>
          <a:xfrm>
            <a:off x="6217920" y="5330952"/>
            <a:ext cx="914400" cy="182880"/>
          </a:xfrm>
          <a:prstGeom prst="rect">
            <a:avLst/>
          </a:prstGeom>
          <a:noFill/>
          <a:ln/>
        </p:spPr>
        <p:txBody>
          <a:bodyPr wrap="square" lIns="0" tIns="0" rIns="0" bIns="0" rtlCol="0" anchor="b"/>
          <a:lstStyle/>
          <a:p>
            <a:pPr algn="ctr" indent="0" marL="0">
              <a:buNone/>
            </a:pPr>
            <a:r>
              <a:rPr lang="en-US" sz="1000" b="1" dirty="0">
                <a:solidFill>
                  <a:srgbClr val="0E4D33"/>
                </a:solidFill>
                <a:latin typeface="Meiryo UI" pitchFamily="34" charset="0"/>
                <a:ea typeface="Meiryo UI" pitchFamily="34" charset="-122"/>
                <a:cs typeface="Meiryo UI" pitchFamily="34" charset="-120"/>
              </a:rPr>
              <a:t>7.4GW</a:t>
            </a:r>
            <a:endParaRPr lang="en-US" sz="1000" dirty="0"/>
          </a:p>
        </p:txBody>
      </p:sp>
      <p:sp>
        <p:nvSpPr>
          <p:cNvPr id="87" name="ovl_tl_dot_FY29"/>
          <p:cNvSpPr/>
          <p:nvPr/>
        </p:nvSpPr>
        <p:spPr>
          <a:xfrm>
            <a:off x="8796528" y="5532120"/>
            <a:ext cx="146304" cy="146304"/>
          </a:xfrm>
          <a:prstGeom prst="ellipse">
            <a:avLst/>
          </a:prstGeom>
          <a:solidFill>
            <a:srgbClr val="197A56"/>
          </a:solidFill>
          <a:ln w="12700">
            <a:solidFill>
              <a:srgbClr val="197A56"/>
            </a:solidFill>
            <a:prstDash val="solid"/>
          </a:ln>
        </p:spPr>
      </p:sp>
      <p:sp>
        <p:nvSpPr>
          <p:cNvPr id="88" name="ovl_tl_tick_FY29"/>
          <p:cNvSpPr txBox="1"/>
          <p:nvPr/>
        </p:nvSpPr>
        <p:spPr>
          <a:xfrm>
            <a:off x="8503920" y="5715000"/>
            <a:ext cx="731520" cy="182880"/>
          </a:xfrm>
          <a:prstGeom prst="rect">
            <a:avLst/>
          </a:prstGeom>
          <a:noFill/>
          <a:ln/>
        </p:spPr>
        <p:txBody>
          <a:bodyPr wrap="square" lIns="0" tIns="0" rIns="0" bIns="0"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FY29</a:t>
            </a:r>
            <a:endParaRPr lang="en-US" sz="850" dirty="0"/>
          </a:p>
        </p:txBody>
      </p:sp>
      <p:sp>
        <p:nvSpPr>
          <p:cNvPr id="89" name="ovl_tl_val_FY29"/>
          <p:cNvSpPr txBox="1"/>
          <p:nvPr/>
        </p:nvSpPr>
        <p:spPr>
          <a:xfrm>
            <a:off x="8412480" y="5330952"/>
            <a:ext cx="914400" cy="182880"/>
          </a:xfrm>
          <a:prstGeom prst="rect">
            <a:avLst/>
          </a:prstGeom>
          <a:noFill/>
          <a:ln/>
        </p:spPr>
        <p:txBody>
          <a:bodyPr wrap="square" lIns="0" tIns="0" rIns="0" bIns="0" rtlCol="0" anchor="b"/>
          <a:lstStyle/>
          <a:p>
            <a:pPr algn="ctr" indent="0" marL="0">
              <a:buNone/>
            </a:pPr>
            <a:r>
              <a:rPr lang="en-US" sz="1000" b="1" dirty="0">
                <a:solidFill>
                  <a:srgbClr val="0E4D33"/>
                </a:solidFill>
                <a:latin typeface="Meiryo UI" pitchFamily="34" charset="0"/>
                <a:ea typeface="Meiryo UI" pitchFamily="34" charset="-122"/>
                <a:cs typeface="Meiryo UI" pitchFamily="34" charset="-120"/>
              </a:rPr>
              <a:t>11.5GW</a:t>
            </a:r>
            <a:endParaRPr lang="en-US" sz="1000" dirty="0"/>
          </a:p>
        </p:txBody>
      </p:sp>
      <p:sp>
        <p:nvSpPr>
          <p:cNvPr id="90" name="ovl_tl_dot_FY30"/>
          <p:cNvSpPr/>
          <p:nvPr/>
        </p:nvSpPr>
        <p:spPr>
          <a:xfrm>
            <a:off x="10991088" y="5532120"/>
            <a:ext cx="146304" cy="146304"/>
          </a:xfrm>
          <a:prstGeom prst="ellipse">
            <a:avLst/>
          </a:prstGeom>
          <a:solidFill>
            <a:srgbClr val="197A56"/>
          </a:solidFill>
          <a:ln w="12700">
            <a:solidFill>
              <a:srgbClr val="197A56"/>
            </a:solidFill>
            <a:prstDash val="solid"/>
          </a:ln>
        </p:spPr>
      </p:sp>
      <p:sp>
        <p:nvSpPr>
          <p:cNvPr id="91" name="ovl_tl_tick_FY30"/>
          <p:cNvSpPr txBox="1"/>
          <p:nvPr/>
        </p:nvSpPr>
        <p:spPr>
          <a:xfrm>
            <a:off x="10698480" y="5715000"/>
            <a:ext cx="731520" cy="182880"/>
          </a:xfrm>
          <a:prstGeom prst="rect">
            <a:avLst/>
          </a:prstGeom>
          <a:noFill/>
          <a:ln/>
        </p:spPr>
        <p:txBody>
          <a:bodyPr wrap="square" lIns="0" tIns="0" rIns="0" bIns="0"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FY30</a:t>
            </a:r>
            <a:endParaRPr lang="en-US" sz="850" dirty="0"/>
          </a:p>
        </p:txBody>
      </p:sp>
      <p:sp>
        <p:nvSpPr>
          <p:cNvPr id="92" name="ovl_tl_val_FY30"/>
          <p:cNvSpPr txBox="1"/>
          <p:nvPr/>
        </p:nvSpPr>
        <p:spPr>
          <a:xfrm>
            <a:off x="10607040" y="5330952"/>
            <a:ext cx="914400" cy="182880"/>
          </a:xfrm>
          <a:prstGeom prst="rect">
            <a:avLst/>
          </a:prstGeom>
          <a:noFill/>
          <a:ln/>
        </p:spPr>
        <p:txBody>
          <a:bodyPr wrap="square" lIns="0" tIns="0" rIns="0" bIns="0" rtlCol="0" anchor="b"/>
          <a:lstStyle/>
          <a:p>
            <a:pPr algn="ctr" indent="0" marL="0">
              <a:buNone/>
            </a:pPr>
            <a:r>
              <a:rPr lang="en-US" sz="1000" b="1" dirty="0">
                <a:solidFill>
                  <a:srgbClr val="0E4D33"/>
                </a:solidFill>
                <a:latin typeface="Meiryo UI" pitchFamily="34" charset="0"/>
                <a:ea typeface="Meiryo UI" pitchFamily="34" charset="-122"/>
                <a:cs typeface="Meiryo UI" pitchFamily="34" charset="-120"/>
              </a:rPr>
              <a:t>14GW</a:t>
            </a:r>
            <a:endParaRPr lang="en-US" sz="1000" dirty="0"/>
          </a:p>
        </p:txBody>
      </p:sp>
      <p:sp>
        <p:nvSpPr>
          <p:cNvPr id="93" name="ovl_tl_note0"/>
          <p:cNvSpPr txBox="1"/>
          <p:nvPr/>
        </p:nvSpPr>
        <p:spPr>
          <a:xfrm>
            <a:off x="2606040" y="5047488"/>
            <a:ext cx="1554480" cy="310896"/>
          </a:xfrm>
          <a:prstGeom prst="rect">
            <a:avLst/>
          </a:prstGeom>
          <a:noFill/>
          <a:ln/>
        </p:spPr>
        <p:txBody>
          <a:bodyPr wrap="square" lIns="0" tIns="0" rIns="0" bIns="0" rtlCol="0" anchor="b"/>
          <a:lstStyle/>
          <a:p>
            <a:pPr algn="ctr" indent="0" marL="0">
              <a:buNone/>
            </a:pPr>
            <a:r>
              <a:rPr lang="en-US" sz="850" dirty="0">
                <a:solidFill>
                  <a:srgbClr val="333333"/>
                </a:solidFill>
                <a:latin typeface="Meiryo UI" pitchFamily="34" charset="0"/>
                <a:ea typeface="Meiryo UI" pitchFamily="34" charset="-122"/>
                <a:cs typeface="Meiryo UI" pitchFamily="34" charset="-120"/>
              </a:rPr>
              <a:t>Q1 FY27: 850MW 納入</a:t>
            </a:r>
            <a:endParaRPr lang="en-US" sz="850" dirty="0"/>
          </a:p>
        </p:txBody>
      </p:sp>
      <p:sp>
        <p:nvSpPr>
          <p:cNvPr id="94" name="ovl_tl_lead0"/>
          <p:cNvSpPr/>
          <p:nvPr/>
        </p:nvSpPr>
        <p:spPr>
          <a:xfrm>
            <a:off x="3383280" y="5376672"/>
            <a:ext cx="914" cy="173736"/>
          </a:xfrm>
          <a:prstGeom prst="line">
            <a:avLst/>
          </a:prstGeom>
          <a:noFill/>
          <a:ln w="9525">
            <a:solidFill>
              <a:srgbClr val="767676"/>
            </a:solidFill>
            <a:prstDash val="sysDot"/>
          </a:ln>
        </p:spPr>
      </p:sp>
      <p:sp>
        <p:nvSpPr>
          <p:cNvPr id="95" name="ovl_tl_mark0"/>
          <p:cNvSpPr/>
          <p:nvPr/>
        </p:nvSpPr>
        <p:spPr>
          <a:xfrm>
            <a:off x="3328416" y="5550408"/>
            <a:ext cx="109728" cy="109728"/>
          </a:xfrm>
          <a:prstGeom prst="ellipse">
            <a:avLst/>
          </a:prstGeom>
          <a:solidFill>
            <a:srgbClr val="FFFFFF"/>
          </a:solidFill>
          <a:ln w="15875">
            <a:solidFill>
              <a:srgbClr val="197A56"/>
            </a:solidFill>
            <a:prstDash val="solid"/>
          </a:ln>
        </p:spPr>
      </p:sp>
      <p:sp>
        <p:nvSpPr>
          <p:cNvPr id="96" name="ovl_tl_note1"/>
          <p:cNvSpPr txBox="1"/>
          <p:nvPr/>
        </p:nvSpPr>
        <p:spPr>
          <a:xfrm>
            <a:off x="4572000" y="5047488"/>
            <a:ext cx="2011680" cy="310896"/>
          </a:xfrm>
          <a:prstGeom prst="rect">
            <a:avLst/>
          </a:prstGeom>
          <a:noFill/>
          <a:ln/>
        </p:spPr>
        <p:txBody>
          <a:bodyPr wrap="square" lIns="0" tIns="0" rIns="0" bIns="0" rtlCol="0" anchor="b"/>
          <a:lstStyle/>
          <a:p>
            <a:pPr algn="ctr" indent="0" marL="0">
              <a:buNone/>
            </a:pPr>
            <a:r>
              <a:rPr lang="en-US" sz="850" dirty="0">
                <a:solidFill>
                  <a:srgbClr val="333333"/>
                </a:solidFill>
                <a:latin typeface="Meiryo UI" pitchFamily="34" charset="0"/>
                <a:ea typeface="Meiryo UI" pitchFamily="34" charset="-122"/>
                <a:cs typeface="Meiryo UI" pitchFamily="34" charset="-120"/>
              </a:rPr>
              <a:t>2027: OpenAI の大型契約が開始</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NM のガス管(2027-02)</a:t>
            </a:r>
            <a:endParaRPr lang="en-US" sz="850" dirty="0"/>
          </a:p>
        </p:txBody>
      </p:sp>
      <p:sp>
        <p:nvSpPr>
          <p:cNvPr id="97" name="ovl_tl_lead1"/>
          <p:cNvSpPr/>
          <p:nvPr/>
        </p:nvSpPr>
        <p:spPr>
          <a:xfrm>
            <a:off x="5577840" y="5376672"/>
            <a:ext cx="914" cy="173736"/>
          </a:xfrm>
          <a:prstGeom prst="line">
            <a:avLst/>
          </a:prstGeom>
          <a:noFill/>
          <a:ln w="9525">
            <a:solidFill>
              <a:srgbClr val="767676"/>
            </a:solidFill>
            <a:prstDash val="sysDot"/>
          </a:ln>
        </p:spPr>
      </p:sp>
      <p:sp>
        <p:nvSpPr>
          <p:cNvPr id="98" name="ovl_tl_mark1"/>
          <p:cNvSpPr/>
          <p:nvPr/>
        </p:nvSpPr>
        <p:spPr>
          <a:xfrm>
            <a:off x="5522976" y="5550408"/>
            <a:ext cx="109728" cy="109728"/>
          </a:xfrm>
          <a:prstGeom prst="ellipse">
            <a:avLst/>
          </a:prstGeom>
          <a:solidFill>
            <a:srgbClr val="FFFFFF"/>
          </a:solidFill>
          <a:ln w="15875">
            <a:solidFill>
              <a:srgbClr val="197A56"/>
            </a:solidFill>
            <a:prstDash val="solid"/>
          </a:ln>
        </p:spPr>
      </p:sp>
      <p:sp>
        <p:nvSpPr>
          <p:cNvPr id="99" name="ovl_tl_note2"/>
          <p:cNvSpPr txBox="1"/>
          <p:nvPr/>
        </p:nvSpPr>
        <p:spPr>
          <a:xfrm>
            <a:off x="7955280" y="5047488"/>
            <a:ext cx="1828800" cy="310896"/>
          </a:xfrm>
          <a:prstGeom prst="rect">
            <a:avLst/>
          </a:prstGeom>
          <a:noFill/>
          <a:ln/>
        </p:spPr>
        <p:txBody>
          <a:bodyPr wrap="square" lIns="0" tIns="0" rIns="0" bIns="0" rtlCol="0" anchor="b"/>
          <a:lstStyle/>
          <a:p>
            <a:pPr algn="ctr" indent="0" marL="0">
              <a:buNone/>
            </a:pPr>
            <a:r>
              <a:rPr lang="en-US" sz="850" dirty="0">
                <a:solidFill>
                  <a:srgbClr val="333333"/>
                </a:solidFill>
                <a:latin typeface="Meiryo UI" pitchFamily="34" charset="0"/>
                <a:ea typeface="Meiryo UI" pitchFamily="34" charset="-122"/>
                <a:cs typeface="Meiryo UI" pitchFamily="34" charset="-120"/>
              </a:rPr>
              <a:t>FCF の黒字化(S&amp;P の条件)</a:t>
            </a:r>
            <a:endParaRPr lang="en-US" sz="850" dirty="0"/>
          </a:p>
        </p:txBody>
      </p:sp>
      <p:sp>
        <p:nvSpPr>
          <p:cNvPr id="100" name="ovl_tl_note3"/>
          <p:cNvSpPr txBox="1"/>
          <p:nvPr/>
        </p:nvSpPr>
        <p:spPr>
          <a:xfrm>
            <a:off x="10424160" y="5047488"/>
            <a:ext cx="1280160" cy="310896"/>
          </a:xfrm>
          <a:prstGeom prst="rect">
            <a:avLst/>
          </a:prstGeom>
          <a:noFill/>
          <a:ln/>
        </p:spPr>
        <p:txBody>
          <a:bodyPr wrap="square" lIns="0" tIns="0" rIns="0" bIns="0" rtlCol="0" anchor="b"/>
          <a:lstStyle/>
          <a:p>
            <a:pPr algn="ctr" indent="0" marL="0">
              <a:buNone/>
            </a:pPr>
            <a:r>
              <a:rPr lang="en-US" sz="850" dirty="0">
                <a:solidFill>
                  <a:srgbClr val="333333"/>
                </a:solidFill>
                <a:latin typeface="Meiryo UI" pitchFamily="34" charset="0"/>
                <a:ea typeface="Meiryo UI" pitchFamily="34" charset="-122"/>
                <a:cs typeface="Meiryo UI" pitchFamily="34" charset="-120"/>
              </a:rPr>
              <a:t>会社目標の年</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2-2 会社のシナリオ(2/2)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652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652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会社のシナリオ</a:t>
            </a:r>
            <a:endParaRPr lang="en-US" sz="1000" dirty="0"/>
          </a:p>
        </p:txBody>
      </p:sp>
      <p:sp>
        <p:nvSpPr>
          <p:cNvPr id="14" name="hdr_why"/>
          <p:cNvSpPr txBox="1"/>
          <p:nvPr/>
        </p:nvSpPr>
        <p:spPr>
          <a:xfrm>
            <a:off x="2255774" y="356616"/>
            <a:ext cx="9478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筋書きの部品ごとに、数字で作動しているかを採点し、会社の目標をどこまで信じるかを決める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需要・更新・前払いの 3 部品は数字で作動し、電力・OpenAI・資金の</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3 部品が判定を「条件付きのプラス」にとどめる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筋書きの部品(P1〜P11)を、数字で作動しているかで採点。右: 規模で重みづけした判定と、会社目標・コンセンサス・需給エンジンの差</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report/ORCL_report.md §4-3・§5-1(10-Q・決算資料・S&amp;P・Bloomberg・Reuters)、需給エンジン第4.3版、コンセンサス(2026-10-15)</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12</a:t>
            </a:r>
            <a:endParaRPr lang="en-US" sz="800" dirty="0"/>
          </a:p>
        </p:txBody>
      </p:sp>
      <p:graphicFrame>
        <p:nvGraphicFramePr>
          <p:cNvPr id="13" name="tbl"/>
          <p:cNvGraphicFramePr>
            <a:graphicFrameLocks noGrp="1"/>
          </p:cNvGraphicFramePr>
          <p:nvPr>
            <p:extLst>
              <p:ext uri="{D42A27DB-BD31-4B8C-83A1-F6EECF244321}">
                <p14:modId xmlns:p14="http://schemas.microsoft.com/office/powerpoint/2010/main" val="1579011935"/>
              </p:ext>
            </p:extLst>
          </p:nvPr>
        </p:nvGraphicFramePr>
        <p:xfrm>
          <a:off x="457200" y="1481328"/>
          <a:ext cx="7589520" cy="914400"/>
        </p:xfrm>
        <a:graphic>
          <a:graphicData uri="http://schemas.openxmlformats.org/drawingml/2006/table">
            <a:tbl>
              <a:tblPr/>
              <a:tblGrid>
                <a:gridCol w="457200"/>
                <a:gridCol w="1828800"/>
                <a:gridCol w="731520"/>
                <a:gridCol w="3749040"/>
                <a:gridCol w="822960"/>
              </a:tblGrid>
              <a:tr h="347472">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850" b="1" dirty="0">
                          <a:solidFill>
                            <a:srgbClr val="FFFFFF"/>
                          </a:solidFill>
                          <a:latin typeface="Meiryo UI" pitchFamily="34" charset="0"/>
                          <a:ea typeface="Meiryo UI" pitchFamily="34" charset="-122"/>
                          <a:cs typeface="Meiryo UI" pitchFamily="34" charset="-120"/>
                        </a:rPr>
                        <a:t>部品</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評価</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850" b="1" dirty="0">
                          <a:solidFill>
                            <a:srgbClr val="FFFFFF"/>
                          </a:solidFill>
                          <a:latin typeface="Meiryo UI" pitchFamily="34" charset="0"/>
                          <a:ea typeface="Meiryo UI" pitchFamily="34" charset="-122"/>
                          <a:cs typeface="Meiryo UI" pitchFamily="34" charset="-120"/>
                        </a:rPr>
                        <a:t>進捗(数字で作動しているか)</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重み</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4747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P1</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OpenAI</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(約 3,000 億ドル・4.5GW)</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D68910"/>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部分作動。Abilene の一部が稼働、他は遅延</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25%</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4747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P2</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OpenAI 以外の AI 顧客</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作動。OpenAI 以外の受注残は 2 倍超</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15%</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4747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P3</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前払い・GPU 持込</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作動。前受収益 154 → 308 億ドル</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15%</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4747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P4</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開発事業者とのリース</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D68910"/>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作動(未開始 2,880 億ドル)。価値は更新単価しだい</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10%</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4747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P5</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電力の確保</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D68910"/>
                          </a:solidFill>
                          <a:latin typeface="Meiryo UI" pitchFamily="34" charset="0"/>
                          <a:ea typeface="Meiryo UI" pitchFamily="34" charset="-122"/>
                          <a:cs typeface="Meiryo UI" pitchFamily="34" charset="-120"/>
                        </a:rPr>
                        <a:t>+ 遅延</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遅延。納入 850MW は計画の約 1GW 未満、ガス管も延期</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10%</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4747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P6</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資金調達</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D68910"/>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作動(ATM 完了)。格付けは BBB− に低下</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10%</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4747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P7</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Database@</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作動(+353%)</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4%</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4747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P8</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AI Database</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767676"/>
                          </a:solidFill>
                          <a:latin typeface="Meiryo UI" pitchFamily="34" charset="0"/>
                          <a:ea typeface="Meiryo UI" pitchFamily="34" charset="-122"/>
                          <a:cs typeface="Meiryo UI" pitchFamily="34" charset="-120"/>
                        </a:rPr>
                        <a:t>保留</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数字なし</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1%</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4747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P9</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アプリ(SaaS)</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作動(+10%、横ばい)</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5%</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4747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P10</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GPU の更新・再販</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作動(全量を従来比 +20% で更新・再販)</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3%</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4747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P11</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営業費の効率化</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作動(非GAAP 営業利益率 42.5%)</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2%</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0" name="pane_head"/>
          <p:cNvSpPr txBox="1"/>
          <p:nvPr/>
        </p:nvSpPr>
        <p:spPr>
          <a:xfrm>
            <a:off x="8275320" y="1481328"/>
            <a:ext cx="345643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規模で重みづけした判定</a:t>
            </a:r>
            <a:endParaRPr lang="en-US" sz="1200" dirty="0"/>
          </a:p>
        </p:txBody>
      </p:sp>
      <p:graphicFrame>
        <p:nvGraphicFramePr>
          <p:cNvPr id="21" name="chart_weight" descr=""/>
          <p:cNvGraphicFramePr/>
          <p:nvPr/>
        </p:nvGraphicFramePr>
        <p:xfrm>
          <a:off x="8275320" y="1783080"/>
          <a:ext cx="3456432" cy="1051560"/>
        </p:xfrm>
        <a:graphic xmlns:a="http://schemas.openxmlformats.org/drawingml/2006/main">
          <a:graphicData uri="http://schemas.openxmlformats.org/drawingml/2006/chart">
            <c:chart xmlns:c="http://schemas.openxmlformats.org/drawingml/2006/chart" r:id="rId1"/>
          </a:graphicData>
        </a:graphic>
      </p:graphicFrame>
      <p:sp>
        <p:nvSpPr>
          <p:cNvPr id="22" name="ovl_takeaway_bg"/>
          <p:cNvSpPr/>
          <p:nvPr/>
        </p:nvSpPr>
        <p:spPr>
          <a:xfrm>
            <a:off x="8275320" y="2926080"/>
            <a:ext cx="3456432" cy="868680"/>
          </a:xfrm>
          <a:prstGeom prst="rect">
            <a:avLst/>
          </a:prstGeom>
          <a:solidFill>
            <a:srgbClr val="EAF4EE"/>
          </a:solidFill>
          <a:ln w="12700">
            <a:solidFill>
              <a:srgbClr val="EAF4EE"/>
            </a:solidFill>
            <a:prstDash val="solid"/>
          </a:ln>
        </p:spPr>
      </p:sp>
      <p:sp>
        <p:nvSpPr>
          <p:cNvPr id="23" name="takeaway"/>
          <p:cNvSpPr txBox="1"/>
          <p:nvPr/>
        </p:nvSpPr>
        <p:spPr>
          <a:xfrm>
            <a:off x="8385048" y="2999232"/>
            <a:ext cx="3236976" cy="72237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判定は「条件付きのプラス」。両面・遅延の部品は失敗ではなく、遅れと条件</a:t>
            </a:r>
            <a:endParaRPr lang="en-US" sz="1100" dirty="0"/>
          </a:p>
        </p:txBody>
      </p:sp>
      <p:sp>
        <p:nvSpPr>
          <p:cNvPr id="24" name="pane_head"/>
          <p:cNvSpPr txBox="1"/>
          <p:nvPr/>
        </p:nvSpPr>
        <p:spPr>
          <a:xfrm>
            <a:off x="8275320" y="3931920"/>
            <a:ext cx="345643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会社の目標をどこまで信じるか(FY30)</a:t>
            </a:r>
            <a:endParaRPr lang="en-US" sz="1200" dirty="0"/>
          </a:p>
        </p:txBody>
      </p:sp>
      <p:graphicFrame>
        <p:nvGraphicFramePr>
          <p:cNvPr id="25" name="tbl"/>
          <p:cNvGraphicFramePr>
            <a:graphicFrameLocks noGrp="1"/>
          </p:cNvGraphicFramePr>
          <p:nvPr>
            <p:extLst>
              <p:ext uri="{D42A27DB-BD31-4B8C-83A1-F6EECF244321}">
                <p14:modId xmlns:p14="http://schemas.microsoft.com/office/powerpoint/2010/main" val="1579011935"/>
              </p:ext>
            </p:extLst>
          </p:nvPr>
        </p:nvGraphicFramePr>
        <p:xfrm>
          <a:off x="8275320" y="4251960"/>
          <a:ext cx="3456432" cy="914400"/>
        </p:xfrm>
        <a:graphic>
          <a:graphicData uri="http://schemas.openxmlformats.org/drawingml/2006/table">
            <a:tbl>
              <a:tblPr/>
              <a:tblGrid>
                <a:gridCol w="969264"/>
                <a:gridCol w="822960"/>
                <a:gridCol w="832104"/>
                <a:gridCol w="832104"/>
              </a:tblGrid>
              <a:tr h="310896">
                <a:tc>
                  <a:txBody>
                    <a:bodyPr/>
                    <a:lstStyle/>
                    <a:p>
                      <a:pPr algn="l" indent="0" marL="0">
                        <a:buNone/>
                      </a:pP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会社</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コンセンサス</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エンジン</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10896">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売上(億ドル)</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2,250</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2,330</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EPS(ドル)</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21.00</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20.53</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18.99</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26" name="Text 21"/>
          <p:cNvSpPr txBox="1"/>
          <p:nvPr/>
        </p:nvSpPr>
        <p:spPr>
          <a:xfrm>
            <a:off x="8275320" y="5257800"/>
            <a:ext cx="3456432" cy="868680"/>
          </a:xfrm>
          <a:prstGeom prst="rect">
            <a:avLst/>
          </a:prstGeom>
          <a:noFill/>
          <a:ln/>
        </p:spPr>
        <p:txBody>
          <a:bodyPr wrap="square" lIns="508" tIns="508" rIns="508" bIns="508" rtlCol="0" anchor="t"/>
          <a:lstStyle/>
          <a:p>
            <a:pPr indent="0" marL="0">
              <a:buNone/>
            </a:pPr>
            <a:r>
              <a:rPr lang="en-US" sz="850" dirty="0">
                <a:solidFill>
                  <a:srgbClr val="333333"/>
                </a:solidFill>
                <a:latin typeface="Meiryo UI" pitchFamily="34" charset="0"/>
                <a:ea typeface="Meiryo UI" pitchFamily="34" charset="-122"/>
                <a:cs typeface="Meiryo UI" pitchFamily="34" charset="-120"/>
              </a:rPr>
              <a:t>売上はエンジンでも届く。EPS は償却が重く 1 割低い。</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理論株価はコンセンサスの EPS を土台にし、</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エンジンの EPS は感応度で示した</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2-3 収益構造(1/2)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収益構造</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売上から利益が残る経路と、最大の費用項目を確かめる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Q1 FY27 の売上 193 億ドルから GAAP 営業利益 67 億ドルが残る。</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費用の最大項目は、AI 容量を含むクラウドの原価である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損益フロー(サンキー)、Q1 FY27(2026 年 6〜8 月)、10 億ドル。( )は前年同期比。GAAP 基準</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Oracle FY27 Q1 決算発表・10-Q(2026-09)。非GAAP との差: 株式報酬 11.3 億・無形資産償却 2.0 億・リストラ等 0.9 億ドル</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13</a:t>
            </a:r>
            <a:endParaRPr lang="en-US" sz="800" dirty="0"/>
          </a:p>
        </p:txBody>
      </p:sp>
      <p:pic>
        <p:nvPicPr>
          <p:cNvPr id="19" name="Image 0" descr="assets/sankey_q1fy27.png">    </p:cNvPr>
          <p:cNvPicPr>
            <a:picLocks noChangeAspect="1"/>
          </p:cNvPicPr>
          <p:nvPr/>
        </p:nvPicPr>
        <p:blipFill>
          <a:blip r:embed="rId1"/>
          <a:stretch>
            <a:fillRect/>
          </a:stretch>
        </p:blipFill>
        <p:spPr>
          <a:xfrm>
            <a:off x="457200" y="1463040"/>
            <a:ext cx="7680960" cy="4572000"/>
          </a:xfrm>
          <a:prstGeom prst="rect">
            <a:avLst/>
          </a:prstGeom>
        </p:spPr>
      </p:pic>
      <p:sp>
        <p:nvSpPr>
          <p:cNvPr id="20" name="ovl_takeaway_bg"/>
          <p:cNvSpPr/>
          <p:nvPr/>
        </p:nvSpPr>
        <p:spPr>
          <a:xfrm>
            <a:off x="8275320" y="1554480"/>
            <a:ext cx="3456432" cy="1325880"/>
          </a:xfrm>
          <a:prstGeom prst="rect">
            <a:avLst/>
          </a:prstGeom>
          <a:solidFill>
            <a:srgbClr val="EAF4EE"/>
          </a:solidFill>
          <a:ln w="12700">
            <a:solidFill>
              <a:srgbClr val="EAF4EE"/>
            </a:solidFill>
            <a:prstDash val="solid"/>
          </a:ln>
        </p:spPr>
      </p:sp>
      <p:sp>
        <p:nvSpPr>
          <p:cNvPr id="21" name="takeaway"/>
          <p:cNvSpPr txBox="1"/>
          <p:nvPr/>
        </p:nvSpPr>
        <p:spPr>
          <a:xfrm>
            <a:off x="8385048" y="1627632"/>
            <a:ext cx="3236976" cy="117957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クラウド・ソフトの原価が +77% と売上(+33%)の 2 倍以上の速さで伸び、同部門の粗利率は 72.0% → 62.7% に下がった</a:t>
            </a:r>
            <a:endParaRPr lang="en-US" sz="1100" dirty="0"/>
          </a:p>
        </p:txBody>
      </p:sp>
      <p:sp>
        <p:nvSpPr>
          <p:cNvPr id="22" name="bullets"/>
          <p:cNvSpPr txBox="1"/>
          <p:nvPr/>
        </p:nvSpPr>
        <p:spPr>
          <a:xfrm>
            <a:off x="8275320" y="3017520"/>
            <a:ext cx="3456432" cy="3017520"/>
          </a:xfrm>
          <a:prstGeom prst="rect">
            <a:avLst/>
          </a:prstGeom>
          <a:noFill/>
          <a:ln/>
        </p:spPr>
        <p:txBody>
          <a:bodyPr wrap="square" lIns="508" tIns="508" rIns="508" bIns="508" rtlCol="0" anchor="t"/>
          <a:lstStyle/>
          <a:p>
            <a:pPr marL="152400" indent="-152400">
              <a:buSzPct val="100000"/>
              <a:buChar char="•"/>
            </a:pPr>
            <a:r>
              <a:rPr lang="en-US" sz="1050" dirty="0">
                <a:solidFill>
                  <a:srgbClr val="333333"/>
                </a:solidFill>
                <a:latin typeface="Meiryo UI" pitchFamily="34" charset="0"/>
                <a:ea typeface="Meiryo UI" pitchFamily="34" charset="-122"/>
                <a:cs typeface="Meiryo UI" pitchFamily="34" charset="-120"/>
              </a:rPr>
              <a:t>営業利益 +24.5 億ドル(+57%)は、</a:t>
            </a:r>
            <a:endParaRPr lang="en-US" sz="1050" dirty="0"/>
          </a:p>
          <a:p>
            <a:pPr marL="152400" indent="-152400">
              <a:buSzPct val="100000"/>
              <a:buChar char=" "/>
            </a:pPr>
            <a:r>
              <a:rPr lang="en-US" sz="1050" dirty="0">
                <a:solidFill>
                  <a:srgbClr val="333333"/>
                </a:solidFill>
                <a:latin typeface="Meiryo UI" pitchFamily="34" charset="0"/>
                <a:ea typeface="Meiryo UI" pitchFamily="34" charset="-122"/>
                <a:cs typeface="Meiryo UI" pitchFamily="34" charset="-120"/>
              </a:rPr>
              <a:t>営業費の減少 8.8 億ドル(うち</a:t>
            </a:r>
            <a:endParaRPr lang="en-US" sz="1050" dirty="0"/>
          </a:p>
          <a:p>
            <a:pPr marL="152400" indent="-152400">
              <a:spcAft>
                <a:spcPts val="400"/>
              </a:spcAft>
              <a:buSzPct val="100000"/>
              <a:buChar char=" "/>
            </a:pPr>
            <a:r>
              <a:rPr lang="en-US" sz="1050" dirty="0">
                <a:solidFill>
                  <a:srgbClr val="333333"/>
                </a:solidFill>
                <a:latin typeface="Meiryo UI" pitchFamily="34" charset="0"/>
                <a:ea typeface="Meiryo UI" pitchFamily="34" charset="-122"/>
                <a:cs typeface="Meiryo UI" pitchFamily="34" charset="-120"/>
              </a:rPr>
              <a:t>償却とリストラの減少 5.4 億)に支えられた</a:t>
            </a:r>
            <a:endParaRPr lang="en-US" sz="1050" dirty="0"/>
          </a:p>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GAAP 営業利益率 34.8%(非GAAP 42%)。差は株式報酬と償却</a:t>
            </a:r>
            <a:endParaRPr lang="en-US" sz="1050" dirty="0"/>
          </a:p>
          <a:p>
            <a:pPr marL="152400" indent="-152400">
              <a:buSzPct val="100000"/>
              <a:buChar char="•"/>
            </a:pPr>
            <a:r>
              <a:rPr lang="en-US" sz="1050" dirty="0">
                <a:solidFill>
                  <a:srgbClr val="333333"/>
                </a:solidFill>
                <a:latin typeface="Meiryo UI" pitchFamily="34" charset="0"/>
                <a:ea typeface="Meiryo UI" pitchFamily="34" charset="-122"/>
                <a:cs typeface="Meiryo UI" pitchFamily="34" charset="-120"/>
              </a:rPr>
              <a:t>構成比: クラウド 60%・ソフトウェア 29%・</a:t>
            </a:r>
            <a:endParaRPr lang="en-US" sz="1050" dirty="0"/>
          </a:p>
          <a:p>
            <a:pPr marL="152400" indent="-152400">
              <a:spcAft>
                <a:spcPts val="400"/>
              </a:spcAft>
              <a:buSzPct val="100000"/>
              <a:buChar char=" "/>
            </a:pPr>
            <a:r>
              <a:rPr lang="en-US" sz="1050" dirty="0">
                <a:solidFill>
                  <a:srgbClr val="333333"/>
                </a:solidFill>
                <a:latin typeface="Meiryo UI" pitchFamily="34" charset="0"/>
                <a:ea typeface="Meiryo UI" pitchFamily="34" charset="-122"/>
                <a:cs typeface="Meiryo UI" pitchFamily="34" charset="-120"/>
              </a:rPr>
              <a:t>サービス 7%・ハード 4%</a:t>
            </a:r>
            <a:endParaRPr lang="en-US" sz="1050" dirty="0"/>
          </a:p>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原価の伸びは、AI 容量の稼働前の費用(電力・賃料)を含む</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2-3 収益構造(2/2)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収益構造</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AI の比率が上がると利益率がどう動くかを見て、EPS の伸びの質を確かめる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全社の営業利益率は AI の比率上昇で FY29 に 31% まで下がり、</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FY32 に 34% へ戻る。オーナー利益のルール・オブ・40 は 46〜76</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事業実態の営業利益率(株式報酬を費用に含む。GAAP の Q1 は 34.8%、非GAAP は 42%)と AI 事業の利益率、%</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需給エンジン第4.3版(calc/model8.py)</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14</a:t>
            </a:r>
            <a:endParaRPr lang="en-US" sz="800" dirty="0"/>
          </a:p>
        </p:txBody>
      </p:sp>
      <p:graphicFrame>
        <p:nvGraphicFramePr>
          <p:cNvPr id="19" name="chart" descr=""/>
          <p:cNvGraphicFramePr/>
          <p:nvPr/>
        </p:nvGraphicFramePr>
        <p:xfrm>
          <a:off x="457200" y="1508760"/>
          <a:ext cx="7635240" cy="4572000"/>
        </p:xfrm>
        <a:graphic xmlns:a="http://schemas.openxmlformats.org/drawingml/2006/main">
          <a:graphicData uri="http://schemas.openxmlformats.org/drawingml/2006/chart">
            <c:chart xmlns:c="http://schemas.openxmlformats.org/drawingml/2006/chart" r:id="rId1"/>
          </a:graphicData>
        </a:graphic>
      </p:graphicFrame>
      <p:sp>
        <p:nvSpPr>
          <p:cNvPr id="20" name="ovl_takeaway_bg"/>
          <p:cNvSpPr/>
          <p:nvPr/>
        </p:nvSpPr>
        <p:spPr>
          <a:xfrm>
            <a:off x="8275320" y="1554480"/>
            <a:ext cx="3456432" cy="1234440"/>
          </a:xfrm>
          <a:prstGeom prst="rect">
            <a:avLst/>
          </a:prstGeom>
          <a:solidFill>
            <a:srgbClr val="EAF4EE"/>
          </a:solidFill>
          <a:ln w="12700">
            <a:solidFill>
              <a:srgbClr val="EAF4EE"/>
            </a:solidFill>
            <a:prstDash val="solid"/>
          </a:ln>
        </p:spPr>
      </p:sp>
      <p:sp>
        <p:nvSpPr>
          <p:cNvPr id="21" name="takeaway"/>
          <p:cNvSpPr txBox="1"/>
          <p:nvPr/>
        </p:nvSpPr>
        <p:spPr>
          <a:xfrm>
            <a:off x="8385048" y="1627632"/>
            <a:ext cx="3236976" cy="108813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利益率の低下は構成の変化(AI の売上比率</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30% → 66%)によるもので、</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AI 事業そのものは稼働の成熟で改善する</a:t>
            </a:r>
            <a:endParaRPr lang="en-US" sz="1100" dirty="0"/>
          </a:p>
        </p:txBody>
      </p:sp>
      <p:graphicFrame>
        <p:nvGraphicFramePr>
          <p:cNvPr id="15" name="tbl"/>
          <p:cNvGraphicFramePr>
            <a:graphicFrameLocks noGrp="1"/>
          </p:cNvGraphicFramePr>
          <p:nvPr>
            <p:extLst>
              <p:ext uri="{D42A27DB-BD31-4B8C-83A1-F6EECF244321}">
                <p14:modId xmlns:p14="http://schemas.microsoft.com/office/powerpoint/2010/main" val="1579011935"/>
              </p:ext>
            </p:extLst>
          </p:nvPr>
        </p:nvGraphicFramePr>
        <p:xfrm>
          <a:off x="8275320" y="2971800"/>
          <a:ext cx="3456432" cy="914400"/>
        </p:xfrm>
        <a:graphic>
          <a:graphicData uri="http://schemas.openxmlformats.org/drawingml/2006/table">
            <a:tbl>
              <a:tblPr/>
              <a:tblGrid>
                <a:gridCol w="713232"/>
                <a:gridCol w="822960"/>
                <a:gridCol w="868680"/>
                <a:gridCol w="1051560"/>
              </a:tblGrid>
              <a:tr h="310896">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年度</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売上成長</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R40(FCF)</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R40(オーナー)</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FY28</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43%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18</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76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FY29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67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FY30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46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64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FY31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40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51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FY32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46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3" name="note"/>
          <p:cNvSpPr txBox="1"/>
          <p:nvPr/>
        </p:nvSpPr>
        <p:spPr>
          <a:xfrm>
            <a:off x="8275320" y="4983480"/>
            <a:ext cx="3456432" cy="1005840"/>
          </a:xfrm>
          <a:prstGeom prst="rect">
            <a:avLst/>
          </a:prstGeom>
          <a:noFill/>
          <a:ln/>
        </p:spPr>
        <p:txBody>
          <a:bodyPr wrap="square" lIns="508" tIns="508" rIns="508" bIns="508" rtlCol="0" anchor="t"/>
          <a:lstStyle/>
          <a:p>
            <a:pPr indent="0" marL="0">
              <a:buNone/>
            </a:pPr>
            <a:r>
              <a:rPr lang="en-US" sz="850" dirty="0">
                <a:solidFill>
                  <a:srgbClr val="767676"/>
                </a:solidFill>
                <a:latin typeface="Meiryo UI" pitchFamily="34" charset="0"/>
                <a:ea typeface="Meiryo UI" pitchFamily="34" charset="-122"/>
                <a:cs typeface="Meiryo UI" pitchFamily="34" charset="-120"/>
              </a:rPr>
              <a:t>R40 = 売上成長率 + 利益率。オーナー = オーナー利益(EBITDA − 維持投資 − 現金税)。償却費は将来の現金支出ではないため、</a:t>
            </a:r>
            <a:endParaRPr lang="en-US" sz="850" dirty="0"/>
          </a:p>
          <a:p>
            <a:pPr indent="0" marL="0">
              <a:buNone/>
            </a:pPr>
            <a:r>
              <a:rPr lang="en-US" sz="850" dirty="0">
                <a:solidFill>
                  <a:srgbClr val="767676"/>
                </a:solidFill>
                <a:latin typeface="Meiryo UI" pitchFamily="34" charset="0"/>
                <a:ea typeface="Meiryo UI" pitchFamily="34" charset="-122"/>
                <a:cs typeface="Meiryo UI" pitchFamily="34" charset="-120"/>
              </a:rPr>
              <a:t>維持投資で置き換えた</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2-4 競争優位</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競争優位</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価格・品質・業界構造から、Oracle が利益を守れる理由と、その限界を見る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優位の源泉は価格ではなく DB と資金・敷地の確保。電力の確保に</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3〜4 年かかる構造が参入を遅らせ、上限は NVIDIA と買い手の集中が決める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競合に対する価格・品質・差を生む活動(米国のオンデマンド定価)。右: ファイブフォース(各力の強さと Oracle の利益率への効き)</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report/r3_sections_5w1h_f20.md §3-4(F20)、research3/W3_industry_structure.md、research2/R3_competition.md、ClusterMAX v3.0(2026-09)</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15</a:t>
            </a:r>
            <a:endParaRPr lang="en-US" sz="800" dirty="0"/>
          </a:p>
        </p:txBody>
      </p:sp>
      <p:sp>
        <p:nvSpPr>
          <p:cNvPr id="19" name="pane_l"/>
          <p:cNvSpPr txBox="1"/>
          <p:nvPr/>
        </p:nvSpPr>
        <p:spPr>
          <a:xfrm>
            <a:off x="457200"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競合比較: 品質 × 価格 × 価値連鎖</a:t>
            </a:r>
            <a:endParaRPr lang="en-US" sz="1200" dirty="0"/>
          </a:p>
        </p:txBody>
      </p:sp>
      <p:graphicFrame>
        <p:nvGraphicFramePr>
          <p:cNvPr id="16" name="tbl_compete"/>
          <p:cNvGraphicFramePr>
            <a:graphicFrameLocks noGrp="1"/>
          </p:cNvGraphicFramePr>
          <p:nvPr>
            <p:extLst>
              <p:ext uri="{D42A27DB-BD31-4B8C-83A1-F6EECF244321}">
                <p14:modId xmlns:p14="http://schemas.microsoft.com/office/powerpoint/2010/main" val="1579011935"/>
              </p:ext>
            </p:extLst>
          </p:nvPr>
        </p:nvGraphicFramePr>
        <p:xfrm>
          <a:off x="457200" y="1828800"/>
          <a:ext cx="5532120" cy="914400"/>
        </p:xfrm>
        <a:graphic>
          <a:graphicData uri="http://schemas.openxmlformats.org/drawingml/2006/table">
            <a:tbl>
              <a:tblPr/>
              <a:tblGrid>
                <a:gridCol w="1143000"/>
                <a:gridCol w="1600200"/>
                <a:gridCol w="1417320"/>
                <a:gridCol w="1371600"/>
              </a:tblGrid>
              <a:tr h="548640">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製品</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価格(対競合)</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品質</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差を生む活動</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548640">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AI 容量(H100)</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10 ドル/時。</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AWS の 1.45 倍・</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CoreWeave の 1.62 倍</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ClusterMAX は Gold(最上位は CoreWeave・Nebius)</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資金と DC・</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電力の確保</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48640">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汎用計算</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月額で AWS・Azure より 45% 安い</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SLA 99.99% で同水準</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ハード外の仮想化</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548640">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外向き通信</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月 50TB で AWS の</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12.6 分の 1</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比較なし</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ネットワーク設計</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48640">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DB ライセンス</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同じコアで必要なライセンスが半分</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DB 本体は同一</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ライセンス規則</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548640">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Database@</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OCI と同一価格。他社の契約枠に算入可</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移設不要で低遅延</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他社クラウド内</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への配置</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1" name="ovl_takeaway_bg"/>
          <p:cNvSpPr/>
          <p:nvPr/>
        </p:nvSpPr>
        <p:spPr>
          <a:xfrm>
            <a:off x="457200" y="5257800"/>
            <a:ext cx="5532120" cy="868680"/>
          </a:xfrm>
          <a:prstGeom prst="rect">
            <a:avLst/>
          </a:prstGeom>
          <a:solidFill>
            <a:srgbClr val="EAF4EE"/>
          </a:solidFill>
          <a:ln w="12700">
            <a:solidFill>
              <a:srgbClr val="EAF4EE"/>
            </a:solidFill>
            <a:prstDash val="solid"/>
          </a:ln>
        </p:spPr>
      </p:sp>
      <p:sp>
        <p:nvSpPr>
          <p:cNvPr id="22" name="takeaway"/>
          <p:cNvSpPr txBox="1"/>
          <p:nvPr/>
        </p:nvSpPr>
        <p:spPr>
          <a:xfrm>
            <a:off x="566928" y="5330952"/>
            <a:ext cx="5312664" cy="72237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安いのは汎用計算・通信・DB ライセンス。GPU は高く品質も最上位ではない。優位は価格ではなく DB と資金・敷地の確保</a:t>
            </a:r>
            <a:endParaRPr lang="en-US" sz="1100" dirty="0"/>
          </a:p>
        </p:txBody>
      </p:sp>
      <p:sp>
        <p:nvSpPr>
          <p:cNvPr id="23" name="pane_r"/>
          <p:cNvSpPr txBox="1"/>
          <p:nvPr/>
        </p:nvSpPr>
        <p:spPr>
          <a:xfrm>
            <a:off x="6199632"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ファイブフォース(業界構造)</a:t>
            </a:r>
            <a:endParaRPr lang="en-US" sz="1200" dirty="0"/>
          </a:p>
        </p:txBody>
      </p:sp>
      <p:sp>
        <p:nvSpPr>
          <p:cNvPr id="24" name="ovl_force_entry"/>
          <p:cNvSpPr/>
          <p:nvPr/>
        </p:nvSpPr>
        <p:spPr>
          <a:xfrm>
            <a:off x="8097012" y="1828800"/>
            <a:ext cx="1737360" cy="1325880"/>
          </a:xfrm>
          <a:prstGeom prst="roundRect">
            <a:avLst>
              <a:gd name="adj" fmla="val 4138"/>
            </a:avLst>
          </a:prstGeom>
          <a:solidFill>
            <a:srgbClr val="FFFFFF"/>
          </a:solidFill>
          <a:ln w="9525">
            <a:solidFill>
              <a:srgbClr val="D9D9D9"/>
            </a:solidFill>
            <a:prstDash val="solid"/>
          </a:ln>
        </p:spPr>
      </p:sp>
      <p:sp>
        <p:nvSpPr>
          <p:cNvPr id="25" name="force_n_entry"/>
          <p:cNvSpPr txBox="1"/>
          <p:nvPr/>
        </p:nvSpPr>
        <p:spPr>
          <a:xfrm>
            <a:off x="8170164" y="1892808"/>
            <a:ext cx="1188720" cy="256032"/>
          </a:xfrm>
          <a:prstGeom prst="rect">
            <a:avLst/>
          </a:prstGeom>
          <a:noFill/>
          <a:ln/>
        </p:spPr>
        <p:txBody>
          <a:bodyPr wrap="square" lIns="0" tIns="0" rIns="0" bIns="0"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新規参入</a:t>
            </a:r>
            <a:endParaRPr lang="en-US" sz="1000" dirty="0"/>
          </a:p>
        </p:txBody>
      </p:sp>
      <p:sp>
        <p:nvSpPr>
          <p:cNvPr id="26" name="force_s_entry"/>
          <p:cNvSpPr txBox="1"/>
          <p:nvPr/>
        </p:nvSpPr>
        <p:spPr>
          <a:xfrm>
            <a:off x="9358884" y="1892808"/>
            <a:ext cx="402336" cy="256032"/>
          </a:xfrm>
          <a:prstGeom prst="rect">
            <a:avLst/>
          </a:prstGeom>
          <a:noFill/>
          <a:ln/>
        </p:spPr>
        <p:txBody>
          <a:bodyPr wrap="square" lIns="0" tIns="0" rIns="0" bIns="0" rtlCol="0" anchor="ctr"/>
          <a:lstStyle/>
          <a:p>
            <a:pPr algn="r" indent="0" marL="0">
              <a:buNone/>
            </a:pPr>
            <a:r>
              <a:rPr lang="en-US" sz="1000" b="1" dirty="0">
                <a:solidFill>
                  <a:srgbClr val="197A56"/>
                </a:solidFill>
                <a:latin typeface="Meiryo UI" pitchFamily="34" charset="0"/>
                <a:ea typeface="Meiryo UI" pitchFamily="34" charset="-122"/>
                <a:cs typeface="Meiryo UI" pitchFamily="34" charset="-120"/>
              </a:rPr>
              <a:t>弱</a:t>
            </a:r>
            <a:endParaRPr lang="en-US" sz="1000" dirty="0"/>
          </a:p>
        </p:txBody>
      </p:sp>
      <p:sp>
        <p:nvSpPr>
          <p:cNvPr id="27" name="force_f_entry"/>
          <p:cNvSpPr txBox="1"/>
          <p:nvPr/>
        </p:nvSpPr>
        <p:spPr>
          <a:xfrm>
            <a:off x="8170164" y="2194560"/>
            <a:ext cx="1591056" cy="896112"/>
          </a:xfrm>
          <a:prstGeom prst="rect">
            <a:avLst/>
          </a:prstGeom>
          <a:noFill/>
          <a:ln/>
        </p:spPr>
        <p:txBody>
          <a:bodyPr wrap="square" lIns="0" tIns="0" rIns="0" bIns="0" rtlCol="0" anchor="t"/>
          <a:lstStyle/>
          <a:p>
            <a:pPr indent="0" marL="0">
              <a:buNone/>
            </a:pPr>
            <a:r>
              <a:rPr lang="en-US" sz="850" dirty="0">
                <a:solidFill>
                  <a:srgbClr val="333333"/>
                </a:solidFill>
                <a:latin typeface="Meiryo UI" pitchFamily="34" charset="0"/>
                <a:ea typeface="Meiryo UI" pitchFamily="34" charset="-122"/>
                <a:cs typeface="Meiryo UI" pitchFamily="34" charset="-120"/>
              </a:rPr>
              <a:t>ガスタービン納期 約 3 年、</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系統連系 約 40 か月、</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変圧器 128〜160 週</a:t>
            </a:r>
            <a:endParaRPr lang="en-US" sz="850" dirty="0"/>
          </a:p>
        </p:txBody>
      </p:sp>
      <p:sp>
        <p:nvSpPr>
          <p:cNvPr id="28" name="ovl_force_supp"/>
          <p:cNvSpPr/>
          <p:nvPr/>
        </p:nvSpPr>
        <p:spPr>
          <a:xfrm>
            <a:off x="6199632" y="3246120"/>
            <a:ext cx="1737360" cy="1325880"/>
          </a:xfrm>
          <a:prstGeom prst="roundRect">
            <a:avLst>
              <a:gd name="adj" fmla="val 4138"/>
            </a:avLst>
          </a:prstGeom>
          <a:solidFill>
            <a:srgbClr val="FFFFFF"/>
          </a:solidFill>
          <a:ln w="9525">
            <a:solidFill>
              <a:srgbClr val="D9D9D9"/>
            </a:solidFill>
            <a:prstDash val="solid"/>
          </a:ln>
        </p:spPr>
      </p:sp>
      <p:sp>
        <p:nvSpPr>
          <p:cNvPr id="29" name="force_n_supp"/>
          <p:cNvSpPr txBox="1"/>
          <p:nvPr/>
        </p:nvSpPr>
        <p:spPr>
          <a:xfrm>
            <a:off x="6272784" y="3310128"/>
            <a:ext cx="1188720" cy="256032"/>
          </a:xfrm>
          <a:prstGeom prst="rect">
            <a:avLst/>
          </a:prstGeom>
          <a:noFill/>
          <a:ln/>
        </p:spPr>
        <p:txBody>
          <a:bodyPr wrap="square" lIns="0" tIns="0" rIns="0" bIns="0"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供給者</a:t>
            </a:r>
            <a:endParaRPr lang="en-US" sz="1000" dirty="0"/>
          </a:p>
        </p:txBody>
      </p:sp>
      <p:sp>
        <p:nvSpPr>
          <p:cNvPr id="30" name="force_s_supp"/>
          <p:cNvSpPr txBox="1"/>
          <p:nvPr/>
        </p:nvSpPr>
        <p:spPr>
          <a:xfrm>
            <a:off x="7461504" y="3310128"/>
            <a:ext cx="402336" cy="256032"/>
          </a:xfrm>
          <a:prstGeom prst="rect">
            <a:avLst/>
          </a:prstGeom>
          <a:noFill/>
          <a:ln/>
        </p:spPr>
        <p:txBody>
          <a:bodyPr wrap="square" lIns="0" tIns="0" rIns="0" bIns="0" rtlCol="0" anchor="ctr"/>
          <a:lstStyle/>
          <a:p>
            <a:pPr algn="r" indent="0" marL="0">
              <a:buNone/>
            </a:pPr>
            <a:r>
              <a:rPr lang="en-US" sz="1000" b="1" dirty="0">
                <a:solidFill>
                  <a:srgbClr val="C0392B"/>
                </a:solidFill>
                <a:latin typeface="Meiryo UI" pitchFamily="34" charset="0"/>
                <a:ea typeface="Meiryo UI" pitchFamily="34" charset="-122"/>
                <a:cs typeface="Meiryo UI" pitchFamily="34" charset="-120"/>
              </a:rPr>
              <a:t>強</a:t>
            </a:r>
            <a:endParaRPr lang="en-US" sz="1000" dirty="0"/>
          </a:p>
        </p:txBody>
      </p:sp>
      <p:sp>
        <p:nvSpPr>
          <p:cNvPr id="31" name="force_f_supp"/>
          <p:cNvSpPr txBox="1"/>
          <p:nvPr/>
        </p:nvSpPr>
        <p:spPr>
          <a:xfrm>
            <a:off x="6272784" y="3611880"/>
            <a:ext cx="1591056" cy="896112"/>
          </a:xfrm>
          <a:prstGeom prst="rect">
            <a:avLst/>
          </a:prstGeom>
          <a:noFill/>
          <a:ln/>
        </p:spPr>
        <p:txBody>
          <a:bodyPr wrap="square" lIns="0" tIns="0" rIns="0" bIns="0" rtlCol="0" anchor="t"/>
          <a:lstStyle/>
          <a:p>
            <a:pPr indent="0" marL="0">
              <a:buNone/>
            </a:pPr>
            <a:r>
              <a:rPr lang="en-US" sz="850" dirty="0">
                <a:solidFill>
                  <a:srgbClr val="333333"/>
                </a:solidFill>
                <a:latin typeface="Meiryo UI" pitchFamily="34" charset="0"/>
                <a:ea typeface="Meiryo UI" pitchFamily="34" charset="-122"/>
                <a:cs typeface="Meiryo UI" pitchFamily="34" charset="-120"/>
              </a:rPr>
              <a:t>NVIDIA が AI 計算の約 8 割(近似)。メモリ価格の上昇が capex を押し上げ</a:t>
            </a:r>
            <a:endParaRPr lang="en-US" sz="850" dirty="0"/>
          </a:p>
        </p:txBody>
      </p:sp>
      <p:sp>
        <p:nvSpPr>
          <p:cNvPr id="32" name="ovl_force_rival"/>
          <p:cNvSpPr/>
          <p:nvPr/>
        </p:nvSpPr>
        <p:spPr>
          <a:xfrm>
            <a:off x="8097012" y="3246120"/>
            <a:ext cx="1737360" cy="1325880"/>
          </a:xfrm>
          <a:prstGeom prst="roundRect">
            <a:avLst>
              <a:gd name="adj" fmla="val 4138"/>
            </a:avLst>
          </a:prstGeom>
          <a:solidFill>
            <a:srgbClr val="FFFFFF"/>
          </a:solidFill>
          <a:ln w="9525">
            <a:solidFill>
              <a:srgbClr val="D9D9D9"/>
            </a:solidFill>
            <a:prstDash val="solid"/>
          </a:ln>
        </p:spPr>
      </p:sp>
      <p:sp>
        <p:nvSpPr>
          <p:cNvPr id="33" name="force_n_rival"/>
          <p:cNvSpPr txBox="1"/>
          <p:nvPr/>
        </p:nvSpPr>
        <p:spPr>
          <a:xfrm>
            <a:off x="8170164" y="3310128"/>
            <a:ext cx="1188720" cy="256032"/>
          </a:xfrm>
          <a:prstGeom prst="rect">
            <a:avLst/>
          </a:prstGeom>
          <a:noFill/>
          <a:ln/>
        </p:spPr>
        <p:txBody>
          <a:bodyPr wrap="square" lIns="0" tIns="0" rIns="0" bIns="0"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業界内の競争</a:t>
            </a:r>
            <a:endParaRPr lang="en-US" sz="1000" dirty="0"/>
          </a:p>
        </p:txBody>
      </p:sp>
      <p:sp>
        <p:nvSpPr>
          <p:cNvPr id="34" name="force_s_rival"/>
          <p:cNvSpPr txBox="1"/>
          <p:nvPr/>
        </p:nvSpPr>
        <p:spPr>
          <a:xfrm>
            <a:off x="9358884" y="3310128"/>
            <a:ext cx="402336" cy="256032"/>
          </a:xfrm>
          <a:prstGeom prst="rect">
            <a:avLst/>
          </a:prstGeom>
          <a:noFill/>
          <a:ln/>
        </p:spPr>
        <p:txBody>
          <a:bodyPr wrap="square" lIns="0" tIns="0" rIns="0" bIns="0" rtlCol="0" anchor="ctr"/>
          <a:lstStyle/>
          <a:p>
            <a:pPr algn="r" indent="0" marL="0">
              <a:buNone/>
            </a:pPr>
            <a:r>
              <a:rPr lang="en-US" sz="1000" b="1" dirty="0">
                <a:solidFill>
                  <a:srgbClr val="D68910"/>
                </a:solidFill>
                <a:latin typeface="Meiryo UI" pitchFamily="34" charset="0"/>
                <a:ea typeface="Meiryo UI" pitchFamily="34" charset="-122"/>
                <a:cs typeface="Meiryo UI" pitchFamily="34" charset="-120"/>
              </a:rPr>
              <a:t>中</a:t>
            </a:r>
            <a:endParaRPr lang="en-US" sz="1000" dirty="0"/>
          </a:p>
        </p:txBody>
      </p:sp>
      <p:sp>
        <p:nvSpPr>
          <p:cNvPr id="35" name="force_f_rival"/>
          <p:cNvSpPr txBox="1"/>
          <p:nvPr/>
        </p:nvSpPr>
        <p:spPr>
          <a:xfrm>
            <a:off x="8170164" y="3611880"/>
            <a:ext cx="1591056" cy="896112"/>
          </a:xfrm>
          <a:prstGeom prst="rect">
            <a:avLst/>
          </a:prstGeom>
          <a:noFill/>
          <a:ln/>
        </p:spPr>
        <p:txBody>
          <a:bodyPr wrap="square" lIns="0" tIns="0" rIns="0" bIns="0" rtlCol="0" anchor="t"/>
          <a:lstStyle/>
          <a:p>
            <a:pPr indent="0" marL="0">
              <a:buNone/>
            </a:pPr>
            <a:r>
              <a:rPr lang="en-US" sz="850" dirty="0">
                <a:solidFill>
                  <a:srgbClr val="333333"/>
                </a:solidFill>
                <a:latin typeface="Meiryo UI" pitchFamily="34" charset="0"/>
                <a:ea typeface="Meiryo UI" pitchFamily="34" charset="-122"/>
                <a:cs typeface="Meiryo UI" pitchFamily="34" charset="-120"/>
              </a:rPr>
              <a:t>H100 実勢: 大手 7.19 ドル・ネオクラウド 2.80 ドル。1 年契約は +38%</a:t>
            </a:r>
            <a:endParaRPr lang="en-US" sz="850" dirty="0"/>
          </a:p>
        </p:txBody>
      </p:sp>
      <p:sp>
        <p:nvSpPr>
          <p:cNvPr id="36" name="ovl_force_buyer"/>
          <p:cNvSpPr/>
          <p:nvPr/>
        </p:nvSpPr>
        <p:spPr>
          <a:xfrm>
            <a:off x="9994392" y="3246120"/>
            <a:ext cx="1737360" cy="1325880"/>
          </a:xfrm>
          <a:prstGeom prst="roundRect">
            <a:avLst>
              <a:gd name="adj" fmla="val 4138"/>
            </a:avLst>
          </a:prstGeom>
          <a:solidFill>
            <a:srgbClr val="FFFFFF"/>
          </a:solidFill>
          <a:ln w="9525">
            <a:solidFill>
              <a:srgbClr val="D9D9D9"/>
            </a:solidFill>
            <a:prstDash val="solid"/>
          </a:ln>
        </p:spPr>
      </p:sp>
      <p:sp>
        <p:nvSpPr>
          <p:cNvPr id="37" name="force_n_buyer"/>
          <p:cNvSpPr txBox="1"/>
          <p:nvPr/>
        </p:nvSpPr>
        <p:spPr>
          <a:xfrm>
            <a:off x="10067544" y="3310128"/>
            <a:ext cx="1188720" cy="256032"/>
          </a:xfrm>
          <a:prstGeom prst="rect">
            <a:avLst/>
          </a:prstGeom>
          <a:noFill/>
          <a:ln/>
        </p:spPr>
        <p:txBody>
          <a:bodyPr wrap="square" lIns="0" tIns="0" rIns="0" bIns="0"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買い手</a:t>
            </a:r>
            <a:endParaRPr lang="en-US" sz="1000" dirty="0"/>
          </a:p>
        </p:txBody>
      </p:sp>
      <p:sp>
        <p:nvSpPr>
          <p:cNvPr id="38" name="force_s_buyer"/>
          <p:cNvSpPr txBox="1"/>
          <p:nvPr/>
        </p:nvSpPr>
        <p:spPr>
          <a:xfrm>
            <a:off x="11256264" y="3310128"/>
            <a:ext cx="402336" cy="256032"/>
          </a:xfrm>
          <a:prstGeom prst="rect">
            <a:avLst/>
          </a:prstGeom>
          <a:noFill/>
          <a:ln/>
        </p:spPr>
        <p:txBody>
          <a:bodyPr wrap="square" lIns="0" tIns="0" rIns="0" bIns="0" rtlCol="0" anchor="ctr"/>
          <a:lstStyle/>
          <a:p>
            <a:pPr algn="r" indent="0" marL="0">
              <a:buNone/>
            </a:pPr>
            <a:r>
              <a:rPr lang="en-US" sz="1000" b="1" dirty="0">
                <a:solidFill>
                  <a:srgbClr val="C0392B"/>
                </a:solidFill>
                <a:latin typeface="Meiryo UI" pitchFamily="34" charset="0"/>
                <a:ea typeface="Meiryo UI" pitchFamily="34" charset="-122"/>
                <a:cs typeface="Meiryo UI" pitchFamily="34" charset="-120"/>
              </a:rPr>
              <a:t>強</a:t>
            </a:r>
            <a:endParaRPr lang="en-US" sz="1000" dirty="0"/>
          </a:p>
        </p:txBody>
      </p:sp>
      <p:sp>
        <p:nvSpPr>
          <p:cNvPr id="39" name="force_f_buyer"/>
          <p:cNvSpPr txBox="1"/>
          <p:nvPr/>
        </p:nvSpPr>
        <p:spPr>
          <a:xfrm>
            <a:off x="10067544" y="3611880"/>
            <a:ext cx="1591056" cy="896112"/>
          </a:xfrm>
          <a:prstGeom prst="rect">
            <a:avLst/>
          </a:prstGeom>
          <a:noFill/>
          <a:ln/>
        </p:spPr>
        <p:txBody>
          <a:bodyPr wrap="square" lIns="0" tIns="0" rIns="0" bIns="0" rtlCol="0" anchor="t"/>
          <a:lstStyle/>
          <a:p>
            <a:pPr indent="0" marL="0">
              <a:buNone/>
            </a:pPr>
            <a:r>
              <a:rPr lang="en-US" sz="850" dirty="0">
                <a:solidFill>
                  <a:srgbClr val="333333"/>
                </a:solidFill>
                <a:latin typeface="Meiryo UI" pitchFamily="34" charset="0"/>
                <a:ea typeface="Meiryo UI" pitchFamily="34" charset="-122"/>
                <a:cs typeface="Meiryo UI" pitchFamily="34" charset="-120"/>
              </a:rPr>
              <a:t>OpenAI が受注残の約 45%。</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計算契約は売上見通しの</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約 32 倍</a:t>
            </a:r>
            <a:endParaRPr lang="en-US" sz="850" dirty="0"/>
          </a:p>
        </p:txBody>
      </p:sp>
      <p:sp>
        <p:nvSpPr>
          <p:cNvPr id="40" name="ovl_force_subst"/>
          <p:cNvSpPr/>
          <p:nvPr/>
        </p:nvSpPr>
        <p:spPr>
          <a:xfrm>
            <a:off x="8097012" y="4663440"/>
            <a:ext cx="1737360" cy="1325880"/>
          </a:xfrm>
          <a:prstGeom prst="roundRect">
            <a:avLst>
              <a:gd name="adj" fmla="val 4138"/>
            </a:avLst>
          </a:prstGeom>
          <a:solidFill>
            <a:srgbClr val="FFFFFF"/>
          </a:solidFill>
          <a:ln w="9525">
            <a:solidFill>
              <a:srgbClr val="D9D9D9"/>
            </a:solidFill>
            <a:prstDash val="solid"/>
          </a:ln>
        </p:spPr>
      </p:sp>
      <p:sp>
        <p:nvSpPr>
          <p:cNvPr id="41" name="force_n_subst"/>
          <p:cNvSpPr txBox="1"/>
          <p:nvPr/>
        </p:nvSpPr>
        <p:spPr>
          <a:xfrm>
            <a:off x="8170164" y="4727448"/>
            <a:ext cx="1188720" cy="256032"/>
          </a:xfrm>
          <a:prstGeom prst="rect">
            <a:avLst/>
          </a:prstGeom>
          <a:noFill/>
          <a:ln/>
        </p:spPr>
        <p:txBody>
          <a:bodyPr wrap="square" lIns="0" tIns="0" rIns="0" bIns="0"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代替</a:t>
            </a:r>
            <a:endParaRPr lang="en-US" sz="1000" dirty="0"/>
          </a:p>
        </p:txBody>
      </p:sp>
      <p:sp>
        <p:nvSpPr>
          <p:cNvPr id="42" name="force_s_subst"/>
          <p:cNvSpPr txBox="1"/>
          <p:nvPr/>
        </p:nvSpPr>
        <p:spPr>
          <a:xfrm>
            <a:off x="9358884" y="4727448"/>
            <a:ext cx="402336" cy="256032"/>
          </a:xfrm>
          <a:prstGeom prst="rect">
            <a:avLst/>
          </a:prstGeom>
          <a:noFill/>
          <a:ln/>
        </p:spPr>
        <p:txBody>
          <a:bodyPr wrap="square" lIns="0" tIns="0" rIns="0" bIns="0" rtlCol="0" anchor="ctr"/>
          <a:lstStyle/>
          <a:p>
            <a:pPr algn="r" indent="0" marL="0">
              <a:buNone/>
            </a:pPr>
            <a:r>
              <a:rPr lang="en-US" sz="1000" b="1" dirty="0">
                <a:solidFill>
                  <a:srgbClr val="D68910"/>
                </a:solidFill>
                <a:latin typeface="Meiryo UI" pitchFamily="34" charset="0"/>
                <a:ea typeface="Meiryo UI" pitchFamily="34" charset="-122"/>
                <a:cs typeface="Meiryo UI" pitchFamily="34" charset="-120"/>
              </a:rPr>
              <a:t>中</a:t>
            </a:r>
            <a:endParaRPr lang="en-US" sz="1000" dirty="0"/>
          </a:p>
        </p:txBody>
      </p:sp>
      <p:sp>
        <p:nvSpPr>
          <p:cNvPr id="43" name="force_f_subst"/>
          <p:cNvSpPr txBox="1"/>
          <p:nvPr/>
        </p:nvSpPr>
        <p:spPr>
          <a:xfrm>
            <a:off x="8170164" y="5029200"/>
            <a:ext cx="1591056" cy="896112"/>
          </a:xfrm>
          <a:prstGeom prst="rect">
            <a:avLst/>
          </a:prstGeom>
          <a:noFill/>
          <a:ln/>
        </p:spPr>
        <p:txBody>
          <a:bodyPr wrap="square" lIns="0" tIns="0" rIns="0" bIns="0" rtlCol="0" anchor="t"/>
          <a:lstStyle/>
          <a:p>
            <a:pPr indent="0" marL="0">
              <a:buNone/>
            </a:pPr>
            <a:r>
              <a:rPr lang="en-US" sz="850" dirty="0">
                <a:solidFill>
                  <a:srgbClr val="333333"/>
                </a:solidFill>
                <a:latin typeface="Meiryo UI" pitchFamily="34" charset="0"/>
                <a:ea typeface="Meiryo UI" pitchFamily="34" charset="-122"/>
                <a:cs typeface="Meiryo UI" pitchFamily="34" charset="-120"/>
              </a:rPr>
              <a:t>Google TPU(Anthropic</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2027 年から約 3.5GW)、</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AWS 自社チップ 年換算</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250 億ドル超</a:t>
            </a:r>
            <a:endParaRPr lang="en-US" sz="850" dirty="0"/>
          </a:p>
        </p:txBody>
      </p:sp>
      <p:sp>
        <p:nvSpPr>
          <p:cNvPr id="44" name="ovl_arrow"/>
          <p:cNvSpPr/>
          <p:nvPr/>
        </p:nvSpPr>
        <p:spPr>
          <a:xfrm flipV="1">
            <a:off x="8965692" y="3154680"/>
            <a:ext cx="914" cy="91440"/>
          </a:xfrm>
          <a:prstGeom prst="line">
            <a:avLst/>
          </a:prstGeom>
          <a:noFill/>
          <a:ln w="12700">
            <a:solidFill>
              <a:srgbClr val="767676"/>
            </a:solidFill>
            <a:prstDash val="solid"/>
            <a:tailEnd type="triangle"/>
          </a:ln>
        </p:spPr>
      </p:sp>
      <p:sp>
        <p:nvSpPr>
          <p:cNvPr id="45" name="ovl_arrow"/>
          <p:cNvSpPr/>
          <p:nvPr/>
        </p:nvSpPr>
        <p:spPr>
          <a:xfrm>
            <a:off x="8965692" y="4572000"/>
            <a:ext cx="914" cy="91440"/>
          </a:xfrm>
          <a:prstGeom prst="line">
            <a:avLst/>
          </a:prstGeom>
          <a:noFill/>
          <a:ln w="12700">
            <a:solidFill>
              <a:srgbClr val="767676"/>
            </a:solidFill>
            <a:prstDash val="solid"/>
            <a:tailEnd type="triangle"/>
          </a:ln>
        </p:spPr>
      </p:sp>
      <p:sp>
        <p:nvSpPr>
          <p:cNvPr id="46" name="ovl_arrow"/>
          <p:cNvSpPr/>
          <p:nvPr/>
        </p:nvSpPr>
        <p:spPr>
          <a:xfrm flipH="1">
            <a:off x="7936992" y="3909060"/>
            <a:ext cx="160020" cy="914"/>
          </a:xfrm>
          <a:prstGeom prst="line">
            <a:avLst/>
          </a:prstGeom>
          <a:noFill/>
          <a:ln w="12700">
            <a:solidFill>
              <a:srgbClr val="767676"/>
            </a:solidFill>
            <a:prstDash val="solid"/>
            <a:tailEnd type="triangle"/>
          </a:ln>
        </p:spPr>
      </p:sp>
      <p:sp>
        <p:nvSpPr>
          <p:cNvPr id="47" name="ovl_arrow"/>
          <p:cNvSpPr/>
          <p:nvPr/>
        </p:nvSpPr>
        <p:spPr>
          <a:xfrm>
            <a:off x="9834372" y="3909060"/>
            <a:ext cx="160020" cy="914"/>
          </a:xfrm>
          <a:prstGeom prst="line">
            <a:avLst/>
          </a:prstGeom>
          <a:noFill/>
          <a:ln w="12700">
            <a:solidFill>
              <a:srgbClr val="767676"/>
            </a:solidFill>
            <a:prstDash val="solid"/>
            <a:tailEnd type="triangle"/>
          </a:ln>
        </p:spPr>
      </p:sp>
      <p:sp>
        <p:nvSpPr>
          <p:cNvPr id="48" name="force_legend"/>
          <p:cNvSpPr txBox="1"/>
          <p:nvPr/>
        </p:nvSpPr>
        <p:spPr>
          <a:xfrm>
            <a:off x="9994392" y="4663440"/>
            <a:ext cx="1737360" cy="1325880"/>
          </a:xfrm>
          <a:prstGeom prst="rect">
            <a:avLst/>
          </a:prstGeom>
          <a:noFill/>
          <a:ln/>
        </p:spPr>
        <p:txBody>
          <a:bodyPr wrap="square" lIns="508" tIns="508" rIns="508" bIns="508" rtlCol="0" anchor="t"/>
          <a:lstStyle/>
          <a:p>
            <a:pPr indent="0" marL="0">
              <a:buNone/>
            </a:pPr>
            <a:r>
              <a:rPr lang="en-US" sz="850" dirty="0">
                <a:solidFill>
                  <a:srgbClr val="767676"/>
                </a:solidFill>
                <a:latin typeface="Meiryo UI" pitchFamily="34" charset="0"/>
                <a:ea typeface="Meiryo UI" pitchFamily="34" charset="-122"/>
                <a:cs typeface="Meiryo UI" pitchFamily="34" charset="-120"/>
              </a:rPr>
              <a:t>強さは Oracle の利益率への圧力。弱 = 参入が遅く Oracle に有利</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2-5 需給</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017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017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需給</a:t>
            </a:r>
            <a:endParaRPr lang="en-US" sz="1000" dirty="0"/>
          </a:p>
        </p:txBody>
      </p:sp>
      <p:sp>
        <p:nvSpPr>
          <p:cNvPr id="14" name="hdr_why"/>
          <p:cNvSpPr txBox="1"/>
          <p:nvPr/>
        </p:nvSpPr>
        <p:spPr>
          <a:xfrm>
            <a:off x="1620774" y="356616"/>
            <a:ext cx="10113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需要が供給を上回る状態がいつまで続くかが、AI 容量の単価と利益率を決める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推論・エージェント・ソブリン AI で需要は供給を上回る。</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部材と電力の不足を背景に、2026 年は主要クラウドが 15〜25% 値上げした</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需要の種類と規模。右: 2026 年の値上げ(前回価格比)と供給の制約</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research4/T4_ai_demand.md(McKinsey・Google・Anthropic・Gartner)、research4/T5_supply_components.md(TrendForce・UBS・各社の価格表)</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16</a:t>
            </a:r>
            <a:endParaRPr lang="en-US" sz="800" dirty="0"/>
          </a:p>
        </p:txBody>
      </p:sp>
      <p:sp>
        <p:nvSpPr>
          <p:cNvPr id="19" name="pane_head"/>
          <p:cNvSpPr txBox="1"/>
          <p:nvPr/>
        </p:nvSpPr>
        <p:spPr>
          <a:xfrm>
            <a:off x="457200"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需要: 推論・エージェント・ソブリン</a:t>
            </a:r>
            <a:endParaRPr lang="en-US" sz="1200" dirty="0"/>
          </a:p>
        </p:txBody>
      </p:sp>
      <p:graphicFrame>
        <p:nvGraphicFramePr>
          <p:cNvPr id="17" name="tbl"/>
          <p:cNvGraphicFramePr>
            <a:graphicFrameLocks noGrp="1"/>
          </p:cNvGraphicFramePr>
          <p:nvPr>
            <p:extLst>
              <p:ext uri="{D42A27DB-BD31-4B8C-83A1-F6EECF244321}">
                <p14:modId xmlns:p14="http://schemas.microsoft.com/office/powerpoint/2010/main" val="1579011935"/>
              </p:ext>
            </p:extLst>
          </p:nvPr>
        </p:nvGraphicFramePr>
        <p:xfrm>
          <a:off x="457200" y="1828800"/>
          <a:ext cx="5532120" cy="914400"/>
        </p:xfrm>
        <a:graphic>
          <a:graphicData uri="http://schemas.openxmlformats.org/drawingml/2006/table">
            <a:tbl>
              <a:tblPr/>
              <a:tblGrid>
                <a:gridCol w="1051560"/>
                <a:gridCol w="4480560"/>
              </a:tblGrid>
              <a:tr h="713232">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種類</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規模と伸び</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71323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推論</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Google の月間トークン処理量 480 兆 → 3,200 兆(1 年で 6.7 倍)。</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推論の電力需要は 20.9 → 93.3GW(2030 年、年 35%)</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71323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エージェント</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1 タスクのトークンはチャットの約 4 倍、複数エージェントで約 15 倍(Anthropic の自社データ)</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71323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ソブリン</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Stargate UAE 1GW(Oracle が運営)。ソブリンクラウド IaaS は</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2026 年 800 億ドル(+35.6%)。Oracle は日本に 80 億ドル超</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71323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AI 全体</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学習 + 推論の電力は 44 → 156GW(2030 年、年 29%)。</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Google・AWS・Azure はそろって「供給制約」を明言</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21" name="Text 18"/>
          <p:cNvSpPr txBox="1"/>
          <p:nvPr/>
        </p:nvSpPr>
        <p:spPr>
          <a:xfrm>
            <a:off x="457200" y="5486400"/>
            <a:ext cx="5532120" cy="640080"/>
          </a:xfrm>
          <a:prstGeom prst="rect">
            <a:avLst/>
          </a:prstGeom>
          <a:noFill/>
          <a:ln/>
        </p:spPr>
        <p:txBody>
          <a:bodyPr wrap="square" lIns="508" tIns="508" rIns="508" bIns="508" rtlCol="0" anchor="t"/>
          <a:lstStyle/>
          <a:p>
            <a:pPr indent="0" marL="0">
              <a:buNone/>
            </a:pPr>
            <a:r>
              <a:rPr lang="en-US" sz="850" dirty="0">
                <a:solidFill>
                  <a:srgbClr val="767676"/>
                </a:solidFill>
                <a:latin typeface="Meiryo UI" pitchFamily="34" charset="0"/>
                <a:ea typeface="Meiryo UI" pitchFamily="34" charset="-122"/>
                <a:cs typeface="Meiryo UI" pitchFamily="34" charset="-120"/>
              </a:rPr>
              <a:t>推論型モデルの計算 150 倍は DeepSeek と非推論モデルの 1 例の比較で、推論型モデル全般の値ではない</a:t>
            </a:r>
            <a:endParaRPr lang="en-US" sz="850" dirty="0"/>
          </a:p>
        </p:txBody>
      </p:sp>
      <p:sp>
        <p:nvSpPr>
          <p:cNvPr id="22" name="pane_head"/>
          <p:cNvSpPr txBox="1"/>
          <p:nvPr/>
        </p:nvSpPr>
        <p:spPr>
          <a:xfrm>
            <a:off x="6199632"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供給: 値上げと制約</a:t>
            </a:r>
            <a:endParaRPr lang="en-US" sz="1200" dirty="0"/>
          </a:p>
        </p:txBody>
      </p:sp>
      <p:graphicFrame>
        <p:nvGraphicFramePr>
          <p:cNvPr id="23" name="chart" descr=""/>
          <p:cNvGraphicFramePr/>
          <p:nvPr/>
        </p:nvGraphicFramePr>
        <p:xfrm>
          <a:off x="6199632" y="1828800"/>
          <a:ext cx="5532120" cy="2331720"/>
        </p:xfrm>
        <a:graphic xmlns:a="http://schemas.openxmlformats.org/drawingml/2006/main">
          <a:graphicData uri="http://schemas.openxmlformats.org/drawingml/2006/chart">
            <c:chart xmlns:c="http://schemas.openxmlformats.org/drawingml/2006/chart" r:id="rId1"/>
          </a:graphicData>
        </a:graphic>
      </p:graphicFrame>
      <p:sp>
        <p:nvSpPr>
          <p:cNvPr id="24" name="bullets"/>
          <p:cNvSpPr txBox="1"/>
          <p:nvPr/>
        </p:nvSpPr>
        <p:spPr>
          <a:xfrm>
            <a:off x="6199632" y="4251960"/>
            <a:ext cx="5532120" cy="1097280"/>
          </a:xfrm>
          <a:prstGeom prst="rect">
            <a:avLst/>
          </a:prstGeom>
          <a:noFill/>
          <a:ln/>
        </p:spPr>
        <p:txBody>
          <a:bodyPr wrap="square" lIns="508" tIns="508" rIns="508" bIns="508" rtlCol="0" anchor="t"/>
          <a:lstStyle/>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メモリ: DRAM 契約価格は 2026 年に累計 約 3.7 倍、HBM の平均単価は 2027 年 +121%(TrendForce)。逼迫は 2028 年まで(UBS)</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電力: ガスタービンの受注残 116GW、計画中の DC 容量の 30〜50% が</a:t>
            </a:r>
            <a:br/>
            <a:r>
              <a:rPr lang="en-US" sz="950" dirty="0">
                <a:solidFill>
                  <a:srgbClr val="333333"/>
                </a:solidFill>
                <a:latin typeface="Meiryo UI" pitchFamily="34" charset="0"/>
                <a:ea typeface="Meiryo UI" pitchFamily="34" charset="-122"/>
                <a:cs typeface="Meiryo UI" pitchFamily="34" charset="-120"/>
              </a:rPr>
              <a:t>2028 年へ後ろ倒しの予想</a:t>
            </a:r>
            <a:endParaRPr lang="en-US" sz="950" dirty="0"/>
          </a:p>
        </p:txBody>
      </p:sp>
      <p:sp>
        <p:nvSpPr>
          <p:cNvPr id="25" name="ovl_takeaway_bg"/>
          <p:cNvSpPr/>
          <p:nvPr/>
        </p:nvSpPr>
        <p:spPr>
          <a:xfrm>
            <a:off x="6199632" y="5394960"/>
            <a:ext cx="5532120" cy="731520"/>
          </a:xfrm>
          <a:prstGeom prst="rect">
            <a:avLst/>
          </a:prstGeom>
          <a:solidFill>
            <a:srgbClr val="EAF4EE"/>
          </a:solidFill>
          <a:ln w="12700">
            <a:solidFill>
              <a:srgbClr val="EAF4EE"/>
            </a:solidFill>
            <a:prstDash val="solid"/>
          </a:ln>
        </p:spPr>
      </p:sp>
      <p:sp>
        <p:nvSpPr>
          <p:cNvPr id="26" name="takeaway"/>
          <p:cNvSpPr txBox="1"/>
          <p:nvPr/>
        </p:nvSpPr>
        <p:spPr>
          <a:xfrm>
            <a:off x="6309360" y="5468112"/>
            <a:ext cx="5312664" cy="58521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スマホと同じく、部材の逼迫が</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完成品(計算容量)の値上げとして買い手に転嫁されている</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2-6 成長の前提(1/2)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398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398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成長の前提</a:t>
            </a:r>
            <a:endParaRPr lang="en-US" sz="1000" dirty="0"/>
          </a:p>
        </p:txBody>
      </p:sp>
      <p:sp>
        <p:nvSpPr>
          <p:cNvPr id="14" name="hdr_why"/>
          <p:cNvSpPr txBox="1"/>
          <p:nvPr/>
        </p:nvSpPr>
        <p:spPr>
          <a:xfrm>
            <a:off x="2001774" y="356616"/>
            <a:ext cx="9732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コンセンサスの売上が受注残と電力で裏付けられるか、FY30 以降は何で決まるかを確かめる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FY29 までのコンセンサス売上は受注残と確保電力で裏付けられる。</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FY30 以降は電力と資金で決まり、年 3.5GW を続ければベース +17 ドル</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コンセンサスの需給検証(売上 10 億ドル、容量 GW)。右: FY30〜32 の容量を年 3.5GW 追加し続けた場合</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コンセンサス(Yahoo・Simply Wall St・MarketScreener)、会社開示(RPO・10GW・Q1 納入)、需給エンジン第4.3版(calc/m8_cap_sens.py)</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17</a:t>
            </a:r>
            <a:endParaRPr lang="en-US" sz="800" dirty="0"/>
          </a:p>
        </p:txBody>
      </p:sp>
      <p:sp>
        <p:nvSpPr>
          <p:cNvPr id="19" name="pane_head"/>
          <p:cNvSpPr txBox="1"/>
          <p:nvPr/>
        </p:nvSpPr>
        <p:spPr>
          <a:xfrm>
            <a:off x="457200" y="1481328"/>
            <a:ext cx="640080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コンセンサスの需給検証</a:t>
            </a:r>
            <a:endParaRPr lang="en-US" sz="1200" dirty="0"/>
          </a:p>
        </p:txBody>
      </p:sp>
      <p:graphicFrame>
        <p:nvGraphicFramePr>
          <p:cNvPr id="18" name="tbl"/>
          <p:cNvGraphicFramePr>
            <a:graphicFrameLocks noGrp="1"/>
          </p:cNvGraphicFramePr>
          <p:nvPr>
            <p:extLst>
              <p:ext uri="{D42A27DB-BD31-4B8C-83A1-F6EECF244321}">
                <p14:modId xmlns:p14="http://schemas.microsoft.com/office/powerpoint/2010/main" val="1579011935"/>
              </p:ext>
            </p:extLst>
          </p:nvPr>
        </p:nvGraphicFramePr>
        <p:xfrm>
          <a:off x="457200" y="1828800"/>
          <a:ext cx="6400800" cy="914400"/>
        </p:xfrm>
        <a:graphic>
          <a:graphicData uri="http://schemas.openxmlformats.org/drawingml/2006/table">
            <a:tbl>
              <a:tblPr/>
              <a:tblGrid>
                <a:gridCol w="731520"/>
                <a:gridCol w="960120"/>
                <a:gridCol w="960120"/>
                <a:gridCol w="731520"/>
                <a:gridCol w="2103120"/>
                <a:gridCol w="914400"/>
              </a:tblGrid>
              <a:tr h="457200">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年度</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コンセンサス</a:t>
                      </a:r>
                      <a:endParaRPr lang="en-US" sz="950" dirty="0">
                        <a:latin typeface="Meiryo UI" charset="0"/>
                        <a:ea typeface="Meiryo UI" charset="0"/>
                        <a:cs typeface="Meiryo UI" charset="0"/>
                      </a:endParaRPr>
                    </a:p>
                    <a:p>
                      <a:pPr algn="ctr" indent="0" marL="0">
                        <a:buNone/>
                      </a:pPr>
                      <a:r>
                        <a:rPr lang="en-US" sz="950" b="1" dirty="0">
                          <a:solidFill>
                            <a:srgbClr val="FFFFFF"/>
                          </a:solidFill>
                          <a:latin typeface="Meiryo UI" pitchFamily="34" charset="0"/>
                          <a:ea typeface="Meiryo UI" pitchFamily="34" charset="-122"/>
                          <a:cs typeface="Meiryo UI" pitchFamily="34" charset="-120"/>
                        </a:rPr>
                        <a:t>売上</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エンジン</a:t>
                      </a:r>
                      <a:endParaRPr lang="en-US" sz="950" dirty="0">
                        <a:latin typeface="Meiryo UI" charset="0"/>
                        <a:ea typeface="Meiryo UI" charset="0"/>
                        <a:cs typeface="Meiryo UI" charset="0"/>
                      </a:endParaRPr>
                    </a:p>
                    <a:p>
                      <a:pPr algn="ctr" indent="0" marL="0">
                        <a:buNone/>
                      </a:pPr>
                      <a:r>
                        <a:rPr lang="en-US" sz="950" b="1" dirty="0">
                          <a:solidFill>
                            <a:srgbClr val="FFFFFF"/>
                          </a:solidFill>
                          <a:latin typeface="Meiryo UI" pitchFamily="34" charset="0"/>
                          <a:ea typeface="Meiryo UI" pitchFamily="34" charset="-122"/>
                          <a:cs typeface="Meiryo UI" pitchFamily="34" charset="-120"/>
                        </a:rPr>
                        <a:t>売上</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容量</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裏付け</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判定</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45720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FY27</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90.5</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94.2</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4.7</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Q1 に 850MW 納入</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(前年度通期の 73%)</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97A56"/>
                          </a:solidFill>
                          <a:latin typeface="Meiryo UI" pitchFamily="34" charset="0"/>
                          <a:ea typeface="Meiryo UI" pitchFamily="34" charset="-122"/>
                          <a:cs typeface="Meiryo UI" pitchFamily="34" charset="-120"/>
                        </a:rPr>
                        <a:t>供給済み</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FY28</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131.5</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134.5</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7.4</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36 か月以内の受注残</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3,320 億ドル、10GW 超を確保</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b="1" dirty="0">
                          <a:solidFill>
                            <a:srgbClr val="197A56"/>
                          </a:solidFill>
                          <a:latin typeface="Meiryo UI" pitchFamily="34" charset="0"/>
                          <a:ea typeface="Meiryo UI" pitchFamily="34" charset="-122"/>
                          <a:cs typeface="Meiryo UI" pitchFamily="34" charset="-120"/>
                        </a:rPr>
                        <a:t>裏付けあり</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45720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FY29</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183</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181</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11.5</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確保した 10GW 超を</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ここで使い切る</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97A56"/>
                          </a:solidFill>
                          <a:latin typeface="Meiryo UI" pitchFamily="34" charset="0"/>
                          <a:ea typeface="Meiryo UI" pitchFamily="34" charset="-122"/>
                          <a:cs typeface="Meiryo UI" pitchFamily="34" charset="-120"/>
                        </a:rPr>
                        <a:t>裏付けあり</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FY30</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(会社 225)</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233</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14.0</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10GW 超より先の電力は未開示</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b="1" dirty="0">
                          <a:solidFill>
                            <a:srgbClr val="D68910"/>
                          </a:solidFill>
                          <a:latin typeface="Meiryo UI" pitchFamily="34" charset="0"/>
                          <a:ea typeface="Meiryo UI" pitchFamily="34" charset="-122"/>
                          <a:cs typeface="Meiryo UI" pitchFamily="34" charset="-120"/>
                        </a:rPr>
                        <a:t>電力が条件</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21" name="bullets"/>
          <p:cNvSpPr txBox="1"/>
          <p:nvPr/>
        </p:nvSpPr>
        <p:spPr>
          <a:xfrm>
            <a:off x="457200" y="4343400"/>
            <a:ext cx="6400800" cy="1737360"/>
          </a:xfrm>
          <a:prstGeom prst="rect">
            <a:avLst/>
          </a:prstGeom>
          <a:noFill/>
          <a:ln/>
        </p:spPr>
        <p:txBody>
          <a:bodyPr wrap="square" lIns="508" tIns="508" rIns="508" bIns="508" rtlCol="0" anchor="t"/>
          <a:lstStyle/>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EPS(非GAAP)はエンジンが FY29 13.59・FY30 18.99 で、コンセンサス 15.78・20.53 より</a:t>
            </a:r>
            <a:br/>
            <a:r>
              <a:rPr lang="en-US" sz="1000" dirty="0">
                <a:solidFill>
                  <a:srgbClr val="333333"/>
                </a:solidFill>
                <a:latin typeface="Meiryo UI" pitchFamily="34" charset="0"/>
                <a:ea typeface="Meiryo UI" pitchFamily="34" charset="-122"/>
                <a:cs typeface="Meiryo UI" pitchFamily="34" charset="-120"/>
              </a:rPr>
              <a:t>14%・8% 低い。差は償却の重さ</a:t>
            </a:r>
            <a:endParaRPr lang="en-US" sz="1000" dirty="0"/>
          </a:p>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理論株価はコンセンサスの EPS を使い、エンジンの EPS を使った場合(−11.5 ドル)を感応度に示した</a:t>
            </a:r>
            <a:endParaRPr lang="en-US" sz="1000" dirty="0"/>
          </a:p>
        </p:txBody>
      </p:sp>
      <p:sp>
        <p:nvSpPr>
          <p:cNvPr id="22" name="pane_head"/>
          <p:cNvSpPr txBox="1"/>
          <p:nvPr/>
        </p:nvSpPr>
        <p:spPr>
          <a:xfrm>
            <a:off x="7132320" y="1481328"/>
            <a:ext cx="459943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年 3.5GW を続けた場合</a:t>
            </a:r>
            <a:endParaRPr lang="en-US" sz="1200" dirty="0"/>
          </a:p>
        </p:txBody>
      </p:sp>
      <p:graphicFrame>
        <p:nvGraphicFramePr>
          <p:cNvPr id="35" name="tbl"/>
          <p:cNvGraphicFramePr>
            <a:graphicFrameLocks noGrp="1"/>
          </p:cNvGraphicFramePr>
          <p:nvPr>
            <p:extLst>
              <p:ext uri="{D42A27DB-BD31-4B8C-83A1-F6EECF244321}">
                <p14:modId xmlns:p14="http://schemas.microsoft.com/office/powerpoint/2010/main" val="1579011935"/>
              </p:ext>
            </p:extLst>
          </p:nvPr>
        </p:nvGraphicFramePr>
        <p:xfrm>
          <a:off x="7132320" y="1828800"/>
          <a:ext cx="4599432" cy="914400"/>
        </p:xfrm>
        <a:graphic>
          <a:graphicData uri="http://schemas.openxmlformats.org/drawingml/2006/table">
            <a:tbl>
              <a:tblPr/>
              <a:tblGrid>
                <a:gridCol w="1737360"/>
                <a:gridCol w="1417320"/>
                <a:gridCol w="1444752"/>
              </a:tblGrid>
              <a:tr h="384048">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項目</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ベース</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年 3.5GW</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84048">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容量 FY30/31/32(GW)</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14 / 16 / 18</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15 / 18.5 / 22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EPS の伸び FY31 / FY32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+26% / +21%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+29% / +26%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84048">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FCF FY29 / FY30(億ドル)</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−135 / +390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−260 / +70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格付け(機械判定)</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BB+ は FY29〜30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BB+ は FY29〜30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84048">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理論株価 ベース / 加重</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261 / 251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279 / 259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4" name="ovl_takeaway_bg"/>
          <p:cNvSpPr/>
          <p:nvPr/>
        </p:nvSpPr>
        <p:spPr>
          <a:xfrm>
            <a:off x="7132320" y="4343400"/>
            <a:ext cx="4599432" cy="914400"/>
          </a:xfrm>
          <a:prstGeom prst="rect">
            <a:avLst/>
          </a:prstGeom>
          <a:solidFill>
            <a:srgbClr val="EAF4EE"/>
          </a:solidFill>
          <a:ln w="12700">
            <a:solidFill>
              <a:srgbClr val="EAF4EE"/>
            </a:solidFill>
            <a:prstDash val="solid"/>
          </a:ln>
        </p:spPr>
      </p:sp>
      <p:sp>
        <p:nvSpPr>
          <p:cNvPr id="25" name="takeaway"/>
          <p:cNvSpPr txBox="1"/>
          <p:nvPr/>
        </p:nvSpPr>
        <p:spPr>
          <a:xfrm>
            <a:off x="7242048" y="4416552"/>
            <a:ext cx="4379976" cy="76809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減速は需要ではなく、確保済み電力の期限と</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資金(FCF・格付け)で決まる</a:t>
            </a:r>
            <a:endParaRPr lang="en-US" sz="1100" dirty="0"/>
          </a:p>
        </p:txBody>
      </p:sp>
      <p:sp>
        <p:nvSpPr>
          <p:cNvPr id="26" name="Text 22"/>
          <p:cNvSpPr txBox="1"/>
          <p:nvPr/>
        </p:nvSpPr>
        <p:spPr>
          <a:xfrm>
            <a:off x="7132320" y="5349240"/>
            <a:ext cx="4599432" cy="731520"/>
          </a:xfrm>
          <a:prstGeom prst="rect">
            <a:avLst/>
          </a:prstGeom>
          <a:noFill/>
          <a:ln/>
        </p:spPr>
        <p:txBody>
          <a:bodyPr wrap="square" lIns="508" tIns="508" rIns="508" bIns="508" rtlCol="0" anchor="t"/>
          <a:lstStyle/>
          <a:p>
            <a:pPr indent="0" marL="0">
              <a:buNone/>
            </a:pPr>
            <a:r>
              <a:rPr lang="en-US" sz="950" dirty="0">
                <a:solidFill>
                  <a:srgbClr val="333333"/>
                </a:solidFill>
                <a:latin typeface="Meiryo UI" pitchFamily="34" charset="0"/>
                <a:ea typeface="Meiryo UI" pitchFamily="34" charset="-122"/>
                <a:cs typeface="Meiryo UI" pitchFamily="34" charset="-120"/>
              </a:rPr>
              <a:t>強気に寄せる条件: 10GW 超より先の電力・拠点の開示、顧客の前払い・</a:t>
            </a:r>
            <a:endParaRPr lang="en-US" sz="950" dirty="0"/>
          </a:p>
          <a:p>
            <a:pPr indent="0" marL="0">
              <a:buNone/>
            </a:pPr>
            <a:r>
              <a:rPr lang="en-US" sz="950" dirty="0">
                <a:solidFill>
                  <a:srgbClr val="333333"/>
                </a:solidFill>
                <a:latin typeface="Meiryo UI" pitchFamily="34" charset="0"/>
                <a:ea typeface="Meiryo UI" pitchFamily="34" charset="-122"/>
                <a:cs typeface="Meiryo UI" pitchFamily="34" charset="-120"/>
              </a:rPr>
              <a:t>チップ持ち込みで Oracle の capex が減ること</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2-6 成長の前提(2/2)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398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398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成長の前提</a:t>
            </a:r>
            <a:endParaRPr lang="en-US" sz="1000" dirty="0"/>
          </a:p>
        </p:txBody>
      </p:sp>
      <p:sp>
        <p:nvSpPr>
          <p:cNvPr id="14" name="hdr_why"/>
          <p:cNvSpPr txBox="1"/>
          <p:nvPr/>
        </p:nvSpPr>
        <p:spPr>
          <a:xfrm>
            <a:off x="2001774" y="356616"/>
            <a:ext cx="9732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上積みの 2 事業(SaaS・Database@)をどう前提に置いたかと、その根拠を示す</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SaaS は旧 ERP 顧客の移行で 10% → 14% に加速すると見て、</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Database@ は FY30 に 46 億ドル・1 株 5 ドルの純増と置く</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SaaS の先行指標・製品特性・反証と前提。右: Database@ の伸び(前年同期比)と前提</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research4/T3_saas_products.md、research2/R4_database_at.md、research3/W6_database_at.md、需給エンジン第4.3版(calc/model8.py)</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18</a:t>
            </a:r>
            <a:endParaRPr lang="en-US" sz="800" dirty="0"/>
          </a:p>
        </p:txBody>
      </p:sp>
      <p:sp>
        <p:nvSpPr>
          <p:cNvPr id="19" name="pane_head"/>
          <p:cNvSpPr txBox="1"/>
          <p:nvPr/>
        </p:nvSpPr>
        <p:spPr>
          <a:xfrm>
            <a:off x="457200"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SaaS: 製品の特性から加速を読む</a:t>
            </a:r>
            <a:endParaRPr lang="en-US" sz="1200" dirty="0"/>
          </a:p>
        </p:txBody>
      </p:sp>
      <p:graphicFrame>
        <p:nvGraphicFramePr>
          <p:cNvPr id="19" name="tbl"/>
          <p:cNvGraphicFramePr>
            <a:graphicFrameLocks noGrp="1"/>
          </p:cNvGraphicFramePr>
          <p:nvPr>
            <p:extLst>
              <p:ext uri="{D42A27DB-BD31-4B8C-83A1-F6EECF244321}">
                <p14:modId xmlns:p14="http://schemas.microsoft.com/office/powerpoint/2010/main" val="1579011935"/>
              </p:ext>
            </p:extLst>
          </p:nvPr>
        </p:nvGraphicFramePr>
        <p:xfrm>
          <a:off x="457200" y="1828800"/>
          <a:ext cx="5532120" cy="914400"/>
        </p:xfrm>
        <a:graphic>
          <a:graphicData uri="http://schemas.openxmlformats.org/drawingml/2006/table">
            <a:tbl>
              <a:tblPr/>
              <a:tblGrid>
                <a:gridCol w="1325880"/>
                <a:gridCol w="4206240"/>
              </a:tblGrid>
              <a:tr h="402336">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観点</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事実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402336">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実績</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SaaS +10%(Q1 FY27)。直近 5 四半期は</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10〜13% で、まだ加速していない</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402336">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先行指標</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繰延収益 +16% が売上 +10% を上回る(Q4 FY26、要約 1 件)</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402336">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移行の余地</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旧来 ERP の顧客 8,500 社のうち Fusion へ移行済みは約 1,000 社(CEO 発言、時点不明)</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402336">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需要</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エージェント型 AI のソフト支出は 2030 年に 9,850 億ドル(Gartner)</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402336">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同業</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SAP クラウド +22%、ServiceNow 購読 +24.5%、Salesforce +11%</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402336">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反証</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エージェントは追加料金なし。AI で席数が減る懸念(2026-02 に</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ソフト株が急落)</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21" name="ovl_takeaway_bg"/>
          <p:cNvSpPr/>
          <p:nvPr/>
        </p:nvSpPr>
        <p:spPr>
          <a:xfrm>
            <a:off x="457200" y="4754880"/>
            <a:ext cx="5532120" cy="1371600"/>
          </a:xfrm>
          <a:prstGeom prst="rect">
            <a:avLst/>
          </a:prstGeom>
          <a:solidFill>
            <a:srgbClr val="EAF4EE"/>
          </a:solidFill>
          <a:ln w="12700">
            <a:solidFill>
              <a:srgbClr val="EAF4EE"/>
            </a:solidFill>
            <a:prstDash val="solid"/>
          </a:ln>
        </p:spPr>
      </p:sp>
      <p:sp>
        <p:nvSpPr>
          <p:cNvPr id="22" name="takeaway"/>
          <p:cNvSpPr txBox="1"/>
          <p:nvPr/>
        </p:nvSpPr>
        <p:spPr>
          <a:xfrm>
            <a:off x="566928" y="4828032"/>
            <a:ext cx="5312664" cy="122529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前提: FY27 10% → FY31 14% → FY36 に 8%。ERP は取引データと</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実行権限を持つため、エージェントの普及は移行を後押しする。</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反証は弱気シナリオで −2pt として数える</a:t>
            </a:r>
            <a:endParaRPr lang="en-US" sz="1100" dirty="0"/>
          </a:p>
        </p:txBody>
      </p:sp>
      <p:sp>
        <p:nvSpPr>
          <p:cNvPr id="23" name="pane_head"/>
          <p:cNvSpPr txBox="1"/>
          <p:nvPr/>
        </p:nvSpPr>
        <p:spPr>
          <a:xfrm>
            <a:off x="6199632"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Database@: 3 桁成長は続くが減速している</a:t>
            </a:r>
            <a:endParaRPr lang="en-US" sz="1200" dirty="0"/>
          </a:p>
        </p:txBody>
      </p:sp>
      <p:graphicFrame>
        <p:nvGraphicFramePr>
          <p:cNvPr id="24" name="chart" descr=""/>
          <p:cNvGraphicFramePr/>
          <p:nvPr/>
        </p:nvGraphicFramePr>
        <p:xfrm>
          <a:off x="6199632" y="1828800"/>
          <a:ext cx="5532120" cy="2377440"/>
        </p:xfrm>
        <a:graphic xmlns:a="http://schemas.openxmlformats.org/drawingml/2006/main">
          <a:graphicData uri="http://schemas.openxmlformats.org/drawingml/2006/chart">
            <c:chart xmlns:c="http://schemas.openxmlformats.org/drawingml/2006/chart" r:id="rId1"/>
          </a:graphicData>
        </a:graphic>
      </p:graphicFrame>
      <p:sp>
        <p:nvSpPr>
          <p:cNvPr id="25" name="bullets"/>
          <p:cNvSpPr txBox="1"/>
          <p:nvPr/>
        </p:nvSpPr>
        <p:spPr>
          <a:xfrm>
            <a:off x="6199632" y="4343400"/>
            <a:ext cx="5532120" cy="1783080"/>
          </a:xfrm>
          <a:prstGeom prst="rect">
            <a:avLst/>
          </a:prstGeom>
          <a:noFill/>
          <a:ln/>
        </p:spPr>
        <p:txBody>
          <a:bodyPr wrap="square" lIns="508" tIns="508" rIns="508" bIns="508" rtlCol="0" anchor="t"/>
          <a:lstStyle/>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70 リージョン・119 AZ(Azure 33・Google 14・AWS 22)、顧客数 +180%</a:t>
            </a:r>
            <a:endParaRPr lang="en-US" sz="1000" dirty="0"/>
          </a:p>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前提: FY30 に 46 億ドル。移行した保守売上(70%)÷ 移行倍率 2.5 を</a:t>
            </a:r>
            <a:br/>
            <a:r>
              <a:rPr lang="en-US" sz="1000" dirty="0">
                <a:solidFill>
                  <a:srgbClr val="333333"/>
                </a:solidFill>
                <a:latin typeface="Meiryo UI" pitchFamily="34" charset="0"/>
                <a:ea typeface="Meiryo UI" pitchFamily="34" charset="-122"/>
                <a:cs typeface="Meiryo UI" pitchFamily="34" charset="-120"/>
              </a:rPr>
              <a:t>保守から差し引いても 1 株 5.4 ドルの純増</a:t>
            </a:r>
            <a:endParaRPr lang="en-US" sz="1000" dirty="0"/>
          </a:p>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会社の FY30 目標(クラウド DB 全体 200 億ドル)より保守的。</a:t>
            </a:r>
            <a:br/>
            <a:r>
              <a:rPr lang="en-US" sz="1000" dirty="0">
                <a:solidFill>
                  <a:srgbClr val="333333"/>
                </a:solidFill>
                <a:latin typeface="Meiryo UI" pitchFamily="34" charset="0"/>
                <a:ea typeface="Meiryo UI" pitchFamily="34" charset="-122"/>
                <a:cs typeface="Meiryo UI" pitchFamily="34" charset="-120"/>
              </a:rPr>
              <a:t>伸びは毎期 5pt ずつ減速させた</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2-7 資金と信用</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398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398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資金と信用</a:t>
            </a:r>
            <a:endParaRPr lang="en-US" sz="1000" dirty="0"/>
          </a:p>
        </p:txBody>
      </p:sp>
      <p:sp>
        <p:nvSpPr>
          <p:cNvPr id="14" name="hdr_why"/>
          <p:cNvSpPr txBox="1"/>
          <p:nvPr/>
        </p:nvSpPr>
        <p:spPr>
          <a:xfrm>
            <a:off x="2001774" y="356616"/>
            <a:ext cx="9732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建設資金が尽きないか、格付けと金利が理論株価をどこまで動かすかを確かめる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エンジンでは FY29〜30 に BB+ だが、S&amp;P とコンセンサスは FY29 黒字。</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金利低下なら 265 ドル、6% で高止まりでも 242 ドルで株価を上回る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FCF と格付けの経路(需給エンジン、ベース)。右: 金利の経路と理論株価(株主資本コストも同じ前提で変える)</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需給エンジン第4.3版(calc/out/m8_all.json・m8_extra.json)、research2/R5_credit.md、research3/W4_rates.md</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19</a:t>
            </a:r>
            <a:endParaRPr lang="en-US" sz="800" dirty="0"/>
          </a:p>
        </p:txBody>
      </p:sp>
      <p:sp>
        <p:nvSpPr>
          <p:cNvPr id="19" name="pane_head"/>
          <p:cNvSpPr txBox="1"/>
          <p:nvPr/>
        </p:nvSpPr>
        <p:spPr>
          <a:xfrm>
            <a:off x="457200" y="1481328"/>
            <a:ext cx="57607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FCF(10 億ドル)と格付け</a:t>
            </a:r>
            <a:endParaRPr lang="en-US" sz="1200" dirty="0"/>
          </a:p>
        </p:txBody>
      </p:sp>
      <p:graphicFrame>
        <p:nvGraphicFramePr>
          <p:cNvPr id="20" name="chart" descr=""/>
          <p:cNvGraphicFramePr/>
          <p:nvPr/>
        </p:nvGraphicFramePr>
        <p:xfrm>
          <a:off x="457200" y="1783080"/>
          <a:ext cx="5760720" cy="2834640"/>
        </p:xfrm>
        <a:graphic xmlns:a="http://schemas.openxmlformats.org/drawingml/2006/main">
          <a:graphicData uri="http://schemas.openxmlformats.org/drawingml/2006/chart">
            <c:chart xmlns:c="http://schemas.openxmlformats.org/drawingml/2006/chart" r:id="rId1"/>
          </a:graphicData>
        </a:graphic>
      </p:graphicFrame>
      <p:graphicFrame>
        <p:nvGraphicFramePr>
          <p:cNvPr id="20" name="tbl"/>
          <p:cNvGraphicFramePr>
            <a:graphicFrameLocks noGrp="1"/>
          </p:cNvGraphicFramePr>
          <p:nvPr>
            <p:extLst>
              <p:ext uri="{D42A27DB-BD31-4B8C-83A1-F6EECF244321}">
                <p14:modId xmlns:p14="http://schemas.microsoft.com/office/powerpoint/2010/main" val="1579011935"/>
              </p:ext>
            </p:extLst>
          </p:nvPr>
        </p:nvGraphicFramePr>
        <p:xfrm>
          <a:off x="457200" y="4663440"/>
          <a:ext cx="5760720" cy="914400"/>
        </p:xfrm>
        <a:graphic>
          <a:graphicData uri="http://schemas.openxmlformats.org/drawingml/2006/table">
            <a:tbl>
              <a:tblPr/>
              <a:tblGrid>
                <a:gridCol w="960120"/>
                <a:gridCol w="960120"/>
                <a:gridCol w="960120"/>
                <a:gridCol w="960120"/>
                <a:gridCol w="960120"/>
                <a:gridCol w="960120"/>
              </a:tblGrid>
              <a:tr h="310896">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FY27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FY28</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FY29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FY30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FY31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FY32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BBB-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BBB-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8910"/>
                          </a:solidFill>
                          <a:latin typeface="Meiryo UI" pitchFamily="34" charset="0"/>
                          <a:ea typeface="Meiryo UI" pitchFamily="34" charset="-122"/>
                          <a:cs typeface="Meiryo UI" pitchFamily="34" charset="-120"/>
                        </a:rPr>
                        <a:t>BB+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8910"/>
                          </a:solidFill>
                          <a:latin typeface="Meiryo UI" pitchFamily="34" charset="0"/>
                          <a:ea typeface="Meiryo UI" pitchFamily="34" charset="-122"/>
                          <a:cs typeface="Meiryo UI" pitchFamily="34" charset="-120"/>
                        </a:rPr>
                        <a:t>BB+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BBB-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BBB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2" name="Text 18"/>
          <p:cNvSpPr txBox="1"/>
          <p:nvPr/>
        </p:nvSpPr>
        <p:spPr>
          <a:xfrm>
            <a:off x="457200" y="5349240"/>
            <a:ext cx="5760720" cy="731520"/>
          </a:xfrm>
          <a:prstGeom prst="rect">
            <a:avLst/>
          </a:prstGeom>
          <a:noFill/>
          <a:ln/>
        </p:spPr>
        <p:txBody>
          <a:bodyPr wrap="square" lIns="508" tIns="508" rIns="508" bIns="508" rtlCol="0" anchor="t"/>
          <a:lstStyle/>
          <a:p>
            <a:pPr indent="0" marL="0">
              <a:buNone/>
            </a:pPr>
            <a:r>
              <a:rPr lang="en-US" sz="950" dirty="0">
                <a:solidFill>
                  <a:srgbClr val="333333"/>
                </a:solidFill>
                <a:latin typeface="Meiryo UI" pitchFamily="34" charset="0"/>
                <a:ea typeface="Meiryo UI" pitchFamily="34" charset="-122"/>
                <a:cs typeface="Meiryo UI" pitchFamily="34" charset="-120"/>
              </a:rPr>
              <a:t>S&amp;P の格下げ条件: 調整後レバレッジ 4.5 倍超が続く、FY29 までに FOCF が黒字化しない、</a:t>
            </a:r>
            <a:endParaRPr lang="en-US" sz="950" dirty="0"/>
          </a:p>
          <a:p>
            <a:pPr indent="0" marL="0">
              <a:buNone/>
            </a:pPr>
            <a:r>
              <a:rPr lang="en-US" sz="950" dirty="0">
                <a:solidFill>
                  <a:srgbClr val="333333"/>
                </a:solidFill>
                <a:latin typeface="Meiryo UI" pitchFamily="34" charset="0"/>
                <a:ea typeface="Meiryo UI" pitchFamily="34" charset="-122"/>
                <a:cs typeface="Meiryo UI" pitchFamily="34" charset="-120"/>
              </a:rPr>
              <a:t>AI 戦略への否定的な見方。S&amp;P の基本シナリオとコンセンサスは FY29 に黒字</a:t>
            </a:r>
            <a:endParaRPr lang="en-US" sz="950" dirty="0"/>
          </a:p>
          <a:p>
            <a:pPr indent="0" marL="0">
              <a:buNone/>
            </a:pPr>
            <a:r>
              <a:rPr lang="en-US" sz="950" dirty="0">
                <a:solidFill>
                  <a:srgbClr val="333333"/>
                </a:solidFill>
                <a:latin typeface="Meiryo UI" pitchFamily="34" charset="0"/>
                <a:ea typeface="Meiryo UI" pitchFamily="34" charset="-122"/>
                <a:cs typeface="Meiryo UI" pitchFamily="34" charset="-120"/>
              </a:rPr>
              <a:t>(エンジンとの差は capex の水準)</a:t>
            </a:r>
            <a:endParaRPr lang="en-US" sz="950" dirty="0"/>
          </a:p>
        </p:txBody>
      </p:sp>
      <p:sp>
        <p:nvSpPr>
          <p:cNvPr id="23" name="pane_head"/>
          <p:cNvSpPr txBox="1"/>
          <p:nvPr/>
        </p:nvSpPr>
        <p:spPr>
          <a:xfrm>
            <a:off x="6446520" y="1481328"/>
            <a:ext cx="528523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金利の経路と理論株価</a:t>
            </a:r>
            <a:endParaRPr lang="en-US" sz="1200" dirty="0"/>
          </a:p>
        </p:txBody>
      </p:sp>
      <p:graphicFrame>
        <p:nvGraphicFramePr>
          <p:cNvPr id="39" name="tbl"/>
          <p:cNvGraphicFramePr>
            <a:graphicFrameLocks noGrp="1"/>
          </p:cNvGraphicFramePr>
          <p:nvPr>
            <p:extLst>
              <p:ext uri="{D42A27DB-BD31-4B8C-83A1-F6EECF244321}">
                <p14:modId xmlns:p14="http://schemas.microsoft.com/office/powerpoint/2010/main" val="1579011935"/>
              </p:ext>
            </p:extLst>
          </p:nvPr>
        </p:nvGraphicFramePr>
        <p:xfrm>
          <a:off x="6446520" y="1828800"/>
          <a:ext cx="5285232" cy="914400"/>
        </p:xfrm>
        <a:graphic>
          <a:graphicData uri="http://schemas.openxmlformats.org/drawingml/2006/table">
            <a:tbl>
              <a:tblPr/>
              <a:tblGrid>
                <a:gridCol w="2176272"/>
                <a:gridCol w="1005840"/>
                <a:gridCol w="1051560"/>
                <a:gridCol w="1051560"/>
              </a:tblGrid>
              <a:tr h="411480">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金利の経路</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株主資本</a:t>
                      </a:r>
                      <a:endParaRPr lang="en-US" sz="1000" dirty="0">
                        <a:latin typeface="Meiryo UI" charset="0"/>
                        <a:ea typeface="Meiryo UI" charset="0"/>
                        <a:cs typeface="Meiryo UI" charset="0"/>
                      </a:endParaRPr>
                    </a:p>
                    <a:p>
                      <a:pPr algn="ctr" indent="0" marL="0">
                        <a:buNone/>
                      </a:pPr>
                      <a:r>
                        <a:rPr lang="en-US" sz="1000" b="1" dirty="0">
                          <a:solidFill>
                            <a:srgbClr val="FFFFFF"/>
                          </a:solidFill>
                          <a:latin typeface="Meiryo UI" pitchFamily="34" charset="0"/>
                          <a:ea typeface="Meiryo UI" pitchFamily="34" charset="-122"/>
                          <a:cs typeface="Meiryo UI" pitchFamily="34" charset="-120"/>
                        </a:rPr>
                        <a:t>コスト</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理論株価</a:t>
                      </a:r>
                      <a:endParaRPr lang="en-US" sz="1000" dirty="0">
                        <a:latin typeface="Meiryo UI" charset="0"/>
                        <a:ea typeface="Meiryo UI" charset="0"/>
                        <a:cs typeface="Meiryo UI" charset="0"/>
                      </a:endParaRPr>
                    </a:p>
                    <a:p>
                      <a:pPr algn="ctr" indent="0" marL="0">
                        <a:buNone/>
                      </a:pPr>
                      <a:r>
                        <a:rPr lang="en-US" sz="1000" b="1" dirty="0">
                          <a:solidFill>
                            <a:srgbClr val="FFFFFF"/>
                          </a:solidFill>
                          <a:latin typeface="Meiryo UI" pitchFamily="34" charset="0"/>
                          <a:ea typeface="Meiryo UI" pitchFamily="34" charset="-122"/>
                          <a:cs typeface="Meiryo UI" pitchFamily="34" charset="-120"/>
                        </a:rPr>
                        <a:t>(加重)</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DCF(加重)</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411480">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市場の曲線(ベース)</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10.77%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251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231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411480">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予測どおり低下(5.2 → 4.2%)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10.43%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265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275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411480">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6.0% で高止まり</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11.57%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242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209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5" name="bullets"/>
          <p:cNvSpPr txBox="1"/>
          <p:nvPr/>
        </p:nvSpPr>
        <p:spPr>
          <a:xfrm>
            <a:off x="6446520" y="3611880"/>
            <a:ext cx="5285232" cy="1463040"/>
          </a:xfrm>
          <a:prstGeom prst="rect">
            <a:avLst/>
          </a:prstGeom>
          <a:noFill/>
          <a:ln/>
        </p:spPr>
        <p:txBody>
          <a:bodyPr wrap="square" lIns="508" tIns="508" rIns="508" bIns="508" rtlCol="0" anchor="t"/>
          <a:lstStyle/>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ベースは市場の利回り曲線で割り引く</a:t>
            </a:r>
            <a:br/>
            <a:r>
              <a:rPr lang="en-US" sz="1000" dirty="0">
                <a:solidFill>
                  <a:srgbClr val="333333"/>
                </a:solidFill>
                <a:latin typeface="Meiryo UI" pitchFamily="34" charset="0"/>
                <a:ea typeface="Meiryo UI" pitchFamily="34" charset="-122"/>
                <a:cs typeface="Meiryo UI" pitchFamily="34" charset="-120"/>
              </a:rPr>
              <a:t>(2 年 4.85% が FF 3.75〜4.00% を上回り、市場は利上げも織り込む)</a:t>
            </a:r>
            <a:endParaRPr lang="en-US" sz="1000" dirty="0"/>
          </a:p>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利下げの見通しはシナリオとして示す。DCF は金利に敏感だが、</a:t>
            </a:r>
            <a:br/>
            <a:r>
              <a:rPr lang="en-US" sz="1000" dirty="0">
                <a:solidFill>
                  <a:srgbClr val="333333"/>
                </a:solidFill>
                <a:latin typeface="Meiryo UI" pitchFamily="34" charset="0"/>
                <a:ea typeface="Meiryo UI" pitchFamily="34" charset="-122"/>
                <a:cs typeface="Meiryo UI" pitchFamily="34" charset="-120"/>
              </a:rPr>
              <a:t>年度別理論株価は近い年度が重いので動きが小さい</a:t>
            </a:r>
            <a:endParaRPr lang="en-US" sz="1000" dirty="0"/>
          </a:p>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10 年金利は 2026 年 10 月初めに約 5.3%(2002 年以来の高値)。足元の金利は</a:t>
            </a:r>
            <a:br/>
            <a:r>
              <a:rPr lang="en-US" sz="1000" dirty="0">
                <a:solidFill>
                  <a:srgbClr val="333333"/>
                </a:solidFill>
                <a:latin typeface="Meiryo UI" pitchFamily="34" charset="0"/>
                <a:ea typeface="Meiryo UI" pitchFamily="34" charset="-122"/>
                <a:cs typeface="Meiryo UI" pitchFamily="34" charset="-120"/>
              </a:rPr>
              <a:t>歴史的に低くない</a:t>
            </a:r>
            <a:endParaRPr lang="en-US" sz="1000" dirty="0"/>
          </a:p>
        </p:txBody>
      </p:sp>
      <p:sp>
        <p:nvSpPr>
          <p:cNvPr id="26" name="ovl_takeaway_bg"/>
          <p:cNvSpPr/>
          <p:nvPr/>
        </p:nvSpPr>
        <p:spPr>
          <a:xfrm>
            <a:off x="6446520" y="5166360"/>
            <a:ext cx="5285232" cy="868680"/>
          </a:xfrm>
          <a:prstGeom prst="rect">
            <a:avLst/>
          </a:prstGeom>
          <a:solidFill>
            <a:srgbClr val="EAF4EE"/>
          </a:solidFill>
          <a:ln w="12700">
            <a:solidFill>
              <a:srgbClr val="EAF4EE"/>
            </a:solidFill>
            <a:prstDash val="solid"/>
          </a:ln>
        </p:spPr>
      </p:sp>
      <p:sp>
        <p:nvSpPr>
          <p:cNvPr id="27" name="takeaway"/>
          <p:cNvSpPr txBox="1"/>
          <p:nvPr/>
        </p:nvSpPr>
        <p:spPr>
          <a:xfrm>
            <a:off x="6556248" y="5239512"/>
            <a:ext cx="5065776" cy="72237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どの金利の経路でも、理論株価は株価 143 ドルを 68% 以上上回る</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4D33"/>
        </a:solidFill>
      </p:bgPr>
    </p:bg>
    <p:spTree>
      <p:nvGrpSpPr>
        <p:cNvPr id="1" name=""/>
        <p:cNvGrpSpPr/>
        <p:nvPr/>
      </p:nvGrpSpPr>
      <p:grpSpPr>
        <a:xfrm>
          <a:off x="0" y="0"/>
          <a:ext cx="0" cy="0"/>
          <a:chOff x="0" y="0"/>
          <a:chExt cx="0" cy="0"/>
        </a:xfrm>
      </p:grpSpPr>
      <p:sp>
        <p:nvSpPr>
          <p:cNvPr id="2" name="bg_agenda"/>
          <p:cNvSpPr/>
          <p:nvPr/>
        </p:nvSpPr>
        <p:spPr>
          <a:xfrm>
            <a:off x="0" y="0"/>
            <a:ext cx="12191695" cy="6858000"/>
          </a:xfrm>
          <a:prstGeom prst="rect">
            <a:avLst/>
          </a:prstGeom>
          <a:solidFill>
            <a:srgbClr val="0E4D33"/>
          </a:solidFill>
          <a:ln w="12700">
            <a:solidFill>
              <a:srgbClr val="0E4D33"/>
            </a:solidFill>
            <a:prstDash val="solid"/>
          </a:ln>
        </p:spPr>
      </p:sp>
      <p:sp>
        <p:nvSpPr>
          <p:cNvPr id="3" name="bg_agenda_lbl"/>
          <p:cNvSpPr txBox="1"/>
          <p:nvPr/>
        </p:nvSpPr>
        <p:spPr>
          <a:xfrm>
            <a:off x="731520" y="502920"/>
            <a:ext cx="2743200" cy="640080"/>
          </a:xfrm>
          <a:prstGeom prst="rect">
            <a:avLst/>
          </a:prstGeom>
          <a:noFill/>
          <a:ln/>
        </p:spPr>
        <p:txBody>
          <a:bodyPr wrap="square" lIns="508" tIns="508" rIns="508" bIns="508" rtlCol="0" anchor="t"/>
          <a:lstStyle/>
          <a:p>
            <a:pPr indent="0" marL="0">
              <a:buNone/>
            </a:pPr>
            <a:r>
              <a:rPr lang="en-US" sz="2600" b="1" dirty="0">
                <a:solidFill>
                  <a:srgbClr val="FFFFFF"/>
                </a:solidFill>
                <a:latin typeface="Meiryo UI" pitchFamily="34" charset="0"/>
                <a:ea typeface="Meiryo UI" pitchFamily="34" charset="-122"/>
                <a:cs typeface="Meiryo UI" pitchFamily="34" charset="-120"/>
              </a:rPr>
              <a:t>目次</a:t>
            </a:r>
            <a:endParaRPr lang="en-US" sz="2600" dirty="0"/>
          </a:p>
        </p:txBody>
      </p:sp>
      <p:sp>
        <p:nvSpPr>
          <p:cNvPr id="4" name="bg_agenda_n0"/>
          <p:cNvSpPr/>
          <p:nvPr/>
        </p:nvSpPr>
        <p:spPr>
          <a:xfrm>
            <a:off x="777240" y="1463040"/>
            <a:ext cx="457200" cy="457200"/>
          </a:xfrm>
          <a:prstGeom prst="ellipse">
            <a:avLst/>
          </a:prstGeom>
          <a:solidFill>
            <a:srgbClr val="0E4D33"/>
          </a:solidFill>
          <a:ln w="12700">
            <a:solidFill>
              <a:srgbClr val="FFFFFF"/>
            </a:solidFill>
            <a:prstDash val="solid"/>
          </a:ln>
        </p:spPr>
      </p:sp>
      <p:sp>
        <p:nvSpPr>
          <p:cNvPr id="5" name="bg_agenda_nt0"/>
          <p:cNvSpPr txBox="1"/>
          <p:nvPr/>
        </p:nvSpPr>
        <p:spPr>
          <a:xfrm>
            <a:off x="777240" y="1463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1</a:t>
            </a:r>
            <a:endParaRPr lang="en-US" sz="1400" dirty="0"/>
          </a:p>
        </p:txBody>
      </p:sp>
      <p:sp>
        <p:nvSpPr>
          <p:cNvPr id="6" name="bg_agenda_ch0"/>
          <p:cNvSpPr txBox="1"/>
          <p:nvPr/>
        </p:nvSpPr>
        <p:spPr>
          <a:xfrm>
            <a:off x="1417320" y="1444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評価総括</a:t>
            </a:r>
            <a:endParaRPr lang="en-US" sz="1800" dirty="0"/>
          </a:p>
        </p:txBody>
      </p:sp>
      <p:sp>
        <p:nvSpPr>
          <p:cNvPr id="7" name="bg_agenda_n1"/>
          <p:cNvSpPr/>
          <p:nvPr/>
        </p:nvSpPr>
        <p:spPr>
          <a:xfrm>
            <a:off x="777240" y="2606040"/>
            <a:ext cx="457200" cy="457200"/>
          </a:xfrm>
          <a:prstGeom prst="ellipse">
            <a:avLst/>
          </a:prstGeom>
          <a:solidFill>
            <a:srgbClr val="0E4D33"/>
          </a:solidFill>
          <a:ln w="12700">
            <a:solidFill>
              <a:srgbClr val="FFFFFF"/>
            </a:solidFill>
            <a:prstDash val="solid"/>
          </a:ln>
        </p:spPr>
      </p:sp>
      <p:sp>
        <p:nvSpPr>
          <p:cNvPr id="8" name="bg_agenda_nt1"/>
          <p:cNvSpPr txBox="1"/>
          <p:nvPr/>
        </p:nvSpPr>
        <p:spPr>
          <a:xfrm>
            <a:off x="777240" y="2606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2</a:t>
            </a:r>
            <a:endParaRPr lang="en-US" sz="1400" dirty="0"/>
          </a:p>
        </p:txBody>
      </p:sp>
      <p:sp>
        <p:nvSpPr>
          <p:cNvPr id="9" name="bg_agenda_ch1"/>
          <p:cNvSpPr txBox="1"/>
          <p:nvPr/>
        </p:nvSpPr>
        <p:spPr>
          <a:xfrm>
            <a:off x="1417320" y="2587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事業・需給・成長</a:t>
            </a:r>
            <a:endParaRPr lang="en-US" sz="1800" dirty="0"/>
          </a:p>
        </p:txBody>
      </p:sp>
      <p:sp>
        <p:nvSpPr>
          <p:cNvPr id="10" name="bg_agenda_n2"/>
          <p:cNvSpPr/>
          <p:nvPr/>
        </p:nvSpPr>
        <p:spPr>
          <a:xfrm>
            <a:off x="777240" y="3749040"/>
            <a:ext cx="457200" cy="457200"/>
          </a:xfrm>
          <a:prstGeom prst="ellipse">
            <a:avLst/>
          </a:prstGeom>
          <a:solidFill>
            <a:srgbClr val="197A56"/>
          </a:solidFill>
          <a:ln w="12700">
            <a:solidFill>
              <a:srgbClr val="FFFFFF"/>
            </a:solidFill>
            <a:prstDash val="solid"/>
          </a:ln>
        </p:spPr>
      </p:sp>
      <p:sp>
        <p:nvSpPr>
          <p:cNvPr id="11" name="bg_agenda_nt2"/>
          <p:cNvSpPr txBox="1"/>
          <p:nvPr/>
        </p:nvSpPr>
        <p:spPr>
          <a:xfrm>
            <a:off x="777240" y="37490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3</a:t>
            </a:r>
            <a:endParaRPr lang="en-US" sz="1400" dirty="0"/>
          </a:p>
        </p:txBody>
      </p:sp>
      <p:sp>
        <p:nvSpPr>
          <p:cNvPr id="12" name="bg_agenda_ch2"/>
          <p:cNvSpPr txBox="1"/>
          <p:nvPr/>
        </p:nvSpPr>
        <p:spPr>
          <a:xfrm>
            <a:off x="1417320" y="3730752"/>
            <a:ext cx="5669280" cy="493776"/>
          </a:xfrm>
          <a:prstGeom prst="rect">
            <a:avLst/>
          </a:prstGeom>
          <a:noFill/>
          <a:ln/>
        </p:spPr>
        <p:txBody>
          <a:bodyPr wrap="square" lIns="0" tIns="0" rIns="0" bIns="0" rtlCol="0" anchor="ctr"/>
          <a:lstStyle/>
          <a:p>
            <a:pPr indent="0" marL="0">
              <a:buNone/>
            </a:pPr>
            <a:r>
              <a:rPr lang="en-US" sz="1800" b="1" dirty="0">
                <a:solidFill>
                  <a:srgbClr val="FFFFFF"/>
                </a:solidFill>
                <a:latin typeface="Meiryo UI" pitchFamily="34" charset="0"/>
                <a:ea typeface="Meiryo UI" pitchFamily="34" charset="-122"/>
                <a:cs typeface="Meiryo UI" pitchFamily="34" charset="-120"/>
              </a:rPr>
              <a:t>13条件の構造分析</a:t>
            </a:r>
            <a:endParaRPr lang="en-US" sz="1800" dirty="0"/>
          </a:p>
        </p:txBody>
      </p:sp>
      <p:sp>
        <p:nvSpPr>
          <p:cNvPr id="13" name="bg_agenda_why2"/>
          <p:cNvSpPr txBox="1"/>
          <p:nvPr/>
        </p:nvSpPr>
        <p:spPr>
          <a:xfrm>
            <a:off x="1417320" y="4224528"/>
            <a:ext cx="5669280" cy="566928"/>
          </a:xfrm>
          <a:prstGeom prst="rect">
            <a:avLst/>
          </a:prstGeom>
          <a:noFill/>
          <a:ln/>
        </p:spPr>
        <p:txBody>
          <a:bodyPr wrap="square" lIns="0" tIns="0" rIns="0" bIns="0" rtlCol="0" anchor="t"/>
          <a:lstStyle/>
          <a:p>
            <a:pPr indent="0" marL="0">
              <a:buNone/>
            </a:pPr>
            <a:r>
              <a:rPr lang="en-US" sz="1050" dirty="0">
                <a:solidFill>
                  <a:srgbClr val="86C99B"/>
                </a:solidFill>
                <a:latin typeface="Meiryo UI" pitchFamily="34" charset="0"/>
                <a:ea typeface="Meiryo UI" pitchFamily="34" charset="-122"/>
                <a:cs typeface="Meiryo UI" pitchFamily="34" charset="-120"/>
              </a:rPr>
              <a:t>長期保有に耐える構造かを 13 の条件で確かめ、構造評価を決める。</a:t>
            </a:r>
            <a:endParaRPr lang="en-US" sz="1050" dirty="0"/>
          </a:p>
          <a:p>
            <a:pPr indent="0" marL="0">
              <a:buNone/>
            </a:pPr>
            <a:r>
              <a:rPr lang="en-US" sz="1050" dirty="0">
                <a:solidFill>
                  <a:srgbClr val="86C99B"/>
                </a:solidFill>
                <a:latin typeface="Meiryo UI" pitchFamily="34" charset="0"/>
                <a:ea typeface="Meiryo UI" pitchFamily="34" charset="-122"/>
                <a:cs typeface="Meiryo UI" pitchFamily="34" charset="-120"/>
              </a:rPr>
              <a:t>構造評価は許容する倍率(PEG)に直結する</a:t>
            </a:r>
            <a:endParaRPr lang="en-US" sz="1050" dirty="0"/>
          </a:p>
        </p:txBody>
      </p:sp>
      <p:sp>
        <p:nvSpPr>
          <p:cNvPr id="14" name="bg_agenda_n3"/>
          <p:cNvSpPr/>
          <p:nvPr/>
        </p:nvSpPr>
        <p:spPr>
          <a:xfrm>
            <a:off x="777240" y="4892040"/>
            <a:ext cx="457200" cy="457200"/>
          </a:xfrm>
          <a:prstGeom prst="ellipse">
            <a:avLst/>
          </a:prstGeom>
          <a:solidFill>
            <a:srgbClr val="0E4D33"/>
          </a:solidFill>
          <a:ln w="12700">
            <a:solidFill>
              <a:srgbClr val="FFFFFF"/>
            </a:solidFill>
            <a:prstDash val="solid"/>
          </a:ln>
        </p:spPr>
      </p:sp>
      <p:sp>
        <p:nvSpPr>
          <p:cNvPr id="15" name="bg_agenda_nt3"/>
          <p:cNvSpPr txBox="1"/>
          <p:nvPr/>
        </p:nvSpPr>
        <p:spPr>
          <a:xfrm>
            <a:off x="777240" y="4892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4</a:t>
            </a:r>
            <a:endParaRPr lang="en-US" sz="1400" dirty="0"/>
          </a:p>
        </p:txBody>
      </p:sp>
      <p:sp>
        <p:nvSpPr>
          <p:cNvPr id="16" name="bg_agenda_ch3"/>
          <p:cNvSpPr txBox="1"/>
          <p:nvPr/>
        </p:nvSpPr>
        <p:spPr>
          <a:xfrm>
            <a:off x="1417320" y="4873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バリュエーション・リスク・投資アクション</a:t>
            </a:r>
            <a:endParaRPr lang="en-US" sz="1800" dirty="0"/>
          </a:p>
        </p:txBody>
      </p:sp>
      <p:sp>
        <p:nvSpPr>
          <p:cNvPr id="17" name="bg_agenda_rule"/>
          <p:cNvSpPr/>
          <p:nvPr/>
        </p:nvSpPr>
        <p:spPr>
          <a:xfrm>
            <a:off x="7543800" y="1463040"/>
            <a:ext cx="0" cy="4389120"/>
          </a:xfrm>
          <a:prstGeom prst="line">
            <a:avLst/>
          </a:prstGeom>
          <a:noFill/>
          <a:ln w="9525">
            <a:solidFill>
              <a:srgbClr val="86C99B"/>
            </a:solidFill>
            <a:prstDash val="solid"/>
          </a:ln>
        </p:spPr>
      </p:sp>
      <p:sp>
        <p:nvSpPr>
          <p:cNvPr id="18" name="bg_agenda_sh"/>
          <p:cNvSpPr txBox="1"/>
          <p:nvPr/>
        </p:nvSpPr>
        <p:spPr>
          <a:xfrm>
            <a:off x="7818120" y="1417320"/>
            <a:ext cx="3840480" cy="365760"/>
          </a:xfrm>
          <a:prstGeom prst="rect">
            <a:avLst/>
          </a:prstGeom>
          <a:noFill/>
          <a:ln/>
        </p:spPr>
        <p:txBody>
          <a:bodyPr wrap="square" lIns="0" tIns="0" rIns="0" bIns="0" rtlCol="0" anchor="t"/>
          <a:lstStyle/>
          <a:p>
            <a:pPr indent="0" marL="0">
              <a:buNone/>
            </a:pPr>
            <a:r>
              <a:rPr lang="en-US" sz="1300" b="1" dirty="0">
                <a:solidFill>
                  <a:srgbClr val="86C99B"/>
                </a:solidFill>
                <a:latin typeface="Meiryo UI" pitchFamily="34" charset="0"/>
                <a:ea typeface="Meiryo UI" pitchFamily="34" charset="-122"/>
                <a:cs typeface="Meiryo UI" pitchFamily="34" charset="-120"/>
              </a:rPr>
              <a:t>第3章の構成</a:t>
            </a:r>
            <a:endParaRPr lang="en-US" sz="1300" dirty="0"/>
          </a:p>
        </p:txBody>
      </p:sp>
      <p:sp>
        <p:nvSpPr>
          <p:cNvPr id="19" name="bg_agenda_s0"/>
          <p:cNvSpPr txBox="1"/>
          <p:nvPr/>
        </p:nvSpPr>
        <p:spPr>
          <a:xfrm>
            <a:off x="7818120" y="19202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3-1  稼ぐ力(条件1〜3)</a:t>
            </a:r>
            <a:endParaRPr lang="en-US" sz="1250" dirty="0"/>
          </a:p>
        </p:txBody>
      </p:sp>
      <p:sp>
        <p:nvSpPr>
          <p:cNvPr id="20" name="bg_agenda_p0"/>
          <p:cNvSpPr txBox="1"/>
          <p:nvPr/>
        </p:nvSpPr>
        <p:spPr>
          <a:xfrm>
            <a:off x="10881360" y="19202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p.21–23</a:t>
            </a:r>
            <a:endParaRPr lang="en-US" sz="1050" dirty="0"/>
          </a:p>
        </p:txBody>
      </p:sp>
      <p:sp>
        <p:nvSpPr>
          <p:cNvPr id="21" name="bg_agenda_s1"/>
          <p:cNvSpPr txBox="1"/>
          <p:nvPr/>
        </p:nvSpPr>
        <p:spPr>
          <a:xfrm>
            <a:off x="7818120" y="23774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3-2  経営(条件5)</a:t>
            </a:r>
            <a:endParaRPr lang="en-US" sz="1250" dirty="0"/>
          </a:p>
        </p:txBody>
      </p:sp>
      <p:sp>
        <p:nvSpPr>
          <p:cNvPr id="22" name="bg_agenda_p1"/>
          <p:cNvSpPr txBox="1"/>
          <p:nvPr/>
        </p:nvSpPr>
        <p:spPr>
          <a:xfrm>
            <a:off x="10881360" y="23774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p.24</a:t>
            </a:r>
            <a:endParaRPr lang="en-US" sz="1050" dirty="0"/>
          </a:p>
        </p:txBody>
      </p:sp>
      <p:sp>
        <p:nvSpPr>
          <p:cNvPr id="23" name="bg_agenda_s2"/>
          <p:cNvSpPr txBox="1"/>
          <p:nvPr/>
        </p:nvSpPr>
        <p:spPr>
          <a:xfrm>
            <a:off x="7818120" y="28346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3-3  成長と割安度(条件6・7)</a:t>
            </a:r>
            <a:endParaRPr lang="en-US" sz="1250" dirty="0"/>
          </a:p>
        </p:txBody>
      </p:sp>
      <p:sp>
        <p:nvSpPr>
          <p:cNvPr id="24" name="bg_agenda_p2"/>
          <p:cNvSpPr txBox="1"/>
          <p:nvPr/>
        </p:nvSpPr>
        <p:spPr>
          <a:xfrm>
            <a:off x="10881360" y="28346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p.25–26</a:t>
            </a:r>
            <a:endParaRPr lang="en-US" sz="1050" dirty="0"/>
          </a:p>
        </p:txBody>
      </p:sp>
      <p:sp>
        <p:nvSpPr>
          <p:cNvPr id="25" name="bg_agenda_s3"/>
          <p:cNvSpPr txBox="1"/>
          <p:nvPr/>
        </p:nvSpPr>
        <p:spPr>
          <a:xfrm>
            <a:off x="7818120" y="32918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3-4  製品と設備の性格(条件8〜12)</a:t>
            </a:r>
            <a:endParaRPr lang="en-US" sz="1250" dirty="0"/>
          </a:p>
        </p:txBody>
      </p:sp>
      <p:sp>
        <p:nvSpPr>
          <p:cNvPr id="26" name="bg_agenda_p3"/>
          <p:cNvSpPr txBox="1"/>
          <p:nvPr/>
        </p:nvSpPr>
        <p:spPr>
          <a:xfrm>
            <a:off x="10881360" y="32918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p.27–31</a:t>
            </a:r>
            <a:endParaRPr lang="en-US" sz="1050" dirty="0"/>
          </a:p>
        </p:txBody>
      </p:sp>
      <p:sp>
        <p:nvSpPr>
          <p:cNvPr id="27" name="bg_agenda_s4"/>
          <p:cNvSpPr txBox="1"/>
          <p:nvPr/>
        </p:nvSpPr>
        <p:spPr>
          <a:xfrm>
            <a:off x="7818120" y="37490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3-5  総合(条件13)</a:t>
            </a:r>
            <a:endParaRPr lang="en-US" sz="1250" dirty="0"/>
          </a:p>
        </p:txBody>
      </p:sp>
      <p:sp>
        <p:nvSpPr>
          <p:cNvPr id="28" name="bg_agenda_p4"/>
          <p:cNvSpPr txBox="1"/>
          <p:nvPr/>
        </p:nvSpPr>
        <p:spPr>
          <a:xfrm>
            <a:off x="10881360" y="37490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p.32</a:t>
            </a:r>
            <a:endParaRPr lang="en-US" sz="1050" dirty="0"/>
          </a:p>
        </p:txBody>
      </p:sp>
      <p:sp>
        <p:nvSpPr>
          <p:cNvPr id="29" name="bg_agenda_note"/>
          <p:cNvSpPr txBox="1"/>
          <p:nvPr/>
        </p:nvSpPr>
        <p:spPr>
          <a:xfrm>
            <a:off x="7818120" y="4343400"/>
            <a:ext cx="3913632" cy="548640"/>
          </a:xfrm>
          <a:prstGeom prst="rect">
            <a:avLst/>
          </a:prstGeom>
          <a:noFill/>
          <a:ln/>
        </p:spPr>
        <p:txBody>
          <a:bodyPr wrap="square" lIns="0" tIns="0" rIns="0" bIns="0" rtlCol="0" anchor="t"/>
          <a:lstStyle/>
          <a:p>
            <a:pPr indent="0" marL="0">
              <a:buNone/>
            </a:pPr>
            <a:r>
              <a:rPr lang="en-US" sz="950" dirty="0">
                <a:solidFill>
                  <a:srgbClr val="86C99B"/>
                </a:solidFill>
                <a:latin typeface="Meiryo UI" pitchFamily="34" charset="0"/>
                <a:ea typeface="Meiryo UI" pitchFamily="34" charset="-122"/>
                <a:cs typeface="Meiryo UI" pitchFamily="34" charset="-120"/>
              </a:rPr>
              <a:t>条件4(上場市場)は審査の前提条件のため、1-2 の評価一覧で扱う</a:t>
            </a:r>
            <a:endParaRPr lang="en-US" sz="950" dirty="0"/>
          </a:p>
        </p:txBody>
      </p:sp>
      <p:sp>
        <p:nvSpPr>
          <p:cNvPr id="30"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86C99B"/>
                </a:solidFill>
                <a:latin typeface="Meiryo UI" pitchFamily="34" charset="0"/>
                <a:ea typeface="Meiryo UI" pitchFamily="34" charset="-122"/>
                <a:cs typeface="Meiryo UI"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3-1 稼ぐ力(条件1〜3)(1/3)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211582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21158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競争優位の持続(条件1)</a:t>
            </a:r>
            <a:endParaRPr lang="en-US" sz="1000" dirty="0"/>
          </a:p>
        </p:txBody>
      </p:sp>
      <p:sp>
        <p:nvSpPr>
          <p:cNvPr id="14" name="hdr_why"/>
          <p:cNvSpPr txBox="1"/>
          <p:nvPr/>
        </p:nvSpPr>
        <p:spPr>
          <a:xfrm>
            <a:off x="2719324" y="356616"/>
            <a:ext cx="901517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10 年保有の前提は、利益を守る優位が続くこと。DB と AI 容量で優位の長さが違うかを見る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DB の切替コストは 10 年以上続くが、AI 容量の単価優位は</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逼迫が続く FY32 までに限られ、10 年の圧倒的優位とは言えない</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左から: 顧客 → Oracle の事業 → 優位の源泉(壁)← 競合の圧力。下: 優位が続く期間。①〜④ は右と対応</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会社開示(Q1 FY27 説明会)、research4/T5_supply_components.md、research4/T3_saas_products.md、calc/prereg2.md §9(逼迫の終わり FY32)</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21</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条件1</a:t>
            </a:r>
            <a:endParaRPr lang="en-US" sz="800" dirty="0"/>
          </a:p>
        </p:txBody>
      </p:sp>
      <p:sp>
        <p:nvSpPr>
          <p:cNvPr id="22" name="bg_lane0"/>
          <p:cNvSpPr/>
          <p:nvPr/>
        </p:nvSpPr>
        <p:spPr>
          <a:xfrm>
            <a:off x="347472" y="1517904"/>
            <a:ext cx="1545336" cy="3172968"/>
          </a:xfrm>
          <a:prstGeom prst="rect">
            <a:avLst/>
          </a:prstGeom>
          <a:solidFill>
            <a:srgbClr val="F2F2F2"/>
          </a:solidFill>
          <a:ln w="12700">
            <a:solidFill>
              <a:srgbClr val="F2F2F2"/>
            </a:solidFill>
            <a:prstDash val="solid"/>
          </a:ln>
        </p:spPr>
      </p:sp>
      <p:sp>
        <p:nvSpPr>
          <p:cNvPr id="23" name="bg_laneh0"/>
          <p:cNvSpPr/>
          <p:nvPr/>
        </p:nvSpPr>
        <p:spPr>
          <a:xfrm>
            <a:off x="347472" y="1517904"/>
            <a:ext cx="1545336" cy="274320"/>
          </a:xfrm>
          <a:prstGeom prst="rect">
            <a:avLst/>
          </a:prstGeom>
          <a:solidFill>
            <a:srgbClr val="D9D9D9"/>
          </a:solidFill>
          <a:ln w="12700">
            <a:solidFill>
              <a:srgbClr val="D9D9D9"/>
            </a:solidFill>
            <a:prstDash val="solid"/>
          </a:ln>
        </p:spPr>
      </p:sp>
      <p:sp>
        <p:nvSpPr>
          <p:cNvPr id="24" name="bg_lanet0"/>
          <p:cNvSpPr txBox="1"/>
          <p:nvPr/>
        </p:nvSpPr>
        <p:spPr>
          <a:xfrm>
            <a:off x="347472" y="1517904"/>
            <a:ext cx="154533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顧客</a:t>
            </a:r>
            <a:endParaRPr lang="en-US" sz="950" dirty="0"/>
          </a:p>
        </p:txBody>
      </p:sp>
      <p:sp>
        <p:nvSpPr>
          <p:cNvPr id="25" name="bg_lane1"/>
          <p:cNvSpPr/>
          <p:nvPr/>
        </p:nvSpPr>
        <p:spPr>
          <a:xfrm>
            <a:off x="2572512" y="1517904"/>
            <a:ext cx="3724656" cy="3172968"/>
          </a:xfrm>
          <a:prstGeom prst="rect">
            <a:avLst/>
          </a:prstGeom>
          <a:solidFill>
            <a:srgbClr val="EAF4EE"/>
          </a:solidFill>
          <a:ln w="12700">
            <a:solidFill>
              <a:srgbClr val="EAF4EE"/>
            </a:solidFill>
            <a:prstDash val="solid"/>
          </a:ln>
        </p:spPr>
      </p:sp>
      <p:sp>
        <p:nvSpPr>
          <p:cNvPr id="26" name="bg_laneh1"/>
          <p:cNvSpPr/>
          <p:nvPr/>
        </p:nvSpPr>
        <p:spPr>
          <a:xfrm>
            <a:off x="2572512" y="1517904"/>
            <a:ext cx="3724656" cy="274320"/>
          </a:xfrm>
          <a:prstGeom prst="rect">
            <a:avLst/>
          </a:prstGeom>
          <a:solidFill>
            <a:srgbClr val="197A56"/>
          </a:solidFill>
          <a:ln w="12700">
            <a:solidFill>
              <a:srgbClr val="197A56"/>
            </a:solidFill>
            <a:prstDash val="solid"/>
          </a:ln>
        </p:spPr>
      </p:sp>
      <p:sp>
        <p:nvSpPr>
          <p:cNvPr id="27" name="bg_lanet1"/>
          <p:cNvSpPr txBox="1"/>
          <p:nvPr/>
        </p:nvSpPr>
        <p:spPr>
          <a:xfrm>
            <a:off x="2572512" y="1517904"/>
            <a:ext cx="372465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 の事業と優位の源泉</a:t>
            </a:r>
            <a:endParaRPr lang="en-US" sz="950" dirty="0"/>
          </a:p>
        </p:txBody>
      </p:sp>
      <p:sp>
        <p:nvSpPr>
          <p:cNvPr id="28" name="bg_lane2"/>
          <p:cNvSpPr/>
          <p:nvPr/>
        </p:nvSpPr>
        <p:spPr>
          <a:xfrm>
            <a:off x="6976872" y="1517904"/>
            <a:ext cx="1408176" cy="3172968"/>
          </a:xfrm>
          <a:prstGeom prst="rect">
            <a:avLst/>
          </a:prstGeom>
          <a:solidFill>
            <a:srgbClr val="F2F2F2"/>
          </a:solidFill>
          <a:ln w="12700">
            <a:solidFill>
              <a:srgbClr val="F2F2F2"/>
            </a:solidFill>
            <a:prstDash val="solid"/>
          </a:ln>
        </p:spPr>
      </p:sp>
      <p:sp>
        <p:nvSpPr>
          <p:cNvPr id="29" name="bg_laneh2"/>
          <p:cNvSpPr/>
          <p:nvPr/>
        </p:nvSpPr>
        <p:spPr>
          <a:xfrm>
            <a:off x="6976872" y="1517904"/>
            <a:ext cx="1408176" cy="274320"/>
          </a:xfrm>
          <a:prstGeom prst="rect">
            <a:avLst/>
          </a:prstGeom>
          <a:solidFill>
            <a:srgbClr val="D9D9D9"/>
          </a:solidFill>
          <a:ln w="12700">
            <a:solidFill>
              <a:srgbClr val="D9D9D9"/>
            </a:solidFill>
            <a:prstDash val="solid"/>
          </a:ln>
        </p:spPr>
      </p:sp>
      <p:sp>
        <p:nvSpPr>
          <p:cNvPr id="30" name="bg_lanet2"/>
          <p:cNvSpPr txBox="1"/>
          <p:nvPr/>
        </p:nvSpPr>
        <p:spPr>
          <a:xfrm>
            <a:off x="6976872" y="1517904"/>
            <a:ext cx="140817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競合・代替</a:t>
            </a:r>
            <a:endParaRPr lang="en-US" sz="950" dirty="0"/>
          </a:p>
        </p:txBody>
      </p:sp>
      <p:sp>
        <p:nvSpPr>
          <p:cNvPr id="31" name="ovl_grp0"/>
          <p:cNvSpPr/>
          <p:nvPr/>
        </p:nvSpPr>
        <p:spPr>
          <a:xfrm>
            <a:off x="2618232" y="1911096"/>
            <a:ext cx="1408176" cy="2734056"/>
          </a:xfrm>
          <a:prstGeom prst="roundRect">
            <a:avLst>
              <a:gd name="adj" fmla="val 3896"/>
            </a:avLst>
          </a:prstGeom>
          <a:solidFill>
            <a:srgbClr val="FFFFFF">
              <a:alpha val="0"/>
            </a:srgbClr>
          </a:solidFill>
          <a:ln w="12700">
            <a:solidFill>
              <a:srgbClr val="197A56"/>
            </a:solidFill>
            <a:prstDash val="dash"/>
          </a:ln>
        </p:spPr>
      </p:sp>
      <p:sp>
        <p:nvSpPr>
          <p:cNvPr id="32" name="ovl_grp1"/>
          <p:cNvSpPr/>
          <p:nvPr/>
        </p:nvSpPr>
        <p:spPr>
          <a:xfrm>
            <a:off x="4797552" y="1911096"/>
            <a:ext cx="1453896" cy="2734056"/>
          </a:xfrm>
          <a:prstGeom prst="roundRect">
            <a:avLst>
              <a:gd name="adj" fmla="val 3774"/>
            </a:avLst>
          </a:prstGeom>
          <a:solidFill>
            <a:srgbClr val="FFFFFF">
              <a:alpha val="0"/>
            </a:srgbClr>
          </a:solidFill>
          <a:ln w="12700">
            <a:solidFill>
              <a:srgbClr val="197A56"/>
            </a:solidFill>
            <a:prstDash val="dash"/>
          </a:ln>
        </p:spPr>
      </p:sp>
      <p:sp>
        <p:nvSpPr>
          <p:cNvPr id="33" name="ovl_s17_e0_0"/>
          <p:cNvSpPr/>
          <p:nvPr/>
        </p:nvSpPr>
        <p:spPr>
          <a:xfrm>
            <a:off x="1783080" y="2348484"/>
            <a:ext cx="899160" cy="914"/>
          </a:xfrm>
          <a:prstGeom prst="line">
            <a:avLst/>
          </a:prstGeom>
          <a:noFill/>
          <a:ln w="22225">
            <a:solidFill>
              <a:srgbClr val="0E4D33"/>
            </a:solidFill>
            <a:prstDash val="solid"/>
            <a:tailEnd type="triangle"/>
          </a:ln>
        </p:spPr>
      </p:sp>
      <p:sp>
        <p:nvSpPr>
          <p:cNvPr id="34" name="ovl_s17_e1_0"/>
          <p:cNvSpPr/>
          <p:nvPr/>
        </p:nvSpPr>
        <p:spPr>
          <a:xfrm>
            <a:off x="1783080" y="3278124"/>
            <a:ext cx="899160" cy="914"/>
          </a:xfrm>
          <a:prstGeom prst="line">
            <a:avLst/>
          </a:prstGeom>
          <a:noFill/>
          <a:ln w="22225">
            <a:solidFill>
              <a:srgbClr val="0E4D33"/>
            </a:solidFill>
            <a:prstDash val="solid"/>
            <a:tailEnd type="triangle"/>
          </a:ln>
        </p:spPr>
      </p:sp>
      <p:sp>
        <p:nvSpPr>
          <p:cNvPr id="35" name="ovl_s17_e2_0"/>
          <p:cNvSpPr/>
          <p:nvPr/>
        </p:nvSpPr>
        <p:spPr>
          <a:xfrm>
            <a:off x="1783080" y="4207764"/>
            <a:ext cx="899160" cy="914"/>
          </a:xfrm>
          <a:prstGeom prst="line">
            <a:avLst/>
          </a:prstGeom>
          <a:noFill/>
          <a:ln w="22225">
            <a:solidFill>
              <a:srgbClr val="0E4D33"/>
            </a:solidFill>
            <a:prstDash val="solid"/>
            <a:tailEnd type="triangle"/>
          </a:ln>
        </p:spPr>
      </p:sp>
      <p:sp>
        <p:nvSpPr>
          <p:cNvPr id="36" name="ovl_s17_e3_0"/>
          <p:cNvSpPr/>
          <p:nvPr/>
        </p:nvSpPr>
        <p:spPr>
          <a:xfrm flipH="1">
            <a:off x="3962400" y="2348484"/>
            <a:ext cx="899160" cy="914"/>
          </a:xfrm>
          <a:prstGeom prst="line">
            <a:avLst/>
          </a:prstGeom>
          <a:noFill/>
          <a:ln w="12700">
            <a:solidFill>
              <a:srgbClr val="767676"/>
            </a:solidFill>
            <a:prstDash val="sysDash"/>
            <a:tailEnd type="triangle"/>
          </a:ln>
        </p:spPr>
      </p:sp>
      <p:sp>
        <p:nvSpPr>
          <p:cNvPr id="37" name="ovl_s17_e4_0"/>
          <p:cNvSpPr/>
          <p:nvPr/>
        </p:nvSpPr>
        <p:spPr>
          <a:xfrm flipH="1">
            <a:off x="3962400" y="3278124"/>
            <a:ext cx="899160" cy="914"/>
          </a:xfrm>
          <a:prstGeom prst="line">
            <a:avLst/>
          </a:prstGeom>
          <a:noFill/>
          <a:ln w="12700">
            <a:solidFill>
              <a:srgbClr val="767676"/>
            </a:solidFill>
            <a:prstDash val="sysDash"/>
            <a:tailEnd type="triangle"/>
          </a:ln>
        </p:spPr>
      </p:sp>
      <p:sp>
        <p:nvSpPr>
          <p:cNvPr id="38" name="ovl_s17_e5_0"/>
          <p:cNvSpPr/>
          <p:nvPr/>
        </p:nvSpPr>
        <p:spPr>
          <a:xfrm flipH="1">
            <a:off x="3962400" y="4143756"/>
            <a:ext cx="899160" cy="914"/>
          </a:xfrm>
          <a:prstGeom prst="line">
            <a:avLst/>
          </a:prstGeom>
          <a:noFill/>
          <a:ln w="12700">
            <a:solidFill>
              <a:srgbClr val="767676"/>
            </a:solidFill>
            <a:prstDash val="sysDash"/>
            <a:tailEnd type="triangle"/>
          </a:ln>
        </p:spPr>
      </p:sp>
      <p:sp>
        <p:nvSpPr>
          <p:cNvPr id="39" name="ovl_s17_e6_0"/>
          <p:cNvSpPr/>
          <p:nvPr/>
        </p:nvSpPr>
        <p:spPr>
          <a:xfrm flipH="1">
            <a:off x="6187440" y="2348484"/>
            <a:ext cx="899160" cy="914"/>
          </a:xfrm>
          <a:prstGeom prst="line">
            <a:avLst/>
          </a:prstGeom>
          <a:noFill/>
          <a:ln w="15875">
            <a:solidFill>
              <a:srgbClr val="C0392B"/>
            </a:solidFill>
            <a:prstDash val="dash"/>
            <a:tailEnd type="triangle"/>
          </a:ln>
        </p:spPr>
      </p:sp>
      <p:sp>
        <p:nvSpPr>
          <p:cNvPr id="40" name="ovl_s17_e7_0"/>
          <p:cNvSpPr/>
          <p:nvPr/>
        </p:nvSpPr>
        <p:spPr>
          <a:xfrm flipH="1">
            <a:off x="6187440" y="3278124"/>
            <a:ext cx="899160" cy="914"/>
          </a:xfrm>
          <a:prstGeom prst="line">
            <a:avLst/>
          </a:prstGeom>
          <a:noFill/>
          <a:ln w="15875">
            <a:solidFill>
              <a:srgbClr val="C0392B"/>
            </a:solidFill>
            <a:prstDash val="dash"/>
            <a:tailEnd type="triangle"/>
          </a:ln>
        </p:spPr>
      </p:sp>
      <p:sp>
        <p:nvSpPr>
          <p:cNvPr id="41" name="ovl_s17_e8_0"/>
          <p:cNvSpPr/>
          <p:nvPr/>
        </p:nvSpPr>
        <p:spPr>
          <a:xfrm flipH="1">
            <a:off x="6187440" y="4207764"/>
            <a:ext cx="899160" cy="914"/>
          </a:xfrm>
          <a:prstGeom prst="line">
            <a:avLst/>
          </a:prstGeom>
          <a:noFill/>
          <a:ln w="15875">
            <a:solidFill>
              <a:srgbClr val="C0392B"/>
            </a:solidFill>
            <a:prstDash val="dash"/>
            <a:tailEnd type="triangle"/>
          </a:ln>
        </p:spPr>
      </p:sp>
      <p:sp>
        <p:nvSpPr>
          <p:cNvPr id="42" name="ovl_s17_n_ent"/>
          <p:cNvSpPr/>
          <p:nvPr/>
        </p:nvSpPr>
        <p:spPr>
          <a:xfrm>
            <a:off x="457200" y="2019300"/>
            <a:ext cx="1325880" cy="658368"/>
          </a:xfrm>
          <a:prstGeom prst="roundRect">
            <a:avLst>
              <a:gd name="adj" fmla="val 8333"/>
            </a:avLst>
          </a:prstGeom>
          <a:solidFill>
            <a:srgbClr val="FFFFFF"/>
          </a:solidFill>
          <a:ln w="9525">
            <a:solidFill>
              <a:srgbClr val="767676"/>
            </a:solidFill>
            <a:prstDash val="solid"/>
          </a:ln>
        </p:spPr>
      </p:sp>
      <p:sp>
        <p:nvSpPr>
          <p:cNvPr id="43" name="ovl_s17_nt_ent"/>
          <p:cNvSpPr txBox="1"/>
          <p:nvPr/>
        </p:nvSpPr>
        <p:spPr>
          <a:xfrm>
            <a:off x="493776" y="204673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DB の既存顧客</a:t>
            </a:r>
            <a:endParaRPr lang="en-US" sz="1000" dirty="0"/>
          </a:p>
        </p:txBody>
      </p:sp>
      <p:sp>
        <p:nvSpPr>
          <p:cNvPr id="44" name="ovl_s17_ns_ent"/>
          <p:cNvSpPr txBox="1"/>
          <p:nvPr/>
        </p:nvSpPr>
        <p:spPr>
          <a:xfrm>
            <a:off x="502920" y="2252472"/>
            <a:ext cx="123444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大企業・官公庁</a:t>
            </a:r>
            <a:endParaRPr lang="en-US" sz="850" dirty="0"/>
          </a:p>
        </p:txBody>
      </p:sp>
      <p:sp>
        <p:nvSpPr>
          <p:cNvPr id="45" name="ovl_s17_n_apps"/>
          <p:cNvSpPr/>
          <p:nvPr/>
        </p:nvSpPr>
        <p:spPr>
          <a:xfrm>
            <a:off x="457200" y="2948940"/>
            <a:ext cx="1325880" cy="658368"/>
          </a:xfrm>
          <a:prstGeom prst="roundRect">
            <a:avLst>
              <a:gd name="adj" fmla="val 8333"/>
            </a:avLst>
          </a:prstGeom>
          <a:solidFill>
            <a:srgbClr val="FFFFFF"/>
          </a:solidFill>
          <a:ln w="9525">
            <a:solidFill>
              <a:srgbClr val="767676"/>
            </a:solidFill>
            <a:prstDash val="solid"/>
          </a:ln>
        </p:spPr>
      </p:sp>
      <p:sp>
        <p:nvSpPr>
          <p:cNvPr id="46" name="ovl_s17_nt_apps"/>
          <p:cNvSpPr txBox="1"/>
          <p:nvPr/>
        </p:nvSpPr>
        <p:spPr>
          <a:xfrm>
            <a:off x="493776" y="297637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業務アプリの顧客</a:t>
            </a:r>
            <a:endParaRPr lang="en-US" sz="1000" dirty="0"/>
          </a:p>
        </p:txBody>
      </p:sp>
      <p:sp>
        <p:nvSpPr>
          <p:cNvPr id="47" name="ovl_s17_ns_apps"/>
          <p:cNvSpPr txBox="1"/>
          <p:nvPr/>
        </p:nvSpPr>
        <p:spPr>
          <a:xfrm>
            <a:off x="502920" y="3182112"/>
            <a:ext cx="123444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ERP・人事</a:t>
            </a:r>
            <a:endParaRPr lang="en-US" sz="850" dirty="0"/>
          </a:p>
        </p:txBody>
      </p:sp>
      <p:sp>
        <p:nvSpPr>
          <p:cNvPr id="48" name="ovl_s17_n_lab"/>
          <p:cNvSpPr/>
          <p:nvPr/>
        </p:nvSpPr>
        <p:spPr>
          <a:xfrm>
            <a:off x="457200" y="3878580"/>
            <a:ext cx="1325880" cy="658368"/>
          </a:xfrm>
          <a:prstGeom prst="roundRect">
            <a:avLst>
              <a:gd name="adj" fmla="val 8333"/>
            </a:avLst>
          </a:prstGeom>
          <a:solidFill>
            <a:srgbClr val="FFFFFF"/>
          </a:solidFill>
          <a:ln w="9525">
            <a:solidFill>
              <a:srgbClr val="767676"/>
            </a:solidFill>
            <a:prstDash val="solid"/>
          </a:ln>
        </p:spPr>
      </p:sp>
      <p:sp>
        <p:nvSpPr>
          <p:cNvPr id="49" name="ovl_s17_nt_lab"/>
          <p:cNvSpPr txBox="1"/>
          <p:nvPr/>
        </p:nvSpPr>
        <p:spPr>
          <a:xfrm>
            <a:off x="493776" y="390601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研究所</a:t>
            </a:r>
            <a:endParaRPr lang="en-US" sz="1000" dirty="0"/>
          </a:p>
        </p:txBody>
      </p:sp>
      <p:sp>
        <p:nvSpPr>
          <p:cNvPr id="50" name="ovl_s17_ns_lab"/>
          <p:cNvSpPr txBox="1"/>
          <p:nvPr/>
        </p:nvSpPr>
        <p:spPr>
          <a:xfrm>
            <a:off x="502920" y="4111752"/>
            <a:ext cx="123444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OpenAI・Meta・xAI</a:t>
            </a:r>
            <a:endParaRPr lang="en-US" sz="850" dirty="0"/>
          </a:p>
        </p:txBody>
      </p:sp>
      <p:sp>
        <p:nvSpPr>
          <p:cNvPr id="51" name="ovl_s17_n_db"/>
          <p:cNvSpPr/>
          <p:nvPr/>
        </p:nvSpPr>
        <p:spPr>
          <a:xfrm>
            <a:off x="2682240" y="2019300"/>
            <a:ext cx="1280160" cy="658368"/>
          </a:xfrm>
          <a:prstGeom prst="roundRect">
            <a:avLst>
              <a:gd name="adj" fmla="val 8333"/>
            </a:avLst>
          </a:prstGeom>
          <a:solidFill>
            <a:srgbClr val="FFFFFF"/>
          </a:solidFill>
          <a:ln w="19050">
            <a:solidFill>
              <a:srgbClr val="197A56"/>
            </a:solidFill>
            <a:prstDash val="solid"/>
          </a:ln>
        </p:spPr>
      </p:sp>
      <p:sp>
        <p:nvSpPr>
          <p:cNvPr id="52" name="ovl_s17_nt_db"/>
          <p:cNvSpPr txBox="1"/>
          <p:nvPr/>
        </p:nvSpPr>
        <p:spPr>
          <a:xfrm>
            <a:off x="2718816" y="2046732"/>
            <a:ext cx="1207008" cy="205740"/>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DB ライセンス・保守</a:t>
            </a:r>
            <a:endParaRPr lang="en-US" sz="900" dirty="0"/>
          </a:p>
        </p:txBody>
      </p:sp>
      <p:sp>
        <p:nvSpPr>
          <p:cNvPr id="53" name="ovl_s17_ns_db"/>
          <p:cNvSpPr txBox="1"/>
          <p:nvPr/>
        </p:nvSpPr>
        <p:spPr>
          <a:xfrm>
            <a:off x="2727960" y="2252472"/>
            <a:ext cx="118872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保守は年 22%</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Software −3%</a:t>
            </a:r>
            <a:endParaRPr lang="en-US" sz="850" dirty="0"/>
          </a:p>
        </p:txBody>
      </p:sp>
      <p:sp>
        <p:nvSpPr>
          <p:cNvPr id="54" name="ovl_s17_n_saas"/>
          <p:cNvSpPr/>
          <p:nvPr/>
        </p:nvSpPr>
        <p:spPr>
          <a:xfrm>
            <a:off x="2682240" y="2948940"/>
            <a:ext cx="1280160" cy="658368"/>
          </a:xfrm>
          <a:prstGeom prst="roundRect">
            <a:avLst>
              <a:gd name="adj" fmla="val 8333"/>
            </a:avLst>
          </a:prstGeom>
          <a:solidFill>
            <a:srgbClr val="FFFFFF"/>
          </a:solidFill>
          <a:ln w="19050">
            <a:solidFill>
              <a:srgbClr val="197A56"/>
            </a:solidFill>
            <a:prstDash val="solid"/>
          </a:ln>
        </p:spPr>
      </p:sp>
      <p:sp>
        <p:nvSpPr>
          <p:cNvPr id="55" name="ovl_s17_nt_saas"/>
          <p:cNvSpPr txBox="1"/>
          <p:nvPr/>
        </p:nvSpPr>
        <p:spPr>
          <a:xfrm>
            <a:off x="2718816" y="2976372"/>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SaaS</a:t>
            </a:r>
            <a:endParaRPr lang="en-US" sz="1000" dirty="0"/>
          </a:p>
        </p:txBody>
      </p:sp>
      <p:sp>
        <p:nvSpPr>
          <p:cNvPr id="56" name="ovl_s17_ns_saas"/>
          <p:cNvSpPr txBox="1"/>
          <p:nvPr/>
        </p:nvSpPr>
        <p:spPr>
          <a:xfrm>
            <a:off x="2727960" y="3182112"/>
            <a:ext cx="118872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+10%</a:t>
            </a:r>
            <a:endParaRPr lang="en-US" sz="850" dirty="0"/>
          </a:p>
        </p:txBody>
      </p:sp>
      <p:sp>
        <p:nvSpPr>
          <p:cNvPr id="57" name="ovl_s17_n_aicap"/>
          <p:cNvSpPr/>
          <p:nvPr/>
        </p:nvSpPr>
        <p:spPr>
          <a:xfrm>
            <a:off x="2682240" y="3878580"/>
            <a:ext cx="1280160" cy="658368"/>
          </a:xfrm>
          <a:prstGeom prst="roundRect">
            <a:avLst>
              <a:gd name="adj" fmla="val 8333"/>
            </a:avLst>
          </a:prstGeom>
          <a:solidFill>
            <a:srgbClr val="FFFFFF"/>
          </a:solidFill>
          <a:ln w="19050">
            <a:solidFill>
              <a:srgbClr val="197A56"/>
            </a:solidFill>
            <a:prstDash val="solid"/>
          </a:ln>
        </p:spPr>
      </p:sp>
      <p:sp>
        <p:nvSpPr>
          <p:cNvPr id="58" name="ovl_s17_nt_aicap"/>
          <p:cNvSpPr txBox="1"/>
          <p:nvPr/>
        </p:nvSpPr>
        <p:spPr>
          <a:xfrm>
            <a:off x="2718816" y="3906012"/>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容量</a:t>
            </a:r>
            <a:endParaRPr lang="en-US" sz="1000" dirty="0"/>
          </a:p>
        </p:txBody>
      </p:sp>
      <p:sp>
        <p:nvSpPr>
          <p:cNvPr id="59" name="ovl_s17_ns_aicap"/>
          <p:cNvSpPr txBox="1"/>
          <p:nvPr/>
        </p:nvSpPr>
        <p:spPr>
          <a:xfrm>
            <a:off x="2727960" y="4111752"/>
            <a:ext cx="118872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更新は従来比 +20%</a:t>
            </a:r>
            <a:endParaRPr lang="en-US" sz="850" dirty="0"/>
          </a:p>
        </p:txBody>
      </p:sp>
      <p:sp>
        <p:nvSpPr>
          <p:cNvPr id="60" name="ovl_s17_n_sw"/>
          <p:cNvSpPr/>
          <p:nvPr/>
        </p:nvSpPr>
        <p:spPr>
          <a:xfrm>
            <a:off x="4861560" y="2019300"/>
            <a:ext cx="1325880" cy="658368"/>
          </a:xfrm>
          <a:prstGeom prst="roundRect">
            <a:avLst>
              <a:gd name="adj" fmla="val 8333"/>
            </a:avLst>
          </a:prstGeom>
          <a:solidFill>
            <a:srgbClr val="EAF4EE"/>
          </a:solidFill>
          <a:ln w="9525">
            <a:solidFill>
              <a:srgbClr val="86C99B"/>
            </a:solidFill>
            <a:prstDash val="solid"/>
          </a:ln>
        </p:spPr>
      </p:sp>
      <p:sp>
        <p:nvSpPr>
          <p:cNvPr id="61" name="ovl_s17_nt_sw"/>
          <p:cNvSpPr txBox="1"/>
          <p:nvPr/>
        </p:nvSpPr>
        <p:spPr>
          <a:xfrm>
            <a:off x="4898136" y="204673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切替コスト</a:t>
            </a:r>
            <a:endParaRPr lang="en-US" sz="1000" dirty="0"/>
          </a:p>
        </p:txBody>
      </p:sp>
      <p:sp>
        <p:nvSpPr>
          <p:cNvPr id="62" name="ovl_s17_ns_sw"/>
          <p:cNvSpPr txBox="1"/>
          <p:nvPr/>
        </p:nvSpPr>
        <p:spPr>
          <a:xfrm>
            <a:off x="4907280" y="2252472"/>
            <a:ext cx="123444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データ移行と</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アプリ改修に数年</a:t>
            </a:r>
            <a:endParaRPr lang="en-US" sz="850" dirty="0"/>
          </a:p>
        </p:txBody>
      </p:sp>
      <p:sp>
        <p:nvSpPr>
          <p:cNvPr id="63" name="ovl_s17_n_erp"/>
          <p:cNvSpPr/>
          <p:nvPr/>
        </p:nvSpPr>
        <p:spPr>
          <a:xfrm>
            <a:off x="4861560" y="2948940"/>
            <a:ext cx="1325880" cy="658368"/>
          </a:xfrm>
          <a:prstGeom prst="roundRect">
            <a:avLst>
              <a:gd name="adj" fmla="val 8333"/>
            </a:avLst>
          </a:prstGeom>
          <a:solidFill>
            <a:srgbClr val="EAF4EE"/>
          </a:solidFill>
          <a:ln w="9525">
            <a:solidFill>
              <a:srgbClr val="86C99B"/>
            </a:solidFill>
            <a:prstDash val="solid"/>
          </a:ln>
        </p:spPr>
      </p:sp>
      <p:sp>
        <p:nvSpPr>
          <p:cNvPr id="64" name="ovl_s17_nt_erp"/>
          <p:cNvSpPr txBox="1"/>
          <p:nvPr/>
        </p:nvSpPr>
        <p:spPr>
          <a:xfrm>
            <a:off x="4898136" y="297637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業務データの蓄積</a:t>
            </a:r>
            <a:endParaRPr lang="en-US" sz="1000" dirty="0"/>
          </a:p>
        </p:txBody>
      </p:sp>
      <p:sp>
        <p:nvSpPr>
          <p:cNvPr id="65" name="ovl_s17_ns_erp"/>
          <p:cNvSpPr txBox="1"/>
          <p:nvPr/>
        </p:nvSpPr>
        <p:spPr>
          <a:xfrm>
            <a:off x="4907280" y="3182112"/>
            <a:ext cx="123444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移行は 8,500 社中</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約 1,000 社</a:t>
            </a:r>
            <a:endParaRPr lang="en-US" sz="850" dirty="0"/>
          </a:p>
        </p:txBody>
      </p:sp>
      <p:sp>
        <p:nvSpPr>
          <p:cNvPr id="66" name="ovl_s17_n_tight"/>
          <p:cNvSpPr/>
          <p:nvPr/>
        </p:nvSpPr>
        <p:spPr>
          <a:xfrm>
            <a:off x="4861560" y="3814572"/>
            <a:ext cx="1325880" cy="658368"/>
          </a:xfrm>
          <a:prstGeom prst="roundRect">
            <a:avLst>
              <a:gd name="adj" fmla="val 8333"/>
            </a:avLst>
          </a:prstGeom>
          <a:solidFill>
            <a:srgbClr val="FFFFFF"/>
          </a:solidFill>
          <a:ln w="19050">
            <a:solidFill>
              <a:srgbClr val="C0392B"/>
            </a:solidFill>
            <a:prstDash val="solid"/>
          </a:ln>
        </p:spPr>
      </p:sp>
      <p:sp>
        <p:nvSpPr>
          <p:cNvPr id="67" name="ovl_s17_nt_tight"/>
          <p:cNvSpPr txBox="1"/>
          <p:nvPr/>
        </p:nvSpPr>
        <p:spPr>
          <a:xfrm>
            <a:off x="4898136" y="3842004"/>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業界全体の逼迫</a:t>
            </a:r>
            <a:endParaRPr lang="en-US" sz="1000" dirty="0"/>
          </a:p>
        </p:txBody>
      </p:sp>
      <p:sp>
        <p:nvSpPr>
          <p:cNvPr id="68" name="ovl_s17_ns_tight"/>
          <p:cNvSpPr txBox="1"/>
          <p:nvPr/>
        </p:nvSpPr>
        <p:spPr>
          <a:xfrm>
            <a:off x="4907280" y="4047744"/>
            <a:ext cx="123444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電力・部材の不足</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(自社の優位ではない)</a:t>
            </a:r>
            <a:endParaRPr lang="en-US" sz="850" dirty="0"/>
          </a:p>
        </p:txBody>
      </p:sp>
      <p:sp>
        <p:nvSpPr>
          <p:cNvPr id="69" name="ovl_s17_n_hyper"/>
          <p:cNvSpPr/>
          <p:nvPr/>
        </p:nvSpPr>
        <p:spPr>
          <a:xfrm>
            <a:off x="7086600" y="2019300"/>
            <a:ext cx="1188720" cy="658368"/>
          </a:xfrm>
          <a:prstGeom prst="roundRect">
            <a:avLst>
              <a:gd name="adj" fmla="val 8333"/>
            </a:avLst>
          </a:prstGeom>
          <a:solidFill>
            <a:srgbClr val="FFFFFF"/>
          </a:solidFill>
          <a:ln w="9525">
            <a:solidFill>
              <a:srgbClr val="767676"/>
            </a:solidFill>
            <a:prstDash val="solid"/>
          </a:ln>
        </p:spPr>
      </p:sp>
      <p:sp>
        <p:nvSpPr>
          <p:cNvPr id="70" name="ovl_s17_nt_hyper"/>
          <p:cNvSpPr txBox="1"/>
          <p:nvPr/>
        </p:nvSpPr>
        <p:spPr>
          <a:xfrm>
            <a:off x="7123176" y="2046732"/>
            <a:ext cx="1115568"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AWS・Azure・</a:t>
            </a:r>
            <a:endParaRPr lang="en-US" sz="900" dirty="0"/>
          </a:p>
          <a:p>
            <a:pPr algn="ctr" indent="0" marL="0">
              <a:buNone/>
            </a:pPr>
            <a:r>
              <a:rPr lang="en-US" sz="900" b="1" dirty="0">
                <a:solidFill>
                  <a:srgbClr val="0E4D33"/>
                </a:solidFill>
                <a:latin typeface="Meiryo UI" pitchFamily="34" charset="0"/>
                <a:ea typeface="Meiryo UI" pitchFamily="34" charset="-122"/>
                <a:cs typeface="Meiryo UI" pitchFamily="34" charset="-120"/>
              </a:rPr>
              <a:t>Google</a:t>
            </a:r>
            <a:endParaRPr lang="en-US" sz="900" dirty="0"/>
          </a:p>
        </p:txBody>
      </p:sp>
      <p:sp>
        <p:nvSpPr>
          <p:cNvPr id="71" name="ovl_s17_ns_hyper"/>
          <p:cNvSpPr txBox="1"/>
          <p:nvPr/>
        </p:nvSpPr>
        <p:spPr>
          <a:xfrm>
            <a:off x="7132320" y="2403348"/>
            <a:ext cx="1097280" cy="24688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DB 移行サービス</a:t>
            </a:r>
            <a:endParaRPr lang="en-US" sz="850" dirty="0"/>
          </a:p>
        </p:txBody>
      </p:sp>
      <p:sp>
        <p:nvSpPr>
          <p:cNvPr id="72" name="ovl_s17_n_sap"/>
          <p:cNvSpPr/>
          <p:nvPr/>
        </p:nvSpPr>
        <p:spPr>
          <a:xfrm>
            <a:off x="7086600" y="2948940"/>
            <a:ext cx="1188720" cy="658368"/>
          </a:xfrm>
          <a:prstGeom prst="roundRect">
            <a:avLst>
              <a:gd name="adj" fmla="val 8333"/>
            </a:avLst>
          </a:prstGeom>
          <a:solidFill>
            <a:srgbClr val="FFFFFF"/>
          </a:solidFill>
          <a:ln w="9525">
            <a:solidFill>
              <a:srgbClr val="767676"/>
            </a:solidFill>
            <a:prstDash val="solid"/>
          </a:ln>
        </p:spPr>
      </p:sp>
      <p:sp>
        <p:nvSpPr>
          <p:cNvPr id="73" name="ovl_s17_nt_sap"/>
          <p:cNvSpPr txBox="1"/>
          <p:nvPr/>
        </p:nvSpPr>
        <p:spPr>
          <a:xfrm>
            <a:off x="7123176" y="2976372"/>
            <a:ext cx="111556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SAP・Workday</a:t>
            </a:r>
            <a:endParaRPr lang="en-US" sz="1000" dirty="0"/>
          </a:p>
        </p:txBody>
      </p:sp>
      <p:sp>
        <p:nvSpPr>
          <p:cNvPr id="74" name="ovl_s17_ns_sap"/>
          <p:cNvSpPr txBox="1"/>
          <p:nvPr/>
        </p:nvSpPr>
        <p:spPr>
          <a:xfrm>
            <a:off x="7132320" y="3182112"/>
            <a:ext cx="109728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クラウド ERP +25%</a:t>
            </a:r>
            <a:endParaRPr lang="en-US" sz="850" dirty="0"/>
          </a:p>
        </p:txBody>
      </p:sp>
      <p:sp>
        <p:nvSpPr>
          <p:cNvPr id="75" name="ovl_s17_n_neo"/>
          <p:cNvSpPr/>
          <p:nvPr/>
        </p:nvSpPr>
        <p:spPr>
          <a:xfrm>
            <a:off x="7086600" y="3878580"/>
            <a:ext cx="1188720" cy="658368"/>
          </a:xfrm>
          <a:prstGeom prst="roundRect">
            <a:avLst>
              <a:gd name="adj" fmla="val 8333"/>
            </a:avLst>
          </a:prstGeom>
          <a:solidFill>
            <a:srgbClr val="FFFFFF"/>
          </a:solidFill>
          <a:ln w="19050">
            <a:solidFill>
              <a:srgbClr val="C0392B"/>
            </a:solidFill>
            <a:prstDash val="solid"/>
          </a:ln>
        </p:spPr>
      </p:sp>
      <p:sp>
        <p:nvSpPr>
          <p:cNvPr id="76" name="ovl_s17_nt_neo"/>
          <p:cNvSpPr txBox="1"/>
          <p:nvPr/>
        </p:nvSpPr>
        <p:spPr>
          <a:xfrm>
            <a:off x="7123176" y="3906012"/>
            <a:ext cx="1115568" cy="205740"/>
          </a:xfrm>
          <a:prstGeom prst="rect">
            <a:avLst/>
          </a:prstGeom>
          <a:noFill/>
          <a:ln/>
        </p:spPr>
        <p:txBody>
          <a:bodyPr wrap="square" lIns="0" tIns="0" rIns="0" bIns="0" rtlCol="0" anchor="ctr"/>
          <a:lstStyle/>
          <a:p>
            <a:pPr algn="ctr" indent="0" marL="0">
              <a:buNone/>
            </a:pPr>
            <a:r>
              <a:rPr lang="en-US" sz="900" b="1" dirty="0">
                <a:solidFill>
                  <a:srgbClr val="C0392B"/>
                </a:solidFill>
                <a:latin typeface="Meiryo UI" pitchFamily="34" charset="0"/>
                <a:ea typeface="Meiryo UI" pitchFamily="34" charset="-122"/>
                <a:cs typeface="Meiryo UI" pitchFamily="34" charset="-120"/>
              </a:rPr>
              <a:t>ネオクラウド・TPU</a:t>
            </a:r>
            <a:endParaRPr lang="en-US" sz="900" dirty="0"/>
          </a:p>
        </p:txBody>
      </p:sp>
      <p:sp>
        <p:nvSpPr>
          <p:cNvPr id="77" name="ovl_s17_ns_neo"/>
          <p:cNvSpPr txBox="1"/>
          <p:nvPr/>
        </p:nvSpPr>
        <p:spPr>
          <a:xfrm>
            <a:off x="7132320" y="4111752"/>
            <a:ext cx="109728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H100 実勢は</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約 2.6 倍安い</a:t>
            </a:r>
            <a:endParaRPr lang="en-US" sz="850" dirty="0"/>
          </a:p>
        </p:txBody>
      </p:sp>
      <p:sp>
        <p:nvSpPr>
          <p:cNvPr id="78" name="ovl_s17_tag_sw"/>
          <p:cNvSpPr/>
          <p:nvPr/>
        </p:nvSpPr>
        <p:spPr>
          <a:xfrm>
            <a:off x="5280660" y="2705100"/>
            <a:ext cx="487680" cy="182880"/>
          </a:xfrm>
          <a:prstGeom prst="roundRect">
            <a:avLst>
              <a:gd name="adj" fmla="val 20000"/>
            </a:avLst>
          </a:prstGeom>
          <a:solidFill>
            <a:srgbClr val="197A56"/>
          </a:solidFill>
          <a:ln w="12700">
            <a:solidFill>
              <a:srgbClr val="197A56"/>
            </a:solidFill>
            <a:prstDash val="solid"/>
          </a:ln>
        </p:spPr>
      </p:sp>
      <p:sp>
        <p:nvSpPr>
          <p:cNvPr id="79" name="ovl_s17_tagt_sw"/>
          <p:cNvSpPr txBox="1"/>
          <p:nvPr/>
        </p:nvSpPr>
        <p:spPr>
          <a:xfrm>
            <a:off x="5280660" y="2705100"/>
            <a:ext cx="4876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数十年</a:t>
            </a:r>
            <a:endParaRPr lang="en-US" sz="800" dirty="0"/>
          </a:p>
        </p:txBody>
      </p:sp>
      <p:sp>
        <p:nvSpPr>
          <p:cNvPr id="80" name="ovl_s17_tag_erp"/>
          <p:cNvSpPr/>
          <p:nvPr/>
        </p:nvSpPr>
        <p:spPr>
          <a:xfrm>
            <a:off x="5382260" y="3634740"/>
            <a:ext cx="284480" cy="182880"/>
          </a:xfrm>
          <a:prstGeom prst="roundRect">
            <a:avLst>
              <a:gd name="adj" fmla="val 20000"/>
            </a:avLst>
          </a:prstGeom>
          <a:solidFill>
            <a:srgbClr val="D68910"/>
          </a:solidFill>
          <a:ln w="12700">
            <a:solidFill>
              <a:srgbClr val="D68910"/>
            </a:solidFill>
            <a:prstDash val="solid"/>
          </a:ln>
        </p:spPr>
      </p:sp>
      <p:sp>
        <p:nvSpPr>
          <p:cNvPr id="81" name="ovl_s17_tagt_erp"/>
          <p:cNvSpPr txBox="1"/>
          <p:nvPr/>
        </p:nvSpPr>
        <p:spPr>
          <a:xfrm>
            <a:off x="5382260" y="3634740"/>
            <a:ext cx="2844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中</a:t>
            </a:r>
            <a:endParaRPr lang="en-US" sz="800" dirty="0"/>
          </a:p>
        </p:txBody>
      </p:sp>
      <p:sp>
        <p:nvSpPr>
          <p:cNvPr id="82" name="ovl_s17_tag_tight"/>
          <p:cNvSpPr/>
          <p:nvPr/>
        </p:nvSpPr>
        <p:spPr>
          <a:xfrm>
            <a:off x="5204460" y="4500372"/>
            <a:ext cx="640080" cy="182880"/>
          </a:xfrm>
          <a:prstGeom prst="roundRect">
            <a:avLst>
              <a:gd name="adj" fmla="val 20000"/>
            </a:avLst>
          </a:prstGeom>
          <a:solidFill>
            <a:srgbClr val="C0392B"/>
          </a:solidFill>
          <a:ln w="12700">
            <a:solidFill>
              <a:srgbClr val="C0392B"/>
            </a:solidFill>
            <a:prstDash val="solid"/>
          </a:ln>
        </p:spPr>
      </p:sp>
      <p:sp>
        <p:nvSpPr>
          <p:cNvPr id="83" name="ovl_s17_tagt_tight"/>
          <p:cNvSpPr txBox="1"/>
          <p:nvPr/>
        </p:nvSpPr>
        <p:spPr>
          <a:xfrm>
            <a:off x="5204460" y="4500372"/>
            <a:ext cx="6400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FY32 まで</a:t>
            </a:r>
            <a:endParaRPr lang="en-US" sz="800" dirty="0"/>
          </a:p>
        </p:txBody>
      </p:sp>
      <p:sp>
        <p:nvSpPr>
          <p:cNvPr id="84" name="ovl_s17_lab0"/>
          <p:cNvSpPr txBox="1"/>
          <p:nvPr/>
        </p:nvSpPr>
        <p:spPr>
          <a:xfrm>
            <a:off x="1927136" y="2115312"/>
            <a:ext cx="611048"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0E4D33"/>
                </a:solidFill>
                <a:latin typeface="Meiryo UI" pitchFamily="34" charset="0"/>
                <a:ea typeface="Meiryo UI" pitchFamily="34" charset="-122"/>
                <a:cs typeface="Meiryo UI" pitchFamily="34" charset="-120"/>
              </a:rPr>
              <a:t>① </a:t>
            </a:r>
            <a:r>
              <a:rPr lang="en-US" sz="850" dirty="0">
                <a:solidFill>
                  <a:srgbClr val="0E4D33"/>
                </a:solidFill>
                <a:latin typeface="Meiryo UI" pitchFamily="34" charset="0"/>
                <a:ea typeface="Meiryo UI" pitchFamily="34" charset="-122"/>
                <a:cs typeface="Meiryo UI" pitchFamily="34" charset="-120"/>
              </a:rPr>
              <a:t>保守料</a:t>
            </a:r>
            <a:endParaRPr lang="en-US" sz="850" dirty="0"/>
          </a:p>
        </p:txBody>
      </p:sp>
      <p:sp>
        <p:nvSpPr>
          <p:cNvPr id="85" name="ovl_s17_lab1"/>
          <p:cNvSpPr txBox="1"/>
          <p:nvPr/>
        </p:nvSpPr>
        <p:spPr>
          <a:xfrm>
            <a:off x="1927136" y="3044952"/>
            <a:ext cx="611048"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0E4D33"/>
                </a:solidFill>
                <a:latin typeface="Meiryo UI" pitchFamily="34" charset="0"/>
                <a:ea typeface="Meiryo UI" pitchFamily="34" charset="-122"/>
                <a:cs typeface="Meiryo UI" pitchFamily="34" charset="-120"/>
              </a:rPr>
              <a:t>② </a:t>
            </a:r>
            <a:r>
              <a:rPr lang="en-US" sz="850" dirty="0">
                <a:solidFill>
                  <a:srgbClr val="0E4D33"/>
                </a:solidFill>
                <a:latin typeface="Meiryo UI" pitchFamily="34" charset="0"/>
                <a:ea typeface="Meiryo UI" pitchFamily="34" charset="-122"/>
                <a:cs typeface="Meiryo UI" pitchFamily="34" charset="-120"/>
              </a:rPr>
              <a:t>購読料</a:t>
            </a:r>
            <a:endParaRPr lang="en-US" sz="850" dirty="0"/>
          </a:p>
        </p:txBody>
      </p:sp>
      <p:sp>
        <p:nvSpPr>
          <p:cNvPr id="86" name="ovl_s17_lab2"/>
          <p:cNvSpPr txBox="1"/>
          <p:nvPr/>
        </p:nvSpPr>
        <p:spPr>
          <a:xfrm>
            <a:off x="1819656" y="3832860"/>
            <a:ext cx="826008"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0E4D33"/>
                </a:solidFill>
                <a:latin typeface="Meiryo UI" pitchFamily="34" charset="0"/>
                <a:ea typeface="Meiryo UI" pitchFamily="34" charset="-122"/>
                <a:cs typeface="Meiryo UI" pitchFamily="34" charset="-120"/>
              </a:rPr>
              <a:t>③ </a:t>
            </a:r>
            <a:r>
              <a:rPr lang="en-US" sz="850" dirty="0">
                <a:solidFill>
                  <a:srgbClr val="0E4D33"/>
                </a:solidFill>
                <a:latin typeface="Meiryo UI" pitchFamily="34" charset="0"/>
                <a:ea typeface="Meiryo UI" pitchFamily="34" charset="-122"/>
                <a:cs typeface="Meiryo UI" pitchFamily="34" charset="-120"/>
              </a:rPr>
              <a:t>容量料</a:t>
            </a:r>
            <a:endParaRPr lang="en-US" sz="850" dirty="0"/>
          </a:p>
          <a:p>
            <a:pPr algn="ctr" indent="0" marL="0">
              <a:buNone/>
            </a:pPr>
            <a:r>
              <a:rPr lang="en-US" sz="850" dirty="0">
                <a:solidFill>
                  <a:srgbClr val="0E4D33"/>
                </a:solidFill>
                <a:latin typeface="Meiryo UI" pitchFamily="34" charset="0"/>
                <a:ea typeface="Meiryo UI" pitchFamily="34" charset="-122"/>
                <a:cs typeface="Meiryo UI" pitchFamily="34" charset="-120"/>
              </a:rPr>
              <a:t>+5%/年</a:t>
            </a:r>
            <a:endParaRPr lang="en-US" sz="850" dirty="0"/>
          </a:p>
        </p:txBody>
      </p:sp>
      <p:sp>
        <p:nvSpPr>
          <p:cNvPr id="87" name="ovl_s17_lab3"/>
          <p:cNvSpPr txBox="1"/>
          <p:nvPr/>
        </p:nvSpPr>
        <p:spPr>
          <a:xfrm>
            <a:off x="4065651" y="2115312"/>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顧客を囲う</a:t>
            </a:r>
            <a:endParaRPr lang="en-US" sz="850" dirty="0"/>
          </a:p>
        </p:txBody>
      </p:sp>
      <p:sp>
        <p:nvSpPr>
          <p:cNvPr id="88" name="ovl_s17_lab4"/>
          <p:cNvSpPr txBox="1"/>
          <p:nvPr/>
        </p:nvSpPr>
        <p:spPr>
          <a:xfrm>
            <a:off x="4065651" y="3044952"/>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移行を促す</a:t>
            </a:r>
            <a:endParaRPr lang="en-US" sz="850" dirty="0"/>
          </a:p>
        </p:txBody>
      </p:sp>
      <p:sp>
        <p:nvSpPr>
          <p:cNvPr id="89" name="ovl_s17_lab5"/>
          <p:cNvSpPr txBox="1"/>
          <p:nvPr/>
        </p:nvSpPr>
        <p:spPr>
          <a:xfrm>
            <a:off x="4007358" y="3910584"/>
            <a:ext cx="809244"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値上げを許す</a:t>
            </a:r>
            <a:endParaRPr lang="en-US" sz="850" dirty="0"/>
          </a:p>
        </p:txBody>
      </p:sp>
      <p:sp>
        <p:nvSpPr>
          <p:cNvPr id="90" name="ovl_s17_lab6"/>
          <p:cNvSpPr txBox="1"/>
          <p:nvPr/>
        </p:nvSpPr>
        <p:spPr>
          <a:xfrm>
            <a:off x="6290691" y="2115312"/>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移行の誘い</a:t>
            </a:r>
            <a:endParaRPr lang="en-US" sz="850" dirty="0"/>
          </a:p>
        </p:txBody>
      </p:sp>
      <p:sp>
        <p:nvSpPr>
          <p:cNvPr id="91" name="ovl_s17_lab7"/>
          <p:cNvSpPr txBox="1"/>
          <p:nvPr/>
        </p:nvSpPr>
        <p:spPr>
          <a:xfrm>
            <a:off x="6224016" y="2903220"/>
            <a:ext cx="826008" cy="347472"/>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乗り換えの誘い</a:t>
            </a:r>
            <a:endParaRPr lang="en-US" sz="850" dirty="0"/>
          </a:p>
        </p:txBody>
      </p:sp>
      <p:sp>
        <p:nvSpPr>
          <p:cNvPr id="92" name="ovl_s17_lab8"/>
          <p:cNvSpPr txBox="1"/>
          <p:nvPr/>
        </p:nvSpPr>
        <p:spPr>
          <a:xfrm>
            <a:off x="6224016" y="3832860"/>
            <a:ext cx="826008"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C0392B"/>
                </a:solidFill>
                <a:latin typeface="Meiryo UI" pitchFamily="34" charset="0"/>
                <a:ea typeface="Meiryo UI" pitchFamily="34" charset="-122"/>
                <a:cs typeface="Meiryo UI" pitchFamily="34" charset="-120"/>
              </a:rPr>
              <a:t>④ </a:t>
            </a:r>
            <a:r>
              <a:rPr lang="en-US" sz="850" dirty="0">
                <a:solidFill>
                  <a:srgbClr val="C0392B"/>
                </a:solidFill>
                <a:latin typeface="Meiryo UI" pitchFamily="34" charset="0"/>
                <a:ea typeface="Meiryo UI" pitchFamily="34" charset="-122"/>
                <a:cs typeface="Meiryo UI" pitchFamily="34" charset="-120"/>
              </a:rPr>
              <a:t>緩和後の</a:t>
            </a:r>
            <a:endParaRPr lang="en-US" sz="850" dirty="0"/>
          </a:p>
          <a:p>
            <a:pPr algn="ctr" indent="0" marL="0">
              <a:buNone/>
            </a:pPr>
            <a:r>
              <a:rPr lang="en-US" sz="850" dirty="0">
                <a:solidFill>
                  <a:srgbClr val="C0392B"/>
                </a:solidFill>
                <a:latin typeface="Meiryo UI" pitchFamily="34" charset="0"/>
                <a:ea typeface="Meiryo UI" pitchFamily="34" charset="-122"/>
                <a:cs typeface="Meiryo UI" pitchFamily="34" charset="-120"/>
              </a:rPr>
              <a:t>値下げ</a:t>
            </a:r>
            <a:endParaRPr lang="en-US" sz="850" dirty="0"/>
          </a:p>
        </p:txBody>
      </p:sp>
      <p:sp>
        <p:nvSpPr>
          <p:cNvPr id="93" name="ovl_s17_glab0"/>
          <p:cNvSpPr txBox="1"/>
          <p:nvPr/>
        </p:nvSpPr>
        <p:spPr>
          <a:xfrm>
            <a:off x="2709672" y="1828800"/>
            <a:ext cx="349504" cy="164592"/>
          </a:xfrm>
          <a:prstGeom prst="rect">
            <a:avLst/>
          </a:prstGeom>
          <a:solidFill>
            <a:srgbClr val="FFFFFF"/>
          </a:solidFill>
          <a:ln/>
        </p:spPr>
        <p:txBody>
          <a:bodyPr wrap="square" lIns="0" tIns="0" rIns="0" bIns="0" rtlCol="0" anchor="ctr"/>
          <a:lstStyle/>
          <a:p>
            <a:pPr algn="ctr" indent="0" marL="0">
              <a:buNone/>
            </a:pPr>
            <a:r>
              <a:rPr lang="en-US" sz="800" b="1" dirty="0">
                <a:solidFill>
                  <a:srgbClr val="197A56"/>
                </a:solidFill>
                <a:latin typeface="Meiryo UI" pitchFamily="34" charset="0"/>
                <a:ea typeface="Meiryo UI" pitchFamily="34" charset="-122"/>
                <a:cs typeface="Meiryo UI" pitchFamily="34" charset="-120"/>
              </a:rPr>
              <a:t>事業</a:t>
            </a:r>
            <a:endParaRPr lang="en-US" sz="800" dirty="0"/>
          </a:p>
        </p:txBody>
      </p:sp>
      <p:sp>
        <p:nvSpPr>
          <p:cNvPr id="94" name="ovl_s17_glab1"/>
          <p:cNvSpPr txBox="1"/>
          <p:nvPr/>
        </p:nvSpPr>
        <p:spPr>
          <a:xfrm>
            <a:off x="4888992" y="1828800"/>
            <a:ext cx="867664" cy="164592"/>
          </a:xfrm>
          <a:prstGeom prst="rect">
            <a:avLst/>
          </a:prstGeom>
          <a:solidFill>
            <a:srgbClr val="FFFFFF"/>
          </a:solidFill>
          <a:ln/>
        </p:spPr>
        <p:txBody>
          <a:bodyPr wrap="square" lIns="0" tIns="0" rIns="0" bIns="0" rtlCol="0" anchor="ctr"/>
          <a:lstStyle/>
          <a:p>
            <a:pPr algn="ctr" indent="0" marL="0">
              <a:buNone/>
            </a:pPr>
            <a:r>
              <a:rPr lang="en-US" sz="800" b="1" dirty="0">
                <a:solidFill>
                  <a:srgbClr val="197A56"/>
                </a:solidFill>
                <a:latin typeface="Meiryo UI" pitchFamily="34" charset="0"/>
                <a:ea typeface="Meiryo UI" pitchFamily="34" charset="-122"/>
                <a:cs typeface="Meiryo UI" pitchFamily="34" charset="-120"/>
              </a:rPr>
              <a:t>優位の源泉(壁)</a:t>
            </a:r>
            <a:endParaRPr lang="en-US" sz="800" dirty="0"/>
          </a:p>
        </p:txBody>
      </p:sp>
      <p:sp>
        <p:nvSpPr>
          <p:cNvPr id="95" name="ovl_s17_leg0"/>
          <p:cNvSpPr/>
          <p:nvPr/>
        </p:nvSpPr>
        <p:spPr>
          <a:xfrm>
            <a:off x="457200" y="4828032"/>
            <a:ext cx="365760" cy="914"/>
          </a:xfrm>
          <a:prstGeom prst="line">
            <a:avLst/>
          </a:prstGeom>
          <a:noFill/>
          <a:ln w="22225">
            <a:solidFill>
              <a:srgbClr val="0E4D33"/>
            </a:solidFill>
            <a:prstDash val="solid"/>
            <a:tailEnd type="triangle"/>
          </a:ln>
        </p:spPr>
      </p:sp>
      <p:sp>
        <p:nvSpPr>
          <p:cNvPr id="96" name="ovl_s17_legt0"/>
          <p:cNvSpPr txBox="1"/>
          <p:nvPr/>
        </p:nvSpPr>
        <p:spPr>
          <a:xfrm>
            <a:off x="877824" y="4727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カネ</a:t>
            </a:r>
            <a:endParaRPr lang="en-US" sz="800" dirty="0"/>
          </a:p>
        </p:txBody>
      </p:sp>
      <p:sp>
        <p:nvSpPr>
          <p:cNvPr id="97" name="ovl_s17_leg1"/>
          <p:cNvSpPr/>
          <p:nvPr/>
        </p:nvSpPr>
        <p:spPr>
          <a:xfrm>
            <a:off x="1874520" y="4828032"/>
            <a:ext cx="365760" cy="914"/>
          </a:xfrm>
          <a:prstGeom prst="line">
            <a:avLst/>
          </a:prstGeom>
          <a:noFill/>
          <a:ln w="15875">
            <a:solidFill>
              <a:srgbClr val="C0392B"/>
            </a:solidFill>
            <a:prstDash val="dash"/>
            <a:tailEnd type="triangle"/>
          </a:ln>
        </p:spPr>
      </p:sp>
      <p:sp>
        <p:nvSpPr>
          <p:cNvPr id="98" name="ovl_s17_legt1"/>
          <p:cNvSpPr txBox="1"/>
          <p:nvPr/>
        </p:nvSpPr>
        <p:spPr>
          <a:xfrm>
            <a:off x="2295144" y="4727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リスク</a:t>
            </a:r>
            <a:endParaRPr lang="en-US" sz="800" dirty="0"/>
          </a:p>
        </p:txBody>
      </p:sp>
      <p:sp>
        <p:nvSpPr>
          <p:cNvPr id="99" name="ovl_s17_leg2"/>
          <p:cNvSpPr/>
          <p:nvPr/>
        </p:nvSpPr>
        <p:spPr>
          <a:xfrm>
            <a:off x="3291840" y="4828032"/>
            <a:ext cx="365760" cy="914"/>
          </a:xfrm>
          <a:prstGeom prst="line">
            <a:avLst/>
          </a:prstGeom>
          <a:noFill/>
          <a:ln w="12700">
            <a:solidFill>
              <a:srgbClr val="767676"/>
            </a:solidFill>
            <a:prstDash val="sysDash"/>
            <a:tailEnd type="triangle"/>
          </a:ln>
        </p:spPr>
      </p:sp>
      <p:sp>
        <p:nvSpPr>
          <p:cNvPr id="100" name="ovl_s17_legt2"/>
          <p:cNvSpPr txBox="1"/>
          <p:nvPr/>
        </p:nvSpPr>
        <p:spPr>
          <a:xfrm>
            <a:off x="3712464" y="4727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契約・統治</a:t>
            </a:r>
            <a:endParaRPr lang="en-US" sz="800" dirty="0"/>
          </a:p>
        </p:txBody>
      </p:sp>
      <p:sp>
        <p:nvSpPr>
          <p:cNvPr id="101" name="ovl_s17_legn"/>
          <p:cNvSpPr txBox="1"/>
          <p:nvPr/>
        </p:nvSpPr>
        <p:spPr>
          <a:xfrm>
            <a:off x="6126480" y="4727448"/>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102" name="ovl_s17_tbhead"/>
          <p:cNvSpPr txBox="1"/>
          <p:nvPr/>
        </p:nvSpPr>
        <p:spPr>
          <a:xfrm>
            <a:off x="457200" y="5029200"/>
            <a:ext cx="1325880" cy="182880"/>
          </a:xfrm>
          <a:prstGeom prst="rect">
            <a:avLst/>
          </a:prstGeom>
          <a:noFill/>
          <a:ln/>
        </p:spPr>
        <p:txBody>
          <a:bodyPr wrap="square" lIns="0" tIns="0" rIns="0" bIns="0" rtlCol="0" anchor="ctr"/>
          <a:lstStyle/>
          <a:p>
            <a:pPr indent="0" marL="0">
              <a:buNone/>
            </a:pPr>
            <a:r>
              <a:rPr lang="en-US" sz="850" b="1" dirty="0">
                <a:solidFill>
                  <a:srgbClr val="197A56"/>
                </a:solidFill>
                <a:latin typeface="Meiryo UI" pitchFamily="34" charset="0"/>
                <a:ea typeface="Meiryo UI" pitchFamily="34" charset="-122"/>
                <a:cs typeface="Meiryo UI" pitchFamily="34" charset="-120"/>
              </a:rPr>
              <a:t>優位が続く期間</a:t>
            </a:r>
            <a:endParaRPr lang="en-US" sz="850" dirty="0"/>
          </a:p>
        </p:txBody>
      </p:sp>
      <p:sp>
        <p:nvSpPr>
          <p:cNvPr id="103" name="ovl_s17tb_tk2027"/>
          <p:cNvSpPr txBox="1"/>
          <p:nvPr/>
        </p:nvSpPr>
        <p:spPr>
          <a:xfrm>
            <a:off x="16002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FY27</a:t>
            </a:r>
            <a:endParaRPr lang="en-US" sz="800" dirty="0"/>
          </a:p>
        </p:txBody>
      </p:sp>
      <p:sp>
        <p:nvSpPr>
          <p:cNvPr id="104" name="ovl_s17tb_gl2027"/>
          <p:cNvSpPr/>
          <p:nvPr/>
        </p:nvSpPr>
        <p:spPr>
          <a:xfrm>
            <a:off x="1874520" y="5212080"/>
            <a:ext cx="914" cy="822960"/>
          </a:xfrm>
          <a:prstGeom prst="line">
            <a:avLst/>
          </a:prstGeom>
          <a:noFill/>
          <a:ln w="6350">
            <a:solidFill>
              <a:srgbClr val="D9D9D9"/>
            </a:solidFill>
            <a:prstDash val="dash"/>
          </a:ln>
        </p:spPr>
      </p:sp>
      <p:sp>
        <p:nvSpPr>
          <p:cNvPr id="105" name="ovl_s17tb_tk2032"/>
          <p:cNvSpPr txBox="1"/>
          <p:nvPr/>
        </p:nvSpPr>
        <p:spPr>
          <a:xfrm>
            <a:off x="32004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FY32</a:t>
            </a:r>
            <a:endParaRPr lang="en-US" sz="800" dirty="0"/>
          </a:p>
        </p:txBody>
      </p:sp>
      <p:sp>
        <p:nvSpPr>
          <p:cNvPr id="106" name="ovl_s17tb_gl2032"/>
          <p:cNvSpPr/>
          <p:nvPr/>
        </p:nvSpPr>
        <p:spPr>
          <a:xfrm>
            <a:off x="3474720" y="5212080"/>
            <a:ext cx="914" cy="822960"/>
          </a:xfrm>
          <a:prstGeom prst="line">
            <a:avLst/>
          </a:prstGeom>
          <a:noFill/>
          <a:ln w="6350">
            <a:solidFill>
              <a:srgbClr val="D9D9D9"/>
            </a:solidFill>
            <a:prstDash val="dash"/>
          </a:ln>
        </p:spPr>
      </p:sp>
      <p:sp>
        <p:nvSpPr>
          <p:cNvPr id="107" name="ovl_s17tb_tk2037"/>
          <p:cNvSpPr txBox="1"/>
          <p:nvPr/>
        </p:nvSpPr>
        <p:spPr>
          <a:xfrm>
            <a:off x="48006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FY37</a:t>
            </a:r>
            <a:endParaRPr lang="en-US" sz="800" dirty="0"/>
          </a:p>
        </p:txBody>
      </p:sp>
      <p:sp>
        <p:nvSpPr>
          <p:cNvPr id="108" name="ovl_s17tb_gl2037"/>
          <p:cNvSpPr/>
          <p:nvPr/>
        </p:nvSpPr>
        <p:spPr>
          <a:xfrm>
            <a:off x="5074920" y="5212080"/>
            <a:ext cx="914" cy="822960"/>
          </a:xfrm>
          <a:prstGeom prst="line">
            <a:avLst/>
          </a:prstGeom>
          <a:noFill/>
          <a:ln w="6350">
            <a:solidFill>
              <a:srgbClr val="D9D9D9"/>
            </a:solidFill>
            <a:prstDash val="dash"/>
          </a:ln>
        </p:spPr>
      </p:sp>
      <p:sp>
        <p:nvSpPr>
          <p:cNvPr id="109" name="ovl_s17tb_tk2042"/>
          <p:cNvSpPr txBox="1"/>
          <p:nvPr/>
        </p:nvSpPr>
        <p:spPr>
          <a:xfrm>
            <a:off x="64008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FY42</a:t>
            </a:r>
            <a:endParaRPr lang="en-US" sz="800" dirty="0"/>
          </a:p>
        </p:txBody>
      </p:sp>
      <p:sp>
        <p:nvSpPr>
          <p:cNvPr id="110" name="ovl_s17tb_gl2042"/>
          <p:cNvSpPr/>
          <p:nvPr/>
        </p:nvSpPr>
        <p:spPr>
          <a:xfrm>
            <a:off x="6675120" y="5212080"/>
            <a:ext cx="914" cy="822960"/>
          </a:xfrm>
          <a:prstGeom prst="line">
            <a:avLst/>
          </a:prstGeom>
          <a:noFill/>
          <a:ln w="6350">
            <a:solidFill>
              <a:srgbClr val="D9D9D9"/>
            </a:solidFill>
            <a:prstDash val="dash"/>
          </a:ln>
        </p:spPr>
      </p:sp>
      <p:sp>
        <p:nvSpPr>
          <p:cNvPr id="111" name="ovl_s17tb_tk2047"/>
          <p:cNvSpPr txBox="1"/>
          <p:nvPr/>
        </p:nvSpPr>
        <p:spPr>
          <a:xfrm>
            <a:off x="80010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FY47</a:t>
            </a:r>
            <a:endParaRPr lang="en-US" sz="800" dirty="0"/>
          </a:p>
        </p:txBody>
      </p:sp>
      <p:sp>
        <p:nvSpPr>
          <p:cNvPr id="112" name="ovl_s17tb_gl2047"/>
          <p:cNvSpPr/>
          <p:nvPr/>
        </p:nvSpPr>
        <p:spPr>
          <a:xfrm>
            <a:off x="8275320" y="5212080"/>
            <a:ext cx="914" cy="822960"/>
          </a:xfrm>
          <a:prstGeom prst="line">
            <a:avLst/>
          </a:prstGeom>
          <a:noFill/>
          <a:ln w="6350">
            <a:solidFill>
              <a:srgbClr val="D9D9D9"/>
            </a:solidFill>
            <a:prstDash val="dash"/>
          </a:ln>
        </p:spPr>
      </p:sp>
      <p:sp>
        <p:nvSpPr>
          <p:cNvPr id="113" name="ovl_s17tb_l0"/>
          <p:cNvSpPr txBox="1"/>
          <p:nvPr/>
        </p:nvSpPr>
        <p:spPr>
          <a:xfrm>
            <a:off x="457200" y="5248656"/>
            <a:ext cx="1344168" cy="262128"/>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DB の切替コスト</a:t>
            </a:r>
            <a:endParaRPr lang="en-US" sz="850" dirty="0"/>
          </a:p>
        </p:txBody>
      </p:sp>
      <p:sp>
        <p:nvSpPr>
          <p:cNvPr id="114" name="ovl_s17tb_b0"/>
          <p:cNvSpPr/>
          <p:nvPr/>
        </p:nvSpPr>
        <p:spPr>
          <a:xfrm>
            <a:off x="1874520" y="5285354"/>
            <a:ext cx="6400800" cy="188732"/>
          </a:xfrm>
          <a:prstGeom prst="rect">
            <a:avLst/>
          </a:prstGeom>
          <a:solidFill>
            <a:srgbClr val="0E4D33"/>
          </a:solidFill>
          <a:ln w="12700">
            <a:solidFill>
              <a:srgbClr val="0E4D33"/>
            </a:solidFill>
            <a:prstDash val="solid"/>
          </a:ln>
        </p:spPr>
      </p:sp>
      <p:sp>
        <p:nvSpPr>
          <p:cNvPr id="115" name="ovl_s17tb_t0"/>
          <p:cNvSpPr txBox="1"/>
          <p:nvPr/>
        </p:nvSpPr>
        <p:spPr>
          <a:xfrm>
            <a:off x="1874520" y="5285354"/>
            <a:ext cx="6400800" cy="188732"/>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数十年</a:t>
            </a:r>
            <a:endParaRPr lang="en-US" sz="800" dirty="0"/>
          </a:p>
        </p:txBody>
      </p:sp>
      <p:sp>
        <p:nvSpPr>
          <p:cNvPr id="116" name="ovl_s17tb_l1"/>
          <p:cNvSpPr txBox="1"/>
          <p:nvPr/>
        </p:nvSpPr>
        <p:spPr>
          <a:xfrm>
            <a:off x="457200" y="5510784"/>
            <a:ext cx="1344168" cy="262128"/>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AI 容量の単価優位</a:t>
            </a:r>
            <a:endParaRPr lang="en-US" sz="850" dirty="0"/>
          </a:p>
        </p:txBody>
      </p:sp>
      <p:sp>
        <p:nvSpPr>
          <p:cNvPr id="117" name="ovl_s17tb_b1"/>
          <p:cNvSpPr/>
          <p:nvPr/>
        </p:nvSpPr>
        <p:spPr>
          <a:xfrm>
            <a:off x="1874520" y="5547482"/>
            <a:ext cx="1600200" cy="188732"/>
          </a:xfrm>
          <a:prstGeom prst="rect">
            <a:avLst/>
          </a:prstGeom>
          <a:solidFill>
            <a:srgbClr val="C0392B"/>
          </a:solidFill>
          <a:ln w="12700">
            <a:solidFill>
              <a:srgbClr val="C0392B"/>
            </a:solidFill>
            <a:prstDash val="solid"/>
          </a:ln>
        </p:spPr>
      </p:sp>
      <p:sp>
        <p:nvSpPr>
          <p:cNvPr id="118" name="ovl_s17tb_t1"/>
          <p:cNvSpPr txBox="1"/>
          <p:nvPr/>
        </p:nvSpPr>
        <p:spPr>
          <a:xfrm>
            <a:off x="1874520" y="5547482"/>
            <a:ext cx="1600200" cy="188732"/>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逼迫が終わる FY32 まで</a:t>
            </a:r>
            <a:endParaRPr lang="en-US" sz="800" dirty="0"/>
          </a:p>
        </p:txBody>
      </p:sp>
      <p:sp>
        <p:nvSpPr>
          <p:cNvPr id="119" name="ovl_s17tb_l2"/>
          <p:cNvSpPr txBox="1"/>
          <p:nvPr/>
        </p:nvSpPr>
        <p:spPr>
          <a:xfrm>
            <a:off x="457200" y="5772912"/>
            <a:ext cx="1344168" cy="262128"/>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建屋の賃料の固定</a:t>
            </a:r>
            <a:endParaRPr lang="en-US" sz="850" dirty="0"/>
          </a:p>
        </p:txBody>
      </p:sp>
      <p:sp>
        <p:nvSpPr>
          <p:cNvPr id="120" name="ovl_s17tb_b2"/>
          <p:cNvSpPr/>
          <p:nvPr/>
        </p:nvSpPr>
        <p:spPr>
          <a:xfrm>
            <a:off x="1874520" y="5809610"/>
            <a:ext cx="6400800" cy="188732"/>
          </a:xfrm>
          <a:prstGeom prst="rect">
            <a:avLst/>
          </a:prstGeom>
          <a:solidFill>
            <a:srgbClr val="86C99B"/>
          </a:solidFill>
          <a:ln w="12700">
            <a:solidFill>
              <a:srgbClr val="86C99B"/>
            </a:solidFill>
            <a:prstDash val="solid"/>
          </a:ln>
        </p:spPr>
      </p:sp>
      <p:sp>
        <p:nvSpPr>
          <p:cNvPr id="121" name="ovl_s17tb_t2"/>
          <p:cNvSpPr txBox="1"/>
          <p:nvPr/>
        </p:nvSpPr>
        <p:spPr>
          <a:xfrm>
            <a:off x="1874520" y="5809610"/>
            <a:ext cx="6400800" cy="188732"/>
          </a:xfrm>
          <a:prstGeom prst="rect">
            <a:avLst/>
          </a:prstGeom>
          <a:noFill/>
          <a:ln/>
        </p:spPr>
        <p:txBody>
          <a:bodyPr wrap="square" lIns="0" tIns="0" rIns="0" bIns="0" rtlCol="0" anchor="ctr"/>
          <a:lstStyle/>
          <a:p>
            <a:pPr algn="ctr" indent="0" marL="0">
              <a:buNone/>
            </a:pPr>
            <a:r>
              <a:rPr lang="en-US" sz="800" b="1" dirty="0">
                <a:solidFill>
                  <a:srgbClr val="0E4D33"/>
                </a:solidFill>
                <a:latin typeface="Meiryo UI" pitchFamily="34" charset="0"/>
                <a:ea typeface="Meiryo UI" pitchFamily="34" charset="-122"/>
                <a:cs typeface="Meiryo UI" pitchFamily="34" charset="-120"/>
              </a:rPr>
              <a:t>長期リースで FY47 まで</a:t>
            </a:r>
            <a:endParaRPr lang="en-US" sz="800" dirty="0"/>
          </a:p>
        </p:txBody>
      </p:sp>
      <p:sp>
        <p:nvSpPr>
          <p:cNvPr id="122"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123" name="mech"/>
          <p:cNvSpPr txBox="1"/>
          <p:nvPr/>
        </p:nvSpPr>
        <p:spPr>
          <a:xfrm>
            <a:off x="8458200" y="1810512"/>
            <a:ext cx="3276295" cy="1835912"/>
          </a:xfrm>
          <a:prstGeom prst="rect">
            <a:avLst/>
          </a:prstGeom>
          <a:noFill/>
          <a:ln/>
        </p:spPr>
        <p:txBody>
          <a:bodyPr wrap="square" lIns="381" tIns="381" rIns="381" bIns="381" rtlCol="0" anchor="t"/>
          <a:lstStyle/>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① </a:t>
            </a:r>
            <a:r>
              <a:rPr lang="en-US" sz="1100" dirty="0">
                <a:solidFill>
                  <a:srgbClr val="333333"/>
                </a:solidFill>
                <a:latin typeface="Meiryo UI" pitchFamily="34" charset="0"/>
                <a:ea typeface="Meiryo UI" pitchFamily="34" charset="-122"/>
                <a:cs typeface="Meiryo UI" pitchFamily="34" charset="-120"/>
              </a:rPr>
              <a:t>DB の顧客はデータ移行とアプリ改修に数年かかり、保守料(年 22%)を払い続ける</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② </a:t>
            </a:r>
            <a:r>
              <a:rPr lang="en-US" sz="1100" dirty="0">
                <a:solidFill>
                  <a:srgbClr val="333333"/>
                </a:solidFill>
                <a:latin typeface="Meiryo UI" pitchFamily="34" charset="0"/>
                <a:ea typeface="Meiryo UI" pitchFamily="34" charset="-122"/>
                <a:cs typeface="Meiryo UI" pitchFamily="34" charset="-120"/>
              </a:rPr>
              <a:t>SaaS は旧 ERP 顧客の移行で伸びるが +10% で、SAP のクラウド ERP(+25%)より遅い</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③ </a:t>
            </a:r>
            <a:r>
              <a:rPr lang="en-US" sz="1100" dirty="0">
                <a:solidFill>
                  <a:srgbClr val="333333"/>
                </a:solidFill>
                <a:latin typeface="Meiryo UI" pitchFamily="34" charset="0"/>
                <a:ea typeface="Meiryo UI" pitchFamily="34" charset="-122"/>
                <a:cs typeface="Meiryo UI" pitchFamily="34" charset="-120"/>
              </a:rPr>
              <a:t>AI 容量は更新期の GPU を従来比 +20% で更新・再販。ただし業界全体の値上げ(AWS +15〜20%)の一部</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④ </a:t>
            </a:r>
            <a:r>
              <a:rPr lang="en-US" sz="1100" dirty="0">
                <a:solidFill>
                  <a:srgbClr val="333333"/>
                </a:solidFill>
                <a:latin typeface="Meiryo UI" pitchFamily="34" charset="0"/>
                <a:ea typeface="Meiryo UI" pitchFamily="34" charset="-122"/>
                <a:cs typeface="Meiryo UI" pitchFamily="34" charset="-120"/>
              </a:rPr>
              <a:t>逼迫が緩む FY32 以降は、ネオクラウド・TPU との価格競争で超過利益はベースで 0%</a:t>
            </a:r>
            <a:endParaRPr lang="en-US" sz="1100" dirty="0"/>
          </a:p>
        </p:txBody>
      </p:sp>
      <p:sp>
        <p:nvSpPr>
          <p:cNvPr id="124" name="ovl_takeaway_bg"/>
          <p:cNvSpPr/>
          <p:nvPr/>
        </p:nvSpPr>
        <p:spPr>
          <a:xfrm>
            <a:off x="8458200" y="4549140"/>
            <a:ext cx="3276295" cy="1005840"/>
          </a:xfrm>
          <a:prstGeom prst="rect">
            <a:avLst/>
          </a:prstGeom>
          <a:solidFill>
            <a:srgbClr val="EAF4EE"/>
          </a:solidFill>
          <a:ln w="12700">
            <a:solidFill>
              <a:srgbClr val="EAF4EE"/>
            </a:solidFill>
            <a:prstDash val="solid"/>
          </a:ln>
        </p:spPr>
      </p:sp>
      <p:sp>
        <p:nvSpPr>
          <p:cNvPr id="125" name="takeaway"/>
          <p:cNvSpPr txBox="1"/>
          <p:nvPr/>
        </p:nvSpPr>
        <p:spPr>
          <a:xfrm>
            <a:off x="8567928" y="4622292"/>
            <a:ext cx="3056839" cy="859536"/>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DB の優位は数十年続くが、</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価値の 45% を占める AI 容量の優位は</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逼迫が続く FY32 までに限られるため B</a:t>
            </a:r>
            <a:endParaRPr lang="en-US" sz="1000" dirty="0"/>
          </a:p>
        </p:txBody>
      </p:sp>
      <p:sp>
        <p:nvSpPr>
          <p:cNvPr id="126" name="updown"/>
          <p:cNvSpPr txBox="1"/>
          <p:nvPr/>
        </p:nvSpPr>
        <p:spPr>
          <a:xfrm>
            <a:off x="8458200" y="5628132"/>
            <a:ext cx="3276295" cy="46177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緩和の兆しが出ても</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AI 容量の更新プレミアムが正のまま続けば A</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Software の減収が −5% を超えて加速すれば C</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3-1 稼ぐ力(条件1〜3)(2/3)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236982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23698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コア事業の現金創出(条件2)</a:t>
            </a:r>
            <a:endParaRPr lang="en-US" sz="1000" dirty="0"/>
          </a:p>
        </p:txBody>
      </p:sp>
      <p:sp>
        <p:nvSpPr>
          <p:cNvPr id="14" name="hdr_why"/>
          <p:cNvSpPr txBox="1"/>
          <p:nvPr/>
        </p:nvSpPr>
        <p:spPr>
          <a:xfrm>
            <a:off x="2973324" y="356616"/>
            <a:ext cx="876117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AI 投資を本業の現金で賄えるかが、増資や格下げなしに成長できるかを決める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コア事業は税引後 230 億ドルを稼ぎ、AI の投資は前払いと長期リースで</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外部化するが、全社 FCF はエンジンで FY29 まで赤字</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左から: 資金の出し手 → Oracle の資金の源 → 使い道 → 結果。①〜⑤ は右と対応。金額は FY27(需給エンジン第4.3版・会社開示)</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会社開示(Q1 FY27、10-Q)、需給エンジン第4.3版(calc/out/m8_all.json)、research2/R7_capital_power.md、S&amp;P(2026-07)</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22</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条件2</a:t>
            </a:r>
            <a:endParaRPr lang="en-US" sz="800" dirty="0"/>
          </a:p>
        </p:txBody>
      </p:sp>
      <p:sp>
        <p:nvSpPr>
          <p:cNvPr id="22" name="bg_lane0"/>
          <p:cNvSpPr/>
          <p:nvPr/>
        </p:nvSpPr>
        <p:spPr>
          <a:xfrm>
            <a:off x="347472" y="1517904"/>
            <a:ext cx="1453896" cy="4315968"/>
          </a:xfrm>
          <a:prstGeom prst="rect">
            <a:avLst/>
          </a:prstGeom>
          <a:solidFill>
            <a:srgbClr val="F2F2F2"/>
          </a:solidFill>
          <a:ln w="12700">
            <a:solidFill>
              <a:srgbClr val="F2F2F2"/>
            </a:solidFill>
            <a:prstDash val="solid"/>
          </a:ln>
        </p:spPr>
      </p:sp>
      <p:sp>
        <p:nvSpPr>
          <p:cNvPr id="23" name="bg_laneh0"/>
          <p:cNvSpPr/>
          <p:nvPr/>
        </p:nvSpPr>
        <p:spPr>
          <a:xfrm>
            <a:off x="347472" y="1517904"/>
            <a:ext cx="1453896" cy="274320"/>
          </a:xfrm>
          <a:prstGeom prst="rect">
            <a:avLst/>
          </a:prstGeom>
          <a:solidFill>
            <a:srgbClr val="D9D9D9"/>
          </a:solidFill>
          <a:ln w="12700">
            <a:solidFill>
              <a:srgbClr val="D9D9D9"/>
            </a:solidFill>
            <a:prstDash val="solid"/>
          </a:ln>
        </p:spPr>
      </p:sp>
      <p:sp>
        <p:nvSpPr>
          <p:cNvPr id="24" name="bg_lanet0"/>
          <p:cNvSpPr txBox="1"/>
          <p:nvPr/>
        </p:nvSpPr>
        <p:spPr>
          <a:xfrm>
            <a:off x="347472" y="1517904"/>
            <a:ext cx="145389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資金の出し手</a:t>
            </a:r>
            <a:endParaRPr lang="en-US" sz="950" dirty="0"/>
          </a:p>
        </p:txBody>
      </p:sp>
      <p:sp>
        <p:nvSpPr>
          <p:cNvPr id="25" name="bg_lane1"/>
          <p:cNvSpPr/>
          <p:nvPr/>
        </p:nvSpPr>
        <p:spPr>
          <a:xfrm>
            <a:off x="2481072" y="1517904"/>
            <a:ext cx="3770376" cy="4315968"/>
          </a:xfrm>
          <a:prstGeom prst="rect">
            <a:avLst/>
          </a:prstGeom>
          <a:solidFill>
            <a:srgbClr val="EAF4EE"/>
          </a:solidFill>
          <a:ln w="12700">
            <a:solidFill>
              <a:srgbClr val="EAF4EE"/>
            </a:solidFill>
            <a:prstDash val="solid"/>
          </a:ln>
        </p:spPr>
      </p:sp>
      <p:sp>
        <p:nvSpPr>
          <p:cNvPr id="26" name="bg_laneh1"/>
          <p:cNvSpPr/>
          <p:nvPr/>
        </p:nvSpPr>
        <p:spPr>
          <a:xfrm>
            <a:off x="2481072" y="1517904"/>
            <a:ext cx="3770376" cy="274320"/>
          </a:xfrm>
          <a:prstGeom prst="rect">
            <a:avLst/>
          </a:prstGeom>
          <a:solidFill>
            <a:srgbClr val="197A56"/>
          </a:solidFill>
          <a:ln w="12700">
            <a:solidFill>
              <a:srgbClr val="197A56"/>
            </a:solidFill>
            <a:prstDash val="solid"/>
          </a:ln>
        </p:spPr>
      </p:sp>
      <p:sp>
        <p:nvSpPr>
          <p:cNvPr id="27" name="bg_lanet1"/>
          <p:cNvSpPr txBox="1"/>
          <p:nvPr/>
        </p:nvSpPr>
        <p:spPr>
          <a:xfrm>
            <a:off x="2481072" y="1517904"/>
            <a:ext cx="377037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a:t>
            </a:r>
            <a:endParaRPr lang="en-US" sz="950" dirty="0"/>
          </a:p>
        </p:txBody>
      </p:sp>
      <p:sp>
        <p:nvSpPr>
          <p:cNvPr id="28" name="bg_lane2"/>
          <p:cNvSpPr/>
          <p:nvPr/>
        </p:nvSpPr>
        <p:spPr>
          <a:xfrm>
            <a:off x="6931152" y="1517904"/>
            <a:ext cx="1453896" cy="4315968"/>
          </a:xfrm>
          <a:prstGeom prst="rect">
            <a:avLst/>
          </a:prstGeom>
          <a:solidFill>
            <a:srgbClr val="F2F2F2"/>
          </a:solidFill>
          <a:ln w="12700">
            <a:solidFill>
              <a:srgbClr val="F2F2F2"/>
            </a:solidFill>
            <a:prstDash val="solid"/>
          </a:ln>
        </p:spPr>
      </p:sp>
      <p:sp>
        <p:nvSpPr>
          <p:cNvPr id="29" name="bg_laneh2"/>
          <p:cNvSpPr/>
          <p:nvPr/>
        </p:nvSpPr>
        <p:spPr>
          <a:xfrm>
            <a:off x="6931152" y="1517904"/>
            <a:ext cx="1453896" cy="274320"/>
          </a:xfrm>
          <a:prstGeom prst="rect">
            <a:avLst/>
          </a:prstGeom>
          <a:solidFill>
            <a:srgbClr val="D9D9D9"/>
          </a:solidFill>
          <a:ln w="12700">
            <a:solidFill>
              <a:srgbClr val="D9D9D9"/>
            </a:solidFill>
            <a:prstDash val="solid"/>
          </a:ln>
        </p:spPr>
      </p:sp>
      <p:sp>
        <p:nvSpPr>
          <p:cNvPr id="30" name="bg_lanet2"/>
          <p:cNvSpPr txBox="1"/>
          <p:nvPr/>
        </p:nvSpPr>
        <p:spPr>
          <a:xfrm>
            <a:off x="6931152" y="1517904"/>
            <a:ext cx="145389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支払先・評価者</a:t>
            </a:r>
            <a:endParaRPr lang="en-US" sz="950" dirty="0"/>
          </a:p>
        </p:txBody>
      </p:sp>
      <p:sp>
        <p:nvSpPr>
          <p:cNvPr id="31" name="ovl_grp0"/>
          <p:cNvSpPr/>
          <p:nvPr/>
        </p:nvSpPr>
        <p:spPr>
          <a:xfrm>
            <a:off x="2526792" y="1911096"/>
            <a:ext cx="1453896" cy="3877056"/>
          </a:xfrm>
          <a:prstGeom prst="roundRect">
            <a:avLst>
              <a:gd name="adj" fmla="val 3774"/>
            </a:avLst>
          </a:prstGeom>
          <a:solidFill>
            <a:srgbClr val="FFFFFF">
              <a:alpha val="0"/>
            </a:srgbClr>
          </a:solidFill>
          <a:ln w="12700">
            <a:solidFill>
              <a:srgbClr val="197A56"/>
            </a:solidFill>
            <a:prstDash val="dash"/>
          </a:ln>
        </p:spPr>
      </p:sp>
      <p:sp>
        <p:nvSpPr>
          <p:cNvPr id="32" name="ovl_grp1"/>
          <p:cNvSpPr/>
          <p:nvPr/>
        </p:nvSpPr>
        <p:spPr>
          <a:xfrm>
            <a:off x="4751832" y="1911096"/>
            <a:ext cx="1453896" cy="3877056"/>
          </a:xfrm>
          <a:prstGeom prst="roundRect">
            <a:avLst>
              <a:gd name="adj" fmla="val 3774"/>
            </a:avLst>
          </a:prstGeom>
          <a:solidFill>
            <a:srgbClr val="FFFFFF">
              <a:alpha val="0"/>
            </a:srgbClr>
          </a:solidFill>
          <a:ln w="12700">
            <a:solidFill>
              <a:srgbClr val="197A56"/>
            </a:solidFill>
            <a:prstDash val="dash"/>
          </a:ln>
        </p:spPr>
      </p:sp>
      <p:sp>
        <p:nvSpPr>
          <p:cNvPr id="33" name="ovl_s18_e0_0"/>
          <p:cNvSpPr/>
          <p:nvPr/>
        </p:nvSpPr>
        <p:spPr>
          <a:xfrm>
            <a:off x="1691640" y="2375154"/>
            <a:ext cx="899160" cy="914"/>
          </a:xfrm>
          <a:prstGeom prst="line">
            <a:avLst/>
          </a:prstGeom>
          <a:noFill/>
          <a:ln w="22225">
            <a:solidFill>
              <a:srgbClr val="0E4D33"/>
            </a:solidFill>
            <a:prstDash val="solid"/>
            <a:tailEnd type="triangle"/>
          </a:ln>
        </p:spPr>
      </p:sp>
      <p:sp>
        <p:nvSpPr>
          <p:cNvPr id="34" name="ovl_s18_e1_0"/>
          <p:cNvSpPr/>
          <p:nvPr/>
        </p:nvSpPr>
        <p:spPr>
          <a:xfrm>
            <a:off x="3916680" y="2375154"/>
            <a:ext cx="899160" cy="914"/>
          </a:xfrm>
          <a:prstGeom prst="line">
            <a:avLst/>
          </a:prstGeom>
          <a:noFill/>
          <a:ln w="22225">
            <a:solidFill>
              <a:srgbClr val="0E4D33"/>
            </a:solidFill>
            <a:prstDash val="solid"/>
            <a:tailEnd type="triangle"/>
          </a:ln>
        </p:spPr>
      </p:sp>
      <p:sp>
        <p:nvSpPr>
          <p:cNvPr id="35" name="ovl_s18_e2_0"/>
          <p:cNvSpPr/>
          <p:nvPr/>
        </p:nvSpPr>
        <p:spPr>
          <a:xfrm>
            <a:off x="1691640" y="3358134"/>
            <a:ext cx="899160" cy="914"/>
          </a:xfrm>
          <a:prstGeom prst="line">
            <a:avLst/>
          </a:prstGeom>
          <a:noFill/>
          <a:ln w="22225">
            <a:solidFill>
              <a:srgbClr val="0E4D33"/>
            </a:solidFill>
            <a:prstDash val="solid"/>
            <a:tailEnd type="triangle"/>
          </a:ln>
        </p:spPr>
      </p:sp>
      <p:sp>
        <p:nvSpPr>
          <p:cNvPr id="36" name="ovl_s18_e3_0"/>
          <p:cNvSpPr/>
          <p:nvPr/>
        </p:nvSpPr>
        <p:spPr>
          <a:xfrm>
            <a:off x="3916680" y="3358134"/>
            <a:ext cx="899160" cy="914"/>
          </a:xfrm>
          <a:prstGeom prst="line">
            <a:avLst/>
          </a:prstGeom>
          <a:noFill/>
          <a:ln w="22225">
            <a:solidFill>
              <a:srgbClr val="0E4D33"/>
            </a:solidFill>
            <a:prstDash val="solid"/>
            <a:tailEnd type="triangle"/>
          </a:ln>
        </p:spPr>
      </p:sp>
      <p:sp>
        <p:nvSpPr>
          <p:cNvPr id="37" name="ovl_s18_e4_0"/>
          <p:cNvSpPr/>
          <p:nvPr/>
        </p:nvSpPr>
        <p:spPr>
          <a:xfrm>
            <a:off x="1691640" y="4341114"/>
            <a:ext cx="899160" cy="914"/>
          </a:xfrm>
          <a:prstGeom prst="line">
            <a:avLst/>
          </a:prstGeom>
          <a:noFill/>
          <a:ln w="19050">
            <a:solidFill>
              <a:srgbClr val="1BA1A6"/>
            </a:solidFill>
            <a:prstDash val="solid"/>
            <a:tailEnd type="triangle"/>
          </a:ln>
        </p:spPr>
      </p:sp>
      <p:sp>
        <p:nvSpPr>
          <p:cNvPr id="38" name="ovl_s18_e5_0"/>
          <p:cNvSpPr/>
          <p:nvPr/>
        </p:nvSpPr>
        <p:spPr>
          <a:xfrm>
            <a:off x="3916680" y="4341114"/>
            <a:ext cx="899160" cy="914"/>
          </a:xfrm>
          <a:prstGeom prst="line">
            <a:avLst/>
          </a:prstGeom>
          <a:noFill/>
          <a:ln w="22225">
            <a:solidFill>
              <a:srgbClr val="0E4D33"/>
            </a:solidFill>
            <a:prstDash val="solid"/>
            <a:tailEnd type="triangle"/>
          </a:ln>
        </p:spPr>
      </p:sp>
      <p:sp>
        <p:nvSpPr>
          <p:cNvPr id="39" name="ovl_s18_e6_0"/>
          <p:cNvSpPr/>
          <p:nvPr/>
        </p:nvSpPr>
        <p:spPr>
          <a:xfrm>
            <a:off x="1691640" y="5324094"/>
            <a:ext cx="899160" cy="914"/>
          </a:xfrm>
          <a:prstGeom prst="line">
            <a:avLst/>
          </a:prstGeom>
          <a:noFill/>
          <a:ln w="22225">
            <a:solidFill>
              <a:srgbClr val="0E4D33"/>
            </a:solidFill>
            <a:prstDash val="solid"/>
            <a:tailEnd type="triangle"/>
          </a:ln>
        </p:spPr>
      </p:sp>
      <p:sp>
        <p:nvSpPr>
          <p:cNvPr id="40" name="ovl_s18_e7_0"/>
          <p:cNvSpPr/>
          <p:nvPr/>
        </p:nvSpPr>
        <p:spPr>
          <a:xfrm>
            <a:off x="3916680" y="5324094"/>
            <a:ext cx="899160" cy="914"/>
          </a:xfrm>
          <a:prstGeom prst="line">
            <a:avLst/>
          </a:prstGeom>
          <a:noFill/>
          <a:ln w="22225">
            <a:solidFill>
              <a:srgbClr val="0E4D33"/>
            </a:solidFill>
            <a:prstDash val="solid"/>
            <a:tailEnd type="triangle"/>
          </a:ln>
        </p:spPr>
      </p:sp>
      <p:sp>
        <p:nvSpPr>
          <p:cNvPr id="41" name="ovl_s18_e8_0"/>
          <p:cNvSpPr/>
          <p:nvPr/>
        </p:nvSpPr>
        <p:spPr>
          <a:xfrm>
            <a:off x="6141720" y="2375154"/>
            <a:ext cx="899160" cy="914"/>
          </a:xfrm>
          <a:prstGeom prst="line">
            <a:avLst/>
          </a:prstGeom>
          <a:noFill/>
          <a:ln w="22225">
            <a:solidFill>
              <a:srgbClr val="0E4D33"/>
            </a:solidFill>
            <a:prstDash val="solid"/>
            <a:tailEnd type="triangle"/>
          </a:ln>
        </p:spPr>
      </p:sp>
      <p:sp>
        <p:nvSpPr>
          <p:cNvPr id="42" name="ovl_s18_e9_0"/>
          <p:cNvSpPr/>
          <p:nvPr/>
        </p:nvSpPr>
        <p:spPr>
          <a:xfrm>
            <a:off x="6141720" y="5324094"/>
            <a:ext cx="899160" cy="914"/>
          </a:xfrm>
          <a:prstGeom prst="line">
            <a:avLst/>
          </a:prstGeom>
          <a:noFill/>
          <a:ln w="12700">
            <a:solidFill>
              <a:srgbClr val="767676"/>
            </a:solidFill>
            <a:prstDash val="sysDash"/>
            <a:tailEnd type="triangle"/>
          </a:ln>
        </p:spPr>
      </p:sp>
      <p:sp>
        <p:nvSpPr>
          <p:cNvPr id="43" name="ovl_s18_n_cust"/>
          <p:cNvSpPr/>
          <p:nvPr/>
        </p:nvSpPr>
        <p:spPr>
          <a:xfrm>
            <a:off x="457200" y="2000250"/>
            <a:ext cx="1234440" cy="749808"/>
          </a:xfrm>
          <a:prstGeom prst="roundRect">
            <a:avLst>
              <a:gd name="adj" fmla="val 7317"/>
            </a:avLst>
          </a:prstGeom>
          <a:solidFill>
            <a:srgbClr val="FFFFFF"/>
          </a:solidFill>
          <a:ln w="9525">
            <a:solidFill>
              <a:srgbClr val="767676"/>
            </a:solidFill>
            <a:prstDash val="solid"/>
          </a:ln>
        </p:spPr>
      </p:sp>
      <p:sp>
        <p:nvSpPr>
          <p:cNvPr id="44" name="ovl_s18_nt_cust"/>
          <p:cNvSpPr txBox="1"/>
          <p:nvPr/>
        </p:nvSpPr>
        <p:spPr>
          <a:xfrm>
            <a:off x="493776" y="2027682"/>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DB・SaaS の顧客</a:t>
            </a:r>
            <a:endParaRPr lang="en-US" sz="1000" dirty="0"/>
          </a:p>
        </p:txBody>
      </p:sp>
      <p:sp>
        <p:nvSpPr>
          <p:cNvPr id="45" name="ovl_s18_ns_cust"/>
          <p:cNvSpPr txBox="1"/>
          <p:nvPr/>
        </p:nvSpPr>
        <p:spPr>
          <a:xfrm>
            <a:off x="502920" y="2233422"/>
            <a:ext cx="11430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保守料・購読料</a:t>
            </a:r>
            <a:endParaRPr lang="en-US" sz="850" dirty="0"/>
          </a:p>
        </p:txBody>
      </p:sp>
      <p:sp>
        <p:nvSpPr>
          <p:cNvPr id="46" name="ovl_s18_n_lab"/>
          <p:cNvSpPr/>
          <p:nvPr/>
        </p:nvSpPr>
        <p:spPr>
          <a:xfrm>
            <a:off x="457200" y="2983230"/>
            <a:ext cx="1234440" cy="749808"/>
          </a:xfrm>
          <a:prstGeom prst="roundRect">
            <a:avLst>
              <a:gd name="adj" fmla="val 7317"/>
            </a:avLst>
          </a:prstGeom>
          <a:solidFill>
            <a:srgbClr val="FFFFFF"/>
          </a:solidFill>
          <a:ln w="9525">
            <a:solidFill>
              <a:srgbClr val="767676"/>
            </a:solidFill>
            <a:prstDash val="solid"/>
          </a:ln>
        </p:spPr>
      </p:sp>
      <p:sp>
        <p:nvSpPr>
          <p:cNvPr id="47" name="ovl_s18_nt_lab"/>
          <p:cNvSpPr txBox="1"/>
          <p:nvPr/>
        </p:nvSpPr>
        <p:spPr>
          <a:xfrm>
            <a:off x="493776" y="3010662"/>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研究所</a:t>
            </a:r>
            <a:endParaRPr lang="en-US" sz="1000" dirty="0"/>
          </a:p>
        </p:txBody>
      </p:sp>
      <p:sp>
        <p:nvSpPr>
          <p:cNvPr id="48" name="ovl_s18_ns_lab"/>
          <p:cNvSpPr txBox="1"/>
          <p:nvPr/>
        </p:nvSpPr>
        <p:spPr>
          <a:xfrm>
            <a:off x="502920" y="3216402"/>
            <a:ext cx="11430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GPU 代の前払い</a:t>
            </a:r>
            <a:endParaRPr lang="en-US" sz="850" dirty="0"/>
          </a:p>
        </p:txBody>
      </p:sp>
      <p:sp>
        <p:nvSpPr>
          <p:cNvPr id="49" name="ovl_s18_n_dev"/>
          <p:cNvSpPr/>
          <p:nvPr/>
        </p:nvSpPr>
        <p:spPr>
          <a:xfrm>
            <a:off x="457200" y="3966210"/>
            <a:ext cx="1234440" cy="749808"/>
          </a:xfrm>
          <a:prstGeom prst="roundRect">
            <a:avLst>
              <a:gd name="adj" fmla="val 7317"/>
            </a:avLst>
          </a:prstGeom>
          <a:solidFill>
            <a:srgbClr val="EAF4EE"/>
          </a:solidFill>
          <a:ln w="9525">
            <a:solidFill>
              <a:srgbClr val="86C99B"/>
            </a:solidFill>
            <a:prstDash val="solid"/>
          </a:ln>
        </p:spPr>
      </p:sp>
      <p:sp>
        <p:nvSpPr>
          <p:cNvPr id="50" name="ovl_s18_nt_dev"/>
          <p:cNvSpPr txBox="1"/>
          <p:nvPr/>
        </p:nvSpPr>
        <p:spPr>
          <a:xfrm>
            <a:off x="493776" y="3993642"/>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DC 開発事業者</a:t>
            </a:r>
            <a:endParaRPr lang="en-US" sz="1000" dirty="0"/>
          </a:p>
        </p:txBody>
      </p:sp>
      <p:sp>
        <p:nvSpPr>
          <p:cNvPr id="51" name="ovl_s18_ns_dev"/>
          <p:cNvSpPr txBox="1"/>
          <p:nvPr/>
        </p:nvSpPr>
        <p:spPr>
          <a:xfrm>
            <a:off x="502920" y="4199382"/>
            <a:ext cx="11430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10GW の 90% 超の</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建屋を負担</a:t>
            </a:r>
            <a:endParaRPr lang="en-US" sz="850" dirty="0"/>
          </a:p>
        </p:txBody>
      </p:sp>
      <p:sp>
        <p:nvSpPr>
          <p:cNvPr id="52" name="ovl_s18_n_inv"/>
          <p:cNvSpPr/>
          <p:nvPr/>
        </p:nvSpPr>
        <p:spPr>
          <a:xfrm>
            <a:off x="457200" y="4949190"/>
            <a:ext cx="1234440" cy="749808"/>
          </a:xfrm>
          <a:prstGeom prst="roundRect">
            <a:avLst>
              <a:gd name="adj" fmla="val 7317"/>
            </a:avLst>
          </a:prstGeom>
          <a:solidFill>
            <a:srgbClr val="FFFFFF"/>
          </a:solidFill>
          <a:ln w="9525">
            <a:solidFill>
              <a:srgbClr val="767676"/>
            </a:solidFill>
            <a:prstDash val="solid"/>
          </a:ln>
        </p:spPr>
      </p:sp>
      <p:sp>
        <p:nvSpPr>
          <p:cNvPr id="53" name="ovl_s18_nt_inv"/>
          <p:cNvSpPr txBox="1"/>
          <p:nvPr/>
        </p:nvSpPr>
        <p:spPr>
          <a:xfrm>
            <a:off x="493776" y="4976622"/>
            <a:ext cx="1161288" cy="205740"/>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社債・株式の投資家</a:t>
            </a:r>
            <a:endParaRPr lang="en-US" sz="900" dirty="0"/>
          </a:p>
        </p:txBody>
      </p:sp>
      <p:sp>
        <p:nvSpPr>
          <p:cNvPr id="54" name="ovl_s18_ns_inv"/>
          <p:cNvSpPr txBox="1"/>
          <p:nvPr/>
        </p:nvSpPr>
        <p:spPr>
          <a:xfrm>
            <a:off x="502920" y="5182362"/>
            <a:ext cx="11430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社債 430 億ドル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優先株 50 億・</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ATM 200 億ドル</a:t>
            </a:r>
            <a:endParaRPr lang="en-US" sz="850" dirty="0"/>
          </a:p>
        </p:txBody>
      </p:sp>
      <p:sp>
        <p:nvSpPr>
          <p:cNvPr id="55" name="ovl_s18_n_core"/>
          <p:cNvSpPr/>
          <p:nvPr/>
        </p:nvSpPr>
        <p:spPr>
          <a:xfrm>
            <a:off x="2590800" y="2000250"/>
            <a:ext cx="1325880" cy="749808"/>
          </a:xfrm>
          <a:prstGeom prst="roundRect">
            <a:avLst>
              <a:gd name="adj" fmla="val 7317"/>
            </a:avLst>
          </a:prstGeom>
          <a:solidFill>
            <a:srgbClr val="FFFFFF"/>
          </a:solidFill>
          <a:ln w="19050">
            <a:solidFill>
              <a:srgbClr val="197A56"/>
            </a:solidFill>
            <a:prstDash val="solid"/>
          </a:ln>
        </p:spPr>
      </p:sp>
      <p:sp>
        <p:nvSpPr>
          <p:cNvPr id="56" name="ovl_s18_nt_core"/>
          <p:cNvSpPr txBox="1"/>
          <p:nvPr/>
        </p:nvSpPr>
        <p:spPr>
          <a:xfrm>
            <a:off x="2627376" y="202768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コアの利益</a:t>
            </a:r>
            <a:endParaRPr lang="en-US" sz="1000" dirty="0"/>
          </a:p>
        </p:txBody>
      </p:sp>
      <p:sp>
        <p:nvSpPr>
          <p:cNvPr id="57" name="ovl_s18_ns_core"/>
          <p:cNvSpPr txBox="1"/>
          <p:nvPr/>
        </p:nvSpPr>
        <p:spPr>
          <a:xfrm>
            <a:off x="2636520" y="223342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税引後 230 億ドル</a:t>
            </a:r>
            <a:endParaRPr lang="en-US" sz="850" dirty="0"/>
          </a:p>
        </p:txBody>
      </p:sp>
      <p:sp>
        <p:nvSpPr>
          <p:cNvPr id="58" name="ovl_s18_n_prepay"/>
          <p:cNvSpPr/>
          <p:nvPr/>
        </p:nvSpPr>
        <p:spPr>
          <a:xfrm>
            <a:off x="2590800" y="2983230"/>
            <a:ext cx="1325880" cy="749808"/>
          </a:xfrm>
          <a:prstGeom prst="roundRect">
            <a:avLst>
              <a:gd name="adj" fmla="val 7317"/>
            </a:avLst>
          </a:prstGeom>
          <a:solidFill>
            <a:srgbClr val="EAF4EE"/>
          </a:solidFill>
          <a:ln w="9525">
            <a:solidFill>
              <a:srgbClr val="86C99B"/>
            </a:solidFill>
            <a:prstDash val="solid"/>
          </a:ln>
        </p:spPr>
      </p:sp>
      <p:sp>
        <p:nvSpPr>
          <p:cNvPr id="59" name="ovl_s18_nt_prepay"/>
          <p:cNvSpPr txBox="1"/>
          <p:nvPr/>
        </p:nvSpPr>
        <p:spPr>
          <a:xfrm>
            <a:off x="2627376" y="301066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前受収益</a:t>
            </a:r>
            <a:endParaRPr lang="en-US" sz="1000" dirty="0"/>
          </a:p>
        </p:txBody>
      </p:sp>
      <p:sp>
        <p:nvSpPr>
          <p:cNvPr id="60" name="ovl_s18_ns_prepay"/>
          <p:cNvSpPr txBox="1"/>
          <p:nvPr/>
        </p:nvSpPr>
        <p:spPr>
          <a:xfrm>
            <a:off x="2636520" y="321640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154 → 308 億ドル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(1 年で倍増)</a:t>
            </a:r>
            <a:endParaRPr lang="en-US" sz="850" dirty="0"/>
          </a:p>
        </p:txBody>
      </p:sp>
      <p:sp>
        <p:nvSpPr>
          <p:cNvPr id="61" name="ovl_s18_n_lease"/>
          <p:cNvSpPr/>
          <p:nvPr/>
        </p:nvSpPr>
        <p:spPr>
          <a:xfrm>
            <a:off x="2590800" y="3966210"/>
            <a:ext cx="1325880" cy="749808"/>
          </a:xfrm>
          <a:prstGeom prst="roundRect">
            <a:avLst>
              <a:gd name="adj" fmla="val 7317"/>
            </a:avLst>
          </a:prstGeom>
          <a:solidFill>
            <a:srgbClr val="EAF4EE"/>
          </a:solidFill>
          <a:ln w="9525">
            <a:solidFill>
              <a:srgbClr val="86C99B"/>
            </a:solidFill>
            <a:prstDash val="solid"/>
          </a:ln>
        </p:spPr>
      </p:sp>
      <p:sp>
        <p:nvSpPr>
          <p:cNvPr id="62" name="ovl_s18_nt_lease"/>
          <p:cNvSpPr txBox="1"/>
          <p:nvPr/>
        </p:nvSpPr>
        <p:spPr>
          <a:xfrm>
            <a:off x="2627376" y="399364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長期リース</a:t>
            </a:r>
            <a:endParaRPr lang="en-US" sz="1000" dirty="0"/>
          </a:p>
        </p:txBody>
      </p:sp>
      <p:sp>
        <p:nvSpPr>
          <p:cNvPr id="63" name="ovl_s18_ns_lease"/>
          <p:cNvSpPr txBox="1"/>
          <p:nvPr/>
        </p:nvSpPr>
        <p:spPr>
          <a:xfrm>
            <a:off x="2636520" y="419938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未開始 2,880 億ドル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15〜19 年</a:t>
            </a:r>
            <a:endParaRPr lang="en-US" sz="850" dirty="0"/>
          </a:p>
        </p:txBody>
      </p:sp>
      <p:sp>
        <p:nvSpPr>
          <p:cNvPr id="64" name="ovl_s18_n_debt"/>
          <p:cNvSpPr/>
          <p:nvPr/>
        </p:nvSpPr>
        <p:spPr>
          <a:xfrm>
            <a:off x="2590800" y="4949190"/>
            <a:ext cx="1325880" cy="749808"/>
          </a:xfrm>
          <a:prstGeom prst="roundRect">
            <a:avLst>
              <a:gd name="adj" fmla="val 7317"/>
            </a:avLst>
          </a:prstGeom>
          <a:solidFill>
            <a:srgbClr val="FFFFFF"/>
          </a:solidFill>
          <a:ln w="19050">
            <a:solidFill>
              <a:srgbClr val="C0392B"/>
            </a:solidFill>
            <a:prstDash val="solid"/>
          </a:ln>
        </p:spPr>
      </p:sp>
      <p:sp>
        <p:nvSpPr>
          <p:cNvPr id="65" name="ovl_s18_nt_debt"/>
          <p:cNvSpPr txBox="1"/>
          <p:nvPr/>
        </p:nvSpPr>
        <p:spPr>
          <a:xfrm>
            <a:off x="2627376" y="4976622"/>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借入・株式</a:t>
            </a:r>
            <a:endParaRPr lang="en-US" sz="1000" dirty="0"/>
          </a:p>
        </p:txBody>
      </p:sp>
      <p:sp>
        <p:nvSpPr>
          <p:cNvPr id="66" name="ovl_s18_ns_debt"/>
          <p:cNvSpPr txBox="1"/>
          <p:nvPr/>
        </p:nvSpPr>
        <p:spPr>
          <a:xfrm>
            <a:off x="2636520" y="518236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BBB−(S&amp;P)</a:t>
            </a:r>
            <a:endParaRPr lang="en-US" sz="850" dirty="0"/>
          </a:p>
        </p:txBody>
      </p:sp>
      <p:sp>
        <p:nvSpPr>
          <p:cNvPr id="67" name="ovl_s18_n_capex"/>
          <p:cNvSpPr/>
          <p:nvPr/>
        </p:nvSpPr>
        <p:spPr>
          <a:xfrm>
            <a:off x="4815840" y="1984248"/>
            <a:ext cx="1325880" cy="1764792"/>
          </a:xfrm>
          <a:prstGeom prst="roundRect">
            <a:avLst>
              <a:gd name="adj" fmla="val 4138"/>
            </a:avLst>
          </a:prstGeom>
          <a:solidFill>
            <a:srgbClr val="0E4D33"/>
          </a:solidFill>
          <a:ln w="9525">
            <a:solidFill>
              <a:srgbClr val="0E4D33"/>
            </a:solidFill>
            <a:prstDash val="solid"/>
          </a:ln>
        </p:spPr>
      </p:sp>
      <p:sp>
        <p:nvSpPr>
          <p:cNvPr id="68" name="ovl_s18_nt_capex"/>
          <p:cNvSpPr txBox="1"/>
          <p:nvPr/>
        </p:nvSpPr>
        <p:spPr>
          <a:xfrm>
            <a:off x="4852416" y="2011680"/>
            <a:ext cx="1252728" cy="20574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capex(FY27)</a:t>
            </a:r>
            <a:endParaRPr lang="en-US" sz="1000" dirty="0"/>
          </a:p>
        </p:txBody>
      </p:sp>
      <p:sp>
        <p:nvSpPr>
          <p:cNvPr id="69" name="ovl_s18_ns_capex"/>
          <p:cNvSpPr txBox="1"/>
          <p:nvPr/>
        </p:nvSpPr>
        <p:spPr>
          <a:xfrm>
            <a:off x="4861560" y="2217420"/>
            <a:ext cx="1234440" cy="1504188"/>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総額 900〜950 億ドル</a:t>
            </a:r>
            <a:endParaRPr lang="en-US" sz="850" dirty="0"/>
          </a:p>
          <a:p>
            <a:pPr algn="ctr" indent="0" marL="0">
              <a:buNone/>
            </a:pPr>
            <a:endParaRPr lang="en-US" sz="850" dirty="0"/>
          </a:p>
          <a:p>
            <a:pPr algn="ctr" indent="0" marL="0">
              <a:buNone/>
            </a:pP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前払いが</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約 24% を賄う</a:t>
            </a:r>
            <a:endParaRPr lang="en-US" sz="850" dirty="0"/>
          </a:p>
          <a:p>
            <a:pPr algn="ctr" indent="0" marL="0">
              <a:buNone/>
            </a:pPr>
            <a:endParaRPr lang="en-US" sz="850" dirty="0"/>
          </a:p>
          <a:p>
            <a:pPr algn="ctr" indent="0" marL="0">
              <a:buNone/>
            </a:pP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純現金 700 億ドル以下</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(会社の見通し)</a:t>
            </a:r>
            <a:endParaRPr lang="en-US" sz="850" dirty="0"/>
          </a:p>
        </p:txBody>
      </p:sp>
      <p:sp>
        <p:nvSpPr>
          <p:cNvPr id="70" name="ovl_s18_n_rent"/>
          <p:cNvSpPr/>
          <p:nvPr/>
        </p:nvSpPr>
        <p:spPr>
          <a:xfrm>
            <a:off x="4815840" y="3966210"/>
            <a:ext cx="1325880" cy="749808"/>
          </a:xfrm>
          <a:prstGeom prst="roundRect">
            <a:avLst>
              <a:gd name="adj" fmla="val 7317"/>
            </a:avLst>
          </a:prstGeom>
          <a:solidFill>
            <a:srgbClr val="FFFFFF"/>
          </a:solidFill>
          <a:ln w="19050">
            <a:solidFill>
              <a:srgbClr val="C0392B"/>
            </a:solidFill>
            <a:prstDash val="solid"/>
          </a:ln>
        </p:spPr>
      </p:sp>
      <p:sp>
        <p:nvSpPr>
          <p:cNvPr id="71" name="ovl_s18_nt_rent"/>
          <p:cNvSpPr txBox="1"/>
          <p:nvPr/>
        </p:nvSpPr>
        <p:spPr>
          <a:xfrm>
            <a:off x="4852416" y="3993642"/>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賃料</a:t>
            </a:r>
            <a:endParaRPr lang="en-US" sz="1000" dirty="0"/>
          </a:p>
        </p:txBody>
      </p:sp>
      <p:sp>
        <p:nvSpPr>
          <p:cNvPr id="72" name="ovl_s18_ns_rent"/>
          <p:cNvSpPr txBox="1"/>
          <p:nvPr/>
        </p:nvSpPr>
        <p:spPr>
          <a:xfrm>
            <a:off x="4861560" y="419938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固定費として</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15〜19 年続く</a:t>
            </a:r>
            <a:endParaRPr lang="en-US" sz="850" dirty="0"/>
          </a:p>
        </p:txBody>
      </p:sp>
      <p:sp>
        <p:nvSpPr>
          <p:cNvPr id="73" name="ovl_s18_n_fcf"/>
          <p:cNvSpPr/>
          <p:nvPr/>
        </p:nvSpPr>
        <p:spPr>
          <a:xfrm>
            <a:off x="4815840" y="4949190"/>
            <a:ext cx="1325880" cy="749808"/>
          </a:xfrm>
          <a:prstGeom prst="roundRect">
            <a:avLst>
              <a:gd name="adj" fmla="val 7317"/>
            </a:avLst>
          </a:prstGeom>
          <a:solidFill>
            <a:srgbClr val="FFFFFF"/>
          </a:solidFill>
          <a:ln w="19050">
            <a:solidFill>
              <a:srgbClr val="C0392B"/>
            </a:solidFill>
            <a:prstDash val="solid"/>
          </a:ln>
        </p:spPr>
      </p:sp>
      <p:sp>
        <p:nvSpPr>
          <p:cNvPr id="74" name="ovl_s18_nt_fcf"/>
          <p:cNvSpPr txBox="1"/>
          <p:nvPr/>
        </p:nvSpPr>
        <p:spPr>
          <a:xfrm>
            <a:off x="4852416" y="4976622"/>
            <a:ext cx="1252728" cy="356616"/>
          </a:xfrm>
          <a:prstGeom prst="rect">
            <a:avLst/>
          </a:prstGeom>
          <a:noFill/>
          <a:ln/>
        </p:spPr>
        <p:txBody>
          <a:bodyPr wrap="square" lIns="0" tIns="0" rIns="0" bIns="0" rtlCol="0" anchor="ctr"/>
          <a:lstStyle/>
          <a:p>
            <a:pPr algn="ctr" indent="0" marL="0">
              <a:buNone/>
            </a:pPr>
            <a:r>
              <a:rPr lang="en-US" sz="900" b="1" dirty="0">
                <a:solidFill>
                  <a:srgbClr val="C0392B"/>
                </a:solidFill>
                <a:latin typeface="Meiryo UI" pitchFamily="34" charset="0"/>
                <a:ea typeface="Meiryo UI" pitchFamily="34" charset="-122"/>
                <a:cs typeface="Meiryo UI" pitchFamily="34" charset="-120"/>
              </a:rPr>
              <a:t>全社 FCF</a:t>
            </a:r>
            <a:endParaRPr lang="en-US" sz="900" dirty="0"/>
          </a:p>
          <a:p>
            <a:pPr algn="ctr" indent="0" marL="0">
              <a:buNone/>
            </a:pPr>
            <a:r>
              <a:rPr lang="en-US" sz="900" b="1" dirty="0">
                <a:solidFill>
                  <a:srgbClr val="C0392B"/>
                </a:solidFill>
                <a:latin typeface="Meiryo UI" pitchFamily="34" charset="0"/>
                <a:ea typeface="Meiryo UI" pitchFamily="34" charset="-122"/>
                <a:cs typeface="Meiryo UI" pitchFamily="34" charset="-120"/>
              </a:rPr>
              <a:t>(エンジン)</a:t>
            </a:r>
            <a:endParaRPr lang="en-US" sz="900" dirty="0"/>
          </a:p>
        </p:txBody>
      </p:sp>
      <p:sp>
        <p:nvSpPr>
          <p:cNvPr id="75" name="ovl_s18_ns_fcf"/>
          <p:cNvSpPr txBox="1"/>
          <p:nvPr/>
        </p:nvSpPr>
        <p:spPr>
          <a:xfrm>
            <a:off x="4861560" y="5333238"/>
            <a:ext cx="1234440" cy="3383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FY27 −342 億</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FY29 −135 億ドル</a:t>
            </a:r>
            <a:endParaRPr lang="en-US" sz="850" dirty="0"/>
          </a:p>
        </p:txBody>
      </p:sp>
      <p:sp>
        <p:nvSpPr>
          <p:cNvPr id="76" name="ovl_s18_n_nv"/>
          <p:cNvSpPr/>
          <p:nvPr/>
        </p:nvSpPr>
        <p:spPr>
          <a:xfrm>
            <a:off x="7040880" y="2000250"/>
            <a:ext cx="1234440" cy="749808"/>
          </a:xfrm>
          <a:prstGeom prst="roundRect">
            <a:avLst>
              <a:gd name="adj" fmla="val 7317"/>
            </a:avLst>
          </a:prstGeom>
          <a:solidFill>
            <a:srgbClr val="FFFFFF"/>
          </a:solidFill>
          <a:ln w="9525">
            <a:solidFill>
              <a:srgbClr val="767676"/>
            </a:solidFill>
            <a:prstDash val="solid"/>
          </a:ln>
        </p:spPr>
      </p:sp>
      <p:sp>
        <p:nvSpPr>
          <p:cNvPr id="77" name="ovl_s18_nt_nv"/>
          <p:cNvSpPr txBox="1"/>
          <p:nvPr/>
        </p:nvSpPr>
        <p:spPr>
          <a:xfrm>
            <a:off x="7077456" y="2027682"/>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NVIDIA・部材</a:t>
            </a:r>
            <a:endParaRPr lang="en-US" sz="1000" dirty="0"/>
          </a:p>
        </p:txBody>
      </p:sp>
      <p:sp>
        <p:nvSpPr>
          <p:cNvPr id="78" name="ovl_s18_ns_nv"/>
          <p:cNvSpPr txBox="1"/>
          <p:nvPr/>
        </p:nvSpPr>
        <p:spPr>
          <a:xfrm>
            <a:off x="7086600" y="2233422"/>
            <a:ext cx="11430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GPU・網・メモリ</a:t>
            </a:r>
            <a:endParaRPr lang="en-US" sz="850" dirty="0"/>
          </a:p>
        </p:txBody>
      </p:sp>
      <p:sp>
        <p:nvSpPr>
          <p:cNvPr id="79" name="ovl_s18_n_sp"/>
          <p:cNvSpPr/>
          <p:nvPr/>
        </p:nvSpPr>
        <p:spPr>
          <a:xfrm>
            <a:off x="7040880" y="4949190"/>
            <a:ext cx="1234440" cy="749808"/>
          </a:xfrm>
          <a:prstGeom prst="roundRect">
            <a:avLst>
              <a:gd name="adj" fmla="val 7317"/>
            </a:avLst>
          </a:prstGeom>
          <a:solidFill>
            <a:srgbClr val="FFFFFF"/>
          </a:solidFill>
          <a:ln w="9525">
            <a:solidFill>
              <a:srgbClr val="767676"/>
            </a:solidFill>
            <a:prstDash val="solid"/>
          </a:ln>
        </p:spPr>
      </p:sp>
      <p:sp>
        <p:nvSpPr>
          <p:cNvPr id="80" name="ovl_s18_nt_sp"/>
          <p:cNvSpPr txBox="1"/>
          <p:nvPr/>
        </p:nvSpPr>
        <p:spPr>
          <a:xfrm>
            <a:off x="7077456" y="4976622"/>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S&amp;P</a:t>
            </a:r>
            <a:endParaRPr lang="en-US" sz="1000" dirty="0"/>
          </a:p>
        </p:txBody>
      </p:sp>
      <p:sp>
        <p:nvSpPr>
          <p:cNvPr id="81" name="ovl_s18_ns_sp"/>
          <p:cNvSpPr txBox="1"/>
          <p:nvPr/>
        </p:nvSpPr>
        <p:spPr>
          <a:xfrm>
            <a:off x="7086600" y="5182362"/>
            <a:ext cx="11430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FY29 までの</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FOCF 黒字を要求</a:t>
            </a:r>
            <a:endParaRPr lang="en-US" sz="850" dirty="0"/>
          </a:p>
        </p:txBody>
      </p:sp>
      <p:sp>
        <p:nvSpPr>
          <p:cNvPr id="82" name="ovl_s18_lab0"/>
          <p:cNvSpPr txBox="1"/>
          <p:nvPr/>
        </p:nvSpPr>
        <p:spPr>
          <a:xfrm>
            <a:off x="1728216" y="2000250"/>
            <a:ext cx="826008" cy="347472"/>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保守料・</a:t>
            </a:r>
            <a:endParaRPr lang="en-US" sz="850" dirty="0"/>
          </a:p>
          <a:p>
            <a:pPr algn="ctr" indent="0" marL="0">
              <a:buNone/>
            </a:pPr>
            <a:r>
              <a:rPr lang="en-US" sz="850" dirty="0">
                <a:solidFill>
                  <a:srgbClr val="0E4D33"/>
                </a:solidFill>
                <a:latin typeface="Meiryo UI" pitchFamily="34" charset="0"/>
                <a:ea typeface="Meiryo UI" pitchFamily="34" charset="-122"/>
                <a:cs typeface="Meiryo UI" pitchFamily="34" charset="-120"/>
              </a:rPr>
              <a:t>購読料</a:t>
            </a:r>
            <a:endParaRPr lang="en-US" sz="850" dirty="0"/>
          </a:p>
        </p:txBody>
      </p:sp>
      <p:sp>
        <p:nvSpPr>
          <p:cNvPr id="83" name="ovl_s18_num1"/>
          <p:cNvSpPr/>
          <p:nvPr/>
        </p:nvSpPr>
        <p:spPr>
          <a:xfrm>
            <a:off x="4247388" y="2256282"/>
            <a:ext cx="237744" cy="237744"/>
          </a:xfrm>
          <a:prstGeom prst="ellipse">
            <a:avLst/>
          </a:prstGeom>
          <a:solidFill>
            <a:srgbClr val="0E4D33"/>
          </a:solidFill>
          <a:ln w="12700">
            <a:solidFill>
              <a:srgbClr val="FFFFFF"/>
            </a:solidFill>
            <a:prstDash val="solid"/>
          </a:ln>
        </p:spPr>
      </p:sp>
      <p:sp>
        <p:nvSpPr>
          <p:cNvPr id="84" name="ovl_s18_numt1"/>
          <p:cNvSpPr txBox="1"/>
          <p:nvPr/>
        </p:nvSpPr>
        <p:spPr>
          <a:xfrm>
            <a:off x="4247388" y="225628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1</a:t>
            </a:r>
            <a:endParaRPr lang="en-US" sz="900" dirty="0"/>
          </a:p>
        </p:txBody>
      </p:sp>
      <p:sp>
        <p:nvSpPr>
          <p:cNvPr id="85" name="ovl_s18_lab2"/>
          <p:cNvSpPr txBox="1"/>
          <p:nvPr/>
        </p:nvSpPr>
        <p:spPr>
          <a:xfrm>
            <a:off x="1835696" y="3124962"/>
            <a:ext cx="611048"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0E4D33"/>
                </a:solidFill>
                <a:latin typeface="Meiryo UI" pitchFamily="34" charset="0"/>
                <a:ea typeface="Meiryo UI" pitchFamily="34" charset="-122"/>
                <a:cs typeface="Meiryo UI" pitchFamily="34" charset="-120"/>
              </a:rPr>
              <a:t>② </a:t>
            </a:r>
            <a:r>
              <a:rPr lang="en-US" sz="850" dirty="0">
                <a:solidFill>
                  <a:srgbClr val="0E4D33"/>
                </a:solidFill>
                <a:latin typeface="Meiryo UI" pitchFamily="34" charset="0"/>
                <a:ea typeface="Meiryo UI" pitchFamily="34" charset="-122"/>
                <a:cs typeface="Meiryo UI" pitchFamily="34" charset="-120"/>
              </a:rPr>
              <a:t>前払い</a:t>
            </a:r>
            <a:endParaRPr lang="en-US" sz="850" dirty="0"/>
          </a:p>
        </p:txBody>
      </p:sp>
      <p:sp>
        <p:nvSpPr>
          <p:cNvPr id="86" name="ovl_s18_num3"/>
          <p:cNvSpPr/>
          <p:nvPr/>
        </p:nvSpPr>
        <p:spPr>
          <a:xfrm>
            <a:off x="4247388" y="3239262"/>
            <a:ext cx="237744" cy="237744"/>
          </a:xfrm>
          <a:prstGeom prst="ellipse">
            <a:avLst/>
          </a:prstGeom>
          <a:solidFill>
            <a:srgbClr val="0E4D33"/>
          </a:solidFill>
          <a:ln w="12700">
            <a:solidFill>
              <a:srgbClr val="FFFFFF"/>
            </a:solidFill>
            <a:prstDash val="solid"/>
          </a:ln>
        </p:spPr>
      </p:sp>
      <p:sp>
        <p:nvSpPr>
          <p:cNvPr id="87" name="ovl_s18_numt3"/>
          <p:cNvSpPr txBox="1"/>
          <p:nvPr/>
        </p:nvSpPr>
        <p:spPr>
          <a:xfrm>
            <a:off x="4247388" y="323926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2</a:t>
            </a:r>
            <a:endParaRPr lang="en-US" sz="900" dirty="0"/>
          </a:p>
        </p:txBody>
      </p:sp>
      <p:sp>
        <p:nvSpPr>
          <p:cNvPr id="88" name="ovl_s18_lab4"/>
          <p:cNvSpPr txBox="1"/>
          <p:nvPr/>
        </p:nvSpPr>
        <p:spPr>
          <a:xfrm>
            <a:off x="1719110" y="4107942"/>
            <a:ext cx="844220"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③ </a:t>
            </a:r>
            <a:r>
              <a:rPr lang="en-US" sz="850" dirty="0">
                <a:solidFill>
                  <a:srgbClr val="1BA1A6"/>
                </a:solidFill>
                <a:latin typeface="Meiryo UI" pitchFamily="34" charset="0"/>
                <a:ea typeface="Meiryo UI" pitchFamily="34" charset="-122"/>
                <a:cs typeface="Meiryo UI" pitchFamily="34" charset="-120"/>
              </a:rPr>
              <a:t>建屋を賃貸</a:t>
            </a:r>
            <a:endParaRPr lang="en-US" sz="850" dirty="0"/>
          </a:p>
        </p:txBody>
      </p:sp>
      <p:sp>
        <p:nvSpPr>
          <p:cNvPr id="89" name="ovl_s18_lab6"/>
          <p:cNvSpPr txBox="1"/>
          <p:nvPr/>
        </p:nvSpPr>
        <p:spPr>
          <a:xfrm>
            <a:off x="1719110" y="5090922"/>
            <a:ext cx="844220"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0E4D33"/>
                </a:solidFill>
                <a:latin typeface="Meiryo UI" pitchFamily="34" charset="0"/>
                <a:ea typeface="Meiryo UI" pitchFamily="34" charset="-122"/>
                <a:cs typeface="Meiryo UI" pitchFamily="34" charset="-120"/>
              </a:rPr>
              <a:t>④ </a:t>
            </a:r>
            <a:r>
              <a:rPr lang="en-US" sz="850" dirty="0">
                <a:solidFill>
                  <a:srgbClr val="0E4D33"/>
                </a:solidFill>
                <a:latin typeface="Meiryo UI" pitchFamily="34" charset="0"/>
                <a:ea typeface="Meiryo UI" pitchFamily="34" charset="-122"/>
                <a:cs typeface="Meiryo UI" pitchFamily="34" charset="-120"/>
              </a:rPr>
              <a:t>社債・株式</a:t>
            </a:r>
            <a:endParaRPr lang="en-US" sz="850" dirty="0"/>
          </a:p>
        </p:txBody>
      </p:sp>
      <p:sp>
        <p:nvSpPr>
          <p:cNvPr id="90" name="ovl_s18_lab7"/>
          <p:cNvSpPr txBox="1"/>
          <p:nvPr/>
        </p:nvSpPr>
        <p:spPr>
          <a:xfrm>
            <a:off x="3961638" y="5090922"/>
            <a:ext cx="809244"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不足を埋める</a:t>
            </a:r>
            <a:endParaRPr lang="en-US" sz="850" dirty="0"/>
          </a:p>
        </p:txBody>
      </p:sp>
      <p:sp>
        <p:nvSpPr>
          <p:cNvPr id="91" name="ovl_s18_lab8"/>
          <p:cNvSpPr txBox="1"/>
          <p:nvPr/>
        </p:nvSpPr>
        <p:spPr>
          <a:xfrm>
            <a:off x="6364472" y="2141982"/>
            <a:ext cx="453657"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GPU 代</a:t>
            </a:r>
            <a:endParaRPr lang="en-US" sz="850" dirty="0"/>
          </a:p>
        </p:txBody>
      </p:sp>
      <p:sp>
        <p:nvSpPr>
          <p:cNvPr id="92" name="ovl_s18_lab9"/>
          <p:cNvSpPr txBox="1"/>
          <p:nvPr/>
        </p:nvSpPr>
        <p:spPr>
          <a:xfrm>
            <a:off x="6143244" y="4949190"/>
            <a:ext cx="896112"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767676"/>
                </a:solidFill>
                <a:latin typeface="Meiryo UI" pitchFamily="34" charset="0"/>
                <a:ea typeface="Meiryo UI" pitchFamily="34" charset="-122"/>
                <a:cs typeface="Meiryo UI" pitchFamily="34" charset="-120"/>
              </a:rPr>
              <a:t>⑤ </a:t>
            </a:r>
            <a:r>
              <a:rPr lang="en-US" sz="850" dirty="0">
                <a:solidFill>
                  <a:srgbClr val="767676"/>
                </a:solidFill>
                <a:latin typeface="Meiryo UI" pitchFamily="34" charset="0"/>
                <a:ea typeface="Meiryo UI" pitchFamily="34" charset="-122"/>
                <a:cs typeface="Meiryo UI" pitchFamily="34" charset="-120"/>
              </a:rPr>
              <a:t>格付けの条件</a:t>
            </a:r>
            <a:endParaRPr lang="en-US" sz="850" dirty="0"/>
          </a:p>
        </p:txBody>
      </p:sp>
      <p:sp>
        <p:nvSpPr>
          <p:cNvPr id="93" name="ovl_s18_glab0"/>
          <p:cNvSpPr txBox="1"/>
          <p:nvPr/>
        </p:nvSpPr>
        <p:spPr>
          <a:xfrm>
            <a:off x="2618232" y="1828800"/>
            <a:ext cx="552704" cy="164592"/>
          </a:xfrm>
          <a:prstGeom prst="rect">
            <a:avLst/>
          </a:prstGeom>
          <a:solidFill>
            <a:srgbClr val="FFFFFF"/>
          </a:solidFill>
          <a:ln/>
        </p:spPr>
        <p:txBody>
          <a:bodyPr wrap="square" lIns="0" tIns="0" rIns="0" bIns="0" rtlCol="0" anchor="ctr"/>
          <a:lstStyle/>
          <a:p>
            <a:pPr algn="ctr" indent="0" marL="0">
              <a:buNone/>
            </a:pPr>
            <a:r>
              <a:rPr lang="en-US" sz="800" b="1" dirty="0">
                <a:solidFill>
                  <a:srgbClr val="197A56"/>
                </a:solidFill>
                <a:latin typeface="Meiryo UI" pitchFamily="34" charset="0"/>
                <a:ea typeface="Meiryo UI" pitchFamily="34" charset="-122"/>
                <a:cs typeface="Meiryo UI" pitchFamily="34" charset="-120"/>
              </a:rPr>
              <a:t>資金の源</a:t>
            </a:r>
            <a:endParaRPr lang="en-US" sz="800" dirty="0"/>
          </a:p>
        </p:txBody>
      </p:sp>
      <p:sp>
        <p:nvSpPr>
          <p:cNvPr id="94" name="ovl_s18_glab1"/>
          <p:cNvSpPr txBox="1"/>
          <p:nvPr/>
        </p:nvSpPr>
        <p:spPr>
          <a:xfrm>
            <a:off x="4843272" y="1828800"/>
            <a:ext cx="755904" cy="164592"/>
          </a:xfrm>
          <a:prstGeom prst="rect">
            <a:avLst/>
          </a:prstGeom>
          <a:solidFill>
            <a:srgbClr val="FFFFFF"/>
          </a:solidFill>
          <a:ln/>
        </p:spPr>
        <p:txBody>
          <a:bodyPr wrap="square" lIns="0" tIns="0" rIns="0" bIns="0" rtlCol="0" anchor="ctr"/>
          <a:lstStyle/>
          <a:p>
            <a:pPr algn="ctr" indent="0" marL="0">
              <a:buNone/>
            </a:pPr>
            <a:r>
              <a:rPr lang="en-US" sz="800" b="1" dirty="0">
                <a:solidFill>
                  <a:srgbClr val="197A56"/>
                </a:solidFill>
                <a:latin typeface="Meiryo UI" pitchFamily="34" charset="0"/>
                <a:ea typeface="Meiryo UI" pitchFamily="34" charset="-122"/>
                <a:cs typeface="Meiryo UI" pitchFamily="34" charset="-120"/>
              </a:rPr>
              <a:t>使い道と結果</a:t>
            </a:r>
            <a:endParaRPr lang="en-US" sz="800" dirty="0"/>
          </a:p>
        </p:txBody>
      </p:sp>
      <p:sp>
        <p:nvSpPr>
          <p:cNvPr id="95" name="ovl_s18_leg0"/>
          <p:cNvSpPr/>
          <p:nvPr/>
        </p:nvSpPr>
        <p:spPr>
          <a:xfrm>
            <a:off x="457200" y="5971032"/>
            <a:ext cx="365760" cy="914"/>
          </a:xfrm>
          <a:prstGeom prst="line">
            <a:avLst/>
          </a:prstGeom>
          <a:noFill/>
          <a:ln w="22225">
            <a:solidFill>
              <a:srgbClr val="0E4D33"/>
            </a:solidFill>
            <a:prstDash val="solid"/>
            <a:tailEnd type="triangle"/>
          </a:ln>
        </p:spPr>
      </p:sp>
      <p:sp>
        <p:nvSpPr>
          <p:cNvPr id="96" name="ovl_s18_legt0"/>
          <p:cNvSpPr txBox="1"/>
          <p:nvPr/>
        </p:nvSpPr>
        <p:spPr>
          <a:xfrm>
            <a:off x="87782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カネ</a:t>
            </a:r>
            <a:endParaRPr lang="en-US" sz="800" dirty="0"/>
          </a:p>
        </p:txBody>
      </p:sp>
      <p:sp>
        <p:nvSpPr>
          <p:cNvPr id="97" name="ovl_s18_leg1"/>
          <p:cNvSpPr/>
          <p:nvPr/>
        </p:nvSpPr>
        <p:spPr>
          <a:xfrm>
            <a:off x="1874520" y="5971032"/>
            <a:ext cx="365760" cy="914"/>
          </a:xfrm>
          <a:prstGeom prst="line">
            <a:avLst/>
          </a:prstGeom>
          <a:noFill/>
          <a:ln w="19050">
            <a:solidFill>
              <a:srgbClr val="1BA1A6"/>
            </a:solidFill>
            <a:prstDash val="solid"/>
            <a:tailEnd type="triangle"/>
          </a:ln>
        </p:spPr>
      </p:sp>
      <p:sp>
        <p:nvSpPr>
          <p:cNvPr id="98" name="ovl_s18_legt1"/>
          <p:cNvSpPr txBox="1"/>
          <p:nvPr/>
        </p:nvSpPr>
        <p:spPr>
          <a:xfrm>
            <a:off x="229514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モノ・サービス</a:t>
            </a:r>
            <a:endParaRPr lang="en-US" sz="800" dirty="0"/>
          </a:p>
        </p:txBody>
      </p:sp>
      <p:sp>
        <p:nvSpPr>
          <p:cNvPr id="99" name="ovl_s18_leg2"/>
          <p:cNvSpPr/>
          <p:nvPr/>
        </p:nvSpPr>
        <p:spPr>
          <a:xfrm>
            <a:off x="3291840" y="5971032"/>
            <a:ext cx="365760" cy="914"/>
          </a:xfrm>
          <a:prstGeom prst="line">
            <a:avLst/>
          </a:prstGeom>
          <a:noFill/>
          <a:ln w="12700">
            <a:solidFill>
              <a:srgbClr val="767676"/>
            </a:solidFill>
            <a:prstDash val="sysDash"/>
            <a:tailEnd type="triangle"/>
          </a:ln>
        </p:spPr>
      </p:sp>
      <p:sp>
        <p:nvSpPr>
          <p:cNvPr id="100" name="ovl_s18_legt2"/>
          <p:cNvSpPr txBox="1"/>
          <p:nvPr/>
        </p:nvSpPr>
        <p:spPr>
          <a:xfrm>
            <a:off x="371246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契約・統治</a:t>
            </a:r>
            <a:endParaRPr lang="en-US" sz="800" dirty="0"/>
          </a:p>
        </p:txBody>
      </p:sp>
      <p:sp>
        <p:nvSpPr>
          <p:cNvPr id="101" name="ovl_s18_legn"/>
          <p:cNvSpPr txBox="1"/>
          <p:nvPr/>
        </p:nvSpPr>
        <p:spPr>
          <a:xfrm>
            <a:off x="6126480" y="5870448"/>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102"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103" name="mech"/>
          <p:cNvSpPr txBox="1"/>
          <p:nvPr/>
        </p:nvSpPr>
        <p:spPr>
          <a:xfrm>
            <a:off x="8458200" y="1810512"/>
            <a:ext cx="3276295" cy="2569972"/>
          </a:xfrm>
          <a:prstGeom prst="rect">
            <a:avLst/>
          </a:prstGeom>
          <a:noFill/>
          <a:ln/>
        </p:spPr>
        <p:txBody>
          <a:bodyPr wrap="square" lIns="381" tIns="381" rIns="381" bIns="381" rtlCol="0" anchor="t"/>
          <a:lstStyle/>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① </a:t>
            </a:r>
            <a:r>
              <a:rPr lang="en-US" sz="1100" dirty="0">
                <a:solidFill>
                  <a:srgbClr val="333333"/>
                </a:solidFill>
                <a:latin typeface="Meiryo UI" pitchFamily="34" charset="0"/>
                <a:ea typeface="Meiryo UI" pitchFamily="34" charset="-122"/>
                <a:cs typeface="Meiryo UI" pitchFamily="34" charset="-120"/>
              </a:rPr>
              <a:t>コアの利益(税引後 230 億ドル)が capex の自己資金の柱になる</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② </a:t>
            </a:r>
            <a:r>
              <a:rPr lang="en-US" sz="1100" dirty="0">
                <a:solidFill>
                  <a:srgbClr val="333333"/>
                </a:solidFill>
                <a:latin typeface="Meiryo UI" pitchFamily="34" charset="0"/>
                <a:ea typeface="Meiryo UI" pitchFamily="34" charset="-122"/>
                <a:cs typeface="Meiryo UI" pitchFamily="34" charset="-120"/>
              </a:rPr>
              <a:t>AI 研究所が GPU 代の約 24% を前払いし、前受収益は 1 年で倍増(154 → 308 億ドル)</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③ </a:t>
            </a:r>
            <a:r>
              <a:rPr lang="en-US" sz="1100" dirty="0">
                <a:solidFill>
                  <a:srgbClr val="333333"/>
                </a:solidFill>
                <a:latin typeface="Meiryo UI" pitchFamily="34" charset="0"/>
                <a:ea typeface="Meiryo UI" pitchFamily="34" charset="-122"/>
                <a:cs typeface="Meiryo UI" pitchFamily="34" charset="-120"/>
              </a:rPr>
              <a:t>建屋と電力は開発事業者が資金を出し、Oracle は 15〜19 年の賃料で借りる(未開始 2,880 億ドル)</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④ </a:t>
            </a:r>
            <a:r>
              <a:rPr lang="en-US" sz="1100" dirty="0">
                <a:solidFill>
                  <a:srgbClr val="333333"/>
                </a:solidFill>
                <a:latin typeface="Meiryo UI" pitchFamily="34" charset="0"/>
                <a:ea typeface="Meiryo UI" pitchFamily="34" charset="-122"/>
                <a:cs typeface="Meiryo UI" pitchFamily="34" charset="-120"/>
              </a:rPr>
              <a:t>残りは社債・優先株・ATM で調達。</a:t>
            </a:r>
            <a:br/>
            <a:r>
              <a:rPr lang="en-US" sz="1100" dirty="0">
                <a:solidFill>
                  <a:srgbClr val="333333"/>
                </a:solidFill>
                <a:latin typeface="Meiryo UI" pitchFamily="34" charset="0"/>
                <a:ea typeface="Meiryo UI" pitchFamily="34" charset="-122"/>
                <a:cs typeface="Meiryo UI" pitchFamily="34" charset="-120"/>
              </a:rPr>
              <a:t>全社 FCF はエンジンで FY29 まで赤字(FY29 −135 億ドル)</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⑤ </a:t>
            </a:r>
            <a:r>
              <a:rPr lang="en-US" sz="1100" dirty="0">
                <a:solidFill>
                  <a:srgbClr val="333333"/>
                </a:solidFill>
                <a:latin typeface="Meiryo UI" pitchFamily="34" charset="0"/>
                <a:ea typeface="Meiryo UI" pitchFamily="34" charset="-122"/>
                <a:cs typeface="Meiryo UI" pitchFamily="34" charset="-120"/>
              </a:rPr>
              <a:t>S&amp;P は FY29 までの FOCF 黒字化を、格付け維持の条件にする。S&amp;P とコンセンサスは FY29 に黒字</a:t>
            </a:r>
            <a:endParaRPr lang="en-US" sz="1100" dirty="0"/>
          </a:p>
        </p:txBody>
      </p:sp>
      <p:sp>
        <p:nvSpPr>
          <p:cNvPr id="104" name="ovl_takeaway_bg"/>
          <p:cNvSpPr/>
          <p:nvPr/>
        </p:nvSpPr>
        <p:spPr>
          <a:xfrm>
            <a:off x="8458200" y="4453636"/>
            <a:ext cx="3276295" cy="971804"/>
          </a:xfrm>
          <a:prstGeom prst="rect">
            <a:avLst/>
          </a:prstGeom>
          <a:solidFill>
            <a:srgbClr val="EAF4EE"/>
          </a:solidFill>
          <a:ln w="12700">
            <a:solidFill>
              <a:srgbClr val="EAF4EE"/>
            </a:solidFill>
            <a:prstDash val="solid"/>
          </a:ln>
        </p:spPr>
      </p:sp>
      <p:sp>
        <p:nvSpPr>
          <p:cNvPr id="105" name="takeaway"/>
          <p:cNvSpPr txBox="1"/>
          <p:nvPr/>
        </p:nvSpPr>
        <p:spPr>
          <a:xfrm>
            <a:off x="8567928" y="4526788"/>
            <a:ext cx="3056839" cy="825500"/>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コアの現金は潤沢で、投資の多くは</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外部化されている。ただし自己資金で</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賄えない期間が FY29 まで続くため B</a:t>
            </a:r>
            <a:endParaRPr lang="en-US" sz="1000" dirty="0"/>
          </a:p>
        </p:txBody>
      </p:sp>
      <p:sp>
        <p:nvSpPr>
          <p:cNvPr id="106" name="updown"/>
          <p:cNvSpPr txBox="1"/>
          <p:nvPr/>
        </p:nvSpPr>
        <p:spPr>
          <a:xfrm>
            <a:off x="8458200" y="5498592"/>
            <a:ext cx="3276295" cy="59131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前払いの比率が 30% を超え、FCF の黒字化が FY28 に早まれば A</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FY29 の FCF が赤字のまま</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BB+ に格下げされれば C</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3-1 稼ぐ力(条件1〜3)(3/3)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207772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20777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技術の AI 転用(条件3)</a:t>
            </a:r>
            <a:endParaRPr lang="en-US" sz="1000" dirty="0"/>
          </a:p>
        </p:txBody>
      </p:sp>
      <p:sp>
        <p:nvSpPr>
          <p:cNvPr id="14" name="hdr_why"/>
          <p:cNvSpPr txBox="1"/>
          <p:nvPr/>
        </p:nvSpPr>
        <p:spPr>
          <a:xfrm>
            <a:off x="2681224" y="356616"/>
            <a:ext cx="905327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既存の技術と顧客が AI 事業で成果を生んでいれば、新規参入より有利に伸びる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DB とネットワークの技術が OCI(+121%)と Database@(+353%)に</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転用され、増収の主因になった</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左から: 既存の資産 → 転用の経路 → 新しい収益 ← 顧客。①〜④ は右と対応。数値は Q1 FY27</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会社開示(Q1 FY27)、research3/W6_database_at.md、research3/W8_aws_vs_commodity.md、report/r3_sections_5w1h_f20.md §2-0</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23</a:t>
            </a:r>
            <a:endParaRPr lang="en-US" sz="800" dirty="0"/>
          </a:p>
        </p:txBody>
      </p:sp>
      <p:sp>
        <p:nvSpPr>
          <p:cNvPr id="19" name="ovl_badge"/>
          <p:cNvSpPr/>
          <p:nvPr/>
        </p:nvSpPr>
        <p:spPr>
          <a:xfrm>
            <a:off x="10865815" y="649224"/>
            <a:ext cx="868680" cy="677570"/>
          </a:xfrm>
          <a:prstGeom prst="roundRect">
            <a:avLst>
              <a:gd name="adj" fmla="val 10796"/>
            </a:avLst>
          </a:prstGeom>
          <a:solidFill>
            <a:srgbClr val="197A56"/>
          </a:solidFill>
          <a:ln w="12700">
            <a:solidFill>
              <a:srgbClr val="197A56"/>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FFFFFF"/>
                </a:solidFill>
                <a:latin typeface="Meiryo UI" pitchFamily="34" charset="0"/>
                <a:ea typeface="Meiryo UI" pitchFamily="34" charset="-122"/>
                <a:cs typeface="Meiryo UI" pitchFamily="34" charset="-120"/>
              </a:rPr>
              <a:t>A</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FFFFFF"/>
                </a:solidFill>
                <a:latin typeface="Meiryo UI" pitchFamily="34" charset="0"/>
                <a:ea typeface="Meiryo UI" pitchFamily="34" charset="-122"/>
                <a:cs typeface="Meiryo UI" pitchFamily="34" charset="-120"/>
              </a:rPr>
              <a:t>条件3</a:t>
            </a:r>
            <a:endParaRPr lang="en-US" sz="800" dirty="0"/>
          </a:p>
        </p:txBody>
      </p:sp>
      <p:sp>
        <p:nvSpPr>
          <p:cNvPr id="22" name="bg_lane0"/>
          <p:cNvSpPr/>
          <p:nvPr/>
        </p:nvSpPr>
        <p:spPr>
          <a:xfrm>
            <a:off x="347472" y="1517904"/>
            <a:ext cx="1453896" cy="4315968"/>
          </a:xfrm>
          <a:prstGeom prst="rect">
            <a:avLst/>
          </a:prstGeom>
          <a:solidFill>
            <a:srgbClr val="F2F2F2"/>
          </a:solidFill>
          <a:ln w="12700">
            <a:solidFill>
              <a:srgbClr val="F2F2F2"/>
            </a:solidFill>
            <a:prstDash val="solid"/>
          </a:ln>
        </p:spPr>
      </p:sp>
      <p:sp>
        <p:nvSpPr>
          <p:cNvPr id="23" name="bg_laneh0"/>
          <p:cNvSpPr/>
          <p:nvPr/>
        </p:nvSpPr>
        <p:spPr>
          <a:xfrm>
            <a:off x="347472" y="1517904"/>
            <a:ext cx="1453896" cy="274320"/>
          </a:xfrm>
          <a:prstGeom prst="rect">
            <a:avLst/>
          </a:prstGeom>
          <a:solidFill>
            <a:srgbClr val="D9D9D9"/>
          </a:solidFill>
          <a:ln w="12700">
            <a:solidFill>
              <a:srgbClr val="D9D9D9"/>
            </a:solidFill>
            <a:prstDash val="solid"/>
          </a:ln>
        </p:spPr>
      </p:sp>
      <p:sp>
        <p:nvSpPr>
          <p:cNvPr id="24" name="bg_lanet0"/>
          <p:cNvSpPr txBox="1"/>
          <p:nvPr/>
        </p:nvSpPr>
        <p:spPr>
          <a:xfrm>
            <a:off x="347472" y="1517904"/>
            <a:ext cx="145389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既存の資産</a:t>
            </a:r>
            <a:endParaRPr lang="en-US" sz="950" dirty="0"/>
          </a:p>
        </p:txBody>
      </p:sp>
      <p:sp>
        <p:nvSpPr>
          <p:cNvPr id="25" name="bg_lane1"/>
          <p:cNvSpPr/>
          <p:nvPr/>
        </p:nvSpPr>
        <p:spPr>
          <a:xfrm>
            <a:off x="2542032" y="1517904"/>
            <a:ext cx="3739896" cy="4315968"/>
          </a:xfrm>
          <a:prstGeom prst="rect">
            <a:avLst/>
          </a:prstGeom>
          <a:solidFill>
            <a:srgbClr val="EAF4EE"/>
          </a:solidFill>
          <a:ln w="12700">
            <a:solidFill>
              <a:srgbClr val="EAF4EE"/>
            </a:solidFill>
            <a:prstDash val="solid"/>
          </a:ln>
        </p:spPr>
      </p:sp>
      <p:sp>
        <p:nvSpPr>
          <p:cNvPr id="26" name="bg_laneh1"/>
          <p:cNvSpPr/>
          <p:nvPr/>
        </p:nvSpPr>
        <p:spPr>
          <a:xfrm>
            <a:off x="2542032" y="1517904"/>
            <a:ext cx="3739896" cy="274320"/>
          </a:xfrm>
          <a:prstGeom prst="rect">
            <a:avLst/>
          </a:prstGeom>
          <a:solidFill>
            <a:srgbClr val="197A56"/>
          </a:solidFill>
          <a:ln w="12700">
            <a:solidFill>
              <a:srgbClr val="197A56"/>
            </a:solidFill>
            <a:prstDash val="solid"/>
          </a:ln>
        </p:spPr>
      </p:sp>
      <p:sp>
        <p:nvSpPr>
          <p:cNvPr id="27" name="bg_lanet1"/>
          <p:cNvSpPr txBox="1"/>
          <p:nvPr/>
        </p:nvSpPr>
        <p:spPr>
          <a:xfrm>
            <a:off x="2542032" y="1517904"/>
            <a:ext cx="373989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 の転用と成果</a:t>
            </a:r>
            <a:endParaRPr lang="en-US" sz="950" dirty="0"/>
          </a:p>
        </p:txBody>
      </p:sp>
      <p:sp>
        <p:nvSpPr>
          <p:cNvPr id="28" name="bg_lane2"/>
          <p:cNvSpPr/>
          <p:nvPr/>
        </p:nvSpPr>
        <p:spPr>
          <a:xfrm>
            <a:off x="7022592" y="1517904"/>
            <a:ext cx="1362456" cy="4315968"/>
          </a:xfrm>
          <a:prstGeom prst="rect">
            <a:avLst/>
          </a:prstGeom>
          <a:solidFill>
            <a:srgbClr val="F2F2F2"/>
          </a:solidFill>
          <a:ln w="12700">
            <a:solidFill>
              <a:srgbClr val="F2F2F2"/>
            </a:solidFill>
            <a:prstDash val="solid"/>
          </a:ln>
        </p:spPr>
      </p:sp>
      <p:sp>
        <p:nvSpPr>
          <p:cNvPr id="29" name="bg_laneh2"/>
          <p:cNvSpPr/>
          <p:nvPr/>
        </p:nvSpPr>
        <p:spPr>
          <a:xfrm>
            <a:off x="7022592" y="1517904"/>
            <a:ext cx="1362456" cy="274320"/>
          </a:xfrm>
          <a:prstGeom prst="rect">
            <a:avLst/>
          </a:prstGeom>
          <a:solidFill>
            <a:srgbClr val="D9D9D9"/>
          </a:solidFill>
          <a:ln w="12700">
            <a:solidFill>
              <a:srgbClr val="D9D9D9"/>
            </a:solidFill>
            <a:prstDash val="solid"/>
          </a:ln>
        </p:spPr>
      </p:sp>
      <p:sp>
        <p:nvSpPr>
          <p:cNvPr id="30" name="bg_lanet2"/>
          <p:cNvSpPr txBox="1"/>
          <p:nvPr/>
        </p:nvSpPr>
        <p:spPr>
          <a:xfrm>
            <a:off x="7022592" y="1517904"/>
            <a:ext cx="136245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顧客</a:t>
            </a:r>
            <a:endParaRPr lang="en-US" sz="950" dirty="0"/>
          </a:p>
        </p:txBody>
      </p:sp>
      <p:sp>
        <p:nvSpPr>
          <p:cNvPr id="31" name="ovl_grp0"/>
          <p:cNvSpPr/>
          <p:nvPr/>
        </p:nvSpPr>
        <p:spPr>
          <a:xfrm>
            <a:off x="2587752" y="1911096"/>
            <a:ext cx="1408176" cy="3877056"/>
          </a:xfrm>
          <a:prstGeom prst="roundRect">
            <a:avLst>
              <a:gd name="adj" fmla="val 3896"/>
            </a:avLst>
          </a:prstGeom>
          <a:solidFill>
            <a:srgbClr val="FFFFFF">
              <a:alpha val="0"/>
            </a:srgbClr>
          </a:solidFill>
          <a:ln w="12700">
            <a:solidFill>
              <a:srgbClr val="197A56"/>
            </a:solidFill>
            <a:prstDash val="dash"/>
          </a:ln>
        </p:spPr>
      </p:sp>
      <p:sp>
        <p:nvSpPr>
          <p:cNvPr id="32" name="ovl_grp1"/>
          <p:cNvSpPr/>
          <p:nvPr/>
        </p:nvSpPr>
        <p:spPr>
          <a:xfrm>
            <a:off x="4828032" y="1911096"/>
            <a:ext cx="1408176" cy="3877056"/>
          </a:xfrm>
          <a:prstGeom prst="roundRect">
            <a:avLst>
              <a:gd name="adj" fmla="val 3896"/>
            </a:avLst>
          </a:prstGeom>
          <a:solidFill>
            <a:srgbClr val="FFFFFF">
              <a:alpha val="0"/>
            </a:srgbClr>
          </a:solidFill>
          <a:ln w="12700">
            <a:solidFill>
              <a:srgbClr val="197A56"/>
            </a:solidFill>
            <a:prstDash val="dash"/>
          </a:ln>
        </p:spPr>
      </p:sp>
      <p:sp>
        <p:nvSpPr>
          <p:cNvPr id="33" name="ovl_s19_e0_0"/>
          <p:cNvSpPr/>
          <p:nvPr/>
        </p:nvSpPr>
        <p:spPr>
          <a:xfrm>
            <a:off x="1691640" y="2538984"/>
            <a:ext cx="960120" cy="914"/>
          </a:xfrm>
          <a:prstGeom prst="line">
            <a:avLst/>
          </a:prstGeom>
          <a:noFill/>
          <a:ln w="19050">
            <a:solidFill>
              <a:srgbClr val="1BA1A6"/>
            </a:solidFill>
            <a:prstDash val="solid"/>
            <a:tailEnd type="triangle"/>
          </a:ln>
        </p:spPr>
      </p:sp>
      <p:sp>
        <p:nvSpPr>
          <p:cNvPr id="34" name="ovl_s19_e1_0"/>
          <p:cNvSpPr/>
          <p:nvPr/>
        </p:nvSpPr>
        <p:spPr>
          <a:xfrm>
            <a:off x="1691640" y="3849624"/>
            <a:ext cx="960120" cy="914"/>
          </a:xfrm>
          <a:prstGeom prst="line">
            <a:avLst/>
          </a:prstGeom>
          <a:noFill/>
          <a:ln w="19050">
            <a:solidFill>
              <a:srgbClr val="1BA1A6"/>
            </a:solidFill>
            <a:prstDash val="solid"/>
            <a:tailEnd type="triangle"/>
          </a:ln>
        </p:spPr>
      </p:sp>
      <p:sp>
        <p:nvSpPr>
          <p:cNvPr id="35" name="ovl_s19_e2_0"/>
          <p:cNvSpPr/>
          <p:nvPr/>
        </p:nvSpPr>
        <p:spPr>
          <a:xfrm>
            <a:off x="1691640" y="5160264"/>
            <a:ext cx="960120" cy="914"/>
          </a:xfrm>
          <a:prstGeom prst="line">
            <a:avLst/>
          </a:prstGeom>
          <a:noFill/>
          <a:ln w="19050">
            <a:solidFill>
              <a:srgbClr val="1BA1A6"/>
            </a:solidFill>
            <a:prstDash val="solid"/>
            <a:tailEnd type="triangle"/>
          </a:ln>
        </p:spPr>
      </p:sp>
      <p:sp>
        <p:nvSpPr>
          <p:cNvPr id="36" name="ovl_s19_e3_0"/>
          <p:cNvSpPr/>
          <p:nvPr/>
        </p:nvSpPr>
        <p:spPr>
          <a:xfrm>
            <a:off x="3931920" y="2538984"/>
            <a:ext cx="960120" cy="914"/>
          </a:xfrm>
          <a:prstGeom prst="line">
            <a:avLst/>
          </a:prstGeom>
          <a:noFill/>
          <a:ln w="22225">
            <a:solidFill>
              <a:srgbClr val="0E4D33"/>
            </a:solidFill>
            <a:prstDash val="solid"/>
            <a:tailEnd type="triangle"/>
          </a:ln>
        </p:spPr>
      </p:sp>
      <p:sp>
        <p:nvSpPr>
          <p:cNvPr id="37" name="ovl_s19_e4_0"/>
          <p:cNvSpPr/>
          <p:nvPr/>
        </p:nvSpPr>
        <p:spPr>
          <a:xfrm>
            <a:off x="3931920" y="3849624"/>
            <a:ext cx="960120" cy="914"/>
          </a:xfrm>
          <a:prstGeom prst="line">
            <a:avLst/>
          </a:prstGeom>
          <a:noFill/>
          <a:ln w="22225">
            <a:solidFill>
              <a:srgbClr val="0E4D33"/>
            </a:solidFill>
            <a:prstDash val="solid"/>
            <a:tailEnd type="triangle"/>
          </a:ln>
        </p:spPr>
      </p:sp>
      <p:sp>
        <p:nvSpPr>
          <p:cNvPr id="38" name="ovl_s19_e5_0"/>
          <p:cNvSpPr/>
          <p:nvPr/>
        </p:nvSpPr>
        <p:spPr>
          <a:xfrm>
            <a:off x="3931920" y="5160264"/>
            <a:ext cx="960120" cy="914"/>
          </a:xfrm>
          <a:prstGeom prst="line">
            <a:avLst/>
          </a:prstGeom>
          <a:noFill/>
          <a:ln w="22225">
            <a:solidFill>
              <a:srgbClr val="0E4D33"/>
            </a:solidFill>
            <a:prstDash val="solid"/>
            <a:tailEnd type="triangle"/>
          </a:ln>
        </p:spPr>
      </p:sp>
      <p:sp>
        <p:nvSpPr>
          <p:cNvPr id="39" name="ovl_s19_e6_0"/>
          <p:cNvSpPr/>
          <p:nvPr/>
        </p:nvSpPr>
        <p:spPr>
          <a:xfrm flipH="1">
            <a:off x="6172200" y="2538984"/>
            <a:ext cx="960120" cy="914"/>
          </a:xfrm>
          <a:prstGeom prst="line">
            <a:avLst/>
          </a:prstGeom>
          <a:noFill/>
          <a:ln w="22225">
            <a:solidFill>
              <a:srgbClr val="0E4D33"/>
            </a:solidFill>
            <a:prstDash val="solid"/>
            <a:tailEnd type="triangle"/>
          </a:ln>
        </p:spPr>
      </p:sp>
      <p:sp>
        <p:nvSpPr>
          <p:cNvPr id="40" name="ovl_s19_e7_0"/>
          <p:cNvSpPr/>
          <p:nvPr/>
        </p:nvSpPr>
        <p:spPr>
          <a:xfrm flipH="1">
            <a:off x="6172200" y="3849624"/>
            <a:ext cx="960120" cy="914"/>
          </a:xfrm>
          <a:prstGeom prst="line">
            <a:avLst/>
          </a:prstGeom>
          <a:noFill/>
          <a:ln w="22225">
            <a:solidFill>
              <a:srgbClr val="0E4D33"/>
            </a:solidFill>
            <a:prstDash val="solid"/>
            <a:tailEnd type="triangle"/>
          </a:ln>
        </p:spPr>
      </p:sp>
      <p:sp>
        <p:nvSpPr>
          <p:cNvPr id="41" name="ovl_s19_e8_0"/>
          <p:cNvSpPr/>
          <p:nvPr/>
        </p:nvSpPr>
        <p:spPr>
          <a:xfrm flipH="1">
            <a:off x="6172200" y="5160264"/>
            <a:ext cx="960120" cy="914"/>
          </a:xfrm>
          <a:prstGeom prst="line">
            <a:avLst/>
          </a:prstGeom>
          <a:noFill/>
          <a:ln w="22225">
            <a:solidFill>
              <a:srgbClr val="0E4D33"/>
            </a:solidFill>
            <a:prstDash val="solid"/>
            <a:tailEnd type="triangle"/>
          </a:ln>
        </p:spPr>
      </p:sp>
      <p:sp>
        <p:nvSpPr>
          <p:cNvPr id="42" name="ovl_s19_n_dbt"/>
          <p:cNvSpPr/>
          <p:nvPr/>
        </p:nvSpPr>
        <p:spPr>
          <a:xfrm>
            <a:off x="457200" y="2136648"/>
            <a:ext cx="1234440" cy="804672"/>
          </a:xfrm>
          <a:prstGeom prst="roundRect">
            <a:avLst>
              <a:gd name="adj" fmla="val 6818"/>
            </a:avLst>
          </a:prstGeom>
          <a:solidFill>
            <a:srgbClr val="EAF4EE"/>
          </a:solidFill>
          <a:ln w="9525">
            <a:solidFill>
              <a:srgbClr val="86C99B"/>
            </a:solidFill>
            <a:prstDash val="solid"/>
          </a:ln>
        </p:spPr>
      </p:sp>
      <p:sp>
        <p:nvSpPr>
          <p:cNvPr id="43" name="ovl_s19_nt_dbt"/>
          <p:cNvSpPr txBox="1"/>
          <p:nvPr/>
        </p:nvSpPr>
        <p:spPr>
          <a:xfrm>
            <a:off x="493776" y="2164080"/>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Oracle Database</a:t>
            </a:r>
            <a:endParaRPr lang="en-US" sz="1000" dirty="0"/>
          </a:p>
        </p:txBody>
      </p:sp>
      <p:sp>
        <p:nvSpPr>
          <p:cNvPr id="44" name="ovl_s19_ns_dbt"/>
          <p:cNvSpPr txBox="1"/>
          <p:nvPr/>
        </p:nvSpPr>
        <p:spPr>
          <a:xfrm>
            <a:off x="502920" y="2369820"/>
            <a:ext cx="1143000" cy="54406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Exadata・</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Autonomous</a:t>
            </a:r>
            <a:endParaRPr lang="en-US" sz="850" dirty="0"/>
          </a:p>
        </p:txBody>
      </p:sp>
      <p:sp>
        <p:nvSpPr>
          <p:cNvPr id="45" name="ovl_s19_n_net"/>
          <p:cNvSpPr/>
          <p:nvPr/>
        </p:nvSpPr>
        <p:spPr>
          <a:xfrm>
            <a:off x="457200" y="3447288"/>
            <a:ext cx="1234440" cy="804672"/>
          </a:xfrm>
          <a:prstGeom prst="roundRect">
            <a:avLst>
              <a:gd name="adj" fmla="val 6818"/>
            </a:avLst>
          </a:prstGeom>
          <a:solidFill>
            <a:srgbClr val="EAF4EE"/>
          </a:solidFill>
          <a:ln w="9525">
            <a:solidFill>
              <a:srgbClr val="86C99B"/>
            </a:solidFill>
            <a:prstDash val="solid"/>
          </a:ln>
        </p:spPr>
      </p:sp>
      <p:sp>
        <p:nvSpPr>
          <p:cNvPr id="46" name="ovl_s19_nt_net"/>
          <p:cNvSpPr txBox="1"/>
          <p:nvPr/>
        </p:nvSpPr>
        <p:spPr>
          <a:xfrm>
            <a:off x="493776" y="3474720"/>
            <a:ext cx="1161288" cy="205740"/>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RDMA ネットワーク</a:t>
            </a:r>
            <a:endParaRPr lang="en-US" sz="900" dirty="0"/>
          </a:p>
        </p:txBody>
      </p:sp>
      <p:sp>
        <p:nvSpPr>
          <p:cNvPr id="47" name="ovl_s19_ns_net"/>
          <p:cNvSpPr txBox="1"/>
          <p:nvPr/>
        </p:nvSpPr>
        <p:spPr>
          <a:xfrm>
            <a:off x="502920" y="3680460"/>
            <a:ext cx="1143000" cy="54406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Exadata 由来の</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低遅延の網</a:t>
            </a:r>
            <a:endParaRPr lang="en-US" sz="850" dirty="0"/>
          </a:p>
        </p:txBody>
      </p:sp>
      <p:sp>
        <p:nvSpPr>
          <p:cNvPr id="48" name="ovl_s19_n_data"/>
          <p:cNvSpPr/>
          <p:nvPr/>
        </p:nvSpPr>
        <p:spPr>
          <a:xfrm>
            <a:off x="457200" y="4757928"/>
            <a:ext cx="1234440" cy="804672"/>
          </a:xfrm>
          <a:prstGeom prst="roundRect">
            <a:avLst>
              <a:gd name="adj" fmla="val 6818"/>
            </a:avLst>
          </a:prstGeom>
          <a:solidFill>
            <a:srgbClr val="EAF4EE"/>
          </a:solidFill>
          <a:ln w="9525">
            <a:solidFill>
              <a:srgbClr val="86C99B"/>
            </a:solidFill>
            <a:prstDash val="solid"/>
          </a:ln>
        </p:spPr>
      </p:sp>
      <p:sp>
        <p:nvSpPr>
          <p:cNvPr id="49" name="ovl_s19_nt_data"/>
          <p:cNvSpPr txBox="1"/>
          <p:nvPr/>
        </p:nvSpPr>
        <p:spPr>
          <a:xfrm>
            <a:off x="493776" y="4785360"/>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既存顧客のデータ</a:t>
            </a:r>
            <a:endParaRPr lang="en-US" sz="1000" dirty="0"/>
          </a:p>
        </p:txBody>
      </p:sp>
      <p:sp>
        <p:nvSpPr>
          <p:cNvPr id="50" name="ovl_s19_ns_data"/>
          <p:cNvSpPr txBox="1"/>
          <p:nvPr/>
        </p:nvSpPr>
        <p:spPr>
          <a:xfrm>
            <a:off x="502920" y="4991100"/>
            <a:ext cx="1143000" cy="54406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DB 内の基幹データ</a:t>
            </a:r>
            <a:endParaRPr lang="en-US" sz="850" dirty="0"/>
          </a:p>
        </p:txBody>
      </p:sp>
      <p:sp>
        <p:nvSpPr>
          <p:cNvPr id="51" name="ovl_s19_n_dbat"/>
          <p:cNvSpPr/>
          <p:nvPr/>
        </p:nvSpPr>
        <p:spPr>
          <a:xfrm>
            <a:off x="2651760" y="2136648"/>
            <a:ext cx="1280160" cy="804672"/>
          </a:xfrm>
          <a:prstGeom prst="roundRect">
            <a:avLst>
              <a:gd name="adj" fmla="val 6818"/>
            </a:avLst>
          </a:prstGeom>
          <a:solidFill>
            <a:srgbClr val="FFFFFF"/>
          </a:solidFill>
          <a:ln w="19050">
            <a:solidFill>
              <a:srgbClr val="197A56"/>
            </a:solidFill>
            <a:prstDash val="solid"/>
          </a:ln>
        </p:spPr>
      </p:sp>
      <p:sp>
        <p:nvSpPr>
          <p:cNvPr id="52" name="ovl_s19_nt_dbat"/>
          <p:cNvSpPr txBox="1"/>
          <p:nvPr/>
        </p:nvSpPr>
        <p:spPr>
          <a:xfrm>
            <a:off x="2688336" y="2164080"/>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Database@</a:t>
            </a:r>
            <a:endParaRPr lang="en-US" sz="1000" dirty="0"/>
          </a:p>
        </p:txBody>
      </p:sp>
      <p:sp>
        <p:nvSpPr>
          <p:cNvPr id="53" name="ovl_s19_ns_dbat"/>
          <p:cNvSpPr txBox="1"/>
          <p:nvPr/>
        </p:nvSpPr>
        <p:spPr>
          <a:xfrm>
            <a:off x="2697480" y="2369820"/>
            <a:ext cx="1188720" cy="54406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他社の DC 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Exadata を設置</a:t>
            </a:r>
            <a:endParaRPr lang="en-US" sz="850" dirty="0"/>
          </a:p>
        </p:txBody>
      </p:sp>
      <p:sp>
        <p:nvSpPr>
          <p:cNvPr id="54" name="ovl_s19_n_cluster"/>
          <p:cNvSpPr/>
          <p:nvPr/>
        </p:nvSpPr>
        <p:spPr>
          <a:xfrm>
            <a:off x="2651760" y="3447288"/>
            <a:ext cx="1280160" cy="804672"/>
          </a:xfrm>
          <a:prstGeom prst="roundRect">
            <a:avLst>
              <a:gd name="adj" fmla="val 6818"/>
            </a:avLst>
          </a:prstGeom>
          <a:solidFill>
            <a:srgbClr val="FFFFFF"/>
          </a:solidFill>
          <a:ln w="19050">
            <a:solidFill>
              <a:srgbClr val="197A56"/>
            </a:solidFill>
            <a:prstDash val="solid"/>
          </a:ln>
        </p:spPr>
      </p:sp>
      <p:sp>
        <p:nvSpPr>
          <p:cNvPr id="55" name="ovl_s19_nt_cluster"/>
          <p:cNvSpPr txBox="1"/>
          <p:nvPr/>
        </p:nvSpPr>
        <p:spPr>
          <a:xfrm>
            <a:off x="2688336" y="3474720"/>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GPU クラスタ</a:t>
            </a:r>
            <a:endParaRPr lang="en-US" sz="1000" dirty="0"/>
          </a:p>
        </p:txBody>
      </p:sp>
      <p:sp>
        <p:nvSpPr>
          <p:cNvPr id="56" name="ovl_s19_ns_cluster"/>
          <p:cNvSpPr txBox="1"/>
          <p:nvPr/>
        </p:nvSpPr>
        <p:spPr>
          <a:xfrm>
            <a:off x="2697480" y="3680460"/>
            <a:ext cx="1188720" cy="54406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RDMA で GPU を</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大規模につなぐ</a:t>
            </a:r>
            <a:endParaRPr lang="en-US" sz="850" dirty="0"/>
          </a:p>
        </p:txBody>
      </p:sp>
      <p:sp>
        <p:nvSpPr>
          <p:cNvPr id="57" name="ovl_s19_n_aidb"/>
          <p:cNvSpPr/>
          <p:nvPr/>
        </p:nvSpPr>
        <p:spPr>
          <a:xfrm>
            <a:off x="2651760" y="4757928"/>
            <a:ext cx="1280160" cy="804672"/>
          </a:xfrm>
          <a:prstGeom prst="roundRect">
            <a:avLst>
              <a:gd name="adj" fmla="val 6818"/>
            </a:avLst>
          </a:prstGeom>
          <a:solidFill>
            <a:srgbClr val="FFFFFF"/>
          </a:solidFill>
          <a:ln w="19050">
            <a:solidFill>
              <a:srgbClr val="197A56"/>
            </a:solidFill>
            <a:prstDash val="solid"/>
          </a:ln>
        </p:spPr>
      </p:sp>
      <p:sp>
        <p:nvSpPr>
          <p:cNvPr id="58" name="ovl_s19_nt_aidb"/>
          <p:cNvSpPr txBox="1"/>
          <p:nvPr/>
        </p:nvSpPr>
        <p:spPr>
          <a:xfrm>
            <a:off x="2688336" y="4785360"/>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Database 26ai</a:t>
            </a:r>
            <a:endParaRPr lang="en-US" sz="1000" dirty="0"/>
          </a:p>
        </p:txBody>
      </p:sp>
      <p:sp>
        <p:nvSpPr>
          <p:cNvPr id="59" name="ovl_s19_ns_aidb"/>
          <p:cNvSpPr txBox="1"/>
          <p:nvPr/>
        </p:nvSpPr>
        <p:spPr>
          <a:xfrm>
            <a:off x="2697480" y="4991100"/>
            <a:ext cx="1188720" cy="54406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DB にベクトル検索・</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エージェントを内蔵</a:t>
            </a:r>
            <a:endParaRPr lang="en-US" sz="850" dirty="0"/>
          </a:p>
        </p:txBody>
      </p:sp>
      <p:sp>
        <p:nvSpPr>
          <p:cNvPr id="60" name="ovl_s19_n_rev1"/>
          <p:cNvSpPr/>
          <p:nvPr/>
        </p:nvSpPr>
        <p:spPr>
          <a:xfrm>
            <a:off x="4892040" y="2136648"/>
            <a:ext cx="1280160" cy="804672"/>
          </a:xfrm>
          <a:prstGeom prst="roundRect">
            <a:avLst>
              <a:gd name="adj" fmla="val 6818"/>
            </a:avLst>
          </a:prstGeom>
          <a:solidFill>
            <a:srgbClr val="197A56"/>
          </a:solidFill>
          <a:ln w="9525">
            <a:solidFill>
              <a:srgbClr val="197A56"/>
            </a:solidFill>
            <a:prstDash val="solid"/>
          </a:ln>
        </p:spPr>
      </p:sp>
      <p:sp>
        <p:nvSpPr>
          <p:cNvPr id="61" name="ovl_s19_nt_rev1"/>
          <p:cNvSpPr txBox="1"/>
          <p:nvPr/>
        </p:nvSpPr>
        <p:spPr>
          <a:xfrm>
            <a:off x="4928616" y="2164080"/>
            <a:ext cx="1207008" cy="20574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マルチクラウド DB</a:t>
            </a:r>
            <a:endParaRPr lang="en-US" sz="1000" dirty="0"/>
          </a:p>
        </p:txBody>
      </p:sp>
      <p:sp>
        <p:nvSpPr>
          <p:cNvPr id="62" name="ovl_s19_ns_rev1"/>
          <p:cNvSpPr txBox="1"/>
          <p:nvPr/>
        </p:nvSpPr>
        <p:spPr>
          <a:xfrm>
            <a:off x="4937760" y="2369820"/>
            <a:ext cx="1188720" cy="544068"/>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売上 +353%</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顧客 +180%</a:t>
            </a:r>
            <a:endParaRPr lang="en-US" sz="850" dirty="0"/>
          </a:p>
        </p:txBody>
      </p:sp>
      <p:sp>
        <p:nvSpPr>
          <p:cNvPr id="63" name="ovl_s19_n_rev2"/>
          <p:cNvSpPr/>
          <p:nvPr/>
        </p:nvSpPr>
        <p:spPr>
          <a:xfrm>
            <a:off x="4892040" y="3447288"/>
            <a:ext cx="1280160" cy="804672"/>
          </a:xfrm>
          <a:prstGeom prst="roundRect">
            <a:avLst>
              <a:gd name="adj" fmla="val 6818"/>
            </a:avLst>
          </a:prstGeom>
          <a:solidFill>
            <a:srgbClr val="197A56"/>
          </a:solidFill>
          <a:ln w="9525">
            <a:solidFill>
              <a:srgbClr val="197A56"/>
            </a:solidFill>
            <a:prstDash val="solid"/>
          </a:ln>
        </p:spPr>
      </p:sp>
      <p:sp>
        <p:nvSpPr>
          <p:cNvPr id="64" name="ovl_s19_nt_rev2"/>
          <p:cNvSpPr txBox="1"/>
          <p:nvPr/>
        </p:nvSpPr>
        <p:spPr>
          <a:xfrm>
            <a:off x="4928616" y="3474720"/>
            <a:ext cx="1207008" cy="20574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OCI</a:t>
            </a:r>
            <a:endParaRPr lang="en-US" sz="1000" dirty="0"/>
          </a:p>
        </p:txBody>
      </p:sp>
      <p:sp>
        <p:nvSpPr>
          <p:cNvPr id="65" name="ovl_s19_ns_rev2"/>
          <p:cNvSpPr txBox="1"/>
          <p:nvPr/>
        </p:nvSpPr>
        <p:spPr>
          <a:xfrm>
            <a:off x="4937760" y="3680460"/>
            <a:ext cx="1188720" cy="544068"/>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売上 74 億ドル</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(+121%)</a:t>
            </a:r>
            <a:endParaRPr lang="en-US" sz="850" dirty="0"/>
          </a:p>
        </p:txBody>
      </p:sp>
      <p:sp>
        <p:nvSpPr>
          <p:cNvPr id="66" name="ovl_s19_n_rev3"/>
          <p:cNvSpPr/>
          <p:nvPr/>
        </p:nvSpPr>
        <p:spPr>
          <a:xfrm>
            <a:off x="4892040" y="4757928"/>
            <a:ext cx="1280160" cy="804672"/>
          </a:xfrm>
          <a:prstGeom prst="roundRect">
            <a:avLst>
              <a:gd name="adj" fmla="val 6818"/>
            </a:avLst>
          </a:prstGeom>
          <a:solidFill>
            <a:srgbClr val="FFFFFF"/>
          </a:solidFill>
          <a:ln w="9525">
            <a:solidFill>
              <a:srgbClr val="767676"/>
            </a:solidFill>
            <a:prstDash val="solid"/>
          </a:ln>
        </p:spPr>
      </p:sp>
      <p:sp>
        <p:nvSpPr>
          <p:cNvPr id="67" name="ovl_s19_nt_rev3"/>
          <p:cNvSpPr txBox="1"/>
          <p:nvPr/>
        </p:nvSpPr>
        <p:spPr>
          <a:xfrm>
            <a:off x="4928616" y="4785360"/>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企業 AI 推論</a:t>
            </a:r>
            <a:endParaRPr lang="en-US" sz="1000" dirty="0"/>
          </a:p>
        </p:txBody>
      </p:sp>
      <p:sp>
        <p:nvSpPr>
          <p:cNvPr id="68" name="ovl_s19_ns_rev3"/>
          <p:cNvSpPr txBox="1"/>
          <p:nvPr/>
        </p:nvSpPr>
        <p:spPr>
          <a:xfrm>
            <a:off x="4937760" y="4991100"/>
            <a:ext cx="1188720" cy="54406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売上は非開示</a:t>
            </a:r>
            <a:endParaRPr lang="en-US" sz="850" dirty="0"/>
          </a:p>
        </p:txBody>
      </p:sp>
      <p:sp>
        <p:nvSpPr>
          <p:cNvPr id="69" name="ovl_s19_n_hyper"/>
          <p:cNvSpPr/>
          <p:nvPr/>
        </p:nvSpPr>
        <p:spPr>
          <a:xfrm>
            <a:off x="7132320" y="2136648"/>
            <a:ext cx="1143000" cy="804672"/>
          </a:xfrm>
          <a:prstGeom prst="roundRect">
            <a:avLst>
              <a:gd name="adj" fmla="val 6818"/>
            </a:avLst>
          </a:prstGeom>
          <a:solidFill>
            <a:srgbClr val="FFFFFF"/>
          </a:solidFill>
          <a:ln w="9525">
            <a:solidFill>
              <a:srgbClr val="767676"/>
            </a:solidFill>
            <a:prstDash val="solid"/>
          </a:ln>
        </p:spPr>
      </p:sp>
      <p:sp>
        <p:nvSpPr>
          <p:cNvPr id="70" name="ovl_s19_nt_hyper"/>
          <p:cNvSpPr txBox="1"/>
          <p:nvPr/>
        </p:nvSpPr>
        <p:spPr>
          <a:xfrm>
            <a:off x="7168896" y="2164080"/>
            <a:ext cx="1069848"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AWS・Azure・</a:t>
            </a:r>
            <a:endParaRPr lang="en-US" sz="900" dirty="0"/>
          </a:p>
          <a:p>
            <a:pPr algn="ctr" indent="0" marL="0">
              <a:buNone/>
            </a:pPr>
            <a:r>
              <a:rPr lang="en-US" sz="900" b="1" dirty="0">
                <a:solidFill>
                  <a:srgbClr val="0E4D33"/>
                </a:solidFill>
                <a:latin typeface="Meiryo UI" pitchFamily="34" charset="0"/>
                <a:ea typeface="Meiryo UI" pitchFamily="34" charset="-122"/>
                <a:cs typeface="Meiryo UI" pitchFamily="34" charset="-120"/>
              </a:rPr>
              <a:t>Google</a:t>
            </a:r>
            <a:endParaRPr lang="en-US" sz="900" dirty="0"/>
          </a:p>
        </p:txBody>
      </p:sp>
      <p:sp>
        <p:nvSpPr>
          <p:cNvPr id="71" name="ovl_s19_ns_hyper"/>
          <p:cNvSpPr txBox="1"/>
          <p:nvPr/>
        </p:nvSpPr>
        <p:spPr>
          <a:xfrm>
            <a:off x="7178040" y="2520696"/>
            <a:ext cx="1051560" cy="39319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70 リージョン</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119 AZ</a:t>
            </a:r>
            <a:endParaRPr lang="en-US" sz="850" dirty="0"/>
          </a:p>
        </p:txBody>
      </p:sp>
      <p:sp>
        <p:nvSpPr>
          <p:cNvPr id="72" name="ovl_s19_n_lab"/>
          <p:cNvSpPr/>
          <p:nvPr/>
        </p:nvSpPr>
        <p:spPr>
          <a:xfrm>
            <a:off x="7132320" y="3447288"/>
            <a:ext cx="1143000" cy="804672"/>
          </a:xfrm>
          <a:prstGeom prst="roundRect">
            <a:avLst>
              <a:gd name="adj" fmla="val 6818"/>
            </a:avLst>
          </a:prstGeom>
          <a:solidFill>
            <a:srgbClr val="FFFFFF"/>
          </a:solidFill>
          <a:ln w="9525">
            <a:solidFill>
              <a:srgbClr val="767676"/>
            </a:solidFill>
            <a:prstDash val="solid"/>
          </a:ln>
        </p:spPr>
      </p:sp>
      <p:sp>
        <p:nvSpPr>
          <p:cNvPr id="73" name="ovl_s19_nt_lab"/>
          <p:cNvSpPr txBox="1"/>
          <p:nvPr/>
        </p:nvSpPr>
        <p:spPr>
          <a:xfrm>
            <a:off x="7168896" y="3474720"/>
            <a:ext cx="10698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研究所</a:t>
            </a:r>
            <a:endParaRPr lang="en-US" sz="1000" dirty="0"/>
          </a:p>
        </p:txBody>
      </p:sp>
      <p:sp>
        <p:nvSpPr>
          <p:cNvPr id="74" name="ovl_s19_ns_lab"/>
          <p:cNvSpPr txBox="1"/>
          <p:nvPr/>
        </p:nvSpPr>
        <p:spPr>
          <a:xfrm>
            <a:off x="7178040" y="3680460"/>
            <a:ext cx="1051560" cy="54406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学習・推論</a:t>
            </a:r>
            <a:endParaRPr lang="en-US" sz="850" dirty="0"/>
          </a:p>
        </p:txBody>
      </p:sp>
      <p:sp>
        <p:nvSpPr>
          <p:cNvPr id="75" name="ovl_s19_n_ent"/>
          <p:cNvSpPr/>
          <p:nvPr/>
        </p:nvSpPr>
        <p:spPr>
          <a:xfrm>
            <a:off x="7132320" y="4757928"/>
            <a:ext cx="1143000" cy="804672"/>
          </a:xfrm>
          <a:prstGeom prst="roundRect">
            <a:avLst>
              <a:gd name="adj" fmla="val 6818"/>
            </a:avLst>
          </a:prstGeom>
          <a:solidFill>
            <a:srgbClr val="FFFFFF"/>
          </a:solidFill>
          <a:ln w="9525">
            <a:solidFill>
              <a:srgbClr val="767676"/>
            </a:solidFill>
            <a:prstDash val="solid"/>
          </a:ln>
        </p:spPr>
      </p:sp>
      <p:sp>
        <p:nvSpPr>
          <p:cNvPr id="76" name="ovl_s19_nt_ent"/>
          <p:cNvSpPr txBox="1"/>
          <p:nvPr/>
        </p:nvSpPr>
        <p:spPr>
          <a:xfrm>
            <a:off x="7168896" y="4785360"/>
            <a:ext cx="10698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企業</a:t>
            </a:r>
            <a:endParaRPr lang="en-US" sz="1000" dirty="0"/>
          </a:p>
        </p:txBody>
      </p:sp>
      <p:sp>
        <p:nvSpPr>
          <p:cNvPr id="77" name="ovl_s19_ns_ent"/>
          <p:cNvSpPr txBox="1"/>
          <p:nvPr/>
        </p:nvSpPr>
        <p:spPr>
          <a:xfrm>
            <a:off x="7178040" y="4991100"/>
            <a:ext cx="1051560" cy="54406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自社データで推論</a:t>
            </a:r>
            <a:endParaRPr lang="en-US" sz="850" dirty="0"/>
          </a:p>
        </p:txBody>
      </p:sp>
      <p:sp>
        <p:nvSpPr>
          <p:cNvPr id="78" name="ovl_s19_lab0"/>
          <p:cNvSpPr txBox="1"/>
          <p:nvPr/>
        </p:nvSpPr>
        <p:spPr>
          <a:xfrm>
            <a:off x="1714500" y="2164080"/>
            <a:ext cx="914400"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① </a:t>
            </a:r>
            <a:r>
              <a:rPr lang="en-US" sz="850" dirty="0">
                <a:solidFill>
                  <a:srgbClr val="1BA1A6"/>
                </a:solidFill>
                <a:latin typeface="Meiryo UI" pitchFamily="34" charset="0"/>
                <a:ea typeface="Meiryo UI" pitchFamily="34" charset="-122"/>
                <a:cs typeface="Meiryo UI" pitchFamily="34" charset="-120"/>
              </a:rPr>
              <a:t>そのまま提供</a:t>
            </a:r>
            <a:endParaRPr lang="en-US" sz="850" dirty="0"/>
          </a:p>
        </p:txBody>
      </p:sp>
      <p:sp>
        <p:nvSpPr>
          <p:cNvPr id="79" name="ovl_s19_lab1"/>
          <p:cNvSpPr txBox="1"/>
          <p:nvPr/>
        </p:nvSpPr>
        <p:spPr>
          <a:xfrm>
            <a:off x="1714500" y="3474720"/>
            <a:ext cx="914400"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② </a:t>
            </a:r>
            <a:r>
              <a:rPr lang="en-US" sz="850" dirty="0">
                <a:solidFill>
                  <a:srgbClr val="1BA1A6"/>
                </a:solidFill>
                <a:latin typeface="Meiryo UI" pitchFamily="34" charset="0"/>
                <a:ea typeface="Meiryo UI" pitchFamily="34" charset="-122"/>
                <a:cs typeface="Meiryo UI" pitchFamily="34" charset="-120"/>
              </a:rPr>
              <a:t>GPU 間の網に</a:t>
            </a:r>
            <a:endParaRPr lang="en-US" sz="850" dirty="0"/>
          </a:p>
        </p:txBody>
      </p:sp>
      <p:sp>
        <p:nvSpPr>
          <p:cNvPr id="80" name="ovl_s19_lab2"/>
          <p:cNvSpPr txBox="1"/>
          <p:nvPr/>
        </p:nvSpPr>
        <p:spPr>
          <a:xfrm>
            <a:off x="1784566" y="4927092"/>
            <a:ext cx="774268"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③ </a:t>
            </a:r>
            <a:r>
              <a:rPr lang="en-US" sz="850" dirty="0">
                <a:solidFill>
                  <a:srgbClr val="1BA1A6"/>
                </a:solidFill>
                <a:latin typeface="Meiryo UI" pitchFamily="34" charset="0"/>
                <a:ea typeface="Meiryo UI" pitchFamily="34" charset="-122"/>
                <a:cs typeface="Meiryo UI" pitchFamily="34" charset="-120"/>
              </a:rPr>
              <a:t>AI を直結</a:t>
            </a:r>
            <a:endParaRPr lang="en-US" sz="850" dirty="0"/>
          </a:p>
        </p:txBody>
      </p:sp>
      <p:sp>
        <p:nvSpPr>
          <p:cNvPr id="81" name="ovl_s19_lab6"/>
          <p:cNvSpPr txBox="1"/>
          <p:nvPr/>
        </p:nvSpPr>
        <p:spPr>
          <a:xfrm>
            <a:off x="6247638" y="2305812"/>
            <a:ext cx="809244"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契約枠で購入</a:t>
            </a:r>
            <a:endParaRPr lang="en-US" sz="850" dirty="0"/>
          </a:p>
        </p:txBody>
      </p:sp>
      <p:sp>
        <p:nvSpPr>
          <p:cNvPr id="82" name="ovl_s19_lab7"/>
          <p:cNvSpPr txBox="1"/>
          <p:nvPr/>
        </p:nvSpPr>
        <p:spPr>
          <a:xfrm>
            <a:off x="6346736" y="3616452"/>
            <a:ext cx="611048"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0E4D33"/>
                </a:solidFill>
                <a:latin typeface="Meiryo UI" pitchFamily="34" charset="0"/>
                <a:ea typeface="Meiryo UI" pitchFamily="34" charset="-122"/>
                <a:cs typeface="Meiryo UI" pitchFamily="34" charset="-120"/>
              </a:rPr>
              <a:t>④ </a:t>
            </a:r>
            <a:r>
              <a:rPr lang="en-US" sz="850" dirty="0">
                <a:solidFill>
                  <a:srgbClr val="0E4D33"/>
                </a:solidFill>
                <a:latin typeface="Meiryo UI" pitchFamily="34" charset="0"/>
                <a:ea typeface="Meiryo UI" pitchFamily="34" charset="-122"/>
                <a:cs typeface="Meiryo UI" pitchFamily="34" charset="-120"/>
              </a:rPr>
              <a:t>容量料</a:t>
            </a:r>
            <a:endParaRPr lang="en-US" sz="850" dirty="0"/>
          </a:p>
        </p:txBody>
      </p:sp>
      <p:sp>
        <p:nvSpPr>
          <p:cNvPr id="83" name="ovl_s19_lab8"/>
          <p:cNvSpPr txBox="1"/>
          <p:nvPr/>
        </p:nvSpPr>
        <p:spPr>
          <a:xfrm>
            <a:off x="6480810" y="4927092"/>
            <a:ext cx="342900"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利用</a:t>
            </a:r>
            <a:endParaRPr lang="en-US" sz="850" dirty="0"/>
          </a:p>
        </p:txBody>
      </p:sp>
      <p:sp>
        <p:nvSpPr>
          <p:cNvPr id="84" name="ovl_s19_glab0"/>
          <p:cNvSpPr txBox="1"/>
          <p:nvPr/>
        </p:nvSpPr>
        <p:spPr>
          <a:xfrm>
            <a:off x="2679192" y="1828800"/>
            <a:ext cx="654304" cy="164592"/>
          </a:xfrm>
          <a:prstGeom prst="rect">
            <a:avLst/>
          </a:prstGeom>
          <a:solidFill>
            <a:srgbClr val="FFFFFF"/>
          </a:solidFill>
          <a:ln/>
        </p:spPr>
        <p:txBody>
          <a:bodyPr wrap="square" lIns="0" tIns="0" rIns="0" bIns="0" rtlCol="0" anchor="ctr"/>
          <a:lstStyle/>
          <a:p>
            <a:pPr algn="ctr" indent="0" marL="0">
              <a:buNone/>
            </a:pPr>
            <a:r>
              <a:rPr lang="en-US" sz="800" b="1" dirty="0">
                <a:solidFill>
                  <a:srgbClr val="197A56"/>
                </a:solidFill>
                <a:latin typeface="Meiryo UI" pitchFamily="34" charset="0"/>
                <a:ea typeface="Meiryo UI" pitchFamily="34" charset="-122"/>
                <a:cs typeface="Meiryo UI" pitchFamily="34" charset="-120"/>
              </a:rPr>
              <a:t>転用の経路</a:t>
            </a:r>
            <a:endParaRPr lang="en-US" sz="800" dirty="0"/>
          </a:p>
        </p:txBody>
      </p:sp>
      <p:sp>
        <p:nvSpPr>
          <p:cNvPr id="85" name="ovl_s19_glab1"/>
          <p:cNvSpPr txBox="1"/>
          <p:nvPr/>
        </p:nvSpPr>
        <p:spPr>
          <a:xfrm>
            <a:off x="4919472" y="1828800"/>
            <a:ext cx="654304" cy="164592"/>
          </a:xfrm>
          <a:prstGeom prst="rect">
            <a:avLst/>
          </a:prstGeom>
          <a:solidFill>
            <a:srgbClr val="FFFFFF"/>
          </a:solidFill>
          <a:ln/>
        </p:spPr>
        <p:txBody>
          <a:bodyPr wrap="square" lIns="0" tIns="0" rIns="0" bIns="0" rtlCol="0" anchor="ctr"/>
          <a:lstStyle/>
          <a:p>
            <a:pPr algn="ctr" indent="0" marL="0">
              <a:buNone/>
            </a:pPr>
            <a:r>
              <a:rPr lang="en-US" sz="800" b="1" dirty="0">
                <a:solidFill>
                  <a:srgbClr val="197A56"/>
                </a:solidFill>
                <a:latin typeface="Meiryo UI" pitchFamily="34" charset="0"/>
                <a:ea typeface="Meiryo UI" pitchFamily="34" charset="-122"/>
                <a:cs typeface="Meiryo UI" pitchFamily="34" charset="-120"/>
              </a:rPr>
              <a:t>新しい収益</a:t>
            </a:r>
            <a:endParaRPr lang="en-US" sz="800" dirty="0"/>
          </a:p>
        </p:txBody>
      </p:sp>
      <p:sp>
        <p:nvSpPr>
          <p:cNvPr id="86" name="ovl_s19_leg0"/>
          <p:cNvSpPr/>
          <p:nvPr/>
        </p:nvSpPr>
        <p:spPr>
          <a:xfrm>
            <a:off x="457200" y="5971032"/>
            <a:ext cx="365760" cy="914"/>
          </a:xfrm>
          <a:prstGeom prst="line">
            <a:avLst/>
          </a:prstGeom>
          <a:noFill/>
          <a:ln w="22225">
            <a:solidFill>
              <a:srgbClr val="0E4D33"/>
            </a:solidFill>
            <a:prstDash val="solid"/>
            <a:tailEnd type="triangle"/>
          </a:ln>
        </p:spPr>
      </p:sp>
      <p:sp>
        <p:nvSpPr>
          <p:cNvPr id="87" name="ovl_s19_legt0"/>
          <p:cNvSpPr txBox="1"/>
          <p:nvPr/>
        </p:nvSpPr>
        <p:spPr>
          <a:xfrm>
            <a:off x="87782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カネ</a:t>
            </a:r>
            <a:endParaRPr lang="en-US" sz="800" dirty="0"/>
          </a:p>
        </p:txBody>
      </p:sp>
      <p:sp>
        <p:nvSpPr>
          <p:cNvPr id="88" name="ovl_s19_leg1"/>
          <p:cNvSpPr/>
          <p:nvPr/>
        </p:nvSpPr>
        <p:spPr>
          <a:xfrm>
            <a:off x="1874520" y="5971032"/>
            <a:ext cx="365760" cy="914"/>
          </a:xfrm>
          <a:prstGeom prst="line">
            <a:avLst/>
          </a:prstGeom>
          <a:noFill/>
          <a:ln w="19050">
            <a:solidFill>
              <a:srgbClr val="1BA1A6"/>
            </a:solidFill>
            <a:prstDash val="solid"/>
            <a:tailEnd type="triangle"/>
          </a:ln>
        </p:spPr>
      </p:sp>
      <p:sp>
        <p:nvSpPr>
          <p:cNvPr id="89" name="ovl_s19_legt1"/>
          <p:cNvSpPr txBox="1"/>
          <p:nvPr/>
        </p:nvSpPr>
        <p:spPr>
          <a:xfrm>
            <a:off x="229514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モノ・サービス</a:t>
            </a:r>
            <a:endParaRPr lang="en-US" sz="800" dirty="0"/>
          </a:p>
        </p:txBody>
      </p:sp>
      <p:sp>
        <p:nvSpPr>
          <p:cNvPr id="90" name="ovl_s19_legn"/>
          <p:cNvSpPr txBox="1"/>
          <p:nvPr/>
        </p:nvSpPr>
        <p:spPr>
          <a:xfrm>
            <a:off x="6126480" y="5870448"/>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91"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92" name="mech"/>
          <p:cNvSpPr txBox="1"/>
          <p:nvPr/>
        </p:nvSpPr>
        <p:spPr>
          <a:xfrm>
            <a:off x="8458200" y="1810512"/>
            <a:ext cx="3276295" cy="1668272"/>
          </a:xfrm>
          <a:prstGeom prst="rect">
            <a:avLst/>
          </a:prstGeom>
          <a:noFill/>
          <a:ln/>
        </p:spPr>
        <p:txBody>
          <a:bodyPr wrap="square" lIns="381" tIns="381" rIns="381" bIns="381" rtlCol="0" anchor="t"/>
          <a:lstStyle/>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① </a:t>
            </a:r>
            <a:r>
              <a:rPr lang="en-US" sz="1100" dirty="0">
                <a:solidFill>
                  <a:srgbClr val="333333"/>
                </a:solidFill>
                <a:latin typeface="Meiryo UI" pitchFamily="34" charset="0"/>
                <a:ea typeface="Meiryo UI" pitchFamily="34" charset="-122"/>
                <a:cs typeface="Meiryo UI" pitchFamily="34" charset="-120"/>
              </a:rPr>
              <a:t>DB をそのまま他社の DC に置く(Database@)。追加の開発は小さく、売上 +353%</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② </a:t>
            </a:r>
            <a:r>
              <a:rPr lang="en-US" sz="1100" dirty="0">
                <a:solidFill>
                  <a:srgbClr val="333333"/>
                </a:solidFill>
                <a:latin typeface="Meiryo UI" pitchFamily="34" charset="0"/>
                <a:ea typeface="Meiryo UI" pitchFamily="34" charset="-122"/>
                <a:cs typeface="Meiryo UI" pitchFamily="34" charset="-120"/>
              </a:rPr>
              <a:t>Exadata 由来の RDMA 網で GPU を大規模につなぎ、OCI +121% の土台になった</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③ </a:t>
            </a:r>
            <a:r>
              <a:rPr lang="en-US" sz="1100" dirty="0">
                <a:solidFill>
                  <a:srgbClr val="333333"/>
                </a:solidFill>
                <a:latin typeface="Meiryo UI" pitchFamily="34" charset="0"/>
                <a:ea typeface="Meiryo UI" pitchFamily="34" charset="-122"/>
                <a:cs typeface="Meiryo UI" pitchFamily="34" charset="-120"/>
              </a:rPr>
              <a:t>26ai は DB の中に AI 検索を内蔵し、企業データの AI 需要を DB に取り込む(売上は非開示)</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④ </a:t>
            </a:r>
            <a:r>
              <a:rPr lang="en-US" sz="1100" dirty="0">
                <a:solidFill>
                  <a:srgbClr val="333333"/>
                </a:solidFill>
                <a:latin typeface="Meiryo UI" pitchFamily="34" charset="0"/>
                <a:ea typeface="Meiryo UI" pitchFamily="34" charset="-122"/>
                <a:cs typeface="Meiryo UI" pitchFamily="34" charset="-120"/>
              </a:rPr>
              <a:t>ただし OCI の伸びの主因は GPU の貸し出しで、DB の転用による収益が過半ではない</a:t>
            </a:r>
            <a:endParaRPr lang="en-US" sz="1100" dirty="0"/>
          </a:p>
        </p:txBody>
      </p:sp>
      <p:sp>
        <p:nvSpPr>
          <p:cNvPr id="93" name="ovl_takeaway_bg"/>
          <p:cNvSpPr/>
          <p:nvPr/>
        </p:nvSpPr>
        <p:spPr>
          <a:xfrm>
            <a:off x="8458200" y="4419600"/>
            <a:ext cx="3276295" cy="1005840"/>
          </a:xfrm>
          <a:prstGeom prst="rect">
            <a:avLst/>
          </a:prstGeom>
          <a:solidFill>
            <a:srgbClr val="EAF4EE"/>
          </a:solidFill>
          <a:ln w="12700">
            <a:solidFill>
              <a:srgbClr val="EAF4EE"/>
            </a:solidFill>
            <a:prstDash val="solid"/>
          </a:ln>
        </p:spPr>
      </p:sp>
      <p:sp>
        <p:nvSpPr>
          <p:cNvPr id="94" name="takeaway"/>
          <p:cNvSpPr txBox="1"/>
          <p:nvPr/>
        </p:nvSpPr>
        <p:spPr>
          <a:xfrm>
            <a:off x="8567928" y="4492752"/>
            <a:ext cx="3056839" cy="859536"/>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転用先が全社の増収の主因になったため A。</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主因は GPU の貸し出しで、DB 転用の収益が</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過半ではないため S ではない</a:t>
            </a:r>
            <a:endParaRPr lang="en-US" sz="1000" dirty="0"/>
          </a:p>
        </p:txBody>
      </p:sp>
      <p:sp>
        <p:nvSpPr>
          <p:cNvPr id="95" name="updown"/>
          <p:cNvSpPr txBox="1"/>
          <p:nvPr/>
        </p:nvSpPr>
        <p:spPr>
          <a:xfrm>
            <a:off x="8458200" y="5498592"/>
            <a:ext cx="3276295" cy="59131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AI 容量の顧客が DB やアプリも買う証拠</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(クロスセル)が出れば S</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Database@ の伸びが 100% を割り、OCI の伸びが AI 容量だけになれば B</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3-2 経営(条件5)</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98882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9888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経営者の能力(条件5)</a:t>
            </a:r>
            <a:endParaRPr lang="en-US" sz="1000" dirty="0"/>
          </a:p>
        </p:txBody>
      </p:sp>
      <p:sp>
        <p:nvSpPr>
          <p:cNvPr id="14" name="hdr_why"/>
          <p:cNvSpPr txBox="1"/>
          <p:nvPr/>
        </p:nvSpPr>
        <p:spPr>
          <a:xfrm>
            <a:off x="2592324" y="356616"/>
            <a:ext cx="914217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巨額の投資を任せる経営陣が、その事業を築いた経験と資本配分の規律を持つかを経歴から確かめる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CEO は OCI を設計から築いた当事者、CFO は電力インフラ企業の財務出身で、</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経歴は事業に合う。ただし CEO 在任 1 年で capex は見通しを超え続けた</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左から: 経歴(どこで何を築いたか)→ 現職 → 担う事業 → 結果。①〜⑤ は右と対応。経歴は報道・会社発表の要約に基づく</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research4/T7_executives.md(Oracle 発表・8-K 2025-09-22・2026-04-06、Bloomberg・Reuters ほか)、DEF 14A(報酬)、会社開示(FY26〜27 のガイダンス)</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24</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条件5</a:t>
            </a:r>
            <a:endParaRPr lang="en-US" sz="800" dirty="0"/>
          </a:p>
        </p:txBody>
      </p:sp>
      <p:sp>
        <p:nvSpPr>
          <p:cNvPr id="22" name="bg_lane0"/>
          <p:cNvSpPr/>
          <p:nvPr/>
        </p:nvSpPr>
        <p:spPr>
          <a:xfrm>
            <a:off x="347472" y="1517904"/>
            <a:ext cx="1591056" cy="4315968"/>
          </a:xfrm>
          <a:prstGeom prst="rect">
            <a:avLst/>
          </a:prstGeom>
          <a:solidFill>
            <a:srgbClr val="F2F2F2"/>
          </a:solidFill>
          <a:ln w="12700">
            <a:solidFill>
              <a:srgbClr val="F2F2F2"/>
            </a:solidFill>
            <a:prstDash val="solid"/>
          </a:ln>
        </p:spPr>
      </p:sp>
      <p:sp>
        <p:nvSpPr>
          <p:cNvPr id="23" name="bg_laneh0"/>
          <p:cNvSpPr/>
          <p:nvPr/>
        </p:nvSpPr>
        <p:spPr>
          <a:xfrm>
            <a:off x="347472" y="1517904"/>
            <a:ext cx="1591056" cy="274320"/>
          </a:xfrm>
          <a:prstGeom prst="rect">
            <a:avLst/>
          </a:prstGeom>
          <a:solidFill>
            <a:srgbClr val="D9D9D9"/>
          </a:solidFill>
          <a:ln w="12700">
            <a:solidFill>
              <a:srgbClr val="D9D9D9"/>
            </a:solidFill>
            <a:prstDash val="solid"/>
          </a:ln>
        </p:spPr>
      </p:sp>
      <p:sp>
        <p:nvSpPr>
          <p:cNvPr id="24" name="bg_lanet0"/>
          <p:cNvSpPr txBox="1"/>
          <p:nvPr/>
        </p:nvSpPr>
        <p:spPr>
          <a:xfrm>
            <a:off x="347472" y="1517904"/>
            <a:ext cx="159105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経歴</a:t>
            </a:r>
            <a:endParaRPr lang="en-US" sz="950" dirty="0"/>
          </a:p>
        </p:txBody>
      </p:sp>
      <p:sp>
        <p:nvSpPr>
          <p:cNvPr id="25" name="bg_lane1"/>
          <p:cNvSpPr/>
          <p:nvPr/>
        </p:nvSpPr>
        <p:spPr>
          <a:xfrm>
            <a:off x="2557272" y="1517904"/>
            <a:ext cx="3663696" cy="4315968"/>
          </a:xfrm>
          <a:prstGeom prst="rect">
            <a:avLst/>
          </a:prstGeom>
          <a:solidFill>
            <a:srgbClr val="EAF4EE"/>
          </a:solidFill>
          <a:ln w="12700">
            <a:solidFill>
              <a:srgbClr val="EAF4EE"/>
            </a:solidFill>
            <a:prstDash val="solid"/>
          </a:ln>
        </p:spPr>
      </p:sp>
      <p:sp>
        <p:nvSpPr>
          <p:cNvPr id="26" name="bg_laneh1"/>
          <p:cNvSpPr/>
          <p:nvPr/>
        </p:nvSpPr>
        <p:spPr>
          <a:xfrm>
            <a:off x="2557272" y="1517904"/>
            <a:ext cx="3663696" cy="274320"/>
          </a:xfrm>
          <a:prstGeom prst="rect">
            <a:avLst/>
          </a:prstGeom>
          <a:solidFill>
            <a:srgbClr val="197A56"/>
          </a:solidFill>
          <a:ln w="12700">
            <a:solidFill>
              <a:srgbClr val="197A56"/>
            </a:solidFill>
            <a:prstDash val="solid"/>
          </a:ln>
        </p:spPr>
      </p:sp>
      <p:sp>
        <p:nvSpPr>
          <p:cNvPr id="27" name="bg_lanet1"/>
          <p:cNvSpPr txBox="1"/>
          <p:nvPr/>
        </p:nvSpPr>
        <p:spPr>
          <a:xfrm>
            <a:off x="2557272" y="1517904"/>
            <a:ext cx="366369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経営陣と担う事業</a:t>
            </a:r>
            <a:endParaRPr lang="en-US" sz="950" dirty="0"/>
          </a:p>
        </p:txBody>
      </p:sp>
      <p:sp>
        <p:nvSpPr>
          <p:cNvPr id="28" name="bg_lane2"/>
          <p:cNvSpPr/>
          <p:nvPr/>
        </p:nvSpPr>
        <p:spPr>
          <a:xfrm>
            <a:off x="6839712" y="1517904"/>
            <a:ext cx="1545336" cy="4315968"/>
          </a:xfrm>
          <a:prstGeom prst="rect">
            <a:avLst/>
          </a:prstGeom>
          <a:solidFill>
            <a:srgbClr val="F2F2F2"/>
          </a:solidFill>
          <a:ln w="12700">
            <a:solidFill>
              <a:srgbClr val="F2F2F2"/>
            </a:solidFill>
            <a:prstDash val="solid"/>
          </a:ln>
        </p:spPr>
      </p:sp>
      <p:sp>
        <p:nvSpPr>
          <p:cNvPr id="29" name="bg_laneh2"/>
          <p:cNvSpPr/>
          <p:nvPr/>
        </p:nvSpPr>
        <p:spPr>
          <a:xfrm>
            <a:off x="6839712" y="1517904"/>
            <a:ext cx="1545336" cy="274320"/>
          </a:xfrm>
          <a:prstGeom prst="rect">
            <a:avLst/>
          </a:prstGeom>
          <a:solidFill>
            <a:srgbClr val="D9D9D9"/>
          </a:solidFill>
          <a:ln w="12700">
            <a:solidFill>
              <a:srgbClr val="D9D9D9"/>
            </a:solidFill>
            <a:prstDash val="solid"/>
          </a:ln>
        </p:spPr>
      </p:sp>
      <p:sp>
        <p:nvSpPr>
          <p:cNvPr id="30" name="bg_lanet2"/>
          <p:cNvSpPr txBox="1"/>
          <p:nvPr/>
        </p:nvSpPr>
        <p:spPr>
          <a:xfrm>
            <a:off x="6839712" y="1517904"/>
            <a:ext cx="154533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結果</a:t>
            </a:r>
            <a:endParaRPr lang="en-US" sz="950" dirty="0"/>
          </a:p>
        </p:txBody>
      </p:sp>
      <p:sp>
        <p:nvSpPr>
          <p:cNvPr id="31" name="ovl_s21_e0_0"/>
          <p:cNvSpPr/>
          <p:nvPr/>
        </p:nvSpPr>
        <p:spPr>
          <a:xfrm>
            <a:off x="1828800" y="2375154"/>
            <a:ext cx="838200" cy="914"/>
          </a:xfrm>
          <a:prstGeom prst="line">
            <a:avLst/>
          </a:prstGeom>
          <a:noFill/>
          <a:ln w="12700">
            <a:solidFill>
              <a:srgbClr val="767676"/>
            </a:solidFill>
            <a:prstDash val="sysDash"/>
            <a:tailEnd type="triangle"/>
          </a:ln>
        </p:spPr>
      </p:sp>
      <p:sp>
        <p:nvSpPr>
          <p:cNvPr id="32" name="ovl_s21_e1_0"/>
          <p:cNvSpPr/>
          <p:nvPr/>
        </p:nvSpPr>
        <p:spPr>
          <a:xfrm>
            <a:off x="1828800" y="3358134"/>
            <a:ext cx="838200" cy="914"/>
          </a:xfrm>
          <a:prstGeom prst="line">
            <a:avLst/>
          </a:prstGeom>
          <a:noFill/>
          <a:ln w="12700">
            <a:solidFill>
              <a:srgbClr val="767676"/>
            </a:solidFill>
            <a:prstDash val="sysDash"/>
            <a:tailEnd type="triangle"/>
          </a:ln>
        </p:spPr>
      </p:sp>
      <p:sp>
        <p:nvSpPr>
          <p:cNvPr id="33" name="ovl_s21_e2_0"/>
          <p:cNvSpPr/>
          <p:nvPr/>
        </p:nvSpPr>
        <p:spPr>
          <a:xfrm>
            <a:off x="1828800" y="4341114"/>
            <a:ext cx="838200" cy="914"/>
          </a:xfrm>
          <a:prstGeom prst="line">
            <a:avLst/>
          </a:prstGeom>
          <a:noFill/>
          <a:ln w="12700">
            <a:solidFill>
              <a:srgbClr val="767676"/>
            </a:solidFill>
            <a:prstDash val="sysDash"/>
            <a:tailEnd type="triangle"/>
          </a:ln>
        </p:spPr>
      </p:sp>
      <p:sp>
        <p:nvSpPr>
          <p:cNvPr id="34" name="ovl_s21_e3_0"/>
          <p:cNvSpPr/>
          <p:nvPr/>
        </p:nvSpPr>
        <p:spPr>
          <a:xfrm>
            <a:off x="1828800" y="5324094"/>
            <a:ext cx="838200" cy="914"/>
          </a:xfrm>
          <a:prstGeom prst="line">
            <a:avLst/>
          </a:prstGeom>
          <a:noFill/>
          <a:ln w="12700">
            <a:solidFill>
              <a:srgbClr val="767676"/>
            </a:solidFill>
            <a:prstDash val="sysDash"/>
            <a:tailEnd type="triangle"/>
          </a:ln>
        </p:spPr>
      </p:sp>
      <p:sp>
        <p:nvSpPr>
          <p:cNvPr id="35" name="ovl_s21_e4_0"/>
          <p:cNvSpPr/>
          <p:nvPr/>
        </p:nvSpPr>
        <p:spPr>
          <a:xfrm>
            <a:off x="3992880" y="2375154"/>
            <a:ext cx="838200" cy="914"/>
          </a:xfrm>
          <a:prstGeom prst="line">
            <a:avLst/>
          </a:prstGeom>
          <a:noFill/>
          <a:ln w="12700">
            <a:solidFill>
              <a:srgbClr val="767676"/>
            </a:solidFill>
            <a:prstDash val="sysDash"/>
            <a:tailEnd type="triangle"/>
          </a:ln>
        </p:spPr>
      </p:sp>
      <p:sp>
        <p:nvSpPr>
          <p:cNvPr id="36" name="ovl_s21_e5_0"/>
          <p:cNvSpPr/>
          <p:nvPr/>
        </p:nvSpPr>
        <p:spPr>
          <a:xfrm>
            <a:off x="3992880" y="3358134"/>
            <a:ext cx="838200" cy="914"/>
          </a:xfrm>
          <a:prstGeom prst="line">
            <a:avLst/>
          </a:prstGeom>
          <a:noFill/>
          <a:ln w="12700">
            <a:solidFill>
              <a:srgbClr val="767676"/>
            </a:solidFill>
            <a:prstDash val="sysDash"/>
            <a:tailEnd type="triangle"/>
          </a:ln>
        </p:spPr>
      </p:sp>
      <p:sp>
        <p:nvSpPr>
          <p:cNvPr id="37" name="ovl_s21_e6_0"/>
          <p:cNvSpPr/>
          <p:nvPr/>
        </p:nvSpPr>
        <p:spPr>
          <a:xfrm>
            <a:off x="3992880" y="4341114"/>
            <a:ext cx="838200" cy="914"/>
          </a:xfrm>
          <a:prstGeom prst="line">
            <a:avLst/>
          </a:prstGeom>
          <a:noFill/>
          <a:ln w="12700">
            <a:solidFill>
              <a:srgbClr val="767676"/>
            </a:solidFill>
            <a:prstDash val="sysDash"/>
            <a:tailEnd type="triangle"/>
          </a:ln>
        </p:spPr>
      </p:sp>
      <p:sp>
        <p:nvSpPr>
          <p:cNvPr id="38" name="ovl_s21_e7_0"/>
          <p:cNvSpPr/>
          <p:nvPr/>
        </p:nvSpPr>
        <p:spPr>
          <a:xfrm>
            <a:off x="3992880" y="5324094"/>
            <a:ext cx="838200" cy="914"/>
          </a:xfrm>
          <a:prstGeom prst="line">
            <a:avLst/>
          </a:prstGeom>
          <a:noFill/>
          <a:ln w="12700">
            <a:solidFill>
              <a:srgbClr val="767676"/>
            </a:solidFill>
            <a:prstDash val="sysDash"/>
            <a:tailEnd type="triangle"/>
          </a:ln>
        </p:spPr>
      </p:sp>
      <p:sp>
        <p:nvSpPr>
          <p:cNvPr id="39" name="ovl_s21_e8_0"/>
          <p:cNvSpPr/>
          <p:nvPr/>
        </p:nvSpPr>
        <p:spPr>
          <a:xfrm>
            <a:off x="6111240" y="2375154"/>
            <a:ext cx="838200" cy="914"/>
          </a:xfrm>
          <a:prstGeom prst="line">
            <a:avLst/>
          </a:prstGeom>
          <a:noFill/>
          <a:ln w="19050">
            <a:solidFill>
              <a:srgbClr val="1BA1A6"/>
            </a:solidFill>
            <a:prstDash val="solid"/>
            <a:tailEnd type="triangle"/>
          </a:ln>
        </p:spPr>
      </p:sp>
      <p:sp>
        <p:nvSpPr>
          <p:cNvPr id="40" name="ovl_s21_e9_0"/>
          <p:cNvSpPr/>
          <p:nvPr/>
        </p:nvSpPr>
        <p:spPr>
          <a:xfrm>
            <a:off x="6111240" y="3358134"/>
            <a:ext cx="838200" cy="914"/>
          </a:xfrm>
          <a:prstGeom prst="line">
            <a:avLst/>
          </a:prstGeom>
          <a:noFill/>
          <a:ln w="15875">
            <a:solidFill>
              <a:srgbClr val="C0392B"/>
            </a:solidFill>
            <a:prstDash val="dash"/>
            <a:tailEnd type="triangle"/>
          </a:ln>
        </p:spPr>
      </p:sp>
      <p:sp>
        <p:nvSpPr>
          <p:cNvPr id="41" name="ovl_s21_e10_0"/>
          <p:cNvSpPr/>
          <p:nvPr/>
        </p:nvSpPr>
        <p:spPr>
          <a:xfrm>
            <a:off x="6111240" y="4341114"/>
            <a:ext cx="838200" cy="914"/>
          </a:xfrm>
          <a:prstGeom prst="line">
            <a:avLst/>
          </a:prstGeom>
          <a:noFill/>
          <a:ln w="15875">
            <a:solidFill>
              <a:srgbClr val="C0392B"/>
            </a:solidFill>
            <a:prstDash val="dash"/>
            <a:tailEnd type="triangle"/>
          </a:ln>
        </p:spPr>
      </p:sp>
      <p:sp>
        <p:nvSpPr>
          <p:cNvPr id="42" name="ovl_s21_e11_0"/>
          <p:cNvSpPr/>
          <p:nvPr/>
        </p:nvSpPr>
        <p:spPr>
          <a:xfrm>
            <a:off x="6111240" y="5324094"/>
            <a:ext cx="838200" cy="914"/>
          </a:xfrm>
          <a:prstGeom prst="line">
            <a:avLst/>
          </a:prstGeom>
          <a:noFill/>
          <a:ln w="15875">
            <a:solidFill>
              <a:srgbClr val="C0392B"/>
            </a:solidFill>
            <a:prstDash val="dash"/>
            <a:tailEnd type="triangle"/>
          </a:ln>
        </p:spPr>
      </p:sp>
      <p:sp>
        <p:nvSpPr>
          <p:cNvPr id="43" name="ovl_s21_n_aws"/>
          <p:cNvSpPr/>
          <p:nvPr/>
        </p:nvSpPr>
        <p:spPr>
          <a:xfrm>
            <a:off x="457200" y="2000250"/>
            <a:ext cx="1371600" cy="749808"/>
          </a:xfrm>
          <a:prstGeom prst="roundRect">
            <a:avLst>
              <a:gd name="adj" fmla="val 7317"/>
            </a:avLst>
          </a:prstGeom>
          <a:solidFill>
            <a:srgbClr val="FFFFFF"/>
          </a:solidFill>
          <a:ln w="9525">
            <a:solidFill>
              <a:srgbClr val="767676"/>
            </a:solidFill>
            <a:prstDash val="solid"/>
          </a:ln>
        </p:spPr>
      </p:sp>
      <p:sp>
        <p:nvSpPr>
          <p:cNvPr id="44" name="ovl_s21_nt_aws"/>
          <p:cNvSpPr txBox="1"/>
          <p:nvPr/>
        </p:nvSpPr>
        <p:spPr>
          <a:xfrm>
            <a:off x="493776" y="2027682"/>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AWS(〜2014)</a:t>
            </a:r>
            <a:endParaRPr lang="en-US" sz="1000" dirty="0"/>
          </a:p>
        </p:txBody>
      </p:sp>
      <p:sp>
        <p:nvSpPr>
          <p:cNvPr id="45" name="ovl_s21_ns_aws"/>
          <p:cNvSpPr txBox="1"/>
          <p:nvPr/>
        </p:nvSpPr>
        <p:spPr>
          <a:xfrm>
            <a:off x="502920" y="2233422"/>
            <a:ext cx="128016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クラウド基盤の</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技術者 約 6〜7 年</a:t>
            </a:r>
            <a:endParaRPr lang="en-US" sz="850" dirty="0"/>
          </a:p>
        </p:txBody>
      </p:sp>
      <p:sp>
        <p:nvSpPr>
          <p:cNvPr id="46" name="ovl_s21_n_prim"/>
          <p:cNvSpPr/>
          <p:nvPr/>
        </p:nvSpPr>
        <p:spPr>
          <a:xfrm>
            <a:off x="457200" y="2983230"/>
            <a:ext cx="1371600" cy="749808"/>
          </a:xfrm>
          <a:prstGeom prst="roundRect">
            <a:avLst>
              <a:gd name="adj" fmla="val 7317"/>
            </a:avLst>
          </a:prstGeom>
          <a:solidFill>
            <a:srgbClr val="FFFFFF"/>
          </a:solidFill>
          <a:ln w="9525">
            <a:solidFill>
              <a:srgbClr val="767676"/>
            </a:solidFill>
            <a:prstDash val="solid"/>
          </a:ln>
        </p:spPr>
      </p:sp>
      <p:sp>
        <p:nvSpPr>
          <p:cNvPr id="47" name="ovl_s21_nt_prim"/>
          <p:cNvSpPr txBox="1"/>
          <p:nvPr/>
        </p:nvSpPr>
        <p:spPr>
          <a:xfrm>
            <a:off x="493776" y="3010662"/>
            <a:ext cx="1298448" cy="205740"/>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Primavera(1993〜)</a:t>
            </a:r>
            <a:endParaRPr lang="en-US" sz="900" dirty="0"/>
          </a:p>
        </p:txBody>
      </p:sp>
      <p:sp>
        <p:nvSpPr>
          <p:cNvPr id="48" name="ovl_s21_ns_prim"/>
          <p:cNvSpPr txBox="1"/>
          <p:nvPr/>
        </p:nvSpPr>
        <p:spPr>
          <a:xfrm>
            <a:off x="502920" y="3216402"/>
            <a:ext cx="128016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技術者 → CTO</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2008 年に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Oracle が買収</a:t>
            </a:r>
            <a:endParaRPr lang="en-US" sz="850" dirty="0"/>
          </a:p>
        </p:txBody>
      </p:sp>
      <p:sp>
        <p:nvSpPr>
          <p:cNvPr id="49" name="ovl_s21_n_aes"/>
          <p:cNvSpPr/>
          <p:nvPr/>
        </p:nvSpPr>
        <p:spPr>
          <a:xfrm>
            <a:off x="457200" y="3966210"/>
            <a:ext cx="1371600" cy="749808"/>
          </a:xfrm>
          <a:prstGeom prst="roundRect">
            <a:avLst>
              <a:gd name="adj" fmla="val 7317"/>
            </a:avLst>
          </a:prstGeom>
          <a:solidFill>
            <a:srgbClr val="EAF4EE"/>
          </a:solidFill>
          <a:ln w="9525">
            <a:solidFill>
              <a:srgbClr val="86C99B"/>
            </a:solidFill>
            <a:prstDash val="solid"/>
          </a:ln>
        </p:spPr>
      </p:sp>
      <p:sp>
        <p:nvSpPr>
          <p:cNvPr id="50" name="ovl_s21_nt_aes"/>
          <p:cNvSpPr txBox="1"/>
          <p:nvPr/>
        </p:nvSpPr>
        <p:spPr>
          <a:xfrm>
            <a:off x="493776" y="3993642"/>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AES・Schneider</a:t>
            </a:r>
            <a:endParaRPr lang="en-US" sz="1000" dirty="0"/>
          </a:p>
        </p:txBody>
      </p:sp>
      <p:sp>
        <p:nvSpPr>
          <p:cNvPr id="51" name="ovl_s21_ns_aes"/>
          <p:cNvSpPr txBox="1"/>
          <p:nvPr/>
        </p:nvSpPr>
        <p:spPr>
          <a:xfrm>
            <a:off x="502920" y="4199382"/>
            <a:ext cx="128016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電力・インフラ企業の</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財務 約 12 年・約 10 年</a:t>
            </a:r>
            <a:endParaRPr lang="en-US" sz="850" dirty="0"/>
          </a:p>
        </p:txBody>
      </p:sp>
      <p:sp>
        <p:nvSpPr>
          <p:cNvPr id="52" name="ovl_s21_n_found"/>
          <p:cNvSpPr/>
          <p:nvPr/>
        </p:nvSpPr>
        <p:spPr>
          <a:xfrm>
            <a:off x="457200" y="4949190"/>
            <a:ext cx="1371600" cy="749808"/>
          </a:xfrm>
          <a:prstGeom prst="roundRect">
            <a:avLst>
              <a:gd name="adj" fmla="val 7317"/>
            </a:avLst>
          </a:prstGeom>
          <a:solidFill>
            <a:srgbClr val="FFFFFF"/>
          </a:solidFill>
          <a:ln w="9525">
            <a:solidFill>
              <a:srgbClr val="767676"/>
            </a:solidFill>
            <a:prstDash val="solid"/>
          </a:ln>
        </p:spPr>
      </p:sp>
      <p:sp>
        <p:nvSpPr>
          <p:cNvPr id="53" name="ovl_s21_nt_found"/>
          <p:cNvSpPr txBox="1"/>
          <p:nvPr/>
        </p:nvSpPr>
        <p:spPr>
          <a:xfrm>
            <a:off x="493776" y="4976622"/>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Oracle 創業(1977)</a:t>
            </a:r>
            <a:endParaRPr lang="en-US" sz="1000" dirty="0"/>
          </a:p>
        </p:txBody>
      </p:sp>
      <p:sp>
        <p:nvSpPr>
          <p:cNvPr id="54" name="ovl_s21_ns_found"/>
          <p:cNvSpPr txBox="1"/>
          <p:nvPr/>
        </p:nvSpPr>
        <p:spPr>
          <a:xfrm>
            <a:off x="502920" y="5182362"/>
            <a:ext cx="128016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DB 事業を起こす</a:t>
            </a:r>
            <a:endParaRPr lang="en-US" sz="850" dirty="0"/>
          </a:p>
        </p:txBody>
      </p:sp>
      <p:sp>
        <p:nvSpPr>
          <p:cNvPr id="55" name="ovl_s21_n_mag"/>
          <p:cNvSpPr/>
          <p:nvPr/>
        </p:nvSpPr>
        <p:spPr>
          <a:xfrm>
            <a:off x="2667000" y="2000250"/>
            <a:ext cx="1325880" cy="749808"/>
          </a:xfrm>
          <a:prstGeom prst="roundRect">
            <a:avLst>
              <a:gd name="adj" fmla="val 7317"/>
            </a:avLst>
          </a:prstGeom>
          <a:solidFill>
            <a:srgbClr val="197A56"/>
          </a:solidFill>
          <a:ln w="9525">
            <a:solidFill>
              <a:srgbClr val="197A56"/>
            </a:solidFill>
            <a:prstDash val="solid"/>
          </a:ln>
        </p:spPr>
      </p:sp>
      <p:sp>
        <p:nvSpPr>
          <p:cNvPr id="56" name="ovl_s21_nt_mag"/>
          <p:cNvSpPr txBox="1"/>
          <p:nvPr/>
        </p:nvSpPr>
        <p:spPr>
          <a:xfrm>
            <a:off x="2703576" y="2027682"/>
            <a:ext cx="1252728" cy="356616"/>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Magouyrk</a:t>
            </a:r>
            <a:endParaRPr lang="en-US" sz="900" dirty="0"/>
          </a:p>
          <a:p>
            <a:pPr algn="ctr" indent="0" marL="0">
              <a:buNone/>
            </a:pPr>
            <a:r>
              <a:rPr lang="en-US" sz="900" b="1" dirty="0">
                <a:solidFill>
                  <a:srgbClr val="FFFFFF"/>
                </a:solidFill>
                <a:latin typeface="Meiryo UI" pitchFamily="34" charset="0"/>
                <a:ea typeface="Meiryo UI" pitchFamily="34" charset="-122"/>
                <a:cs typeface="Meiryo UI" pitchFamily="34" charset="-120"/>
              </a:rPr>
              <a:t>(共同 CEO)</a:t>
            </a:r>
            <a:endParaRPr lang="en-US" sz="900" dirty="0"/>
          </a:p>
        </p:txBody>
      </p:sp>
      <p:sp>
        <p:nvSpPr>
          <p:cNvPr id="57" name="ovl_s21_ns_mag"/>
          <p:cNvSpPr txBox="1"/>
          <p:nvPr/>
        </p:nvSpPr>
        <p:spPr>
          <a:xfrm>
            <a:off x="2712720" y="2384298"/>
            <a:ext cx="1234440" cy="338328"/>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2014 年に OCI を創設</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Gen2 を設計・統括</a:t>
            </a:r>
            <a:endParaRPr lang="en-US" sz="850" dirty="0"/>
          </a:p>
        </p:txBody>
      </p:sp>
      <p:sp>
        <p:nvSpPr>
          <p:cNvPr id="58" name="ovl_s21_n_sic"/>
          <p:cNvSpPr/>
          <p:nvPr/>
        </p:nvSpPr>
        <p:spPr>
          <a:xfrm>
            <a:off x="2667000" y="2983230"/>
            <a:ext cx="1325880" cy="749808"/>
          </a:xfrm>
          <a:prstGeom prst="roundRect">
            <a:avLst>
              <a:gd name="adj" fmla="val 7317"/>
            </a:avLst>
          </a:prstGeom>
          <a:solidFill>
            <a:srgbClr val="197A56"/>
          </a:solidFill>
          <a:ln w="9525">
            <a:solidFill>
              <a:srgbClr val="197A56"/>
            </a:solidFill>
            <a:prstDash val="solid"/>
          </a:ln>
        </p:spPr>
      </p:sp>
      <p:sp>
        <p:nvSpPr>
          <p:cNvPr id="59" name="ovl_s21_nt_sic"/>
          <p:cNvSpPr txBox="1"/>
          <p:nvPr/>
        </p:nvSpPr>
        <p:spPr>
          <a:xfrm>
            <a:off x="2703576" y="3010662"/>
            <a:ext cx="1252728" cy="356616"/>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Sicilia</a:t>
            </a:r>
            <a:endParaRPr lang="en-US" sz="900" dirty="0"/>
          </a:p>
          <a:p>
            <a:pPr algn="ctr" indent="0" marL="0">
              <a:buNone/>
            </a:pPr>
            <a:r>
              <a:rPr lang="en-US" sz="900" b="1" dirty="0">
                <a:solidFill>
                  <a:srgbClr val="FFFFFF"/>
                </a:solidFill>
                <a:latin typeface="Meiryo UI" pitchFamily="34" charset="0"/>
                <a:ea typeface="Meiryo UI" pitchFamily="34" charset="-122"/>
                <a:cs typeface="Meiryo UI" pitchFamily="34" charset="-120"/>
              </a:rPr>
              <a:t>(共同 CEO)</a:t>
            </a:r>
            <a:endParaRPr lang="en-US" sz="900" dirty="0"/>
          </a:p>
        </p:txBody>
      </p:sp>
      <p:sp>
        <p:nvSpPr>
          <p:cNvPr id="60" name="ovl_s21_ns_sic"/>
          <p:cNvSpPr txBox="1"/>
          <p:nvPr/>
        </p:nvSpPr>
        <p:spPr>
          <a:xfrm>
            <a:off x="2712720" y="3367278"/>
            <a:ext cx="1234440" cy="338328"/>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業種別事業を統括</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アプリを AI で再構築</a:t>
            </a:r>
            <a:endParaRPr lang="en-US" sz="850" dirty="0"/>
          </a:p>
        </p:txBody>
      </p:sp>
      <p:sp>
        <p:nvSpPr>
          <p:cNvPr id="61" name="ovl_s21_n_max"/>
          <p:cNvSpPr/>
          <p:nvPr/>
        </p:nvSpPr>
        <p:spPr>
          <a:xfrm>
            <a:off x="2667000" y="3966210"/>
            <a:ext cx="1325880" cy="749808"/>
          </a:xfrm>
          <a:prstGeom prst="roundRect">
            <a:avLst>
              <a:gd name="adj" fmla="val 7317"/>
            </a:avLst>
          </a:prstGeom>
          <a:solidFill>
            <a:srgbClr val="197A56"/>
          </a:solidFill>
          <a:ln w="9525">
            <a:solidFill>
              <a:srgbClr val="197A56"/>
            </a:solidFill>
            <a:prstDash val="solid"/>
          </a:ln>
        </p:spPr>
      </p:sp>
      <p:sp>
        <p:nvSpPr>
          <p:cNvPr id="62" name="ovl_s21_nt_max"/>
          <p:cNvSpPr txBox="1"/>
          <p:nvPr/>
        </p:nvSpPr>
        <p:spPr>
          <a:xfrm>
            <a:off x="2703576" y="3993642"/>
            <a:ext cx="1252728" cy="356616"/>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Maxson</a:t>
            </a:r>
            <a:endParaRPr lang="en-US" sz="900" dirty="0"/>
          </a:p>
          <a:p>
            <a:pPr algn="ctr" indent="0" marL="0">
              <a:buNone/>
            </a:pPr>
            <a:r>
              <a:rPr lang="en-US" sz="900" b="1" dirty="0">
                <a:solidFill>
                  <a:srgbClr val="FFFFFF"/>
                </a:solidFill>
                <a:latin typeface="Meiryo UI" pitchFamily="34" charset="0"/>
                <a:ea typeface="Meiryo UI" pitchFamily="34" charset="-122"/>
                <a:cs typeface="Meiryo UI" pitchFamily="34" charset="-120"/>
              </a:rPr>
              <a:t>(CFO)</a:t>
            </a:r>
            <a:endParaRPr lang="en-US" sz="900" dirty="0"/>
          </a:p>
        </p:txBody>
      </p:sp>
      <p:sp>
        <p:nvSpPr>
          <p:cNvPr id="63" name="ovl_s21_ns_max"/>
          <p:cNvSpPr txBox="1"/>
          <p:nvPr/>
        </p:nvSpPr>
        <p:spPr>
          <a:xfrm>
            <a:off x="2712720" y="4350258"/>
            <a:ext cx="1234440" cy="338328"/>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2026-04 就任</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CEO に報告</a:t>
            </a:r>
            <a:endParaRPr lang="en-US" sz="850" dirty="0"/>
          </a:p>
        </p:txBody>
      </p:sp>
      <p:sp>
        <p:nvSpPr>
          <p:cNvPr id="64" name="ovl_s21_n_ell"/>
          <p:cNvSpPr/>
          <p:nvPr/>
        </p:nvSpPr>
        <p:spPr>
          <a:xfrm>
            <a:off x="2667000" y="4949190"/>
            <a:ext cx="1325880" cy="749808"/>
          </a:xfrm>
          <a:prstGeom prst="roundRect">
            <a:avLst>
              <a:gd name="adj" fmla="val 7317"/>
            </a:avLst>
          </a:prstGeom>
          <a:solidFill>
            <a:srgbClr val="FFFFFF"/>
          </a:solidFill>
          <a:ln w="9525">
            <a:solidFill>
              <a:srgbClr val="767676"/>
            </a:solidFill>
            <a:prstDash val="solid"/>
          </a:ln>
        </p:spPr>
      </p:sp>
      <p:sp>
        <p:nvSpPr>
          <p:cNvPr id="65" name="ovl_s21_nt_ell"/>
          <p:cNvSpPr txBox="1"/>
          <p:nvPr/>
        </p:nvSpPr>
        <p:spPr>
          <a:xfrm>
            <a:off x="2703576" y="4976622"/>
            <a:ext cx="1252728"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Ellison</a:t>
            </a:r>
            <a:endParaRPr lang="en-US" sz="900" dirty="0"/>
          </a:p>
          <a:p>
            <a:pPr algn="ctr" indent="0" marL="0">
              <a:buNone/>
            </a:pPr>
            <a:r>
              <a:rPr lang="en-US" sz="900" b="1" dirty="0">
                <a:solidFill>
                  <a:srgbClr val="0E4D33"/>
                </a:solidFill>
                <a:latin typeface="Meiryo UI" pitchFamily="34" charset="0"/>
                <a:ea typeface="Meiryo UI" pitchFamily="34" charset="-122"/>
                <a:cs typeface="Meiryo UI" pitchFamily="34" charset="-120"/>
              </a:rPr>
              <a:t>(会長・CTO)</a:t>
            </a:r>
            <a:endParaRPr lang="en-US" sz="900" dirty="0"/>
          </a:p>
        </p:txBody>
      </p:sp>
      <p:sp>
        <p:nvSpPr>
          <p:cNvPr id="66" name="ovl_s21_ns_ell"/>
          <p:cNvSpPr txBox="1"/>
          <p:nvPr/>
        </p:nvSpPr>
        <p:spPr>
          <a:xfrm>
            <a:off x="2712720" y="5333238"/>
            <a:ext cx="1234440" cy="3383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株式 約 41%</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キーパーソン</a:t>
            </a:r>
            <a:endParaRPr lang="en-US" sz="850" dirty="0"/>
          </a:p>
        </p:txBody>
      </p:sp>
      <p:sp>
        <p:nvSpPr>
          <p:cNvPr id="67" name="ovl_s21_n_oci"/>
          <p:cNvSpPr/>
          <p:nvPr/>
        </p:nvSpPr>
        <p:spPr>
          <a:xfrm>
            <a:off x="4831080" y="2000250"/>
            <a:ext cx="1280160" cy="749808"/>
          </a:xfrm>
          <a:prstGeom prst="roundRect">
            <a:avLst>
              <a:gd name="adj" fmla="val 7317"/>
            </a:avLst>
          </a:prstGeom>
          <a:solidFill>
            <a:srgbClr val="FFFFFF"/>
          </a:solidFill>
          <a:ln w="19050">
            <a:solidFill>
              <a:srgbClr val="197A56"/>
            </a:solidFill>
            <a:prstDash val="solid"/>
          </a:ln>
        </p:spPr>
      </p:sp>
      <p:sp>
        <p:nvSpPr>
          <p:cNvPr id="68" name="ovl_s21_nt_oci"/>
          <p:cNvSpPr txBox="1"/>
          <p:nvPr/>
        </p:nvSpPr>
        <p:spPr>
          <a:xfrm>
            <a:off x="4867656" y="2027682"/>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OCI・AI 容量</a:t>
            </a:r>
            <a:endParaRPr lang="en-US" sz="1000" dirty="0"/>
          </a:p>
        </p:txBody>
      </p:sp>
      <p:sp>
        <p:nvSpPr>
          <p:cNvPr id="69" name="ovl_s21_ns_oci"/>
          <p:cNvSpPr txBox="1"/>
          <p:nvPr/>
        </p:nvSpPr>
        <p:spPr>
          <a:xfrm>
            <a:off x="4876800" y="2233422"/>
            <a:ext cx="118872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IaaS +121%</a:t>
            </a:r>
            <a:endParaRPr lang="en-US" sz="850" dirty="0"/>
          </a:p>
        </p:txBody>
      </p:sp>
      <p:sp>
        <p:nvSpPr>
          <p:cNvPr id="70" name="ovl_s21_n_app"/>
          <p:cNvSpPr/>
          <p:nvPr/>
        </p:nvSpPr>
        <p:spPr>
          <a:xfrm>
            <a:off x="4831080" y="2983230"/>
            <a:ext cx="1280160" cy="749808"/>
          </a:xfrm>
          <a:prstGeom prst="roundRect">
            <a:avLst>
              <a:gd name="adj" fmla="val 7317"/>
            </a:avLst>
          </a:prstGeom>
          <a:solidFill>
            <a:srgbClr val="FFFFFF"/>
          </a:solidFill>
          <a:ln w="19050">
            <a:solidFill>
              <a:srgbClr val="197A56"/>
            </a:solidFill>
            <a:prstDash val="solid"/>
          </a:ln>
        </p:spPr>
      </p:sp>
      <p:sp>
        <p:nvSpPr>
          <p:cNvPr id="71" name="ovl_s21_nt_app"/>
          <p:cNvSpPr txBox="1"/>
          <p:nvPr/>
        </p:nvSpPr>
        <p:spPr>
          <a:xfrm>
            <a:off x="4867656" y="3010662"/>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アプリ・業種別</a:t>
            </a:r>
            <a:endParaRPr lang="en-US" sz="1000" dirty="0"/>
          </a:p>
        </p:txBody>
      </p:sp>
      <p:sp>
        <p:nvSpPr>
          <p:cNvPr id="72" name="ovl_s21_ns_app"/>
          <p:cNvSpPr txBox="1"/>
          <p:nvPr/>
        </p:nvSpPr>
        <p:spPr>
          <a:xfrm>
            <a:off x="4876800" y="3216402"/>
            <a:ext cx="118872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SaaS +10%</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Oracle Health</a:t>
            </a:r>
            <a:endParaRPr lang="en-US" sz="850" dirty="0"/>
          </a:p>
        </p:txBody>
      </p:sp>
      <p:sp>
        <p:nvSpPr>
          <p:cNvPr id="73" name="ovl_s21_n_cap"/>
          <p:cNvSpPr/>
          <p:nvPr/>
        </p:nvSpPr>
        <p:spPr>
          <a:xfrm>
            <a:off x="4831080" y="3966210"/>
            <a:ext cx="1280160" cy="749808"/>
          </a:xfrm>
          <a:prstGeom prst="roundRect">
            <a:avLst>
              <a:gd name="adj" fmla="val 7317"/>
            </a:avLst>
          </a:prstGeom>
          <a:solidFill>
            <a:srgbClr val="FFFFFF"/>
          </a:solidFill>
          <a:ln w="19050">
            <a:solidFill>
              <a:srgbClr val="197A56"/>
            </a:solidFill>
            <a:prstDash val="solid"/>
          </a:ln>
        </p:spPr>
      </p:sp>
      <p:sp>
        <p:nvSpPr>
          <p:cNvPr id="74" name="ovl_s21_nt_cap"/>
          <p:cNvSpPr txBox="1"/>
          <p:nvPr/>
        </p:nvSpPr>
        <p:spPr>
          <a:xfrm>
            <a:off x="4867656" y="3993642"/>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capex と資金調達</a:t>
            </a:r>
            <a:endParaRPr lang="en-US" sz="1000" dirty="0"/>
          </a:p>
        </p:txBody>
      </p:sp>
      <p:sp>
        <p:nvSpPr>
          <p:cNvPr id="75" name="ovl_s21_ns_cap"/>
          <p:cNvSpPr txBox="1"/>
          <p:nvPr/>
        </p:nvSpPr>
        <p:spPr>
          <a:xfrm>
            <a:off x="4876800" y="4199382"/>
            <a:ext cx="118872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FY27 総額</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900〜950 億ドル</a:t>
            </a:r>
            <a:endParaRPr lang="en-US" sz="850" dirty="0"/>
          </a:p>
        </p:txBody>
      </p:sp>
      <p:sp>
        <p:nvSpPr>
          <p:cNvPr id="76" name="ovl_s21_n_pay"/>
          <p:cNvSpPr/>
          <p:nvPr/>
        </p:nvSpPr>
        <p:spPr>
          <a:xfrm>
            <a:off x="4831080" y="4949190"/>
            <a:ext cx="1280160" cy="749808"/>
          </a:xfrm>
          <a:prstGeom prst="roundRect">
            <a:avLst>
              <a:gd name="adj" fmla="val 7317"/>
            </a:avLst>
          </a:prstGeom>
          <a:solidFill>
            <a:srgbClr val="FFFFFF"/>
          </a:solidFill>
          <a:ln w="19050">
            <a:solidFill>
              <a:srgbClr val="C0392B"/>
            </a:solidFill>
            <a:prstDash val="solid"/>
          </a:ln>
        </p:spPr>
      </p:sp>
      <p:sp>
        <p:nvSpPr>
          <p:cNvPr id="77" name="ovl_s21_nt_pay"/>
          <p:cNvSpPr txBox="1"/>
          <p:nvPr/>
        </p:nvSpPr>
        <p:spPr>
          <a:xfrm>
            <a:off x="4867656" y="4976622"/>
            <a:ext cx="1207008" cy="356616"/>
          </a:xfrm>
          <a:prstGeom prst="rect">
            <a:avLst/>
          </a:prstGeom>
          <a:noFill/>
          <a:ln/>
        </p:spPr>
        <p:txBody>
          <a:bodyPr wrap="square" lIns="0" tIns="0" rIns="0" bIns="0" rtlCol="0" anchor="ctr"/>
          <a:lstStyle/>
          <a:p>
            <a:pPr algn="ctr" indent="0" marL="0">
              <a:buNone/>
            </a:pPr>
            <a:r>
              <a:rPr lang="en-US" sz="900" b="1" dirty="0">
                <a:solidFill>
                  <a:srgbClr val="C0392B"/>
                </a:solidFill>
                <a:latin typeface="Meiryo UI" pitchFamily="34" charset="0"/>
                <a:ea typeface="Meiryo UI" pitchFamily="34" charset="-122"/>
                <a:cs typeface="Meiryo UI" pitchFamily="34" charset="-120"/>
              </a:rPr>
              <a:t>業績連動の報酬</a:t>
            </a:r>
            <a:endParaRPr lang="en-US" sz="900" dirty="0"/>
          </a:p>
          <a:p>
            <a:pPr algn="ctr" indent="0" marL="0">
              <a:buNone/>
            </a:pPr>
            <a:r>
              <a:rPr lang="en-US" sz="900" b="1" dirty="0">
                <a:solidFill>
                  <a:srgbClr val="C0392B"/>
                </a:solidFill>
                <a:latin typeface="Meiryo UI" pitchFamily="34" charset="0"/>
                <a:ea typeface="Meiryo UI" pitchFamily="34" charset="-122"/>
                <a:cs typeface="Meiryo UI" pitchFamily="34" charset="-120"/>
              </a:rPr>
              <a:t>(PSO)</a:t>
            </a:r>
            <a:endParaRPr lang="en-US" sz="900" dirty="0"/>
          </a:p>
        </p:txBody>
      </p:sp>
      <p:sp>
        <p:nvSpPr>
          <p:cNvPr id="78" name="ovl_s21_ns_pay"/>
          <p:cNvSpPr txBox="1"/>
          <p:nvPr/>
        </p:nvSpPr>
        <p:spPr>
          <a:xfrm>
            <a:off x="4876800" y="5333238"/>
            <a:ext cx="1188720" cy="3383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KPI は FY28 総売上</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(1 株指標ではない)</a:t>
            </a:r>
            <a:endParaRPr lang="en-US" sz="850" dirty="0"/>
          </a:p>
        </p:txBody>
      </p:sp>
      <p:sp>
        <p:nvSpPr>
          <p:cNvPr id="79" name="ovl_s21_n_rpo"/>
          <p:cNvSpPr/>
          <p:nvPr/>
        </p:nvSpPr>
        <p:spPr>
          <a:xfrm>
            <a:off x="6949440" y="2000250"/>
            <a:ext cx="1325880" cy="749808"/>
          </a:xfrm>
          <a:prstGeom prst="roundRect">
            <a:avLst>
              <a:gd name="adj" fmla="val 7317"/>
            </a:avLst>
          </a:prstGeom>
          <a:solidFill>
            <a:srgbClr val="EAF4EE"/>
          </a:solidFill>
          <a:ln w="9525">
            <a:solidFill>
              <a:srgbClr val="86C99B"/>
            </a:solidFill>
            <a:prstDash val="solid"/>
          </a:ln>
        </p:spPr>
      </p:sp>
      <p:sp>
        <p:nvSpPr>
          <p:cNvPr id="80" name="ovl_s21_nt_rpo"/>
          <p:cNvSpPr txBox="1"/>
          <p:nvPr/>
        </p:nvSpPr>
        <p:spPr>
          <a:xfrm>
            <a:off x="6986016" y="2027682"/>
            <a:ext cx="1252728"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受注残</a:t>
            </a:r>
            <a:endParaRPr lang="en-US" sz="900" dirty="0"/>
          </a:p>
          <a:p>
            <a:pPr algn="ctr" indent="0" marL="0">
              <a:buNone/>
            </a:pPr>
            <a:r>
              <a:rPr lang="en-US" sz="900" b="1" dirty="0">
                <a:solidFill>
                  <a:srgbClr val="0E4D33"/>
                </a:solidFill>
                <a:latin typeface="Meiryo UI" pitchFamily="34" charset="0"/>
                <a:ea typeface="Meiryo UI" pitchFamily="34" charset="-122"/>
                <a:cs typeface="Meiryo UI" pitchFamily="34" charset="-120"/>
              </a:rPr>
              <a:t>6,640 億ドル</a:t>
            </a:r>
            <a:endParaRPr lang="en-US" sz="900" dirty="0"/>
          </a:p>
        </p:txBody>
      </p:sp>
      <p:sp>
        <p:nvSpPr>
          <p:cNvPr id="81" name="ovl_s21_ns_rpo"/>
          <p:cNvSpPr txBox="1"/>
          <p:nvPr/>
        </p:nvSpPr>
        <p:spPr>
          <a:xfrm>
            <a:off x="6995160" y="2384298"/>
            <a:ext cx="1234440" cy="3383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GPU 更新 +20%</a:t>
            </a:r>
            <a:endParaRPr lang="en-US" sz="850" dirty="0"/>
          </a:p>
        </p:txBody>
      </p:sp>
      <p:sp>
        <p:nvSpPr>
          <p:cNvPr id="82" name="ovl_s21_n_va"/>
          <p:cNvSpPr/>
          <p:nvPr/>
        </p:nvSpPr>
        <p:spPr>
          <a:xfrm>
            <a:off x="6949440" y="2983230"/>
            <a:ext cx="1325880" cy="749808"/>
          </a:xfrm>
          <a:prstGeom prst="roundRect">
            <a:avLst>
              <a:gd name="adj" fmla="val 7317"/>
            </a:avLst>
          </a:prstGeom>
          <a:solidFill>
            <a:srgbClr val="FFFFFF"/>
          </a:solidFill>
          <a:ln w="19050">
            <a:solidFill>
              <a:srgbClr val="C0392B"/>
            </a:solidFill>
            <a:prstDash val="solid"/>
          </a:ln>
        </p:spPr>
      </p:sp>
      <p:sp>
        <p:nvSpPr>
          <p:cNvPr id="83" name="ovl_s21_nt_va"/>
          <p:cNvSpPr txBox="1"/>
          <p:nvPr/>
        </p:nvSpPr>
        <p:spPr>
          <a:xfrm>
            <a:off x="6986016" y="3010662"/>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VA の電子カルテ</a:t>
            </a:r>
            <a:endParaRPr lang="en-US" sz="1000" dirty="0"/>
          </a:p>
        </p:txBody>
      </p:sp>
      <p:sp>
        <p:nvSpPr>
          <p:cNvPr id="84" name="ovl_s21_ns_va"/>
          <p:cNvSpPr txBox="1"/>
          <p:nvPr/>
        </p:nvSpPr>
        <p:spPr>
          <a:xfrm>
            <a:off x="6995160" y="321640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2026-03 に全国障害</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上限 100 億ドルを</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早期消化</a:t>
            </a:r>
            <a:endParaRPr lang="en-US" sz="850" dirty="0"/>
          </a:p>
        </p:txBody>
      </p:sp>
      <p:sp>
        <p:nvSpPr>
          <p:cNvPr id="85" name="ovl_s21_n_over"/>
          <p:cNvSpPr/>
          <p:nvPr/>
        </p:nvSpPr>
        <p:spPr>
          <a:xfrm>
            <a:off x="6949440" y="3966210"/>
            <a:ext cx="1325880" cy="749808"/>
          </a:xfrm>
          <a:prstGeom prst="roundRect">
            <a:avLst>
              <a:gd name="adj" fmla="val 7317"/>
            </a:avLst>
          </a:prstGeom>
          <a:solidFill>
            <a:srgbClr val="FFFFFF"/>
          </a:solidFill>
          <a:ln w="19050">
            <a:solidFill>
              <a:srgbClr val="C0392B"/>
            </a:solidFill>
            <a:prstDash val="solid"/>
          </a:ln>
        </p:spPr>
      </p:sp>
      <p:sp>
        <p:nvSpPr>
          <p:cNvPr id="86" name="ovl_s21_nt_over"/>
          <p:cNvSpPr txBox="1"/>
          <p:nvPr/>
        </p:nvSpPr>
        <p:spPr>
          <a:xfrm>
            <a:off x="6986016" y="3993642"/>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capex の超過</a:t>
            </a:r>
            <a:endParaRPr lang="en-US" sz="1000" dirty="0"/>
          </a:p>
        </p:txBody>
      </p:sp>
      <p:sp>
        <p:nvSpPr>
          <p:cNvPr id="87" name="ovl_s21_ns_over"/>
          <p:cNvSpPr txBox="1"/>
          <p:nvPr/>
        </p:nvSpPr>
        <p:spPr>
          <a:xfrm>
            <a:off x="6995160" y="419938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FY26 見通し</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350 → 500 → 実績</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557 億ドル</a:t>
            </a:r>
            <a:endParaRPr lang="en-US" sz="850" dirty="0"/>
          </a:p>
        </p:txBody>
      </p:sp>
      <p:sp>
        <p:nvSpPr>
          <p:cNvPr id="88" name="ovl_s21_n_gap"/>
          <p:cNvSpPr/>
          <p:nvPr/>
        </p:nvSpPr>
        <p:spPr>
          <a:xfrm>
            <a:off x="6949440" y="4949190"/>
            <a:ext cx="1325880" cy="749808"/>
          </a:xfrm>
          <a:prstGeom prst="roundRect">
            <a:avLst>
              <a:gd name="adj" fmla="val 7317"/>
            </a:avLst>
          </a:prstGeom>
          <a:solidFill>
            <a:srgbClr val="FFFFFF"/>
          </a:solidFill>
          <a:ln w="19050">
            <a:solidFill>
              <a:srgbClr val="C0392B"/>
            </a:solidFill>
            <a:prstDash val="solid"/>
          </a:ln>
        </p:spPr>
      </p:sp>
      <p:sp>
        <p:nvSpPr>
          <p:cNvPr id="89" name="ovl_s21_nt_gap"/>
          <p:cNvSpPr txBox="1"/>
          <p:nvPr/>
        </p:nvSpPr>
        <p:spPr>
          <a:xfrm>
            <a:off x="6986016" y="4976622"/>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1 株価値とのずれ</a:t>
            </a:r>
            <a:endParaRPr lang="en-US" sz="1000" dirty="0"/>
          </a:p>
        </p:txBody>
      </p:sp>
      <p:sp>
        <p:nvSpPr>
          <p:cNvPr id="90" name="ovl_s21_ns_gap"/>
          <p:cNvSpPr txBox="1"/>
          <p:nvPr/>
        </p:nvSpPr>
        <p:spPr>
          <a:xfrm>
            <a:off x="6995160" y="518236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総額の拡大に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報酬が連動</a:t>
            </a:r>
            <a:endParaRPr lang="en-US" sz="850" dirty="0"/>
          </a:p>
        </p:txBody>
      </p:sp>
      <p:sp>
        <p:nvSpPr>
          <p:cNvPr id="91" name="ovl_s21_lab0"/>
          <p:cNvSpPr txBox="1"/>
          <p:nvPr/>
        </p:nvSpPr>
        <p:spPr>
          <a:xfrm>
            <a:off x="1825790" y="2141982"/>
            <a:ext cx="844220"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767676"/>
                </a:solidFill>
                <a:latin typeface="Meiryo UI" pitchFamily="34" charset="0"/>
                <a:ea typeface="Meiryo UI" pitchFamily="34" charset="-122"/>
                <a:cs typeface="Meiryo UI" pitchFamily="34" charset="-120"/>
              </a:rPr>
              <a:t>① </a:t>
            </a:r>
            <a:r>
              <a:rPr lang="en-US" sz="850" dirty="0">
                <a:solidFill>
                  <a:srgbClr val="767676"/>
                </a:solidFill>
                <a:latin typeface="Meiryo UI" pitchFamily="34" charset="0"/>
                <a:ea typeface="Meiryo UI" pitchFamily="34" charset="-122"/>
                <a:cs typeface="Meiryo UI" pitchFamily="34" charset="-120"/>
              </a:rPr>
              <a:t>基盤の技術</a:t>
            </a:r>
            <a:endParaRPr lang="en-US" sz="850" dirty="0"/>
          </a:p>
        </p:txBody>
      </p:sp>
      <p:sp>
        <p:nvSpPr>
          <p:cNvPr id="92" name="ovl_s21_lab1"/>
          <p:cNvSpPr txBox="1"/>
          <p:nvPr/>
        </p:nvSpPr>
        <p:spPr>
          <a:xfrm>
            <a:off x="1973580" y="2983230"/>
            <a:ext cx="548640"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767676"/>
                </a:solidFill>
                <a:latin typeface="Meiryo UI" pitchFamily="34" charset="0"/>
                <a:ea typeface="Meiryo UI" pitchFamily="34" charset="-122"/>
                <a:cs typeface="Meiryo UI" pitchFamily="34" charset="-120"/>
              </a:rPr>
              <a:t>② </a:t>
            </a:r>
            <a:r>
              <a:rPr lang="en-US" sz="850" dirty="0">
                <a:solidFill>
                  <a:srgbClr val="767676"/>
                </a:solidFill>
                <a:latin typeface="Meiryo UI" pitchFamily="34" charset="0"/>
                <a:ea typeface="Meiryo UI" pitchFamily="34" charset="-122"/>
                <a:cs typeface="Meiryo UI" pitchFamily="34" charset="-120"/>
              </a:rPr>
              <a:t>業種別ソフト</a:t>
            </a:r>
            <a:endParaRPr lang="en-US" sz="850" dirty="0"/>
          </a:p>
        </p:txBody>
      </p:sp>
      <p:sp>
        <p:nvSpPr>
          <p:cNvPr id="93" name="ovl_s21_lab2"/>
          <p:cNvSpPr txBox="1"/>
          <p:nvPr/>
        </p:nvSpPr>
        <p:spPr>
          <a:xfrm>
            <a:off x="1825790" y="4107942"/>
            <a:ext cx="844220"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767676"/>
                </a:solidFill>
                <a:latin typeface="Meiryo UI" pitchFamily="34" charset="0"/>
                <a:ea typeface="Meiryo UI" pitchFamily="34" charset="-122"/>
                <a:cs typeface="Meiryo UI" pitchFamily="34" charset="-120"/>
              </a:rPr>
              <a:t>③ </a:t>
            </a:r>
            <a:r>
              <a:rPr lang="en-US" sz="850" dirty="0">
                <a:solidFill>
                  <a:srgbClr val="767676"/>
                </a:solidFill>
                <a:latin typeface="Meiryo UI" pitchFamily="34" charset="0"/>
                <a:ea typeface="Meiryo UI" pitchFamily="34" charset="-122"/>
                <a:cs typeface="Meiryo UI" pitchFamily="34" charset="-120"/>
              </a:rPr>
              <a:t>電力の財務</a:t>
            </a:r>
            <a:endParaRPr lang="en-US" sz="850" dirty="0"/>
          </a:p>
        </p:txBody>
      </p:sp>
      <p:sp>
        <p:nvSpPr>
          <p:cNvPr id="94" name="ovl_s21_lab7"/>
          <p:cNvSpPr txBox="1"/>
          <p:nvPr/>
        </p:nvSpPr>
        <p:spPr>
          <a:xfrm>
            <a:off x="4123944" y="5090922"/>
            <a:ext cx="576072"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取締役会</a:t>
            </a:r>
            <a:endParaRPr lang="en-US" sz="850" dirty="0"/>
          </a:p>
        </p:txBody>
      </p:sp>
      <p:sp>
        <p:nvSpPr>
          <p:cNvPr id="95" name="ovl_s21_lab8"/>
          <p:cNvSpPr txBox="1"/>
          <p:nvPr/>
        </p:nvSpPr>
        <p:spPr>
          <a:xfrm>
            <a:off x="6184011" y="2141982"/>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1BA1A6"/>
                </a:solidFill>
                <a:latin typeface="Meiryo UI" pitchFamily="34" charset="0"/>
                <a:ea typeface="Meiryo UI" pitchFamily="34" charset="-122"/>
                <a:cs typeface="Meiryo UI" pitchFamily="34" charset="-120"/>
              </a:rPr>
              <a:t>受注と更新</a:t>
            </a:r>
            <a:endParaRPr lang="en-US" sz="850" dirty="0"/>
          </a:p>
        </p:txBody>
      </p:sp>
      <p:sp>
        <p:nvSpPr>
          <p:cNvPr id="96" name="ovl_s21_lab9"/>
          <p:cNvSpPr txBox="1"/>
          <p:nvPr/>
        </p:nvSpPr>
        <p:spPr>
          <a:xfrm>
            <a:off x="6184011" y="3124962"/>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導入の遅れ</a:t>
            </a:r>
            <a:endParaRPr lang="en-US" sz="850" dirty="0"/>
          </a:p>
        </p:txBody>
      </p:sp>
      <p:sp>
        <p:nvSpPr>
          <p:cNvPr id="97" name="ovl_s21_num10"/>
          <p:cNvSpPr/>
          <p:nvPr/>
        </p:nvSpPr>
        <p:spPr>
          <a:xfrm>
            <a:off x="6411468" y="4222242"/>
            <a:ext cx="237744" cy="237744"/>
          </a:xfrm>
          <a:prstGeom prst="ellipse">
            <a:avLst/>
          </a:prstGeom>
          <a:solidFill>
            <a:srgbClr val="C0392B"/>
          </a:solidFill>
          <a:ln w="12700">
            <a:solidFill>
              <a:srgbClr val="FFFFFF"/>
            </a:solidFill>
            <a:prstDash val="solid"/>
          </a:ln>
        </p:spPr>
      </p:sp>
      <p:sp>
        <p:nvSpPr>
          <p:cNvPr id="98" name="ovl_s21_numt10"/>
          <p:cNvSpPr txBox="1"/>
          <p:nvPr/>
        </p:nvSpPr>
        <p:spPr>
          <a:xfrm>
            <a:off x="6411468" y="422224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4</a:t>
            </a:r>
            <a:endParaRPr lang="en-US" sz="900" dirty="0"/>
          </a:p>
        </p:txBody>
      </p:sp>
      <p:sp>
        <p:nvSpPr>
          <p:cNvPr id="99" name="ovl_s21_num11"/>
          <p:cNvSpPr/>
          <p:nvPr/>
        </p:nvSpPr>
        <p:spPr>
          <a:xfrm>
            <a:off x="6411468" y="5205222"/>
            <a:ext cx="237744" cy="237744"/>
          </a:xfrm>
          <a:prstGeom prst="ellipse">
            <a:avLst/>
          </a:prstGeom>
          <a:solidFill>
            <a:srgbClr val="C0392B"/>
          </a:solidFill>
          <a:ln w="12700">
            <a:solidFill>
              <a:srgbClr val="FFFFFF"/>
            </a:solidFill>
            <a:prstDash val="solid"/>
          </a:ln>
        </p:spPr>
      </p:sp>
      <p:sp>
        <p:nvSpPr>
          <p:cNvPr id="100" name="ovl_s21_numt11"/>
          <p:cNvSpPr txBox="1"/>
          <p:nvPr/>
        </p:nvSpPr>
        <p:spPr>
          <a:xfrm>
            <a:off x="6411468" y="520522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5</a:t>
            </a:r>
            <a:endParaRPr lang="en-US" sz="900" dirty="0"/>
          </a:p>
        </p:txBody>
      </p:sp>
      <p:sp>
        <p:nvSpPr>
          <p:cNvPr id="101" name="ovl_s21_leg0"/>
          <p:cNvSpPr/>
          <p:nvPr/>
        </p:nvSpPr>
        <p:spPr>
          <a:xfrm>
            <a:off x="457200" y="5971032"/>
            <a:ext cx="365760" cy="914"/>
          </a:xfrm>
          <a:prstGeom prst="line">
            <a:avLst/>
          </a:prstGeom>
          <a:noFill/>
          <a:ln w="19050">
            <a:solidFill>
              <a:srgbClr val="1BA1A6"/>
            </a:solidFill>
            <a:prstDash val="solid"/>
            <a:tailEnd type="triangle"/>
          </a:ln>
        </p:spPr>
      </p:sp>
      <p:sp>
        <p:nvSpPr>
          <p:cNvPr id="102" name="ovl_s21_legt0"/>
          <p:cNvSpPr txBox="1"/>
          <p:nvPr/>
        </p:nvSpPr>
        <p:spPr>
          <a:xfrm>
            <a:off x="87782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モノ・サービス</a:t>
            </a:r>
            <a:endParaRPr lang="en-US" sz="800" dirty="0"/>
          </a:p>
        </p:txBody>
      </p:sp>
      <p:sp>
        <p:nvSpPr>
          <p:cNvPr id="103" name="ovl_s21_leg1"/>
          <p:cNvSpPr/>
          <p:nvPr/>
        </p:nvSpPr>
        <p:spPr>
          <a:xfrm>
            <a:off x="1874520" y="5971032"/>
            <a:ext cx="365760" cy="914"/>
          </a:xfrm>
          <a:prstGeom prst="line">
            <a:avLst/>
          </a:prstGeom>
          <a:noFill/>
          <a:ln w="15875">
            <a:solidFill>
              <a:srgbClr val="C0392B"/>
            </a:solidFill>
            <a:prstDash val="dash"/>
            <a:tailEnd type="triangle"/>
          </a:ln>
        </p:spPr>
      </p:sp>
      <p:sp>
        <p:nvSpPr>
          <p:cNvPr id="104" name="ovl_s21_legt1"/>
          <p:cNvSpPr txBox="1"/>
          <p:nvPr/>
        </p:nvSpPr>
        <p:spPr>
          <a:xfrm>
            <a:off x="229514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リスク</a:t>
            </a:r>
            <a:endParaRPr lang="en-US" sz="800" dirty="0"/>
          </a:p>
        </p:txBody>
      </p:sp>
      <p:sp>
        <p:nvSpPr>
          <p:cNvPr id="105" name="ovl_s21_leg2"/>
          <p:cNvSpPr/>
          <p:nvPr/>
        </p:nvSpPr>
        <p:spPr>
          <a:xfrm>
            <a:off x="3291840" y="5971032"/>
            <a:ext cx="365760" cy="914"/>
          </a:xfrm>
          <a:prstGeom prst="line">
            <a:avLst/>
          </a:prstGeom>
          <a:noFill/>
          <a:ln w="12700">
            <a:solidFill>
              <a:srgbClr val="767676"/>
            </a:solidFill>
            <a:prstDash val="sysDash"/>
            <a:tailEnd type="triangle"/>
          </a:ln>
        </p:spPr>
      </p:sp>
      <p:sp>
        <p:nvSpPr>
          <p:cNvPr id="106" name="ovl_s21_legt2"/>
          <p:cNvSpPr txBox="1"/>
          <p:nvPr/>
        </p:nvSpPr>
        <p:spPr>
          <a:xfrm>
            <a:off x="371246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契約・統治</a:t>
            </a:r>
            <a:endParaRPr lang="en-US" sz="800" dirty="0"/>
          </a:p>
        </p:txBody>
      </p:sp>
      <p:sp>
        <p:nvSpPr>
          <p:cNvPr id="107" name="ovl_s21_legn"/>
          <p:cNvSpPr txBox="1"/>
          <p:nvPr/>
        </p:nvSpPr>
        <p:spPr>
          <a:xfrm>
            <a:off x="6126480" y="5870448"/>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108"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109" name="mech"/>
          <p:cNvSpPr txBox="1"/>
          <p:nvPr/>
        </p:nvSpPr>
        <p:spPr>
          <a:xfrm>
            <a:off x="8458200" y="1810512"/>
            <a:ext cx="3276295" cy="2737612"/>
          </a:xfrm>
          <a:prstGeom prst="rect">
            <a:avLst/>
          </a:prstGeom>
          <a:noFill/>
          <a:ln/>
        </p:spPr>
        <p:txBody>
          <a:bodyPr wrap="square" lIns="381" tIns="381" rIns="381" bIns="381" rtlCol="0" anchor="t"/>
          <a:lstStyle/>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① </a:t>
            </a:r>
            <a:r>
              <a:rPr lang="en-US" sz="1100" dirty="0">
                <a:solidFill>
                  <a:srgbClr val="333333"/>
                </a:solidFill>
                <a:latin typeface="Meiryo UI" pitchFamily="34" charset="0"/>
                <a:ea typeface="Meiryo UI" pitchFamily="34" charset="-122"/>
                <a:cs typeface="Meiryo UI" pitchFamily="34" charset="-120"/>
              </a:rPr>
              <a:t>Magouyrk は AWS でクラウド基盤を担い、2014 年に OCI を創設。</a:t>
            </a:r>
            <a:br/>
            <a:r>
              <a:rPr lang="en-US" sz="1100" dirty="0">
                <a:solidFill>
                  <a:srgbClr val="333333"/>
                </a:solidFill>
                <a:latin typeface="Meiryo UI" pitchFamily="34" charset="0"/>
                <a:ea typeface="Meiryo UI" pitchFamily="34" charset="-122"/>
                <a:cs typeface="Meiryo UI" pitchFamily="34" charset="-120"/>
              </a:rPr>
              <a:t>今の成長エンジンを設計した当事者</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② </a:t>
            </a:r>
            <a:r>
              <a:rPr lang="en-US" sz="1100" dirty="0">
                <a:solidFill>
                  <a:srgbClr val="333333"/>
                </a:solidFill>
                <a:latin typeface="Meiryo UI" pitchFamily="34" charset="0"/>
                <a:ea typeface="Meiryo UI" pitchFamily="34" charset="-122"/>
                <a:cs typeface="Meiryo UI" pitchFamily="34" charset="-120"/>
              </a:rPr>
              <a:t>Sicilia は Primavera の技術者から CTO。</a:t>
            </a:r>
            <a:br/>
            <a:r>
              <a:rPr lang="en-US" sz="1100" dirty="0">
                <a:solidFill>
                  <a:srgbClr val="333333"/>
                </a:solidFill>
                <a:latin typeface="Meiryo UI" pitchFamily="34" charset="0"/>
                <a:ea typeface="Meiryo UI" pitchFamily="34" charset="-122"/>
                <a:cs typeface="Meiryo UI" pitchFamily="34" charset="-120"/>
              </a:rPr>
              <a:t>買収後は業種別アプリを統括。Oracle Health(VA)は障害と遅れが続く</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③ </a:t>
            </a:r>
            <a:r>
              <a:rPr lang="en-US" sz="1100" dirty="0">
                <a:solidFill>
                  <a:srgbClr val="333333"/>
                </a:solidFill>
                <a:latin typeface="Meiryo UI" pitchFamily="34" charset="0"/>
                <a:ea typeface="Meiryo UI" pitchFamily="34" charset="-122"/>
                <a:cs typeface="Meiryo UI" pitchFamily="34" charset="-120"/>
              </a:rPr>
              <a:t>CFO の Maxson は電力会社の AES と電機の Schneider で財務を約 22 年。</a:t>
            </a:r>
            <a:br/>
            <a:r>
              <a:rPr lang="en-US" sz="1100" dirty="0">
                <a:solidFill>
                  <a:srgbClr val="333333"/>
                </a:solidFill>
                <a:latin typeface="Meiryo UI" pitchFamily="34" charset="0"/>
                <a:ea typeface="Meiryo UI" pitchFamily="34" charset="-122"/>
                <a:cs typeface="Meiryo UI" pitchFamily="34" charset="-120"/>
              </a:rPr>
              <a:t>設備と電力の資金計画に合うが、就任 6 か月</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④ </a:t>
            </a:r>
            <a:r>
              <a:rPr lang="en-US" sz="1100" dirty="0">
                <a:solidFill>
                  <a:srgbClr val="333333"/>
                </a:solidFill>
                <a:latin typeface="Meiryo UI" pitchFamily="34" charset="0"/>
                <a:ea typeface="Meiryo UI" pitchFamily="34" charset="-122"/>
                <a:cs typeface="Meiryo UI" pitchFamily="34" charset="-120"/>
              </a:rPr>
              <a:t>capex は FY26 に見通し 350 → 500 → 実績 557 億ドル。</a:t>
            </a:r>
            <a:br/>
            <a:r>
              <a:rPr lang="en-US" sz="1100" dirty="0">
                <a:solidFill>
                  <a:srgbClr val="333333"/>
                </a:solidFill>
                <a:latin typeface="Meiryo UI" pitchFamily="34" charset="0"/>
                <a:ea typeface="Meiryo UI" pitchFamily="34" charset="-122"/>
                <a:cs typeface="Meiryo UI" pitchFamily="34" charset="-120"/>
              </a:rPr>
              <a:t>共同 CEO の資本配分の実績はまだ 1 年</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⑤ </a:t>
            </a:r>
            <a:r>
              <a:rPr lang="en-US" sz="1100" dirty="0">
                <a:solidFill>
                  <a:srgbClr val="333333"/>
                </a:solidFill>
                <a:latin typeface="Meiryo UI" pitchFamily="34" charset="0"/>
                <a:ea typeface="Meiryo UI" pitchFamily="34" charset="-122"/>
                <a:cs typeface="Meiryo UI" pitchFamily="34" charset="-120"/>
              </a:rPr>
              <a:t>業績連動の報酬の KPI は FY28 の総売上で、1 株当たりの指標ではない(80% は時間ベース)</a:t>
            </a:r>
            <a:endParaRPr lang="en-US" sz="1100" dirty="0"/>
          </a:p>
        </p:txBody>
      </p:sp>
      <p:sp>
        <p:nvSpPr>
          <p:cNvPr id="110" name="ovl_takeaway_bg"/>
          <p:cNvSpPr/>
          <p:nvPr/>
        </p:nvSpPr>
        <p:spPr>
          <a:xfrm>
            <a:off x="8458200" y="4621276"/>
            <a:ext cx="3276295" cy="804164"/>
          </a:xfrm>
          <a:prstGeom prst="rect">
            <a:avLst/>
          </a:prstGeom>
          <a:solidFill>
            <a:srgbClr val="EAF4EE"/>
          </a:solidFill>
          <a:ln w="12700">
            <a:solidFill>
              <a:srgbClr val="EAF4EE"/>
            </a:solidFill>
            <a:prstDash val="solid"/>
          </a:ln>
        </p:spPr>
      </p:sp>
      <p:sp>
        <p:nvSpPr>
          <p:cNvPr id="111" name="takeaway"/>
          <p:cNvSpPr txBox="1"/>
          <p:nvPr/>
        </p:nvSpPr>
        <p:spPr>
          <a:xfrm>
            <a:off x="8567928" y="4694428"/>
            <a:ext cx="3056839" cy="657860"/>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経歴と事業の適合は高い(A 相当)。ただし CEO としての資本配分の実績が 1 年と短く、capex の超過と総額 KPI の報酬が残るため B(A との境界)</a:t>
            </a:r>
            <a:endParaRPr lang="en-US" sz="1000" dirty="0"/>
          </a:p>
        </p:txBody>
      </p:sp>
      <p:sp>
        <p:nvSpPr>
          <p:cNvPr id="112" name="updown"/>
          <p:cNvSpPr txBox="1"/>
          <p:nvPr/>
        </p:nvSpPr>
        <p:spPr>
          <a:xfrm>
            <a:off x="8458200" y="5498592"/>
            <a:ext cx="3276295" cy="59131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FY27 の capex が見通しの範囲に収まり、FCF の黒字化の時期を示せば A</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capex が再び見通しを 10% 超上回るか、VA の契約で損失が出れば C</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3-3 成長と割安度(条件6・7)(1/2)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98882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9888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成長と割安度(条件6)</a:t>
            </a:r>
            <a:endParaRPr lang="en-US" sz="1000" dirty="0"/>
          </a:p>
        </p:txBody>
      </p:sp>
      <p:sp>
        <p:nvSpPr>
          <p:cNvPr id="14" name="hdr_why"/>
          <p:cNvSpPr txBox="1"/>
          <p:nvPr/>
        </p:nvSpPr>
        <p:spPr>
          <a:xfrm>
            <a:off x="2592324" y="356616"/>
            <a:ext cx="914217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成長の割に安いか(PEG&lt;1)は、長期保有で超過リターンを得る前提になる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事業実態 EPS の 5 年成長率は 3 経路とも 30% を超え PEG は 0.60〜0.66。</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ただしエンジン経路の余裕は 1.5pt で、自社株買いに依存する</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条件6 5年後 EPS 成長率で PEG&lt;1(EPS CAGR 30% 以上)。事業実態 EPS = 非GAAP EPS − 株式報酬の税引後</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コンセンサス(Yahoo・FactSet・tickflow)、会社の FY30 目標(FAM 2025-10)、需給エンジン第4.3版(calc/out/m8_extra.json)。株価 143.20 ドル</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25</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条件6</a:t>
            </a:r>
            <a:endParaRPr lang="en-US" sz="800" dirty="0"/>
          </a:p>
        </p:txBody>
      </p:sp>
      <p:graphicFrame>
        <p:nvGraphicFramePr>
          <p:cNvPr id="26" name="tbl"/>
          <p:cNvGraphicFramePr>
            <a:graphicFrameLocks noGrp="1"/>
          </p:cNvGraphicFramePr>
          <p:nvPr>
            <p:extLst>
              <p:ext uri="{D42A27DB-BD31-4B8C-83A1-F6EECF244321}">
                <p14:modId xmlns:p14="http://schemas.microsoft.com/office/powerpoint/2010/main" val="1579011935"/>
              </p:ext>
            </p:extLst>
          </p:nvPr>
        </p:nvGraphicFramePr>
        <p:xfrm>
          <a:off x="457200" y="1600200"/>
          <a:ext cx="7589520" cy="914400"/>
        </p:xfrm>
        <a:graphic>
          <a:graphicData uri="http://schemas.openxmlformats.org/drawingml/2006/table">
            <a:tbl>
              <a:tblPr/>
              <a:tblGrid>
                <a:gridCol w="1920240"/>
                <a:gridCol w="1143000"/>
                <a:gridCol w="1143000"/>
                <a:gridCol w="1097280"/>
                <a:gridCol w="1097280"/>
                <a:gridCol w="1188720"/>
              </a:tblGrid>
              <a:tr h="384048">
                <a:tc>
                  <a:txBody>
                    <a:bodyPr/>
                    <a:lstStyle/>
                    <a:p>
                      <a:pPr algn="l" indent="0" marL="0">
                        <a:buNone/>
                      </a:pPr>
                      <a:r>
                        <a:rPr lang="en-US" sz="1100" b="1" dirty="0">
                          <a:solidFill>
                            <a:srgbClr val="FFFFFF"/>
                          </a:solidFill>
                          <a:latin typeface="Meiryo UI" pitchFamily="34" charset="0"/>
                          <a:ea typeface="Meiryo UI" pitchFamily="34" charset="-122"/>
                          <a:cs typeface="Meiryo UI" pitchFamily="34" charset="-120"/>
                        </a:rPr>
                        <a:t>経路</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FY27</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FY32</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5年 CAGR</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PER</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PEG</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84048">
                <a:tc>
                  <a:txBody>
                    <a:bodyPr/>
                    <a:lstStyle/>
                    <a:p>
                      <a:pPr algn="l" indent="0" marL="0">
                        <a:buNone/>
                      </a:pPr>
                      <a:r>
                        <a:rPr lang="en-US" sz="1100" dirty="0">
                          <a:solidFill>
                            <a:srgbClr val="333333"/>
                          </a:solidFill>
                          <a:latin typeface="Meiryo UI" pitchFamily="34" charset="0"/>
                          <a:ea typeface="Meiryo UI" pitchFamily="34" charset="-122"/>
                          <a:cs typeface="Meiryo UI" pitchFamily="34" charset="-120"/>
                        </a:rPr>
                        <a:t>コンセンサス</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6.85</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29.48</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33.9%</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20.9</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0.62</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333333"/>
                          </a:solidFill>
                          <a:latin typeface="Meiryo UI" pitchFamily="34" charset="0"/>
                          <a:ea typeface="Meiryo UI" pitchFamily="34" charset="-122"/>
                          <a:cs typeface="Meiryo UI" pitchFamily="34" charset="-120"/>
                        </a:rPr>
                        <a:t>会社(FY30 目標 21 ドル)</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6.89</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30.20</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34.4%</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20.8</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0.60</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84048">
                <a:tc>
                  <a:txBody>
                    <a:bodyPr/>
                    <a:lstStyle/>
                    <a:p>
                      <a:pPr algn="l" indent="0" marL="0">
                        <a:buNone/>
                      </a:pPr>
                      <a:r>
                        <a:rPr lang="en-US" sz="1100" dirty="0">
                          <a:solidFill>
                            <a:srgbClr val="333333"/>
                          </a:solidFill>
                          <a:latin typeface="Meiryo UI" pitchFamily="34" charset="0"/>
                          <a:ea typeface="Meiryo UI" pitchFamily="34" charset="-122"/>
                          <a:cs typeface="Meiryo UI" pitchFamily="34" charset="-120"/>
                        </a:rPr>
                        <a:t>需給エンジン</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6.89</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27.14</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31.5%</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20.8</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0.66</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3" name="bullets"/>
          <p:cNvSpPr txBox="1"/>
          <p:nvPr/>
        </p:nvSpPr>
        <p:spPr>
          <a:xfrm>
            <a:off x="457200" y="3383280"/>
            <a:ext cx="7589520" cy="914400"/>
          </a:xfrm>
          <a:prstGeom prst="rect">
            <a:avLst/>
          </a:prstGeom>
          <a:noFill/>
          <a:ln/>
        </p:spPr>
        <p:txBody>
          <a:bodyPr wrap="square" lIns="508" tIns="508" rIns="508" bIns="508" rtlCol="0" anchor="t"/>
          <a:lstStyle/>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エンジン経路の余裕は 1.5pt。超過 FCF の自社株買いがなければ 30.0%、確率加重の経路では 28.6%</a:t>
            </a:r>
            <a:endParaRPr lang="en-US" sz="1050" dirty="0"/>
          </a:p>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条件7 が C(安い理由の一部は実在のリスク)のため、規則により S は無効</a:t>
            </a:r>
            <a:endParaRPr lang="en-US" sz="1050" dirty="0"/>
          </a:p>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FY27→FY30 の3年では全経路が 36% 超。減速は FY30〜32 の容量追加の減速による</a:t>
            </a:r>
            <a:endParaRPr lang="en-US" sz="1050" dirty="0"/>
          </a:p>
        </p:txBody>
      </p:sp>
      <p:graphicFrame>
        <p:nvGraphicFramePr>
          <p:cNvPr id="24" name="chart_cagr" descr=""/>
          <p:cNvGraphicFramePr/>
          <p:nvPr/>
        </p:nvGraphicFramePr>
        <p:xfrm>
          <a:off x="457200" y="4343400"/>
          <a:ext cx="7589520" cy="1783080"/>
        </p:xfrm>
        <a:graphic xmlns:a="http://schemas.openxmlformats.org/drawingml/2006/main">
          <a:graphicData uri="http://schemas.openxmlformats.org/drawingml/2006/chart">
            <c:chart xmlns:c="http://schemas.openxmlformats.org/drawingml/2006/chart" r:id="rId1"/>
          </a:graphicData>
        </a:graphic>
      </p:graphicFrame>
      <p:sp>
        <p:nvSpPr>
          <p:cNvPr id="25" name="ovl_thr"/>
          <p:cNvSpPr txBox="1"/>
          <p:nvPr/>
        </p:nvSpPr>
        <p:spPr>
          <a:xfrm>
            <a:off x="6309360" y="4663440"/>
            <a:ext cx="1737360" cy="256032"/>
          </a:xfrm>
          <a:prstGeom prst="rect">
            <a:avLst/>
          </a:prstGeom>
          <a:noFill/>
          <a:ln/>
        </p:spPr>
        <p:txBody>
          <a:bodyPr wrap="square" lIns="508" tIns="508" rIns="508" bIns="508" rtlCol="0" anchor="t"/>
          <a:lstStyle/>
          <a:p>
            <a:pPr algn="r" indent="0" marL="0">
              <a:buNone/>
            </a:pPr>
            <a:r>
              <a:rPr lang="en-US" sz="900" dirty="0">
                <a:solidFill>
                  <a:srgbClr val="D68910"/>
                </a:solidFill>
                <a:latin typeface="Meiryo UI" pitchFamily="34" charset="0"/>
                <a:ea typeface="Meiryo UI" pitchFamily="34" charset="-122"/>
                <a:cs typeface="Meiryo UI" pitchFamily="34" charset="-120"/>
              </a:rPr>
              <a:t>閾値 30%</a:t>
            </a:r>
            <a:endParaRPr lang="en-US" sz="900" dirty="0"/>
          </a:p>
        </p:txBody>
      </p:sp>
      <p:sp>
        <p:nvSpPr>
          <p:cNvPr id="26" name="ovl_evbox"/>
          <p:cNvSpPr/>
          <p:nvPr/>
        </p:nvSpPr>
        <p:spPr>
          <a:xfrm>
            <a:off x="8275320" y="1481328"/>
            <a:ext cx="3456432" cy="2788920"/>
          </a:xfrm>
          <a:prstGeom prst="rect">
            <a:avLst/>
          </a:prstGeom>
          <a:solidFill>
            <a:srgbClr val="FFFFFF"/>
          </a:solidFill>
          <a:ln w="9525">
            <a:solidFill>
              <a:srgbClr val="D9D9D9"/>
            </a:solidFill>
            <a:prstDash val="solid"/>
          </a:ln>
        </p:spPr>
      </p:sp>
      <p:sp>
        <p:nvSpPr>
          <p:cNvPr id="27" name="ev_head"/>
          <p:cNvSpPr txBox="1"/>
          <p:nvPr/>
        </p:nvSpPr>
        <p:spPr>
          <a:xfrm>
            <a:off x="8385048" y="1536192"/>
            <a:ext cx="320040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根拠</a:t>
            </a:r>
            <a:endParaRPr lang="en-US" sz="1200" dirty="0"/>
          </a:p>
        </p:txBody>
      </p:sp>
      <p:sp>
        <p:nvSpPr>
          <p:cNvPr id="28" name="evidence"/>
          <p:cNvSpPr txBox="1"/>
          <p:nvPr/>
        </p:nvSpPr>
        <p:spPr>
          <a:xfrm>
            <a:off x="8385048" y="1847088"/>
            <a:ext cx="3255264" cy="2377440"/>
          </a:xfrm>
          <a:prstGeom prst="rect">
            <a:avLst/>
          </a:prstGeom>
          <a:noFill/>
          <a:ln/>
        </p:spPr>
        <p:txBody>
          <a:bodyPr wrap="square" lIns="508" tIns="508" rIns="508" bIns="508" rtlCol="0" anchor="t"/>
          <a:lstStyle/>
          <a:p>
            <a:pPr marL="152400" indent="-152400">
              <a:buSzPct val="100000"/>
              <a:buChar char="•"/>
            </a:pPr>
            <a:r>
              <a:rPr lang="en-US" sz="950" dirty="0">
                <a:solidFill>
                  <a:srgbClr val="333333"/>
                </a:solidFill>
                <a:latin typeface="Meiryo UI" pitchFamily="34" charset="0"/>
                <a:ea typeface="Meiryo UI" pitchFamily="34" charset="-122"/>
                <a:cs typeface="Meiryo UI" pitchFamily="34" charset="-120"/>
              </a:rPr>
              <a:t>5年 CAGR の閾値 30%: FY32 の事業実態 EPS</a:t>
            </a:r>
            <a:endParaRPr lang="en-US" sz="950" dirty="0"/>
          </a:p>
          <a:p>
            <a:pPr marL="152400" indent="-152400">
              <a:spcAft>
                <a:spcPts val="400"/>
              </a:spcAft>
              <a:buSzPct val="100000"/>
              <a:buChar char=" "/>
            </a:pPr>
            <a:r>
              <a:rPr lang="en-US" sz="950" dirty="0">
                <a:solidFill>
                  <a:srgbClr val="333333"/>
                </a:solidFill>
                <a:latin typeface="Meiryo UI" pitchFamily="34" charset="0"/>
                <a:ea typeface="Meiryo UI" pitchFamily="34" charset="-122"/>
                <a:cs typeface="Meiryo UI" pitchFamily="34" charset="-120"/>
              </a:rPr>
              <a:t>25.6 ドル以上</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PER は 143.20 ÷ FY27 の事業実態 EPS</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第1版の評価は C(エンジン 22.1%)</a:t>
            </a:r>
            <a:endParaRPr lang="en-US" sz="950" dirty="0"/>
          </a:p>
        </p:txBody>
      </p:sp>
      <p:sp>
        <p:nvSpPr>
          <p:cNvPr id="29" name="ovl_takeaway_bg"/>
          <p:cNvSpPr/>
          <p:nvPr/>
        </p:nvSpPr>
        <p:spPr>
          <a:xfrm>
            <a:off x="8275320" y="4389120"/>
            <a:ext cx="3456432" cy="1143000"/>
          </a:xfrm>
          <a:prstGeom prst="rect">
            <a:avLst/>
          </a:prstGeom>
          <a:solidFill>
            <a:srgbClr val="EAF4EE"/>
          </a:solidFill>
          <a:ln w="12700">
            <a:solidFill>
              <a:srgbClr val="EAF4EE"/>
            </a:solidFill>
            <a:prstDash val="solid"/>
          </a:ln>
        </p:spPr>
      </p:sp>
      <p:sp>
        <p:nvSpPr>
          <p:cNvPr id="30" name="takeaway"/>
          <p:cNvSpPr txBox="1"/>
          <p:nvPr/>
        </p:nvSpPr>
        <p:spPr>
          <a:xfrm>
            <a:off x="8385048" y="4462272"/>
            <a:ext cx="3236976" cy="996696"/>
          </a:xfrm>
          <a:prstGeom prst="rect">
            <a:avLst/>
          </a:prstGeom>
          <a:noFill/>
          <a:ln/>
        </p:spPr>
        <p:txBody>
          <a:bodyPr wrap="square" lIns="508" tIns="508" rIns="508" bIns="508" rtlCol="0" anchor="ctr"/>
          <a:lstStyle/>
          <a:p>
            <a:pPr indent="0" marL="0">
              <a:buNone/>
            </a:pPr>
            <a:r>
              <a:rPr lang="en-US" sz="1050" b="1" dirty="0">
                <a:solidFill>
                  <a:srgbClr val="0E4D33"/>
                </a:solidFill>
                <a:latin typeface="Meiryo UI" pitchFamily="34" charset="0"/>
                <a:ea typeface="Meiryo UI" pitchFamily="34" charset="-122"/>
                <a:cs typeface="Meiryo UI" pitchFamily="34" charset="-120"/>
              </a:rPr>
              <a:t>数値は S の基準を満たすが、余裕が薄く条件7 と対で評価して B</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3-3 成長と割安度(条件6・7)(2/2)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211582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21158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安い理由の検証(条件7)</a:t>
            </a:r>
            <a:endParaRPr lang="en-US" sz="1000" dirty="0"/>
          </a:p>
        </p:txBody>
      </p:sp>
      <p:sp>
        <p:nvSpPr>
          <p:cNvPr id="14" name="hdr_why"/>
          <p:cNvSpPr txBox="1"/>
          <p:nvPr/>
        </p:nvSpPr>
        <p:spPr>
          <a:xfrm>
            <a:off x="2719324" y="356616"/>
            <a:ext cx="901517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安さが市場の見落としなら機会、実在のリスクなら罠。どちらかを見分ける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株価が安い主因は市場の見落としではなく、OpenAI への集中</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(受注残の約 45%)と CDS 227bp が示す実在の信用リスクである</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左から: 市場の疑い → 疑いの対象 → 証拠 → 判定。①〜④ は右と対応。株価は事業実態 EPS の 15.7 倍(弱気シナリオ 13.6 倍寄り)</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research2/R5_credit.md、research4/T2_company_rpo_capacity.md、research3/W2_gpu_economic_life.md、Bloomberg(2026-10-08)、S&amp;P(2026-07)</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26</a:t>
            </a:r>
            <a:endParaRPr lang="en-US" sz="800" dirty="0"/>
          </a:p>
        </p:txBody>
      </p:sp>
      <p:sp>
        <p:nvSpPr>
          <p:cNvPr id="19" name="ovl_badge"/>
          <p:cNvSpPr/>
          <p:nvPr/>
        </p:nvSpPr>
        <p:spPr>
          <a:xfrm>
            <a:off x="10865815" y="649224"/>
            <a:ext cx="868680" cy="677570"/>
          </a:xfrm>
          <a:prstGeom prst="roundRect">
            <a:avLst>
              <a:gd name="adj" fmla="val 10796"/>
            </a:avLst>
          </a:prstGeom>
          <a:solidFill>
            <a:srgbClr val="D68910"/>
          </a:solidFill>
          <a:ln w="12700">
            <a:solidFill>
              <a:srgbClr val="D68910"/>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FFFFFF"/>
                </a:solidFill>
                <a:latin typeface="Meiryo UI" pitchFamily="34" charset="0"/>
                <a:ea typeface="Meiryo UI" pitchFamily="34" charset="-122"/>
                <a:cs typeface="Meiryo UI" pitchFamily="34" charset="-120"/>
              </a:rPr>
              <a:t>C</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FFFFFF"/>
                </a:solidFill>
                <a:latin typeface="Meiryo UI" pitchFamily="34" charset="0"/>
                <a:ea typeface="Meiryo UI" pitchFamily="34" charset="-122"/>
                <a:cs typeface="Meiryo UI" pitchFamily="34" charset="-120"/>
              </a:rPr>
              <a:t>条件7</a:t>
            </a:r>
            <a:endParaRPr lang="en-US" sz="800" dirty="0"/>
          </a:p>
        </p:txBody>
      </p:sp>
      <p:sp>
        <p:nvSpPr>
          <p:cNvPr id="22" name="bg_lane0"/>
          <p:cNvSpPr/>
          <p:nvPr/>
        </p:nvSpPr>
        <p:spPr>
          <a:xfrm>
            <a:off x="347472" y="1517904"/>
            <a:ext cx="1591056" cy="4005072"/>
          </a:xfrm>
          <a:prstGeom prst="rect">
            <a:avLst/>
          </a:prstGeom>
          <a:solidFill>
            <a:srgbClr val="F2F2F2"/>
          </a:solidFill>
          <a:ln w="12700">
            <a:solidFill>
              <a:srgbClr val="F2F2F2"/>
            </a:solidFill>
            <a:prstDash val="solid"/>
          </a:ln>
        </p:spPr>
      </p:sp>
      <p:sp>
        <p:nvSpPr>
          <p:cNvPr id="23" name="bg_laneh0"/>
          <p:cNvSpPr/>
          <p:nvPr/>
        </p:nvSpPr>
        <p:spPr>
          <a:xfrm>
            <a:off x="347472" y="1517904"/>
            <a:ext cx="1591056" cy="274320"/>
          </a:xfrm>
          <a:prstGeom prst="rect">
            <a:avLst/>
          </a:prstGeom>
          <a:solidFill>
            <a:srgbClr val="D9D9D9"/>
          </a:solidFill>
          <a:ln w="12700">
            <a:solidFill>
              <a:srgbClr val="D9D9D9"/>
            </a:solidFill>
            <a:prstDash val="solid"/>
          </a:ln>
        </p:spPr>
      </p:sp>
      <p:sp>
        <p:nvSpPr>
          <p:cNvPr id="24" name="bg_lanet0"/>
          <p:cNvSpPr txBox="1"/>
          <p:nvPr/>
        </p:nvSpPr>
        <p:spPr>
          <a:xfrm>
            <a:off x="347472" y="1517904"/>
            <a:ext cx="159105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市場の疑い</a:t>
            </a:r>
            <a:endParaRPr lang="en-US" sz="950" dirty="0"/>
          </a:p>
        </p:txBody>
      </p:sp>
      <p:sp>
        <p:nvSpPr>
          <p:cNvPr id="25" name="bg_lane1"/>
          <p:cNvSpPr/>
          <p:nvPr/>
        </p:nvSpPr>
        <p:spPr>
          <a:xfrm>
            <a:off x="2618232" y="1517904"/>
            <a:ext cx="1499616" cy="4005072"/>
          </a:xfrm>
          <a:prstGeom prst="rect">
            <a:avLst/>
          </a:prstGeom>
          <a:solidFill>
            <a:srgbClr val="EAF4EE"/>
          </a:solidFill>
          <a:ln w="12700">
            <a:solidFill>
              <a:srgbClr val="EAF4EE"/>
            </a:solidFill>
            <a:prstDash val="solid"/>
          </a:ln>
        </p:spPr>
      </p:sp>
      <p:sp>
        <p:nvSpPr>
          <p:cNvPr id="26" name="bg_laneh1"/>
          <p:cNvSpPr/>
          <p:nvPr/>
        </p:nvSpPr>
        <p:spPr>
          <a:xfrm>
            <a:off x="2618232" y="1517904"/>
            <a:ext cx="1499616" cy="274320"/>
          </a:xfrm>
          <a:prstGeom prst="rect">
            <a:avLst/>
          </a:prstGeom>
          <a:solidFill>
            <a:srgbClr val="197A56"/>
          </a:solidFill>
          <a:ln w="12700">
            <a:solidFill>
              <a:srgbClr val="197A56"/>
            </a:solidFill>
            <a:prstDash val="solid"/>
          </a:ln>
        </p:spPr>
      </p:sp>
      <p:sp>
        <p:nvSpPr>
          <p:cNvPr id="27" name="bg_lanet1"/>
          <p:cNvSpPr txBox="1"/>
          <p:nvPr/>
        </p:nvSpPr>
        <p:spPr>
          <a:xfrm>
            <a:off x="2618232" y="1517904"/>
            <a:ext cx="149961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Oracle(疑いの対象)</a:t>
            </a:r>
            <a:endParaRPr lang="en-US" sz="950" dirty="0"/>
          </a:p>
        </p:txBody>
      </p:sp>
      <p:sp>
        <p:nvSpPr>
          <p:cNvPr id="28" name="bg_lane2"/>
          <p:cNvSpPr/>
          <p:nvPr/>
        </p:nvSpPr>
        <p:spPr>
          <a:xfrm>
            <a:off x="4797552" y="1517904"/>
            <a:ext cx="1682496" cy="4005072"/>
          </a:xfrm>
          <a:prstGeom prst="rect">
            <a:avLst/>
          </a:prstGeom>
          <a:solidFill>
            <a:srgbClr val="F2F2F2"/>
          </a:solidFill>
          <a:ln w="12700">
            <a:solidFill>
              <a:srgbClr val="F2F2F2"/>
            </a:solidFill>
            <a:prstDash val="solid"/>
          </a:ln>
        </p:spPr>
      </p:sp>
      <p:sp>
        <p:nvSpPr>
          <p:cNvPr id="29" name="bg_laneh2"/>
          <p:cNvSpPr/>
          <p:nvPr/>
        </p:nvSpPr>
        <p:spPr>
          <a:xfrm>
            <a:off x="4797552" y="1517904"/>
            <a:ext cx="1682496" cy="274320"/>
          </a:xfrm>
          <a:prstGeom prst="rect">
            <a:avLst/>
          </a:prstGeom>
          <a:solidFill>
            <a:srgbClr val="D9D9D9"/>
          </a:solidFill>
          <a:ln w="12700">
            <a:solidFill>
              <a:srgbClr val="D9D9D9"/>
            </a:solidFill>
            <a:prstDash val="solid"/>
          </a:ln>
        </p:spPr>
      </p:sp>
      <p:sp>
        <p:nvSpPr>
          <p:cNvPr id="30" name="bg_lanet2"/>
          <p:cNvSpPr txBox="1"/>
          <p:nvPr/>
        </p:nvSpPr>
        <p:spPr>
          <a:xfrm>
            <a:off x="4797552" y="1517904"/>
            <a:ext cx="168249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証拠</a:t>
            </a:r>
            <a:endParaRPr lang="en-US" sz="950" dirty="0"/>
          </a:p>
        </p:txBody>
      </p:sp>
      <p:sp>
        <p:nvSpPr>
          <p:cNvPr id="31" name="bg_lane3"/>
          <p:cNvSpPr/>
          <p:nvPr/>
        </p:nvSpPr>
        <p:spPr>
          <a:xfrm>
            <a:off x="7159752" y="1517904"/>
            <a:ext cx="1225296" cy="4005072"/>
          </a:xfrm>
          <a:prstGeom prst="rect">
            <a:avLst/>
          </a:prstGeom>
          <a:solidFill>
            <a:srgbClr val="F2F2F2"/>
          </a:solidFill>
          <a:ln w="12700">
            <a:solidFill>
              <a:srgbClr val="F2F2F2"/>
            </a:solidFill>
            <a:prstDash val="solid"/>
          </a:ln>
        </p:spPr>
      </p:sp>
      <p:sp>
        <p:nvSpPr>
          <p:cNvPr id="32" name="bg_laneh3"/>
          <p:cNvSpPr/>
          <p:nvPr/>
        </p:nvSpPr>
        <p:spPr>
          <a:xfrm>
            <a:off x="7159752" y="1517904"/>
            <a:ext cx="1225296" cy="274320"/>
          </a:xfrm>
          <a:prstGeom prst="rect">
            <a:avLst/>
          </a:prstGeom>
          <a:solidFill>
            <a:srgbClr val="D9D9D9"/>
          </a:solidFill>
          <a:ln w="12700">
            <a:solidFill>
              <a:srgbClr val="D9D9D9"/>
            </a:solidFill>
            <a:prstDash val="solid"/>
          </a:ln>
        </p:spPr>
      </p:sp>
      <p:sp>
        <p:nvSpPr>
          <p:cNvPr id="33" name="bg_lanet3"/>
          <p:cNvSpPr txBox="1"/>
          <p:nvPr/>
        </p:nvSpPr>
        <p:spPr>
          <a:xfrm>
            <a:off x="7159752" y="1517904"/>
            <a:ext cx="122529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判定</a:t>
            </a:r>
            <a:endParaRPr lang="en-US" sz="950" dirty="0"/>
          </a:p>
        </p:txBody>
      </p:sp>
      <p:sp>
        <p:nvSpPr>
          <p:cNvPr id="34" name="ovl_s23_e0_0"/>
          <p:cNvSpPr/>
          <p:nvPr/>
        </p:nvSpPr>
        <p:spPr>
          <a:xfrm>
            <a:off x="1828800" y="2336292"/>
            <a:ext cx="899160" cy="914"/>
          </a:xfrm>
          <a:prstGeom prst="line">
            <a:avLst/>
          </a:prstGeom>
          <a:noFill/>
          <a:ln w="15875">
            <a:solidFill>
              <a:srgbClr val="C0392B"/>
            </a:solidFill>
            <a:prstDash val="dash"/>
            <a:tailEnd type="triangle"/>
          </a:ln>
        </p:spPr>
      </p:sp>
      <p:sp>
        <p:nvSpPr>
          <p:cNvPr id="35" name="ovl_s23_e1_0"/>
          <p:cNvSpPr/>
          <p:nvPr/>
        </p:nvSpPr>
        <p:spPr>
          <a:xfrm>
            <a:off x="4008120" y="2336292"/>
            <a:ext cx="899160" cy="914"/>
          </a:xfrm>
          <a:prstGeom prst="line">
            <a:avLst/>
          </a:prstGeom>
          <a:noFill/>
          <a:ln w="12700">
            <a:solidFill>
              <a:srgbClr val="767676"/>
            </a:solidFill>
            <a:prstDash val="sysDash"/>
            <a:tailEnd type="triangle"/>
          </a:ln>
        </p:spPr>
      </p:sp>
      <p:sp>
        <p:nvSpPr>
          <p:cNvPr id="36" name="ovl_s23_e2_0"/>
          <p:cNvSpPr/>
          <p:nvPr/>
        </p:nvSpPr>
        <p:spPr>
          <a:xfrm>
            <a:off x="6370320" y="2336292"/>
            <a:ext cx="899160" cy="914"/>
          </a:xfrm>
          <a:prstGeom prst="line">
            <a:avLst/>
          </a:prstGeom>
          <a:noFill/>
          <a:ln w="12700">
            <a:solidFill>
              <a:srgbClr val="767676"/>
            </a:solidFill>
            <a:prstDash val="sysDash"/>
            <a:tailEnd type="triangle"/>
          </a:ln>
        </p:spPr>
      </p:sp>
      <p:sp>
        <p:nvSpPr>
          <p:cNvPr id="37" name="ovl_s23_e3_0"/>
          <p:cNvSpPr/>
          <p:nvPr/>
        </p:nvSpPr>
        <p:spPr>
          <a:xfrm>
            <a:off x="1828800" y="3241548"/>
            <a:ext cx="899160" cy="914"/>
          </a:xfrm>
          <a:prstGeom prst="line">
            <a:avLst/>
          </a:prstGeom>
          <a:noFill/>
          <a:ln w="15875">
            <a:solidFill>
              <a:srgbClr val="C0392B"/>
            </a:solidFill>
            <a:prstDash val="dash"/>
            <a:tailEnd type="triangle"/>
          </a:ln>
        </p:spPr>
      </p:sp>
      <p:sp>
        <p:nvSpPr>
          <p:cNvPr id="38" name="ovl_s23_e4_0"/>
          <p:cNvSpPr/>
          <p:nvPr/>
        </p:nvSpPr>
        <p:spPr>
          <a:xfrm>
            <a:off x="4008120" y="3241548"/>
            <a:ext cx="899160" cy="914"/>
          </a:xfrm>
          <a:prstGeom prst="line">
            <a:avLst/>
          </a:prstGeom>
          <a:noFill/>
          <a:ln w="12700">
            <a:solidFill>
              <a:srgbClr val="767676"/>
            </a:solidFill>
            <a:prstDash val="sysDash"/>
            <a:tailEnd type="triangle"/>
          </a:ln>
        </p:spPr>
      </p:sp>
      <p:sp>
        <p:nvSpPr>
          <p:cNvPr id="39" name="ovl_s23_e5_0"/>
          <p:cNvSpPr/>
          <p:nvPr/>
        </p:nvSpPr>
        <p:spPr>
          <a:xfrm>
            <a:off x="6370320" y="3241548"/>
            <a:ext cx="899160" cy="914"/>
          </a:xfrm>
          <a:prstGeom prst="line">
            <a:avLst/>
          </a:prstGeom>
          <a:noFill/>
          <a:ln w="12700">
            <a:solidFill>
              <a:srgbClr val="767676"/>
            </a:solidFill>
            <a:prstDash val="sysDash"/>
            <a:tailEnd type="triangle"/>
          </a:ln>
        </p:spPr>
      </p:sp>
      <p:sp>
        <p:nvSpPr>
          <p:cNvPr id="40" name="ovl_s23_e6_0"/>
          <p:cNvSpPr/>
          <p:nvPr/>
        </p:nvSpPr>
        <p:spPr>
          <a:xfrm>
            <a:off x="1828800" y="4146804"/>
            <a:ext cx="899160" cy="914"/>
          </a:xfrm>
          <a:prstGeom prst="line">
            <a:avLst/>
          </a:prstGeom>
          <a:noFill/>
          <a:ln w="15875">
            <a:solidFill>
              <a:srgbClr val="C0392B"/>
            </a:solidFill>
            <a:prstDash val="dash"/>
            <a:tailEnd type="triangle"/>
          </a:ln>
        </p:spPr>
      </p:sp>
      <p:sp>
        <p:nvSpPr>
          <p:cNvPr id="41" name="ovl_s23_e7_0"/>
          <p:cNvSpPr/>
          <p:nvPr/>
        </p:nvSpPr>
        <p:spPr>
          <a:xfrm>
            <a:off x="4008120" y="4146804"/>
            <a:ext cx="899160" cy="914"/>
          </a:xfrm>
          <a:prstGeom prst="line">
            <a:avLst/>
          </a:prstGeom>
          <a:noFill/>
          <a:ln w="15875">
            <a:solidFill>
              <a:srgbClr val="C0392B"/>
            </a:solidFill>
            <a:prstDash val="dash"/>
            <a:tailEnd type="triangle"/>
          </a:ln>
        </p:spPr>
      </p:sp>
      <p:sp>
        <p:nvSpPr>
          <p:cNvPr id="42" name="ovl_s23_e8_0"/>
          <p:cNvSpPr/>
          <p:nvPr/>
        </p:nvSpPr>
        <p:spPr>
          <a:xfrm>
            <a:off x="6370320" y="4146804"/>
            <a:ext cx="899160" cy="914"/>
          </a:xfrm>
          <a:prstGeom prst="line">
            <a:avLst/>
          </a:prstGeom>
          <a:noFill/>
          <a:ln w="15875">
            <a:solidFill>
              <a:srgbClr val="C0392B"/>
            </a:solidFill>
            <a:prstDash val="dash"/>
            <a:tailEnd type="triangle"/>
          </a:ln>
        </p:spPr>
      </p:sp>
      <p:sp>
        <p:nvSpPr>
          <p:cNvPr id="43" name="ovl_s23_e9_0"/>
          <p:cNvSpPr/>
          <p:nvPr/>
        </p:nvSpPr>
        <p:spPr>
          <a:xfrm>
            <a:off x="1828800" y="5052060"/>
            <a:ext cx="899160" cy="914"/>
          </a:xfrm>
          <a:prstGeom prst="line">
            <a:avLst/>
          </a:prstGeom>
          <a:noFill/>
          <a:ln w="15875">
            <a:solidFill>
              <a:srgbClr val="C0392B"/>
            </a:solidFill>
            <a:prstDash val="dash"/>
            <a:tailEnd type="triangle"/>
          </a:ln>
        </p:spPr>
      </p:sp>
      <p:sp>
        <p:nvSpPr>
          <p:cNvPr id="44" name="ovl_s23_e10_0"/>
          <p:cNvSpPr/>
          <p:nvPr/>
        </p:nvSpPr>
        <p:spPr>
          <a:xfrm>
            <a:off x="4008120" y="5052060"/>
            <a:ext cx="899160" cy="914"/>
          </a:xfrm>
          <a:prstGeom prst="line">
            <a:avLst/>
          </a:prstGeom>
          <a:noFill/>
          <a:ln w="15875">
            <a:solidFill>
              <a:srgbClr val="C0392B"/>
            </a:solidFill>
            <a:prstDash val="dash"/>
            <a:tailEnd type="triangle"/>
          </a:ln>
        </p:spPr>
      </p:sp>
      <p:sp>
        <p:nvSpPr>
          <p:cNvPr id="45" name="ovl_s23_e11_0"/>
          <p:cNvSpPr/>
          <p:nvPr/>
        </p:nvSpPr>
        <p:spPr>
          <a:xfrm>
            <a:off x="6370320" y="5052060"/>
            <a:ext cx="899160" cy="914"/>
          </a:xfrm>
          <a:prstGeom prst="line">
            <a:avLst/>
          </a:prstGeom>
          <a:noFill/>
          <a:ln w="15875">
            <a:solidFill>
              <a:srgbClr val="C0392B"/>
            </a:solidFill>
            <a:prstDash val="dash"/>
            <a:tailEnd type="triangle"/>
          </a:ln>
        </p:spPr>
      </p:sp>
      <p:sp>
        <p:nvSpPr>
          <p:cNvPr id="46" name="ovl_s23_n_d1"/>
          <p:cNvSpPr/>
          <p:nvPr/>
        </p:nvSpPr>
        <p:spPr>
          <a:xfrm>
            <a:off x="457200" y="1984248"/>
            <a:ext cx="1371600" cy="704088"/>
          </a:xfrm>
          <a:prstGeom prst="roundRect">
            <a:avLst>
              <a:gd name="adj" fmla="val 7792"/>
            </a:avLst>
          </a:prstGeom>
          <a:solidFill>
            <a:srgbClr val="FFFFFF"/>
          </a:solidFill>
          <a:ln w="9525">
            <a:solidFill>
              <a:srgbClr val="767676"/>
            </a:solidFill>
            <a:prstDash val="solid"/>
          </a:ln>
        </p:spPr>
      </p:sp>
      <p:sp>
        <p:nvSpPr>
          <p:cNvPr id="47" name="ovl_s23_nt_d1"/>
          <p:cNvSpPr txBox="1"/>
          <p:nvPr/>
        </p:nvSpPr>
        <p:spPr>
          <a:xfrm>
            <a:off x="493776" y="2011680"/>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GPU 寿命の悲観</a:t>
            </a:r>
            <a:endParaRPr lang="en-US" sz="1000" dirty="0"/>
          </a:p>
        </p:txBody>
      </p:sp>
      <p:sp>
        <p:nvSpPr>
          <p:cNvPr id="48" name="ovl_s23_ns_d1"/>
          <p:cNvSpPr txBox="1"/>
          <p:nvPr/>
        </p:nvSpPr>
        <p:spPr>
          <a:xfrm>
            <a:off x="502920" y="2217420"/>
            <a:ext cx="128016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「2〜3 年で陳腐化」</a:t>
            </a:r>
            <a:endParaRPr lang="en-US" sz="850" dirty="0"/>
          </a:p>
        </p:txBody>
      </p:sp>
      <p:sp>
        <p:nvSpPr>
          <p:cNvPr id="49" name="ovl_s23_n_d2"/>
          <p:cNvSpPr/>
          <p:nvPr/>
        </p:nvSpPr>
        <p:spPr>
          <a:xfrm>
            <a:off x="457200" y="2889504"/>
            <a:ext cx="1371600" cy="704088"/>
          </a:xfrm>
          <a:prstGeom prst="roundRect">
            <a:avLst>
              <a:gd name="adj" fmla="val 7792"/>
            </a:avLst>
          </a:prstGeom>
          <a:solidFill>
            <a:srgbClr val="FFFFFF"/>
          </a:solidFill>
          <a:ln w="9525">
            <a:solidFill>
              <a:srgbClr val="767676"/>
            </a:solidFill>
            <a:prstDash val="solid"/>
          </a:ln>
        </p:spPr>
      </p:sp>
      <p:sp>
        <p:nvSpPr>
          <p:cNvPr id="50" name="ovl_s23_nt_d2"/>
          <p:cNvSpPr txBox="1"/>
          <p:nvPr/>
        </p:nvSpPr>
        <p:spPr>
          <a:xfrm>
            <a:off x="493776" y="2916936"/>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FCF の J カーブ</a:t>
            </a:r>
            <a:endParaRPr lang="en-US" sz="1000" dirty="0"/>
          </a:p>
        </p:txBody>
      </p:sp>
      <p:sp>
        <p:nvSpPr>
          <p:cNvPr id="51" name="ovl_s23_ns_d2"/>
          <p:cNvSpPr txBox="1"/>
          <p:nvPr/>
        </p:nvSpPr>
        <p:spPr>
          <a:xfrm>
            <a:off x="502920" y="3122676"/>
            <a:ext cx="128016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FY29 まで赤字</a:t>
            </a:r>
            <a:endParaRPr lang="en-US" sz="850" dirty="0"/>
          </a:p>
        </p:txBody>
      </p:sp>
      <p:sp>
        <p:nvSpPr>
          <p:cNvPr id="52" name="ovl_s23_n_d3"/>
          <p:cNvSpPr/>
          <p:nvPr/>
        </p:nvSpPr>
        <p:spPr>
          <a:xfrm>
            <a:off x="457200" y="3794760"/>
            <a:ext cx="1371600" cy="704088"/>
          </a:xfrm>
          <a:prstGeom prst="roundRect">
            <a:avLst>
              <a:gd name="adj" fmla="val 7792"/>
            </a:avLst>
          </a:prstGeom>
          <a:solidFill>
            <a:srgbClr val="FFFFFF"/>
          </a:solidFill>
          <a:ln w="19050">
            <a:solidFill>
              <a:srgbClr val="C0392B"/>
            </a:solidFill>
            <a:prstDash val="solid"/>
          </a:ln>
        </p:spPr>
      </p:sp>
      <p:sp>
        <p:nvSpPr>
          <p:cNvPr id="53" name="ovl_s23_nt_d3"/>
          <p:cNvSpPr txBox="1"/>
          <p:nvPr/>
        </p:nvSpPr>
        <p:spPr>
          <a:xfrm>
            <a:off x="493776" y="3822192"/>
            <a:ext cx="129844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OpenAI への集中</a:t>
            </a:r>
            <a:endParaRPr lang="en-US" sz="1000" dirty="0"/>
          </a:p>
        </p:txBody>
      </p:sp>
      <p:sp>
        <p:nvSpPr>
          <p:cNvPr id="54" name="ovl_s23_ns_d3"/>
          <p:cNvSpPr txBox="1"/>
          <p:nvPr/>
        </p:nvSpPr>
        <p:spPr>
          <a:xfrm>
            <a:off x="502920" y="4027932"/>
            <a:ext cx="128016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受注残の約 45%</a:t>
            </a:r>
            <a:endParaRPr lang="en-US" sz="850" dirty="0"/>
          </a:p>
        </p:txBody>
      </p:sp>
      <p:sp>
        <p:nvSpPr>
          <p:cNvPr id="55" name="ovl_s23_n_d4"/>
          <p:cNvSpPr/>
          <p:nvPr/>
        </p:nvSpPr>
        <p:spPr>
          <a:xfrm>
            <a:off x="457200" y="4700016"/>
            <a:ext cx="1371600" cy="704088"/>
          </a:xfrm>
          <a:prstGeom prst="roundRect">
            <a:avLst>
              <a:gd name="adj" fmla="val 7792"/>
            </a:avLst>
          </a:prstGeom>
          <a:solidFill>
            <a:srgbClr val="FFFFFF"/>
          </a:solidFill>
          <a:ln w="19050">
            <a:solidFill>
              <a:srgbClr val="C0392B"/>
            </a:solidFill>
            <a:prstDash val="solid"/>
          </a:ln>
        </p:spPr>
      </p:sp>
      <p:sp>
        <p:nvSpPr>
          <p:cNvPr id="56" name="ovl_s23_nt_d4"/>
          <p:cNvSpPr txBox="1"/>
          <p:nvPr/>
        </p:nvSpPr>
        <p:spPr>
          <a:xfrm>
            <a:off x="493776" y="4727448"/>
            <a:ext cx="129844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信用リスク</a:t>
            </a:r>
            <a:endParaRPr lang="en-US" sz="1000" dirty="0"/>
          </a:p>
        </p:txBody>
      </p:sp>
      <p:sp>
        <p:nvSpPr>
          <p:cNvPr id="57" name="ovl_s23_ns_d4"/>
          <p:cNvSpPr txBox="1"/>
          <p:nvPr/>
        </p:nvSpPr>
        <p:spPr>
          <a:xfrm>
            <a:off x="502920" y="4933188"/>
            <a:ext cx="128016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CDS 227bp</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2056 年債 8% 超</a:t>
            </a:r>
            <a:endParaRPr lang="en-US" sz="850" dirty="0"/>
          </a:p>
        </p:txBody>
      </p:sp>
      <p:sp>
        <p:nvSpPr>
          <p:cNvPr id="58" name="ovl_s23_n_o1"/>
          <p:cNvSpPr/>
          <p:nvPr/>
        </p:nvSpPr>
        <p:spPr>
          <a:xfrm>
            <a:off x="2727960" y="1984248"/>
            <a:ext cx="1280160" cy="704088"/>
          </a:xfrm>
          <a:prstGeom prst="roundRect">
            <a:avLst>
              <a:gd name="adj" fmla="val 7792"/>
            </a:avLst>
          </a:prstGeom>
          <a:solidFill>
            <a:srgbClr val="FFFFFF"/>
          </a:solidFill>
          <a:ln w="19050">
            <a:solidFill>
              <a:srgbClr val="197A56"/>
            </a:solidFill>
            <a:prstDash val="solid"/>
          </a:ln>
        </p:spPr>
      </p:sp>
      <p:sp>
        <p:nvSpPr>
          <p:cNvPr id="59" name="ovl_s23_nt_o1"/>
          <p:cNvSpPr txBox="1"/>
          <p:nvPr/>
        </p:nvSpPr>
        <p:spPr>
          <a:xfrm>
            <a:off x="2764536" y="2011680"/>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GPU(自社調達)</a:t>
            </a:r>
            <a:endParaRPr lang="en-US" sz="1000" dirty="0"/>
          </a:p>
        </p:txBody>
      </p:sp>
      <p:sp>
        <p:nvSpPr>
          <p:cNvPr id="60" name="ovl_s23_ns_o1"/>
          <p:cNvSpPr txBox="1"/>
          <p:nvPr/>
        </p:nvSpPr>
        <p:spPr>
          <a:xfrm>
            <a:off x="2773680" y="2217420"/>
            <a:ext cx="118872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6 年償却</a:t>
            </a:r>
            <a:endParaRPr lang="en-US" sz="850" dirty="0"/>
          </a:p>
        </p:txBody>
      </p:sp>
      <p:sp>
        <p:nvSpPr>
          <p:cNvPr id="61" name="ovl_s23_n_o2"/>
          <p:cNvSpPr/>
          <p:nvPr/>
        </p:nvSpPr>
        <p:spPr>
          <a:xfrm>
            <a:off x="2727960" y="2889504"/>
            <a:ext cx="1280160" cy="704088"/>
          </a:xfrm>
          <a:prstGeom prst="roundRect">
            <a:avLst>
              <a:gd name="adj" fmla="val 7792"/>
            </a:avLst>
          </a:prstGeom>
          <a:solidFill>
            <a:srgbClr val="FFFFFF"/>
          </a:solidFill>
          <a:ln w="19050">
            <a:solidFill>
              <a:srgbClr val="197A56"/>
            </a:solidFill>
            <a:prstDash val="solid"/>
          </a:ln>
        </p:spPr>
      </p:sp>
      <p:sp>
        <p:nvSpPr>
          <p:cNvPr id="62" name="ovl_s23_nt_o2"/>
          <p:cNvSpPr txBox="1"/>
          <p:nvPr/>
        </p:nvSpPr>
        <p:spPr>
          <a:xfrm>
            <a:off x="2764536" y="2916936"/>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capex</a:t>
            </a:r>
            <a:endParaRPr lang="en-US" sz="1000" dirty="0"/>
          </a:p>
        </p:txBody>
      </p:sp>
      <p:sp>
        <p:nvSpPr>
          <p:cNvPr id="63" name="ovl_s23_ns_o2"/>
          <p:cNvSpPr txBox="1"/>
          <p:nvPr/>
        </p:nvSpPr>
        <p:spPr>
          <a:xfrm>
            <a:off x="2773680" y="3122676"/>
            <a:ext cx="118872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FY27</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900〜950 億ドル</a:t>
            </a:r>
            <a:endParaRPr lang="en-US" sz="850" dirty="0"/>
          </a:p>
        </p:txBody>
      </p:sp>
      <p:sp>
        <p:nvSpPr>
          <p:cNvPr id="64" name="ovl_s23_n_o3"/>
          <p:cNvSpPr/>
          <p:nvPr/>
        </p:nvSpPr>
        <p:spPr>
          <a:xfrm>
            <a:off x="2727960" y="3794760"/>
            <a:ext cx="1280160" cy="704088"/>
          </a:xfrm>
          <a:prstGeom prst="roundRect">
            <a:avLst>
              <a:gd name="adj" fmla="val 7792"/>
            </a:avLst>
          </a:prstGeom>
          <a:solidFill>
            <a:srgbClr val="FFFFFF"/>
          </a:solidFill>
          <a:ln w="19050">
            <a:solidFill>
              <a:srgbClr val="197A56"/>
            </a:solidFill>
            <a:prstDash val="solid"/>
          </a:ln>
        </p:spPr>
      </p:sp>
      <p:sp>
        <p:nvSpPr>
          <p:cNvPr id="65" name="ovl_s23_nt_o3"/>
          <p:cNvSpPr txBox="1"/>
          <p:nvPr/>
        </p:nvSpPr>
        <p:spPr>
          <a:xfrm>
            <a:off x="2764536" y="3822192"/>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受注残</a:t>
            </a:r>
            <a:endParaRPr lang="en-US" sz="1000" dirty="0"/>
          </a:p>
        </p:txBody>
      </p:sp>
      <p:sp>
        <p:nvSpPr>
          <p:cNvPr id="66" name="ovl_s23_ns_o3"/>
          <p:cNvSpPr txBox="1"/>
          <p:nvPr/>
        </p:nvSpPr>
        <p:spPr>
          <a:xfrm>
            <a:off x="2773680" y="4027932"/>
            <a:ext cx="118872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6,640 億ドル</a:t>
            </a:r>
            <a:endParaRPr lang="en-US" sz="850" dirty="0"/>
          </a:p>
        </p:txBody>
      </p:sp>
      <p:sp>
        <p:nvSpPr>
          <p:cNvPr id="67" name="ovl_s23_n_o4"/>
          <p:cNvSpPr/>
          <p:nvPr/>
        </p:nvSpPr>
        <p:spPr>
          <a:xfrm>
            <a:off x="2727960" y="4700016"/>
            <a:ext cx="1280160" cy="704088"/>
          </a:xfrm>
          <a:prstGeom prst="roundRect">
            <a:avLst>
              <a:gd name="adj" fmla="val 7792"/>
            </a:avLst>
          </a:prstGeom>
          <a:solidFill>
            <a:srgbClr val="FFFFFF"/>
          </a:solidFill>
          <a:ln w="19050">
            <a:solidFill>
              <a:srgbClr val="197A56"/>
            </a:solidFill>
            <a:prstDash val="solid"/>
          </a:ln>
        </p:spPr>
      </p:sp>
      <p:sp>
        <p:nvSpPr>
          <p:cNvPr id="68" name="ovl_s23_nt_o4"/>
          <p:cNvSpPr txBox="1"/>
          <p:nvPr/>
        </p:nvSpPr>
        <p:spPr>
          <a:xfrm>
            <a:off x="2764536" y="4727448"/>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借入と格付け</a:t>
            </a:r>
            <a:endParaRPr lang="en-US" sz="1000" dirty="0"/>
          </a:p>
        </p:txBody>
      </p:sp>
      <p:sp>
        <p:nvSpPr>
          <p:cNvPr id="69" name="ovl_s23_ns_o4"/>
          <p:cNvSpPr txBox="1"/>
          <p:nvPr/>
        </p:nvSpPr>
        <p:spPr>
          <a:xfrm>
            <a:off x="2773680" y="4933188"/>
            <a:ext cx="118872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BBB−(S&amp;P)</a:t>
            </a:r>
            <a:endParaRPr lang="en-US" sz="850" dirty="0"/>
          </a:p>
        </p:txBody>
      </p:sp>
      <p:sp>
        <p:nvSpPr>
          <p:cNvPr id="70" name="ovl_s23_n_e1"/>
          <p:cNvSpPr/>
          <p:nvPr/>
        </p:nvSpPr>
        <p:spPr>
          <a:xfrm>
            <a:off x="4907280" y="1984248"/>
            <a:ext cx="1463040" cy="704088"/>
          </a:xfrm>
          <a:prstGeom prst="roundRect">
            <a:avLst>
              <a:gd name="adj" fmla="val 7792"/>
            </a:avLst>
          </a:prstGeom>
          <a:solidFill>
            <a:srgbClr val="EAF4EE"/>
          </a:solidFill>
          <a:ln w="9525">
            <a:solidFill>
              <a:srgbClr val="86C99B"/>
            </a:solidFill>
            <a:prstDash val="solid"/>
          </a:ln>
        </p:spPr>
      </p:sp>
      <p:sp>
        <p:nvSpPr>
          <p:cNvPr id="71" name="ovl_s23_nt_e1"/>
          <p:cNvSpPr txBox="1"/>
          <p:nvPr/>
        </p:nvSpPr>
        <p:spPr>
          <a:xfrm>
            <a:off x="4943856" y="2011680"/>
            <a:ext cx="13898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更新・再販 +20%</a:t>
            </a:r>
            <a:endParaRPr lang="en-US" sz="1000" dirty="0"/>
          </a:p>
        </p:txBody>
      </p:sp>
      <p:sp>
        <p:nvSpPr>
          <p:cNvPr id="72" name="ovl_s23_ns_e1"/>
          <p:cNvSpPr txBox="1"/>
          <p:nvPr/>
        </p:nvSpPr>
        <p:spPr>
          <a:xfrm>
            <a:off x="4953000" y="2217420"/>
            <a:ext cx="137160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H100 を元の 95% で</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再契約した例</a:t>
            </a:r>
            <a:endParaRPr lang="en-US" sz="850" dirty="0"/>
          </a:p>
        </p:txBody>
      </p:sp>
      <p:sp>
        <p:nvSpPr>
          <p:cNvPr id="73" name="ovl_s23_n_e2"/>
          <p:cNvSpPr/>
          <p:nvPr/>
        </p:nvSpPr>
        <p:spPr>
          <a:xfrm>
            <a:off x="4907280" y="2889504"/>
            <a:ext cx="1463040" cy="704088"/>
          </a:xfrm>
          <a:prstGeom prst="roundRect">
            <a:avLst>
              <a:gd name="adj" fmla="val 7792"/>
            </a:avLst>
          </a:prstGeom>
          <a:solidFill>
            <a:srgbClr val="FFFFFF"/>
          </a:solidFill>
          <a:ln w="9525">
            <a:solidFill>
              <a:srgbClr val="767676"/>
            </a:solidFill>
            <a:prstDash val="solid"/>
          </a:ln>
        </p:spPr>
      </p:sp>
      <p:sp>
        <p:nvSpPr>
          <p:cNvPr id="74" name="ovl_s23_nt_e2"/>
          <p:cNvSpPr txBox="1"/>
          <p:nvPr/>
        </p:nvSpPr>
        <p:spPr>
          <a:xfrm>
            <a:off x="4943856" y="2916936"/>
            <a:ext cx="13898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S&amp;P・コンセンサス</a:t>
            </a:r>
            <a:endParaRPr lang="en-US" sz="1000" dirty="0"/>
          </a:p>
        </p:txBody>
      </p:sp>
      <p:sp>
        <p:nvSpPr>
          <p:cNvPr id="75" name="ovl_s23_ns_e2"/>
          <p:cNvSpPr txBox="1"/>
          <p:nvPr/>
        </p:nvSpPr>
        <p:spPr>
          <a:xfrm>
            <a:off x="4953000" y="3122676"/>
            <a:ext cx="137160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FY29 に FCF 黒字</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(エンジンは −135 億)</a:t>
            </a:r>
            <a:endParaRPr lang="en-US" sz="850" dirty="0"/>
          </a:p>
        </p:txBody>
      </p:sp>
      <p:sp>
        <p:nvSpPr>
          <p:cNvPr id="76" name="ovl_s23_n_e3"/>
          <p:cNvSpPr/>
          <p:nvPr/>
        </p:nvSpPr>
        <p:spPr>
          <a:xfrm>
            <a:off x="4907280" y="3794760"/>
            <a:ext cx="1463040" cy="704088"/>
          </a:xfrm>
          <a:prstGeom prst="roundRect">
            <a:avLst>
              <a:gd name="adj" fmla="val 7792"/>
            </a:avLst>
          </a:prstGeom>
          <a:solidFill>
            <a:srgbClr val="FFFFFF"/>
          </a:solidFill>
          <a:ln w="19050">
            <a:solidFill>
              <a:srgbClr val="C0392B"/>
            </a:solidFill>
            <a:prstDash val="solid"/>
          </a:ln>
        </p:spPr>
      </p:sp>
      <p:sp>
        <p:nvSpPr>
          <p:cNvPr id="77" name="ovl_s23_nt_e3"/>
          <p:cNvSpPr txBox="1"/>
          <p:nvPr/>
        </p:nvSpPr>
        <p:spPr>
          <a:xfrm>
            <a:off x="4943856" y="3822192"/>
            <a:ext cx="138988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OpenAI の資金</a:t>
            </a:r>
            <a:endParaRPr lang="en-US" sz="1000" dirty="0"/>
          </a:p>
        </p:txBody>
      </p:sp>
      <p:sp>
        <p:nvSpPr>
          <p:cNvPr id="78" name="ovl_s23_ns_e3"/>
          <p:cNvSpPr txBox="1"/>
          <p:nvPr/>
        </p:nvSpPr>
        <p:spPr>
          <a:xfrm>
            <a:off x="4953000" y="4027932"/>
            <a:ext cx="137160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2026〜30 年の FCF</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累計 −2,780 億ドル</a:t>
            </a:r>
            <a:endParaRPr lang="en-US" sz="850" dirty="0"/>
          </a:p>
        </p:txBody>
      </p:sp>
      <p:sp>
        <p:nvSpPr>
          <p:cNvPr id="79" name="ovl_s23_n_e4"/>
          <p:cNvSpPr/>
          <p:nvPr/>
        </p:nvSpPr>
        <p:spPr>
          <a:xfrm>
            <a:off x="4907280" y="4700016"/>
            <a:ext cx="1463040" cy="704088"/>
          </a:xfrm>
          <a:prstGeom prst="roundRect">
            <a:avLst>
              <a:gd name="adj" fmla="val 7792"/>
            </a:avLst>
          </a:prstGeom>
          <a:solidFill>
            <a:srgbClr val="FFFFFF"/>
          </a:solidFill>
          <a:ln w="19050">
            <a:solidFill>
              <a:srgbClr val="C0392B"/>
            </a:solidFill>
            <a:prstDash val="solid"/>
          </a:ln>
        </p:spPr>
      </p:sp>
      <p:sp>
        <p:nvSpPr>
          <p:cNvPr id="80" name="ovl_s23_nt_e4"/>
          <p:cNvSpPr txBox="1"/>
          <p:nvPr/>
        </p:nvSpPr>
        <p:spPr>
          <a:xfrm>
            <a:off x="4943856" y="4727448"/>
            <a:ext cx="138988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S&amp;P の条件</a:t>
            </a:r>
            <a:endParaRPr lang="en-US" sz="1000" dirty="0"/>
          </a:p>
        </p:txBody>
      </p:sp>
      <p:sp>
        <p:nvSpPr>
          <p:cNvPr id="81" name="ovl_s23_ns_e4"/>
          <p:cNvSpPr txBox="1"/>
          <p:nvPr/>
        </p:nvSpPr>
        <p:spPr>
          <a:xfrm>
            <a:off x="4953000" y="4933188"/>
            <a:ext cx="137160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FY29 までに FOCF</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黒字でなければ</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再格下げ</a:t>
            </a:r>
            <a:endParaRPr lang="en-US" sz="850" dirty="0"/>
          </a:p>
        </p:txBody>
      </p:sp>
      <p:sp>
        <p:nvSpPr>
          <p:cNvPr id="82" name="ovl_s23_n_v1"/>
          <p:cNvSpPr/>
          <p:nvPr/>
        </p:nvSpPr>
        <p:spPr>
          <a:xfrm>
            <a:off x="7269480" y="1984248"/>
            <a:ext cx="1005840" cy="704088"/>
          </a:xfrm>
          <a:prstGeom prst="roundRect">
            <a:avLst>
              <a:gd name="adj" fmla="val 7792"/>
            </a:avLst>
          </a:prstGeom>
          <a:solidFill>
            <a:srgbClr val="EAF4EE"/>
          </a:solidFill>
          <a:ln w="9525">
            <a:solidFill>
              <a:srgbClr val="86C99B"/>
            </a:solidFill>
            <a:prstDash val="solid"/>
          </a:ln>
        </p:spPr>
      </p:sp>
      <p:sp>
        <p:nvSpPr>
          <p:cNvPr id="83" name="ovl_s23_nt_v1"/>
          <p:cNvSpPr txBox="1"/>
          <p:nvPr/>
        </p:nvSpPr>
        <p:spPr>
          <a:xfrm>
            <a:off x="7306056" y="2011680"/>
            <a:ext cx="9326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見落とし</a:t>
            </a:r>
            <a:endParaRPr lang="en-US" sz="1000" dirty="0"/>
          </a:p>
        </p:txBody>
      </p:sp>
      <p:sp>
        <p:nvSpPr>
          <p:cNvPr id="84" name="ovl_s23_ns_v1"/>
          <p:cNvSpPr txBox="1"/>
          <p:nvPr/>
        </p:nvSpPr>
        <p:spPr>
          <a:xfrm>
            <a:off x="7315200" y="2217420"/>
            <a:ext cx="91440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機会</a:t>
            </a:r>
            <a:endParaRPr lang="en-US" sz="850" dirty="0"/>
          </a:p>
        </p:txBody>
      </p:sp>
      <p:sp>
        <p:nvSpPr>
          <p:cNvPr id="85" name="ovl_s23_n_v2"/>
          <p:cNvSpPr/>
          <p:nvPr/>
        </p:nvSpPr>
        <p:spPr>
          <a:xfrm>
            <a:off x="7269480" y="2889504"/>
            <a:ext cx="1005840" cy="704088"/>
          </a:xfrm>
          <a:prstGeom prst="roundRect">
            <a:avLst>
              <a:gd name="adj" fmla="val 7792"/>
            </a:avLst>
          </a:prstGeom>
          <a:solidFill>
            <a:srgbClr val="FFFFFF"/>
          </a:solidFill>
          <a:ln w="9525">
            <a:solidFill>
              <a:srgbClr val="767676"/>
            </a:solidFill>
            <a:prstDash val="solid"/>
          </a:ln>
        </p:spPr>
      </p:sp>
      <p:sp>
        <p:nvSpPr>
          <p:cNvPr id="86" name="ovl_s23_nt_v2"/>
          <p:cNvSpPr txBox="1"/>
          <p:nvPr/>
        </p:nvSpPr>
        <p:spPr>
          <a:xfrm>
            <a:off x="7306056" y="2916936"/>
            <a:ext cx="9326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一部見落とし</a:t>
            </a:r>
            <a:endParaRPr lang="en-US" sz="1000" dirty="0"/>
          </a:p>
        </p:txBody>
      </p:sp>
      <p:sp>
        <p:nvSpPr>
          <p:cNvPr id="87" name="ovl_s23_ns_v2"/>
          <p:cNvSpPr txBox="1"/>
          <p:nvPr/>
        </p:nvSpPr>
        <p:spPr>
          <a:xfrm>
            <a:off x="7315200" y="3122676"/>
            <a:ext cx="91440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時期は不確か</a:t>
            </a:r>
            <a:endParaRPr lang="en-US" sz="850" dirty="0"/>
          </a:p>
        </p:txBody>
      </p:sp>
      <p:sp>
        <p:nvSpPr>
          <p:cNvPr id="88" name="ovl_s23_n_v3"/>
          <p:cNvSpPr/>
          <p:nvPr/>
        </p:nvSpPr>
        <p:spPr>
          <a:xfrm>
            <a:off x="7269480" y="3794760"/>
            <a:ext cx="1005840" cy="704088"/>
          </a:xfrm>
          <a:prstGeom prst="roundRect">
            <a:avLst>
              <a:gd name="adj" fmla="val 7792"/>
            </a:avLst>
          </a:prstGeom>
          <a:solidFill>
            <a:srgbClr val="FFFFFF"/>
          </a:solidFill>
          <a:ln w="19050">
            <a:solidFill>
              <a:srgbClr val="C0392B"/>
            </a:solidFill>
            <a:prstDash val="solid"/>
          </a:ln>
        </p:spPr>
      </p:sp>
      <p:sp>
        <p:nvSpPr>
          <p:cNvPr id="89" name="ovl_s23_nt_v3"/>
          <p:cNvSpPr txBox="1"/>
          <p:nvPr/>
        </p:nvSpPr>
        <p:spPr>
          <a:xfrm>
            <a:off x="7306056" y="3822192"/>
            <a:ext cx="93268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実在</a:t>
            </a:r>
            <a:endParaRPr lang="en-US" sz="1000" dirty="0"/>
          </a:p>
        </p:txBody>
      </p:sp>
      <p:sp>
        <p:nvSpPr>
          <p:cNvPr id="90" name="ovl_s23_ns_v3"/>
          <p:cNvSpPr txBox="1"/>
          <p:nvPr/>
        </p:nvSpPr>
        <p:spPr>
          <a:xfrm>
            <a:off x="7315200" y="4027932"/>
            <a:ext cx="91440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罠</a:t>
            </a:r>
            <a:endParaRPr lang="en-US" sz="850" dirty="0"/>
          </a:p>
        </p:txBody>
      </p:sp>
      <p:sp>
        <p:nvSpPr>
          <p:cNvPr id="91" name="ovl_s23_n_v4"/>
          <p:cNvSpPr/>
          <p:nvPr/>
        </p:nvSpPr>
        <p:spPr>
          <a:xfrm>
            <a:off x="7269480" y="4700016"/>
            <a:ext cx="1005840" cy="704088"/>
          </a:xfrm>
          <a:prstGeom prst="roundRect">
            <a:avLst>
              <a:gd name="adj" fmla="val 7792"/>
            </a:avLst>
          </a:prstGeom>
          <a:solidFill>
            <a:srgbClr val="FFFFFF"/>
          </a:solidFill>
          <a:ln w="19050">
            <a:solidFill>
              <a:srgbClr val="C0392B"/>
            </a:solidFill>
            <a:prstDash val="solid"/>
          </a:ln>
        </p:spPr>
      </p:sp>
      <p:sp>
        <p:nvSpPr>
          <p:cNvPr id="92" name="ovl_s23_nt_v4"/>
          <p:cNvSpPr txBox="1"/>
          <p:nvPr/>
        </p:nvSpPr>
        <p:spPr>
          <a:xfrm>
            <a:off x="7306056" y="4727448"/>
            <a:ext cx="93268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実在</a:t>
            </a:r>
            <a:endParaRPr lang="en-US" sz="1000" dirty="0"/>
          </a:p>
        </p:txBody>
      </p:sp>
      <p:sp>
        <p:nvSpPr>
          <p:cNvPr id="93" name="ovl_s23_ns_v4"/>
          <p:cNvSpPr txBox="1"/>
          <p:nvPr/>
        </p:nvSpPr>
        <p:spPr>
          <a:xfrm>
            <a:off x="7315200" y="4933188"/>
            <a:ext cx="91440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罠</a:t>
            </a:r>
            <a:endParaRPr lang="en-US" sz="850" dirty="0"/>
          </a:p>
        </p:txBody>
      </p:sp>
      <p:sp>
        <p:nvSpPr>
          <p:cNvPr id="94" name="ovl_s23_lab0"/>
          <p:cNvSpPr txBox="1"/>
          <p:nvPr/>
        </p:nvSpPr>
        <p:spPr>
          <a:xfrm>
            <a:off x="1932051" y="2103120"/>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寿命を疑う</a:t>
            </a:r>
            <a:endParaRPr lang="en-US" sz="850" dirty="0"/>
          </a:p>
        </p:txBody>
      </p:sp>
      <p:sp>
        <p:nvSpPr>
          <p:cNvPr id="95" name="ovl_s23_lab1"/>
          <p:cNvSpPr txBox="1"/>
          <p:nvPr/>
        </p:nvSpPr>
        <p:spPr>
          <a:xfrm>
            <a:off x="4210469" y="2103120"/>
            <a:ext cx="494462"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767676"/>
                </a:solidFill>
                <a:latin typeface="Meiryo UI" pitchFamily="34" charset="0"/>
                <a:ea typeface="Meiryo UI" pitchFamily="34" charset="-122"/>
                <a:cs typeface="Meiryo UI" pitchFamily="34" charset="-120"/>
              </a:rPr>
              <a:t>① </a:t>
            </a:r>
            <a:r>
              <a:rPr lang="en-US" sz="850" dirty="0">
                <a:solidFill>
                  <a:srgbClr val="767676"/>
                </a:solidFill>
                <a:latin typeface="Meiryo UI" pitchFamily="34" charset="0"/>
                <a:ea typeface="Meiryo UI" pitchFamily="34" charset="-122"/>
                <a:cs typeface="Meiryo UI" pitchFamily="34" charset="-120"/>
              </a:rPr>
              <a:t>反証</a:t>
            </a:r>
            <a:endParaRPr lang="en-US" sz="850" dirty="0"/>
          </a:p>
        </p:txBody>
      </p:sp>
      <p:sp>
        <p:nvSpPr>
          <p:cNvPr id="96" name="ovl_s23_lab3"/>
          <p:cNvSpPr txBox="1"/>
          <p:nvPr/>
        </p:nvSpPr>
        <p:spPr>
          <a:xfrm>
            <a:off x="1932051" y="3008376"/>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赤字を疑う</a:t>
            </a:r>
            <a:endParaRPr lang="en-US" sz="850" dirty="0"/>
          </a:p>
        </p:txBody>
      </p:sp>
      <p:sp>
        <p:nvSpPr>
          <p:cNvPr id="97" name="ovl_s23_lab4"/>
          <p:cNvSpPr txBox="1"/>
          <p:nvPr/>
        </p:nvSpPr>
        <p:spPr>
          <a:xfrm>
            <a:off x="4152176" y="3008376"/>
            <a:ext cx="611048"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767676"/>
                </a:solidFill>
                <a:latin typeface="Meiryo UI" pitchFamily="34" charset="0"/>
                <a:ea typeface="Meiryo UI" pitchFamily="34" charset="-122"/>
                <a:cs typeface="Meiryo UI" pitchFamily="34" charset="-120"/>
              </a:rPr>
              <a:t>② </a:t>
            </a:r>
            <a:r>
              <a:rPr lang="en-US" sz="850" dirty="0">
                <a:solidFill>
                  <a:srgbClr val="767676"/>
                </a:solidFill>
                <a:latin typeface="Meiryo UI" pitchFamily="34" charset="0"/>
                <a:ea typeface="Meiryo UI" pitchFamily="34" charset="-122"/>
                <a:cs typeface="Meiryo UI" pitchFamily="34" charset="-120"/>
              </a:rPr>
              <a:t>裏付け</a:t>
            </a:r>
            <a:endParaRPr lang="en-US" sz="850" dirty="0"/>
          </a:p>
        </p:txBody>
      </p:sp>
      <p:sp>
        <p:nvSpPr>
          <p:cNvPr id="98" name="ovl_s23_lab6"/>
          <p:cNvSpPr txBox="1"/>
          <p:nvPr/>
        </p:nvSpPr>
        <p:spPr>
          <a:xfrm>
            <a:off x="1932051" y="3913632"/>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集中を疑う</a:t>
            </a:r>
            <a:endParaRPr lang="en-US" sz="850" dirty="0"/>
          </a:p>
        </p:txBody>
      </p:sp>
      <p:sp>
        <p:nvSpPr>
          <p:cNvPr id="99" name="ovl_s23_lab7"/>
          <p:cNvSpPr txBox="1"/>
          <p:nvPr/>
        </p:nvSpPr>
        <p:spPr>
          <a:xfrm>
            <a:off x="4069080" y="3771900"/>
            <a:ext cx="777240"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C0392B"/>
                </a:solidFill>
                <a:latin typeface="Meiryo UI" pitchFamily="34" charset="0"/>
                <a:ea typeface="Meiryo UI" pitchFamily="34" charset="-122"/>
                <a:cs typeface="Meiryo UI" pitchFamily="34" charset="-120"/>
              </a:rPr>
              <a:t>③ </a:t>
            </a:r>
            <a:r>
              <a:rPr lang="en-US" sz="850" dirty="0">
                <a:solidFill>
                  <a:srgbClr val="C0392B"/>
                </a:solidFill>
                <a:latin typeface="Meiryo UI" pitchFamily="34" charset="0"/>
                <a:ea typeface="Meiryo UI" pitchFamily="34" charset="-122"/>
                <a:cs typeface="Meiryo UI" pitchFamily="34" charset="-120"/>
              </a:rPr>
              <a:t>支払いは</a:t>
            </a:r>
            <a:endParaRPr lang="en-US" sz="850" dirty="0"/>
          </a:p>
          <a:p>
            <a:pPr algn="ctr" indent="0" marL="0">
              <a:buNone/>
            </a:pPr>
            <a:r>
              <a:rPr lang="en-US" sz="850" dirty="0">
                <a:solidFill>
                  <a:srgbClr val="C0392B"/>
                </a:solidFill>
                <a:latin typeface="Meiryo UI" pitchFamily="34" charset="0"/>
                <a:ea typeface="Meiryo UI" pitchFamily="34" charset="-122"/>
                <a:cs typeface="Meiryo UI" pitchFamily="34" charset="-120"/>
              </a:rPr>
              <a:t>調達頼み</a:t>
            </a:r>
            <a:endParaRPr lang="en-US" sz="850" dirty="0"/>
          </a:p>
        </p:txBody>
      </p:sp>
      <p:sp>
        <p:nvSpPr>
          <p:cNvPr id="100" name="ovl_s23_lab9"/>
          <p:cNvSpPr txBox="1"/>
          <p:nvPr/>
        </p:nvSpPr>
        <p:spPr>
          <a:xfrm>
            <a:off x="1932051" y="4818888"/>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信用を疑う</a:t>
            </a:r>
            <a:endParaRPr lang="en-US" sz="850" dirty="0"/>
          </a:p>
        </p:txBody>
      </p:sp>
      <p:sp>
        <p:nvSpPr>
          <p:cNvPr id="101" name="ovl_s23_lab10"/>
          <p:cNvSpPr txBox="1"/>
          <p:nvPr/>
        </p:nvSpPr>
        <p:spPr>
          <a:xfrm>
            <a:off x="4069080" y="4677156"/>
            <a:ext cx="777240"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C0392B"/>
                </a:solidFill>
                <a:latin typeface="Meiryo UI" pitchFamily="34" charset="0"/>
                <a:ea typeface="Meiryo UI" pitchFamily="34" charset="-122"/>
                <a:cs typeface="Meiryo UI" pitchFamily="34" charset="-120"/>
              </a:rPr>
              <a:t>④ </a:t>
            </a:r>
            <a:r>
              <a:rPr lang="en-US" sz="850" dirty="0">
                <a:solidFill>
                  <a:srgbClr val="C0392B"/>
                </a:solidFill>
                <a:latin typeface="Meiryo UI" pitchFamily="34" charset="0"/>
                <a:ea typeface="Meiryo UI" pitchFamily="34" charset="-122"/>
                <a:cs typeface="Meiryo UI" pitchFamily="34" charset="-120"/>
              </a:rPr>
              <a:t>債券も</a:t>
            </a:r>
            <a:endParaRPr lang="en-US" sz="850" dirty="0"/>
          </a:p>
          <a:p>
            <a:pPr algn="ctr" indent="0" marL="0">
              <a:buNone/>
            </a:pPr>
            <a:r>
              <a:rPr lang="en-US" sz="850" dirty="0">
                <a:solidFill>
                  <a:srgbClr val="C0392B"/>
                </a:solidFill>
                <a:latin typeface="Meiryo UI" pitchFamily="34" charset="0"/>
                <a:ea typeface="Meiryo UI" pitchFamily="34" charset="-122"/>
                <a:cs typeface="Meiryo UI" pitchFamily="34" charset="-120"/>
              </a:rPr>
              <a:t>同じ見方</a:t>
            </a:r>
            <a:endParaRPr lang="en-US" sz="850" dirty="0"/>
          </a:p>
        </p:txBody>
      </p:sp>
      <p:sp>
        <p:nvSpPr>
          <p:cNvPr id="102" name="ovl_s23_leg0"/>
          <p:cNvSpPr/>
          <p:nvPr/>
        </p:nvSpPr>
        <p:spPr>
          <a:xfrm>
            <a:off x="457200" y="5660136"/>
            <a:ext cx="365760" cy="914"/>
          </a:xfrm>
          <a:prstGeom prst="line">
            <a:avLst/>
          </a:prstGeom>
          <a:noFill/>
          <a:ln w="15875">
            <a:solidFill>
              <a:srgbClr val="C0392B"/>
            </a:solidFill>
            <a:prstDash val="dash"/>
            <a:tailEnd type="triangle"/>
          </a:ln>
        </p:spPr>
      </p:sp>
      <p:sp>
        <p:nvSpPr>
          <p:cNvPr id="103" name="ovl_s23_legt0"/>
          <p:cNvSpPr txBox="1"/>
          <p:nvPr/>
        </p:nvSpPr>
        <p:spPr>
          <a:xfrm>
            <a:off x="877824" y="5559552"/>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リスク</a:t>
            </a:r>
            <a:endParaRPr lang="en-US" sz="800" dirty="0"/>
          </a:p>
        </p:txBody>
      </p:sp>
      <p:sp>
        <p:nvSpPr>
          <p:cNvPr id="104" name="ovl_s23_leg1"/>
          <p:cNvSpPr/>
          <p:nvPr/>
        </p:nvSpPr>
        <p:spPr>
          <a:xfrm>
            <a:off x="1874520" y="5660136"/>
            <a:ext cx="365760" cy="914"/>
          </a:xfrm>
          <a:prstGeom prst="line">
            <a:avLst/>
          </a:prstGeom>
          <a:noFill/>
          <a:ln w="12700">
            <a:solidFill>
              <a:srgbClr val="767676"/>
            </a:solidFill>
            <a:prstDash val="sysDash"/>
            <a:tailEnd type="triangle"/>
          </a:ln>
        </p:spPr>
      </p:sp>
      <p:sp>
        <p:nvSpPr>
          <p:cNvPr id="105" name="ovl_s23_legt1"/>
          <p:cNvSpPr txBox="1"/>
          <p:nvPr/>
        </p:nvSpPr>
        <p:spPr>
          <a:xfrm>
            <a:off x="2295144" y="5559552"/>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契約・統治</a:t>
            </a:r>
            <a:endParaRPr lang="en-US" sz="800" dirty="0"/>
          </a:p>
        </p:txBody>
      </p:sp>
      <p:sp>
        <p:nvSpPr>
          <p:cNvPr id="106" name="ovl_s23_legn"/>
          <p:cNvSpPr txBox="1"/>
          <p:nvPr/>
        </p:nvSpPr>
        <p:spPr>
          <a:xfrm>
            <a:off x="6126480" y="5559552"/>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107"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108" name="mech"/>
          <p:cNvSpPr txBox="1"/>
          <p:nvPr/>
        </p:nvSpPr>
        <p:spPr>
          <a:xfrm>
            <a:off x="8458200" y="1810512"/>
            <a:ext cx="3276295" cy="2171192"/>
          </a:xfrm>
          <a:prstGeom prst="rect">
            <a:avLst/>
          </a:prstGeom>
          <a:noFill/>
          <a:ln/>
        </p:spPr>
        <p:txBody>
          <a:bodyPr wrap="square" lIns="381" tIns="381" rIns="381" bIns="381" rtlCol="0" anchor="t"/>
          <a:lstStyle/>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① </a:t>
            </a:r>
            <a:r>
              <a:rPr lang="en-US" sz="1100" dirty="0">
                <a:solidFill>
                  <a:srgbClr val="333333"/>
                </a:solidFill>
                <a:latin typeface="Meiryo UI" pitchFamily="34" charset="0"/>
                <a:ea typeface="Meiryo UI" pitchFamily="34" charset="-122"/>
                <a:cs typeface="Meiryo UI" pitchFamily="34" charset="-120"/>
              </a:rPr>
              <a:t>GPU 寿命の悲観は、更新・再販 +20% と H100 の再契約(元の 95%)が反証する。</a:t>
            </a:r>
            <a:br/>
            <a:r>
              <a:rPr lang="en-US" sz="1100" dirty="0">
                <a:solidFill>
                  <a:srgbClr val="333333"/>
                </a:solidFill>
                <a:latin typeface="Meiryo UI" pitchFamily="34" charset="0"/>
                <a:ea typeface="Meiryo UI" pitchFamily="34" charset="-122"/>
                <a:cs typeface="Meiryo UI" pitchFamily="34" charset="-120"/>
              </a:rPr>
              <a:t>市場の見落とし</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② </a:t>
            </a:r>
            <a:r>
              <a:rPr lang="en-US" sz="1100" dirty="0">
                <a:solidFill>
                  <a:srgbClr val="333333"/>
                </a:solidFill>
                <a:latin typeface="Meiryo UI" pitchFamily="34" charset="0"/>
                <a:ea typeface="Meiryo UI" pitchFamily="34" charset="-122"/>
                <a:cs typeface="Meiryo UI" pitchFamily="34" charset="-120"/>
              </a:rPr>
              <a:t>FCF の赤字は契約済み需要への先行投資(J カーブ)。ただし黒字化は FY29 で、時期の不確かさは実在</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③ </a:t>
            </a:r>
            <a:r>
              <a:rPr lang="en-US" sz="1100" dirty="0">
                <a:solidFill>
                  <a:srgbClr val="333333"/>
                </a:solidFill>
                <a:latin typeface="Meiryo UI" pitchFamily="34" charset="0"/>
                <a:ea typeface="Meiryo UI" pitchFamily="34" charset="-122"/>
                <a:cs typeface="Meiryo UI" pitchFamily="34" charset="-120"/>
              </a:rPr>
              <a:t>受注残の約 45% は OpenAI。</a:t>
            </a:r>
            <a:br/>
            <a:r>
              <a:rPr lang="en-US" sz="1100" dirty="0">
                <a:solidFill>
                  <a:srgbClr val="333333"/>
                </a:solidFill>
                <a:latin typeface="Meiryo UI" pitchFamily="34" charset="0"/>
                <a:ea typeface="Meiryo UI" pitchFamily="34" charset="-122"/>
                <a:cs typeface="Meiryo UI" pitchFamily="34" charset="-120"/>
              </a:rPr>
              <a:t>OpenAI の FCF は 2026〜30 年累計 −2,780 億ドルで、支払いは資金調達頼み</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④ </a:t>
            </a:r>
            <a:r>
              <a:rPr lang="en-US" sz="1100" dirty="0">
                <a:solidFill>
                  <a:srgbClr val="333333"/>
                </a:solidFill>
                <a:latin typeface="Meiryo UI" pitchFamily="34" charset="0"/>
                <a:ea typeface="Meiryo UI" pitchFamily="34" charset="-122"/>
                <a:cs typeface="Meiryo UI" pitchFamily="34" charset="-120"/>
              </a:rPr>
              <a:t>CDS 227bp と S&amp;P の条件は、債券市場も同じリスクを価格に入れている証拠</a:t>
            </a:r>
            <a:endParaRPr lang="en-US" sz="1100" dirty="0"/>
          </a:p>
        </p:txBody>
      </p:sp>
      <p:sp>
        <p:nvSpPr>
          <p:cNvPr id="109" name="ovl_takeaway_bg"/>
          <p:cNvSpPr/>
          <p:nvPr/>
        </p:nvSpPr>
        <p:spPr>
          <a:xfrm>
            <a:off x="8458200" y="4108704"/>
            <a:ext cx="3276295" cy="1005840"/>
          </a:xfrm>
          <a:prstGeom prst="rect">
            <a:avLst/>
          </a:prstGeom>
          <a:solidFill>
            <a:srgbClr val="EAF4EE"/>
          </a:solidFill>
          <a:ln w="12700">
            <a:solidFill>
              <a:srgbClr val="EAF4EE"/>
            </a:solidFill>
            <a:prstDash val="solid"/>
          </a:ln>
        </p:spPr>
      </p:sp>
      <p:sp>
        <p:nvSpPr>
          <p:cNvPr id="110" name="takeaway"/>
          <p:cNvSpPr txBox="1"/>
          <p:nvPr/>
        </p:nvSpPr>
        <p:spPr>
          <a:xfrm>
            <a:off x="8567928" y="4181856"/>
            <a:ext cx="3056839" cy="859536"/>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安さの主因は実在のリスク(OpenAI 集中と信用)で、見落としで説明できるのは GPU 寿命と J カーブの一部に限られるため C</a:t>
            </a:r>
            <a:endParaRPr lang="en-US" sz="1000" dirty="0"/>
          </a:p>
        </p:txBody>
      </p:sp>
      <p:sp>
        <p:nvSpPr>
          <p:cNvPr id="111" name="updown"/>
          <p:cNvSpPr txBox="1"/>
          <p:nvPr/>
        </p:nvSpPr>
        <p:spPr>
          <a:xfrm>
            <a:off x="8458200" y="5187696"/>
            <a:ext cx="3276295" cy="59131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OpenAI の比率が 40% 未満に下がり、CDS が 200bp 未満に戻れば B</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CDS が 300bp を超えるか、FY29 より前に BB+ になれば D 候補</a:t>
            </a:r>
            <a:endParaRPr lang="en-US" sz="850" dirty="0"/>
          </a:p>
        </p:txBody>
      </p:sp>
      <p:sp>
        <p:nvSpPr>
          <p:cNvPr id="112" name="ovl_kpibox"/>
          <p:cNvSpPr/>
          <p:nvPr/>
        </p:nvSpPr>
        <p:spPr>
          <a:xfrm>
            <a:off x="457200" y="5870448"/>
            <a:ext cx="11277295" cy="384048"/>
          </a:xfrm>
          <a:prstGeom prst="rect">
            <a:avLst/>
          </a:prstGeom>
          <a:solidFill>
            <a:srgbClr val="F2F2F2"/>
          </a:solidFill>
          <a:ln w="9525">
            <a:solidFill>
              <a:srgbClr val="D68910"/>
            </a:solidFill>
            <a:prstDash val="solid"/>
          </a:ln>
        </p:spPr>
      </p:sp>
      <p:sp>
        <p:nvSpPr>
          <p:cNvPr id="113" name="kpi"/>
          <p:cNvSpPr txBox="1"/>
          <p:nvPr/>
        </p:nvSpPr>
        <p:spPr>
          <a:xfrm>
            <a:off x="548640" y="5888736"/>
            <a:ext cx="11094415" cy="347472"/>
          </a:xfrm>
          <a:prstGeom prst="rect">
            <a:avLst/>
          </a:prstGeom>
          <a:noFill/>
          <a:ln/>
        </p:spPr>
        <p:txBody>
          <a:bodyPr wrap="square" lIns="0" tIns="0" rIns="0" bIns="0" rtlCol="0" anchor="ctr"/>
          <a:lstStyle/>
          <a:p>
            <a:pPr indent="0" marL="0">
              <a:buNone/>
            </a:pPr>
            <a:r>
              <a:rPr lang="en-US" sz="900" dirty="0">
                <a:solidFill>
                  <a:srgbClr val="333333"/>
                </a:solidFill>
                <a:latin typeface="Meiryo UI" pitchFamily="34" charset="0"/>
                <a:ea typeface="Meiryo UI" pitchFamily="34" charset="-122"/>
                <a:cs typeface="Meiryo UI" pitchFamily="34" charset="-120"/>
              </a:rPr>
              <a:t>監視 KPI とトリガー: CDS 5年 200bp 未満で確度を上げ、300bp 超で D 候補 / FY29 より前の BB+ で D 候補 / OpenAI の比率 40% 未満で確度を上げ、契約変更・支払遅延の報道で E 候補</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3-4 製品と設備の性格(条件8〜12)(1/5)</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211582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21158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コモディティ性(条件8)</a:t>
            </a:r>
            <a:endParaRPr lang="en-US" sz="1000" dirty="0"/>
          </a:p>
        </p:txBody>
      </p:sp>
      <p:sp>
        <p:nvSpPr>
          <p:cNvPr id="14" name="hdr_why"/>
          <p:cNvSpPr txBox="1"/>
          <p:nvPr/>
        </p:nvSpPr>
        <p:spPr>
          <a:xfrm>
            <a:off x="2719324" y="356616"/>
            <a:ext cx="901517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商品になる部分は需給が緩むと利益が消える。価値のどれだけが商品かを測る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DB は代替の利かない製品だが、価値の 45% を占める AI 容量は、</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需給が緩むと限界供給者の損益分岐で値が決まる商品になる</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左から: 供給者 → Oracle の事業(1 株価値の内訳)→ 買い手 ← 代替と価格の基準。①〜⑤ は右と対応</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需給エンジン第4.3版(セグメント価値)、research3/W3_industry_structure.md、ICE・CME の発表(2026-05)、Epoch AI、SemiAnalysis ClusterMAX v3.0</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27</a:t>
            </a:r>
            <a:endParaRPr lang="en-US" sz="800" dirty="0"/>
          </a:p>
        </p:txBody>
      </p:sp>
      <p:sp>
        <p:nvSpPr>
          <p:cNvPr id="19" name="ovl_badge"/>
          <p:cNvSpPr/>
          <p:nvPr/>
        </p:nvSpPr>
        <p:spPr>
          <a:xfrm>
            <a:off x="10865815" y="649224"/>
            <a:ext cx="868680" cy="677570"/>
          </a:xfrm>
          <a:prstGeom prst="roundRect">
            <a:avLst>
              <a:gd name="adj" fmla="val 10796"/>
            </a:avLst>
          </a:prstGeom>
          <a:solidFill>
            <a:srgbClr val="D68910"/>
          </a:solidFill>
          <a:ln w="12700">
            <a:solidFill>
              <a:srgbClr val="D68910"/>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FFFFFF"/>
                </a:solidFill>
                <a:latin typeface="Meiryo UI" pitchFamily="34" charset="0"/>
                <a:ea typeface="Meiryo UI" pitchFamily="34" charset="-122"/>
                <a:cs typeface="Meiryo UI" pitchFamily="34" charset="-120"/>
              </a:rPr>
              <a:t>C</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FFFFFF"/>
                </a:solidFill>
                <a:latin typeface="Meiryo UI" pitchFamily="34" charset="0"/>
                <a:ea typeface="Meiryo UI" pitchFamily="34" charset="-122"/>
                <a:cs typeface="Meiryo UI" pitchFamily="34" charset="-120"/>
              </a:rPr>
              <a:t>条件8</a:t>
            </a:r>
            <a:endParaRPr lang="en-US" sz="800" dirty="0"/>
          </a:p>
        </p:txBody>
      </p:sp>
      <p:sp>
        <p:nvSpPr>
          <p:cNvPr id="22" name="bg_lane0"/>
          <p:cNvSpPr/>
          <p:nvPr/>
        </p:nvSpPr>
        <p:spPr>
          <a:xfrm>
            <a:off x="347472" y="1517904"/>
            <a:ext cx="1316736" cy="4005072"/>
          </a:xfrm>
          <a:prstGeom prst="rect">
            <a:avLst/>
          </a:prstGeom>
          <a:solidFill>
            <a:srgbClr val="F2F2F2"/>
          </a:solidFill>
          <a:ln w="12700">
            <a:solidFill>
              <a:srgbClr val="F2F2F2"/>
            </a:solidFill>
            <a:prstDash val="solid"/>
          </a:ln>
        </p:spPr>
      </p:sp>
      <p:sp>
        <p:nvSpPr>
          <p:cNvPr id="23" name="bg_laneh0"/>
          <p:cNvSpPr/>
          <p:nvPr/>
        </p:nvSpPr>
        <p:spPr>
          <a:xfrm>
            <a:off x="347472" y="1517904"/>
            <a:ext cx="1316736" cy="274320"/>
          </a:xfrm>
          <a:prstGeom prst="rect">
            <a:avLst/>
          </a:prstGeom>
          <a:solidFill>
            <a:srgbClr val="D9D9D9"/>
          </a:solidFill>
          <a:ln w="12700">
            <a:solidFill>
              <a:srgbClr val="D9D9D9"/>
            </a:solidFill>
            <a:prstDash val="solid"/>
          </a:ln>
        </p:spPr>
      </p:sp>
      <p:sp>
        <p:nvSpPr>
          <p:cNvPr id="24" name="bg_lanet0"/>
          <p:cNvSpPr txBox="1"/>
          <p:nvPr/>
        </p:nvSpPr>
        <p:spPr>
          <a:xfrm>
            <a:off x="347472" y="1517904"/>
            <a:ext cx="131673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供給者</a:t>
            </a:r>
            <a:endParaRPr lang="en-US" sz="950" dirty="0"/>
          </a:p>
        </p:txBody>
      </p:sp>
      <p:sp>
        <p:nvSpPr>
          <p:cNvPr id="25" name="bg_lane1"/>
          <p:cNvSpPr/>
          <p:nvPr/>
        </p:nvSpPr>
        <p:spPr>
          <a:xfrm>
            <a:off x="2404872" y="1517904"/>
            <a:ext cx="1545336" cy="4005072"/>
          </a:xfrm>
          <a:prstGeom prst="rect">
            <a:avLst/>
          </a:prstGeom>
          <a:solidFill>
            <a:srgbClr val="EAF4EE"/>
          </a:solidFill>
          <a:ln w="12700">
            <a:solidFill>
              <a:srgbClr val="EAF4EE"/>
            </a:solidFill>
            <a:prstDash val="solid"/>
          </a:ln>
        </p:spPr>
      </p:sp>
      <p:sp>
        <p:nvSpPr>
          <p:cNvPr id="26" name="bg_laneh1"/>
          <p:cNvSpPr/>
          <p:nvPr/>
        </p:nvSpPr>
        <p:spPr>
          <a:xfrm>
            <a:off x="2404872" y="1517904"/>
            <a:ext cx="1545336" cy="274320"/>
          </a:xfrm>
          <a:prstGeom prst="rect">
            <a:avLst/>
          </a:prstGeom>
          <a:solidFill>
            <a:srgbClr val="197A56"/>
          </a:solidFill>
          <a:ln w="12700">
            <a:solidFill>
              <a:srgbClr val="197A56"/>
            </a:solidFill>
            <a:prstDash val="solid"/>
          </a:ln>
        </p:spPr>
      </p:sp>
      <p:sp>
        <p:nvSpPr>
          <p:cNvPr id="27" name="bg_lanet1"/>
          <p:cNvSpPr txBox="1"/>
          <p:nvPr/>
        </p:nvSpPr>
        <p:spPr>
          <a:xfrm>
            <a:off x="2404872" y="1517904"/>
            <a:ext cx="154533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 の事業</a:t>
            </a:r>
            <a:endParaRPr lang="en-US" sz="950" dirty="0"/>
          </a:p>
        </p:txBody>
      </p:sp>
      <p:sp>
        <p:nvSpPr>
          <p:cNvPr id="28" name="bg_lane2"/>
          <p:cNvSpPr/>
          <p:nvPr/>
        </p:nvSpPr>
        <p:spPr>
          <a:xfrm>
            <a:off x="4690872" y="1517904"/>
            <a:ext cx="1499616" cy="4005072"/>
          </a:xfrm>
          <a:prstGeom prst="rect">
            <a:avLst/>
          </a:prstGeom>
          <a:solidFill>
            <a:srgbClr val="F2F2F2"/>
          </a:solidFill>
          <a:ln w="12700">
            <a:solidFill>
              <a:srgbClr val="F2F2F2"/>
            </a:solidFill>
            <a:prstDash val="solid"/>
          </a:ln>
        </p:spPr>
      </p:sp>
      <p:sp>
        <p:nvSpPr>
          <p:cNvPr id="29" name="bg_laneh2"/>
          <p:cNvSpPr/>
          <p:nvPr/>
        </p:nvSpPr>
        <p:spPr>
          <a:xfrm>
            <a:off x="4690872" y="1517904"/>
            <a:ext cx="1499616" cy="274320"/>
          </a:xfrm>
          <a:prstGeom prst="rect">
            <a:avLst/>
          </a:prstGeom>
          <a:solidFill>
            <a:srgbClr val="D9D9D9"/>
          </a:solidFill>
          <a:ln w="12700">
            <a:solidFill>
              <a:srgbClr val="D9D9D9"/>
            </a:solidFill>
            <a:prstDash val="solid"/>
          </a:ln>
        </p:spPr>
      </p:sp>
      <p:sp>
        <p:nvSpPr>
          <p:cNvPr id="30" name="bg_lanet2"/>
          <p:cNvSpPr txBox="1"/>
          <p:nvPr/>
        </p:nvSpPr>
        <p:spPr>
          <a:xfrm>
            <a:off x="4690872" y="1517904"/>
            <a:ext cx="149961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買い手</a:t>
            </a:r>
            <a:endParaRPr lang="en-US" sz="950" dirty="0"/>
          </a:p>
        </p:txBody>
      </p:sp>
      <p:sp>
        <p:nvSpPr>
          <p:cNvPr id="31" name="bg_lane3"/>
          <p:cNvSpPr/>
          <p:nvPr/>
        </p:nvSpPr>
        <p:spPr>
          <a:xfrm>
            <a:off x="6931152" y="1517904"/>
            <a:ext cx="1453896" cy="4005072"/>
          </a:xfrm>
          <a:prstGeom prst="rect">
            <a:avLst/>
          </a:prstGeom>
          <a:solidFill>
            <a:srgbClr val="F2F2F2"/>
          </a:solidFill>
          <a:ln w="12700">
            <a:solidFill>
              <a:srgbClr val="F2F2F2"/>
            </a:solidFill>
            <a:prstDash val="solid"/>
          </a:ln>
        </p:spPr>
      </p:sp>
      <p:sp>
        <p:nvSpPr>
          <p:cNvPr id="32" name="bg_laneh3"/>
          <p:cNvSpPr/>
          <p:nvPr/>
        </p:nvSpPr>
        <p:spPr>
          <a:xfrm>
            <a:off x="6931152" y="1517904"/>
            <a:ext cx="1453896" cy="274320"/>
          </a:xfrm>
          <a:prstGeom prst="rect">
            <a:avLst/>
          </a:prstGeom>
          <a:solidFill>
            <a:srgbClr val="D9D9D9"/>
          </a:solidFill>
          <a:ln w="12700">
            <a:solidFill>
              <a:srgbClr val="D9D9D9"/>
            </a:solidFill>
            <a:prstDash val="solid"/>
          </a:ln>
        </p:spPr>
      </p:sp>
      <p:sp>
        <p:nvSpPr>
          <p:cNvPr id="33" name="bg_lanet3"/>
          <p:cNvSpPr txBox="1"/>
          <p:nvPr/>
        </p:nvSpPr>
        <p:spPr>
          <a:xfrm>
            <a:off x="6931152" y="1517904"/>
            <a:ext cx="145389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代替・価格の基準</a:t>
            </a:r>
            <a:endParaRPr lang="en-US" sz="950" dirty="0"/>
          </a:p>
        </p:txBody>
      </p:sp>
      <p:sp>
        <p:nvSpPr>
          <p:cNvPr id="34" name="ovl_s24_e0_0"/>
          <p:cNvSpPr/>
          <p:nvPr/>
        </p:nvSpPr>
        <p:spPr>
          <a:xfrm>
            <a:off x="1554480" y="2487168"/>
            <a:ext cx="960120" cy="914"/>
          </a:xfrm>
          <a:prstGeom prst="line">
            <a:avLst/>
          </a:prstGeom>
          <a:noFill/>
          <a:ln w="19050">
            <a:solidFill>
              <a:srgbClr val="1BA1A6"/>
            </a:solidFill>
            <a:prstDash val="solid"/>
            <a:tailEnd type="triangle"/>
          </a:ln>
        </p:spPr>
      </p:sp>
      <p:sp>
        <p:nvSpPr>
          <p:cNvPr id="35" name="ovl_s24_e1_0"/>
          <p:cNvSpPr/>
          <p:nvPr/>
        </p:nvSpPr>
        <p:spPr>
          <a:xfrm flipH="1">
            <a:off x="1554480" y="3694176"/>
            <a:ext cx="960120" cy="914"/>
          </a:xfrm>
          <a:prstGeom prst="line">
            <a:avLst/>
          </a:prstGeom>
          <a:noFill/>
          <a:ln w="22225">
            <a:solidFill>
              <a:srgbClr val="0E4D33"/>
            </a:solidFill>
            <a:prstDash val="solid"/>
            <a:tailEnd type="triangle"/>
          </a:ln>
        </p:spPr>
      </p:sp>
      <p:sp>
        <p:nvSpPr>
          <p:cNvPr id="36" name="ovl_s24_e2_0"/>
          <p:cNvSpPr/>
          <p:nvPr/>
        </p:nvSpPr>
        <p:spPr>
          <a:xfrm>
            <a:off x="1554480" y="4901184"/>
            <a:ext cx="960120" cy="914"/>
          </a:xfrm>
          <a:prstGeom prst="line">
            <a:avLst/>
          </a:prstGeom>
          <a:noFill/>
          <a:ln w="15875">
            <a:solidFill>
              <a:srgbClr val="C0392B"/>
            </a:solidFill>
            <a:prstDash val="dash"/>
            <a:tailEnd type="triangle"/>
          </a:ln>
        </p:spPr>
      </p:sp>
      <p:sp>
        <p:nvSpPr>
          <p:cNvPr id="37" name="ovl_s24_e3_0"/>
          <p:cNvSpPr/>
          <p:nvPr/>
        </p:nvSpPr>
        <p:spPr>
          <a:xfrm>
            <a:off x="3840480" y="2487168"/>
            <a:ext cx="960120" cy="914"/>
          </a:xfrm>
          <a:prstGeom prst="line">
            <a:avLst/>
          </a:prstGeom>
          <a:noFill/>
          <a:ln w="19050">
            <a:solidFill>
              <a:srgbClr val="1BA1A6"/>
            </a:solidFill>
            <a:prstDash val="solid"/>
            <a:tailEnd type="triangle"/>
          </a:ln>
        </p:spPr>
      </p:sp>
      <p:sp>
        <p:nvSpPr>
          <p:cNvPr id="38" name="ovl_s24_e4_0"/>
          <p:cNvSpPr/>
          <p:nvPr/>
        </p:nvSpPr>
        <p:spPr>
          <a:xfrm>
            <a:off x="3840480" y="3611880"/>
            <a:ext cx="960120" cy="914"/>
          </a:xfrm>
          <a:prstGeom prst="line">
            <a:avLst/>
          </a:prstGeom>
          <a:noFill/>
          <a:ln w="19050">
            <a:solidFill>
              <a:srgbClr val="1BA1A6"/>
            </a:solidFill>
            <a:prstDash val="solid"/>
            <a:tailEnd type="triangle"/>
          </a:ln>
        </p:spPr>
      </p:sp>
      <p:sp>
        <p:nvSpPr>
          <p:cNvPr id="39" name="ovl_s24_e5_0"/>
          <p:cNvSpPr/>
          <p:nvPr/>
        </p:nvSpPr>
        <p:spPr>
          <a:xfrm flipH="1">
            <a:off x="6080760" y="3694176"/>
            <a:ext cx="960120" cy="914"/>
          </a:xfrm>
          <a:prstGeom prst="line">
            <a:avLst/>
          </a:prstGeom>
          <a:noFill/>
          <a:ln w="15875">
            <a:solidFill>
              <a:srgbClr val="C0392B"/>
            </a:solidFill>
            <a:prstDash val="dash"/>
            <a:tailEnd type="triangle"/>
          </a:ln>
        </p:spPr>
      </p:sp>
      <p:sp>
        <p:nvSpPr>
          <p:cNvPr id="40" name="ovl_s24_e6_0"/>
          <p:cNvSpPr/>
          <p:nvPr/>
        </p:nvSpPr>
        <p:spPr>
          <a:xfrm flipH="1">
            <a:off x="6080760" y="2487168"/>
            <a:ext cx="960120" cy="914"/>
          </a:xfrm>
          <a:prstGeom prst="line">
            <a:avLst/>
          </a:prstGeom>
          <a:noFill/>
          <a:ln w="15875">
            <a:solidFill>
              <a:srgbClr val="C0392B"/>
            </a:solidFill>
            <a:prstDash val="dash"/>
            <a:tailEnd type="triangle"/>
          </a:ln>
        </p:spPr>
      </p:sp>
      <p:sp>
        <p:nvSpPr>
          <p:cNvPr id="41" name="ovl_s24_e7_0"/>
          <p:cNvSpPr/>
          <p:nvPr/>
        </p:nvSpPr>
        <p:spPr>
          <a:xfrm flipH="1">
            <a:off x="3840480" y="4901184"/>
            <a:ext cx="3200400" cy="914"/>
          </a:xfrm>
          <a:prstGeom prst="line">
            <a:avLst/>
          </a:prstGeom>
          <a:noFill/>
          <a:ln w="15875">
            <a:solidFill>
              <a:srgbClr val="C0392B"/>
            </a:solidFill>
            <a:prstDash val="dash"/>
            <a:tailEnd type="triangle"/>
          </a:ln>
        </p:spPr>
      </p:sp>
      <p:sp>
        <p:nvSpPr>
          <p:cNvPr id="42" name="ovl_s24_e8_0"/>
          <p:cNvSpPr/>
          <p:nvPr/>
        </p:nvSpPr>
        <p:spPr>
          <a:xfrm flipH="1">
            <a:off x="3840480" y="3776472"/>
            <a:ext cx="960120" cy="914"/>
          </a:xfrm>
          <a:prstGeom prst="line">
            <a:avLst/>
          </a:prstGeom>
          <a:noFill/>
          <a:ln w="15875">
            <a:solidFill>
              <a:srgbClr val="C0392B"/>
            </a:solidFill>
            <a:prstDash val="dash"/>
            <a:tailEnd type="triangle"/>
          </a:ln>
        </p:spPr>
      </p:sp>
      <p:sp>
        <p:nvSpPr>
          <p:cNvPr id="43" name="ovl_s24_n_dbtech"/>
          <p:cNvSpPr/>
          <p:nvPr/>
        </p:nvSpPr>
        <p:spPr>
          <a:xfrm>
            <a:off x="457200" y="2112264"/>
            <a:ext cx="1097280" cy="749808"/>
          </a:xfrm>
          <a:prstGeom prst="roundRect">
            <a:avLst>
              <a:gd name="adj" fmla="val 7317"/>
            </a:avLst>
          </a:prstGeom>
          <a:solidFill>
            <a:srgbClr val="EAF4EE"/>
          </a:solidFill>
          <a:ln w="9525">
            <a:solidFill>
              <a:srgbClr val="86C99B"/>
            </a:solidFill>
            <a:prstDash val="solid"/>
          </a:ln>
        </p:spPr>
      </p:sp>
      <p:sp>
        <p:nvSpPr>
          <p:cNvPr id="44" name="ovl_s24_nt_dbtech"/>
          <p:cNvSpPr txBox="1"/>
          <p:nvPr/>
        </p:nvSpPr>
        <p:spPr>
          <a:xfrm>
            <a:off x="493776" y="2139696"/>
            <a:ext cx="10241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DB の技術</a:t>
            </a:r>
            <a:endParaRPr lang="en-US" sz="1000" dirty="0"/>
          </a:p>
        </p:txBody>
      </p:sp>
      <p:sp>
        <p:nvSpPr>
          <p:cNvPr id="45" name="ovl_s24_ns_dbtech"/>
          <p:cNvSpPr txBox="1"/>
          <p:nvPr/>
        </p:nvSpPr>
        <p:spPr>
          <a:xfrm>
            <a:off x="502920" y="2345436"/>
            <a:ext cx="10058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代替なし</a:t>
            </a:r>
            <a:endParaRPr lang="en-US" sz="850" dirty="0"/>
          </a:p>
        </p:txBody>
      </p:sp>
      <p:sp>
        <p:nvSpPr>
          <p:cNvPr id="46" name="ovl_s24_n_nv"/>
          <p:cNvSpPr/>
          <p:nvPr/>
        </p:nvSpPr>
        <p:spPr>
          <a:xfrm>
            <a:off x="457200" y="3319272"/>
            <a:ext cx="1097280" cy="749808"/>
          </a:xfrm>
          <a:prstGeom prst="roundRect">
            <a:avLst>
              <a:gd name="adj" fmla="val 7317"/>
            </a:avLst>
          </a:prstGeom>
          <a:solidFill>
            <a:srgbClr val="FFFFFF"/>
          </a:solidFill>
          <a:ln w="9525">
            <a:solidFill>
              <a:srgbClr val="767676"/>
            </a:solidFill>
            <a:prstDash val="solid"/>
          </a:ln>
        </p:spPr>
      </p:sp>
      <p:sp>
        <p:nvSpPr>
          <p:cNvPr id="47" name="ovl_s24_nt_nv"/>
          <p:cNvSpPr txBox="1"/>
          <p:nvPr/>
        </p:nvSpPr>
        <p:spPr>
          <a:xfrm>
            <a:off x="493776" y="3346704"/>
            <a:ext cx="10241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NVIDIA</a:t>
            </a:r>
            <a:endParaRPr lang="en-US" sz="1000" dirty="0"/>
          </a:p>
        </p:txBody>
      </p:sp>
      <p:sp>
        <p:nvSpPr>
          <p:cNvPr id="48" name="ovl_s24_ns_nv"/>
          <p:cNvSpPr txBox="1"/>
          <p:nvPr/>
        </p:nvSpPr>
        <p:spPr>
          <a:xfrm>
            <a:off x="502920" y="3552444"/>
            <a:ext cx="10058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AI 計算の約 8 割</a:t>
            </a:r>
            <a:endParaRPr lang="en-US" sz="850" dirty="0"/>
          </a:p>
        </p:txBody>
      </p:sp>
      <p:sp>
        <p:nvSpPr>
          <p:cNvPr id="49" name="ovl_s24_n_mem"/>
          <p:cNvSpPr/>
          <p:nvPr/>
        </p:nvSpPr>
        <p:spPr>
          <a:xfrm>
            <a:off x="457200" y="4526280"/>
            <a:ext cx="1097280" cy="749808"/>
          </a:xfrm>
          <a:prstGeom prst="roundRect">
            <a:avLst>
              <a:gd name="adj" fmla="val 7317"/>
            </a:avLst>
          </a:prstGeom>
          <a:solidFill>
            <a:srgbClr val="FFFFFF"/>
          </a:solidFill>
          <a:ln w="19050">
            <a:solidFill>
              <a:srgbClr val="C0392B"/>
            </a:solidFill>
            <a:prstDash val="solid"/>
          </a:ln>
        </p:spPr>
      </p:sp>
      <p:sp>
        <p:nvSpPr>
          <p:cNvPr id="50" name="ovl_s24_nt_mem"/>
          <p:cNvSpPr txBox="1"/>
          <p:nvPr/>
        </p:nvSpPr>
        <p:spPr>
          <a:xfrm>
            <a:off x="493776" y="4553712"/>
            <a:ext cx="10241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メモリ・電力</a:t>
            </a:r>
            <a:endParaRPr lang="en-US" sz="1000" dirty="0"/>
          </a:p>
        </p:txBody>
      </p:sp>
      <p:sp>
        <p:nvSpPr>
          <p:cNvPr id="51" name="ovl_s24_ns_mem"/>
          <p:cNvSpPr txBox="1"/>
          <p:nvPr/>
        </p:nvSpPr>
        <p:spPr>
          <a:xfrm>
            <a:off x="502920" y="4759452"/>
            <a:ext cx="10058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逼迫は</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2028 年まで</a:t>
            </a:r>
            <a:endParaRPr lang="en-US" sz="850" dirty="0"/>
          </a:p>
        </p:txBody>
      </p:sp>
      <p:sp>
        <p:nvSpPr>
          <p:cNvPr id="52" name="ovl_s24_n_diff"/>
          <p:cNvSpPr/>
          <p:nvPr/>
        </p:nvSpPr>
        <p:spPr>
          <a:xfrm>
            <a:off x="2514600" y="2112264"/>
            <a:ext cx="1325880" cy="749808"/>
          </a:xfrm>
          <a:prstGeom prst="roundRect">
            <a:avLst>
              <a:gd name="adj" fmla="val 7317"/>
            </a:avLst>
          </a:prstGeom>
          <a:solidFill>
            <a:srgbClr val="FFFFFF"/>
          </a:solidFill>
          <a:ln w="19050">
            <a:solidFill>
              <a:srgbClr val="197A56"/>
            </a:solidFill>
            <a:prstDash val="solid"/>
          </a:ln>
        </p:spPr>
      </p:sp>
      <p:sp>
        <p:nvSpPr>
          <p:cNvPr id="53" name="ovl_s24_nt_diff"/>
          <p:cNvSpPr txBox="1"/>
          <p:nvPr/>
        </p:nvSpPr>
        <p:spPr>
          <a:xfrm>
            <a:off x="2551176" y="2139696"/>
            <a:ext cx="1252728"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DB 保守・SaaS・</a:t>
            </a:r>
            <a:endParaRPr lang="en-US" sz="900" dirty="0"/>
          </a:p>
          <a:p>
            <a:pPr algn="ctr" indent="0" marL="0">
              <a:buNone/>
            </a:pPr>
            <a:r>
              <a:rPr lang="en-US" sz="900" b="1" dirty="0">
                <a:solidFill>
                  <a:srgbClr val="0E4D33"/>
                </a:solidFill>
                <a:latin typeface="Meiryo UI" pitchFamily="34" charset="0"/>
                <a:ea typeface="Meiryo UI" pitchFamily="34" charset="-122"/>
                <a:cs typeface="Meiryo UI" pitchFamily="34" charset="-120"/>
              </a:rPr>
              <a:t>OCI 一般</a:t>
            </a:r>
            <a:endParaRPr lang="en-US" sz="900" dirty="0"/>
          </a:p>
        </p:txBody>
      </p:sp>
      <p:sp>
        <p:nvSpPr>
          <p:cNvPr id="54" name="ovl_s24_ns_diff"/>
          <p:cNvSpPr txBox="1"/>
          <p:nvPr/>
        </p:nvSpPr>
        <p:spPr>
          <a:xfrm>
            <a:off x="2560320" y="2496312"/>
            <a:ext cx="1234440" cy="3383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1 株 120 ドル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(45 + 44 + 31)</a:t>
            </a:r>
            <a:endParaRPr lang="en-US" sz="850" dirty="0"/>
          </a:p>
        </p:txBody>
      </p:sp>
      <p:sp>
        <p:nvSpPr>
          <p:cNvPr id="55" name="ovl_s24_n_ai"/>
          <p:cNvSpPr/>
          <p:nvPr/>
        </p:nvSpPr>
        <p:spPr>
          <a:xfrm>
            <a:off x="2514600" y="3191256"/>
            <a:ext cx="1325880" cy="2212848"/>
          </a:xfrm>
          <a:prstGeom prst="roundRect">
            <a:avLst>
              <a:gd name="adj" fmla="val 4138"/>
            </a:avLst>
          </a:prstGeom>
          <a:solidFill>
            <a:srgbClr val="FFFFFF"/>
          </a:solidFill>
          <a:ln w="19050">
            <a:solidFill>
              <a:srgbClr val="197A56"/>
            </a:solidFill>
            <a:prstDash val="solid"/>
          </a:ln>
        </p:spPr>
      </p:sp>
      <p:sp>
        <p:nvSpPr>
          <p:cNvPr id="56" name="ovl_s24_nt_ai"/>
          <p:cNvSpPr txBox="1"/>
          <p:nvPr/>
        </p:nvSpPr>
        <p:spPr>
          <a:xfrm>
            <a:off x="2551176" y="3218688"/>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容量</a:t>
            </a:r>
            <a:endParaRPr lang="en-US" sz="1000" dirty="0"/>
          </a:p>
        </p:txBody>
      </p:sp>
      <p:sp>
        <p:nvSpPr>
          <p:cNvPr id="57" name="ovl_s24_ns_ai"/>
          <p:cNvSpPr txBox="1"/>
          <p:nvPr/>
        </p:nvSpPr>
        <p:spPr>
          <a:xfrm>
            <a:off x="2560320" y="3424428"/>
            <a:ext cx="1234440" cy="195224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1 株 117 ドル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(価値の 45%)</a:t>
            </a:r>
            <a:endParaRPr lang="en-US" sz="850" dirty="0"/>
          </a:p>
          <a:p>
            <a:pPr algn="ctr" indent="0" marL="0">
              <a:buNone/>
            </a:pP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差: 電力の確保・</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RDMA 網・品質 Gold</a:t>
            </a:r>
            <a:endParaRPr lang="en-US" sz="850" dirty="0"/>
          </a:p>
        </p:txBody>
      </p:sp>
      <p:sp>
        <p:nvSpPr>
          <p:cNvPr id="58" name="ovl_s24_n_ent"/>
          <p:cNvSpPr/>
          <p:nvPr/>
        </p:nvSpPr>
        <p:spPr>
          <a:xfrm>
            <a:off x="4800600" y="2112264"/>
            <a:ext cx="1280160" cy="749808"/>
          </a:xfrm>
          <a:prstGeom prst="roundRect">
            <a:avLst>
              <a:gd name="adj" fmla="val 7317"/>
            </a:avLst>
          </a:prstGeom>
          <a:solidFill>
            <a:srgbClr val="FFFFFF"/>
          </a:solidFill>
          <a:ln w="9525">
            <a:solidFill>
              <a:srgbClr val="767676"/>
            </a:solidFill>
            <a:prstDash val="solid"/>
          </a:ln>
        </p:spPr>
      </p:sp>
      <p:sp>
        <p:nvSpPr>
          <p:cNvPr id="59" name="ovl_s24_nt_ent"/>
          <p:cNvSpPr txBox="1"/>
          <p:nvPr/>
        </p:nvSpPr>
        <p:spPr>
          <a:xfrm>
            <a:off x="4837176" y="2139696"/>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企業</a:t>
            </a:r>
            <a:endParaRPr lang="en-US" sz="1000" dirty="0"/>
          </a:p>
        </p:txBody>
      </p:sp>
      <p:sp>
        <p:nvSpPr>
          <p:cNvPr id="60" name="ovl_s24_ns_ent"/>
          <p:cNvSpPr txBox="1"/>
          <p:nvPr/>
        </p:nvSpPr>
        <p:spPr>
          <a:xfrm>
            <a:off x="4846320" y="2345436"/>
            <a:ext cx="118872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データの近くで推論</a:t>
            </a:r>
            <a:endParaRPr lang="en-US" sz="850" dirty="0"/>
          </a:p>
        </p:txBody>
      </p:sp>
      <p:sp>
        <p:nvSpPr>
          <p:cNvPr id="61" name="ovl_s24_n_lab"/>
          <p:cNvSpPr/>
          <p:nvPr/>
        </p:nvSpPr>
        <p:spPr>
          <a:xfrm>
            <a:off x="4800600" y="3319272"/>
            <a:ext cx="1280160" cy="749808"/>
          </a:xfrm>
          <a:prstGeom prst="roundRect">
            <a:avLst>
              <a:gd name="adj" fmla="val 7317"/>
            </a:avLst>
          </a:prstGeom>
          <a:solidFill>
            <a:srgbClr val="FFFFFF"/>
          </a:solidFill>
          <a:ln w="9525">
            <a:solidFill>
              <a:srgbClr val="767676"/>
            </a:solidFill>
            <a:prstDash val="solid"/>
          </a:ln>
        </p:spPr>
      </p:sp>
      <p:sp>
        <p:nvSpPr>
          <p:cNvPr id="62" name="ovl_s24_nt_lab"/>
          <p:cNvSpPr txBox="1"/>
          <p:nvPr/>
        </p:nvSpPr>
        <p:spPr>
          <a:xfrm>
            <a:off x="4837176" y="3346704"/>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研究所</a:t>
            </a:r>
            <a:endParaRPr lang="en-US" sz="1000" dirty="0"/>
          </a:p>
        </p:txBody>
      </p:sp>
      <p:sp>
        <p:nvSpPr>
          <p:cNvPr id="63" name="ovl_s24_ns_lab"/>
          <p:cNvSpPr txBox="1"/>
          <p:nvPr/>
        </p:nvSpPr>
        <p:spPr>
          <a:xfrm>
            <a:off x="4846320" y="3552444"/>
            <a:ext cx="118872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最も安い容量を選ぶ</a:t>
            </a:r>
            <a:endParaRPr lang="en-US" sz="850" dirty="0"/>
          </a:p>
        </p:txBody>
      </p:sp>
      <p:sp>
        <p:nvSpPr>
          <p:cNvPr id="64" name="ovl_s24_n_hyper"/>
          <p:cNvSpPr/>
          <p:nvPr/>
        </p:nvSpPr>
        <p:spPr>
          <a:xfrm>
            <a:off x="7040880" y="2112264"/>
            <a:ext cx="1234440" cy="749808"/>
          </a:xfrm>
          <a:prstGeom prst="roundRect">
            <a:avLst>
              <a:gd name="adj" fmla="val 7317"/>
            </a:avLst>
          </a:prstGeom>
          <a:solidFill>
            <a:srgbClr val="FFFFFF"/>
          </a:solidFill>
          <a:ln w="9525">
            <a:solidFill>
              <a:srgbClr val="767676"/>
            </a:solidFill>
            <a:prstDash val="solid"/>
          </a:ln>
        </p:spPr>
      </p:sp>
      <p:sp>
        <p:nvSpPr>
          <p:cNvPr id="65" name="ovl_s24_nt_hyper"/>
          <p:cNvSpPr txBox="1"/>
          <p:nvPr/>
        </p:nvSpPr>
        <p:spPr>
          <a:xfrm>
            <a:off x="7077456" y="2139696"/>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大手クラウド</a:t>
            </a:r>
            <a:endParaRPr lang="en-US" sz="1000" dirty="0"/>
          </a:p>
        </p:txBody>
      </p:sp>
      <p:sp>
        <p:nvSpPr>
          <p:cNvPr id="66" name="ovl_s24_ns_hyper"/>
          <p:cNvSpPr txBox="1"/>
          <p:nvPr/>
        </p:nvSpPr>
        <p:spPr>
          <a:xfrm>
            <a:off x="7086600" y="2345436"/>
            <a:ext cx="11430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H100 実勢</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7.19 ドル/時</a:t>
            </a:r>
            <a:endParaRPr lang="en-US" sz="850" dirty="0"/>
          </a:p>
        </p:txBody>
      </p:sp>
      <p:sp>
        <p:nvSpPr>
          <p:cNvPr id="67" name="ovl_s24_n_neo"/>
          <p:cNvSpPr/>
          <p:nvPr/>
        </p:nvSpPr>
        <p:spPr>
          <a:xfrm>
            <a:off x="7040880" y="3319272"/>
            <a:ext cx="1234440" cy="749808"/>
          </a:xfrm>
          <a:prstGeom prst="roundRect">
            <a:avLst>
              <a:gd name="adj" fmla="val 7317"/>
            </a:avLst>
          </a:prstGeom>
          <a:solidFill>
            <a:srgbClr val="FFFFFF"/>
          </a:solidFill>
          <a:ln w="19050">
            <a:solidFill>
              <a:srgbClr val="C0392B"/>
            </a:solidFill>
            <a:prstDash val="solid"/>
          </a:ln>
        </p:spPr>
      </p:sp>
      <p:sp>
        <p:nvSpPr>
          <p:cNvPr id="68" name="ovl_s24_nt_neo"/>
          <p:cNvSpPr txBox="1"/>
          <p:nvPr/>
        </p:nvSpPr>
        <p:spPr>
          <a:xfrm>
            <a:off x="7077456" y="3346704"/>
            <a:ext cx="116128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ネオクラウド</a:t>
            </a:r>
            <a:endParaRPr lang="en-US" sz="1000" dirty="0"/>
          </a:p>
        </p:txBody>
      </p:sp>
      <p:sp>
        <p:nvSpPr>
          <p:cNvPr id="69" name="ovl_s24_ns_neo"/>
          <p:cNvSpPr txBox="1"/>
          <p:nvPr/>
        </p:nvSpPr>
        <p:spPr>
          <a:xfrm>
            <a:off x="7086600" y="3552444"/>
            <a:ext cx="11430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H100 実勢</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2.80 ドル/時</a:t>
            </a:r>
            <a:endParaRPr lang="en-US" sz="850" dirty="0"/>
          </a:p>
        </p:txBody>
      </p:sp>
      <p:sp>
        <p:nvSpPr>
          <p:cNvPr id="70" name="ovl_s24_n_fut"/>
          <p:cNvSpPr/>
          <p:nvPr/>
        </p:nvSpPr>
        <p:spPr>
          <a:xfrm>
            <a:off x="7040880" y="4526280"/>
            <a:ext cx="1234440" cy="749808"/>
          </a:xfrm>
          <a:prstGeom prst="roundRect">
            <a:avLst>
              <a:gd name="adj" fmla="val 7317"/>
            </a:avLst>
          </a:prstGeom>
          <a:solidFill>
            <a:srgbClr val="FFFFFF"/>
          </a:solidFill>
          <a:ln w="19050">
            <a:solidFill>
              <a:srgbClr val="C0392B"/>
            </a:solidFill>
            <a:prstDash val="solid"/>
          </a:ln>
        </p:spPr>
      </p:sp>
      <p:sp>
        <p:nvSpPr>
          <p:cNvPr id="71" name="ovl_s24_nt_fut"/>
          <p:cNvSpPr txBox="1"/>
          <p:nvPr/>
        </p:nvSpPr>
        <p:spPr>
          <a:xfrm>
            <a:off x="7077456" y="4553712"/>
            <a:ext cx="116128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価格指数・先物</a:t>
            </a:r>
            <a:endParaRPr lang="en-US" sz="1000" dirty="0"/>
          </a:p>
        </p:txBody>
      </p:sp>
      <p:sp>
        <p:nvSpPr>
          <p:cNvPr id="72" name="ovl_s24_ns_fut"/>
          <p:cNvSpPr txBox="1"/>
          <p:nvPr/>
        </p:nvSpPr>
        <p:spPr>
          <a:xfrm>
            <a:off x="7086600" y="4759452"/>
            <a:ext cx="11430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Silicon Data・Ornn</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ICE・CME が準備</a:t>
            </a:r>
            <a:endParaRPr lang="en-US" sz="850" dirty="0"/>
          </a:p>
        </p:txBody>
      </p:sp>
      <p:sp>
        <p:nvSpPr>
          <p:cNvPr id="73" name="ovl_s24_tag_diff"/>
          <p:cNvSpPr/>
          <p:nvPr/>
        </p:nvSpPr>
        <p:spPr>
          <a:xfrm>
            <a:off x="2933700" y="1901952"/>
            <a:ext cx="487680" cy="182880"/>
          </a:xfrm>
          <a:prstGeom prst="roundRect">
            <a:avLst>
              <a:gd name="adj" fmla="val 20000"/>
            </a:avLst>
          </a:prstGeom>
          <a:solidFill>
            <a:srgbClr val="197A56"/>
          </a:solidFill>
          <a:ln w="12700">
            <a:solidFill>
              <a:srgbClr val="197A56"/>
            </a:solidFill>
            <a:prstDash val="solid"/>
          </a:ln>
        </p:spPr>
      </p:sp>
      <p:sp>
        <p:nvSpPr>
          <p:cNvPr id="74" name="ovl_s24_tagt_diff"/>
          <p:cNvSpPr txBox="1"/>
          <p:nvPr/>
        </p:nvSpPr>
        <p:spPr>
          <a:xfrm>
            <a:off x="2933700" y="1901952"/>
            <a:ext cx="4876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差別化</a:t>
            </a:r>
            <a:endParaRPr lang="en-US" sz="800" dirty="0"/>
          </a:p>
        </p:txBody>
      </p:sp>
      <p:sp>
        <p:nvSpPr>
          <p:cNvPr id="75" name="ovl_s24_tag_ai"/>
          <p:cNvSpPr/>
          <p:nvPr/>
        </p:nvSpPr>
        <p:spPr>
          <a:xfrm>
            <a:off x="2781300" y="2980944"/>
            <a:ext cx="792480" cy="182880"/>
          </a:xfrm>
          <a:prstGeom prst="roundRect">
            <a:avLst>
              <a:gd name="adj" fmla="val 20000"/>
            </a:avLst>
          </a:prstGeom>
          <a:solidFill>
            <a:srgbClr val="C0392B"/>
          </a:solidFill>
          <a:ln w="12700">
            <a:solidFill>
              <a:srgbClr val="C0392B"/>
            </a:solidFill>
            <a:prstDash val="solid"/>
          </a:ln>
        </p:spPr>
      </p:sp>
      <p:sp>
        <p:nvSpPr>
          <p:cNvPr id="76" name="ovl_s24_tagt_ai"/>
          <p:cNvSpPr txBox="1"/>
          <p:nvPr/>
        </p:nvSpPr>
        <p:spPr>
          <a:xfrm>
            <a:off x="2781300" y="2980944"/>
            <a:ext cx="7924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緩和後は商品</a:t>
            </a:r>
            <a:endParaRPr lang="en-US" sz="800" dirty="0"/>
          </a:p>
        </p:txBody>
      </p:sp>
      <p:sp>
        <p:nvSpPr>
          <p:cNvPr id="77" name="ovl_s24_lab1"/>
          <p:cNvSpPr txBox="1"/>
          <p:nvPr/>
        </p:nvSpPr>
        <p:spPr>
          <a:xfrm>
            <a:off x="1807712" y="3461004"/>
            <a:ext cx="453657"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GPU 代</a:t>
            </a:r>
            <a:endParaRPr lang="en-US" sz="850" dirty="0"/>
          </a:p>
        </p:txBody>
      </p:sp>
      <p:sp>
        <p:nvSpPr>
          <p:cNvPr id="78" name="ovl_s24_lab2"/>
          <p:cNvSpPr txBox="1"/>
          <p:nvPr/>
        </p:nvSpPr>
        <p:spPr>
          <a:xfrm>
            <a:off x="1688211" y="4668012"/>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原価の上昇</a:t>
            </a:r>
            <a:endParaRPr lang="en-US" sz="850" dirty="0"/>
          </a:p>
        </p:txBody>
      </p:sp>
      <p:sp>
        <p:nvSpPr>
          <p:cNvPr id="79" name="ovl_s24_lab3"/>
          <p:cNvSpPr txBox="1"/>
          <p:nvPr/>
        </p:nvSpPr>
        <p:spPr>
          <a:xfrm>
            <a:off x="3956723" y="2253996"/>
            <a:ext cx="727634"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① </a:t>
            </a:r>
            <a:r>
              <a:rPr lang="en-US" sz="850" dirty="0">
                <a:solidFill>
                  <a:srgbClr val="1BA1A6"/>
                </a:solidFill>
                <a:latin typeface="Meiryo UI" pitchFamily="34" charset="0"/>
                <a:ea typeface="Meiryo UI" pitchFamily="34" charset="-122"/>
                <a:cs typeface="Meiryo UI" pitchFamily="34" charset="-120"/>
              </a:rPr>
              <a:t>代替なし</a:t>
            </a:r>
            <a:endParaRPr lang="en-US" sz="850" dirty="0"/>
          </a:p>
        </p:txBody>
      </p:sp>
      <p:sp>
        <p:nvSpPr>
          <p:cNvPr id="80" name="ovl_s24_lab4"/>
          <p:cNvSpPr txBox="1"/>
          <p:nvPr/>
        </p:nvSpPr>
        <p:spPr>
          <a:xfrm>
            <a:off x="3959638" y="3378708"/>
            <a:ext cx="721805"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② </a:t>
            </a:r>
            <a:r>
              <a:rPr lang="en-US" sz="850" dirty="0">
                <a:solidFill>
                  <a:srgbClr val="1BA1A6"/>
                </a:solidFill>
                <a:latin typeface="Meiryo UI" pitchFamily="34" charset="0"/>
                <a:ea typeface="Meiryo UI" pitchFamily="34" charset="-122"/>
                <a:cs typeface="Meiryo UI" pitchFamily="34" charset="-120"/>
              </a:rPr>
              <a:t>GPU 時間</a:t>
            </a:r>
            <a:endParaRPr lang="en-US" sz="850" dirty="0"/>
          </a:p>
        </p:txBody>
      </p:sp>
      <p:sp>
        <p:nvSpPr>
          <p:cNvPr id="81" name="ovl_s24_lab5"/>
          <p:cNvSpPr txBox="1"/>
          <p:nvPr/>
        </p:nvSpPr>
        <p:spPr>
          <a:xfrm>
            <a:off x="6195060" y="3319272"/>
            <a:ext cx="731520"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C0392B"/>
                </a:solidFill>
                <a:latin typeface="Meiryo UI" pitchFamily="34" charset="0"/>
                <a:ea typeface="Meiryo UI" pitchFamily="34" charset="-122"/>
                <a:cs typeface="Meiryo UI" pitchFamily="34" charset="-120"/>
              </a:rPr>
              <a:t>③ </a:t>
            </a:r>
            <a:r>
              <a:rPr lang="en-US" sz="850" dirty="0">
                <a:solidFill>
                  <a:srgbClr val="C0392B"/>
                </a:solidFill>
                <a:latin typeface="Meiryo UI" pitchFamily="34" charset="0"/>
                <a:ea typeface="Meiryo UI" pitchFamily="34" charset="-122"/>
                <a:cs typeface="Meiryo UI" pitchFamily="34" charset="-120"/>
              </a:rPr>
              <a:t>約 2.6 倍</a:t>
            </a:r>
            <a:endParaRPr lang="en-US" sz="850" dirty="0"/>
          </a:p>
          <a:p>
            <a:pPr algn="ctr" indent="0" marL="0">
              <a:buNone/>
            </a:pPr>
            <a:r>
              <a:rPr lang="en-US" sz="850" dirty="0">
                <a:solidFill>
                  <a:srgbClr val="C0392B"/>
                </a:solidFill>
                <a:latin typeface="Meiryo UI" pitchFamily="34" charset="0"/>
                <a:ea typeface="Meiryo UI" pitchFamily="34" charset="-122"/>
                <a:cs typeface="Meiryo UI" pitchFamily="34" charset="-120"/>
              </a:rPr>
              <a:t>安い</a:t>
            </a:r>
            <a:endParaRPr lang="en-US" sz="850" dirty="0"/>
          </a:p>
        </p:txBody>
      </p:sp>
      <p:sp>
        <p:nvSpPr>
          <p:cNvPr id="82" name="ovl_s24_lab6"/>
          <p:cNvSpPr txBox="1"/>
          <p:nvPr/>
        </p:nvSpPr>
        <p:spPr>
          <a:xfrm>
            <a:off x="6249467" y="2253996"/>
            <a:ext cx="622706"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DB の移行</a:t>
            </a:r>
            <a:endParaRPr lang="en-US" sz="850" dirty="0"/>
          </a:p>
        </p:txBody>
      </p:sp>
      <p:sp>
        <p:nvSpPr>
          <p:cNvPr id="83" name="ovl_s24_lab7"/>
          <p:cNvSpPr txBox="1"/>
          <p:nvPr/>
        </p:nvSpPr>
        <p:spPr>
          <a:xfrm>
            <a:off x="4960277" y="4668012"/>
            <a:ext cx="960806"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C0392B"/>
                </a:solidFill>
                <a:latin typeface="Meiryo UI" pitchFamily="34" charset="0"/>
                <a:ea typeface="Meiryo UI" pitchFamily="34" charset="-122"/>
                <a:cs typeface="Meiryo UI" pitchFamily="34" charset="-120"/>
              </a:rPr>
              <a:t>④ </a:t>
            </a:r>
            <a:r>
              <a:rPr lang="en-US" sz="850" dirty="0">
                <a:solidFill>
                  <a:srgbClr val="C0392B"/>
                </a:solidFill>
                <a:latin typeface="Meiryo UI" pitchFamily="34" charset="0"/>
                <a:ea typeface="Meiryo UI" pitchFamily="34" charset="-122"/>
                <a:cs typeface="Meiryo UI" pitchFamily="34" charset="-120"/>
              </a:rPr>
              <a:t>価格の標準化</a:t>
            </a:r>
            <a:endParaRPr lang="en-US" sz="850" dirty="0"/>
          </a:p>
        </p:txBody>
      </p:sp>
      <p:sp>
        <p:nvSpPr>
          <p:cNvPr id="84" name="ovl_s24_num8"/>
          <p:cNvSpPr/>
          <p:nvPr/>
        </p:nvSpPr>
        <p:spPr>
          <a:xfrm>
            <a:off x="4201668" y="3657600"/>
            <a:ext cx="237744" cy="237744"/>
          </a:xfrm>
          <a:prstGeom prst="ellipse">
            <a:avLst/>
          </a:prstGeom>
          <a:solidFill>
            <a:srgbClr val="C0392B"/>
          </a:solidFill>
          <a:ln w="12700">
            <a:solidFill>
              <a:srgbClr val="FFFFFF"/>
            </a:solidFill>
            <a:prstDash val="solid"/>
          </a:ln>
        </p:spPr>
      </p:sp>
      <p:sp>
        <p:nvSpPr>
          <p:cNvPr id="85" name="ovl_s24_numt8"/>
          <p:cNvSpPr txBox="1"/>
          <p:nvPr/>
        </p:nvSpPr>
        <p:spPr>
          <a:xfrm>
            <a:off x="4201668" y="365760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5</a:t>
            </a:r>
            <a:endParaRPr lang="en-US" sz="900" dirty="0"/>
          </a:p>
        </p:txBody>
      </p:sp>
      <p:sp>
        <p:nvSpPr>
          <p:cNvPr id="86" name="ovl_s24_leg0"/>
          <p:cNvSpPr/>
          <p:nvPr/>
        </p:nvSpPr>
        <p:spPr>
          <a:xfrm>
            <a:off x="457200" y="5660136"/>
            <a:ext cx="365760" cy="914"/>
          </a:xfrm>
          <a:prstGeom prst="line">
            <a:avLst/>
          </a:prstGeom>
          <a:noFill/>
          <a:ln w="22225">
            <a:solidFill>
              <a:srgbClr val="0E4D33"/>
            </a:solidFill>
            <a:prstDash val="solid"/>
            <a:tailEnd type="triangle"/>
          </a:ln>
        </p:spPr>
      </p:sp>
      <p:sp>
        <p:nvSpPr>
          <p:cNvPr id="87" name="ovl_s24_legt0"/>
          <p:cNvSpPr txBox="1"/>
          <p:nvPr/>
        </p:nvSpPr>
        <p:spPr>
          <a:xfrm>
            <a:off x="877824" y="5559552"/>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カネ</a:t>
            </a:r>
            <a:endParaRPr lang="en-US" sz="800" dirty="0"/>
          </a:p>
        </p:txBody>
      </p:sp>
      <p:sp>
        <p:nvSpPr>
          <p:cNvPr id="88" name="ovl_s24_leg1"/>
          <p:cNvSpPr/>
          <p:nvPr/>
        </p:nvSpPr>
        <p:spPr>
          <a:xfrm>
            <a:off x="1874520" y="5660136"/>
            <a:ext cx="365760" cy="914"/>
          </a:xfrm>
          <a:prstGeom prst="line">
            <a:avLst/>
          </a:prstGeom>
          <a:noFill/>
          <a:ln w="19050">
            <a:solidFill>
              <a:srgbClr val="1BA1A6"/>
            </a:solidFill>
            <a:prstDash val="solid"/>
            <a:tailEnd type="triangle"/>
          </a:ln>
        </p:spPr>
      </p:sp>
      <p:sp>
        <p:nvSpPr>
          <p:cNvPr id="89" name="ovl_s24_legt1"/>
          <p:cNvSpPr txBox="1"/>
          <p:nvPr/>
        </p:nvSpPr>
        <p:spPr>
          <a:xfrm>
            <a:off x="2295144" y="5559552"/>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モノ・サービス</a:t>
            </a:r>
            <a:endParaRPr lang="en-US" sz="800" dirty="0"/>
          </a:p>
        </p:txBody>
      </p:sp>
      <p:sp>
        <p:nvSpPr>
          <p:cNvPr id="90" name="ovl_s24_leg2"/>
          <p:cNvSpPr/>
          <p:nvPr/>
        </p:nvSpPr>
        <p:spPr>
          <a:xfrm>
            <a:off x="3291840" y="5660136"/>
            <a:ext cx="365760" cy="914"/>
          </a:xfrm>
          <a:prstGeom prst="line">
            <a:avLst/>
          </a:prstGeom>
          <a:noFill/>
          <a:ln w="15875">
            <a:solidFill>
              <a:srgbClr val="C0392B"/>
            </a:solidFill>
            <a:prstDash val="dash"/>
            <a:tailEnd type="triangle"/>
          </a:ln>
        </p:spPr>
      </p:sp>
      <p:sp>
        <p:nvSpPr>
          <p:cNvPr id="91" name="ovl_s24_legt2"/>
          <p:cNvSpPr txBox="1"/>
          <p:nvPr/>
        </p:nvSpPr>
        <p:spPr>
          <a:xfrm>
            <a:off x="3712464" y="5559552"/>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リスク</a:t>
            </a:r>
            <a:endParaRPr lang="en-US" sz="800" dirty="0"/>
          </a:p>
        </p:txBody>
      </p:sp>
      <p:sp>
        <p:nvSpPr>
          <p:cNvPr id="92" name="ovl_s24_legn"/>
          <p:cNvSpPr txBox="1"/>
          <p:nvPr/>
        </p:nvSpPr>
        <p:spPr>
          <a:xfrm>
            <a:off x="6126480" y="5559552"/>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93"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94" name="mech"/>
          <p:cNvSpPr txBox="1"/>
          <p:nvPr/>
        </p:nvSpPr>
        <p:spPr>
          <a:xfrm>
            <a:off x="8458200" y="1810512"/>
            <a:ext cx="3276295" cy="2402332"/>
          </a:xfrm>
          <a:prstGeom prst="rect">
            <a:avLst/>
          </a:prstGeom>
          <a:noFill/>
          <a:ln/>
        </p:spPr>
        <p:txBody>
          <a:bodyPr wrap="square" lIns="381" tIns="381" rIns="381" bIns="381" rtlCol="0" anchor="t"/>
          <a:lstStyle/>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① </a:t>
            </a:r>
            <a:r>
              <a:rPr lang="en-US" sz="1100" dirty="0">
                <a:solidFill>
                  <a:srgbClr val="333333"/>
                </a:solidFill>
                <a:latin typeface="Meiryo UI" pitchFamily="34" charset="0"/>
                <a:ea typeface="Meiryo UI" pitchFamily="34" charset="-122"/>
                <a:cs typeface="Meiryo UI" pitchFamily="34" charset="-120"/>
              </a:rPr>
              <a:t>DB・Database@ はデータのある場所で動く。代替がなく、価格は Oracle が決める</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② </a:t>
            </a:r>
            <a:r>
              <a:rPr lang="en-US" sz="1100" dirty="0">
                <a:solidFill>
                  <a:srgbClr val="333333"/>
                </a:solidFill>
                <a:latin typeface="Meiryo UI" pitchFamily="34" charset="0"/>
                <a:ea typeface="Meiryo UI" pitchFamily="34" charset="-122"/>
                <a:cs typeface="Meiryo UI" pitchFamily="34" charset="-120"/>
              </a:rPr>
              <a:t>AI 容量の買い手は最も安い容量を選ぶ。</a:t>
            </a:r>
            <a:br/>
            <a:r>
              <a:rPr lang="en-US" sz="1100" dirty="0">
                <a:solidFill>
                  <a:srgbClr val="333333"/>
                </a:solidFill>
                <a:latin typeface="Meiryo UI" pitchFamily="34" charset="0"/>
                <a:ea typeface="Meiryo UI" pitchFamily="34" charset="-122"/>
                <a:cs typeface="Meiryo UI" pitchFamily="34" charset="-120"/>
              </a:rPr>
              <a:t>Oracle の差は電力の確保・RDMA 網・品質(ClusterMAX Gold)</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③ </a:t>
            </a:r>
            <a:r>
              <a:rPr lang="en-US" sz="1100" dirty="0">
                <a:solidFill>
                  <a:srgbClr val="333333"/>
                </a:solidFill>
                <a:latin typeface="Meiryo UI" pitchFamily="34" charset="0"/>
                <a:ea typeface="Meiryo UI" pitchFamily="34" charset="-122"/>
                <a:cs typeface="Meiryo UI" pitchFamily="34" charset="-120"/>
              </a:rPr>
              <a:t>ネオクラウドの H100 実勢は大手の約 2.6 倍安い。需給が緩むと、限界供給者の損益分岐が価格になる</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④ </a:t>
            </a:r>
            <a:r>
              <a:rPr lang="en-US" sz="1100" dirty="0">
                <a:solidFill>
                  <a:srgbClr val="333333"/>
                </a:solidFill>
                <a:latin typeface="Meiryo UI" pitchFamily="34" charset="0"/>
                <a:ea typeface="Meiryo UI" pitchFamily="34" charset="-122"/>
                <a:cs typeface="Meiryo UI" pitchFamily="34" charset="-120"/>
              </a:rPr>
              <a:t>価格指数と現金決済の先物(ICE・CME)が整い、GPU 時間の価格が標準化しつつある</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⑤ </a:t>
            </a:r>
            <a:r>
              <a:rPr lang="en-US" sz="1100" dirty="0">
                <a:solidFill>
                  <a:srgbClr val="333333"/>
                </a:solidFill>
                <a:latin typeface="Meiryo UI" pitchFamily="34" charset="0"/>
                <a:ea typeface="Meiryo UI" pitchFamily="34" charset="-122"/>
                <a:cs typeface="Meiryo UI" pitchFamily="34" charset="-120"/>
              </a:rPr>
              <a:t>推論トークンの価格は、同じ性能で</a:t>
            </a:r>
            <a:br/>
            <a:r>
              <a:rPr lang="en-US" sz="1100" dirty="0">
                <a:solidFill>
                  <a:srgbClr val="333333"/>
                </a:solidFill>
                <a:latin typeface="Meiryo UI" pitchFamily="34" charset="0"/>
                <a:ea typeface="Meiryo UI" pitchFamily="34" charset="-122"/>
                <a:cs typeface="Meiryo UI" pitchFamily="34" charset="-120"/>
              </a:rPr>
              <a:t>年 9〜900 倍の速さで下がっている(Epoch)</a:t>
            </a:r>
            <a:endParaRPr lang="en-US" sz="1100" dirty="0"/>
          </a:p>
        </p:txBody>
      </p:sp>
      <p:sp>
        <p:nvSpPr>
          <p:cNvPr id="95" name="ovl_takeaway_bg"/>
          <p:cNvSpPr/>
          <p:nvPr/>
        </p:nvSpPr>
        <p:spPr>
          <a:xfrm>
            <a:off x="8458200" y="4285996"/>
            <a:ext cx="3276295" cy="828548"/>
          </a:xfrm>
          <a:prstGeom prst="rect">
            <a:avLst/>
          </a:prstGeom>
          <a:solidFill>
            <a:srgbClr val="EAF4EE"/>
          </a:solidFill>
          <a:ln w="12700">
            <a:solidFill>
              <a:srgbClr val="EAF4EE"/>
            </a:solidFill>
            <a:prstDash val="solid"/>
          </a:ln>
        </p:spPr>
      </p:sp>
      <p:sp>
        <p:nvSpPr>
          <p:cNvPr id="96" name="takeaway"/>
          <p:cNvSpPr txBox="1"/>
          <p:nvPr/>
        </p:nvSpPr>
        <p:spPr>
          <a:xfrm>
            <a:off x="8567928" y="4359148"/>
            <a:ext cx="3056839" cy="682244"/>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価値の 45% を占める AI 容量が、逼迫の緩和後に商品として値決めされる層にあるため C</a:t>
            </a:r>
            <a:endParaRPr lang="en-US" sz="1000" dirty="0"/>
          </a:p>
        </p:txBody>
      </p:sp>
      <p:sp>
        <p:nvSpPr>
          <p:cNvPr id="97" name="updown"/>
          <p:cNvSpPr txBox="1"/>
          <p:nvPr/>
        </p:nvSpPr>
        <p:spPr>
          <a:xfrm>
            <a:off x="8458200" y="5187696"/>
            <a:ext cx="3276295" cy="59131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AI 粗利率 35% 以上が続き、緩和期に入っても更新プレミアムが正なら B</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AI 粗利率が 25% 未満か、更新プレミアムが 0% 以下なら D 候補</a:t>
            </a:r>
            <a:endParaRPr lang="en-US" sz="850" dirty="0"/>
          </a:p>
        </p:txBody>
      </p:sp>
      <p:sp>
        <p:nvSpPr>
          <p:cNvPr id="98" name="ovl_kpibox"/>
          <p:cNvSpPr/>
          <p:nvPr/>
        </p:nvSpPr>
        <p:spPr>
          <a:xfrm>
            <a:off x="457200" y="5870448"/>
            <a:ext cx="11277295" cy="384048"/>
          </a:xfrm>
          <a:prstGeom prst="rect">
            <a:avLst/>
          </a:prstGeom>
          <a:solidFill>
            <a:srgbClr val="F2F2F2"/>
          </a:solidFill>
          <a:ln w="9525">
            <a:solidFill>
              <a:srgbClr val="D68910"/>
            </a:solidFill>
            <a:prstDash val="solid"/>
          </a:ln>
        </p:spPr>
      </p:sp>
      <p:sp>
        <p:nvSpPr>
          <p:cNvPr id="99" name="kpi"/>
          <p:cNvSpPr txBox="1"/>
          <p:nvPr/>
        </p:nvSpPr>
        <p:spPr>
          <a:xfrm>
            <a:off x="548640" y="5888736"/>
            <a:ext cx="11094415" cy="347472"/>
          </a:xfrm>
          <a:prstGeom prst="rect">
            <a:avLst/>
          </a:prstGeom>
          <a:noFill/>
          <a:ln/>
        </p:spPr>
        <p:txBody>
          <a:bodyPr wrap="square" lIns="0" tIns="0" rIns="0" bIns="0" rtlCol="0" anchor="ctr"/>
          <a:lstStyle/>
          <a:p>
            <a:pPr indent="0" marL="0">
              <a:buNone/>
            </a:pPr>
            <a:r>
              <a:rPr lang="en-US" sz="900" dirty="0">
                <a:solidFill>
                  <a:srgbClr val="333333"/>
                </a:solidFill>
                <a:latin typeface="Meiryo UI" pitchFamily="34" charset="0"/>
                <a:ea typeface="Meiryo UI" pitchFamily="34" charset="-122"/>
                <a:cs typeface="Meiryo UI" pitchFamily="34" charset="-120"/>
              </a:rPr>
              <a:t>監視 KPI とトリガー: AI 粗利率(最終開示 32%)が 25% 未満で D 候補・35% 以上で B 候補 / 更新プレミアム(+20%)が 0% 以下で D 候補 / H100 1 年契約の指数(2.65 ドル)が 2.00 ドル未満</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3-4 製品と設備の性格(条件8〜12)(2/5)</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224282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22428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運用上の不可欠性(条件9)</a:t>
            </a:r>
            <a:endParaRPr lang="en-US" sz="1000" dirty="0"/>
          </a:p>
        </p:txBody>
      </p:sp>
      <p:sp>
        <p:nvSpPr>
          <p:cNvPr id="14" name="hdr_why"/>
          <p:cNvSpPr txBox="1"/>
          <p:nvPr/>
        </p:nvSpPr>
        <p:spPr>
          <a:xfrm>
            <a:off x="2846324" y="356616"/>
            <a:ext cx="888817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顧客が止められない運用に組み込まれていれば、景気後退でも解約されにくい</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止まれば顧客の AI 事業が止まる電力付きの容量で更新率は高いが、</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代替のクラウドもあり、不可欠とまでは言えない</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左から: 供給の基盤 → Oracle → 顧客の運用 ← 代替。①〜④ は右と対応</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会社開示(Q4 FY26・Q1 FY27 説明会)、research4/T4_ai_demand.md(McKinsey)、report/r3_sections_5w1h_f20.md §3-4</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28</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条件9</a:t>
            </a:r>
            <a:endParaRPr lang="en-US" sz="800" dirty="0"/>
          </a:p>
        </p:txBody>
      </p:sp>
      <p:sp>
        <p:nvSpPr>
          <p:cNvPr id="22" name="bg_lane0"/>
          <p:cNvSpPr/>
          <p:nvPr/>
        </p:nvSpPr>
        <p:spPr>
          <a:xfrm>
            <a:off x="347472" y="1517904"/>
            <a:ext cx="1453896" cy="4315968"/>
          </a:xfrm>
          <a:prstGeom prst="rect">
            <a:avLst/>
          </a:prstGeom>
          <a:solidFill>
            <a:srgbClr val="F2F2F2"/>
          </a:solidFill>
          <a:ln w="12700">
            <a:solidFill>
              <a:srgbClr val="F2F2F2"/>
            </a:solidFill>
            <a:prstDash val="solid"/>
          </a:ln>
        </p:spPr>
      </p:sp>
      <p:sp>
        <p:nvSpPr>
          <p:cNvPr id="23" name="bg_laneh0"/>
          <p:cNvSpPr/>
          <p:nvPr/>
        </p:nvSpPr>
        <p:spPr>
          <a:xfrm>
            <a:off x="347472" y="1517904"/>
            <a:ext cx="1453896" cy="274320"/>
          </a:xfrm>
          <a:prstGeom prst="rect">
            <a:avLst/>
          </a:prstGeom>
          <a:solidFill>
            <a:srgbClr val="D9D9D9"/>
          </a:solidFill>
          <a:ln w="12700">
            <a:solidFill>
              <a:srgbClr val="D9D9D9"/>
            </a:solidFill>
            <a:prstDash val="solid"/>
          </a:ln>
        </p:spPr>
      </p:sp>
      <p:sp>
        <p:nvSpPr>
          <p:cNvPr id="24" name="bg_lanet0"/>
          <p:cNvSpPr txBox="1"/>
          <p:nvPr/>
        </p:nvSpPr>
        <p:spPr>
          <a:xfrm>
            <a:off x="347472" y="1517904"/>
            <a:ext cx="145389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供給の基盤</a:t>
            </a:r>
            <a:endParaRPr lang="en-US" sz="950" dirty="0"/>
          </a:p>
        </p:txBody>
      </p:sp>
      <p:sp>
        <p:nvSpPr>
          <p:cNvPr id="25" name="bg_lane1"/>
          <p:cNvSpPr/>
          <p:nvPr/>
        </p:nvSpPr>
        <p:spPr>
          <a:xfrm>
            <a:off x="2450592" y="1517904"/>
            <a:ext cx="1499616" cy="4315968"/>
          </a:xfrm>
          <a:prstGeom prst="rect">
            <a:avLst/>
          </a:prstGeom>
          <a:solidFill>
            <a:srgbClr val="EAF4EE"/>
          </a:solidFill>
          <a:ln w="12700">
            <a:solidFill>
              <a:srgbClr val="EAF4EE"/>
            </a:solidFill>
            <a:prstDash val="solid"/>
          </a:ln>
        </p:spPr>
      </p:sp>
      <p:sp>
        <p:nvSpPr>
          <p:cNvPr id="26" name="bg_laneh1"/>
          <p:cNvSpPr/>
          <p:nvPr/>
        </p:nvSpPr>
        <p:spPr>
          <a:xfrm>
            <a:off x="2450592" y="1517904"/>
            <a:ext cx="1499616" cy="274320"/>
          </a:xfrm>
          <a:prstGeom prst="rect">
            <a:avLst/>
          </a:prstGeom>
          <a:solidFill>
            <a:srgbClr val="197A56"/>
          </a:solidFill>
          <a:ln w="12700">
            <a:solidFill>
              <a:srgbClr val="197A56"/>
            </a:solidFill>
            <a:prstDash val="solid"/>
          </a:ln>
        </p:spPr>
      </p:sp>
      <p:sp>
        <p:nvSpPr>
          <p:cNvPr id="27" name="bg_lanet1"/>
          <p:cNvSpPr txBox="1"/>
          <p:nvPr/>
        </p:nvSpPr>
        <p:spPr>
          <a:xfrm>
            <a:off x="2450592" y="1517904"/>
            <a:ext cx="149961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a:t>
            </a:r>
            <a:endParaRPr lang="en-US" sz="950" dirty="0"/>
          </a:p>
        </p:txBody>
      </p:sp>
      <p:sp>
        <p:nvSpPr>
          <p:cNvPr id="28" name="bg_lane2"/>
          <p:cNvSpPr/>
          <p:nvPr/>
        </p:nvSpPr>
        <p:spPr>
          <a:xfrm>
            <a:off x="4599432" y="1517904"/>
            <a:ext cx="1636776" cy="4315968"/>
          </a:xfrm>
          <a:prstGeom prst="rect">
            <a:avLst/>
          </a:prstGeom>
          <a:solidFill>
            <a:srgbClr val="F2F2F2"/>
          </a:solidFill>
          <a:ln w="12700">
            <a:solidFill>
              <a:srgbClr val="F2F2F2"/>
            </a:solidFill>
            <a:prstDash val="solid"/>
          </a:ln>
        </p:spPr>
      </p:sp>
      <p:sp>
        <p:nvSpPr>
          <p:cNvPr id="29" name="bg_laneh2"/>
          <p:cNvSpPr/>
          <p:nvPr/>
        </p:nvSpPr>
        <p:spPr>
          <a:xfrm>
            <a:off x="4599432" y="1517904"/>
            <a:ext cx="1636776" cy="274320"/>
          </a:xfrm>
          <a:prstGeom prst="rect">
            <a:avLst/>
          </a:prstGeom>
          <a:solidFill>
            <a:srgbClr val="D9D9D9"/>
          </a:solidFill>
          <a:ln w="12700">
            <a:solidFill>
              <a:srgbClr val="D9D9D9"/>
            </a:solidFill>
            <a:prstDash val="solid"/>
          </a:ln>
        </p:spPr>
      </p:sp>
      <p:sp>
        <p:nvSpPr>
          <p:cNvPr id="30" name="bg_lanet2"/>
          <p:cNvSpPr txBox="1"/>
          <p:nvPr/>
        </p:nvSpPr>
        <p:spPr>
          <a:xfrm>
            <a:off x="4599432" y="1517904"/>
            <a:ext cx="163677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顧客の運用</a:t>
            </a:r>
            <a:endParaRPr lang="en-US" sz="950" dirty="0"/>
          </a:p>
        </p:txBody>
      </p:sp>
      <p:sp>
        <p:nvSpPr>
          <p:cNvPr id="31" name="bg_lane3"/>
          <p:cNvSpPr/>
          <p:nvPr/>
        </p:nvSpPr>
        <p:spPr>
          <a:xfrm>
            <a:off x="6885432" y="1517904"/>
            <a:ext cx="1499616" cy="4315968"/>
          </a:xfrm>
          <a:prstGeom prst="rect">
            <a:avLst/>
          </a:prstGeom>
          <a:solidFill>
            <a:srgbClr val="F2F2F2"/>
          </a:solidFill>
          <a:ln w="12700">
            <a:solidFill>
              <a:srgbClr val="F2F2F2"/>
            </a:solidFill>
            <a:prstDash val="solid"/>
          </a:ln>
        </p:spPr>
      </p:sp>
      <p:sp>
        <p:nvSpPr>
          <p:cNvPr id="32" name="bg_laneh3"/>
          <p:cNvSpPr/>
          <p:nvPr/>
        </p:nvSpPr>
        <p:spPr>
          <a:xfrm>
            <a:off x="6885432" y="1517904"/>
            <a:ext cx="1499616" cy="274320"/>
          </a:xfrm>
          <a:prstGeom prst="rect">
            <a:avLst/>
          </a:prstGeom>
          <a:solidFill>
            <a:srgbClr val="D9D9D9"/>
          </a:solidFill>
          <a:ln w="12700">
            <a:solidFill>
              <a:srgbClr val="D9D9D9"/>
            </a:solidFill>
            <a:prstDash val="solid"/>
          </a:ln>
        </p:spPr>
      </p:sp>
      <p:sp>
        <p:nvSpPr>
          <p:cNvPr id="33" name="bg_lanet3"/>
          <p:cNvSpPr txBox="1"/>
          <p:nvPr/>
        </p:nvSpPr>
        <p:spPr>
          <a:xfrm>
            <a:off x="6885432" y="1517904"/>
            <a:ext cx="149961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代替</a:t>
            </a:r>
            <a:endParaRPr lang="en-US" sz="950" dirty="0"/>
          </a:p>
        </p:txBody>
      </p:sp>
      <p:sp>
        <p:nvSpPr>
          <p:cNvPr id="34" name="ovl_s25_e0_0"/>
          <p:cNvSpPr/>
          <p:nvPr/>
        </p:nvSpPr>
        <p:spPr>
          <a:xfrm>
            <a:off x="1691640" y="2538984"/>
            <a:ext cx="868680" cy="914"/>
          </a:xfrm>
          <a:prstGeom prst="line">
            <a:avLst/>
          </a:prstGeom>
          <a:noFill/>
          <a:ln w="19050">
            <a:solidFill>
              <a:srgbClr val="1BA1A6"/>
            </a:solidFill>
            <a:prstDash val="solid"/>
            <a:tailEnd type="triangle"/>
          </a:ln>
        </p:spPr>
      </p:sp>
      <p:sp>
        <p:nvSpPr>
          <p:cNvPr id="35" name="ovl_s25_e1_0"/>
          <p:cNvSpPr/>
          <p:nvPr/>
        </p:nvSpPr>
        <p:spPr>
          <a:xfrm>
            <a:off x="1691640" y="3849624"/>
            <a:ext cx="868680" cy="914"/>
          </a:xfrm>
          <a:prstGeom prst="line">
            <a:avLst/>
          </a:prstGeom>
          <a:noFill/>
          <a:ln w="19050">
            <a:solidFill>
              <a:srgbClr val="1BA1A6"/>
            </a:solidFill>
            <a:prstDash val="solid"/>
            <a:tailEnd type="triangle"/>
          </a:ln>
        </p:spPr>
      </p:sp>
      <p:sp>
        <p:nvSpPr>
          <p:cNvPr id="36" name="ovl_s25_e2_0"/>
          <p:cNvSpPr/>
          <p:nvPr/>
        </p:nvSpPr>
        <p:spPr>
          <a:xfrm>
            <a:off x="1691640" y="5160264"/>
            <a:ext cx="868680" cy="914"/>
          </a:xfrm>
          <a:prstGeom prst="line">
            <a:avLst/>
          </a:prstGeom>
          <a:noFill/>
          <a:ln w="19050">
            <a:solidFill>
              <a:srgbClr val="1BA1A6"/>
            </a:solidFill>
            <a:prstDash val="solid"/>
            <a:tailEnd type="triangle"/>
          </a:ln>
        </p:spPr>
      </p:sp>
      <p:sp>
        <p:nvSpPr>
          <p:cNvPr id="37" name="ovl_s25_e3_0"/>
          <p:cNvSpPr/>
          <p:nvPr/>
        </p:nvSpPr>
        <p:spPr>
          <a:xfrm>
            <a:off x="3840480" y="2538984"/>
            <a:ext cx="868680" cy="914"/>
          </a:xfrm>
          <a:prstGeom prst="line">
            <a:avLst/>
          </a:prstGeom>
          <a:noFill/>
          <a:ln w="19050">
            <a:solidFill>
              <a:srgbClr val="1BA1A6"/>
            </a:solidFill>
            <a:prstDash val="solid"/>
            <a:tailEnd type="triangle"/>
          </a:ln>
        </p:spPr>
      </p:sp>
      <p:sp>
        <p:nvSpPr>
          <p:cNvPr id="38" name="ovl_s25_e4_0"/>
          <p:cNvSpPr/>
          <p:nvPr/>
        </p:nvSpPr>
        <p:spPr>
          <a:xfrm>
            <a:off x="3840480" y="3849624"/>
            <a:ext cx="868680" cy="914"/>
          </a:xfrm>
          <a:prstGeom prst="line">
            <a:avLst/>
          </a:prstGeom>
          <a:noFill/>
          <a:ln w="19050">
            <a:solidFill>
              <a:srgbClr val="1BA1A6"/>
            </a:solidFill>
            <a:prstDash val="solid"/>
            <a:tailEnd type="triangle"/>
          </a:ln>
        </p:spPr>
      </p:sp>
      <p:sp>
        <p:nvSpPr>
          <p:cNvPr id="39" name="ovl_s25_e5_0"/>
          <p:cNvSpPr/>
          <p:nvPr/>
        </p:nvSpPr>
        <p:spPr>
          <a:xfrm>
            <a:off x="3840480" y="5160264"/>
            <a:ext cx="868680" cy="914"/>
          </a:xfrm>
          <a:prstGeom prst="line">
            <a:avLst/>
          </a:prstGeom>
          <a:noFill/>
          <a:ln w="19050">
            <a:solidFill>
              <a:srgbClr val="1BA1A6"/>
            </a:solidFill>
            <a:prstDash val="solid"/>
            <a:tailEnd type="triangle"/>
          </a:ln>
        </p:spPr>
      </p:sp>
      <p:sp>
        <p:nvSpPr>
          <p:cNvPr id="40" name="ovl_s25_e6_0"/>
          <p:cNvSpPr/>
          <p:nvPr/>
        </p:nvSpPr>
        <p:spPr>
          <a:xfrm flipH="1">
            <a:off x="6126480" y="2538984"/>
            <a:ext cx="868680" cy="914"/>
          </a:xfrm>
          <a:prstGeom prst="line">
            <a:avLst/>
          </a:prstGeom>
          <a:noFill/>
          <a:ln w="15875">
            <a:solidFill>
              <a:srgbClr val="C0392B"/>
            </a:solidFill>
            <a:prstDash val="dash"/>
            <a:tailEnd type="triangle"/>
          </a:ln>
        </p:spPr>
      </p:sp>
      <p:sp>
        <p:nvSpPr>
          <p:cNvPr id="41" name="ovl_s25_e7_0"/>
          <p:cNvSpPr/>
          <p:nvPr/>
        </p:nvSpPr>
        <p:spPr>
          <a:xfrm flipH="1">
            <a:off x="6126480" y="3849624"/>
            <a:ext cx="868680" cy="914"/>
          </a:xfrm>
          <a:prstGeom prst="line">
            <a:avLst/>
          </a:prstGeom>
          <a:noFill/>
          <a:ln w="15875">
            <a:solidFill>
              <a:srgbClr val="C0392B"/>
            </a:solidFill>
            <a:prstDash val="dash"/>
            <a:tailEnd type="triangle"/>
          </a:ln>
        </p:spPr>
      </p:sp>
      <p:sp>
        <p:nvSpPr>
          <p:cNvPr id="42" name="ovl_s25_e8_0"/>
          <p:cNvSpPr/>
          <p:nvPr/>
        </p:nvSpPr>
        <p:spPr>
          <a:xfrm flipH="1">
            <a:off x="6126480" y="5160264"/>
            <a:ext cx="868680" cy="914"/>
          </a:xfrm>
          <a:prstGeom prst="line">
            <a:avLst/>
          </a:prstGeom>
          <a:noFill/>
          <a:ln w="15875">
            <a:solidFill>
              <a:srgbClr val="C0392B"/>
            </a:solidFill>
            <a:prstDash val="dash"/>
            <a:tailEnd type="triangle"/>
          </a:ln>
        </p:spPr>
      </p:sp>
      <p:sp>
        <p:nvSpPr>
          <p:cNvPr id="43" name="ovl_s25_n_power"/>
          <p:cNvSpPr/>
          <p:nvPr/>
        </p:nvSpPr>
        <p:spPr>
          <a:xfrm>
            <a:off x="457200" y="2145792"/>
            <a:ext cx="1234440" cy="786384"/>
          </a:xfrm>
          <a:prstGeom prst="roundRect">
            <a:avLst>
              <a:gd name="adj" fmla="val 6977"/>
            </a:avLst>
          </a:prstGeom>
          <a:solidFill>
            <a:srgbClr val="EAF4EE"/>
          </a:solidFill>
          <a:ln w="9525">
            <a:solidFill>
              <a:srgbClr val="86C99B"/>
            </a:solidFill>
            <a:prstDash val="solid"/>
          </a:ln>
        </p:spPr>
      </p:sp>
      <p:sp>
        <p:nvSpPr>
          <p:cNvPr id="44" name="ovl_s25_nt_power"/>
          <p:cNvSpPr txBox="1"/>
          <p:nvPr/>
        </p:nvSpPr>
        <p:spPr>
          <a:xfrm>
            <a:off x="493776" y="2173224"/>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電力付きの建屋</a:t>
            </a:r>
            <a:endParaRPr lang="en-US" sz="1000" dirty="0"/>
          </a:p>
        </p:txBody>
      </p:sp>
      <p:sp>
        <p:nvSpPr>
          <p:cNvPr id="45" name="ovl_s25_ns_power"/>
          <p:cNvSpPr txBox="1"/>
          <p:nvPr/>
        </p:nvSpPr>
        <p:spPr>
          <a:xfrm>
            <a:off x="502920" y="2378964"/>
            <a:ext cx="1143000" cy="525780"/>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Q1 FY27 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850MW を納入</a:t>
            </a:r>
            <a:endParaRPr lang="en-US" sz="850" dirty="0"/>
          </a:p>
        </p:txBody>
      </p:sp>
      <p:sp>
        <p:nvSpPr>
          <p:cNvPr id="46" name="ovl_s25_n_gpu"/>
          <p:cNvSpPr/>
          <p:nvPr/>
        </p:nvSpPr>
        <p:spPr>
          <a:xfrm>
            <a:off x="457200" y="3456432"/>
            <a:ext cx="1234440" cy="786384"/>
          </a:xfrm>
          <a:prstGeom prst="roundRect">
            <a:avLst>
              <a:gd name="adj" fmla="val 6977"/>
            </a:avLst>
          </a:prstGeom>
          <a:solidFill>
            <a:srgbClr val="FFFFFF"/>
          </a:solidFill>
          <a:ln w="9525">
            <a:solidFill>
              <a:srgbClr val="767676"/>
            </a:solidFill>
            <a:prstDash val="solid"/>
          </a:ln>
        </p:spPr>
      </p:sp>
      <p:sp>
        <p:nvSpPr>
          <p:cNvPr id="47" name="ovl_s25_nt_gpu"/>
          <p:cNvSpPr txBox="1"/>
          <p:nvPr/>
        </p:nvSpPr>
        <p:spPr>
          <a:xfrm>
            <a:off x="493776" y="3483864"/>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GPU クラスタ</a:t>
            </a:r>
            <a:endParaRPr lang="en-US" sz="1000" dirty="0"/>
          </a:p>
        </p:txBody>
      </p:sp>
      <p:sp>
        <p:nvSpPr>
          <p:cNvPr id="48" name="ovl_s25_ns_gpu"/>
          <p:cNvSpPr txBox="1"/>
          <p:nvPr/>
        </p:nvSpPr>
        <p:spPr>
          <a:xfrm>
            <a:off x="502920" y="3689604"/>
            <a:ext cx="1143000" cy="525780"/>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稼働率 97.9%</a:t>
            </a:r>
            <a:endParaRPr lang="en-US" sz="850" dirty="0"/>
          </a:p>
        </p:txBody>
      </p:sp>
      <p:sp>
        <p:nvSpPr>
          <p:cNvPr id="49" name="ovl_s25_n_db"/>
          <p:cNvSpPr/>
          <p:nvPr/>
        </p:nvSpPr>
        <p:spPr>
          <a:xfrm>
            <a:off x="457200" y="4767072"/>
            <a:ext cx="1234440" cy="786384"/>
          </a:xfrm>
          <a:prstGeom prst="roundRect">
            <a:avLst>
              <a:gd name="adj" fmla="val 6977"/>
            </a:avLst>
          </a:prstGeom>
          <a:solidFill>
            <a:srgbClr val="EAF4EE"/>
          </a:solidFill>
          <a:ln w="9525">
            <a:solidFill>
              <a:srgbClr val="86C99B"/>
            </a:solidFill>
            <a:prstDash val="solid"/>
          </a:ln>
        </p:spPr>
      </p:sp>
      <p:sp>
        <p:nvSpPr>
          <p:cNvPr id="50" name="ovl_s25_nt_db"/>
          <p:cNvSpPr txBox="1"/>
          <p:nvPr/>
        </p:nvSpPr>
        <p:spPr>
          <a:xfrm>
            <a:off x="493776" y="4794504"/>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Oracle DB</a:t>
            </a:r>
            <a:endParaRPr lang="en-US" sz="1000" dirty="0"/>
          </a:p>
        </p:txBody>
      </p:sp>
      <p:sp>
        <p:nvSpPr>
          <p:cNvPr id="51" name="ovl_s25_ns_db"/>
          <p:cNvSpPr txBox="1"/>
          <p:nvPr/>
        </p:nvSpPr>
        <p:spPr>
          <a:xfrm>
            <a:off x="502920" y="5000244"/>
            <a:ext cx="1143000" cy="525780"/>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基幹データ</a:t>
            </a:r>
            <a:endParaRPr lang="en-US" sz="850" dirty="0"/>
          </a:p>
        </p:txBody>
      </p:sp>
      <p:sp>
        <p:nvSpPr>
          <p:cNvPr id="52" name="ovl_s25_n_oci"/>
          <p:cNvSpPr/>
          <p:nvPr/>
        </p:nvSpPr>
        <p:spPr>
          <a:xfrm>
            <a:off x="2560320" y="1984248"/>
            <a:ext cx="1280160" cy="2420112"/>
          </a:xfrm>
          <a:prstGeom prst="roundRect">
            <a:avLst>
              <a:gd name="adj" fmla="val 4286"/>
            </a:avLst>
          </a:prstGeom>
          <a:solidFill>
            <a:srgbClr val="197A56"/>
          </a:solidFill>
          <a:ln w="9525">
            <a:solidFill>
              <a:srgbClr val="197A56"/>
            </a:solidFill>
            <a:prstDash val="solid"/>
          </a:ln>
        </p:spPr>
      </p:sp>
      <p:sp>
        <p:nvSpPr>
          <p:cNvPr id="53" name="ovl_s25_nt_oci"/>
          <p:cNvSpPr txBox="1"/>
          <p:nvPr/>
        </p:nvSpPr>
        <p:spPr>
          <a:xfrm>
            <a:off x="2596896" y="2011680"/>
            <a:ext cx="1207008" cy="20574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OCI(AI 容量)</a:t>
            </a:r>
            <a:endParaRPr lang="en-US" sz="1000" dirty="0"/>
          </a:p>
        </p:txBody>
      </p:sp>
      <p:sp>
        <p:nvSpPr>
          <p:cNvPr id="54" name="ovl_s25_ns_oci"/>
          <p:cNvSpPr txBox="1"/>
          <p:nvPr/>
        </p:nvSpPr>
        <p:spPr>
          <a:xfrm>
            <a:off x="2606040" y="2217420"/>
            <a:ext cx="1188720" cy="2159508"/>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学習・推論の容量</a:t>
            </a:r>
            <a:endParaRPr lang="en-US" sz="850" dirty="0"/>
          </a:p>
          <a:p>
            <a:pPr algn="ctr" indent="0" marL="0">
              <a:buNone/>
            </a:pP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Q4 FY26:</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顧客の 49% が</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GPU の 92% を更新</a:t>
            </a:r>
            <a:endParaRPr lang="en-US" sz="850" dirty="0"/>
          </a:p>
        </p:txBody>
      </p:sp>
      <p:sp>
        <p:nvSpPr>
          <p:cNvPr id="55" name="ovl_s25_n_dbs"/>
          <p:cNvSpPr/>
          <p:nvPr/>
        </p:nvSpPr>
        <p:spPr>
          <a:xfrm>
            <a:off x="2560320" y="4767072"/>
            <a:ext cx="1280160" cy="786384"/>
          </a:xfrm>
          <a:prstGeom prst="roundRect">
            <a:avLst>
              <a:gd name="adj" fmla="val 6977"/>
            </a:avLst>
          </a:prstGeom>
          <a:solidFill>
            <a:srgbClr val="FFFFFF"/>
          </a:solidFill>
          <a:ln w="19050">
            <a:solidFill>
              <a:srgbClr val="197A56"/>
            </a:solidFill>
            <a:prstDash val="solid"/>
          </a:ln>
        </p:spPr>
      </p:sp>
      <p:sp>
        <p:nvSpPr>
          <p:cNvPr id="56" name="ovl_s25_nt_dbs"/>
          <p:cNvSpPr txBox="1"/>
          <p:nvPr/>
        </p:nvSpPr>
        <p:spPr>
          <a:xfrm>
            <a:off x="2596896" y="4794504"/>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DB・Database@</a:t>
            </a:r>
            <a:endParaRPr lang="en-US" sz="1000" dirty="0"/>
          </a:p>
        </p:txBody>
      </p:sp>
      <p:sp>
        <p:nvSpPr>
          <p:cNvPr id="57" name="ovl_s25_ns_dbs"/>
          <p:cNvSpPr txBox="1"/>
          <p:nvPr/>
        </p:nvSpPr>
        <p:spPr>
          <a:xfrm>
            <a:off x="2606040" y="5000244"/>
            <a:ext cx="1188720" cy="525780"/>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基幹業務の DB</a:t>
            </a:r>
            <a:endParaRPr lang="en-US" sz="850" dirty="0"/>
          </a:p>
        </p:txBody>
      </p:sp>
      <p:sp>
        <p:nvSpPr>
          <p:cNvPr id="58" name="ovl_s25_n_train"/>
          <p:cNvSpPr/>
          <p:nvPr/>
        </p:nvSpPr>
        <p:spPr>
          <a:xfrm>
            <a:off x="4709160" y="2145792"/>
            <a:ext cx="1417320" cy="786384"/>
          </a:xfrm>
          <a:prstGeom prst="roundRect">
            <a:avLst>
              <a:gd name="adj" fmla="val 6977"/>
            </a:avLst>
          </a:prstGeom>
          <a:solidFill>
            <a:srgbClr val="FFFFFF"/>
          </a:solidFill>
          <a:ln w="9525">
            <a:solidFill>
              <a:srgbClr val="767676"/>
            </a:solidFill>
            <a:prstDash val="solid"/>
          </a:ln>
        </p:spPr>
      </p:sp>
      <p:sp>
        <p:nvSpPr>
          <p:cNvPr id="59" name="ovl_s25_nt_train"/>
          <p:cNvSpPr txBox="1"/>
          <p:nvPr/>
        </p:nvSpPr>
        <p:spPr>
          <a:xfrm>
            <a:off x="4745736" y="2173224"/>
            <a:ext cx="134416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研究所の学習</a:t>
            </a:r>
            <a:endParaRPr lang="en-US" sz="1000" dirty="0"/>
          </a:p>
        </p:txBody>
      </p:sp>
      <p:sp>
        <p:nvSpPr>
          <p:cNvPr id="60" name="ovl_s25_ns_train"/>
          <p:cNvSpPr txBox="1"/>
          <p:nvPr/>
        </p:nvSpPr>
        <p:spPr>
          <a:xfrm>
            <a:off x="4754880" y="2378964"/>
            <a:ext cx="1325880" cy="525780"/>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止まると開発が遅れる</a:t>
            </a:r>
            <a:endParaRPr lang="en-US" sz="850" dirty="0"/>
          </a:p>
        </p:txBody>
      </p:sp>
      <p:sp>
        <p:nvSpPr>
          <p:cNvPr id="61" name="ovl_s25_n_inf"/>
          <p:cNvSpPr/>
          <p:nvPr/>
        </p:nvSpPr>
        <p:spPr>
          <a:xfrm>
            <a:off x="4709160" y="3456432"/>
            <a:ext cx="1417320" cy="786384"/>
          </a:xfrm>
          <a:prstGeom prst="roundRect">
            <a:avLst>
              <a:gd name="adj" fmla="val 6977"/>
            </a:avLst>
          </a:prstGeom>
          <a:solidFill>
            <a:srgbClr val="FFFFFF"/>
          </a:solidFill>
          <a:ln w="9525">
            <a:solidFill>
              <a:srgbClr val="767676"/>
            </a:solidFill>
            <a:prstDash val="solid"/>
          </a:ln>
        </p:spPr>
      </p:sp>
      <p:sp>
        <p:nvSpPr>
          <p:cNvPr id="62" name="ovl_s25_nt_inf"/>
          <p:cNvSpPr txBox="1"/>
          <p:nvPr/>
        </p:nvSpPr>
        <p:spPr>
          <a:xfrm>
            <a:off x="4745736" y="3483864"/>
            <a:ext cx="1344168" cy="205740"/>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AI 研究所の推論(本番)</a:t>
            </a:r>
            <a:endParaRPr lang="en-US" sz="900" dirty="0"/>
          </a:p>
        </p:txBody>
      </p:sp>
      <p:sp>
        <p:nvSpPr>
          <p:cNvPr id="63" name="ovl_s25_ns_inf"/>
          <p:cNvSpPr txBox="1"/>
          <p:nvPr/>
        </p:nvSpPr>
        <p:spPr>
          <a:xfrm>
            <a:off x="4754880" y="3689604"/>
            <a:ext cx="1325880" cy="525780"/>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止まると売上が止まる</a:t>
            </a:r>
            <a:endParaRPr lang="en-US" sz="850" dirty="0"/>
          </a:p>
        </p:txBody>
      </p:sp>
      <p:sp>
        <p:nvSpPr>
          <p:cNvPr id="64" name="ovl_s25_n_ent"/>
          <p:cNvSpPr/>
          <p:nvPr/>
        </p:nvSpPr>
        <p:spPr>
          <a:xfrm>
            <a:off x="4709160" y="4767072"/>
            <a:ext cx="1417320" cy="786384"/>
          </a:xfrm>
          <a:prstGeom prst="roundRect">
            <a:avLst>
              <a:gd name="adj" fmla="val 6977"/>
            </a:avLst>
          </a:prstGeom>
          <a:solidFill>
            <a:srgbClr val="FFFFFF"/>
          </a:solidFill>
          <a:ln w="9525">
            <a:solidFill>
              <a:srgbClr val="767676"/>
            </a:solidFill>
            <a:prstDash val="solid"/>
          </a:ln>
        </p:spPr>
      </p:sp>
      <p:sp>
        <p:nvSpPr>
          <p:cNvPr id="65" name="ovl_s25_nt_ent"/>
          <p:cNvSpPr txBox="1"/>
          <p:nvPr/>
        </p:nvSpPr>
        <p:spPr>
          <a:xfrm>
            <a:off x="4745736" y="4794504"/>
            <a:ext cx="134416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企業の基幹業務と AI</a:t>
            </a:r>
            <a:endParaRPr lang="en-US" sz="1000" dirty="0"/>
          </a:p>
        </p:txBody>
      </p:sp>
      <p:sp>
        <p:nvSpPr>
          <p:cNvPr id="66" name="ovl_s25_ns_ent"/>
          <p:cNvSpPr txBox="1"/>
          <p:nvPr/>
        </p:nvSpPr>
        <p:spPr>
          <a:xfrm>
            <a:off x="4754880" y="5000244"/>
            <a:ext cx="1325880" cy="525780"/>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DB 内のデータで推論</a:t>
            </a:r>
            <a:endParaRPr lang="en-US" sz="850" dirty="0"/>
          </a:p>
        </p:txBody>
      </p:sp>
      <p:sp>
        <p:nvSpPr>
          <p:cNvPr id="67" name="ovl_s25_n_alt1"/>
          <p:cNvSpPr/>
          <p:nvPr/>
        </p:nvSpPr>
        <p:spPr>
          <a:xfrm>
            <a:off x="6995160" y="2145792"/>
            <a:ext cx="1280160" cy="786384"/>
          </a:xfrm>
          <a:prstGeom prst="roundRect">
            <a:avLst>
              <a:gd name="adj" fmla="val 6977"/>
            </a:avLst>
          </a:prstGeom>
          <a:solidFill>
            <a:srgbClr val="FFFFFF"/>
          </a:solidFill>
          <a:ln w="19050">
            <a:solidFill>
              <a:srgbClr val="C0392B"/>
            </a:solidFill>
            <a:prstDash val="solid"/>
          </a:ln>
        </p:spPr>
      </p:sp>
      <p:sp>
        <p:nvSpPr>
          <p:cNvPr id="68" name="ovl_s25_nt_alt1"/>
          <p:cNvSpPr txBox="1"/>
          <p:nvPr/>
        </p:nvSpPr>
        <p:spPr>
          <a:xfrm>
            <a:off x="7031736" y="2173224"/>
            <a:ext cx="1207008" cy="356616"/>
          </a:xfrm>
          <a:prstGeom prst="rect">
            <a:avLst/>
          </a:prstGeom>
          <a:noFill/>
          <a:ln/>
        </p:spPr>
        <p:txBody>
          <a:bodyPr wrap="square" lIns="0" tIns="0" rIns="0" bIns="0" rtlCol="0" anchor="ctr"/>
          <a:lstStyle/>
          <a:p>
            <a:pPr algn="ctr" indent="0" marL="0">
              <a:buNone/>
            </a:pPr>
            <a:r>
              <a:rPr lang="en-US" sz="900" b="1" dirty="0">
                <a:solidFill>
                  <a:srgbClr val="C0392B"/>
                </a:solidFill>
                <a:latin typeface="Meiryo UI" pitchFamily="34" charset="0"/>
                <a:ea typeface="Meiryo UI" pitchFamily="34" charset="-122"/>
                <a:cs typeface="Meiryo UI" pitchFamily="34" charset="-120"/>
              </a:rPr>
              <a:t>他社クラウド・</a:t>
            </a:r>
            <a:endParaRPr lang="en-US" sz="900" dirty="0"/>
          </a:p>
          <a:p>
            <a:pPr algn="ctr" indent="0" marL="0">
              <a:buNone/>
            </a:pPr>
            <a:r>
              <a:rPr lang="en-US" sz="900" b="1" dirty="0">
                <a:solidFill>
                  <a:srgbClr val="C0392B"/>
                </a:solidFill>
                <a:latin typeface="Meiryo UI" pitchFamily="34" charset="0"/>
                <a:ea typeface="Meiryo UI" pitchFamily="34" charset="-122"/>
                <a:cs typeface="Meiryo UI" pitchFamily="34" charset="-120"/>
              </a:rPr>
              <a:t>ネオクラウド</a:t>
            </a:r>
            <a:endParaRPr lang="en-US" sz="900" dirty="0"/>
          </a:p>
        </p:txBody>
      </p:sp>
      <p:sp>
        <p:nvSpPr>
          <p:cNvPr id="69" name="ovl_s25_ns_alt1"/>
          <p:cNvSpPr txBox="1"/>
          <p:nvPr/>
        </p:nvSpPr>
        <p:spPr>
          <a:xfrm>
            <a:off x="7040880" y="2529840"/>
            <a:ext cx="1188720" cy="3749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乗り換えに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数か月〜数年</a:t>
            </a:r>
            <a:endParaRPr lang="en-US" sz="850" dirty="0"/>
          </a:p>
        </p:txBody>
      </p:sp>
      <p:sp>
        <p:nvSpPr>
          <p:cNvPr id="70" name="ovl_s25_n_alt2"/>
          <p:cNvSpPr/>
          <p:nvPr/>
        </p:nvSpPr>
        <p:spPr>
          <a:xfrm>
            <a:off x="6995160" y="3456432"/>
            <a:ext cx="1280160" cy="786384"/>
          </a:xfrm>
          <a:prstGeom prst="roundRect">
            <a:avLst>
              <a:gd name="adj" fmla="val 6977"/>
            </a:avLst>
          </a:prstGeom>
          <a:solidFill>
            <a:srgbClr val="FFFFFF"/>
          </a:solidFill>
          <a:ln w="19050">
            <a:solidFill>
              <a:srgbClr val="C0392B"/>
            </a:solidFill>
            <a:prstDash val="solid"/>
          </a:ln>
        </p:spPr>
      </p:sp>
      <p:sp>
        <p:nvSpPr>
          <p:cNvPr id="71" name="ovl_s25_nt_alt2"/>
          <p:cNvSpPr txBox="1"/>
          <p:nvPr/>
        </p:nvSpPr>
        <p:spPr>
          <a:xfrm>
            <a:off x="7031736" y="3483864"/>
            <a:ext cx="120700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TPU・自社チップ</a:t>
            </a:r>
            <a:endParaRPr lang="en-US" sz="1000" dirty="0"/>
          </a:p>
        </p:txBody>
      </p:sp>
      <p:sp>
        <p:nvSpPr>
          <p:cNvPr id="72" name="ovl_s25_ns_alt2"/>
          <p:cNvSpPr txBox="1"/>
          <p:nvPr/>
        </p:nvSpPr>
        <p:spPr>
          <a:xfrm>
            <a:off x="7040880" y="3689604"/>
            <a:ext cx="1188720" cy="525780"/>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Anthropic は TPU</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約 3.5GW(2027〜)</a:t>
            </a:r>
            <a:endParaRPr lang="en-US" sz="850" dirty="0"/>
          </a:p>
        </p:txBody>
      </p:sp>
      <p:sp>
        <p:nvSpPr>
          <p:cNvPr id="73" name="ovl_s25_n_alt3"/>
          <p:cNvSpPr/>
          <p:nvPr/>
        </p:nvSpPr>
        <p:spPr>
          <a:xfrm>
            <a:off x="6995160" y="4767072"/>
            <a:ext cx="1280160" cy="786384"/>
          </a:xfrm>
          <a:prstGeom prst="roundRect">
            <a:avLst>
              <a:gd name="adj" fmla="val 6977"/>
            </a:avLst>
          </a:prstGeom>
          <a:solidFill>
            <a:srgbClr val="FFFFFF"/>
          </a:solidFill>
          <a:ln w="19050">
            <a:solidFill>
              <a:srgbClr val="C0392B"/>
            </a:solidFill>
            <a:prstDash val="solid"/>
          </a:ln>
        </p:spPr>
      </p:sp>
      <p:sp>
        <p:nvSpPr>
          <p:cNvPr id="74" name="ovl_s25_nt_alt3"/>
          <p:cNvSpPr txBox="1"/>
          <p:nvPr/>
        </p:nvSpPr>
        <p:spPr>
          <a:xfrm>
            <a:off x="7031736" y="4794504"/>
            <a:ext cx="120700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DB の移行</a:t>
            </a:r>
            <a:endParaRPr lang="en-US" sz="1000" dirty="0"/>
          </a:p>
        </p:txBody>
      </p:sp>
      <p:sp>
        <p:nvSpPr>
          <p:cNvPr id="75" name="ovl_s25_ns_alt3"/>
          <p:cNvSpPr txBox="1"/>
          <p:nvPr/>
        </p:nvSpPr>
        <p:spPr>
          <a:xfrm>
            <a:off x="7040880" y="5000244"/>
            <a:ext cx="1188720" cy="525780"/>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数年がかり</a:t>
            </a:r>
            <a:endParaRPr lang="en-US" sz="850" dirty="0"/>
          </a:p>
        </p:txBody>
      </p:sp>
      <p:sp>
        <p:nvSpPr>
          <p:cNvPr id="76" name="ovl_s25_lab0"/>
          <p:cNvSpPr txBox="1"/>
          <p:nvPr/>
        </p:nvSpPr>
        <p:spPr>
          <a:xfrm>
            <a:off x="1954530" y="2305812"/>
            <a:ext cx="342900"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1BA1A6"/>
                </a:solidFill>
                <a:latin typeface="Meiryo UI" pitchFamily="34" charset="0"/>
                <a:ea typeface="Meiryo UI" pitchFamily="34" charset="-122"/>
                <a:cs typeface="Meiryo UI" pitchFamily="34" charset="-120"/>
              </a:rPr>
              <a:t>容量</a:t>
            </a:r>
            <a:endParaRPr lang="en-US" sz="850" dirty="0"/>
          </a:p>
        </p:txBody>
      </p:sp>
      <p:sp>
        <p:nvSpPr>
          <p:cNvPr id="77" name="ovl_s25_lab3"/>
          <p:cNvSpPr txBox="1"/>
          <p:nvPr/>
        </p:nvSpPr>
        <p:spPr>
          <a:xfrm>
            <a:off x="3986784" y="2305812"/>
            <a:ext cx="576072"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1BA1A6"/>
                </a:solidFill>
                <a:latin typeface="Meiryo UI" pitchFamily="34" charset="0"/>
                <a:ea typeface="Meiryo UI" pitchFamily="34" charset="-122"/>
                <a:cs typeface="Meiryo UI" pitchFamily="34" charset="-120"/>
              </a:rPr>
              <a:t>計算容量</a:t>
            </a:r>
            <a:endParaRPr lang="en-US" sz="850" dirty="0"/>
          </a:p>
        </p:txBody>
      </p:sp>
      <p:sp>
        <p:nvSpPr>
          <p:cNvPr id="78" name="ovl_s25_lab4"/>
          <p:cNvSpPr txBox="1"/>
          <p:nvPr/>
        </p:nvSpPr>
        <p:spPr>
          <a:xfrm>
            <a:off x="3852710" y="3616452"/>
            <a:ext cx="844220"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① </a:t>
            </a:r>
            <a:r>
              <a:rPr lang="en-US" sz="850" dirty="0">
                <a:solidFill>
                  <a:srgbClr val="1BA1A6"/>
                </a:solidFill>
                <a:latin typeface="Meiryo UI" pitchFamily="34" charset="0"/>
                <a:ea typeface="Meiryo UI" pitchFamily="34" charset="-122"/>
                <a:cs typeface="Meiryo UI" pitchFamily="34" charset="-120"/>
              </a:rPr>
              <a:t>本番の推論</a:t>
            </a:r>
            <a:endParaRPr lang="en-US" sz="850" dirty="0"/>
          </a:p>
        </p:txBody>
      </p:sp>
      <p:sp>
        <p:nvSpPr>
          <p:cNvPr id="79" name="ovl_s25_num5"/>
          <p:cNvSpPr/>
          <p:nvPr/>
        </p:nvSpPr>
        <p:spPr>
          <a:xfrm>
            <a:off x="4155948" y="5041392"/>
            <a:ext cx="237744" cy="237744"/>
          </a:xfrm>
          <a:prstGeom prst="ellipse">
            <a:avLst/>
          </a:prstGeom>
          <a:solidFill>
            <a:srgbClr val="1BA1A6"/>
          </a:solidFill>
          <a:ln w="12700">
            <a:solidFill>
              <a:srgbClr val="FFFFFF"/>
            </a:solidFill>
            <a:prstDash val="solid"/>
          </a:ln>
        </p:spPr>
      </p:sp>
      <p:sp>
        <p:nvSpPr>
          <p:cNvPr id="80" name="ovl_s25_numt5"/>
          <p:cNvSpPr txBox="1"/>
          <p:nvPr/>
        </p:nvSpPr>
        <p:spPr>
          <a:xfrm>
            <a:off x="4155948" y="504139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3</a:t>
            </a:r>
            <a:endParaRPr lang="en-US" sz="900" dirty="0"/>
          </a:p>
        </p:txBody>
      </p:sp>
      <p:sp>
        <p:nvSpPr>
          <p:cNvPr id="81" name="ovl_s25_lab6"/>
          <p:cNvSpPr txBox="1"/>
          <p:nvPr/>
        </p:nvSpPr>
        <p:spPr>
          <a:xfrm>
            <a:off x="6197003" y="2305812"/>
            <a:ext cx="727634"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C0392B"/>
                </a:solidFill>
                <a:latin typeface="Meiryo UI" pitchFamily="34" charset="0"/>
                <a:ea typeface="Meiryo UI" pitchFamily="34" charset="-122"/>
                <a:cs typeface="Meiryo UI" pitchFamily="34" charset="-120"/>
              </a:rPr>
              <a:t>② </a:t>
            </a:r>
            <a:r>
              <a:rPr lang="en-US" sz="850" dirty="0">
                <a:solidFill>
                  <a:srgbClr val="C0392B"/>
                </a:solidFill>
                <a:latin typeface="Meiryo UI" pitchFamily="34" charset="0"/>
                <a:ea typeface="Meiryo UI" pitchFamily="34" charset="-122"/>
                <a:cs typeface="Meiryo UI" pitchFamily="34" charset="-120"/>
              </a:rPr>
              <a:t>乗り換え</a:t>
            </a:r>
            <a:endParaRPr lang="en-US" sz="850" dirty="0"/>
          </a:p>
        </p:txBody>
      </p:sp>
      <p:sp>
        <p:nvSpPr>
          <p:cNvPr id="82" name="ovl_s25_lab7"/>
          <p:cNvSpPr txBox="1"/>
          <p:nvPr/>
        </p:nvSpPr>
        <p:spPr>
          <a:xfrm>
            <a:off x="6138710" y="3616452"/>
            <a:ext cx="844220"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C0392B"/>
                </a:solidFill>
                <a:latin typeface="Meiryo UI" pitchFamily="34" charset="0"/>
                <a:ea typeface="Meiryo UI" pitchFamily="34" charset="-122"/>
                <a:cs typeface="Meiryo UI" pitchFamily="34" charset="-120"/>
              </a:rPr>
              <a:t>④ </a:t>
            </a:r>
            <a:r>
              <a:rPr lang="en-US" sz="850" dirty="0">
                <a:solidFill>
                  <a:srgbClr val="C0392B"/>
                </a:solidFill>
                <a:latin typeface="Meiryo UI" pitchFamily="34" charset="0"/>
                <a:ea typeface="Meiryo UI" pitchFamily="34" charset="-122"/>
                <a:cs typeface="Meiryo UI" pitchFamily="34" charset="-120"/>
              </a:rPr>
              <a:t>代替の計算</a:t>
            </a:r>
            <a:endParaRPr lang="en-US" sz="850" dirty="0"/>
          </a:p>
        </p:txBody>
      </p:sp>
      <p:sp>
        <p:nvSpPr>
          <p:cNvPr id="83" name="ovl_s25_lab8"/>
          <p:cNvSpPr txBox="1"/>
          <p:nvPr/>
        </p:nvSpPr>
        <p:spPr>
          <a:xfrm>
            <a:off x="6389370" y="4927092"/>
            <a:ext cx="342900"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移行</a:t>
            </a:r>
            <a:endParaRPr lang="en-US" sz="850" dirty="0"/>
          </a:p>
        </p:txBody>
      </p:sp>
      <p:sp>
        <p:nvSpPr>
          <p:cNvPr id="84" name="ovl_s25_leg0"/>
          <p:cNvSpPr/>
          <p:nvPr/>
        </p:nvSpPr>
        <p:spPr>
          <a:xfrm>
            <a:off x="457200" y="5971032"/>
            <a:ext cx="365760" cy="914"/>
          </a:xfrm>
          <a:prstGeom prst="line">
            <a:avLst/>
          </a:prstGeom>
          <a:noFill/>
          <a:ln w="19050">
            <a:solidFill>
              <a:srgbClr val="1BA1A6"/>
            </a:solidFill>
            <a:prstDash val="solid"/>
            <a:tailEnd type="triangle"/>
          </a:ln>
        </p:spPr>
      </p:sp>
      <p:sp>
        <p:nvSpPr>
          <p:cNvPr id="85" name="ovl_s25_legt0"/>
          <p:cNvSpPr txBox="1"/>
          <p:nvPr/>
        </p:nvSpPr>
        <p:spPr>
          <a:xfrm>
            <a:off x="87782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モノ・サービス</a:t>
            </a:r>
            <a:endParaRPr lang="en-US" sz="800" dirty="0"/>
          </a:p>
        </p:txBody>
      </p:sp>
      <p:sp>
        <p:nvSpPr>
          <p:cNvPr id="86" name="ovl_s25_leg1"/>
          <p:cNvSpPr/>
          <p:nvPr/>
        </p:nvSpPr>
        <p:spPr>
          <a:xfrm>
            <a:off x="1874520" y="5971032"/>
            <a:ext cx="365760" cy="914"/>
          </a:xfrm>
          <a:prstGeom prst="line">
            <a:avLst/>
          </a:prstGeom>
          <a:noFill/>
          <a:ln w="15875">
            <a:solidFill>
              <a:srgbClr val="C0392B"/>
            </a:solidFill>
            <a:prstDash val="dash"/>
            <a:tailEnd type="triangle"/>
          </a:ln>
        </p:spPr>
      </p:sp>
      <p:sp>
        <p:nvSpPr>
          <p:cNvPr id="87" name="ovl_s25_legt1"/>
          <p:cNvSpPr txBox="1"/>
          <p:nvPr/>
        </p:nvSpPr>
        <p:spPr>
          <a:xfrm>
            <a:off x="229514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リスク</a:t>
            </a:r>
            <a:endParaRPr lang="en-US" sz="800" dirty="0"/>
          </a:p>
        </p:txBody>
      </p:sp>
      <p:sp>
        <p:nvSpPr>
          <p:cNvPr id="88" name="ovl_s25_legn"/>
          <p:cNvSpPr txBox="1"/>
          <p:nvPr/>
        </p:nvSpPr>
        <p:spPr>
          <a:xfrm>
            <a:off x="6126480" y="5870448"/>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89"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90" name="mech"/>
          <p:cNvSpPr txBox="1"/>
          <p:nvPr/>
        </p:nvSpPr>
        <p:spPr>
          <a:xfrm>
            <a:off x="8458200" y="1810512"/>
            <a:ext cx="3276295" cy="1835912"/>
          </a:xfrm>
          <a:prstGeom prst="rect">
            <a:avLst/>
          </a:prstGeom>
          <a:noFill/>
          <a:ln/>
        </p:spPr>
        <p:txBody>
          <a:bodyPr wrap="square" lIns="381" tIns="381" rIns="381" bIns="381" rtlCol="0" anchor="t"/>
          <a:lstStyle/>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① </a:t>
            </a:r>
            <a:r>
              <a:rPr lang="en-US" sz="1100" dirty="0">
                <a:solidFill>
                  <a:srgbClr val="333333"/>
                </a:solidFill>
                <a:latin typeface="Meiryo UI" pitchFamily="34" charset="0"/>
                <a:ea typeface="Meiryo UI" pitchFamily="34" charset="-122"/>
                <a:cs typeface="Meiryo UI" pitchFamily="34" charset="-120"/>
              </a:rPr>
              <a:t>推論は本番の稼働で、止まると顧客の売上が止まる。推論の電力比率は 2025 年 47.5% → 2030 年 60%</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② </a:t>
            </a:r>
            <a:r>
              <a:rPr lang="en-US" sz="1100" dirty="0">
                <a:solidFill>
                  <a:srgbClr val="333333"/>
                </a:solidFill>
                <a:latin typeface="Meiryo UI" pitchFamily="34" charset="0"/>
                <a:ea typeface="Meiryo UI" pitchFamily="34" charset="-122"/>
                <a:cs typeface="Meiryo UI" pitchFamily="34" charset="-120"/>
              </a:rPr>
              <a:t>乗り換えには電力付きの容量の確保が要り、数か月〜数年かかる</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③ </a:t>
            </a:r>
            <a:r>
              <a:rPr lang="en-US" sz="1100" dirty="0">
                <a:solidFill>
                  <a:srgbClr val="333333"/>
                </a:solidFill>
                <a:latin typeface="Meiryo UI" pitchFamily="34" charset="0"/>
                <a:ea typeface="Meiryo UI" pitchFamily="34" charset="-122"/>
                <a:cs typeface="Meiryo UI" pitchFamily="34" charset="-120"/>
              </a:rPr>
              <a:t>企業の AI は Oracle DB 内のデータで動く。DB の移行には数年かかる</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④ </a:t>
            </a:r>
            <a:r>
              <a:rPr lang="en-US" sz="1100" dirty="0">
                <a:solidFill>
                  <a:srgbClr val="333333"/>
                </a:solidFill>
                <a:latin typeface="Meiryo UI" pitchFamily="34" charset="0"/>
                <a:ea typeface="Meiryo UI" pitchFamily="34" charset="-122"/>
                <a:cs typeface="Meiryo UI" pitchFamily="34" charset="-120"/>
              </a:rPr>
              <a:t>Q4 FY26 は顧客の 49% が GPU の 92% を更新。ただし他社クラウドや TPU という代替がある</a:t>
            </a:r>
            <a:endParaRPr lang="en-US" sz="1100" dirty="0"/>
          </a:p>
        </p:txBody>
      </p:sp>
      <p:sp>
        <p:nvSpPr>
          <p:cNvPr id="91" name="ovl_takeaway_bg"/>
          <p:cNvSpPr/>
          <p:nvPr/>
        </p:nvSpPr>
        <p:spPr>
          <a:xfrm>
            <a:off x="8458200" y="4419600"/>
            <a:ext cx="3276295" cy="1005840"/>
          </a:xfrm>
          <a:prstGeom prst="rect">
            <a:avLst/>
          </a:prstGeom>
          <a:solidFill>
            <a:srgbClr val="EAF4EE"/>
          </a:solidFill>
          <a:ln w="12700">
            <a:solidFill>
              <a:srgbClr val="EAF4EE"/>
            </a:solidFill>
            <a:prstDash val="solid"/>
          </a:ln>
        </p:spPr>
      </p:sp>
      <p:sp>
        <p:nvSpPr>
          <p:cNvPr id="92" name="takeaway"/>
          <p:cNvSpPr txBox="1"/>
          <p:nvPr/>
        </p:nvSpPr>
        <p:spPr>
          <a:xfrm>
            <a:off x="8567928" y="4492752"/>
            <a:ext cx="3056839" cy="859536"/>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電力付きの容量と DB は止められない</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運用を支え更新率も高いが、</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代替のクラウドが存在するため B</a:t>
            </a:r>
            <a:endParaRPr lang="en-US" sz="1000" dirty="0"/>
          </a:p>
        </p:txBody>
      </p:sp>
      <p:sp>
        <p:nvSpPr>
          <p:cNvPr id="93" name="updown"/>
          <p:cNvSpPr txBox="1"/>
          <p:nvPr/>
        </p:nvSpPr>
        <p:spPr>
          <a:xfrm>
            <a:off x="8458200" y="5498592"/>
            <a:ext cx="3276295" cy="59131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大型顧客の更新率が 90% を超え、</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乗り換えの事例が出なければ A</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大型顧客が TPU や自社チップへ</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移る事例が出れば C</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3-4 製品と設備の性格(条件8〜12)(3/5)</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20586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20586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陳腐化リスク(条件10)</a:t>
            </a:r>
            <a:endParaRPr lang="en-US" sz="1000" dirty="0"/>
          </a:p>
        </p:txBody>
      </p:sp>
      <p:sp>
        <p:nvSpPr>
          <p:cNvPr id="14" name="hdr_why"/>
          <p:cNvSpPr txBox="1"/>
          <p:nvPr/>
        </p:nvSpPr>
        <p:spPr>
          <a:xfrm>
            <a:off x="2662174" y="356616"/>
            <a:ext cx="90723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設備と技術が陳腐化する速さが、償却と実際の価値のずれを生む</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DB の技術と顧客関係は長寿命で、GPU の 6 年償却は更新・再販の実績と</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整合する。ただし GPU の世代交代は速い</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左から: 資産 → 回収の経路 ← 価値を下げる力。下: 資産ごとの寿命と契約の長さ。①〜⑤ は右と対応</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research3/W2_gpu_economic_life.md、会社開示(耐用年数の変更、Q1 FY27 説明会)、JPMorgan AM の試算、Amazon 10-K</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29</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条件10</a:t>
            </a:r>
            <a:endParaRPr lang="en-US" sz="800" dirty="0"/>
          </a:p>
        </p:txBody>
      </p:sp>
      <p:sp>
        <p:nvSpPr>
          <p:cNvPr id="22" name="bg_lane0"/>
          <p:cNvSpPr/>
          <p:nvPr/>
        </p:nvSpPr>
        <p:spPr>
          <a:xfrm>
            <a:off x="347472" y="1517904"/>
            <a:ext cx="1545336" cy="3172968"/>
          </a:xfrm>
          <a:prstGeom prst="rect">
            <a:avLst/>
          </a:prstGeom>
          <a:solidFill>
            <a:srgbClr val="F2F2F2"/>
          </a:solidFill>
          <a:ln w="12700">
            <a:solidFill>
              <a:srgbClr val="F2F2F2"/>
            </a:solidFill>
            <a:prstDash val="solid"/>
          </a:ln>
        </p:spPr>
      </p:sp>
      <p:sp>
        <p:nvSpPr>
          <p:cNvPr id="23" name="bg_laneh0"/>
          <p:cNvSpPr/>
          <p:nvPr/>
        </p:nvSpPr>
        <p:spPr>
          <a:xfrm>
            <a:off x="347472" y="1517904"/>
            <a:ext cx="1545336" cy="274320"/>
          </a:xfrm>
          <a:prstGeom prst="rect">
            <a:avLst/>
          </a:prstGeom>
          <a:solidFill>
            <a:srgbClr val="D9D9D9"/>
          </a:solidFill>
          <a:ln w="12700">
            <a:solidFill>
              <a:srgbClr val="D9D9D9"/>
            </a:solidFill>
            <a:prstDash val="solid"/>
          </a:ln>
        </p:spPr>
      </p:sp>
      <p:sp>
        <p:nvSpPr>
          <p:cNvPr id="24" name="bg_lanet0"/>
          <p:cNvSpPr txBox="1"/>
          <p:nvPr/>
        </p:nvSpPr>
        <p:spPr>
          <a:xfrm>
            <a:off x="347472" y="1517904"/>
            <a:ext cx="154533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資産</a:t>
            </a:r>
            <a:endParaRPr lang="en-US" sz="950" dirty="0"/>
          </a:p>
        </p:txBody>
      </p:sp>
      <p:sp>
        <p:nvSpPr>
          <p:cNvPr id="25" name="bg_lane1"/>
          <p:cNvSpPr/>
          <p:nvPr/>
        </p:nvSpPr>
        <p:spPr>
          <a:xfrm>
            <a:off x="2511552" y="1517904"/>
            <a:ext cx="3709416" cy="3172968"/>
          </a:xfrm>
          <a:prstGeom prst="rect">
            <a:avLst/>
          </a:prstGeom>
          <a:solidFill>
            <a:srgbClr val="EAF4EE"/>
          </a:solidFill>
          <a:ln w="12700">
            <a:solidFill>
              <a:srgbClr val="EAF4EE"/>
            </a:solidFill>
            <a:prstDash val="solid"/>
          </a:ln>
        </p:spPr>
      </p:sp>
      <p:sp>
        <p:nvSpPr>
          <p:cNvPr id="26" name="bg_laneh1"/>
          <p:cNvSpPr/>
          <p:nvPr/>
        </p:nvSpPr>
        <p:spPr>
          <a:xfrm>
            <a:off x="2511552" y="1517904"/>
            <a:ext cx="3709416" cy="274320"/>
          </a:xfrm>
          <a:prstGeom prst="rect">
            <a:avLst/>
          </a:prstGeom>
          <a:solidFill>
            <a:srgbClr val="197A56"/>
          </a:solidFill>
          <a:ln w="12700">
            <a:solidFill>
              <a:srgbClr val="197A56"/>
            </a:solidFill>
            <a:prstDash val="solid"/>
          </a:ln>
        </p:spPr>
      </p:sp>
      <p:sp>
        <p:nvSpPr>
          <p:cNvPr id="27" name="bg_lanet1"/>
          <p:cNvSpPr txBox="1"/>
          <p:nvPr/>
        </p:nvSpPr>
        <p:spPr>
          <a:xfrm>
            <a:off x="2511552" y="1517904"/>
            <a:ext cx="370941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 の回収</a:t>
            </a:r>
            <a:endParaRPr lang="en-US" sz="950" dirty="0"/>
          </a:p>
        </p:txBody>
      </p:sp>
      <p:sp>
        <p:nvSpPr>
          <p:cNvPr id="28" name="bg_lane2"/>
          <p:cNvSpPr/>
          <p:nvPr/>
        </p:nvSpPr>
        <p:spPr>
          <a:xfrm>
            <a:off x="6839712" y="1517904"/>
            <a:ext cx="1545336" cy="3172968"/>
          </a:xfrm>
          <a:prstGeom prst="rect">
            <a:avLst/>
          </a:prstGeom>
          <a:solidFill>
            <a:srgbClr val="F2F2F2"/>
          </a:solidFill>
          <a:ln w="12700">
            <a:solidFill>
              <a:srgbClr val="F2F2F2"/>
            </a:solidFill>
            <a:prstDash val="solid"/>
          </a:ln>
        </p:spPr>
      </p:sp>
      <p:sp>
        <p:nvSpPr>
          <p:cNvPr id="29" name="bg_laneh2"/>
          <p:cNvSpPr/>
          <p:nvPr/>
        </p:nvSpPr>
        <p:spPr>
          <a:xfrm>
            <a:off x="6839712" y="1517904"/>
            <a:ext cx="1545336" cy="274320"/>
          </a:xfrm>
          <a:prstGeom prst="rect">
            <a:avLst/>
          </a:prstGeom>
          <a:solidFill>
            <a:srgbClr val="D9D9D9"/>
          </a:solidFill>
          <a:ln w="12700">
            <a:solidFill>
              <a:srgbClr val="D9D9D9"/>
            </a:solidFill>
            <a:prstDash val="solid"/>
          </a:ln>
        </p:spPr>
      </p:sp>
      <p:sp>
        <p:nvSpPr>
          <p:cNvPr id="30" name="bg_lanet2"/>
          <p:cNvSpPr txBox="1"/>
          <p:nvPr/>
        </p:nvSpPr>
        <p:spPr>
          <a:xfrm>
            <a:off x="6839712" y="1517904"/>
            <a:ext cx="154533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価値を下げる力</a:t>
            </a:r>
            <a:endParaRPr lang="en-US" sz="950" dirty="0"/>
          </a:p>
        </p:txBody>
      </p:sp>
      <p:sp>
        <p:nvSpPr>
          <p:cNvPr id="31" name="ovl_s26_e0_0"/>
          <p:cNvSpPr/>
          <p:nvPr/>
        </p:nvSpPr>
        <p:spPr>
          <a:xfrm>
            <a:off x="1783080" y="2348484"/>
            <a:ext cx="838200" cy="914"/>
          </a:xfrm>
          <a:prstGeom prst="line">
            <a:avLst/>
          </a:prstGeom>
          <a:noFill/>
          <a:ln w="19050">
            <a:solidFill>
              <a:srgbClr val="1BA1A6"/>
            </a:solidFill>
            <a:prstDash val="solid"/>
            <a:tailEnd type="triangle"/>
          </a:ln>
        </p:spPr>
      </p:sp>
      <p:sp>
        <p:nvSpPr>
          <p:cNvPr id="32" name="ovl_s26_e1_0"/>
          <p:cNvSpPr/>
          <p:nvPr/>
        </p:nvSpPr>
        <p:spPr>
          <a:xfrm>
            <a:off x="1783080" y="3278124"/>
            <a:ext cx="838200" cy="914"/>
          </a:xfrm>
          <a:prstGeom prst="line">
            <a:avLst/>
          </a:prstGeom>
          <a:noFill/>
          <a:ln w="19050">
            <a:solidFill>
              <a:srgbClr val="1BA1A6"/>
            </a:solidFill>
            <a:prstDash val="solid"/>
            <a:tailEnd type="triangle"/>
          </a:ln>
        </p:spPr>
      </p:sp>
      <p:sp>
        <p:nvSpPr>
          <p:cNvPr id="33" name="ovl_s26_e2_0"/>
          <p:cNvSpPr/>
          <p:nvPr/>
        </p:nvSpPr>
        <p:spPr>
          <a:xfrm>
            <a:off x="1783080" y="3387852"/>
            <a:ext cx="419100" cy="914"/>
          </a:xfrm>
          <a:prstGeom prst="line">
            <a:avLst/>
          </a:prstGeom>
          <a:noFill/>
          <a:ln w="19050">
            <a:solidFill>
              <a:srgbClr val="1BA1A6"/>
            </a:solidFill>
            <a:prstDash val="solid"/>
          </a:ln>
        </p:spPr>
      </p:sp>
      <p:sp>
        <p:nvSpPr>
          <p:cNvPr id="34" name="ovl_s26_e2_1"/>
          <p:cNvSpPr/>
          <p:nvPr/>
        </p:nvSpPr>
        <p:spPr>
          <a:xfrm>
            <a:off x="2202180" y="3387852"/>
            <a:ext cx="914" cy="819912"/>
          </a:xfrm>
          <a:prstGeom prst="line">
            <a:avLst/>
          </a:prstGeom>
          <a:noFill/>
          <a:ln w="19050">
            <a:solidFill>
              <a:srgbClr val="1BA1A6"/>
            </a:solidFill>
            <a:prstDash val="solid"/>
          </a:ln>
        </p:spPr>
      </p:sp>
      <p:sp>
        <p:nvSpPr>
          <p:cNvPr id="35" name="ovl_s26_e2_2"/>
          <p:cNvSpPr/>
          <p:nvPr/>
        </p:nvSpPr>
        <p:spPr>
          <a:xfrm>
            <a:off x="2202180" y="4207764"/>
            <a:ext cx="419100" cy="914"/>
          </a:xfrm>
          <a:prstGeom prst="line">
            <a:avLst/>
          </a:prstGeom>
          <a:noFill/>
          <a:ln w="19050">
            <a:solidFill>
              <a:srgbClr val="1BA1A6"/>
            </a:solidFill>
            <a:prstDash val="solid"/>
            <a:tailEnd type="triangle"/>
          </a:ln>
        </p:spPr>
      </p:sp>
      <p:sp>
        <p:nvSpPr>
          <p:cNvPr id="36" name="ovl_s26_e3_0"/>
          <p:cNvSpPr/>
          <p:nvPr/>
        </p:nvSpPr>
        <p:spPr>
          <a:xfrm flipH="1">
            <a:off x="4038600" y="2348484"/>
            <a:ext cx="838200" cy="914"/>
          </a:xfrm>
          <a:prstGeom prst="line">
            <a:avLst/>
          </a:prstGeom>
          <a:noFill/>
          <a:ln w="22225">
            <a:solidFill>
              <a:srgbClr val="0E4D33"/>
            </a:solidFill>
            <a:prstDash val="solid"/>
            <a:tailEnd type="triangle"/>
          </a:ln>
        </p:spPr>
      </p:sp>
      <p:sp>
        <p:nvSpPr>
          <p:cNvPr id="37" name="ovl_s26_e4_0"/>
          <p:cNvSpPr/>
          <p:nvPr/>
        </p:nvSpPr>
        <p:spPr>
          <a:xfrm flipH="1">
            <a:off x="4038600" y="3278124"/>
            <a:ext cx="838200" cy="914"/>
          </a:xfrm>
          <a:prstGeom prst="line">
            <a:avLst/>
          </a:prstGeom>
          <a:noFill/>
          <a:ln w="22225">
            <a:solidFill>
              <a:srgbClr val="0E4D33"/>
            </a:solidFill>
            <a:prstDash val="solid"/>
            <a:tailEnd type="triangle"/>
          </a:ln>
        </p:spPr>
      </p:sp>
      <p:sp>
        <p:nvSpPr>
          <p:cNvPr id="38" name="ovl_s26_e5_0"/>
          <p:cNvSpPr/>
          <p:nvPr/>
        </p:nvSpPr>
        <p:spPr>
          <a:xfrm flipH="1">
            <a:off x="4457700" y="3387852"/>
            <a:ext cx="419100" cy="914"/>
          </a:xfrm>
          <a:prstGeom prst="line">
            <a:avLst/>
          </a:prstGeom>
          <a:noFill/>
          <a:ln w="22225">
            <a:solidFill>
              <a:srgbClr val="0E4D33"/>
            </a:solidFill>
            <a:prstDash val="solid"/>
          </a:ln>
        </p:spPr>
      </p:sp>
      <p:sp>
        <p:nvSpPr>
          <p:cNvPr id="39" name="ovl_s26_e5_1"/>
          <p:cNvSpPr/>
          <p:nvPr/>
        </p:nvSpPr>
        <p:spPr>
          <a:xfrm>
            <a:off x="4457700" y="3387852"/>
            <a:ext cx="914" cy="710184"/>
          </a:xfrm>
          <a:prstGeom prst="line">
            <a:avLst/>
          </a:prstGeom>
          <a:noFill/>
          <a:ln w="22225">
            <a:solidFill>
              <a:srgbClr val="0E4D33"/>
            </a:solidFill>
            <a:prstDash val="solid"/>
          </a:ln>
        </p:spPr>
      </p:sp>
      <p:sp>
        <p:nvSpPr>
          <p:cNvPr id="40" name="ovl_s26_e5_2"/>
          <p:cNvSpPr/>
          <p:nvPr/>
        </p:nvSpPr>
        <p:spPr>
          <a:xfrm flipH="1">
            <a:off x="4038600" y="4098036"/>
            <a:ext cx="419100" cy="914"/>
          </a:xfrm>
          <a:prstGeom prst="line">
            <a:avLst/>
          </a:prstGeom>
          <a:noFill/>
          <a:ln w="22225">
            <a:solidFill>
              <a:srgbClr val="0E4D33"/>
            </a:solidFill>
            <a:prstDash val="solid"/>
            <a:tailEnd type="triangle"/>
          </a:ln>
        </p:spPr>
      </p:sp>
      <p:sp>
        <p:nvSpPr>
          <p:cNvPr id="41" name="ovl_s26_e6_0"/>
          <p:cNvSpPr/>
          <p:nvPr/>
        </p:nvSpPr>
        <p:spPr>
          <a:xfrm>
            <a:off x="7612380" y="2686812"/>
            <a:ext cx="914" cy="126492"/>
          </a:xfrm>
          <a:prstGeom prst="line">
            <a:avLst/>
          </a:prstGeom>
          <a:noFill/>
          <a:ln w="15875">
            <a:solidFill>
              <a:srgbClr val="C0392B"/>
            </a:solidFill>
            <a:prstDash val="dash"/>
          </a:ln>
        </p:spPr>
      </p:sp>
      <p:sp>
        <p:nvSpPr>
          <p:cNvPr id="42" name="ovl_s26_e6_1"/>
          <p:cNvSpPr/>
          <p:nvPr/>
        </p:nvSpPr>
        <p:spPr>
          <a:xfrm flipH="1">
            <a:off x="1120140" y="2813304"/>
            <a:ext cx="6492240" cy="914"/>
          </a:xfrm>
          <a:prstGeom prst="line">
            <a:avLst/>
          </a:prstGeom>
          <a:noFill/>
          <a:ln w="15875">
            <a:solidFill>
              <a:srgbClr val="C0392B"/>
            </a:solidFill>
            <a:prstDash val="dash"/>
          </a:ln>
        </p:spPr>
      </p:sp>
      <p:sp>
        <p:nvSpPr>
          <p:cNvPr id="43" name="ovl_s26_e6_2"/>
          <p:cNvSpPr/>
          <p:nvPr/>
        </p:nvSpPr>
        <p:spPr>
          <a:xfrm>
            <a:off x="1120140" y="2813304"/>
            <a:ext cx="914" cy="126492"/>
          </a:xfrm>
          <a:prstGeom prst="line">
            <a:avLst/>
          </a:prstGeom>
          <a:noFill/>
          <a:ln w="15875">
            <a:solidFill>
              <a:srgbClr val="C0392B"/>
            </a:solidFill>
            <a:prstDash val="dash"/>
            <a:tailEnd type="triangle"/>
          </a:ln>
        </p:spPr>
      </p:sp>
      <p:sp>
        <p:nvSpPr>
          <p:cNvPr id="44" name="ovl_s26_e7_0"/>
          <p:cNvSpPr/>
          <p:nvPr/>
        </p:nvSpPr>
        <p:spPr>
          <a:xfrm>
            <a:off x="7612380" y="3616452"/>
            <a:ext cx="914" cy="126492"/>
          </a:xfrm>
          <a:prstGeom prst="line">
            <a:avLst/>
          </a:prstGeom>
          <a:noFill/>
          <a:ln w="15875">
            <a:solidFill>
              <a:srgbClr val="C0392B"/>
            </a:solidFill>
            <a:prstDash val="dash"/>
          </a:ln>
        </p:spPr>
      </p:sp>
      <p:sp>
        <p:nvSpPr>
          <p:cNvPr id="45" name="ovl_s26_e7_1"/>
          <p:cNvSpPr/>
          <p:nvPr/>
        </p:nvSpPr>
        <p:spPr>
          <a:xfrm flipH="1">
            <a:off x="1120140" y="3742944"/>
            <a:ext cx="6492240" cy="914"/>
          </a:xfrm>
          <a:prstGeom prst="line">
            <a:avLst/>
          </a:prstGeom>
          <a:noFill/>
          <a:ln w="15875">
            <a:solidFill>
              <a:srgbClr val="C0392B"/>
            </a:solidFill>
            <a:prstDash val="dash"/>
          </a:ln>
        </p:spPr>
      </p:sp>
      <p:sp>
        <p:nvSpPr>
          <p:cNvPr id="46" name="ovl_s26_e7_2"/>
          <p:cNvSpPr/>
          <p:nvPr/>
        </p:nvSpPr>
        <p:spPr>
          <a:xfrm flipV="1">
            <a:off x="1120140" y="3616452"/>
            <a:ext cx="914" cy="126492"/>
          </a:xfrm>
          <a:prstGeom prst="line">
            <a:avLst/>
          </a:prstGeom>
          <a:noFill/>
          <a:ln w="15875">
            <a:solidFill>
              <a:srgbClr val="C0392B"/>
            </a:solidFill>
            <a:prstDash val="dash"/>
            <a:tailEnd type="triangle"/>
          </a:ln>
        </p:spPr>
      </p:sp>
      <p:sp>
        <p:nvSpPr>
          <p:cNvPr id="47" name="ovl_s26_e8_0"/>
          <p:cNvSpPr/>
          <p:nvPr/>
        </p:nvSpPr>
        <p:spPr>
          <a:xfrm flipH="1">
            <a:off x="4038600" y="4207764"/>
            <a:ext cx="2910840" cy="914"/>
          </a:xfrm>
          <a:prstGeom prst="line">
            <a:avLst/>
          </a:prstGeom>
          <a:noFill/>
          <a:ln w="12700">
            <a:solidFill>
              <a:srgbClr val="767676"/>
            </a:solidFill>
            <a:prstDash val="sysDash"/>
            <a:tailEnd type="triangle"/>
          </a:ln>
        </p:spPr>
      </p:sp>
      <p:sp>
        <p:nvSpPr>
          <p:cNvPr id="48" name="ovl_s26_n_intang"/>
          <p:cNvSpPr/>
          <p:nvPr/>
        </p:nvSpPr>
        <p:spPr>
          <a:xfrm>
            <a:off x="457200" y="2010156"/>
            <a:ext cx="1325880" cy="676656"/>
          </a:xfrm>
          <a:prstGeom prst="roundRect">
            <a:avLst>
              <a:gd name="adj" fmla="val 8108"/>
            </a:avLst>
          </a:prstGeom>
          <a:solidFill>
            <a:srgbClr val="EAF4EE"/>
          </a:solidFill>
          <a:ln w="9525">
            <a:solidFill>
              <a:srgbClr val="86C99B"/>
            </a:solidFill>
            <a:prstDash val="solid"/>
          </a:ln>
        </p:spPr>
      </p:sp>
      <p:sp>
        <p:nvSpPr>
          <p:cNvPr id="49" name="ovl_s26_nt_intang"/>
          <p:cNvSpPr txBox="1"/>
          <p:nvPr/>
        </p:nvSpPr>
        <p:spPr>
          <a:xfrm>
            <a:off x="493776" y="2037588"/>
            <a:ext cx="1252728" cy="205740"/>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DB の技術・顧客関係</a:t>
            </a:r>
            <a:endParaRPr lang="en-US" sz="900" dirty="0"/>
          </a:p>
        </p:txBody>
      </p:sp>
      <p:sp>
        <p:nvSpPr>
          <p:cNvPr id="50" name="ovl_s26_ns_intang"/>
          <p:cNvSpPr txBox="1"/>
          <p:nvPr/>
        </p:nvSpPr>
        <p:spPr>
          <a:xfrm>
            <a:off x="502920" y="2243328"/>
            <a:ext cx="123444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寿命は数十年</a:t>
            </a:r>
            <a:endParaRPr lang="en-US" sz="850" dirty="0"/>
          </a:p>
        </p:txBody>
      </p:sp>
      <p:sp>
        <p:nvSpPr>
          <p:cNvPr id="51" name="ovl_s26_n_gpu"/>
          <p:cNvSpPr/>
          <p:nvPr/>
        </p:nvSpPr>
        <p:spPr>
          <a:xfrm>
            <a:off x="457200" y="2939796"/>
            <a:ext cx="1325880" cy="676656"/>
          </a:xfrm>
          <a:prstGeom prst="roundRect">
            <a:avLst>
              <a:gd name="adj" fmla="val 8108"/>
            </a:avLst>
          </a:prstGeom>
          <a:solidFill>
            <a:srgbClr val="FFFFFF"/>
          </a:solidFill>
          <a:ln w="19050">
            <a:solidFill>
              <a:srgbClr val="C0392B"/>
            </a:solidFill>
            <a:prstDash val="solid"/>
          </a:ln>
        </p:spPr>
      </p:sp>
      <p:sp>
        <p:nvSpPr>
          <p:cNvPr id="52" name="ovl_s26_nt_gpu"/>
          <p:cNvSpPr txBox="1"/>
          <p:nvPr/>
        </p:nvSpPr>
        <p:spPr>
          <a:xfrm>
            <a:off x="493776" y="2967228"/>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GPU(自社調達)</a:t>
            </a:r>
            <a:endParaRPr lang="en-US" sz="1000" dirty="0"/>
          </a:p>
        </p:txBody>
      </p:sp>
      <p:sp>
        <p:nvSpPr>
          <p:cNvPr id="53" name="ovl_s26_ns_gpu"/>
          <p:cNvSpPr txBox="1"/>
          <p:nvPr/>
        </p:nvSpPr>
        <p:spPr>
          <a:xfrm>
            <a:off x="502920" y="3172968"/>
            <a:ext cx="123444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6 年償却</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(5 → 6 年に延長)</a:t>
            </a:r>
            <a:endParaRPr lang="en-US" sz="850" dirty="0"/>
          </a:p>
        </p:txBody>
      </p:sp>
      <p:sp>
        <p:nvSpPr>
          <p:cNvPr id="54" name="ovl_s26_n_soft"/>
          <p:cNvSpPr/>
          <p:nvPr/>
        </p:nvSpPr>
        <p:spPr>
          <a:xfrm>
            <a:off x="457200" y="3869436"/>
            <a:ext cx="1325880" cy="676656"/>
          </a:xfrm>
          <a:prstGeom prst="roundRect">
            <a:avLst>
              <a:gd name="adj" fmla="val 8108"/>
            </a:avLst>
          </a:prstGeom>
          <a:solidFill>
            <a:srgbClr val="FFFFFF"/>
          </a:solidFill>
          <a:ln w="9525">
            <a:solidFill>
              <a:srgbClr val="767676"/>
            </a:solidFill>
            <a:prstDash val="solid"/>
          </a:ln>
        </p:spPr>
      </p:sp>
      <p:sp>
        <p:nvSpPr>
          <p:cNvPr id="55" name="ovl_s26_nt_soft"/>
          <p:cNvSpPr txBox="1"/>
          <p:nvPr/>
        </p:nvSpPr>
        <p:spPr>
          <a:xfrm>
            <a:off x="493776" y="3896868"/>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OCI のソフト</a:t>
            </a:r>
            <a:endParaRPr lang="en-US" sz="1000" dirty="0"/>
          </a:p>
        </p:txBody>
      </p:sp>
      <p:sp>
        <p:nvSpPr>
          <p:cNvPr id="56" name="ovl_s26_ns_soft"/>
          <p:cNvSpPr txBox="1"/>
          <p:nvPr/>
        </p:nvSpPr>
        <p:spPr>
          <a:xfrm>
            <a:off x="502920" y="4102608"/>
            <a:ext cx="123444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世代交代が速い</a:t>
            </a:r>
            <a:endParaRPr lang="en-US" sz="850" dirty="0"/>
          </a:p>
        </p:txBody>
      </p:sp>
      <p:sp>
        <p:nvSpPr>
          <p:cNvPr id="57" name="ovl_s26_n_maint"/>
          <p:cNvSpPr/>
          <p:nvPr/>
        </p:nvSpPr>
        <p:spPr>
          <a:xfrm>
            <a:off x="2621280" y="2010156"/>
            <a:ext cx="1417320" cy="676656"/>
          </a:xfrm>
          <a:prstGeom prst="roundRect">
            <a:avLst>
              <a:gd name="adj" fmla="val 8108"/>
            </a:avLst>
          </a:prstGeom>
          <a:solidFill>
            <a:srgbClr val="FFFFFF"/>
          </a:solidFill>
          <a:ln w="19050">
            <a:solidFill>
              <a:srgbClr val="197A56"/>
            </a:solidFill>
            <a:prstDash val="solid"/>
          </a:ln>
        </p:spPr>
      </p:sp>
      <p:sp>
        <p:nvSpPr>
          <p:cNvPr id="58" name="ovl_s26_nt_maint"/>
          <p:cNvSpPr txBox="1"/>
          <p:nvPr/>
        </p:nvSpPr>
        <p:spPr>
          <a:xfrm>
            <a:off x="2657856" y="2037588"/>
            <a:ext cx="134416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保守・SaaS</a:t>
            </a:r>
            <a:endParaRPr lang="en-US" sz="1000" dirty="0"/>
          </a:p>
        </p:txBody>
      </p:sp>
      <p:sp>
        <p:nvSpPr>
          <p:cNvPr id="59" name="ovl_s26_ns_maint"/>
          <p:cNvSpPr txBox="1"/>
          <p:nvPr/>
        </p:nvSpPr>
        <p:spPr>
          <a:xfrm>
            <a:off x="2667000" y="2243328"/>
            <a:ext cx="132588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継続課金</a:t>
            </a:r>
            <a:endParaRPr lang="en-US" sz="850" dirty="0"/>
          </a:p>
        </p:txBody>
      </p:sp>
      <p:sp>
        <p:nvSpPr>
          <p:cNvPr id="60" name="ovl_s26_n_first"/>
          <p:cNvSpPr/>
          <p:nvPr/>
        </p:nvSpPr>
        <p:spPr>
          <a:xfrm>
            <a:off x="2621280" y="2939796"/>
            <a:ext cx="1417320" cy="676656"/>
          </a:xfrm>
          <a:prstGeom prst="roundRect">
            <a:avLst>
              <a:gd name="adj" fmla="val 8108"/>
            </a:avLst>
          </a:prstGeom>
          <a:solidFill>
            <a:srgbClr val="FFFFFF"/>
          </a:solidFill>
          <a:ln w="19050">
            <a:solidFill>
              <a:srgbClr val="197A56"/>
            </a:solidFill>
            <a:prstDash val="solid"/>
          </a:ln>
        </p:spPr>
      </p:sp>
      <p:sp>
        <p:nvSpPr>
          <p:cNvPr id="61" name="ovl_s26_nt_first"/>
          <p:cNvSpPr txBox="1"/>
          <p:nvPr/>
        </p:nvSpPr>
        <p:spPr>
          <a:xfrm>
            <a:off x="2657856" y="2967228"/>
            <a:ext cx="134416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最初の契約</a:t>
            </a:r>
            <a:endParaRPr lang="en-US" sz="1000" dirty="0"/>
          </a:p>
        </p:txBody>
      </p:sp>
      <p:sp>
        <p:nvSpPr>
          <p:cNvPr id="62" name="ovl_s26_ns_first"/>
          <p:cNvSpPr txBox="1"/>
          <p:nvPr/>
        </p:nvSpPr>
        <p:spPr>
          <a:xfrm>
            <a:off x="2667000" y="3172968"/>
            <a:ext cx="132588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5〜6 年</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契約 ≒ 償却期間</a:t>
            </a:r>
            <a:endParaRPr lang="en-US" sz="850" dirty="0"/>
          </a:p>
        </p:txBody>
      </p:sp>
      <p:sp>
        <p:nvSpPr>
          <p:cNvPr id="63" name="ovl_s26_n_renew"/>
          <p:cNvSpPr/>
          <p:nvPr/>
        </p:nvSpPr>
        <p:spPr>
          <a:xfrm>
            <a:off x="2621280" y="3869436"/>
            <a:ext cx="1417320" cy="676656"/>
          </a:xfrm>
          <a:prstGeom prst="roundRect">
            <a:avLst>
              <a:gd name="adj" fmla="val 8108"/>
            </a:avLst>
          </a:prstGeom>
          <a:solidFill>
            <a:srgbClr val="FFFFFF"/>
          </a:solidFill>
          <a:ln w="19050">
            <a:solidFill>
              <a:srgbClr val="197A56"/>
            </a:solidFill>
            <a:prstDash val="solid"/>
          </a:ln>
        </p:spPr>
      </p:sp>
      <p:sp>
        <p:nvSpPr>
          <p:cNvPr id="64" name="ovl_s26_nt_renew"/>
          <p:cNvSpPr txBox="1"/>
          <p:nvPr/>
        </p:nvSpPr>
        <p:spPr>
          <a:xfrm>
            <a:off x="2657856" y="3896868"/>
            <a:ext cx="134416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更新・再販</a:t>
            </a:r>
            <a:endParaRPr lang="en-US" sz="1000" dirty="0"/>
          </a:p>
        </p:txBody>
      </p:sp>
      <p:sp>
        <p:nvSpPr>
          <p:cNvPr id="65" name="ovl_s26_ns_renew"/>
          <p:cNvSpPr txBox="1"/>
          <p:nvPr/>
        </p:nvSpPr>
        <p:spPr>
          <a:xfrm>
            <a:off x="2667000" y="4102608"/>
            <a:ext cx="132588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従来比 +20%</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(Q1 FY27)</a:t>
            </a:r>
            <a:endParaRPr lang="en-US" sz="850" dirty="0"/>
          </a:p>
        </p:txBody>
      </p:sp>
      <p:sp>
        <p:nvSpPr>
          <p:cNvPr id="66" name="ovl_s26_n_cust"/>
          <p:cNvSpPr/>
          <p:nvPr/>
        </p:nvSpPr>
        <p:spPr>
          <a:xfrm>
            <a:off x="4876800" y="2010156"/>
            <a:ext cx="1234440" cy="676656"/>
          </a:xfrm>
          <a:prstGeom prst="roundRect">
            <a:avLst>
              <a:gd name="adj" fmla="val 8108"/>
            </a:avLst>
          </a:prstGeom>
          <a:solidFill>
            <a:srgbClr val="FFFFFF"/>
          </a:solidFill>
          <a:ln w="9525">
            <a:solidFill>
              <a:srgbClr val="767676"/>
            </a:solidFill>
            <a:prstDash val="solid"/>
          </a:ln>
        </p:spPr>
      </p:sp>
      <p:sp>
        <p:nvSpPr>
          <p:cNvPr id="67" name="ovl_s26_nt_cust"/>
          <p:cNvSpPr txBox="1"/>
          <p:nvPr/>
        </p:nvSpPr>
        <p:spPr>
          <a:xfrm>
            <a:off x="4913376" y="2037588"/>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DB・SaaS の顧客</a:t>
            </a:r>
            <a:endParaRPr lang="en-US" sz="1000" dirty="0"/>
          </a:p>
        </p:txBody>
      </p:sp>
      <p:sp>
        <p:nvSpPr>
          <p:cNvPr id="68" name="ovl_s26_ns_cust"/>
          <p:cNvSpPr txBox="1"/>
          <p:nvPr/>
        </p:nvSpPr>
        <p:spPr>
          <a:xfrm>
            <a:off x="4922520" y="2243328"/>
            <a:ext cx="114300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保守料</a:t>
            </a:r>
            <a:endParaRPr lang="en-US" sz="850" dirty="0"/>
          </a:p>
        </p:txBody>
      </p:sp>
      <p:sp>
        <p:nvSpPr>
          <p:cNvPr id="69" name="ovl_s26_n_lab"/>
          <p:cNvSpPr/>
          <p:nvPr/>
        </p:nvSpPr>
        <p:spPr>
          <a:xfrm>
            <a:off x="4876800" y="2939796"/>
            <a:ext cx="1234440" cy="676656"/>
          </a:xfrm>
          <a:prstGeom prst="roundRect">
            <a:avLst>
              <a:gd name="adj" fmla="val 8108"/>
            </a:avLst>
          </a:prstGeom>
          <a:solidFill>
            <a:srgbClr val="FFFFFF"/>
          </a:solidFill>
          <a:ln w="9525">
            <a:solidFill>
              <a:srgbClr val="767676"/>
            </a:solidFill>
            <a:prstDash val="solid"/>
          </a:ln>
        </p:spPr>
      </p:sp>
      <p:sp>
        <p:nvSpPr>
          <p:cNvPr id="70" name="ovl_s26_nt_lab"/>
          <p:cNvSpPr txBox="1"/>
          <p:nvPr/>
        </p:nvSpPr>
        <p:spPr>
          <a:xfrm>
            <a:off x="4913376" y="2967228"/>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研究所・企業</a:t>
            </a:r>
            <a:endParaRPr lang="en-US" sz="1000" dirty="0"/>
          </a:p>
        </p:txBody>
      </p:sp>
      <p:sp>
        <p:nvSpPr>
          <p:cNvPr id="71" name="ovl_s26_ns_lab"/>
          <p:cNvSpPr txBox="1"/>
          <p:nvPr/>
        </p:nvSpPr>
        <p:spPr>
          <a:xfrm>
            <a:off x="4922520" y="3172968"/>
            <a:ext cx="114300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初回の契約料</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更新料</a:t>
            </a:r>
            <a:endParaRPr lang="en-US" sz="850" dirty="0"/>
          </a:p>
        </p:txBody>
      </p:sp>
      <p:sp>
        <p:nvSpPr>
          <p:cNvPr id="72" name="ovl_s26_n_nv"/>
          <p:cNvSpPr/>
          <p:nvPr/>
        </p:nvSpPr>
        <p:spPr>
          <a:xfrm>
            <a:off x="6949440" y="2010156"/>
            <a:ext cx="1325880" cy="676656"/>
          </a:xfrm>
          <a:prstGeom prst="roundRect">
            <a:avLst>
              <a:gd name="adj" fmla="val 8108"/>
            </a:avLst>
          </a:prstGeom>
          <a:solidFill>
            <a:srgbClr val="FFFFFF"/>
          </a:solidFill>
          <a:ln w="19050">
            <a:solidFill>
              <a:srgbClr val="C0392B"/>
            </a:solidFill>
            <a:prstDash val="solid"/>
          </a:ln>
        </p:spPr>
      </p:sp>
      <p:sp>
        <p:nvSpPr>
          <p:cNvPr id="73" name="ovl_s26_nt_nv"/>
          <p:cNvSpPr txBox="1"/>
          <p:nvPr/>
        </p:nvSpPr>
        <p:spPr>
          <a:xfrm>
            <a:off x="6986016" y="2037588"/>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NVIDIA の新世代</a:t>
            </a:r>
            <a:endParaRPr lang="en-US" sz="1000" dirty="0"/>
          </a:p>
        </p:txBody>
      </p:sp>
      <p:sp>
        <p:nvSpPr>
          <p:cNvPr id="74" name="ovl_s26_ns_nv"/>
          <p:cNvSpPr txBox="1"/>
          <p:nvPr/>
        </p:nvSpPr>
        <p:spPr>
          <a:xfrm>
            <a:off x="6995160" y="2243328"/>
            <a:ext cx="123444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Rubin は電力あたり</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約 10 倍</a:t>
            </a:r>
            <a:endParaRPr lang="en-US" sz="850" dirty="0"/>
          </a:p>
        </p:txBody>
      </p:sp>
      <p:sp>
        <p:nvSpPr>
          <p:cNvPr id="75" name="ovl_s26_n_amzn"/>
          <p:cNvSpPr/>
          <p:nvPr/>
        </p:nvSpPr>
        <p:spPr>
          <a:xfrm>
            <a:off x="6949440" y="2939796"/>
            <a:ext cx="1325880" cy="676656"/>
          </a:xfrm>
          <a:prstGeom prst="roundRect">
            <a:avLst>
              <a:gd name="adj" fmla="val 8108"/>
            </a:avLst>
          </a:prstGeom>
          <a:solidFill>
            <a:srgbClr val="FFFFFF"/>
          </a:solidFill>
          <a:ln w="19050">
            <a:solidFill>
              <a:srgbClr val="C0392B"/>
            </a:solidFill>
            <a:prstDash val="solid"/>
          </a:ln>
        </p:spPr>
      </p:sp>
      <p:sp>
        <p:nvSpPr>
          <p:cNvPr id="76" name="ovl_s26_nt_amzn"/>
          <p:cNvSpPr txBox="1"/>
          <p:nvPr/>
        </p:nvSpPr>
        <p:spPr>
          <a:xfrm>
            <a:off x="6986016" y="2967228"/>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Amazon の判断</a:t>
            </a:r>
            <a:endParaRPr lang="en-US" sz="1000" dirty="0"/>
          </a:p>
        </p:txBody>
      </p:sp>
      <p:sp>
        <p:nvSpPr>
          <p:cNvPr id="77" name="ovl_s26_ns_amzn"/>
          <p:cNvSpPr txBox="1"/>
          <p:nvPr/>
        </p:nvSpPr>
        <p:spPr>
          <a:xfrm>
            <a:off x="6995160" y="3172968"/>
            <a:ext cx="123444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サーバーの耐用年数を</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6 → 5 年に短縮</a:t>
            </a:r>
            <a:endParaRPr lang="en-US" sz="850" dirty="0"/>
          </a:p>
        </p:txBody>
      </p:sp>
      <p:sp>
        <p:nvSpPr>
          <p:cNvPr id="78" name="ovl_s26_n_used"/>
          <p:cNvSpPr/>
          <p:nvPr/>
        </p:nvSpPr>
        <p:spPr>
          <a:xfrm>
            <a:off x="6949440" y="3869436"/>
            <a:ext cx="1325880" cy="676656"/>
          </a:xfrm>
          <a:prstGeom prst="roundRect">
            <a:avLst>
              <a:gd name="adj" fmla="val 8108"/>
            </a:avLst>
          </a:prstGeom>
          <a:solidFill>
            <a:srgbClr val="FFFFFF"/>
          </a:solidFill>
          <a:ln w="9525">
            <a:solidFill>
              <a:srgbClr val="767676"/>
            </a:solidFill>
            <a:prstDash val="solid"/>
          </a:ln>
        </p:spPr>
      </p:sp>
      <p:sp>
        <p:nvSpPr>
          <p:cNvPr id="79" name="ovl_s26_nt_used"/>
          <p:cNvSpPr txBox="1"/>
          <p:nvPr/>
        </p:nvSpPr>
        <p:spPr>
          <a:xfrm>
            <a:off x="6986016" y="3896868"/>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中古 GPU 市場</a:t>
            </a:r>
            <a:endParaRPr lang="en-US" sz="1000" dirty="0"/>
          </a:p>
        </p:txBody>
      </p:sp>
      <p:sp>
        <p:nvSpPr>
          <p:cNvPr id="80" name="ovl_s26_ns_used"/>
          <p:cNvSpPr txBox="1"/>
          <p:nvPr/>
        </p:nvSpPr>
        <p:spPr>
          <a:xfrm>
            <a:off x="6995160" y="4102608"/>
            <a:ext cx="123444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中古 H100 は新品の</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61% → 69%</a:t>
            </a:r>
            <a:endParaRPr lang="en-US" sz="850" dirty="0"/>
          </a:p>
        </p:txBody>
      </p:sp>
      <p:sp>
        <p:nvSpPr>
          <p:cNvPr id="81" name="ovl_s26_num0"/>
          <p:cNvSpPr/>
          <p:nvPr/>
        </p:nvSpPr>
        <p:spPr>
          <a:xfrm>
            <a:off x="2083308" y="2229612"/>
            <a:ext cx="237744" cy="237744"/>
          </a:xfrm>
          <a:prstGeom prst="ellipse">
            <a:avLst/>
          </a:prstGeom>
          <a:solidFill>
            <a:srgbClr val="1BA1A6"/>
          </a:solidFill>
          <a:ln w="12700">
            <a:solidFill>
              <a:srgbClr val="FFFFFF"/>
            </a:solidFill>
            <a:prstDash val="solid"/>
          </a:ln>
        </p:spPr>
      </p:sp>
      <p:sp>
        <p:nvSpPr>
          <p:cNvPr id="82" name="ovl_s26_numt0"/>
          <p:cNvSpPr txBox="1"/>
          <p:nvPr/>
        </p:nvSpPr>
        <p:spPr>
          <a:xfrm>
            <a:off x="2083308" y="222961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1</a:t>
            </a:r>
            <a:endParaRPr lang="en-US" sz="900" dirty="0"/>
          </a:p>
        </p:txBody>
      </p:sp>
      <p:sp>
        <p:nvSpPr>
          <p:cNvPr id="83" name="ovl_s26_num1"/>
          <p:cNvSpPr/>
          <p:nvPr/>
        </p:nvSpPr>
        <p:spPr>
          <a:xfrm>
            <a:off x="1900428" y="3159252"/>
            <a:ext cx="237744" cy="237744"/>
          </a:xfrm>
          <a:prstGeom prst="ellipse">
            <a:avLst/>
          </a:prstGeom>
          <a:solidFill>
            <a:srgbClr val="1BA1A6"/>
          </a:solidFill>
          <a:ln w="12700">
            <a:solidFill>
              <a:srgbClr val="FFFFFF"/>
            </a:solidFill>
            <a:prstDash val="solid"/>
          </a:ln>
        </p:spPr>
      </p:sp>
      <p:sp>
        <p:nvSpPr>
          <p:cNvPr id="84" name="ovl_s26_numt1"/>
          <p:cNvSpPr txBox="1"/>
          <p:nvPr/>
        </p:nvSpPr>
        <p:spPr>
          <a:xfrm>
            <a:off x="1900428" y="315925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2</a:t>
            </a:r>
            <a:endParaRPr lang="en-US" sz="900" dirty="0"/>
          </a:p>
        </p:txBody>
      </p:sp>
      <p:sp>
        <p:nvSpPr>
          <p:cNvPr id="85" name="ovl_s26_lab3"/>
          <p:cNvSpPr txBox="1"/>
          <p:nvPr/>
        </p:nvSpPr>
        <p:spPr>
          <a:xfrm>
            <a:off x="4227957" y="2115312"/>
            <a:ext cx="459486"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保守料</a:t>
            </a:r>
            <a:endParaRPr lang="en-US" sz="850" dirty="0"/>
          </a:p>
        </p:txBody>
      </p:sp>
      <p:sp>
        <p:nvSpPr>
          <p:cNvPr id="86" name="ovl_s26_num5"/>
          <p:cNvSpPr/>
          <p:nvPr/>
        </p:nvSpPr>
        <p:spPr>
          <a:xfrm>
            <a:off x="4338828" y="3441192"/>
            <a:ext cx="237744" cy="237744"/>
          </a:xfrm>
          <a:prstGeom prst="ellipse">
            <a:avLst/>
          </a:prstGeom>
          <a:solidFill>
            <a:srgbClr val="0E4D33"/>
          </a:solidFill>
          <a:ln w="12700">
            <a:solidFill>
              <a:srgbClr val="FFFFFF"/>
            </a:solidFill>
            <a:prstDash val="solid"/>
          </a:ln>
        </p:spPr>
      </p:sp>
      <p:sp>
        <p:nvSpPr>
          <p:cNvPr id="87" name="ovl_s26_numt5"/>
          <p:cNvSpPr txBox="1"/>
          <p:nvPr/>
        </p:nvSpPr>
        <p:spPr>
          <a:xfrm>
            <a:off x="4338828" y="344119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3</a:t>
            </a:r>
            <a:endParaRPr lang="en-US" sz="900" dirty="0"/>
          </a:p>
        </p:txBody>
      </p:sp>
      <p:sp>
        <p:nvSpPr>
          <p:cNvPr id="88" name="ovl_s26_lab6"/>
          <p:cNvSpPr txBox="1"/>
          <p:nvPr/>
        </p:nvSpPr>
        <p:spPr>
          <a:xfrm>
            <a:off x="3827564" y="2710434"/>
            <a:ext cx="1077392"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C0392B"/>
                </a:solidFill>
                <a:latin typeface="Meiryo UI" pitchFamily="34" charset="0"/>
                <a:ea typeface="Meiryo UI" pitchFamily="34" charset="-122"/>
                <a:cs typeface="Meiryo UI" pitchFamily="34" charset="-120"/>
              </a:rPr>
              <a:t>④ </a:t>
            </a:r>
            <a:r>
              <a:rPr lang="en-US" sz="850" dirty="0">
                <a:solidFill>
                  <a:srgbClr val="C0392B"/>
                </a:solidFill>
                <a:latin typeface="Meiryo UI" pitchFamily="34" charset="0"/>
                <a:ea typeface="Meiryo UI" pitchFamily="34" charset="-122"/>
                <a:cs typeface="Meiryo UI" pitchFamily="34" charset="-120"/>
              </a:rPr>
              <a:t>置き換えを迫る</a:t>
            </a:r>
            <a:endParaRPr lang="en-US" sz="850" dirty="0"/>
          </a:p>
        </p:txBody>
      </p:sp>
      <p:sp>
        <p:nvSpPr>
          <p:cNvPr id="89" name="ovl_s26_lab7"/>
          <p:cNvSpPr txBox="1"/>
          <p:nvPr/>
        </p:nvSpPr>
        <p:spPr>
          <a:xfrm>
            <a:off x="5117211" y="3640074"/>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寿命の見方</a:t>
            </a:r>
            <a:endParaRPr lang="en-US" sz="850" dirty="0"/>
          </a:p>
        </p:txBody>
      </p:sp>
      <p:sp>
        <p:nvSpPr>
          <p:cNvPr id="90" name="ovl_s26_lab8"/>
          <p:cNvSpPr txBox="1"/>
          <p:nvPr/>
        </p:nvSpPr>
        <p:spPr>
          <a:xfrm>
            <a:off x="5205984" y="3974592"/>
            <a:ext cx="576072"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再販の値</a:t>
            </a:r>
            <a:endParaRPr lang="en-US" sz="850" dirty="0"/>
          </a:p>
        </p:txBody>
      </p:sp>
      <p:sp>
        <p:nvSpPr>
          <p:cNvPr id="91" name="ovl_s26_leg0"/>
          <p:cNvSpPr/>
          <p:nvPr/>
        </p:nvSpPr>
        <p:spPr>
          <a:xfrm>
            <a:off x="457200" y="4828032"/>
            <a:ext cx="365760" cy="914"/>
          </a:xfrm>
          <a:prstGeom prst="line">
            <a:avLst/>
          </a:prstGeom>
          <a:noFill/>
          <a:ln w="22225">
            <a:solidFill>
              <a:srgbClr val="0E4D33"/>
            </a:solidFill>
            <a:prstDash val="solid"/>
            <a:tailEnd type="triangle"/>
          </a:ln>
        </p:spPr>
      </p:sp>
      <p:sp>
        <p:nvSpPr>
          <p:cNvPr id="92" name="ovl_s26_legt0"/>
          <p:cNvSpPr txBox="1"/>
          <p:nvPr/>
        </p:nvSpPr>
        <p:spPr>
          <a:xfrm>
            <a:off x="877824" y="4727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カネ</a:t>
            </a:r>
            <a:endParaRPr lang="en-US" sz="800" dirty="0"/>
          </a:p>
        </p:txBody>
      </p:sp>
      <p:sp>
        <p:nvSpPr>
          <p:cNvPr id="93" name="ovl_s26_leg1"/>
          <p:cNvSpPr/>
          <p:nvPr/>
        </p:nvSpPr>
        <p:spPr>
          <a:xfrm>
            <a:off x="1874520" y="4828032"/>
            <a:ext cx="365760" cy="914"/>
          </a:xfrm>
          <a:prstGeom prst="line">
            <a:avLst/>
          </a:prstGeom>
          <a:noFill/>
          <a:ln w="19050">
            <a:solidFill>
              <a:srgbClr val="1BA1A6"/>
            </a:solidFill>
            <a:prstDash val="solid"/>
            <a:tailEnd type="triangle"/>
          </a:ln>
        </p:spPr>
      </p:sp>
      <p:sp>
        <p:nvSpPr>
          <p:cNvPr id="94" name="ovl_s26_legt1"/>
          <p:cNvSpPr txBox="1"/>
          <p:nvPr/>
        </p:nvSpPr>
        <p:spPr>
          <a:xfrm>
            <a:off x="2295144" y="4727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モノ・サービス</a:t>
            </a:r>
            <a:endParaRPr lang="en-US" sz="800" dirty="0"/>
          </a:p>
        </p:txBody>
      </p:sp>
      <p:sp>
        <p:nvSpPr>
          <p:cNvPr id="95" name="ovl_s26_leg2"/>
          <p:cNvSpPr/>
          <p:nvPr/>
        </p:nvSpPr>
        <p:spPr>
          <a:xfrm>
            <a:off x="3291840" y="4828032"/>
            <a:ext cx="365760" cy="914"/>
          </a:xfrm>
          <a:prstGeom prst="line">
            <a:avLst/>
          </a:prstGeom>
          <a:noFill/>
          <a:ln w="15875">
            <a:solidFill>
              <a:srgbClr val="C0392B"/>
            </a:solidFill>
            <a:prstDash val="dash"/>
            <a:tailEnd type="triangle"/>
          </a:ln>
        </p:spPr>
      </p:sp>
      <p:sp>
        <p:nvSpPr>
          <p:cNvPr id="96" name="ovl_s26_legt2"/>
          <p:cNvSpPr txBox="1"/>
          <p:nvPr/>
        </p:nvSpPr>
        <p:spPr>
          <a:xfrm>
            <a:off x="3712464" y="4727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リスク</a:t>
            </a:r>
            <a:endParaRPr lang="en-US" sz="800" dirty="0"/>
          </a:p>
        </p:txBody>
      </p:sp>
      <p:sp>
        <p:nvSpPr>
          <p:cNvPr id="97" name="ovl_s26_leg3"/>
          <p:cNvSpPr/>
          <p:nvPr/>
        </p:nvSpPr>
        <p:spPr>
          <a:xfrm>
            <a:off x="4709160" y="4828032"/>
            <a:ext cx="365760" cy="914"/>
          </a:xfrm>
          <a:prstGeom prst="line">
            <a:avLst/>
          </a:prstGeom>
          <a:noFill/>
          <a:ln w="12700">
            <a:solidFill>
              <a:srgbClr val="767676"/>
            </a:solidFill>
            <a:prstDash val="sysDash"/>
            <a:tailEnd type="triangle"/>
          </a:ln>
        </p:spPr>
      </p:sp>
      <p:sp>
        <p:nvSpPr>
          <p:cNvPr id="98" name="ovl_s26_legt3"/>
          <p:cNvSpPr txBox="1"/>
          <p:nvPr/>
        </p:nvSpPr>
        <p:spPr>
          <a:xfrm>
            <a:off x="5129784" y="4727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契約・統治</a:t>
            </a:r>
            <a:endParaRPr lang="en-US" sz="800" dirty="0"/>
          </a:p>
        </p:txBody>
      </p:sp>
      <p:sp>
        <p:nvSpPr>
          <p:cNvPr id="99" name="ovl_s26_legn"/>
          <p:cNvSpPr txBox="1"/>
          <p:nvPr/>
        </p:nvSpPr>
        <p:spPr>
          <a:xfrm>
            <a:off x="6126480" y="4727448"/>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100" name="ovl_s26tb_tk2027"/>
          <p:cNvSpPr txBox="1"/>
          <p:nvPr/>
        </p:nvSpPr>
        <p:spPr>
          <a:xfrm>
            <a:off x="16002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FY27</a:t>
            </a:r>
            <a:endParaRPr lang="en-US" sz="800" dirty="0"/>
          </a:p>
        </p:txBody>
      </p:sp>
      <p:sp>
        <p:nvSpPr>
          <p:cNvPr id="101" name="ovl_s26tb_gl2027"/>
          <p:cNvSpPr/>
          <p:nvPr/>
        </p:nvSpPr>
        <p:spPr>
          <a:xfrm>
            <a:off x="1874520" y="5212080"/>
            <a:ext cx="914" cy="822960"/>
          </a:xfrm>
          <a:prstGeom prst="line">
            <a:avLst/>
          </a:prstGeom>
          <a:noFill/>
          <a:ln w="6350">
            <a:solidFill>
              <a:srgbClr val="D9D9D9"/>
            </a:solidFill>
            <a:prstDash val="dash"/>
          </a:ln>
        </p:spPr>
      </p:sp>
      <p:sp>
        <p:nvSpPr>
          <p:cNvPr id="102" name="ovl_s26tb_tk2032"/>
          <p:cNvSpPr txBox="1"/>
          <p:nvPr/>
        </p:nvSpPr>
        <p:spPr>
          <a:xfrm>
            <a:off x="32004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FY32</a:t>
            </a:r>
            <a:endParaRPr lang="en-US" sz="800" dirty="0"/>
          </a:p>
        </p:txBody>
      </p:sp>
      <p:sp>
        <p:nvSpPr>
          <p:cNvPr id="103" name="ovl_s26tb_gl2032"/>
          <p:cNvSpPr/>
          <p:nvPr/>
        </p:nvSpPr>
        <p:spPr>
          <a:xfrm>
            <a:off x="3474720" y="5212080"/>
            <a:ext cx="914" cy="822960"/>
          </a:xfrm>
          <a:prstGeom prst="line">
            <a:avLst/>
          </a:prstGeom>
          <a:noFill/>
          <a:ln w="6350">
            <a:solidFill>
              <a:srgbClr val="D9D9D9"/>
            </a:solidFill>
            <a:prstDash val="dash"/>
          </a:ln>
        </p:spPr>
      </p:sp>
      <p:sp>
        <p:nvSpPr>
          <p:cNvPr id="104" name="ovl_s26tb_tk2037"/>
          <p:cNvSpPr txBox="1"/>
          <p:nvPr/>
        </p:nvSpPr>
        <p:spPr>
          <a:xfrm>
            <a:off x="48006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FY37</a:t>
            </a:r>
            <a:endParaRPr lang="en-US" sz="800" dirty="0"/>
          </a:p>
        </p:txBody>
      </p:sp>
      <p:sp>
        <p:nvSpPr>
          <p:cNvPr id="105" name="ovl_s26tb_gl2037"/>
          <p:cNvSpPr/>
          <p:nvPr/>
        </p:nvSpPr>
        <p:spPr>
          <a:xfrm>
            <a:off x="5074920" y="5212080"/>
            <a:ext cx="914" cy="822960"/>
          </a:xfrm>
          <a:prstGeom prst="line">
            <a:avLst/>
          </a:prstGeom>
          <a:noFill/>
          <a:ln w="6350">
            <a:solidFill>
              <a:srgbClr val="D9D9D9"/>
            </a:solidFill>
            <a:prstDash val="dash"/>
          </a:ln>
        </p:spPr>
      </p:sp>
      <p:sp>
        <p:nvSpPr>
          <p:cNvPr id="106" name="ovl_s26tb_tk2042"/>
          <p:cNvSpPr txBox="1"/>
          <p:nvPr/>
        </p:nvSpPr>
        <p:spPr>
          <a:xfrm>
            <a:off x="64008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FY42</a:t>
            </a:r>
            <a:endParaRPr lang="en-US" sz="800" dirty="0"/>
          </a:p>
        </p:txBody>
      </p:sp>
      <p:sp>
        <p:nvSpPr>
          <p:cNvPr id="107" name="ovl_s26tb_gl2042"/>
          <p:cNvSpPr/>
          <p:nvPr/>
        </p:nvSpPr>
        <p:spPr>
          <a:xfrm>
            <a:off x="6675120" y="5212080"/>
            <a:ext cx="914" cy="822960"/>
          </a:xfrm>
          <a:prstGeom prst="line">
            <a:avLst/>
          </a:prstGeom>
          <a:noFill/>
          <a:ln w="6350">
            <a:solidFill>
              <a:srgbClr val="D9D9D9"/>
            </a:solidFill>
            <a:prstDash val="dash"/>
          </a:ln>
        </p:spPr>
      </p:sp>
      <p:sp>
        <p:nvSpPr>
          <p:cNvPr id="108" name="ovl_s26tb_tk2047"/>
          <p:cNvSpPr txBox="1"/>
          <p:nvPr/>
        </p:nvSpPr>
        <p:spPr>
          <a:xfrm>
            <a:off x="80010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FY47</a:t>
            </a:r>
            <a:endParaRPr lang="en-US" sz="800" dirty="0"/>
          </a:p>
        </p:txBody>
      </p:sp>
      <p:sp>
        <p:nvSpPr>
          <p:cNvPr id="109" name="ovl_s26tb_gl2047"/>
          <p:cNvSpPr/>
          <p:nvPr/>
        </p:nvSpPr>
        <p:spPr>
          <a:xfrm>
            <a:off x="8275320" y="5212080"/>
            <a:ext cx="914" cy="822960"/>
          </a:xfrm>
          <a:prstGeom prst="line">
            <a:avLst/>
          </a:prstGeom>
          <a:noFill/>
          <a:ln w="6350">
            <a:solidFill>
              <a:srgbClr val="D9D9D9"/>
            </a:solidFill>
            <a:prstDash val="dash"/>
          </a:ln>
        </p:spPr>
      </p:sp>
      <p:sp>
        <p:nvSpPr>
          <p:cNvPr id="110" name="ovl_s26tb_l0"/>
          <p:cNvSpPr txBox="1"/>
          <p:nvPr/>
        </p:nvSpPr>
        <p:spPr>
          <a:xfrm>
            <a:off x="457200" y="5248656"/>
            <a:ext cx="1344168" cy="196596"/>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GPU の最初の契約</a:t>
            </a:r>
            <a:endParaRPr lang="en-US" sz="850" dirty="0"/>
          </a:p>
        </p:txBody>
      </p:sp>
      <p:sp>
        <p:nvSpPr>
          <p:cNvPr id="111" name="ovl_s26tb_b0"/>
          <p:cNvSpPr/>
          <p:nvPr/>
        </p:nvSpPr>
        <p:spPr>
          <a:xfrm>
            <a:off x="1874520" y="5276179"/>
            <a:ext cx="1600200" cy="141549"/>
          </a:xfrm>
          <a:prstGeom prst="rect">
            <a:avLst/>
          </a:prstGeom>
          <a:solidFill>
            <a:srgbClr val="197A56"/>
          </a:solidFill>
          <a:ln w="12700">
            <a:solidFill>
              <a:srgbClr val="197A56"/>
            </a:solidFill>
            <a:prstDash val="solid"/>
          </a:ln>
        </p:spPr>
      </p:sp>
      <p:sp>
        <p:nvSpPr>
          <p:cNvPr id="112" name="ovl_s26tb_t0"/>
          <p:cNvSpPr txBox="1"/>
          <p:nvPr/>
        </p:nvSpPr>
        <p:spPr>
          <a:xfrm>
            <a:off x="1874520" y="5276179"/>
            <a:ext cx="1600200" cy="141549"/>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5〜6 年</a:t>
            </a:r>
            <a:endParaRPr lang="en-US" sz="800" dirty="0"/>
          </a:p>
        </p:txBody>
      </p:sp>
      <p:sp>
        <p:nvSpPr>
          <p:cNvPr id="113" name="ovl_s26tb_l1"/>
          <p:cNvSpPr txBox="1"/>
          <p:nvPr/>
        </p:nvSpPr>
        <p:spPr>
          <a:xfrm>
            <a:off x="457200" y="5445252"/>
            <a:ext cx="1344168" cy="196596"/>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GPU の償却</a:t>
            </a:r>
            <a:endParaRPr lang="en-US" sz="850" dirty="0"/>
          </a:p>
        </p:txBody>
      </p:sp>
      <p:sp>
        <p:nvSpPr>
          <p:cNvPr id="114" name="ovl_s26tb_b1"/>
          <p:cNvSpPr/>
          <p:nvPr/>
        </p:nvSpPr>
        <p:spPr>
          <a:xfrm>
            <a:off x="1874520" y="5472775"/>
            <a:ext cx="1920240" cy="141549"/>
          </a:xfrm>
          <a:prstGeom prst="rect">
            <a:avLst/>
          </a:prstGeom>
          <a:solidFill>
            <a:srgbClr val="D68910"/>
          </a:solidFill>
          <a:ln w="12700">
            <a:solidFill>
              <a:srgbClr val="D68910"/>
            </a:solidFill>
            <a:prstDash val="solid"/>
          </a:ln>
        </p:spPr>
      </p:sp>
      <p:sp>
        <p:nvSpPr>
          <p:cNvPr id="115" name="ovl_s26tb_t1"/>
          <p:cNvSpPr txBox="1"/>
          <p:nvPr/>
        </p:nvSpPr>
        <p:spPr>
          <a:xfrm>
            <a:off x="1874520" y="5472775"/>
            <a:ext cx="1920240" cy="141549"/>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6 年</a:t>
            </a:r>
            <a:endParaRPr lang="en-US" sz="800" dirty="0"/>
          </a:p>
        </p:txBody>
      </p:sp>
      <p:sp>
        <p:nvSpPr>
          <p:cNvPr id="116" name="ovl_s26tb_l2"/>
          <p:cNvSpPr txBox="1"/>
          <p:nvPr/>
        </p:nvSpPr>
        <p:spPr>
          <a:xfrm>
            <a:off x="457200" y="5641848"/>
            <a:ext cx="1344168" cy="196596"/>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⑤ 建屋のリース</a:t>
            </a:r>
            <a:endParaRPr lang="en-US" sz="850" dirty="0"/>
          </a:p>
        </p:txBody>
      </p:sp>
      <p:sp>
        <p:nvSpPr>
          <p:cNvPr id="117" name="ovl_s26tb_b2"/>
          <p:cNvSpPr/>
          <p:nvPr/>
        </p:nvSpPr>
        <p:spPr>
          <a:xfrm>
            <a:off x="1874520" y="5669371"/>
            <a:ext cx="5760720" cy="141549"/>
          </a:xfrm>
          <a:prstGeom prst="rect">
            <a:avLst/>
          </a:prstGeom>
          <a:solidFill>
            <a:srgbClr val="86C99B"/>
          </a:solidFill>
          <a:ln w="12700">
            <a:solidFill>
              <a:srgbClr val="86C99B"/>
            </a:solidFill>
            <a:prstDash val="solid"/>
          </a:ln>
        </p:spPr>
      </p:sp>
      <p:sp>
        <p:nvSpPr>
          <p:cNvPr id="118" name="ovl_s26tb_t2"/>
          <p:cNvSpPr txBox="1"/>
          <p:nvPr/>
        </p:nvSpPr>
        <p:spPr>
          <a:xfrm>
            <a:off x="1874520" y="5669371"/>
            <a:ext cx="5760720" cy="141549"/>
          </a:xfrm>
          <a:prstGeom prst="rect">
            <a:avLst/>
          </a:prstGeom>
          <a:noFill/>
          <a:ln/>
        </p:spPr>
        <p:txBody>
          <a:bodyPr wrap="square" lIns="0" tIns="0" rIns="0" bIns="0" rtlCol="0" anchor="ctr"/>
          <a:lstStyle/>
          <a:p>
            <a:pPr algn="ctr" indent="0" marL="0">
              <a:buNone/>
            </a:pPr>
            <a:r>
              <a:rPr lang="en-US" sz="800" b="1" dirty="0">
                <a:solidFill>
                  <a:srgbClr val="0E4D33"/>
                </a:solidFill>
                <a:latin typeface="Meiryo UI" pitchFamily="34" charset="0"/>
                <a:ea typeface="Meiryo UI" pitchFamily="34" charset="-122"/>
                <a:cs typeface="Meiryo UI" pitchFamily="34" charset="-120"/>
              </a:rPr>
              <a:t>15〜19 年(GPU の 2〜3 世代分)</a:t>
            </a:r>
            <a:endParaRPr lang="en-US" sz="800" dirty="0"/>
          </a:p>
        </p:txBody>
      </p:sp>
      <p:sp>
        <p:nvSpPr>
          <p:cNvPr id="119" name="ovl_s26tb_l3"/>
          <p:cNvSpPr txBox="1"/>
          <p:nvPr/>
        </p:nvSpPr>
        <p:spPr>
          <a:xfrm>
            <a:off x="457200" y="5838444"/>
            <a:ext cx="1344168" cy="196596"/>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DB の技術・顧客関係</a:t>
            </a:r>
            <a:endParaRPr lang="en-US" sz="850" dirty="0"/>
          </a:p>
        </p:txBody>
      </p:sp>
      <p:sp>
        <p:nvSpPr>
          <p:cNvPr id="120" name="ovl_s26tb_b3"/>
          <p:cNvSpPr/>
          <p:nvPr/>
        </p:nvSpPr>
        <p:spPr>
          <a:xfrm>
            <a:off x="1874520" y="5865967"/>
            <a:ext cx="6400800" cy="141549"/>
          </a:xfrm>
          <a:prstGeom prst="rect">
            <a:avLst/>
          </a:prstGeom>
          <a:solidFill>
            <a:srgbClr val="0E4D33"/>
          </a:solidFill>
          <a:ln w="12700">
            <a:solidFill>
              <a:srgbClr val="0E4D33"/>
            </a:solidFill>
            <a:prstDash val="solid"/>
          </a:ln>
        </p:spPr>
      </p:sp>
      <p:sp>
        <p:nvSpPr>
          <p:cNvPr id="121" name="ovl_s26tb_t3"/>
          <p:cNvSpPr txBox="1"/>
          <p:nvPr/>
        </p:nvSpPr>
        <p:spPr>
          <a:xfrm>
            <a:off x="1874520" y="5865967"/>
            <a:ext cx="6400800" cy="141549"/>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数十年</a:t>
            </a:r>
            <a:endParaRPr lang="en-US" sz="800" dirty="0"/>
          </a:p>
        </p:txBody>
      </p:sp>
      <p:sp>
        <p:nvSpPr>
          <p:cNvPr id="122"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123" name="mech"/>
          <p:cNvSpPr txBox="1"/>
          <p:nvPr/>
        </p:nvSpPr>
        <p:spPr>
          <a:xfrm>
            <a:off x="8458200" y="1810512"/>
            <a:ext cx="3276295" cy="2240280"/>
          </a:xfrm>
          <a:prstGeom prst="rect">
            <a:avLst/>
          </a:prstGeom>
          <a:noFill/>
          <a:ln/>
        </p:spPr>
        <p:txBody>
          <a:bodyPr wrap="square" lIns="381" tIns="381" rIns="381" bIns="381" rtlCol="0" anchor="t"/>
          <a:lstStyle/>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① </a:t>
            </a:r>
            <a:r>
              <a:rPr lang="en-US" sz="1100" dirty="0">
                <a:solidFill>
                  <a:srgbClr val="333333"/>
                </a:solidFill>
                <a:latin typeface="Meiryo UI" pitchFamily="34" charset="0"/>
                <a:ea typeface="Meiryo UI" pitchFamily="34" charset="-122"/>
                <a:cs typeface="Meiryo UI" pitchFamily="34" charset="-120"/>
              </a:rPr>
              <a:t>DB の技術と顧客関係は数十年使われ、保守料で回収が続く</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② </a:t>
            </a:r>
            <a:r>
              <a:rPr lang="en-US" sz="1100" dirty="0">
                <a:solidFill>
                  <a:srgbClr val="333333"/>
                </a:solidFill>
                <a:latin typeface="Meiryo UI" pitchFamily="34" charset="0"/>
                <a:ea typeface="Meiryo UI" pitchFamily="34" charset="-122"/>
                <a:cs typeface="Meiryo UI" pitchFamily="34" charset="-120"/>
              </a:rPr>
              <a:t>GPU は最初の 5〜6 年の契約で償却の大半を回収する(契約期間 ≒ 償却期間)</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③ </a:t>
            </a:r>
            <a:r>
              <a:rPr lang="en-US" sz="1100" dirty="0">
                <a:solidFill>
                  <a:srgbClr val="333333"/>
                </a:solidFill>
                <a:latin typeface="Meiryo UI" pitchFamily="34" charset="0"/>
                <a:ea typeface="Meiryo UI" pitchFamily="34" charset="-122"/>
                <a:cs typeface="Meiryo UI" pitchFamily="34" charset="-120"/>
              </a:rPr>
              <a:t>更新期の GPU は従来比 +20% で更新・再販。CoreWeave も H100 を元の 95% で再契約</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④ </a:t>
            </a:r>
            <a:r>
              <a:rPr lang="en-US" sz="1100" dirty="0">
                <a:solidFill>
                  <a:srgbClr val="333333"/>
                </a:solidFill>
                <a:latin typeface="Meiryo UI" pitchFamily="34" charset="0"/>
                <a:ea typeface="Meiryo UI" pitchFamily="34" charset="-122"/>
                <a:cs typeface="Meiryo UI" pitchFamily="34" charset="-120"/>
              </a:rPr>
              <a:t>新世代(Rubin は電力あたり約 10 倍)が出ると、電力が限られる中で旧世代の置き換えを迫られる</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⑤ </a:t>
            </a:r>
            <a:r>
              <a:rPr lang="en-US" sz="1100" dirty="0">
                <a:solidFill>
                  <a:srgbClr val="333333"/>
                </a:solidFill>
                <a:latin typeface="Meiryo UI" pitchFamily="34" charset="0"/>
                <a:ea typeface="Meiryo UI" pitchFamily="34" charset="-122"/>
                <a:cs typeface="Meiryo UI" pitchFamily="34" charset="-120"/>
              </a:rPr>
              <a:t>建屋のリースは 15〜19 年で GPU の 2〜3 世代分。需要が鈍れば固定費として残る</a:t>
            </a:r>
            <a:endParaRPr lang="en-US" sz="1100" dirty="0"/>
          </a:p>
        </p:txBody>
      </p:sp>
      <p:sp>
        <p:nvSpPr>
          <p:cNvPr id="124" name="ovl_takeaway_bg"/>
          <p:cNvSpPr/>
          <p:nvPr/>
        </p:nvSpPr>
        <p:spPr>
          <a:xfrm>
            <a:off x="8458200" y="4419600"/>
            <a:ext cx="3276295" cy="1005840"/>
          </a:xfrm>
          <a:prstGeom prst="rect">
            <a:avLst/>
          </a:prstGeom>
          <a:solidFill>
            <a:srgbClr val="EAF4EE"/>
          </a:solidFill>
          <a:ln w="12700">
            <a:solidFill>
              <a:srgbClr val="EAF4EE"/>
            </a:solidFill>
            <a:prstDash val="solid"/>
          </a:ln>
        </p:spPr>
      </p:sp>
      <p:sp>
        <p:nvSpPr>
          <p:cNvPr id="125" name="takeaway"/>
          <p:cNvSpPr txBox="1"/>
          <p:nvPr/>
        </p:nvSpPr>
        <p:spPr>
          <a:xfrm>
            <a:off x="8567928" y="4492752"/>
            <a:ext cx="3056839" cy="859536"/>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経済的寿命が会計の耐用年数以上であることを</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示す証拠が優勢。ただし電力制約の下での</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世代交代の速さが残るため B</a:t>
            </a:r>
            <a:endParaRPr lang="en-US" sz="1000" dirty="0"/>
          </a:p>
        </p:txBody>
      </p:sp>
      <p:sp>
        <p:nvSpPr>
          <p:cNvPr id="126" name="updown"/>
          <p:cNvSpPr txBox="1"/>
          <p:nvPr/>
        </p:nvSpPr>
        <p:spPr>
          <a:xfrm>
            <a:off x="8458200" y="5498592"/>
            <a:ext cx="3276295" cy="59131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大型契約の更新(2031 年〜)で元の単価の</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6 割以上が確認できれば A</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更新プレミアムが 0% 以下に落ちれば C</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(3 年耐用なら EPS −17%、JPMorgan AM の試算)</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3-4 製品と設備の性格(条件8〜12)(4/5)</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9316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9316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模倣困難性(条件11)</a:t>
            </a:r>
            <a:endParaRPr lang="en-US" sz="1000" dirty="0"/>
          </a:p>
        </p:txBody>
      </p:sp>
      <p:sp>
        <p:nvSpPr>
          <p:cNvPr id="14" name="hdr_why"/>
          <p:cNvSpPr txBox="1"/>
          <p:nvPr/>
        </p:nvSpPr>
        <p:spPr>
          <a:xfrm>
            <a:off x="2535174" y="356616"/>
            <a:ext cx="91993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真似できない資産があれば超過利益が長く続く。何が再現困難かを分けて見る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DB の顧客基盤と他社クラウド内の配置は再現が難しいが、</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AI 容量は資本と電力があれば 2〜4 年で再現できる</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左から: Oracle の資産 → 再現に要るもの → 再現にかかる時間 ← 競合。①〜④ は右と対応</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research3/W3_industry_structure.md、research4/T5_supply_components.md、research4/T2_company_rpo_capacity.md、GE Vernova・PJM の開示</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30</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条件11</a:t>
            </a:r>
            <a:endParaRPr lang="en-US" sz="800" dirty="0"/>
          </a:p>
        </p:txBody>
      </p:sp>
      <p:sp>
        <p:nvSpPr>
          <p:cNvPr id="22" name="bg_lane0"/>
          <p:cNvSpPr/>
          <p:nvPr/>
        </p:nvSpPr>
        <p:spPr>
          <a:xfrm>
            <a:off x="347472" y="1517904"/>
            <a:ext cx="1545336" cy="4315968"/>
          </a:xfrm>
          <a:prstGeom prst="rect">
            <a:avLst/>
          </a:prstGeom>
          <a:solidFill>
            <a:srgbClr val="EAF4EE"/>
          </a:solidFill>
          <a:ln w="12700">
            <a:solidFill>
              <a:srgbClr val="EAF4EE"/>
            </a:solidFill>
            <a:prstDash val="solid"/>
          </a:ln>
        </p:spPr>
      </p:sp>
      <p:sp>
        <p:nvSpPr>
          <p:cNvPr id="23" name="bg_laneh0"/>
          <p:cNvSpPr/>
          <p:nvPr/>
        </p:nvSpPr>
        <p:spPr>
          <a:xfrm>
            <a:off x="347472" y="1517904"/>
            <a:ext cx="1545336" cy="274320"/>
          </a:xfrm>
          <a:prstGeom prst="rect">
            <a:avLst/>
          </a:prstGeom>
          <a:solidFill>
            <a:srgbClr val="197A56"/>
          </a:solidFill>
          <a:ln w="12700">
            <a:solidFill>
              <a:srgbClr val="197A56"/>
            </a:solidFill>
            <a:prstDash val="solid"/>
          </a:ln>
        </p:spPr>
      </p:sp>
      <p:sp>
        <p:nvSpPr>
          <p:cNvPr id="24" name="bg_lanet0"/>
          <p:cNvSpPr txBox="1"/>
          <p:nvPr/>
        </p:nvSpPr>
        <p:spPr>
          <a:xfrm>
            <a:off x="347472" y="1517904"/>
            <a:ext cx="154533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 の資産</a:t>
            </a:r>
            <a:endParaRPr lang="en-US" sz="950" dirty="0"/>
          </a:p>
        </p:txBody>
      </p:sp>
      <p:sp>
        <p:nvSpPr>
          <p:cNvPr id="25" name="bg_lane1"/>
          <p:cNvSpPr/>
          <p:nvPr/>
        </p:nvSpPr>
        <p:spPr>
          <a:xfrm>
            <a:off x="2572512" y="1517904"/>
            <a:ext cx="1591056" cy="4315968"/>
          </a:xfrm>
          <a:prstGeom prst="rect">
            <a:avLst/>
          </a:prstGeom>
          <a:solidFill>
            <a:srgbClr val="F2F2F2"/>
          </a:solidFill>
          <a:ln w="12700">
            <a:solidFill>
              <a:srgbClr val="F2F2F2"/>
            </a:solidFill>
            <a:prstDash val="solid"/>
          </a:ln>
        </p:spPr>
      </p:sp>
      <p:sp>
        <p:nvSpPr>
          <p:cNvPr id="26" name="bg_laneh1"/>
          <p:cNvSpPr/>
          <p:nvPr/>
        </p:nvSpPr>
        <p:spPr>
          <a:xfrm>
            <a:off x="2572512" y="1517904"/>
            <a:ext cx="1591056" cy="274320"/>
          </a:xfrm>
          <a:prstGeom prst="rect">
            <a:avLst/>
          </a:prstGeom>
          <a:solidFill>
            <a:srgbClr val="D9D9D9"/>
          </a:solidFill>
          <a:ln w="12700">
            <a:solidFill>
              <a:srgbClr val="D9D9D9"/>
            </a:solidFill>
            <a:prstDash val="solid"/>
          </a:ln>
        </p:spPr>
      </p:sp>
      <p:sp>
        <p:nvSpPr>
          <p:cNvPr id="27" name="bg_lanet1"/>
          <p:cNvSpPr txBox="1"/>
          <p:nvPr/>
        </p:nvSpPr>
        <p:spPr>
          <a:xfrm>
            <a:off x="2572512" y="1517904"/>
            <a:ext cx="159105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再現に要るもの</a:t>
            </a:r>
            <a:endParaRPr lang="en-US" sz="950" dirty="0"/>
          </a:p>
        </p:txBody>
      </p:sp>
      <p:sp>
        <p:nvSpPr>
          <p:cNvPr id="28" name="bg_lane2"/>
          <p:cNvSpPr/>
          <p:nvPr/>
        </p:nvSpPr>
        <p:spPr>
          <a:xfrm>
            <a:off x="4843272" y="1517904"/>
            <a:ext cx="1316736" cy="4315968"/>
          </a:xfrm>
          <a:prstGeom prst="rect">
            <a:avLst/>
          </a:prstGeom>
          <a:solidFill>
            <a:srgbClr val="F2F2F2"/>
          </a:solidFill>
          <a:ln w="12700">
            <a:solidFill>
              <a:srgbClr val="F2F2F2"/>
            </a:solidFill>
            <a:prstDash val="solid"/>
          </a:ln>
        </p:spPr>
      </p:sp>
      <p:sp>
        <p:nvSpPr>
          <p:cNvPr id="29" name="bg_laneh2"/>
          <p:cNvSpPr/>
          <p:nvPr/>
        </p:nvSpPr>
        <p:spPr>
          <a:xfrm>
            <a:off x="4843272" y="1517904"/>
            <a:ext cx="1316736" cy="274320"/>
          </a:xfrm>
          <a:prstGeom prst="rect">
            <a:avLst/>
          </a:prstGeom>
          <a:solidFill>
            <a:srgbClr val="D9D9D9"/>
          </a:solidFill>
          <a:ln w="12700">
            <a:solidFill>
              <a:srgbClr val="D9D9D9"/>
            </a:solidFill>
            <a:prstDash val="solid"/>
          </a:ln>
        </p:spPr>
      </p:sp>
      <p:sp>
        <p:nvSpPr>
          <p:cNvPr id="30" name="bg_lanet2"/>
          <p:cNvSpPr txBox="1"/>
          <p:nvPr/>
        </p:nvSpPr>
        <p:spPr>
          <a:xfrm>
            <a:off x="4843272" y="1517904"/>
            <a:ext cx="131673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時間</a:t>
            </a:r>
            <a:endParaRPr lang="en-US" sz="950" dirty="0"/>
          </a:p>
        </p:txBody>
      </p:sp>
      <p:sp>
        <p:nvSpPr>
          <p:cNvPr id="31" name="bg_lane3"/>
          <p:cNvSpPr/>
          <p:nvPr/>
        </p:nvSpPr>
        <p:spPr>
          <a:xfrm>
            <a:off x="6839712" y="1517904"/>
            <a:ext cx="1545336" cy="4315968"/>
          </a:xfrm>
          <a:prstGeom prst="rect">
            <a:avLst/>
          </a:prstGeom>
          <a:solidFill>
            <a:srgbClr val="F2F2F2"/>
          </a:solidFill>
          <a:ln w="12700">
            <a:solidFill>
              <a:srgbClr val="F2F2F2"/>
            </a:solidFill>
            <a:prstDash val="solid"/>
          </a:ln>
        </p:spPr>
      </p:sp>
      <p:sp>
        <p:nvSpPr>
          <p:cNvPr id="32" name="bg_laneh3"/>
          <p:cNvSpPr/>
          <p:nvPr/>
        </p:nvSpPr>
        <p:spPr>
          <a:xfrm>
            <a:off x="6839712" y="1517904"/>
            <a:ext cx="1545336" cy="274320"/>
          </a:xfrm>
          <a:prstGeom prst="rect">
            <a:avLst/>
          </a:prstGeom>
          <a:solidFill>
            <a:srgbClr val="D9D9D9"/>
          </a:solidFill>
          <a:ln w="12700">
            <a:solidFill>
              <a:srgbClr val="D9D9D9"/>
            </a:solidFill>
            <a:prstDash val="solid"/>
          </a:ln>
        </p:spPr>
      </p:sp>
      <p:sp>
        <p:nvSpPr>
          <p:cNvPr id="33" name="bg_lanet3"/>
          <p:cNvSpPr txBox="1"/>
          <p:nvPr/>
        </p:nvSpPr>
        <p:spPr>
          <a:xfrm>
            <a:off x="6839712" y="1517904"/>
            <a:ext cx="154533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競合</a:t>
            </a:r>
            <a:endParaRPr lang="en-US" sz="950" dirty="0"/>
          </a:p>
        </p:txBody>
      </p:sp>
      <p:sp>
        <p:nvSpPr>
          <p:cNvPr id="34" name="ovl_s27_e0_0"/>
          <p:cNvSpPr/>
          <p:nvPr/>
        </p:nvSpPr>
        <p:spPr>
          <a:xfrm>
            <a:off x="1783080" y="2375154"/>
            <a:ext cx="899160" cy="914"/>
          </a:xfrm>
          <a:prstGeom prst="line">
            <a:avLst/>
          </a:prstGeom>
          <a:noFill/>
          <a:ln w="12700">
            <a:solidFill>
              <a:srgbClr val="767676"/>
            </a:solidFill>
            <a:prstDash val="sysDash"/>
            <a:tailEnd type="triangle"/>
          </a:ln>
        </p:spPr>
      </p:sp>
      <p:sp>
        <p:nvSpPr>
          <p:cNvPr id="35" name="ovl_s27_e1_0"/>
          <p:cNvSpPr/>
          <p:nvPr/>
        </p:nvSpPr>
        <p:spPr>
          <a:xfrm>
            <a:off x="4053840" y="2375154"/>
            <a:ext cx="899160" cy="914"/>
          </a:xfrm>
          <a:prstGeom prst="line">
            <a:avLst/>
          </a:prstGeom>
          <a:noFill/>
          <a:ln w="12700">
            <a:solidFill>
              <a:srgbClr val="767676"/>
            </a:solidFill>
            <a:prstDash val="sysDash"/>
            <a:tailEnd type="triangle"/>
          </a:ln>
        </p:spPr>
      </p:sp>
      <p:sp>
        <p:nvSpPr>
          <p:cNvPr id="36" name="ovl_s27_e2_0"/>
          <p:cNvSpPr/>
          <p:nvPr/>
        </p:nvSpPr>
        <p:spPr>
          <a:xfrm flipH="1">
            <a:off x="6050280" y="2375154"/>
            <a:ext cx="899160" cy="914"/>
          </a:xfrm>
          <a:prstGeom prst="line">
            <a:avLst/>
          </a:prstGeom>
          <a:noFill/>
          <a:ln w="15875">
            <a:solidFill>
              <a:srgbClr val="C0392B"/>
            </a:solidFill>
            <a:prstDash val="dash"/>
            <a:tailEnd type="triangle"/>
          </a:ln>
        </p:spPr>
      </p:sp>
      <p:sp>
        <p:nvSpPr>
          <p:cNvPr id="37" name="ovl_s27_e3_0"/>
          <p:cNvSpPr/>
          <p:nvPr/>
        </p:nvSpPr>
        <p:spPr>
          <a:xfrm>
            <a:off x="1783080" y="3358134"/>
            <a:ext cx="899160" cy="914"/>
          </a:xfrm>
          <a:prstGeom prst="line">
            <a:avLst/>
          </a:prstGeom>
          <a:noFill/>
          <a:ln w="12700">
            <a:solidFill>
              <a:srgbClr val="767676"/>
            </a:solidFill>
            <a:prstDash val="sysDash"/>
            <a:tailEnd type="triangle"/>
          </a:ln>
        </p:spPr>
      </p:sp>
      <p:sp>
        <p:nvSpPr>
          <p:cNvPr id="38" name="ovl_s27_e4_0"/>
          <p:cNvSpPr/>
          <p:nvPr/>
        </p:nvSpPr>
        <p:spPr>
          <a:xfrm>
            <a:off x="4053840" y="3358134"/>
            <a:ext cx="899160" cy="914"/>
          </a:xfrm>
          <a:prstGeom prst="line">
            <a:avLst/>
          </a:prstGeom>
          <a:noFill/>
          <a:ln w="12700">
            <a:solidFill>
              <a:srgbClr val="767676"/>
            </a:solidFill>
            <a:prstDash val="sysDash"/>
            <a:tailEnd type="triangle"/>
          </a:ln>
        </p:spPr>
      </p:sp>
      <p:sp>
        <p:nvSpPr>
          <p:cNvPr id="39" name="ovl_s27_e5_0"/>
          <p:cNvSpPr/>
          <p:nvPr/>
        </p:nvSpPr>
        <p:spPr>
          <a:xfrm flipH="1">
            <a:off x="6050280" y="3358134"/>
            <a:ext cx="899160" cy="914"/>
          </a:xfrm>
          <a:prstGeom prst="line">
            <a:avLst/>
          </a:prstGeom>
          <a:noFill/>
          <a:ln w="15875">
            <a:solidFill>
              <a:srgbClr val="C0392B"/>
            </a:solidFill>
            <a:prstDash val="dash"/>
            <a:tailEnd type="triangle"/>
          </a:ln>
        </p:spPr>
      </p:sp>
      <p:sp>
        <p:nvSpPr>
          <p:cNvPr id="40" name="ovl_s27_e6_0"/>
          <p:cNvSpPr/>
          <p:nvPr/>
        </p:nvSpPr>
        <p:spPr>
          <a:xfrm>
            <a:off x="1783080" y="4341114"/>
            <a:ext cx="899160" cy="914"/>
          </a:xfrm>
          <a:prstGeom prst="line">
            <a:avLst/>
          </a:prstGeom>
          <a:noFill/>
          <a:ln w="12700">
            <a:solidFill>
              <a:srgbClr val="767676"/>
            </a:solidFill>
            <a:prstDash val="sysDash"/>
            <a:tailEnd type="triangle"/>
          </a:ln>
        </p:spPr>
      </p:sp>
      <p:sp>
        <p:nvSpPr>
          <p:cNvPr id="41" name="ovl_s27_e7_0"/>
          <p:cNvSpPr/>
          <p:nvPr/>
        </p:nvSpPr>
        <p:spPr>
          <a:xfrm>
            <a:off x="4053840" y="4341114"/>
            <a:ext cx="899160" cy="914"/>
          </a:xfrm>
          <a:prstGeom prst="line">
            <a:avLst/>
          </a:prstGeom>
          <a:noFill/>
          <a:ln w="12700">
            <a:solidFill>
              <a:srgbClr val="767676"/>
            </a:solidFill>
            <a:prstDash val="sysDash"/>
            <a:tailEnd type="triangle"/>
          </a:ln>
        </p:spPr>
      </p:sp>
      <p:sp>
        <p:nvSpPr>
          <p:cNvPr id="42" name="ovl_s27_e8_0"/>
          <p:cNvSpPr/>
          <p:nvPr/>
        </p:nvSpPr>
        <p:spPr>
          <a:xfrm flipH="1">
            <a:off x="6050280" y="4341114"/>
            <a:ext cx="899160" cy="914"/>
          </a:xfrm>
          <a:prstGeom prst="line">
            <a:avLst/>
          </a:prstGeom>
          <a:noFill/>
          <a:ln w="15875">
            <a:solidFill>
              <a:srgbClr val="C0392B"/>
            </a:solidFill>
            <a:prstDash val="dash"/>
            <a:tailEnd type="triangle"/>
          </a:ln>
        </p:spPr>
      </p:sp>
      <p:sp>
        <p:nvSpPr>
          <p:cNvPr id="43" name="ovl_s27_e9_0"/>
          <p:cNvSpPr/>
          <p:nvPr/>
        </p:nvSpPr>
        <p:spPr>
          <a:xfrm>
            <a:off x="1783080" y="5324094"/>
            <a:ext cx="899160" cy="914"/>
          </a:xfrm>
          <a:prstGeom prst="line">
            <a:avLst/>
          </a:prstGeom>
          <a:noFill/>
          <a:ln w="12700">
            <a:solidFill>
              <a:srgbClr val="767676"/>
            </a:solidFill>
            <a:prstDash val="sysDash"/>
            <a:tailEnd type="triangle"/>
          </a:ln>
        </p:spPr>
      </p:sp>
      <p:sp>
        <p:nvSpPr>
          <p:cNvPr id="44" name="ovl_s27_e10_0"/>
          <p:cNvSpPr/>
          <p:nvPr/>
        </p:nvSpPr>
        <p:spPr>
          <a:xfrm>
            <a:off x="4053840" y="5324094"/>
            <a:ext cx="899160" cy="914"/>
          </a:xfrm>
          <a:prstGeom prst="line">
            <a:avLst/>
          </a:prstGeom>
          <a:noFill/>
          <a:ln w="12700">
            <a:solidFill>
              <a:srgbClr val="767676"/>
            </a:solidFill>
            <a:prstDash val="sysDash"/>
            <a:tailEnd type="triangle"/>
          </a:ln>
        </p:spPr>
      </p:sp>
      <p:sp>
        <p:nvSpPr>
          <p:cNvPr id="45" name="ovl_s27_e11_0"/>
          <p:cNvSpPr/>
          <p:nvPr/>
        </p:nvSpPr>
        <p:spPr>
          <a:xfrm flipH="1">
            <a:off x="6050280" y="5324094"/>
            <a:ext cx="899160" cy="914"/>
          </a:xfrm>
          <a:prstGeom prst="line">
            <a:avLst/>
          </a:prstGeom>
          <a:noFill/>
          <a:ln w="15875">
            <a:solidFill>
              <a:srgbClr val="C0392B"/>
            </a:solidFill>
            <a:prstDash val="dash"/>
            <a:tailEnd type="triangle"/>
          </a:ln>
        </p:spPr>
      </p:sp>
      <p:sp>
        <p:nvSpPr>
          <p:cNvPr id="46" name="ovl_s27_n_base"/>
          <p:cNvSpPr/>
          <p:nvPr/>
        </p:nvSpPr>
        <p:spPr>
          <a:xfrm>
            <a:off x="457200" y="2000250"/>
            <a:ext cx="1325880" cy="749808"/>
          </a:xfrm>
          <a:prstGeom prst="roundRect">
            <a:avLst>
              <a:gd name="adj" fmla="val 7317"/>
            </a:avLst>
          </a:prstGeom>
          <a:solidFill>
            <a:srgbClr val="EAF4EE"/>
          </a:solidFill>
          <a:ln w="9525">
            <a:solidFill>
              <a:srgbClr val="86C99B"/>
            </a:solidFill>
            <a:prstDash val="solid"/>
          </a:ln>
        </p:spPr>
      </p:sp>
      <p:sp>
        <p:nvSpPr>
          <p:cNvPr id="47" name="ovl_s27_nt_base"/>
          <p:cNvSpPr txBox="1"/>
          <p:nvPr/>
        </p:nvSpPr>
        <p:spPr>
          <a:xfrm>
            <a:off x="493776" y="202768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DB の顧客基盤</a:t>
            </a:r>
            <a:endParaRPr lang="en-US" sz="1000" dirty="0"/>
          </a:p>
        </p:txBody>
      </p:sp>
      <p:sp>
        <p:nvSpPr>
          <p:cNvPr id="48" name="ovl_s27_ns_base"/>
          <p:cNvSpPr txBox="1"/>
          <p:nvPr/>
        </p:nvSpPr>
        <p:spPr>
          <a:xfrm>
            <a:off x="502920" y="223342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数十年の導入実績</a:t>
            </a:r>
            <a:endParaRPr lang="en-US" sz="850" dirty="0"/>
          </a:p>
        </p:txBody>
      </p:sp>
      <p:sp>
        <p:nvSpPr>
          <p:cNvPr id="49" name="ovl_s27_n_place"/>
          <p:cNvSpPr/>
          <p:nvPr/>
        </p:nvSpPr>
        <p:spPr>
          <a:xfrm>
            <a:off x="457200" y="2983230"/>
            <a:ext cx="1325880" cy="749808"/>
          </a:xfrm>
          <a:prstGeom prst="roundRect">
            <a:avLst>
              <a:gd name="adj" fmla="val 7317"/>
            </a:avLst>
          </a:prstGeom>
          <a:solidFill>
            <a:srgbClr val="EAF4EE"/>
          </a:solidFill>
          <a:ln w="9525">
            <a:solidFill>
              <a:srgbClr val="86C99B"/>
            </a:solidFill>
            <a:prstDash val="solid"/>
          </a:ln>
        </p:spPr>
      </p:sp>
      <p:sp>
        <p:nvSpPr>
          <p:cNvPr id="50" name="ovl_s27_nt_place"/>
          <p:cNvSpPr txBox="1"/>
          <p:nvPr/>
        </p:nvSpPr>
        <p:spPr>
          <a:xfrm>
            <a:off x="493776" y="301066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Database@ の配置</a:t>
            </a:r>
            <a:endParaRPr lang="en-US" sz="1000" dirty="0"/>
          </a:p>
        </p:txBody>
      </p:sp>
      <p:sp>
        <p:nvSpPr>
          <p:cNvPr id="51" name="ovl_s27_ns_place"/>
          <p:cNvSpPr txBox="1"/>
          <p:nvPr/>
        </p:nvSpPr>
        <p:spPr>
          <a:xfrm>
            <a:off x="502920" y="321640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70 リージョン</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119 AZ</a:t>
            </a:r>
            <a:endParaRPr lang="en-US" sz="850" dirty="0"/>
          </a:p>
        </p:txBody>
      </p:sp>
      <p:sp>
        <p:nvSpPr>
          <p:cNvPr id="52" name="ovl_s27_n_cap"/>
          <p:cNvSpPr/>
          <p:nvPr/>
        </p:nvSpPr>
        <p:spPr>
          <a:xfrm>
            <a:off x="457200" y="3966210"/>
            <a:ext cx="1325880" cy="749808"/>
          </a:xfrm>
          <a:prstGeom prst="roundRect">
            <a:avLst>
              <a:gd name="adj" fmla="val 7317"/>
            </a:avLst>
          </a:prstGeom>
          <a:solidFill>
            <a:srgbClr val="FFFFFF"/>
          </a:solidFill>
          <a:ln w="19050">
            <a:solidFill>
              <a:srgbClr val="197A56"/>
            </a:solidFill>
            <a:prstDash val="solid"/>
          </a:ln>
        </p:spPr>
      </p:sp>
      <p:sp>
        <p:nvSpPr>
          <p:cNvPr id="53" name="ovl_s27_nt_cap"/>
          <p:cNvSpPr txBox="1"/>
          <p:nvPr/>
        </p:nvSpPr>
        <p:spPr>
          <a:xfrm>
            <a:off x="493776" y="399364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容量</a:t>
            </a:r>
            <a:endParaRPr lang="en-US" sz="1000" dirty="0"/>
          </a:p>
        </p:txBody>
      </p:sp>
      <p:sp>
        <p:nvSpPr>
          <p:cNvPr id="54" name="ovl_s27_ns_cap"/>
          <p:cNvSpPr txBox="1"/>
          <p:nvPr/>
        </p:nvSpPr>
        <p:spPr>
          <a:xfrm>
            <a:off x="502920" y="419938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10GW 超を確保</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(FY29 まで)</a:t>
            </a:r>
            <a:endParaRPr lang="en-US" sz="850" dirty="0"/>
          </a:p>
        </p:txBody>
      </p:sp>
      <p:sp>
        <p:nvSpPr>
          <p:cNvPr id="55" name="ovl_s27_n_bld"/>
          <p:cNvSpPr/>
          <p:nvPr/>
        </p:nvSpPr>
        <p:spPr>
          <a:xfrm>
            <a:off x="457200" y="4949190"/>
            <a:ext cx="1325880" cy="749808"/>
          </a:xfrm>
          <a:prstGeom prst="roundRect">
            <a:avLst>
              <a:gd name="adj" fmla="val 7317"/>
            </a:avLst>
          </a:prstGeom>
          <a:solidFill>
            <a:srgbClr val="FFFFFF"/>
          </a:solidFill>
          <a:ln w="19050">
            <a:solidFill>
              <a:srgbClr val="197A56"/>
            </a:solidFill>
            <a:prstDash val="solid"/>
          </a:ln>
        </p:spPr>
      </p:sp>
      <p:sp>
        <p:nvSpPr>
          <p:cNvPr id="56" name="ovl_s27_nt_bld"/>
          <p:cNvSpPr txBox="1"/>
          <p:nvPr/>
        </p:nvSpPr>
        <p:spPr>
          <a:xfrm>
            <a:off x="493776" y="497662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電力付きの建屋</a:t>
            </a:r>
            <a:endParaRPr lang="en-US" sz="1000" dirty="0"/>
          </a:p>
        </p:txBody>
      </p:sp>
      <p:sp>
        <p:nvSpPr>
          <p:cNvPr id="57" name="ovl_s27_ns_bld"/>
          <p:cNvSpPr txBox="1"/>
          <p:nvPr/>
        </p:nvSpPr>
        <p:spPr>
          <a:xfrm>
            <a:off x="502920" y="518236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90% 超を</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パートナーが負担</a:t>
            </a:r>
            <a:endParaRPr lang="en-US" sz="850" dirty="0"/>
          </a:p>
        </p:txBody>
      </p:sp>
      <p:sp>
        <p:nvSpPr>
          <p:cNvPr id="58" name="ovl_s27_n_mig"/>
          <p:cNvSpPr/>
          <p:nvPr/>
        </p:nvSpPr>
        <p:spPr>
          <a:xfrm>
            <a:off x="2682240" y="2000250"/>
            <a:ext cx="1371600" cy="749808"/>
          </a:xfrm>
          <a:prstGeom prst="roundRect">
            <a:avLst>
              <a:gd name="adj" fmla="val 7317"/>
            </a:avLst>
          </a:prstGeom>
          <a:solidFill>
            <a:srgbClr val="FFFFFF"/>
          </a:solidFill>
          <a:ln w="9525">
            <a:solidFill>
              <a:srgbClr val="767676"/>
            </a:solidFill>
            <a:prstDash val="solid"/>
          </a:ln>
        </p:spPr>
      </p:sp>
      <p:sp>
        <p:nvSpPr>
          <p:cNvPr id="59" name="ovl_s27_nt_mig"/>
          <p:cNvSpPr txBox="1"/>
          <p:nvPr/>
        </p:nvSpPr>
        <p:spPr>
          <a:xfrm>
            <a:off x="2718816" y="2027682"/>
            <a:ext cx="1298448"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データ移行・</a:t>
            </a:r>
            <a:endParaRPr lang="en-US" sz="900" dirty="0"/>
          </a:p>
          <a:p>
            <a:pPr algn="ctr" indent="0" marL="0">
              <a:buNone/>
            </a:pPr>
            <a:r>
              <a:rPr lang="en-US" sz="900" b="1" dirty="0">
                <a:solidFill>
                  <a:srgbClr val="0E4D33"/>
                </a:solidFill>
                <a:latin typeface="Meiryo UI" pitchFamily="34" charset="0"/>
                <a:ea typeface="Meiryo UI" pitchFamily="34" charset="-122"/>
                <a:cs typeface="Meiryo UI" pitchFamily="34" charset="-120"/>
              </a:rPr>
              <a:t>アプリ改修</a:t>
            </a:r>
            <a:endParaRPr lang="en-US" sz="900" dirty="0"/>
          </a:p>
        </p:txBody>
      </p:sp>
      <p:sp>
        <p:nvSpPr>
          <p:cNvPr id="60" name="ovl_s27_ns_mig"/>
          <p:cNvSpPr txBox="1"/>
          <p:nvPr/>
        </p:nvSpPr>
        <p:spPr>
          <a:xfrm>
            <a:off x="2727960" y="2384298"/>
            <a:ext cx="1280160" cy="3383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顧客側に数年</a:t>
            </a:r>
            <a:endParaRPr lang="en-US" sz="850" dirty="0"/>
          </a:p>
        </p:txBody>
      </p:sp>
      <p:sp>
        <p:nvSpPr>
          <p:cNvPr id="61" name="ovl_s27_n_part"/>
          <p:cNvSpPr/>
          <p:nvPr/>
        </p:nvSpPr>
        <p:spPr>
          <a:xfrm>
            <a:off x="2682240" y="2983230"/>
            <a:ext cx="1371600" cy="749808"/>
          </a:xfrm>
          <a:prstGeom prst="roundRect">
            <a:avLst>
              <a:gd name="adj" fmla="val 7317"/>
            </a:avLst>
          </a:prstGeom>
          <a:solidFill>
            <a:srgbClr val="FFFFFF"/>
          </a:solidFill>
          <a:ln w="9525">
            <a:solidFill>
              <a:srgbClr val="767676"/>
            </a:solidFill>
            <a:prstDash val="solid"/>
          </a:ln>
        </p:spPr>
      </p:sp>
      <p:sp>
        <p:nvSpPr>
          <p:cNvPr id="62" name="ovl_s27_nt_part"/>
          <p:cNvSpPr txBox="1"/>
          <p:nvPr/>
        </p:nvSpPr>
        <p:spPr>
          <a:xfrm>
            <a:off x="2718816" y="3010662"/>
            <a:ext cx="1298448" cy="205740"/>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競合クラウドとの提携</a:t>
            </a:r>
            <a:endParaRPr lang="en-US" sz="900" dirty="0"/>
          </a:p>
        </p:txBody>
      </p:sp>
      <p:sp>
        <p:nvSpPr>
          <p:cNvPr id="63" name="ovl_s27_ns_part"/>
          <p:cNvSpPr txBox="1"/>
          <p:nvPr/>
        </p:nvSpPr>
        <p:spPr>
          <a:xfrm>
            <a:off x="2727960" y="3216402"/>
            <a:ext cx="128016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AWS・Azure・Google</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の合意</a:t>
            </a:r>
            <a:endParaRPr lang="en-US" sz="850" dirty="0"/>
          </a:p>
        </p:txBody>
      </p:sp>
      <p:sp>
        <p:nvSpPr>
          <p:cNvPr id="64" name="ovl_s27_n_money"/>
          <p:cNvSpPr/>
          <p:nvPr/>
        </p:nvSpPr>
        <p:spPr>
          <a:xfrm>
            <a:off x="2682240" y="3966210"/>
            <a:ext cx="1371600" cy="749808"/>
          </a:xfrm>
          <a:prstGeom prst="roundRect">
            <a:avLst>
              <a:gd name="adj" fmla="val 7317"/>
            </a:avLst>
          </a:prstGeom>
          <a:solidFill>
            <a:srgbClr val="FFFFFF"/>
          </a:solidFill>
          <a:ln w="9525">
            <a:solidFill>
              <a:srgbClr val="767676"/>
            </a:solidFill>
            <a:prstDash val="solid"/>
          </a:ln>
        </p:spPr>
      </p:sp>
      <p:sp>
        <p:nvSpPr>
          <p:cNvPr id="65" name="ovl_s27_nt_money"/>
          <p:cNvSpPr txBox="1"/>
          <p:nvPr/>
        </p:nvSpPr>
        <p:spPr>
          <a:xfrm>
            <a:off x="2718816" y="3993642"/>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資本</a:t>
            </a:r>
            <a:endParaRPr lang="en-US" sz="1000" dirty="0"/>
          </a:p>
        </p:txBody>
      </p:sp>
      <p:sp>
        <p:nvSpPr>
          <p:cNvPr id="66" name="ovl_s27_ns_money"/>
          <p:cNvSpPr txBox="1"/>
          <p:nvPr/>
        </p:nvSpPr>
        <p:spPr>
          <a:xfrm>
            <a:off x="2727960" y="4199382"/>
            <a:ext cx="128016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1GW あたり</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数百億ドル</a:t>
            </a:r>
            <a:endParaRPr lang="en-US" sz="850" dirty="0"/>
          </a:p>
        </p:txBody>
      </p:sp>
      <p:sp>
        <p:nvSpPr>
          <p:cNvPr id="67" name="ovl_s27_n_grid"/>
          <p:cNvSpPr/>
          <p:nvPr/>
        </p:nvSpPr>
        <p:spPr>
          <a:xfrm>
            <a:off x="2682240" y="4949190"/>
            <a:ext cx="1371600" cy="749808"/>
          </a:xfrm>
          <a:prstGeom prst="roundRect">
            <a:avLst>
              <a:gd name="adj" fmla="val 7317"/>
            </a:avLst>
          </a:prstGeom>
          <a:solidFill>
            <a:srgbClr val="FFFFFF"/>
          </a:solidFill>
          <a:ln w="19050">
            <a:solidFill>
              <a:srgbClr val="C0392B"/>
            </a:solidFill>
            <a:prstDash val="solid"/>
          </a:ln>
        </p:spPr>
      </p:sp>
      <p:sp>
        <p:nvSpPr>
          <p:cNvPr id="68" name="ovl_s27_nt_grid"/>
          <p:cNvSpPr txBox="1"/>
          <p:nvPr/>
        </p:nvSpPr>
        <p:spPr>
          <a:xfrm>
            <a:off x="2718816" y="4976622"/>
            <a:ext cx="129844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電力・系統</a:t>
            </a:r>
            <a:endParaRPr lang="en-US" sz="1000" dirty="0"/>
          </a:p>
        </p:txBody>
      </p:sp>
      <p:sp>
        <p:nvSpPr>
          <p:cNvPr id="69" name="ovl_s27_ns_grid"/>
          <p:cNvSpPr txBox="1"/>
          <p:nvPr/>
        </p:nvSpPr>
        <p:spPr>
          <a:xfrm>
            <a:off x="2727960" y="5182362"/>
            <a:ext cx="128016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連系 約 40 か月</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タービンは</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2031 年分を販売中</a:t>
            </a:r>
            <a:endParaRPr lang="en-US" sz="850" dirty="0"/>
          </a:p>
        </p:txBody>
      </p:sp>
      <p:sp>
        <p:nvSpPr>
          <p:cNvPr id="70" name="ovl_s27_n_t1"/>
          <p:cNvSpPr/>
          <p:nvPr/>
        </p:nvSpPr>
        <p:spPr>
          <a:xfrm>
            <a:off x="4953000" y="2000250"/>
            <a:ext cx="1097280" cy="749808"/>
          </a:xfrm>
          <a:prstGeom prst="roundRect">
            <a:avLst>
              <a:gd name="adj" fmla="val 7317"/>
            </a:avLst>
          </a:prstGeom>
          <a:solidFill>
            <a:srgbClr val="EAF4EE"/>
          </a:solidFill>
          <a:ln w="9525">
            <a:solidFill>
              <a:srgbClr val="86C99B"/>
            </a:solidFill>
            <a:prstDash val="solid"/>
          </a:ln>
        </p:spPr>
      </p:sp>
      <p:sp>
        <p:nvSpPr>
          <p:cNvPr id="71" name="ovl_s27_nt_t1"/>
          <p:cNvSpPr txBox="1"/>
          <p:nvPr/>
        </p:nvSpPr>
        <p:spPr>
          <a:xfrm>
            <a:off x="4989576" y="2027682"/>
            <a:ext cx="10241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10 年超</a:t>
            </a:r>
            <a:endParaRPr lang="en-US" sz="1000" dirty="0"/>
          </a:p>
        </p:txBody>
      </p:sp>
      <p:sp>
        <p:nvSpPr>
          <p:cNvPr id="72" name="ovl_s27_ns_t1"/>
          <p:cNvSpPr txBox="1"/>
          <p:nvPr/>
        </p:nvSpPr>
        <p:spPr>
          <a:xfrm>
            <a:off x="4998720" y="2233422"/>
            <a:ext cx="10058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実質再現できない</a:t>
            </a:r>
            <a:endParaRPr lang="en-US" sz="850" dirty="0"/>
          </a:p>
        </p:txBody>
      </p:sp>
      <p:sp>
        <p:nvSpPr>
          <p:cNvPr id="73" name="ovl_s27_n_t2"/>
          <p:cNvSpPr/>
          <p:nvPr/>
        </p:nvSpPr>
        <p:spPr>
          <a:xfrm>
            <a:off x="4953000" y="2983230"/>
            <a:ext cx="1097280" cy="749808"/>
          </a:xfrm>
          <a:prstGeom prst="roundRect">
            <a:avLst>
              <a:gd name="adj" fmla="val 7317"/>
            </a:avLst>
          </a:prstGeom>
          <a:solidFill>
            <a:srgbClr val="EAF4EE"/>
          </a:solidFill>
          <a:ln w="9525">
            <a:solidFill>
              <a:srgbClr val="86C99B"/>
            </a:solidFill>
            <a:prstDash val="solid"/>
          </a:ln>
        </p:spPr>
      </p:sp>
      <p:sp>
        <p:nvSpPr>
          <p:cNvPr id="74" name="ovl_s27_nt_t2"/>
          <p:cNvSpPr txBox="1"/>
          <p:nvPr/>
        </p:nvSpPr>
        <p:spPr>
          <a:xfrm>
            <a:off x="4989576" y="3010662"/>
            <a:ext cx="1024128" cy="694944"/>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提携先次第</a:t>
            </a:r>
            <a:endParaRPr lang="en-US" sz="1000" dirty="0"/>
          </a:p>
        </p:txBody>
      </p:sp>
      <p:sp>
        <p:nvSpPr>
          <p:cNvPr id="75" name="ovl_s27_n_t3"/>
          <p:cNvSpPr/>
          <p:nvPr/>
        </p:nvSpPr>
        <p:spPr>
          <a:xfrm>
            <a:off x="4953000" y="3966210"/>
            <a:ext cx="1097280" cy="749808"/>
          </a:xfrm>
          <a:prstGeom prst="roundRect">
            <a:avLst>
              <a:gd name="adj" fmla="val 7317"/>
            </a:avLst>
          </a:prstGeom>
          <a:solidFill>
            <a:srgbClr val="FFFFFF"/>
          </a:solidFill>
          <a:ln w="19050">
            <a:solidFill>
              <a:srgbClr val="C0392B"/>
            </a:solidFill>
            <a:prstDash val="solid"/>
          </a:ln>
        </p:spPr>
      </p:sp>
      <p:sp>
        <p:nvSpPr>
          <p:cNvPr id="76" name="ovl_s27_nt_t3"/>
          <p:cNvSpPr txBox="1"/>
          <p:nvPr/>
        </p:nvSpPr>
        <p:spPr>
          <a:xfrm>
            <a:off x="4989576" y="3993642"/>
            <a:ext cx="10241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2〜4 年</a:t>
            </a:r>
            <a:endParaRPr lang="en-US" sz="1000" dirty="0"/>
          </a:p>
        </p:txBody>
      </p:sp>
      <p:sp>
        <p:nvSpPr>
          <p:cNvPr id="77" name="ovl_s27_ns_t3"/>
          <p:cNvSpPr txBox="1"/>
          <p:nvPr/>
        </p:nvSpPr>
        <p:spPr>
          <a:xfrm>
            <a:off x="4998720" y="4199382"/>
            <a:ext cx="10058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資本があれば</a:t>
            </a:r>
            <a:endParaRPr lang="en-US" sz="850" dirty="0"/>
          </a:p>
        </p:txBody>
      </p:sp>
      <p:sp>
        <p:nvSpPr>
          <p:cNvPr id="78" name="ovl_s27_n_t4"/>
          <p:cNvSpPr/>
          <p:nvPr/>
        </p:nvSpPr>
        <p:spPr>
          <a:xfrm>
            <a:off x="4953000" y="4949190"/>
            <a:ext cx="1097280" cy="749808"/>
          </a:xfrm>
          <a:prstGeom prst="roundRect">
            <a:avLst>
              <a:gd name="adj" fmla="val 7317"/>
            </a:avLst>
          </a:prstGeom>
          <a:solidFill>
            <a:srgbClr val="FFFFFF"/>
          </a:solidFill>
          <a:ln w="19050">
            <a:solidFill>
              <a:srgbClr val="C0392B"/>
            </a:solidFill>
            <a:prstDash val="solid"/>
          </a:ln>
        </p:spPr>
      </p:sp>
      <p:sp>
        <p:nvSpPr>
          <p:cNvPr id="79" name="ovl_s27_nt_t4"/>
          <p:cNvSpPr txBox="1"/>
          <p:nvPr/>
        </p:nvSpPr>
        <p:spPr>
          <a:xfrm>
            <a:off x="4989576" y="4976622"/>
            <a:ext cx="10241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3〜4 年</a:t>
            </a:r>
            <a:endParaRPr lang="en-US" sz="1000" dirty="0"/>
          </a:p>
        </p:txBody>
      </p:sp>
      <p:sp>
        <p:nvSpPr>
          <p:cNvPr id="80" name="ovl_s27_ns_t4"/>
          <p:cNvSpPr txBox="1"/>
          <p:nvPr/>
        </p:nvSpPr>
        <p:spPr>
          <a:xfrm>
            <a:off x="4998720" y="5182362"/>
            <a:ext cx="10058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電力の確保</a:t>
            </a:r>
            <a:endParaRPr lang="en-US" sz="850" dirty="0"/>
          </a:p>
        </p:txBody>
      </p:sp>
      <p:sp>
        <p:nvSpPr>
          <p:cNvPr id="81" name="ovl_s27_n_pg"/>
          <p:cNvSpPr/>
          <p:nvPr/>
        </p:nvSpPr>
        <p:spPr>
          <a:xfrm>
            <a:off x="6949440" y="2000250"/>
            <a:ext cx="1325880" cy="749808"/>
          </a:xfrm>
          <a:prstGeom prst="roundRect">
            <a:avLst>
              <a:gd name="adj" fmla="val 7317"/>
            </a:avLst>
          </a:prstGeom>
          <a:solidFill>
            <a:srgbClr val="FFFFFF"/>
          </a:solidFill>
          <a:ln w="9525">
            <a:solidFill>
              <a:srgbClr val="767676"/>
            </a:solidFill>
            <a:prstDash val="solid"/>
          </a:ln>
        </p:spPr>
      </p:sp>
      <p:sp>
        <p:nvSpPr>
          <p:cNvPr id="82" name="ovl_s27_nt_pg"/>
          <p:cNvSpPr txBox="1"/>
          <p:nvPr/>
        </p:nvSpPr>
        <p:spPr>
          <a:xfrm>
            <a:off x="6986016" y="202768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他社 DB</a:t>
            </a:r>
            <a:endParaRPr lang="en-US" sz="1000" dirty="0"/>
          </a:p>
        </p:txBody>
      </p:sp>
      <p:sp>
        <p:nvSpPr>
          <p:cNvPr id="83" name="ovl_s27_ns_pg"/>
          <p:cNvSpPr txBox="1"/>
          <p:nvPr/>
        </p:nvSpPr>
        <p:spPr>
          <a:xfrm>
            <a:off x="6995160" y="223342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PostgreSQL ほか</a:t>
            </a:r>
            <a:endParaRPr lang="en-US" sz="850" dirty="0"/>
          </a:p>
        </p:txBody>
      </p:sp>
      <p:sp>
        <p:nvSpPr>
          <p:cNvPr id="84" name="ovl_s27_n_hyp"/>
          <p:cNvSpPr/>
          <p:nvPr/>
        </p:nvSpPr>
        <p:spPr>
          <a:xfrm>
            <a:off x="6949440" y="2983230"/>
            <a:ext cx="1325880" cy="749808"/>
          </a:xfrm>
          <a:prstGeom prst="roundRect">
            <a:avLst>
              <a:gd name="adj" fmla="val 7317"/>
            </a:avLst>
          </a:prstGeom>
          <a:solidFill>
            <a:srgbClr val="FFFFFF"/>
          </a:solidFill>
          <a:ln w="9525">
            <a:solidFill>
              <a:srgbClr val="767676"/>
            </a:solidFill>
            <a:prstDash val="solid"/>
          </a:ln>
        </p:spPr>
      </p:sp>
      <p:sp>
        <p:nvSpPr>
          <p:cNvPr id="85" name="ovl_s27_nt_hyp"/>
          <p:cNvSpPr txBox="1"/>
          <p:nvPr/>
        </p:nvSpPr>
        <p:spPr>
          <a:xfrm>
            <a:off x="6986016" y="301066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大手クラウド</a:t>
            </a:r>
            <a:endParaRPr lang="en-US" sz="1000" dirty="0"/>
          </a:p>
        </p:txBody>
      </p:sp>
      <p:sp>
        <p:nvSpPr>
          <p:cNvPr id="86" name="ovl_s27_ns_hyp"/>
          <p:cNvSpPr txBox="1"/>
          <p:nvPr/>
        </p:nvSpPr>
        <p:spPr>
          <a:xfrm>
            <a:off x="6995160" y="321640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自社 DB を推す</a:t>
            </a:r>
            <a:endParaRPr lang="en-US" sz="850" dirty="0"/>
          </a:p>
        </p:txBody>
      </p:sp>
      <p:sp>
        <p:nvSpPr>
          <p:cNvPr id="87" name="ovl_s27_n_neo"/>
          <p:cNvSpPr/>
          <p:nvPr/>
        </p:nvSpPr>
        <p:spPr>
          <a:xfrm>
            <a:off x="6949440" y="3966210"/>
            <a:ext cx="1325880" cy="749808"/>
          </a:xfrm>
          <a:prstGeom prst="roundRect">
            <a:avLst>
              <a:gd name="adj" fmla="val 7317"/>
            </a:avLst>
          </a:prstGeom>
          <a:solidFill>
            <a:srgbClr val="FFFFFF"/>
          </a:solidFill>
          <a:ln w="19050">
            <a:solidFill>
              <a:srgbClr val="C0392B"/>
            </a:solidFill>
            <a:prstDash val="solid"/>
          </a:ln>
        </p:spPr>
      </p:sp>
      <p:sp>
        <p:nvSpPr>
          <p:cNvPr id="88" name="ovl_s27_nt_neo"/>
          <p:cNvSpPr txBox="1"/>
          <p:nvPr/>
        </p:nvSpPr>
        <p:spPr>
          <a:xfrm>
            <a:off x="6986016" y="3993642"/>
            <a:ext cx="1252728" cy="205740"/>
          </a:xfrm>
          <a:prstGeom prst="rect">
            <a:avLst/>
          </a:prstGeom>
          <a:noFill/>
          <a:ln/>
        </p:spPr>
        <p:txBody>
          <a:bodyPr wrap="square" lIns="0" tIns="0" rIns="0" bIns="0" rtlCol="0" anchor="ctr"/>
          <a:lstStyle/>
          <a:p>
            <a:pPr algn="ctr" indent="0" marL="0">
              <a:buNone/>
            </a:pPr>
            <a:r>
              <a:rPr lang="en-US" sz="900" b="1" dirty="0">
                <a:solidFill>
                  <a:srgbClr val="C0392B"/>
                </a:solidFill>
                <a:latin typeface="Meiryo UI" pitchFamily="34" charset="0"/>
                <a:ea typeface="Meiryo UI" pitchFamily="34" charset="-122"/>
                <a:cs typeface="Meiryo UI" pitchFamily="34" charset="-120"/>
              </a:rPr>
              <a:t>ネオクラウド・大手</a:t>
            </a:r>
            <a:endParaRPr lang="en-US" sz="900" dirty="0"/>
          </a:p>
        </p:txBody>
      </p:sp>
      <p:sp>
        <p:nvSpPr>
          <p:cNvPr id="89" name="ovl_s27_ns_neo"/>
          <p:cNvSpPr txBox="1"/>
          <p:nvPr/>
        </p:nvSpPr>
        <p:spPr>
          <a:xfrm>
            <a:off x="6995160" y="419938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実際に建設中</a:t>
            </a:r>
            <a:endParaRPr lang="en-US" sz="850" dirty="0"/>
          </a:p>
        </p:txBody>
      </p:sp>
      <p:sp>
        <p:nvSpPr>
          <p:cNvPr id="90" name="ovl_s27_n_util"/>
          <p:cNvSpPr/>
          <p:nvPr/>
        </p:nvSpPr>
        <p:spPr>
          <a:xfrm>
            <a:off x="6949440" y="4949190"/>
            <a:ext cx="1325880" cy="749808"/>
          </a:xfrm>
          <a:prstGeom prst="roundRect">
            <a:avLst>
              <a:gd name="adj" fmla="val 7317"/>
            </a:avLst>
          </a:prstGeom>
          <a:solidFill>
            <a:srgbClr val="FFFFFF"/>
          </a:solidFill>
          <a:ln w="9525">
            <a:solidFill>
              <a:srgbClr val="767676"/>
            </a:solidFill>
            <a:prstDash val="solid"/>
          </a:ln>
        </p:spPr>
      </p:sp>
      <p:sp>
        <p:nvSpPr>
          <p:cNvPr id="91" name="ovl_s27_nt_util"/>
          <p:cNvSpPr txBox="1"/>
          <p:nvPr/>
        </p:nvSpPr>
        <p:spPr>
          <a:xfrm>
            <a:off x="6986016" y="4976622"/>
            <a:ext cx="1252728"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電力会社・開発事業者</a:t>
            </a:r>
            <a:endParaRPr lang="en-US" sz="900" dirty="0"/>
          </a:p>
        </p:txBody>
      </p:sp>
      <p:sp>
        <p:nvSpPr>
          <p:cNvPr id="92" name="ovl_s27_ns_util"/>
          <p:cNvSpPr txBox="1"/>
          <p:nvPr/>
        </p:nvSpPr>
        <p:spPr>
          <a:xfrm>
            <a:off x="6995160" y="5333238"/>
            <a:ext cx="1234440" cy="3383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ほかの顧客にも供給</a:t>
            </a:r>
            <a:endParaRPr lang="en-US" sz="850" dirty="0"/>
          </a:p>
        </p:txBody>
      </p:sp>
      <p:sp>
        <p:nvSpPr>
          <p:cNvPr id="93" name="ovl_s27_num0"/>
          <p:cNvSpPr/>
          <p:nvPr/>
        </p:nvSpPr>
        <p:spPr>
          <a:xfrm>
            <a:off x="2113788" y="2256282"/>
            <a:ext cx="237744" cy="237744"/>
          </a:xfrm>
          <a:prstGeom prst="ellipse">
            <a:avLst/>
          </a:prstGeom>
          <a:solidFill>
            <a:srgbClr val="767676"/>
          </a:solidFill>
          <a:ln w="12700">
            <a:solidFill>
              <a:srgbClr val="FFFFFF"/>
            </a:solidFill>
            <a:prstDash val="solid"/>
          </a:ln>
        </p:spPr>
      </p:sp>
      <p:sp>
        <p:nvSpPr>
          <p:cNvPr id="94" name="ovl_s27_numt0"/>
          <p:cNvSpPr txBox="1"/>
          <p:nvPr/>
        </p:nvSpPr>
        <p:spPr>
          <a:xfrm>
            <a:off x="2113788" y="225628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1</a:t>
            </a:r>
            <a:endParaRPr lang="en-US" sz="900" dirty="0"/>
          </a:p>
        </p:txBody>
      </p:sp>
      <p:sp>
        <p:nvSpPr>
          <p:cNvPr id="95" name="ovl_s27_lab2"/>
          <p:cNvSpPr txBox="1"/>
          <p:nvPr/>
        </p:nvSpPr>
        <p:spPr>
          <a:xfrm>
            <a:off x="6095238" y="2141982"/>
            <a:ext cx="809244"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追随できない</a:t>
            </a:r>
            <a:endParaRPr lang="en-US" sz="850" dirty="0"/>
          </a:p>
        </p:txBody>
      </p:sp>
      <p:sp>
        <p:nvSpPr>
          <p:cNvPr id="96" name="ovl_s27_num3"/>
          <p:cNvSpPr/>
          <p:nvPr/>
        </p:nvSpPr>
        <p:spPr>
          <a:xfrm>
            <a:off x="2113788" y="3239262"/>
            <a:ext cx="237744" cy="237744"/>
          </a:xfrm>
          <a:prstGeom prst="ellipse">
            <a:avLst/>
          </a:prstGeom>
          <a:solidFill>
            <a:srgbClr val="767676"/>
          </a:solidFill>
          <a:ln w="12700">
            <a:solidFill>
              <a:srgbClr val="FFFFFF"/>
            </a:solidFill>
            <a:prstDash val="solid"/>
          </a:ln>
        </p:spPr>
      </p:sp>
      <p:sp>
        <p:nvSpPr>
          <p:cNvPr id="97" name="ovl_s27_numt3"/>
          <p:cNvSpPr txBox="1"/>
          <p:nvPr/>
        </p:nvSpPr>
        <p:spPr>
          <a:xfrm>
            <a:off x="2113788" y="323926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2</a:t>
            </a:r>
            <a:endParaRPr lang="en-US" sz="900" dirty="0"/>
          </a:p>
        </p:txBody>
      </p:sp>
      <p:sp>
        <p:nvSpPr>
          <p:cNvPr id="98" name="ovl_s27_lab5"/>
          <p:cNvSpPr txBox="1"/>
          <p:nvPr/>
        </p:nvSpPr>
        <p:spPr>
          <a:xfrm>
            <a:off x="6153531" y="3124962"/>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提携が要る</a:t>
            </a:r>
            <a:endParaRPr lang="en-US" sz="850" dirty="0"/>
          </a:p>
        </p:txBody>
      </p:sp>
      <p:sp>
        <p:nvSpPr>
          <p:cNvPr id="99" name="ovl_s27_num6"/>
          <p:cNvSpPr/>
          <p:nvPr/>
        </p:nvSpPr>
        <p:spPr>
          <a:xfrm>
            <a:off x="2113788" y="4222242"/>
            <a:ext cx="237744" cy="237744"/>
          </a:xfrm>
          <a:prstGeom prst="ellipse">
            <a:avLst/>
          </a:prstGeom>
          <a:solidFill>
            <a:srgbClr val="767676"/>
          </a:solidFill>
          <a:ln w="12700">
            <a:solidFill>
              <a:srgbClr val="FFFFFF"/>
            </a:solidFill>
            <a:prstDash val="solid"/>
          </a:ln>
        </p:spPr>
      </p:sp>
      <p:sp>
        <p:nvSpPr>
          <p:cNvPr id="100" name="ovl_s27_numt6"/>
          <p:cNvSpPr txBox="1"/>
          <p:nvPr/>
        </p:nvSpPr>
        <p:spPr>
          <a:xfrm>
            <a:off x="2113788" y="422224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3</a:t>
            </a:r>
            <a:endParaRPr lang="en-US" sz="900" dirty="0"/>
          </a:p>
        </p:txBody>
      </p:sp>
      <p:sp>
        <p:nvSpPr>
          <p:cNvPr id="101" name="ovl_s27_lab8"/>
          <p:cNvSpPr txBox="1"/>
          <p:nvPr/>
        </p:nvSpPr>
        <p:spPr>
          <a:xfrm>
            <a:off x="6328410" y="4107942"/>
            <a:ext cx="342900"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追随</a:t>
            </a:r>
            <a:endParaRPr lang="en-US" sz="850" dirty="0"/>
          </a:p>
        </p:txBody>
      </p:sp>
      <p:sp>
        <p:nvSpPr>
          <p:cNvPr id="102" name="ovl_s27_num9"/>
          <p:cNvSpPr/>
          <p:nvPr/>
        </p:nvSpPr>
        <p:spPr>
          <a:xfrm>
            <a:off x="2113788" y="5205222"/>
            <a:ext cx="237744" cy="237744"/>
          </a:xfrm>
          <a:prstGeom prst="ellipse">
            <a:avLst/>
          </a:prstGeom>
          <a:solidFill>
            <a:srgbClr val="767676"/>
          </a:solidFill>
          <a:ln w="12700">
            <a:solidFill>
              <a:srgbClr val="FFFFFF"/>
            </a:solidFill>
            <a:prstDash val="solid"/>
          </a:ln>
        </p:spPr>
      </p:sp>
      <p:sp>
        <p:nvSpPr>
          <p:cNvPr id="103" name="ovl_s27_numt9"/>
          <p:cNvSpPr txBox="1"/>
          <p:nvPr/>
        </p:nvSpPr>
        <p:spPr>
          <a:xfrm>
            <a:off x="2113788" y="520522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4</a:t>
            </a:r>
            <a:endParaRPr lang="en-US" sz="900" dirty="0"/>
          </a:p>
        </p:txBody>
      </p:sp>
      <p:sp>
        <p:nvSpPr>
          <p:cNvPr id="104" name="ovl_s27_lab11"/>
          <p:cNvSpPr txBox="1"/>
          <p:nvPr/>
        </p:nvSpPr>
        <p:spPr>
          <a:xfrm>
            <a:off x="6211824" y="5090922"/>
            <a:ext cx="576072"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奪い合い</a:t>
            </a:r>
            <a:endParaRPr lang="en-US" sz="850" dirty="0"/>
          </a:p>
        </p:txBody>
      </p:sp>
      <p:sp>
        <p:nvSpPr>
          <p:cNvPr id="105" name="ovl_s27_leg0"/>
          <p:cNvSpPr/>
          <p:nvPr/>
        </p:nvSpPr>
        <p:spPr>
          <a:xfrm>
            <a:off x="457200" y="5971032"/>
            <a:ext cx="365760" cy="914"/>
          </a:xfrm>
          <a:prstGeom prst="line">
            <a:avLst/>
          </a:prstGeom>
          <a:noFill/>
          <a:ln w="15875">
            <a:solidFill>
              <a:srgbClr val="C0392B"/>
            </a:solidFill>
            <a:prstDash val="dash"/>
            <a:tailEnd type="triangle"/>
          </a:ln>
        </p:spPr>
      </p:sp>
      <p:sp>
        <p:nvSpPr>
          <p:cNvPr id="106" name="ovl_s27_legt0"/>
          <p:cNvSpPr txBox="1"/>
          <p:nvPr/>
        </p:nvSpPr>
        <p:spPr>
          <a:xfrm>
            <a:off x="87782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リスク</a:t>
            </a:r>
            <a:endParaRPr lang="en-US" sz="800" dirty="0"/>
          </a:p>
        </p:txBody>
      </p:sp>
      <p:sp>
        <p:nvSpPr>
          <p:cNvPr id="107" name="ovl_s27_leg1"/>
          <p:cNvSpPr/>
          <p:nvPr/>
        </p:nvSpPr>
        <p:spPr>
          <a:xfrm>
            <a:off x="1874520" y="5971032"/>
            <a:ext cx="365760" cy="914"/>
          </a:xfrm>
          <a:prstGeom prst="line">
            <a:avLst/>
          </a:prstGeom>
          <a:noFill/>
          <a:ln w="12700">
            <a:solidFill>
              <a:srgbClr val="767676"/>
            </a:solidFill>
            <a:prstDash val="sysDash"/>
            <a:tailEnd type="triangle"/>
          </a:ln>
        </p:spPr>
      </p:sp>
      <p:sp>
        <p:nvSpPr>
          <p:cNvPr id="108" name="ovl_s27_legt1"/>
          <p:cNvSpPr txBox="1"/>
          <p:nvPr/>
        </p:nvSpPr>
        <p:spPr>
          <a:xfrm>
            <a:off x="229514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契約・統治</a:t>
            </a:r>
            <a:endParaRPr lang="en-US" sz="800" dirty="0"/>
          </a:p>
        </p:txBody>
      </p:sp>
      <p:sp>
        <p:nvSpPr>
          <p:cNvPr id="109" name="ovl_s27_legn"/>
          <p:cNvSpPr txBox="1"/>
          <p:nvPr/>
        </p:nvSpPr>
        <p:spPr>
          <a:xfrm>
            <a:off x="6126480" y="5870448"/>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110"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111" name="mech"/>
          <p:cNvSpPr txBox="1"/>
          <p:nvPr/>
        </p:nvSpPr>
        <p:spPr>
          <a:xfrm>
            <a:off x="8458200" y="1810512"/>
            <a:ext cx="3276295" cy="1920240"/>
          </a:xfrm>
          <a:prstGeom prst="rect">
            <a:avLst/>
          </a:prstGeom>
          <a:noFill/>
          <a:ln/>
        </p:spPr>
        <p:txBody>
          <a:bodyPr wrap="square" lIns="381" tIns="381" rIns="381" bIns="381" rtlCol="0" anchor="t"/>
          <a:lstStyle/>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① </a:t>
            </a:r>
            <a:r>
              <a:rPr lang="en-US" sz="1100" dirty="0">
                <a:solidFill>
                  <a:srgbClr val="333333"/>
                </a:solidFill>
                <a:latin typeface="Meiryo UI" pitchFamily="34" charset="0"/>
                <a:ea typeface="Meiryo UI" pitchFamily="34" charset="-122"/>
                <a:cs typeface="Meiryo UI" pitchFamily="34" charset="-120"/>
              </a:rPr>
              <a:t>DB の顧客基盤は数十年の導入とデータ移行の重さで、資本があっても再現できない</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② </a:t>
            </a:r>
            <a:r>
              <a:rPr lang="en-US" sz="1100" dirty="0">
                <a:solidFill>
                  <a:srgbClr val="333333"/>
                </a:solidFill>
                <a:latin typeface="Meiryo UI" pitchFamily="34" charset="0"/>
                <a:ea typeface="Meiryo UI" pitchFamily="34" charset="-122"/>
                <a:cs typeface="Meiryo UI" pitchFamily="34" charset="-120"/>
              </a:rPr>
              <a:t>Database@ は競合クラウドの DC 内に置く提携で、他社が同じ配置を得るのは難しい</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③ </a:t>
            </a:r>
            <a:r>
              <a:rPr lang="en-US" sz="1100" dirty="0">
                <a:solidFill>
                  <a:srgbClr val="333333"/>
                </a:solidFill>
                <a:latin typeface="Meiryo UI" pitchFamily="34" charset="0"/>
                <a:ea typeface="Meiryo UI" pitchFamily="34" charset="-122"/>
                <a:cs typeface="Meiryo UI" pitchFamily="34" charset="-120"/>
              </a:rPr>
              <a:t>AI 容量は資本と電力があれば 2〜4 年で再現できる。大手・ネオクラウドが実際に建設中</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④ </a:t>
            </a:r>
            <a:r>
              <a:rPr lang="en-US" sz="1100" dirty="0">
                <a:solidFill>
                  <a:srgbClr val="333333"/>
                </a:solidFill>
                <a:latin typeface="Meiryo UI" pitchFamily="34" charset="0"/>
                <a:ea typeface="Meiryo UI" pitchFamily="34" charset="-122"/>
                <a:cs typeface="Meiryo UI" pitchFamily="34" charset="-120"/>
              </a:rPr>
              <a:t>障壁として効くのは電力。</a:t>
            </a:r>
            <a:br/>
            <a:r>
              <a:rPr lang="en-US" sz="1100" dirty="0">
                <a:solidFill>
                  <a:srgbClr val="333333"/>
                </a:solidFill>
                <a:latin typeface="Meiryo UI" pitchFamily="34" charset="0"/>
                <a:ea typeface="Meiryo UI" pitchFamily="34" charset="-122"/>
                <a:cs typeface="Meiryo UI" pitchFamily="34" charset="-120"/>
              </a:rPr>
              <a:t>系統連系に約 40 か月、ガスタービンは 2031 年分を販売中</a:t>
            </a:r>
            <a:endParaRPr lang="en-US" sz="1100" dirty="0"/>
          </a:p>
        </p:txBody>
      </p:sp>
      <p:sp>
        <p:nvSpPr>
          <p:cNvPr id="112" name="ovl_takeaway_bg"/>
          <p:cNvSpPr/>
          <p:nvPr/>
        </p:nvSpPr>
        <p:spPr>
          <a:xfrm>
            <a:off x="8458200" y="4419600"/>
            <a:ext cx="3276295" cy="1005840"/>
          </a:xfrm>
          <a:prstGeom prst="rect">
            <a:avLst/>
          </a:prstGeom>
          <a:solidFill>
            <a:srgbClr val="EAF4EE"/>
          </a:solidFill>
          <a:ln w="12700">
            <a:solidFill>
              <a:srgbClr val="EAF4EE"/>
            </a:solidFill>
            <a:prstDash val="solid"/>
          </a:ln>
        </p:spPr>
      </p:sp>
      <p:sp>
        <p:nvSpPr>
          <p:cNvPr id="113" name="takeaway"/>
          <p:cNvSpPr txBox="1"/>
          <p:nvPr/>
        </p:nvSpPr>
        <p:spPr>
          <a:xfrm>
            <a:off x="8567928" y="4492752"/>
            <a:ext cx="3056839" cy="859536"/>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DB と配置は模倣が難しいが、</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AI 容量の障壁は時間にすぎず、</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資本のある競合には破られるため B</a:t>
            </a:r>
            <a:endParaRPr lang="en-US" sz="1000" dirty="0"/>
          </a:p>
        </p:txBody>
      </p:sp>
      <p:sp>
        <p:nvSpPr>
          <p:cNvPr id="114" name="updown"/>
          <p:cNvSpPr txBox="1"/>
          <p:nvPr/>
        </p:nvSpPr>
        <p:spPr>
          <a:xfrm>
            <a:off x="8458200" y="5498592"/>
            <a:ext cx="3276295" cy="59131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FY30〜32 分の電力を確保し、</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競合に 3 年以上先行できれば A</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競合の大型容量が 2027〜28 年に</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相次いで稼働し、AI 容量の単価が下がれば C</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3-4 製品と設備の性格(条件8〜12)(5/5)</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9316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9316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収益の性格(条件12)</a:t>
            </a:r>
            <a:endParaRPr lang="en-US" sz="1000" dirty="0"/>
          </a:p>
        </p:txBody>
      </p:sp>
      <p:sp>
        <p:nvSpPr>
          <p:cNvPr id="14" name="hdr_why"/>
          <p:cNvSpPr txBox="1"/>
          <p:nvPr/>
        </p:nvSpPr>
        <p:spPr>
          <a:xfrm>
            <a:off x="2535174" y="356616"/>
            <a:ext cx="91993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継続課金・従量のストック型なら売上の見通しが立ち、評価倍率を高くできる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OCI は従量・確約、保守・SaaS は継続課金で、</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受注残 6,640 億ドルが積み上がるストック型の収益である</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条件12 従量課金型の収益性格(ORCL IaaS 型)であり売り切り・供給過多型(VRT 型)でない</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会社開示(10-Q、RPO の期間別)、research4/T1_consensus.csv、research3/W5_oracle_ai_economics.md</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31</a:t>
            </a:r>
            <a:endParaRPr lang="en-US" sz="800" dirty="0"/>
          </a:p>
        </p:txBody>
      </p:sp>
      <p:sp>
        <p:nvSpPr>
          <p:cNvPr id="19" name="ovl_badge"/>
          <p:cNvSpPr/>
          <p:nvPr/>
        </p:nvSpPr>
        <p:spPr>
          <a:xfrm>
            <a:off x="10865815" y="649224"/>
            <a:ext cx="868680" cy="677570"/>
          </a:xfrm>
          <a:prstGeom prst="roundRect">
            <a:avLst>
              <a:gd name="adj" fmla="val 10796"/>
            </a:avLst>
          </a:prstGeom>
          <a:solidFill>
            <a:srgbClr val="197A56"/>
          </a:solidFill>
          <a:ln w="12700">
            <a:solidFill>
              <a:srgbClr val="197A56"/>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FFFFFF"/>
                </a:solidFill>
                <a:latin typeface="Meiryo UI" pitchFamily="34" charset="0"/>
                <a:ea typeface="Meiryo UI" pitchFamily="34" charset="-122"/>
                <a:cs typeface="Meiryo UI" pitchFamily="34" charset="-120"/>
              </a:rPr>
              <a:t>A</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FFFFFF"/>
                </a:solidFill>
                <a:latin typeface="Meiryo UI" pitchFamily="34" charset="0"/>
                <a:ea typeface="Meiryo UI" pitchFamily="34" charset="-122"/>
                <a:cs typeface="Meiryo UI" pitchFamily="34" charset="-120"/>
              </a:rPr>
              <a:t>条件12</a:t>
            </a:r>
            <a:endParaRPr lang="en-US" sz="800" dirty="0"/>
          </a:p>
        </p:txBody>
      </p:sp>
      <p:graphicFrame>
        <p:nvGraphicFramePr>
          <p:cNvPr id="22" name="chart" descr=""/>
          <p:cNvGraphicFramePr/>
          <p:nvPr/>
        </p:nvGraphicFramePr>
        <p:xfrm>
          <a:off x="457200" y="1600200"/>
          <a:ext cx="7589520" cy="2011680"/>
        </p:xfrm>
        <a:graphic xmlns:a="http://schemas.openxmlformats.org/drawingml/2006/main">
          <a:graphicData uri="http://schemas.openxmlformats.org/drawingml/2006/chart">
            <c:chart xmlns:c="http://schemas.openxmlformats.org/drawingml/2006/chart" r:id="rId1"/>
          </a:graphicData>
        </a:graphic>
      </p:graphicFrame>
      <p:sp>
        <p:nvSpPr>
          <p:cNvPr id="23" name="bullets"/>
          <p:cNvSpPr txBox="1"/>
          <p:nvPr/>
        </p:nvSpPr>
        <p:spPr>
          <a:xfrm>
            <a:off x="457200" y="3794760"/>
            <a:ext cx="7589520" cy="1828800"/>
          </a:xfrm>
          <a:prstGeom prst="rect">
            <a:avLst/>
          </a:prstGeom>
          <a:noFill/>
          <a:ln/>
        </p:spPr>
        <p:txBody>
          <a:bodyPr wrap="square" lIns="508" tIns="508" rIns="508" bIns="508" rtlCol="0" anchor="t"/>
          <a:lstStyle/>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36 か月以内の 3,320 億ドルが、コンセンサス売上(FY28 1,315 億、FY29 1,820 億ドル)の大半を裏付ける</a:t>
            </a:r>
            <a:endParaRPr lang="en-US" sz="1050" dirty="0"/>
          </a:p>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前払い・持ち込み 750 億ドル分は陳腐化リスクを顧客に移している</a:t>
            </a:r>
            <a:endParaRPr lang="en-US" sz="1050" dirty="0"/>
          </a:p>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take-or-pay・解約条項・価格改定条項は公開情報で確認できない</a:t>
            </a:r>
            <a:endParaRPr lang="en-US" sz="1050" dirty="0"/>
          </a:p>
        </p:txBody>
      </p:sp>
      <p:sp>
        <p:nvSpPr>
          <p:cNvPr id="24" name="ovl_evbox"/>
          <p:cNvSpPr/>
          <p:nvPr/>
        </p:nvSpPr>
        <p:spPr>
          <a:xfrm>
            <a:off x="8275320" y="1481328"/>
            <a:ext cx="3456432" cy="2788920"/>
          </a:xfrm>
          <a:prstGeom prst="rect">
            <a:avLst/>
          </a:prstGeom>
          <a:solidFill>
            <a:srgbClr val="FFFFFF"/>
          </a:solidFill>
          <a:ln w="9525">
            <a:solidFill>
              <a:srgbClr val="D9D9D9"/>
            </a:solidFill>
            <a:prstDash val="solid"/>
          </a:ln>
        </p:spPr>
      </p:sp>
      <p:sp>
        <p:nvSpPr>
          <p:cNvPr id="25" name="ev_head"/>
          <p:cNvSpPr txBox="1"/>
          <p:nvPr/>
        </p:nvSpPr>
        <p:spPr>
          <a:xfrm>
            <a:off x="8385048" y="1536192"/>
            <a:ext cx="320040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根拠</a:t>
            </a:r>
            <a:endParaRPr lang="en-US" sz="1200" dirty="0"/>
          </a:p>
        </p:txBody>
      </p:sp>
      <p:sp>
        <p:nvSpPr>
          <p:cNvPr id="26" name="evidence"/>
          <p:cNvSpPr txBox="1"/>
          <p:nvPr/>
        </p:nvSpPr>
        <p:spPr>
          <a:xfrm>
            <a:off x="8385048" y="1847088"/>
            <a:ext cx="3255264" cy="2377440"/>
          </a:xfrm>
          <a:prstGeom prst="rect">
            <a:avLst/>
          </a:prstGeom>
          <a:noFill/>
          <a:ln/>
        </p:spPr>
        <p:txBody>
          <a:bodyPr wrap="square" lIns="508" tIns="508" rIns="508" bIns="508" rtlCol="0" anchor="t"/>
          <a:lstStyle/>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RPO 6,640 億ドル(前年比 +2,090 億)</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36 か月以内 50%(前期 46%)</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OCI は従量・確約、保守・SaaS は継続課金</a:t>
            </a:r>
            <a:endParaRPr lang="en-US" sz="950" dirty="0"/>
          </a:p>
        </p:txBody>
      </p:sp>
      <p:sp>
        <p:nvSpPr>
          <p:cNvPr id="27" name="ovl_takeaway_bg"/>
          <p:cNvSpPr/>
          <p:nvPr/>
        </p:nvSpPr>
        <p:spPr>
          <a:xfrm>
            <a:off x="8275320" y="4389120"/>
            <a:ext cx="3456432" cy="1143000"/>
          </a:xfrm>
          <a:prstGeom prst="rect">
            <a:avLst/>
          </a:prstGeom>
          <a:solidFill>
            <a:srgbClr val="EAF4EE"/>
          </a:solidFill>
          <a:ln w="12700">
            <a:solidFill>
              <a:srgbClr val="EAF4EE"/>
            </a:solidFill>
            <a:prstDash val="solid"/>
          </a:ln>
        </p:spPr>
      </p:sp>
      <p:sp>
        <p:nvSpPr>
          <p:cNvPr id="28" name="takeaway"/>
          <p:cNvSpPr txBox="1"/>
          <p:nvPr/>
        </p:nvSpPr>
        <p:spPr>
          <a:xfrm>
            <a:off x="8385048" y="4462272"/>
            <a:ext cx="3236976" cy="996696"/>
          </a:xfrm>
          <a:prstGeom prst="rect">
            <a:avLst/>
          </a:prstGeom>
          <a:noFill/>
          <a:ln/>
        </p:spPr>
        <p:txBody>
          <a:bodyPr wrap="square" lIns="508" tIns="508" rIns="508" bIns="508" rtlCol="0" anchor="ctr"/>
          <a:lstStyle/>
          <a:p>
            <a:pPr indent="0" marL="0">
              <a:buNone/>
            </a:pPr>
            <a:r>
              <a:rPr lang="en-US" sz="1050" b="1" dirty="0">
                <a:solidFill>
                  <a:srgbClr val="0E4D33"/>
                </a:solidFill>
                <a:latin typeface="Meiryo UI" pitchFamily="34" charset="0"/>
                <a:ea typeface="Meiryo UI" pitchFamily="34" charset="-122"/>
                <a:cs typeface="Meiryo UI" pitchFamily="34" charset="-120"/>
              </a:rPr>
              <a:t>継続課金と長期の確約が積み上がるストック型。</a:t>
            </a:r>
            <a:endParaRPr lang="en-US" sz="1050" dirty="0"/>
          </a:p>
          <a:p>
            <a:pPr indent="0" marL="0">
              <a:buNone/>
            </a:pPr>
            <a:r>
              <a:rPr lang="en-US" sz="1050" b="1" dirty="0">
                <a:solidFill>
                  <a:srgbClr val="0E4D33"/>
                </a:solidFill>
                <a:latin typeface="Meiryo UI" pitchFamily="34" charset="0"/>
                <a:ea typeface="Meiryo UI" pitchFamily="34" charset="-122"/>
                <a:cs typeface="Meiryo UI" pitchFamily="34" charset="-120"/>
              </a:rPr>
              <a:t>解約条件が見えないため S でなく A</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3-5 総合(条件13)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20586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20586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アーキタイプ(条件13)</a:t>
            </a:r>
            <a:endParaRPr lang="en-US" sz="1000" dirty="0"/>
          </a:p>
        </p:txBody>
      </p:sp>
      <p:sp>
        <p:nvSpPr>
          <p:cNvPr id="14" name="hdr_why"/>
          <p:cNvSpPr txBox="1"/>
          <p:nvPr/>
        </p:nvSpPr>
        <p:spPr>
          <a:xfrm>
            <a:off x="2662174" y="356616"/>
            <a:ext cx="90723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各条件を束ね、目指す型(ORCL 型)と避けたい型(MU・VRT・AVGO 型)のどちらに近いかを判定する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保守・SaaS・Database@ は ORCL 型だが、</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自社で GPU を買う大型 AI 契約の部分が MU 型に寄る</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条件13(総合)アーキタイプ照合: ORCL 型か MU/VRT/AVGO 型か</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需給エンジン第4.3版、会社開示(FY27 capex ガイダンス)、research4/T2_company_rpo_capacity.md</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32</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条件13</a:t>
            </a:r>
            <a:endParaRPr lang="en-US" sz="800" dirty="0"/>
          </a:p>
        </p:txBody>
      </p:sp>
      <p:sp>
        <p:nvSpPr>
          <p:cNvPr id="22" name="flow_h0"/>
          <p:cNvSpPr txBox="1"/>
          <p:nvPr/>
        </p:nvSpPr>
        <p:spPr>
          <a:xfrm>
            <a:off x="457200" y="1600200"/>
            <a:ext cx="1408176"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原型</a:t>
            </a:r>
            <a:endParaRPr lang="en-US" sz="1100" dirty="0"/>
          </a:p>
        </p:txBody>
      </p:sp>
      <p:sp>
        <p:nvSpPr>
          <p:cNvPr id="23" name="ovl_fbox0_0"/>
          <p:cNvSpPr/>
          <p:nvPr/>
        </p:nvSpPr>
        <p:spPr>
          <a:xfrm>
            <a:off x="457200" y="2066544"/>
            <a:ext cx="1408176" cy="822960"/>
          </a:xfrm>
          <a:prstGeom prst="roundRect">
            <a:avLst>
              <a:gd name="adj" fmla="val 6667"/>
            </a:avLst>
          </a:prstGeom>
          <a:solidFill>
            <a:srgbClr val="0E4D33"/>
          </a:solidFill>
          <a:ln w="9525">
            <a:solidFill>
              <a:srgbClr val="0E4D33"/>
            </a:solidFill>
            <a:prstDash val="solid"/>
          </a:ln>
        </p:spPr>
      </p:sp>
      <p:sp>
        <p:nvSpPr>
          <p:cNvPr id="24" name="flow_t0_0"/>
          <p:cNvSpPr txBox="1"/>
          <p:nvPr/>
        </p:nvSpPr>
        <p:spPr>
          <a:xfrm>
            <a:off x="530352" y="2103120"/>
            <a:ext cx="1261872" cy="749808"/>
          </a:xfrm>
          <a:prstGeom prst="rect">
            <a:avLst/>
          </a:prstGeom>
          <a:noFill/>
          <a:ln/>
        </p:spPr>
        <p:txBody>
          <a:bodyPr wrap="square" lIns="0" tIns="0" rIns="0" bIns="0" rtlCol="0" anchor="ctr"/>
          <a:lstStyle/>
          <a:p>
            <a:pPr algn="ctr" indent="0" marL="0">
              <a:buNone/>
            </a:pPr>
            <a:r>
              <a:rPr lang="en-US" sz="1000" dirty="0">
                <a:solidFill>
                  <a:srgbClr val="FFFFFF"/>
                </a:solidFill>
                <a:latin typeface="Meiryo UI" pitchFamily="34" charset="0"/>
                <a:ea typeface="Meiryo UI" pitchFamily="34" charset="-122"/>
                <a:cs typeface="Meiryo UI" pitchFamily="34" charset="-120"/>
              </a:rPr>
              <a:t>ORCL 型</a:t>
            </a:r>
            <a:endParaRPr lang="en-US" sz="1000" dirty="0"/>
          </a:p>
        </p:txBody>
      </p:sp>
      <p:sp>
        <p:nvSpPr>
          <p:cNvPr id="25" name="ovl_farrow0"/>
          <p:cNvSpPr/>
          <p:nvPr/>
        </p:nvSpPr>
        <p:spPr>
          <a:xfrm>
            <a:off x="1885950" y="2295144"/>
            <a:ext cx="109728" cy="365760"/>
          </a:xfrm>
          <a:prstGeom prst="rightArrow">
            <a:avLst/>
          </a:prstGeom>
          <a:solidFill>
            <a:srgbClr val="86C99B"/>
          </a:solidFill>
          <a:ln w="12700">
            <a:solidFill>
              <a:srgbClr val="86C99B"/>
            </a:solidFill>
            <a:prstDash val="solid"/>
          </a:ln>
        </p:spPr>
      </p:sp>
      <p:sp>
        <p:nvSpPr>
          <p:cNvPr id="26" name="flow_h1"/>
          <p:cNvSpPr txBox="1"/>
          <p:nvPr/>
        </p:nvSpPr>
        <p:spPr>
          <a:xfrm>
            <a:off x="2002536" y="1600200"/>
            <a:ext cx="1408176"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A</a:t>
            </a:r>
            <a:endParaRPr lang="en-US" sz="1100" dirty="0"/>
          </a:p>
        </p:txBody>
      </p:sp>
      <p:sp>
        <p:nvSpPr>
          <p:cNvPr id="27" name="ovl_fbox1_0"/>
          <p:cNvSpPr/>
          <p:nvPr/>
        </p:nvSpPr>
        <p:spPr>
          <a:xfrm>
            <a:off x="2002536" y="2066544"/>
            <a:ext cx="1408176" cy="822960"/>
          </a:xfrm>
          <a:prstGeom prst="roundRect">
            <a:avLst>
              <a:gd name="adj" fmla="val 6667"/>
            </a:avLst>
          </a:prstGeom>
          <a:solidFill>
            <a:srgbClr val="197A56"/>
          </a:solidFill>
          <a:ln w="9525">
            <a:solidFill>
              <a:srgbClr val="197A56"/>
            </a:solidFill>
            <a:prstDash val="solid"/>
          </a:ln>
        </p:spPr>
      </p:sp>
      <p:sp>
        <p:nvSpPr>
          <p:cNvPr id="28" name="flow_t1_0"/>
          <p:cNvSpPr txBox="1"/>
          <p:nvPr/>
        </p:nvSpPr>
        <p:spPr>
          <a:xfrm>
            <a:off x="2075688" y="2103120"/>
            <a:ext cx="1261872" cy="749808"/>
          </a:xfrm>
          <a:prstGeom prst="rect">
            <a:avLst/>
          </a:prstGeom>
          <a:noFill/>
          <a:ln/>
        </p:spPr>
        <p:txBody>
          <a:bodyPr wrap="square" lIns="0" tIns="0" rIns="0" bIns="0" rtlCol="0" anchor="ctr"/>
          <a:lstStyle/>
          <a:p>
            <a:pPr algn="ctr" indent="0" marL="0">
              <a:buNone/>
            </a:pPr>
            <a:r>
              <a:rPr lang="en-US" sz="1000" dirty="0">
                <a:solidFill>
                  <a:srgbClr val="FFFFFF"/>
                </a:solidFill>
                <a:latin typeface="Meiryo UI" pitchFamily="34" charset="0"/>
                <a:ea typeface="Meiryo UI" pitchFamily="34" charset="-122"/>
                <a:cs typeface="Meiryo UI" pitchFamily="34" charset="-120"/>
              </a:rPr>
              <a:t>保守・SaaS</a:t>
            </a:r>
            <a:endParaRPr lang="en-US" sz="1000" dirty="0"/>
          </a:p>
        </p:txBody>
      </p:sp>
      <p:sp>
        <p:nvSpPr>
          <p:cNvPr id="29" name="ovl_farrow1"/>
          <p:cNvSpPr/>
          <p:nvPr/>
        </p:nvSpPr>
        <p:spPr>
          <a:xfrm>
            <a:off x="3431286" y="2295144"/>
            <a:ext cx="109728" cy="365760"/>
          </a:xfrm>
          <a:prstGeom prst="rightArrow">
            <a:avLst/>
          </a:prstGeom>
          <a:solidFill>
            <a:srgbClr val="86C99B"/>
          </a:solidFill>
          <a:ln w="12700">
            <a:solidFill>
              <a:srgbClr val="86C99B"/>
            </a:solidFill>
            <a:prstDash val="solid"/>
          </a:ln>
        </p:spPr>
      </p:sp>
      <p:sp>
        <p:nvSpPr>
          <p:cNvPr id="30" name="flow_h2"/>
          <p:cNvSpPr txBox="1"/>
          <p:nvPr/>
        </p:nvSpPr>
        <p:spPr>
          <a:xfrm>
            <a:off x="3547872" y="1600200"/>
            <a:ext cx="1408176"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A</a:t>
            </a:r>
            <a:endParaRPr lang="en-US" sz="1100" dirty="0"/>
          </a:p>
        </p:txBody>
      </p:sp>
      <p:sp>
        <p:nvSpPr>
          <p:cNvPr id="31" name="ovl_fbox2_0"/>
          <p:cNvSpPr/>
          <p:nvPr/>
        </p:nvSpPr>
        <p:spPr>
          <a:xfrm>
            <a:off x="3547872" y="2066544"/>
            <a:ext cx="1408176" cy="822960"/>
          </a:xfrm>
          <a:prstGeom prst="roundRect">
            <a:avLst>
              <a:gd name="adj" fmla="val 6667"/>
            </a:avLst>
          </a:prstGeom>
          <a:solidFill>
            <a:srgbClr val="197A56"/>
          </a:solidFill>
          <a:ln w="9525">
            <a:solidFill>
              <a:srgbClr val="197A56"/>
            </a:solidFill>
            <a:prstDash val="solid"/>
          </a:ln>
        </p:spPr>
      </p:sp>
      <p:sp>
        <p:nvSpPr>
          <p:cNvPr id="32" name="flow_t2_0"/>
          <p:cNvSpPr txBox="1"/>
          <p:nvPr/>
        </p:nvSpPr>
        <p:spPr>
          <a:xfrm>
            <a:off x="3621024" y="2103120"/>
            <a:ext cx="1261872" cy="749808"/>
          </a:xfrm>
          <a:prstGeom prst="rect">
            <a:avLst/>
          </a:prstGeom>
          <a:noFill/>
          <a:ln/>
        </p:spPr>
        <p:txBody>
          <a:bodyPr wrap="square" lIns="0" tIns="0" rIns="0" bIns="0" rtlCol="0" anchor="ctr"/>
          <a:lstStyle/>
          <a:p>
            <a:pPr algn="ctr" indent="0" marL="0">
              <a:buNone/>
            </a:pPr>
            <a:r>
              <a:rPr lang="en-US" sz="1000" dirty="0">
                <a:solidFill>
                  <a:srgbClr val="FFFFFF"/>
                </a:solidFill>
                <a:latin typeface="Meiryo UI" pitchFamily="34" charset="0"/>
                <a:ea typeface="Meiryo UI" pitchFamily="34" charset="-122"/>
                <a:cs typeface="Meiryo UI" pitchFamily="34" charset="-120"/>
              </a:rPr>
              <a:t>Database@・</a:t>
            </a:r>
            <a:endParaRPr lang="en-US" sz="1000" dirty="0"/>
          </a:p>
          <a:p>
            <a:pPr algn="ctr" indent="0" marL="0">
              <a:buNone/>
            </a:pPr>
            <a:r>
              <a:rPr lang="en-US" sz="1000" dirty="0">
                <a:solidFill>
                  <a:srgbClr val="FFFFFF"/>
                </a:solidFill>
                <a:latin typeface="Meiryo UI" pitchFamily="34" charset="0"/>
                <a:ea typeface="Meiryo UI" pitchFamily="34" charset="-122"/>
                <a:cs typeface="Meiryo UI" pitchFamily="34" charset="-120"/>
              </a:rPr>
              <a:t>OCI 一般</a:t>
            </a:r>
            <a:endParaRPr lang="en-US" sz="1000" dirty="0"/>
          </a:p>
        </p:txBody>
      </p:sp>
      <p:sp>
        <p:nvSpPr>
          <p:cNvPr id="33" name="ovl_farrow2"/>
          <p:cNvSpPr/>
          <p:nvPr/>
        </p:nvSpPr>
        <p:spPr>
          <a:xfrm>
            <a:off x="4976622" y="2295144"/>
            <a:ext cx="109728" cy="365760"/>
          </a:xfrm>
          <a:prstGeom prst="rightArrow">
            <a:avLst/>
          </a:prstGeom>
          <a:solidFill>
            <a:srgbClr val="86C99B"/>
          </a:solidFill>
          <a:ln w="12700">
            <a:solidFill>
              <a:srgbClr val="86C99B"/>
            </a:solidFill>
            <a:prstDash val="solid"/>
          </a:ln>
        </p:spPr>
      </p:sp>
      <p:sp>
        <p:nvSpPr>
          <p:cNvPr id="34" name="flow_h3"/>
          <p:cNvSpPr txBox="1"/>
          <p:nvPr/>
        </p:nvSpPr>
        <p:spPr>
          <a:xfrm>
            <a:off x="5093208" y="1600200"/>
            <a:ext cx="1408176"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B</a:t>
            </a:r>
            <a:endParaRPr lang="en-US" sz="1100" dirty="0"/>
          </a:p>
        </p:txBody>
      </p:sp>
      <p:sp>
        <p:nvSpPr>
          <p:cNvPr id="35" name="ovl_fbox3_0"/>
          <p:cNvSpPr/>
          <p:nvPr/>
        </p:nvSpPr>
        <p:spPr>
          <a:xfrm>
            <a:off x="5093208" y="2066544"/>
            <a:ext cx="1408176" cy="822960"/>
          </a:xfrm>
          <a:prstGeom prst="roundRect">
            <a:avLst>
              <a:gd name="adj" fmla="val 6667"/>
            </a:avLst>
          </a:prstGeom>
          <a:solidFill>
            <a:srgbClr val="EAF4EE"/>
          </a:solidFill>
          <a:ln w="9525">
            <a:solidFill>
              <a:srgbClr val="EAF4EE"/>
            </a:solidFill>
            <a:prstDash val="solid"/>
          </a:ln>
        </p:spPr>
      </p:sp>
      <p:sp>
        <p:nvSpPr>
          <p:cNvPr id="36" name="flow_t3_0"/>
          <p:cNvSpPr txBox="1"/>
          <p:nvPr/>
        </p:nvSpPr>
        <p:spPr>
          <a:xfrm>
            <a:off x="5166360" y="2103120"/>
            <a:ext cx="1261872" cy="749808"/>
          </a:xfrm>
          <a:prstGeom prst="rect">
            <a:avLst/>
          </a:prstGeom>
          <a:noFill/>
          <a:ln/>
        </p:spPr>
        <p:txBody>
          <a:bodyPr wrap="square" lIns="0" tIns="0" rIns="0" bIns="0" rtlCol="0" anchor="ctr"/>
          <a:lstStyle/>
          <a:p>
            <a:pPr algn="ctr" indent="0" marL="0">
              <a:buNone/>
            </a:pPr>
            <a:r>
              <a:rPr lang="en-US" sz="1000" dirty="0">
                <a:solidFill>
                  <a:srgbClr val="0E4D33"/>
                </a:solidFill>
                <a:latin typeface="Meiryo UI" pitchFamily="34" charset="0"/>
                <a:ea typeface="Meiryo UI" pitchFamily="34" charset="-122"/>
                <a:cs typeface="Meiryo UI" pitchFamily="34" charset="-120"/>
              </a:rPr>
              <a:t>AI 容量(前払い・</a:t>
            </a:r>
            <a:endParaRPr lang="en-US" sz="1000" dirty="0"/>
          </a:p>
          <a:p>
            <a:pPr algn="ctr" indent="0" marL="0">
              <a:buNone/>
            </a:pPr>
            <a:r>
              <a:rPr lang="en-US" sz="1000" dirty="0">
                <a:solidFill>
                  <a:srgbClr val="0E4D33"/>
                </a:solidFill>
                <a:latin typeface="Meiryo UI" pitchFamily="34" charset="0"/>
                <a:ea typeface="Meiryo UI" pitchFamily="34" charset="-122"/>
                <a:cs typeface="Meiryo UI" pitchFamily="34" charset="-120"/>
              </a:rPr>
              <a:t>持ち込み)</a:t>
            </a:r>
            <a:endParaRPr lang="en-US" sz="1000" dirty="0"/>
          </a:p>
        </p:txBody>
      </p:sp>
      <p:sp>
        <p:nvSpPr>
          <p:cNvPr id="37" name="ovl_farrow3"/>
          <p:cNvSpPr/>
          <p:nvPr/>
        </p:nvSpPr>
        <p:spPr>
          <a:xfrm>
            <a:off x="6521958" y="2295144"/>
            <a:ext cx="109728" cy="365760"/>
          </a:xfrm>
          <a:prstGeom prst="rightArrow">
            <a:avLst/>
          </a:prstGeom>
          <a:solidFill>
            <a:srgbClr val="86C99B"/>
          </a:solidFill>
          <a:ln w="12700">
            <a:solidFill>
              <a:srgbClr val="86C99B"/>
            </a:solidFill>
            <a:prstDash val="solid"/>
          </a:ln>
        </p:spPr>
      </p:sp>
      <p:sp>
        <p:nvSpPr>
          <p:cNvPr id="38" name="flow_h4"/>
          <p:cNvSpPr txBox="1"/>
          <p:nvPr/>
        </p:nvSpPr>
        <p:spPr>
          <a:xfrm>
            <a:off x="6638544" y="1600200"/>
            <a:ext cx="1408176"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C〜G</a:t>
            </a:r>
            <a:endParaRPr lang="en-US" sz="1100" dirty="0"/>
          </a:p>
        </p:txBody>
      </p:sp>
      <p:sp>
        <p:nvSpPr>
          <p:cNvPr id="39" name="ovl_fbox4_0"/>
          <p:cNvSpPr/>
          <p:nvPr/>
        </p:nvSpPr>
        <p:spPr>
          <a:xfrm>
            <a:off x="6638544" y="2066544"/>
            <a:ext cx="1408176" cy="822960"/>
          </a:xfrm>
          <a:prstGeom prst="roundRect">
            <a:avLst>
              <a:gd name="adj" fmla="val 6667"/>
            </a:avLst>
          </a:prstGeom>
          <a:solidFill>
            <a:srgbClr val="F2F2F2"/>
          </a:solidFill>
          <a:ln w="9525">
            <a:solidFill>
              <a:srgbClr val="F2F2F2"/>
            </a:solidFill>
            <a:prstDash val="solid"/>
          </a:ln>
        </p:spPr>
      </p:sp>
      <p:sp>
        <p:nvSpPr>
          <p:cNvPr id="40" name="flow_t4_0"/>
          <p:cNvSpPr txBox="1"/>
          <p:nvPr/>
        </p:nvSpPr>
        <p:spPr>
          <a:xfrm>
            <a:off x="6711696" y="2103120"/>
            <a:ext cx="1261872" cy="749808"/>
          </a:xfrm>
          <a:prstGeom prst="rect">
            <a:avLst/>
          </a:prstGeom>
          <a:noFill/>
          <a:ln/>
        </p:spPr>
        <p:txBody>
          <a:bodyPr wrap="square" lIns="0" tIns="0" rIns="0" bIns="0" rtlCol="0" anchor="ctr"/>
          <a:lstStyle/>
          <a:p>
            <a:pPr algn="ctr" indent="0" marL="0">
              <a:buNone/>
            </a:pPr>
            <a:r>
              <a:rPr lang="en-US" sz="1000" dirty="0">
                <a:solidFill>
                  <a:srgbClr val="767676"/>
                </a:solidFill>
                <a:latin typeface="Meiryo UI" pitchFamily="34" charset="0"/>
                <a:ea typeface="Meiryo UI" pitchFamily="34" charset="-122"/>
                <a:cs typeface="Meiryo UI" pitchFamily="34" charset="-120"/>
              </a:rPr>
              <a:t>AI 容量(自社調達 GPU)</a:t>
            </a:r>
            <a:endParaRPr lang="en-US" sz="1000" dirty="0"/>
          </a:p>
        </p:txBody>
      </p:sp>
      <p:graphicFrame>
        <p:nvGraphicFramePr>
          <p:cNvPr id="33" name="tbl"/>
          <p:cNvGraphicFramePr>
            <a:graphicFrameLocks noGrp="1"/>
          </p:cNvGraphicFramePr>
          <p:nvPr>
            <p:extLst>
              <p:ext uri="{D42A27DB-BD31-4B8C-83A1-F6EECF244321}">
                <p14:modId xmlns:p14="http://schemas.microsoft.com/office/powerpoint/2010/main" val="1579011935"/>
              </p:ext>
            </p:extLst>
          </p:nvPr>
        </p:nvGraphicFramePr>
        <p:xfrm>
          <a:off x="457200" y="3246120"/>
          <a:ext cx="7589520" cy="914400"/>
        </p:xfrm>
        <a:graphic>
          <a:graphicData uri="http://schemas.openxmlformats.org/drawingml/2006/table">
            <a:tbl>
              <a:tblPr/>
              <a:tblGrid>
                <a:gridCol w="2103120"/>
                <a:gridCol w="2743200"/>
                <a:gridCol w="2743200"/>
              </a:tblGrid>
              <a:tr h="365760">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観点</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ORCL 型の要素</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MU 型の要素</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65760">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課金</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継続課金・従量・確約</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陳腐化リスク</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前払い・持ち込みで顧客へ移す</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自社調達 GPU は Oracle が負う</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65760">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capex(FY27)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純現金 capex 700 億ドル以下(ガイダンス)</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エンジン 942 億ドル・純現金 733 億ドル</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価値の比率</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保守・SaaS・OCI 一般 約 50%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AI 容量 45%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42" name="ovl_evbox"/>
          <p:cNvSpPr/>
          <p:nvPr/>
        </p:nvSpPr>
        <p:spPr>
          <a:xfrm>
            <a:off x="8275320" y="1481328"/>
            <a:ext cx="3456432" cy="2788920"/>
          </a:xfrm>
          <a:prstGeom prst="rect">
            <a:avLst/>
          </a:prstGeom>
          <a:solidFill>
            <a:srgbClr val="FFFFFF"/>
          </a:solidFill>
          <a:ln w="9525">
            <a:solidFill>
              <a:srgbClr val="D9D9D9"/>
            </a:solidFill>
            <a:prstDash val="solid"/>
          </a:ln>
        </p:spPr>
      </p:sp>
      <p:sp>
        <p:nvSpPr>
          <p:cNvPr id="43" name="ev_head"/>
          <p:cNvSpPr txBox="1"/>
          <p:nvPr/>
        </p:nvSpPr>
        <p:spPr>
          <a:xfrm>
            <a:off x="8385048" y="1536192"/>
            <a:ext cx="320040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根拠</a:t>
            </a:r>
            <a:endParaRPr lang="en-US" sz="1200" dirty="0"/>
          </a:p>
        </p:txBody>
      </p:sp>
      <p:sp>
        <p:nvSpPr>
          <p:cNvPr id="44" name="evidence"/>
          <p:cNvSpPr txBox="1"/>
          <p:nvPr/>
        </p:nvSpPr>
        <p:spPr>
          <a:xfrm>
            <a:off x="8385048" y="1847088"/>
            <a:ext cx="3255264" cy="2377440"/>
          </a:xfrm>
          <a:prstGeom prst="rect">
            <a:avLst/>
          </a:prstGeom>
          <a:noFill/>
          <a:ln/>
        </p:spPr>
        <p:txBody>
          <a:bodyPr wrap="square" lIns="508" tIns="508" rIns="508" bIns="508" rtlCol="0" anchor="t"/>
          <a:lstStyle/>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前払い・持ち込み累計 750 億ドル</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10GW の 90% 超はパートナーが資金負担</a:t>
            </a:r>
            <a:endParaRPr lang="en-US" sz="950" dirty="0"/>
          </a:p>
          <a:p>
            <a:pPr marL="152400" indent="-152400">
              <a:buSzPct val="100000"/>
              <a:buChar char="•"/>
            </a:pPr>
            <a:r>
              <a:rPr lang="en-US" sz="950" dirty="0">
                <a:solidFill>
                  <a:srgbClr val="333333"/>
                </a:solidFill>
                <a:latin typeface="Meiryo UI" pitchFamily="34" charset="0"/>
                <a:ea typeface="Meiryo UI" pitchFamily="34" charset="-122"/>
                <a:cs typeface="Meiryo UI" pitchFamily="34" charset="-120"/>
              </a:rPr>
              <a:t>FY27 の総 capex 900〜950 億ドルのうち、</a:t>
            </a:r>
            <a:endParaRPr lang="en-US" sz="950" dirty="0"/>
          </a:p>
          <a:p>
            <a:pPr marL="152400" indent="-152400">
              <a:spcAft>
                <a:spcPts val="400"/>
              </a:spcAft>
              <a:buSzPct val="100000"/>
              <a:buChar char=" "/>
            </a:pPr>
            <a:r>
              <a:rPr lang="en-US" sz="950" dirty="0">
                <a:solidFill>
                  <a:srgbClr val="333333"/>
                </a:solidFill>
                <a:latin typeface="Meiryo UI" pitchFamily="34" charset="0"/>
                <a:ea typeface="Meiryo UI" pitchFamily="34" charset="-122"/>
                <a:cs typeface="Meiryo UI" pitchFamily="34" charset="-120"/>
              </a:rPr>
              <a:t>顧客の前払いが約 24%</a:t>
            </a:r>
            <a:endParaRPr lang="en-US" sz="950" dirty="0"/>
          </a:p>
        </p:txBody>
      </p:sp>
      <p:sp>
        <p:nvSpPr>
          <p:cNvPr id="45" name="ovl_takeaway_bg"/>
          <p:cNvSpPr/>
          <p:nvPr/>
        </p:nvSpPr>
        <p:spPr>
          <a:xfrm>
            <a:off x="8275320" y="4389120"/>
            <a:ext cx="3456432" cy="1143000"/>
          </a:xfrm>
          <a:prstGeom prst="rect">
            <a:avLst/>
          </a:prstGeom>
          <a:solidFill>
            <a:srgbClr val="EAF4EE"/>
          </a:solidFill>
          <a:ln w="12700">
            <a:solidFill>
              <a:srgbClr val="EAF4EE"/>
            </a:solidFill>
            <a:prstDash val="solid"/>
          </a:ln>
        </p:spPr>
      </p:sp>
      <p:sp>
        <p:nvSpPr>
          <p:cNvPr id="46" name="takeaway"/>
          <p:cNvSpPr txBox="1"/>
          <p:nvPr/>
        </p:nvSpPr>
        <p:spPr>
          <a:xfrm>
            <a:off x="8385048" y="4462272"/>
            <a:ext cx="3236976" cy="996696"/>
          </a:xfrm>
          <a:prstGeom prst="rect">
            <a:avLst/>
          </a:prstGeom>
          <a:noFill/>
          <a:ln/>
        </p:spPr>
        <p:txBody>
          <a:bodyPr wrap="square" lIns="508" tIns="508" rIns="508" bIns="508" rtlCol="0" anchor="ctr"/>
          <a:lstStyle/>
          <a:p>
            <a:pPr indent="0" marL="0">
              <a:buNone/>
            </a:pPr>
            <a:r>
              <a:rPr lang="en-US" sz="1050" b="1" dirty="0">
                <a:solidFill>
                  <a:srgbClr val="0E4D33"/>
                </a:solidFill>
                <a:latin typeface="Meiryo UI" pitchFamily="34" charset="0"/>
                <a:ea typeface="Meiryo UI" pitchFamily="34" charset="-122"/>
                <a:cs typeface="Meiryo UI" pitchFamily="34" charset="-120"/>
              </a:rPr>
              <a:t>原型は ORCL 型のまま。自社調達の GPU が増えると MU 型に寄るため B</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E4D33"/>
        </a:solidFill>
      </p:bgPr>
    </p:bg>
    <p:spTree>
      <p:nvGrpSpPr>
        <p:cNvPr id="1" name=""/>
        <p:cNvGrpSpPr/>
        <p:nvPr/>
      </p:nvGrpSpPr>
      <p:grpSpPr>
        <a:xfrm>
          <a:off x="0" y="0"/>
          <a:ext cx="0" cy="0"/>
          <a:chOff x="0" y="0"/>
          <a:chExt cx="0" cy="0"/>
        </a:xfrm>
      </p:grpSpPr>
      <p:sp>
        <p:nvSpPr>
          <p:cNvPr id="2" name="bg_agenda"/>
          <p:cNvSpPr/>
          <p:nvPr/>
        </p:nvSpPr>
        <p:spPr>
          <a:xfrm>
            <a:off x="0" y="0"/>
            <a:ext cx="12191695" cy="6858000"/>
          </a:xfrm>
          <a:prstGeom prst="rect">
            <a:avLst/>
          </a:prstGeom>
          <a:solidFill>
            <a:srgbClr val="0E4D33"/>
          </a:solidFill>
          <a:ln w="12700">
            <a:solidFill>
              <a:srgbClr val="0E4D33"/>
            </a:solidFill>
            <a:prstDash val="solid"/>
          </a:ln>
        </p:spPr>
      </p:sp>
      <p:sp>
        <p:nvSpPr>
          <p:cNvPr id="3" name="bg_agenda_lbl"/>
          <p:cNvSpPr txBox="1"/>
          <p:nvPr/>
        </p:nvSpPr>
        <p:spPr>
          <a:xfrm>
            <a:off x="731520" y="502920"/>
            <a:ext cx="2743200" cy="640080"/>
          </a:xfrm>
          <a:prstGeom prst="rect">
            <a:avLst/>
          </a:prstGeom>
          <a:noFill/>
          <a:ln/>
        </p:spPr>
        <p:txBody>
          <a:bodyPr wrap="square" lIns="508" tIns="508" rIns="508" bIns="508" rtlCol="0" anchor="t"/>
          <a:lstStyle/>
          <a:p>
            <a:pPr indent="0" marL="0">
              <a:buNone/>
            </a:pPr>
            <a:r>
              <a:rPr lang="en-US" sz="2600" b="1" dirty="0">
                <a:solidFill>
                  <a:srgbClr val="FFFFFF"/>
                </a:solidFill>
                <a:latin typeface="Meiryo UI" pitchFamily="34" charset="0"/>
                <a:ea typeface="Meiryo UI" pitchFamily="34" charset="-122"/>
                <a:cs typeface="Meiryo UI" pitchFamily="34" charset="-120"/>
              </a:rPr>
              <a:t>目次</a:t>
            </a:r>
            <a:endParaRPr lang="en-US" sz="2600" dirty="0"/>
          </a:p>
        </p:txBody>
      </p:sp>
      <p:sp>
        <p:nvSpPr>
          <p:cNvPr id="4" name="bg_agenda_n0"/>
          <p:cNvSpPr/>
          <p:nvPr/>
        </p:nvSpPr>
        <p:spPr>
          <a:xfrm>
            <a:off x="777240" y="1463040"/>
            <a:ext cx="457200" cy="457200"/>
          </a:xfrm>
          <a:prstGeom prst="ellipse">
            <a:avLst/>
          </a:prstGeom>
          <a:solidFill>
            <a:srgbClr val="0E4D33"/>
          </a:solidFill>
          <a:ln w="12700">
            <a:solidFill>
              <a:srgbClr val="FFFFFF"/>
            </a:solidFill>
            <a:prstDash val="solid"/>
          </a:ln>
        </p:spPr>
      </p:sp>
      <p:sp>
        <p:nvSpPr>
          <p:cNvPr id="5" name="bg_agenda_nt0"/>
          <p:cNvSpPr txBox="1"/>
          <p:nvPr/>
        </p:nvSpPr>
        <p:spPr>
          <a:xfrm>
            <a:off x="777240" y="1463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1</a:t>
            </a:r>
            <a:endParaRPr lang="en-US" sz="1400" dirty="0"/>
          </a:p>
        </p:txBody>
      </p:sp>
      <p:sp>
        <p:nvSpPr>
          <p:cNvPr id="6" name="bg_agenda_ch0"/>
          <p:cNvSpPr txBox="1"/>
          <p:nvPr/>
        </p:nvSpPr>
        <p:spPr>
          <a:xfrm>
            <a:off x="1417320" y="1444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評価総括</a:t>
            </a:r>
            <a:endParaRPr lang="en-US" sz="1800" dirty="0"/>
          </a:p>
        </p:txBody>
      </p:sp>
      <p:sp>
        <p:nvSpPr>
          <p:cNvPr id="7" name="bg_agenda_n1"/>
          <p:cNvSpPr/>
          <p:nvPr/>
        </p:nvSpPr>
        <p:spPr>
          <a:xfrm>
            <a:off x="777240" y="2606040"/>
            <a:ext cx="457200" cy="457200"/>
          </a:xfrm>
          <a:prstGeom prst="ellipse">
            <a:avLst/>
          </a:prstGeom>
          <a:solidFill>
            <a:srgbClr val="0E4D33"/>
          </a:solidFill>
          <a:ln w="12700">
            <a:solidFill>
              <a:srgbClr val="FFFFFF"/>
            </a:solidFill>
            <a:prstDash val="solid"/>
          </a:ln>
        </p:spPr>
      </p:sp>
      <p:sp>
        <p:nvSpPr>
          <p:cNvPr id="8" name="bg_agenda_nt1"/>
          <p:cNvSpPr txBox="1"/>
          <p:nvPr/>
        </p:nvSpPr>
        <p:spPr>
          <a:xfrm>
            <a:off x="777240" y="2606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2</a:t>
            </a:r>
            <a:endParaRPr lang="en-US" sz="1400" dirty="0"/>
          </a:p>
        </p:txBody>
      </p:sp>
      <p:sp>
        <p:nvSpPr>
          <p:cNvPr id="9" name="bg_agenda_ch1"/>
          <p:cNvSpPr txBox="1"/>
          <p:nvPr/>
        </p:nvSpPr>
        <p:spPr>
          <a:xfrm>
            <a:off x="1417320" y="2587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事業・需給・成長</a:t>
            </a:r>
            <a:endParaRPr lang="en-US" sz="1800" dirty="0"/>
          </a:p>
        </p:txBody>
      </p:sp>
      <p:sp>
        <p:nvSpPr>
          <p:cNvPr id="10" name="bg_agenda_n2"/>
          <p:cNvSpPr/>
          <p:nvPr/>
        </p:nvSpPr>
        <p:spPr>
          <a:xfrm>
            <a:off x="777240" y="3749040"/>
            <a:ext cx="457200" cy="457200"/>
          </a:xfrm>
          <a:prstGeom prst="ellipse">
            <a:avLst/>
          </a:prstGeom>
          <a:solidFill>
            <a:srgbClr val="0E4D33"/>
          </a:solidFill>
          <a:ln w="12700">
            <a:solidFill>
              <a:srgbClr val="FFFFFF"/>
            </a:solidFill>
            <a:prstDash val="solid"/>
          </a:ln>
        </p:spPr>
      </p:sp>
      <p:sp>
        <p:nvSpPr>
          <p:cNvPr id="11" name="bg_agenda_nt2"/>
          <p:cNvSpPr txBox="1"/>
          <p:nvPr/>
        </p:nvSpPr>
        <p:spPr>
          <a:xfrm>
            <a:off x="777240" y="3749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3</a:t>
            </a:r>
            <a:endParaRPr lang="en-US" sz="1400" dirty="0"/>
          </a:p>
        </p:txBody>
      </p:sp>
      <p:sp>
        <p:nvSpPr>
          <p:cNvPr id="12" name="bg_agenda_ch2"/>
          <p:cNvSpPr txBox="1"/>
          <p:nvPr/>
        </p:nvSpPr>
        <p:spPr>
          <a:xfrm>
            <a:off x="1417320" y="3730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13条件の構造分析</a:t>
            </a:r>
            <a:endParaRPr lang="en-US" sz="1800" dirty="0"/>
          </a:p>
        </p:txBody>
      </p:sp>
      <p:sp>
        <p:nvSpPr>
          <p:cNvPr id="13" name="bg_agenda_n3"/>
          <p:cNvSpPr/>
          <p:nvPr/>
        </p:nvSpPr>
        <p:spPr>
          <a:xfrm>
            <a:off x="777240" y="4892040"/>
            <a:ext cx="457200" cy="457200"/>
          </a:xfrm>
          <a:prstGeom prst="ellipse">
            <a:avLst/>
          </a:prstGeom>
          <a:solidFill>
            <a:srgbClr val="197A56"/>
          </a:solidFill>
          <a:ln w="12700">
            <a:solidFill>
              <a:srgbClr val="FFFFFF"/>
            </a:solidFill>
            <a:prstDash val="solid"/>
          </a:ln>
        </p:spPr>
      </p:sp>
      <p:sp>
        <p:nvSpPr>
          <p:cNvPr id="14" name="bg_agenda_nt3"/>
          <p:cNvSpPr txBox="1"/>
          <p:nvPr/>
        </p:nvSpPr>
        <p:spPr>
          <a:xfrm>
            <a:off x="777240" y="48920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4</a:t>
            </a:r>
            <a:endParaRPr lang="en-US" sz="1400" dirty="0"/>
          </a:p>
        </p:txBody>
      </p:sp>
      <p:sp>
        <p:nvSpPr>
          <p:cNvPr id="15" name="bg_agenda_ch3"/>
          <p:cNvSpPr txBox="1"/>
          <p:nvPr/>
        </p:nvSpPr>
        <p:spPr>
          <a:xfrm>
            <a:off x="1417320" y="4873752"/>
            <a:ext cx="5669280" cy="493776"/>
          </a:xfrm>
          <a:prstGeom prst="rect">
            <a:avLst/>
          </a:prstGeom>
          <a:noFill/>
          <a:ln/>
        </p:spPr>
        <p:txBody>
          <a:bodyPr wrap="square" lIns="0" tIns="0" rIns="0" bIns="0" rtlCol="0" anchor="ctr"/>
          <a:lstStyle/>
          <a:p>
            <a:pPr indent="0" marL="0">
              <a:buNone/>
            </a:pPr>
            <a:r>
              <a:rPr lang="en-US" sz="1800" b="1" dirty="0">
                <a:solidFill>
                  <a:srgbClr val="FFFFFF"/>
                </a:solidFill>
                <a:latin typeface="Meiryo UI" pitchFamily="34" charset="0"/>
                <a:ea typeface="Meiryo UI" pitchFamily="34" charset="-122"/>
                <a:cs typeface="Meiryo UI" pitchFamily="34" charset="-120"/>
              </a:rPr>
              <a:t>バリュエーション・リスク・投資アクション</a:t>
            </a:r>
            <a:endParaRPr lang="en-US" sz="1800" dirty="0"/>
          </a:p>
        </p:txBody>
      </p:sp>
      <p:sp>
        <p:nvSpPr>
          <p:cNvPr id="16" name="bg_agenda_why3"/>
          <p:cNvSpPr txBox="1"/>
          <p:nvPr/>
        </p:nvSpPr>
        <p:spPr>
          <a:xfrm>
            <a:off x="1417320" y="5367528"/>
            <a:ext cx="5669280" cy="566928"/>
          </a:xfrm>
          <a:prstGeom prst="rect">
            <a:avLst/>
          </a:prstGeom>
          <a:noFill/>
          <a:ln/>
        </p:spPr>
        <p:txBody>
          <a:bodyPr wrap="square" lIns="0" tIns="0" rIns="0" bIns="0" rtlCol="0" anchor="t"/>
          <a:lstStyle/>
          <a:p>
            <a:pPr indent="0" marL="0">
              <a:buNone/>
            </a:pPr>
            <a:r>
              <a:rPr lang="en-US" sz="1050" dirty="0">
                <a:solidFill>
                  <a:srgbClr val="86C99B"/>
                </a:solidFill>
                <a:latin typeface="Meiryo UI" pitchFamily="34" charset="0"/>
                <a:ea typeface="Meiryo UI" pitchFamily="34" charset="-122"/>
                <a:cs typeface="Meiryo UI" pitchFamily="34" charset="-120"/>
              </a:rPr>
              <a:t>構造評価を倍率に変えて理論株価を出し、</a:t>
            </a:r>
            <a:endParaRPr lang="en-US" sz="1050" dirty="0"/>
          </a:p>
          <a:p>
            <a:pPr indent="0" marL="0">
              <a:buNone/>
            </a:pPr>
            <a:r>
              <a:rPr lang="en-US" sz="1050" dirty="0">
                <a:solidFill>
                  <a:srgbClr val="86C99B"/>
                </a:solidFill>
                <a:latin typeface="Meiryo UI" pitchFamily="34" charset="0"/>
                <a:ea typeface="Meiryo UI" pitchFamily="34" charset="-122"/>
                <a:cs typeface="Meiryo UI" pitchFamily="34" charset="-120"/>
              </a:rPr>
              <a:t>リスクを踏まえて建て方と撤退条件を決める</a:t>
            </a:r>
            <a:endParaRPr lang="en-US" sz="1050" dirty="0"/>
          </a:p>
        </p:txBody>
      </p:sp>
      <p:sp>
        <p:nvSpPr>
          <p:cNvPr id="17" name="bg_agenda_rule"/>
          <p:cNvSpPr/>
          <p:nvPr/>
        </p:nvSpPr>
        <p:spPr>
          <a:xfrm>
            <a:off x="7543800" y="1463040"/>
            <a:ext cx="0" cy="4389120"/>
          </a:xfrm>
          <a:prstGeom prst="line">
            <a:avLst/>
          </a:prstGeom>
          <a:noFill/>
          <a:ln w="9525">
            <a:solidFill>
              <a:srgbClr val="86C99B"/>
            </a:solidFill>
            <a:prstDash val="solid"/>
          </a:ln>
        </p:spPr>
      </p:sp>
      <p:sp>
        <p:nvSpPr>
          <p:cNvPr id="18" name="bg_agenda_sh"/>
          <p:cNvSpPr txBox="1"/>
          <p:nvPr/>
        </p:nvSpPr>
        <p:spPr>
          <a:xfrm>
            <a:off x="7818120" y="1417320"/>
            <a:ext cx="3840480" cy="365760"/>
          </a:xfrm>
          <a:prstGeom prst="rect">
            <a:avLst/>
          </a:prstGeom>
          <a:noFill/>
          <a:ln/>
        </p:spPr>
        <p:txBody>
          <a:bodyPr wrap="square" lIns="0" tIns="0" rIns="0" bIns="0" rtlCol="0" anchor="t"/>
          <a:lstStyle/>
          <a:p>
            <a:pPr indent="0" marL="0">
              <a:buNone/>
            </a:pPr>
            <a:r>
              <a:rPr lang="en-US" sz="1300" b="1" dirty="0">
                <a:solidFill>
                  <a:srgbClr val="86C99B"/>
                </a:solidFill>
                <a:latin typeface="Meiryo UI" pitchFamily="34" charset="0"/>
                <a:ea typeface="Meiryo UI" pitchFamily="34" charset="-122"/>
                <a:cs typeface="Meiryo UI" pitchFamily="34" charset="-120"/>
              </a:rPr>
              <a:t>第4章の構成</a:t>
            </a:r>
            <a:endParaRPr lang="en-US" sz="1300" dirty="0"/>
          </a:p>
        </p:txBody>
      </p:sp>
      <p:sp>
        <p:nvSpPr>
          <p:cNvPr id="19" name="bg_agenda_s0"/>
          <p:cNvSpPr txBox="1"/>
          <p:nvPr/>
        </p:nvSpPr>
        <p:spPr>
          <a:xfrm>
            <a:off x="7818120" y="19202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4-1  市場との差分</a:t>
            </a:r>
            <a:endParaRPr lang="en-US" sz="1250" dirty="0"/>
          </a:p>
        </p:txBody>
      </p:sp>
      <p:sp>
        <p:nvSpPr>
          <p:cNvPr id="20" name="bg_agenda_p0"/>
          <p:cNvSpPr txBox="1"/>
          <p:nvPr/>
        </p:nvSpPr>
        <p:spPr>
          <a:xfrm>
            <a:off x="10881360" y="19202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p.34</a:t>
            </a:r>
            <a:endParaRPr lang="en-US" sz="1050" dirty="0"/>
          </a:p>
        </p:txBody>
      </p:sp>
      <p:sp>
        <p:nvSpPr>
          <p:cNvPr id="21" name="bg_agenda_s1"/>
          <p:cNvSpPr txBox="1"/>
          <p:nvPr/>
        </p:nvSpPr>
        <p:spPr>
          <a:xfrm>
            <a:off x="7818120" y="23774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4-2  価値評価</a:t>
            </a:r>
            <a:endParaRPr lang="en-US" sz="1250" dirty="0"/>
          </a:p>
        </p:txBody>
      </p:sp>
      <p:sp>
        <p:nvSpPr>
          <p:cNvPr id="22" name="bg_agenda_p1"/>
          <p:cNvSpPr txBox="1"/>
          <p:nvPr/>
        </p:nvSpPr>
        <p:spPr>
          <a:xfrm>
            <a:off x="10881360" y="23774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p.35–37</a:t>
            </a:r>
            <a:endParaRPr lang="en-US" sz="1050" dirty="0"/>
          </a:p>
        </p:txBody>
      </p:sp>
      <p:sp>
        <p:nvSpPr>
          <p:cNvPr id="23" name="bg_agenda_s2"/>
          <p:cNvSpPr txBox="1"/>
          <p:nvPr/>
        </p:nvSpPr>
        <p:spPr>
          <a:xfrm>
            <a:off x="7818120" y="28346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4-3  最終判断</a:t>
            </a:r>
            <a:endParaRPr lang="en-US" sz="1250" dirty="0"/>
          </a:p>
        </p:txBody>
      </p:sp>
      <p:sp>
        <p:nvSpPr>
          <p:cNvPr id="24" name="bg_agenda_p2"/>
          <p:cNvSpPr txBox="1"/>
          <p:nvPr/>
        </p:nvSpPr>
        <p:spPr>
          <a:xfrm>
            <a:off x="10881360" y="28346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p.38</a:t>
            </a:r>
            <a:endParaRPr lang="en-US" sz="1050" dirty="0"/>
          </a:p>
        </p:txBody>
      </p:sp>
      <p:sp>
        <p:nvSpPr>
          <p:cNvPr id="25" name="bg_agenda_s3"/>
          <p:cNvSpPr txBox="1"/>
          <p:nvPr/>
        </p:nvSpPr>
        <p:spPr>
          <a:xfrm>
            <a:off x="7818120" y="32918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4-4  リスク</a:t>
            </a:r>
            <a:endParaRPr lang="en-US" sz="1250" dirty="0"/>
          </a:p>
        </p:txBody>
      </p:sp>
      <p:sp>
        <p:nvSpPr>
          <p:cNvPr id="26" name="bg_agenda_p3"/>
          <p:cNvSpPr txBox="1"/>
          <p:nvPr/>
        </p:nvSpPr>
        <p:spPr>
          <a:xfrm>
            <a:off x="10881360" y="32918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p.39</a:t>
            </a:r>
            <a:endParaRPr lang="en-US" sz="1050" dirty="0"/>
          </a:p>
        </p:txBody>
      </p:sp>
      <p:sp>
        <p:nvSpPr>
          <p:cNvPr id="27" name="bg_agenda_s4"/>
          <p:cNvSpPr txBox="1"/>
          <p:nvPr/>
        </p:nvSpPr>
        <p:spPr>
          <a:xfrm>
            <a:off x="7818120" y="37490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4-5  投資行動</a:t>
            </a:r>
            <a:endParaRPr lang="en-US" sz="1250" dirty="0"/>
          </a:p>
        </p:txBody>
      </p:sp>
      <p:sp>
        <p:nvSpPr>
          <p:cNvPr id="28" name="bg_agenda_p4"/>
          <p:cNvSpPr txBox="1"/>
          <p:nvPr/>
        </p:nvSpPr>
        <p:spPr>
          <a:xfrm>
            <a:off x="10881360" y="37490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p.40–41</a:t>
            </a:r>
            <a:endParaRPr lang="en-US" sz="1050" dirty="0"/>
          </a:p>
        </p:txBody>
      </p:sp>
      <p:sp>
        <p:nvSpPr>
          <p:cNvPr id="29" name="bg_agenda_s5"/>
          <p:cNvSpPr txBox="1"/>
          <p:nvPr/>
        </p:nvSpPr>
        <p:spPr>
          <a:xfrm>
            <a:off x="7818120" y="42062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付録  前提と履歴</a:t>
            </a:r>
            <a:endParaRPr lang="en-US" sz="1250" dirty="0"/>
          </a:p>
        </p:txBody>
      </p:sp>
      <p:sp>
        <p:nvSpPr>
          <p:cNvPr id="30" name="bg_agenda_p5"/>
          <p:cNvSpPr txBox="1"/>
          <p:nvPr/>
        </p:nvSpPr>
        <p:spPr>
          <a:xfrm>
            <a:off x="10881360" y="42062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p.42–43</a:t>
            </a:r>
            <a:endParaRPr lang="en-US" sz="1050" dirty="0"/>
          </a:p>
        </p:txBody>
      </p:sp>
      <p:sp>
        <p:nvSpPr>
          <p:cNvPr id="31"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86C99B"/>
                </a:solidFill>
                <a:latin typeface="Meiryo UI" pitchFamily="34" charset="0"/>
                <a:ea typeface="Meiryo UI" pitchFamily="34" charset="-122"/>
                <a:cs typeface="Meiryo UI" pitchFamily="34" charset="-120"/>
              </a:rPr>
              <a:t>33</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4-1 市場との差分</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525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525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市場との差分</a:t>
            </a:r>
            <a:endParaRPr lang="en-US" sz="1000" dirty="0"/>
          </a:p>
        </p:txBody>
      </p:sp>
      <p:sp>
        <p:nvSpPr>
          <p:cNvPr id="14" name="hdr_why"/>
          <p:cNvSpPr txBox="1"/>
          <p:nvPr/>
        </p:nvSpPr>
        <p:spPr>
          <a:xfrm>
            <a:off x="2128774" y="356616"/>
            <a:ext cx="9605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市場が何を疑っているか、どの開示でその疑いが晴れるかを確かめる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株価は事業実態 EPS の 15.7 倍で、弱気シナリオ(13.6 倍)寄り。</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市場は EPS ではなく現金化を疑い、試金石は 10 月末〜12 月の開示</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市場が付ける倍率と、株価が示す弱気の確率。右: 構造の変化が数字に及ぶ道筋と、カタリストの日程</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需給エンジン第4.3版(calc/out/m8_fair.json)、Oracle AI World 公式ページ、会社開示、report/ORCL_report.md §11</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34</a:t>
            </a:r>
            <a:endParaRPr lang="en-US" sz="800" dirty="0"/>
          </a:p>
        </p:txBody>
      </p:sp>
      <p:sp>
        <p:nvSpPr>
          <p:cNvPr id="19" name="pane_head"/>
          <p:cNvSpPr txBox="1"/>
          <p:nvPr/>
        </p:nvSpPr>
        <p:spPr>
          <a:xfrm>
            <a:off x="457200"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市場の倍率(FY27 末、翌年度の事業実態 EPS 比)</a:t>
            </a:r>
            <a:endParaRPr lang="en-US" sz="1200" dirty="0"/>
          </a:p>
        </p:txBody>
      </p:sp>
      <p:graphicFrame>
        <p:nvGraphicFramePr>
          <p:cNvPr id="20" name="chart" descr=""/>
          <p:cNvGraphicFramePr/>
          <p:nvPr/>
        </p:nvGraphicFramePr>
        <p:xfrm>
          <a:off x="457200" y="1810512"/>
          <a:ext cx="5532120" cy="1920240"/>
        </p:xfrm>
        <a:graphic xmlns:a="http://schemas.openxmlformats.org/drawingml/2006/main">
          <a:graphicData uri="http://schemas.openxmlformats.org/drawingml/2006/chart">
            <c:chart xmlns:c="http://schemas.openxmlformats.org/drawingml/2006/chart" r:id="rId1"/>
          </a:graphicData>
        </a:graphic>
      </p:graphicFrame>
      <p:graphicFrame>
        <p:nvGraphicFramePr>
          <p:cNvPr id="35" name="tbl"/>
          <p:cNvGraphicFramePr>
            <a:graphicFrameLocks noGrp="1"/>
          </p:cNvGraphicFramePr>
          <p:nvPr>
            <p:extLst>
              <p:ext uri="{D42A27DB-BD31-4B8C-83A1-F6EECF244321}">
                <p14:modId xmlns:p14="http://schemas.microsoft.com/office/powerpoint/2010/main" val="1579011935"/>
              </p:ext>
            </p:extLst>
          </p:nvPr>
        </p:nvGraphicFramePr>
        <p:xfrm>
          <a:off x="457200" y="3886200"/>
          <a:ext cx="5532120" cy="914400"/>
        </p:xfrm>
        <a:graphic>
          <a:graphicData uri="http://schemas.openxmlformats.org/drawingml/2006/table">
            <a:tbl>
              <a:tblPr/>
              <a:tblGrid>
                <a:gridCol w="3886200"/>
                <a:gridCol w="1645920"/>
              </a:tblGrid>
              <a:tr h="329184">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株価が示す弱気の確率(定義)</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株価 143.20</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2918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強気:ベース = 1:2 を固定して弱気の確率を逆算</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87%</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ベースと弱気の 2 点で逆算</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84%</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2918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DCF の値で定義1 と同じ計算</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72%</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2" name="note"/>
          <p:cNvSpPr txBox="1"/>
          <p:nvPr/>
        </p:nvSpPr>
        <p:spPr>
          <a:xfrm>
            <a:off x="457200" y="5257800"/>
            <a:ext cx="5532120" cy="822960"/>
          </a:xfrm>
          <a:prstGeom prst="rect">
            <a:avLst/>
          </a:prstGeom>
          <a:noFill/>
          <a:ln/>
        </p:spPr>
        <p:txBody>
          <a:bodyPr wrap="square" lIns="508" tIns="508" rIns="508" bIns="508" rtlCol="0" anchor="t"/>
          <a:lstStyle/>
          <a:p>
            <a:pPr indent="0" marL="0">
              <a:buNone/>
            </a:pPr>
            <a:r>
              <a:rPr lang="en-US" sz="950" dirty="0">
                <a:solidFill>
                  <a:srgbClr val="333333"/>
                </a:solidFill>
                <a:latin typeface="Meiryo UI" pitchFamily="34" charset="0"/>
                <a:ea typeface="Meiryo UI" pitchFamily="34" charset="-122"/>
                <a:cs typeface="Meiryo UI" pitchFamily="34" charset="-120"/>
              </a:rPr>
              <a:t>市場は弱気とベースの間の、弱気側 16% の位置にいる。疑っているのは EPS ではなく、</a:t>
            </a:r>
            <a:endParaRPr lang="en-US" sz="950" dirty="0"/>
          </a:p>
          <a:p>
            <a:pPr indent="0" marL="0">
              <a:buNone/>
            </a:pPr>
            <a:r>
              <a:rPr lang="en-US" sz="950" dirty="0">
                <a:solidFill>
                  <a:srgbClr val="333333"/>
                </a:solidFill>
                <a:latin typeface="Meiryo UI" pitchFamily="34" charset="0"/>
                <a:ea typeface="Meiryo UI" pitchFamily="34" charset="-122"/>
                <a:cs typeface="Meiryo UI" pitchFamily="34" charset="-120"/>
              </a:rPr>
              <a:t>EPS が現金になるか(FY29 の FCF・格付け・OpenAI)</a:t>
            </a:r>
            <a:endParaRPr lang="en-US" sz="950" dirty="0"/>
          </a:p>
        </p:txBody>
      </p:sp>
      <p:sp>
        <p:nvSpPr>
          <p:cNvPr id="23" name="pane_head"/>
          <p:cNvSpPr txBox="1"/>
          <p:nvPr/>
        </p:nvSpPr>
        <p:spPr>
          <a:xfrm>
            <a:off x="6199632"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構造の変化 → 数字への波及</a:t>
            </a:r>
            <a:endParaRPr lang="en-US" sz="1200" dirty="0"/>
          </a:p>
        </p:txBody>
      </p:sp>
      <p:graphicFrame>
        <p:nvGraphicFramePr>
          <p:cNvPr id="69" name="tbl_ripple"/>
          <p:cNvGraphicFramePr>
            <a:graphicFrameLocks noGrp="1"/>
          </p:cNvGraphicFramePr>
          <p:nvPr>
            <p:extLst>
              <p:ext uri="{D42A27DB-BD31-4B8C-83A1-F6EECF244321}">
                <p14:modId xmlns:p14="http://schemas.microsoft.com/office/powerpoint/2010/main" val="1579011935"/>
              </p:ext>
            </p:extLst>
          </p:nvPr>
        </p:nvGraphicFramePr>
        <p:xfrm>
          <a:off x="6199632" y="1810512"/>
          <a:ext cx="5532120" cy="914400"/>
        </p:xfrm>
        <a:graphic>
          <a:graphicData uri="http://schemas.openxmlformats.org/drawingml/2006/table">
            <a:tbl>
              <a:tblPr/>
              <a:tblGrid>
                <a:gridCol w="1965960"/>
                <a:gridCol w="1188720"/>
                <a:gridCol w="1188720"/>
                <a:gridCol w="1188720"/>
              </a:tblGrid>
              <a:tr h="310896">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構造の変化</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ROIC</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需要の長さ</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底堅さ</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前払い・持ち込み</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97A56"/>
                          </a:solidFill>
                          <a:latin typeface="Meiryo UI" pitchFamily="34" charset="0"/>
                          <a:ea typeface="Meiryo UI" pitchFamily="34" charset="-122"/>
                          <a:cs typeface="Meiryo UI" pitchFamily="34" charset="-120"/>
                        </a:rPr>
                        <a:t>↑ 進行中</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97A5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逼迫前の長期リース</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197A56"/>
                          </a:solidFill>
                          <a:latin typeface="Meiryo UI" pitchFamily="34" charset="0"/>
                          <a:ea typeface="Meiryo UI" pitchFamily="34" charset="-122"/>
                          <a:cs typeface="Meiryo UI" pitchFamily="34" charset="-120"/>
                        </a:rPr>
                        <a:t>↑ FY47 まで</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C0392B"/>
                          </a:solidFill>
                          <a:latin typeface="Meiryo UI" pitchFamily="34" charset="0"/>
                          <a:ea typeface="Meiryo UI" pitchFamily="34" charset="-122"/>
                          <a:cs typeface="Meiryo UI" pitchFamily="34" charset="-120"/>
                        </a:rPr>
                        <a:t>↓ 需要鈍化時は</a:t>
                      </a:r>
                      <a:endParaRPr lang="en-US" sz="900" dirty="0">
                        <a:latin typeface="Meiryo UI" charset="0"/>
                        <a:ea typeface="Meiryo UI" charset="0"/>
                        <a:cs typeface="Meiryo UI" charset="0"/>
                      </a:endParaRPr>
                    </a:p>
                    <a:p>
                      <a:pPr algn="ctr" indent="0" marL="0">
                        <a:buNone/>
                      </a:pPr>
                      <a:r>
                        <a:rPr lang="en-US" sz="900" dirty="0">
                          <a:solidFill>
                            <a:srgbClr val="C0392B"/>
                          </a:solidFill>
                          <a:latin typeface="Meiryo UI" pitchFamily="34" charset="0"/>
                          <a:ea typeface="Meiryo UI" pitchFamily="34" charset="-122"/>
                          <a:cs typeface="Meiryo UI" pitchFamily="34" charset="-120"/>
                        </a:rPr>
                        <a:t>固定費</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OpenAI への集中</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97A56"/>
                          </a:solidFill>
                          <a:latin typeface="Meiryo UI" pitchFamily="34" charset="0"/>
                          <a:ea typeface="Meiryo UI" pitchFamily="34" charset="-122"/>
                          <a:cs typeface="Meiryo UI" pitchFamily="34" charset="-120"/>
                        </a:rPr>
                        <a:t>↑ 2032 年まで</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C0392B"/>
                          </a:solidFill>
                          <a:latin typeface="Meiryo UI" pitchFamily="34" charset="0"/>
                          <a:ea typeface="Meiryo UI" pitchFamily="34" charset="-122"/>
                          <a:cs typeface="Meiryo UI" pitchFamily="34" charset="-120"/>
                        </a:rPr>
                        <a:t>↓ 2027〜</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SaaS へのエージェント組込み</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197A5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197A5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Database@ の配置</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97A5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97A5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97A5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5" name="pane_head"/>
          <p:cNvSpPr txBox="1"/>
          <p:nvPr/>
        </p:nvSpPr>
        <p:spPr>
          <a:xfrm>
            <a:off x="6199632" y="3840480"/>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カタリストの日程</a:t>
            </a:r>
            <a:endParaRPr lang="en-US" sz="1200" dirty="0"/>
          </a:p>
        </p:txBody>
      </p:sp>
      <p:graphicFrame>
        <p:nvGraphicFramePr>
          <p:cNvPr id="103" name="tbl_catalyst"/>
          <p:cNvGraphicFramePr>
            <a:graphicFrameLocks noGrp="1"/>
          </p:cNvGraphicFramePr>
          <p:nvPr>
            <p:extLst>
              <p:ext uri="{D42A27DB-BD31-4B8C-83A1-F6EECF244321}">
                <p14:modId xmlns:p14="http://schemas.microsoft.com/office/powerpoint/2010/main" val="1579011935"/>
              </p:ext>
            </p:extLst>
          </p:nvPr>
        </p:nvGraphicFramePr>
        <p:xfrm>
          <a:off x="6199632" y="4160520"/>
          <a:ext cx="5532120" cy="914400"/>
        </p:xfrm>
        <a:graphic>
          <a:graphicData uri="http://schemas.openxmlformats.org/drawingml/2006/table">
            <a:tbl>
              <a:tblPr/>
              <a:tblGrid>
                <a:gridCol w="1234440"/>
                <a:gridCol w="1828800"/>
                <a:gridCol w="2468880"/>
              </a:tblGrid>
              <a:tr h="310896">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時期</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カタリスト</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何が分かるか</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10/25〜28</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AI World 2026(日程は</a:t>
                      </a:r>
                      <a:endParaRPr lang="en-US" sz="900" dirty="0">
                        <a:latin typeface="Meiryo UI" charset="0"/>
                        <a:ea typeface="Meiryo UI" charset="0"/>
                        <a:cs typeface="Meiryo UI" charset="0"/>
                      </a:endParaRPr>
                    </a:p>
                    <a:p>
                      <a:pPr algn="ctr" indent="0" marL="0">
                        <a:buNone/>
                      </a:pPr>
                      <a:r>
                        <a:rPr lang="en-US" sz="900" dirty="0">
                          <a:solidFill>
                            <a:srgbClr val="333333"/>
                          </a:solidFill>
                          <a:latin typeface="Meiryo UI" pitchFamily="34" charset="0"/>
                          <a:ea typeface="Meiryo UI" pitchFamily="34" charset="-122"/>
                          <a:cs typeface="Meiryo UI" pitchFamily="34" charset="-120"/>
                        </a:rPr>
                        <a:t>出典で 1 日ずれあり)</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新製品、FY30 以降の目標の有無</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12 月中旬</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Q2 FY27 決算(日付は未確定)</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納入 MW、AI 粗利率、FCF、</a:t>
                      </a:r>
                      <a:endParaRPr lang="en-US" sz="900" dirty="0">
                        <a:latin typeface="Meiryo UI" charset="0"/>
                        <a:ea typeface="Meiryo UI" charset="0"/>
                        <a:cs typeface="Meiryo UI" charset="0"/>
                      </a:endParaRPr>
                    </a:p>
                    <a:p>
                      <a:pPr algn="ctr" indent="0" marL="0">
                        <a:buNone/>
                      </a:pPr>
                      <a:r>
                        <a:rPr lang="en-US" sz="900" dirty="0">
                          <a:solidFill>
                            <a:srgbClr val="333333"/>
                          </a:solidFill>
                          <a:latin typeface="Meiryo UI" pitchFamily="34" charset="0"/>
                          <a:ea typeface="Meiryo UI" pitchFamily="34" charset="-122"/>
                          <a:cs typeface="Meiryo UI" pitchFamily="34" charset="-120"/>
                        </a:rPr>
                        <a:t>受注残の構成</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2027-02</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NM のガス管の稼働予定</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Jupiter(2.45GW)の時期</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2027 前半</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OpenAI の大型資金調達</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支払能力</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FY29</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FCF の黒字化(S&amp;P の条件)</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格下げの回避</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4-2 価値評価(1/3)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価値評価</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理論株価の土台になる将来 EPS の経路を、シナリオ別に示す</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事業実態 EPS はコンセンサス経路で 6.9 ドルから FY32 に 29 ドルへ</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年 34% 伸びる。弱気は FY31 に OpenAI の再販で落ち込む</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事業実態 EPS(非GAAP EPS − 株式報酬の税引後)、ドル。FY27〜30 はコンセンサス × シナリオ比、FY31〜32 は需給エンジンの伸びで延長</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コンセンサス(research4/T1_consensus.csv)、需給エンジン第4.3版(calc/out/m8_fair.json)。過去の成長率は使っていない</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35</a:t>
            </a:r>
            <a:endParaRPr lang="en-US" sz="800" dirty="0"/>
          </a:p>
        </p:txBody>
      </p:sp>
      <p:graphicFrame>
        <p:nvGraphicFramePr>
          <p:cNvPr id="19" name="chart" descr=""/>
          <p:cNvGraphicFramePr/>
          <p:nvPr/>
        </p:nvGraphicFramePr>
        <p:xfrm>
          <a:off x="457200" y="1508760"/>
          <a:ext cx="7635240" cy="4572000"/>
        </p:xfrm>
        <a:graphic xmlns:a="http://schemas.openxmlformats.org/drawingml/2006/main">
          <a:graphicData uri="http://schemas.openxmlformats.org/drawingml/2006/chart">
            <c:chart xmlns:c="http://schemas.openxmlformats.org/drawingml/2006/chart" r:id="rId1"/>
          </a:graphicData>
        </a:graphic>
      </p:graphicFrame>
      <p:sp>
        <p:nvSpPr>
          <p:cNvPr id="20" name="ovl_takeaway_bg"/>
          <p:cNvSpPr/>
          <p:nvPr/>
        </p:nvSpPr>
        <p:spPr>
          <a:xfrm>
            <a:off x="8275320" y="1554480"/>
            <a:ext cx="3456432" cy="1234440"/>
          </a:xfrm>
          <a:prstGeom prst="rect">
            <a:avLst/>
          </a:prstGeom>
          <a:solidFill>
            <a:srgbClr val="EAF4EE"/>
          </a:solidFill>
          <a:ln w="12700">
            <a:solidFill>
              <a:srgbClr val="EAF4EE"/>
            </a:solidFill>
            <a:prstDash val="solid"/>
          </a:ln>
        </p:spPr>
      </p:sp>
      <p:sp>
        <p:nvSpPr>
          <p:cNvPr id="21" name="takeaway"/>
          <p:cNvSpPr txBox="1"/>
          <p:nvPr/>
        </p:nvSpPr>
        <p:spPr>
          <a:xfrm>
            <a:off x="8385048" y="1627632"/>
            <a:ext cx="3236976" cy="108813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ベースの 5 年 CAGR は 33.9%(PEG 0.62)。</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FY30 の非GAAP EPS はコンセンサス</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20.5 ドルで、会社目標 21 ドルとほぼ同じ</a:t>
            </a:r>
            <a:endParaRPr lang="en-US" sz="1100" dirty="0"/>
          </a:p>
        </p:txBody>
      </p:sp>
      <p:sp>
        <p:nvSpPr>
          <p:cNvPr id="22" name="points"/>
          <p:cNvSpPr txBox="1"/>
          <p:nvPr/>
        </p:nvSpPr>
        <p:spPr>
          <a:xfrm>
            <a:off x="8275320" y="2926080"/>
            <a:ext cx="3456432" cy="3154680"/>
          </a:xfrm>
          <a:prstGeom prst="rect">
            <a:avLst/>
          </a:prstGeom>
          <a:noFill/>
          <a:ln/>
        </p:spPr>
        <p:txBody>
          <a:bodyPr wrap="square" lIns="508" tIns="508" rIns="508" bIns="508" rtlCol="0" anchor="t"/>
          <a:lstStyle/>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FY27→FY30 の 3 年は、どのシナリオでも</a:t>
            </a:r>
            <a:br/>
            <a:r>
              <a:rPr lang="en-US" sz="1050" dirty="0">
                <a:solidFill>
                  <a:srgbClr val="333333"/>
                </a:solidFill>
                <a:latin typeface="Meiryo UI" pitchFamily="34" charset="0"/>
                <a:ea typeface="Meiryo UI" pitchFamily="34" charset="-122"/>
                <a:cs typeface="Meiryo UI" pitchFamily="34" charset="-120"/>
              </a:rPr>
              <a:t>コンセンサス × シナリオ比で置いた</a:t>
            </a:r>
            <a:endParaRPr lang="en-US" sz="1050" dirty="0"/>
          </a:p>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弱気の FY31: OpenAI 向けとみなす容量の 6 割を、需給緩和後の相場で再販して 8.6 ドルへ下がる</a:t>
            </a:r>
            <a:endParaRPr lang="en-US" sz="1050" dirty="0"/>
          </a:p>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FY31・32 は延長部分で、</a:t>
            </a:r>
            <a:br/>
            <a:r>
              <a:rPr lang="en-US" sz="1050" dirty="0">
                <a:solidFill>
                  <a:srgbClr val="333333"/>
                </a:solidFill>
                <a:latin typeface="Meiryo UI" pitchFamily="34" charset="0"/>
                <a:ea typeface="Meiryo UI" pitchFamily="34" charset="-122"/>
                <a:cs typeface="Meiryo UI" pitchFamily="34" charset="-120"/>
              </a:rPr>
              <a:t>確度は FY27〜30 より低い</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4-2 価値評価(2/3)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価値評価</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構造評価から許容倍率を決め、年度別に当てて理論株価を出す手順を示す</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構造評価 B は許容 PEG 1.0 に当たる。3 経路の妥当 PER を年度別に当て、</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近い年度を重くするとベース 261 ドル</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年度別理論株価 = Σ 重み × [ 妥当 PER × 翌年度の事業実態 EPS × 生存確率 を株主資本コスト 10.77% で今日へ割引 + 配当 ]</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需給エンジン第4.3版(calc/m8_fair.py、out/m8_fair.json)、銘柄分析メソッド valuation-model §3-3(構造評価 B の出発 PEG 1.0〜1.3)</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36</a:t>
            </a:r>
            <a:endParaRPr lang="en-US" sz="800" dirty="0"/>
          </a:p>
        </p:txBody>
      </p:sp>
      <p:sp>
        <p:nvSpPr>
          <p:cNvPr id="19" name="flow_h0"/>
          <p:cNvSpPr txBox="1"/>
          <p:nvPr/>
        </p:nvSpPr>
        <p:spPr>
          <a:xfrm>
            <a:off x="457200" y="1481328"/>
            <a:ext cx="2036003"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構造評価</a:t>
            </a:r>
            <a:endParaRPr lang="en-US" sz="1100" dirty="0"/>
          </a:p>
        </p:txBody>
      </p:sp>
      <p:sp>
        <p:nvSpPr>
          <p:cNvPr id="20" name="ovl_fbox0_0"/>
          <p:cNvSpPr/>
          <p:nvPr/>
        </p:nvSpPr>
        <p:spPr>
          <a:xfrm>
            <a:off x="457200" y="1865376"/>
            <a:ext cx="2036003" cy="731520"/>
          </a:xfrm>
          <a:prstGeom prst="roundRect">
            <a:avLst>
              <a:gd name="adj" fmla="val 7500"/>
            </a:avLst>
          </a:prstGeom>
          <a:solidFill>
            <a:srgbClr val="0E4D33"/>
          </a:solidFill>
          <a:ln w="9525">
            <a:solidFill>
              <a:srgbClr val="0E4D33"/>
            </a:solidFill>
            <a:prstDash val="solid"/>
          </a:ln>
        </p:spPr>
      </p:sp>
      <p:sp>
        <p:nvSpPr>
          <p:cNvPr id="21" name="flow_t0_0"/>
          <p:cNvSpPr txBox="1"/>
          <p:nvPr/>
        </p:nvSpPr>
        <p:spPr>
          <a:xfrm>
            <a:off x="530352" y="1901952"/>
            <a:ext cx="1889699"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Meiryo UI" pitchFamily="34" charset="0"/>
                <a:ea typeface="Meiryo UI" pitchFamily="34" charset="-122"/>
                <a:cs typeface="Meiryo UI" pitchFamily="34" charset="-120"/>
              </a:rPr>
              <a:t>B</a:t>
            </a:r>
            <a:endParaRPr lang="en-US" sz="2800" dirty="0"/>
          </a:p>
        </p:txBody>
      </p:sp>
      <p:sp>
        <p:nvSpPr>
          <p:cNvPr id="22" name="ovl_fbox0_1"/>
          <p:cNvSpPr/>
          <p:nvPr/>
        </p:nvSpPr>
        <p:spPr>
          <a:xfrm>
            <a:off x="457200" y="2706624"/>
            <a:ext cx="2036003" cy="502920"/>
          </a:xfrm>
          <a:prstGeom prst="roundRect">
            <a:avLst>
              <a:gd name="adj" fmla="val 10909"/>
            </a:avLst>
          </a:prstGeom>
          <a:solidFill>
            <a:srgbClr val="EAF4EE"/>
          </a:solidFill>
          <a:ln w="9525">
            <a:solidFill>
              <a:srgbClr val="EAF4EE"/>
            </a:solidFill>
            <a:prstDash val="solid"/>
          </a:ln>
        </p:spPr>
      </p:sp>
      <p:sp>
        <p:nvSpPr>
          <p:cNvPr id="23" name="flow_t0_1"/>
          <p:cNvSpPr txBox="1"/>
          <p:nvPr/>
        </p:nvSpPr>
        <p:spPr>
          <a:xfrm>
            <a:off x="530352" y="2743200"/>
            <a:ext cx="1889699" cy="429768"/>
          </a:xfrm>
          <a:prstGeom prst="rect">
            <a:avLst/>
          </a:prstGeom>
          <a:noFill/>
          <a:ln/>
        </p:spPr>
        <p:txBody>
          <a:bodyPr wrap="square" lIns="0" tIns="0" rIns="0" bIns="0" rtlCol="0" anchor="ctr"/>
          <a:lstStyle/>
          <a:p>
            <a:pPr algn="ctr" indent="0" marL="0">
              <a:buNone/>
            </a:pPr>
            <a:r>
              <a:rPr lang="en-US" sz="1000" dirty="0">
                <a:solidFill>
                  <a:srgbClr val="0E4D33"/>
                </a:solidFill>
                <a:latin typeface="Meiryo UI" pitchFamily="34" charset="0"/>
                <a:ea typeface="Meiryo UI" pitchFamily="34" charset="-122"/>
                <a:cs typeface="Meiryo UI" pitchFamily="34" charset="-120"/>
              </a:rPr>
              <a:t>出発 PEG 1.0〜1.3</a:t>
            </a:r>
            <a:endParaRPr lang="en-US" sz="1000" dirty="0"/>
          </a:p>
        </p:txBody>
      </p:sp>
      <p:sp>
        <p:nvSpPr>
          <p:cNvPr id="24" name="ovl_farrow0"/>
          <p:cNvSpPr/>
          <p:nvPr/>
        </p:nvSpPr>
        <p:spPr>
          <a:xfrm>
            <a:off x="2534351" y="2221992"/>
            <a:ext cx="192024" cy="365760"/>
          </a:xfrm>
          <a:prstGeom prst="rightArrow">
            <a:avLst/>
          </a:prstGeom>
          <a:solidFill>
            <a:srgbClr val="86C99B"/>
          </a:solidFill>
          <a:ln w="12700">
            <a:solidFill>
              <a:srgbClr val="86C99B"/>
            </a:solidFill>
            <a:prstDash val="solid"/>
          </a:ln>
        </p:spPr>
      </p:sp>
      <p:sp>
        <p:nvSpPr>
          <p:cNvPr id="25" name="flow_h1"/>
          <p:cNvSpPr txBox="1"/>
          <p:nvPr/>
        </p:nvSpPr>
        <p:spPr>
          <a:xfrm>
            <a:off x="2767523" y="1481328"/>
            <a:ext cx="2036003"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許容 PEG</a:t>
            </a:r>
            <a:endParaRPr lang="en-US" sz="1100" dirty="0"/>
          </a:p>
        </p:txBody>
      </p:sp>
      <p:sp>
        <p:nvSpPr>
          <p:cNvPr id="26" name="ovl_fbox1_0"/>
          <p:cNvSpPr/>
          <p:nvPr/>
        </p:nvSpPr>
        <p:spPr>
          <a:xfrm>
            <a:off x="2767523" y="1865376"/>
            <a:ext cx="2036003" cy="731520"/>
          </a:xfrm>
          <a:prstGeom prst="roundRect">
            <a:avLst>
              <a:gd name="adj" fmla="val 7500"/>
            </a:avLst>
          </a:prstGeom>
          <a:solidFill>
            <a:srgbClr val="197A56"/>
          </a:solidFill>
          <a:ln w="9525">
            <a:solidFill>
              <a:srgbClr val="197A56"/>
            </a:solidFill>
            <a:prstDash val="solid"/>
          </a:ln>
        </p:spPr>
      </p:sp>
      <p:sp>
        <p:nvSpPr>
          <p:cNvPr id="27" name="flow_t1_0"/>
          <p:cNvSpPr txBox="1"/>
          <p:nvPr/>
        </p:nvSpPr>
        <p:spPr>
          <a:xfrm>
            <a:off x="2840675" y="1901952"/>
            <a:ext cx="1889699"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Meiryo UI" pitchFamily="34" charset="0"/>
                <a:ea typeface="Meiryo UI" pitchFamily="34" charset="-122"/>
                <a:cs typeface="Meiryo UI" pitchFamily="34" charset="-120"/>
              </a:rPr>
              <a:t>1.0</a:t>
            </a:r>
            <a:endParaRPr lang="en-US" sz="2800" dirty="0"/>
          </a:p>
        </p:txBody>
      </p:sp>
      <p:sp>
        <p:nvSpPr>
          <p:cNvPr id="28" name="ovl_fbox1_1"/>
          <p:cNvSpPr/>
          <p:nvPr/>
        </p:nvSpPr>
        <p:spPr>
          <a:xfrm>
            <a:off x="2767523" y="2706624"/>
            <a:ext cx="2036003" cy="502920"/>
          </a:xfrm>
          <a:prstGeom prst="roundRect">
            <a:avLst>
              <a:gd name="adj" fmla="val 10909"/>
            </a:avLst>
          </a:prstGeom>
          <a:solidFill>
            <a:srgbClr val="EAF4EE"/>
          </a:solidFill>
          <a:ln w="9525">
            <a:solidFill>
              <a:srgbClr val="EAF4EE"/>
            </a:solidFill>
            <a:prstDash val="solid"/>
          </a:ln>
        </p:spPr>
      </p:sp>
      <p:sp>
        <p:nvSpPr>
          <p:cNvPr id="29" name="flow_t1_1"/>
          <p:cNvSpPr txBox="1"/>
          <p:nvPr/>
        </p:nvSpPr>
        <p:spPr>
          <a:xfrm>
            <a:off x="2840675" y="2743200"/>
            <a:ext cx="1889699" cy="429768"/>
          </a:xfrm>
          <a:prstGeom prst="rect">
            <a:avLst/>
          </a:prstGeom>
          <a:noFill/>
          <a:ln/>
        </p:spPr>
        <p:txBody>
          <a:bodyPr wrap="square" lIns="0" tIns="0" rIns="0" bIns="0" rtlCol="0" anchor="ctr"/>
          <a:lstStyle/>
          <a:p>
            <a:pPr algn="ctr" indent="0" marL="0">
              <a:buNone/>
            </a:pPr>
            <a:r>
              <a:rPr lang="en-US" sz="1000" dirty="0">
                <a:solidFill>
                  <a:srgbClr val="0E4D33"/>
                </a:solidFill>
                <a:latin typeface="Meiryo UI" pitchFamily="34" charset="0"/>
                <a:ea typeface="Meiryo UI" pitchFamily="34" charset="-122"/>
                <a:cs typeface="Meiryo UI" pitchFamily="34" charset="-120"/>
              </a:rPr>
              <a:t>下限を採用</a:t>
            </a:r>
            <a:endParaRPr lang="en-US" sz="1000" dirty="0"/>
          </a:p>
          <a:p>
            <a:pPr algn="ctr" indent="0" marL="0">
              <a:buNone/>
            </a:pPr>
            <a:r>
              <a:rPr lang="en-US" sz="1000" dirty="0">
                <a:solidFill>
                  <a:srgbClr val="0E4D33"/>
                </a:solidFill>
                <a:latin typeface="Meiryo UI" pitchFamily="34" charset="0"/>
                <a:ea typeface="Meiryo UI" pitchFamily="34" charset="-122"/>
                <a:cs typeface="Meiryo UI" pitchFamily="34" charset="-120"/>
              </a:rPr>
              <a:t>(倍率は全シナリオ共通)</a:t>
            </a:r>
            <a:endParaRPr lang="en-US" sz="1000" dirty="0"/>
          </a:p>
        </p:txBody>
      </p:sp>
      <p:sp>
        <p:nvSpPr>
          <p:cNvPr id="30" name="ovl_farrow1"/>
          <p:cNvSpPr/>
          <p:nvPr/>
        </p:nvSpPr>
        <p:spPr>
          <a:xfrm>
            <a:off x="4844674" y="2221992"/>
            <a:ext cx="192024" cy="365760"/>
          </a:xfrm>
          <a:prstGeom prst="rightArrow">
            <a:avLst/>
          </a:prstGeom>
          <a:solidFill>
            <a:srgbClr val="86C99B"/>
          </a:solidFill>
          <a:ln w="12700">
            <a:solidFill>
              <a:srgbClr val="86C99B"/>
            </a:solidFill>
            <a:prstDash val="solid"/>
          </a:ln>
        </p:spPr>
      </p:sp>
      <p:sp>
        <p:nvSpPr>
          <p:cNvPr id="31" name="flow_h2"/>
          <p:cNvSpPr txBox="1"/>
          <p:nvPr/>
        </p:nvSpPr>
        <p:spPr>
          <a:xfrm>
            <a:off x="5077846" y="1481328"/>
            <a:ext cx="2036003"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妥当 PER(3 経路の平均)</a:t>
            </a:r>
            <a:endParaRPr lang="en-US" sz="1100" dirty="0"/>
          </a:p>
        </p:txBody>
      </p:sp>
      <p:sp>
        <p:nvSpPr>
          <p:cNvPr id="32" name="ovl_fbox2_0"/>
          <p:cNvSpPr/>
          <p:nvPr/>
        </p:nvSpPr>
        <p:spPr>
          <a:xfrm>
            <a:off x="5077846" y="1865376"/>
            <a:ext cx="2036003" cy="1280160"/>
          </a:xfrm>
          <a:prstGeom prst="roundRect">
            <a:avLst>
              <a:gd name="adj" fmla="val 4286"/>
            </a:avLst>
          </a:prstGeom>
          <a:solidFill>
            <a:srgbClr val="EAF4EE"/>
          </a:solidFill>
          <a:ln w="9525">
            <a:solidFill>
              <a:srgbClr val="EAF4EE"/>
            </a:solidFill>
            <a:prstDash val="solid"/>
          </a:ln>
        </p:spPr>
      </p:sp>
      <p:sp>
        <p:nvSpPr>
          <p:cNvPr id="33" name="flow_t2_0"/>
          <p:cNvSpPr txBox="1"/>
          <p:nvPr/>
        </p:nvSpPr>
        <p:spPr>
          <a:xfrm>
            <a:off x="5150998" y="1901952"/>
            <a:ext cx="1889699" cy="1207008"/>
          </a:xfrm>
          <a:prstGeom prst="rect">
            <a:avLst/>
          </a:prstGeom>
          <a:noFill/>
          <a:ln/>
        </p:spPr>
        <p:txBody>
          <a:bodyPr wrap="square" lIns="0" tIns="0" rIns="0" bIns="0" rtlCol="0" anchor="ctr"/>
          <a:lstStyle/>
          <a:p>
            <a:pPr algn="ctr" indent="0" marL="0">
              <a:buNone/>
            </a:pPr>
            <a:r>
              <a:rPr lang="en-US" sz="1000" dirty="0">
                <a:solidFill>
                  <a:srgbClr val="0E4D33"/>
                </a:solidFill>
                <a:latin typeface="Meiryo UI" pitchFamily="34" charset="0"/>
                <a:ea typeface="Meiryo UI" pitchFamily="34" charset="-122"/>
                <a:cs typeface="Meiryo UI" pitchFamily="34" charset="-120"/>
              </a:rPr>
              <a:t>a 同業 23 倍 /</a:t>
            </a:r>
            <a:endParaRPr lang="en-US" sz="1000" dirty="0"/>
          </a:p>
          <a:p>
            <a:pPr algn="ctr" indent="0" marL="0">
              <a:buNone/>
            </a:pPr>
            <a:r>
              <a:rPr lang="en-US" sz="1000" dirty="0">
                <a:solidFill>
                  <a:srgbClr val="0E4D33"/>
                </a:solidFill>
                <a:latin typeface="Meiryo UI" pitchFamily="34" charset="0"/>
                <a:ea typeface="Meiryo UI" pitchFamily="34" charset="-122"/>
                <a:cs typeface="Meiryo UI" pitchFamily="34" charset="-120"/>
              </a:rPr>
              <a:t>b PEG × 3 年成長率 /</a:t>
            </a:r>
            <a:endParaRPr lang="en-US" sz="1000" dirty="0"/>
          </a:p>
          <a:p>
            <a:pPr algn="ctr" indent="0" marL="0">
              <a:buNone/>
            </a:pPr>
            <a:r>
              <a:rPr lang="en-US" sz="1000" dirty="0">
                <a:solidFill>
                  <a:srgbClr val="0E4D33"/>
                </a:solidFill>
                <a:latin typeface="Meiryo UI" pitchFamily="34" charset="0"/>
                <a:ea typeface="Meiryo UI" pitchFamily="34" charset="-122"/>
                <a:cs typeface="Meiryo UI" pitchFamily="34" charset="-120"/>
              </a:rPr>
              <a:t>c 需給エンジンの価値</a:t>
            </a:r>
            <a:endParaRPr lang="en-US" sz="1000" dirty="0"/>
          </a:p>
        </p:txBody>
      </p:sp>
      <p:sp>
        <p:nvSpPr>
          <p:cNvPr id="34" name="ovl_farrow2"/>
          <p:cNvSpPr/>
          <p:nvPr/>
        </p:nvSpPr>
        <p:spPr>
          <a:xfrm>
            <a:off x="7154997" y="2221992"/>
            <a:ext cx="192024" cy="365760"/>
          </a:xfrm>
          <a:prstGeom prst="rightArrow">
            <a:avLst/>
          </a:prstGeom>
          <a:solidFill>
            <a:srgbClr val="86C99B"/>
          </a:solidFill>
          <a:ln w="12700">
            <a:solidFill>
              <a:srgbClr val="86C99B"/>
            </a:solidFill>
            <a:prstDash val="solid"/>
          </a:ln>
        </p:spPr>
      </p:sp>
      <p:sp>
        <p:nvSpPr>
          <p:cNvPr id="35" name="flow_h3"/>
          <p:cNvSpPr txBox="1"/>
          <p:nvPr/>
        </p:nvSpPr>
        <p:spPr>
          <a:xfrm>
            <a:off x="7388169" y="1481328"/>
            <a:ext cx="2036003"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年度末の目標</a:t>
            </a:r>
            <a:endParaRPr lang="en-US" sz="1100" dirty="0"/>
          </a:p>
        </p:txBody>
      </p:sp>
      <p:sp>
        <p:nvSpPr>
          <p:cNvPr id="36" name="ovl_fbox3_0"/>
          <p:cNvSpPr/>
          <p:nvPr/>
        </p:nvSpPr>
        <p:spPr>
          <a:xfrm>
            <a:off x="7388169" y="1865376"/>
            <a:ext cx="2036003" cy="1280160"/>
          </a:xfrm>
          <a:prstGeom prst="roundRect">
            <a:avLst>
              <a:gd name="adj" fmla="val 4286"/>
            </a:avLst>
          </a:prstGeom>
          <a:solidFill>
            <a:srgbClr val="EAF4EE"/>
          </a:solidFill>
          <a:ln w="9525">
            <a:solidFill>
              <a:srgbClr val="EAF4EE"/>
            </a:solidFill>
            <a:prstDash val="solid"/>
          </a:ln>
        </p:spPr>
      </p:sp>
      <p:sp>
        <p:nvSpPr>
          <p:cNvPr id="37" name="flow_t3_0"/>
          <p:cNvSpPr txBox="1"/>
          <p:nvPr/>
        </p:nvSpPr>
        <p:spPr>
          <a:xfrm>
            <a:off x="7461321" y="1901952"/>
            <a:ext cx="1889699" cy="1207008"/>
          </a:xfrm>
          <a:prstGeom prst="rect">
            <a:avLst/>
          </a:prstGeom>
          <a:noFill/>
          <a:ln/>
        </p:spPr>
        <p:txBody>
          <a:bodyPr wrap="square" lIns="0" tIns="0" rIns="0" bIns="0" rtlCol="0" anchor="ctr"/>
          <a:lstStyle/>
          <a:p>
            <a:pPr algn="ctr" indent="0" marL="0">
              <a:buNone/>
            </a:pPr>
            <a:r>
              <a:rPr lang="en-US" sz="1000" dirty="0">
                <a:solidFill>
                  <a:srgbClr val="0E4D33"/>
                </a:solidFill>
                <a:latin typeface="Meiryo UI" pitchFamily="34" charset="0"/>
                <a:ea typeface="Meiryo UI" pitchFamily="34" charset="-122"/>
                <a:cs typeface="Meiryo UI" pitchFamily="34" charset="-120"/>
              </a:rPr>
              <a:t>PER × 翌年度 EPS ×</a:t>
            </a:r>
            <a:endParaRPr lang="en-US" sz="1000" dirty="0"/>
          </a:p>
          <a:p>
            <a:pPr algn="ctr" indent="0" marL="0">
              <a:buNone/>
            </a:pPr>
            <a:r>
              <a:rPr lang="en-US" sz="1000" dirty="0">
                <a:solidFill>
                  <a:srgbClr val="0E4D33"/>
                </a:solidFill>
                <a:latin typeface="Meiryo UI" pitchFamily="34" charset="0"/>
                <a:ea typeface="Meiryo UI" pitchFamily="34" charset="-122"/>
                <a:cs typeface="Meiryo UI" pitchFamily="34" charset="-120"/>
              </a:rPr>
              <a:t>生存確率</a:t>
            </a:r>
            <a:endParaRPr lang="en-US" sz="1000" dirty="0"/>
          </a:p>
        </p:txBody>
      </p:sp>
      <p:sp>
        <p:nvSpPr>
          <p:cNvPr id="38" name="ovl_farrow3"/>
          <p:cNvSpPr/>
          <p:nvPr/>
        </p:nvSpPr>
        <p:spPr>
          <a:xfrm>
            <a:off x="9465320" y="2221992"/>
            <a:ext cx="192024" cy="365760"/>
          </a:xfrm>
          <a:prstGeom prst="rightArrow">
            <a:avLst/>
          </a:prstGeom>
          <a:solidFill>
            <a:srgbClr val="86C99B"/>
          </a:solidFill>
          <a:ln w="12700">
            <a:solidFill>
              <a:srgbClr val="86C99B"/>
            </a:solidFill>
            <a:prstDash val="solid"/>
          </a:ln>
        </p:spPr>
      </p:sp>
      <p:sp>
        <p:nvSpPr>
          <p:cNvPr id="39" name="flow_h4"/>
          <p:cNvSpPr txBox="1"/>
          <p:nvPr/>
        </p:nvSpPr>
        <p:spPr>
          <a:xfrm>
            <a:off x="9698492" y="1481328"/>
            <a:ext cx="2036003"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理論株価</a:t>
            </a:r>
            <a:endParaRPr lang="en-US" sz="1100" dirty="0"/>
          </a:p>
        </p:txBody>
      </p:sp>
      <p:sp>
        <p:nvSpPr>
          <p:cNvPr id="40" name="ovl_fbox4_0"/>
          <p:cNvSpPr/>
          <p:nvPr/>
        </p:nvSpPr>
        <p:spPr>
          <a:xfrm>
            <a:off x="9698492" y="1865376"/>
            <a:ext cx="2036003" cy="731520"/>
          </a:xfrm>
          <a:prstGeom prst="roundRect">
            <a:avLst>
              <a:gd name="adj" fmla="val 7500"/>
            </a:avLst>
          </a:prstGeom>
          <a:solidFill>
            <a:srgbClr val="0E4D33"/>
          </a:solidFill>
          <a:ln w="9525">
            <a:solidFill>
              <a:srgbClr val="0E4D33"/>
            </a:solidFill>
            <a:prstDash val="solid"/>
          </a:ln>
        </p:spPr>
      </p:sp>
      <p:sp>
        <p:nvSpPr>
          <p:cNvPr id="41" name="flow_t4_0"/>
          <p:cNvSpPr txBox="1"/>
          <p:nvPr/>
        </p:nvSpPr>
        <p:spPr>
          <a:xfrm>
            <a:off x="9771644" y="1901952"/>
            <a:ext cx="1889699" cy="658368"/>
          </a:xfrm>
          <a:prstGeom prst="rect">
            <a:avLst/>
          </a:prstGeom>
          <a:noFill/>
          <a:ln/>
        </p:spPr>
        <p:txBody>
          <a:bodyPr wrap="square" lIns="0" tIns="0" rIns="0" bIns="0" rtlCol="0" anchor="ctr"/>
          <a:lstStyle/>
          <a:p>
            <a:pPr algn="ctr" indent="0" marL="0">
              <a:buNone/>
            </a:pPr>
            <a:r>
              <a:rPr lang="en-US" sz="2600" b="1" dirty="0">
                <a:solidFill>
                  <a:srgbClr val="FFFFFF"/>
                </a:solidFill>
                <a:latin typeface="Meiryo UI" pitchFamily="34" charset="0"/>
                <a:ea typeface="Meiryo UI" pitchFamily="34" charset="-122"/>
                <a:cs typeface="Meiryo UI" pitchFamily="34" charset="-120"/>
              </a:rPr>
              <a:t>261 ドル</a:t>
            </a:r>
            <a:endParaRPr lang="en-US" sz="2600" dirty="0"/>
          </a:p>
        </p:txBody>
      </p:sp>
      <p:sp>
        <p:nvSpPr>
          <p:cNvPr id="42" name="ovl_fbox4_1"/>
          <p:cNvSpPr/>
          <p:nvPr/>
        </p:nvSpPr>
        <p:spPr>
          <a:xfrm>
            <a:off x="9698492" y="2706624"/>
            <a:ext cx="2036003" cy="502920"/>
          </a:xfrm>
          <a:prstGeom prst="roundRect">
            <a:avLst>
              <a:gd name="adj" fmla="val 10909"/>
            </a:avLst>
          </a:prstGeom>
          <a:solidFill>
            <a:srgbClr val="EAF4EE"/>
          </a:solidFill>
          <a:ln w="9525">
            <a:solidFill>
              <a:srgbClr val="EAF4EE"/>
            </a:solidFill>
            <a:prstDash val="solid"/>
          </a:ln>
        </p:spPr>
      </p:sp>
      <p:sp>
        <p:nvSpPr>
          <p:cNvPr id="43" name="flow_t4_1"/>
          <p:cNvSpPr txBox="1"/>
          <p:nvPr/>
        </p:nvSpPr>
        <p:spPr>
          <a:xfrm>
            <a:off x="9771644" y="2743200"/>
            <a:ext cx="1889699" cy="429768"/>
          </a:xfrm>
          <a:prstGeom prst="rect">
            <a:avLst/>
          </a:prstGeom>
          <a:noFill/>
          <a:ln/>
        </p:spPr>
        <p:txBody>
          <a:bodyPr wrap="square" lIns="0" tIns="0" rIns="0" bIns="0" rtlCol="0" anchor="ctr"/>
          <a:lstStyle/>
          <a:p>
            <a:pPr algn="ctr" indent="0" marL="0">
              <a:buNone/>
            </a:pPr>
            <a:r>
              <a:rPr lang="en-US" sz="1000" dirty="0">
                <a:solidFill>
                  <a:srgbClr val="0E4D33"/>
                </a:solidFill>
                <a:latin typeface="Meiryo UI" pitchFamily="34" charset="0"/>
                <a:ea typeface="Meiryo UI" pitchFamily="34" charset="-122"/>
                <a:cs typeface="Meiryo UI" pitchFamily="34" charset="-120"/>
              </a:rPr>
              <a:t>加重 251・株価 143</a:t>
            </a:r>
            <a:endParaRPr lang="en-US" sz="1000" dirty="0"/>
          </a:p>
        </p:txBody>
      </p:sp>
      <p:graphicFrame>
        <p:nvGraphicFramePr>
          <p:cNvPr id="37" name="tbl"/>
          <p:cNvGraphicFramePr>
            <a:graphicFrameLocks noGrp="1"/>
          </p:cNvGraphicFramePr>
          <p:nvPr>
            <p:extLst>
              <p:ext uri="{D42A27DB-BD31-4B8C-83A1-F6EECF244321}">
                <p14:modId xmlns:p14="http://schemas.microsoft.com/office/powerpoint/2010/main" val="1579011935"/>
              </p:ext>
            </p:extLst>
          </p:nvPr>
        </p:nvGraphicFramePr>
        <p:xfrm>
          <a:off x="457200" y="3291840"/>
          <a:ext cx="11274552" cy="914400"/>
        </p:xfrm>
        <a:graphic>
          <a:graphicData uri="http://schemas.openxmlformats.org/drawingml/2006/table">
            <a:tbl>
              <a:tblPr/>
              <a:tblGrid>
                <a:gridCol w="1371600"/>
                <a:gridCol w="1463040"/>
                <a:gridCol w="1280160"/>
                <a:gridCol w="1371600"/>
                <a:gridCol w="1371600"/>
                <a:gridCol w="1371600"/>
                <a:gridCol w="1463040"/>
                <a:gridCol w="1581912"/>
              </a:tblGrid>
              <a:tr h="329184">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年度末</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翌年度 EPS</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3年成長率</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 同業 23 倍</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b PEG × 成長</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c エンジン</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目標(平均)</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今日の価値(重み)</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29184">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FY27 末</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9.65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36.1%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211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321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235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256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240(40%)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FY28 末</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14.42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26.9%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317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371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260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316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268(30%)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29184">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FY29 末</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19.07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21.7%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423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399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290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371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283(20%)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FY30 末</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24.33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16.2%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544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383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322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417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285(10%)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29184">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ベース</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333333"/>
                          </a:solidFill>
                          <a:latin typeface="Meiryo UI" pitchFamily="34" charset="0"/>
                          <a:ea typeface="Meiryo UI" pitchFamily="34" charset="-122"/>
                          <a:cs typeface="Meiryo UI" pitchFamily="34" charset="-120"/>
                        </a:rPr>
                        <a:t>261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45" name="bullets"/>
          <p:cNvSpPr txBox="1"/>
          <p:nvPr/>
        </p:nvSpPr>
        <p:spPr>
          <a:xfrm>
            <a:off x="457200" y="5349240"/>
            <a:ext cx="11274552" cy="777240"/>
          </a:xfrm>
          <a:prstGeom prst="rect">
            <a:avLst/>
          </a:prstGeom>
          <a:noFill/>
          <a:ln/>
        </p:spPr>
        <p:txBody>
          <a:bodyPr wrap="square" lIns="508" tIns="508" rIns="508" bIns="508" rtlCol="0" anchor="t"/>
          <a:lstStyle/>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a・b は生存確率(倒産確率を反映)を掛けた後の値。b の成長率の上限 35%、下限は無成長の PER(1/株主資本コスト)</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c は需給エンジンの年度末の1株価値そのもの(エンジンの倍率をコンセンサス EPS に掛けない)</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株主資本コスト 10.77% = 5.2% + 株主β 1.32 × 4.23%(資産β 1.00、D/E 0.40)</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4-2 価値評価(3/3)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価値評価</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前提がずれたとき理論株価がどれだけ動くか(頑健さ)を確かめる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確率加重の理論株価は 251 ドル。弱気の確率を 50% に上げても</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207 ドルで、株価を 45% 上回る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弱気シナリオの確率と理論株価(強気:ベース = 1:2 を固定)。右: 単独の前提を動かしたときの理論株価(加重)の変化</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需給エンジン第4.3版(calc/out/m8_fair.json・m8_extra.json)</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37</a:t>
            </a:r>
            <a:endParaRPr lang="en-US" sz="800" dirty="0"/>
          </a:p>
        </p:txBody>
      </p:sp>
      <p:graphicFrame>
        <p:nvGraphicFramePr>
          <p:cNvPr id="19" name="chart" descr=""/>
          <p:cNvGraphicFramePr/>
          <p:nvPr/>
        </p:nvGraphicFramePr>
        <p:xfrm>
          <a:off x="457200" y="1508760"/>
          <a:ext cx="5760720" cy="4206240"/>
        </p:xfrm>
        <a:graphic xmlns:a="http://schemas.openxmlformats.org/drawingml/2006/main">
          <a:graphicData uri="http://schemas.openxmlformats.org/drawingml/2006/chart">
            <c:chart xmlns:c="http://schemas.openxmlformats.org/drawingml/2006/chart" r:id="rId1"/>
          </a:graphicData>
        </a:graphic>
      </p:graphicFrame>
      <p:sp>
        <p:nvSpPr>
          <p:cNvPr id="20" name="note"/>
          <p:cNvSpPr txBox="1"/>
          <p:nvPr/>
        </p:nvSpPr>
        <p:spPr>
          <a:xfrm>
            <a:off x="457200" y="5760720"/>
            <a:ext cx="5760720" cy="365760"/>
          </a:xfrm>
          <a:prstGeom prst="rect">
            <a:avLst/>
          </a:prstGeom>
          <a:noFill/>
          <a:ln/>
        </p:spPr>
        <p:txBody>
          <a:bodyPr wrap="square" lIns="508" tIns="508" rIns="508" bIns="508" rtlCol="0" anchor="t"/>
          <a:lstStyle/>
          <a:p>
            <a:pPr indent="0" marL="0">
              <a:buNone/>
            </a:pPr>
            <a:r>
              <a:rPr lang="en-US" sz="950" dirty="0">
                <a:solidFill>
                  <a:srgbClr val="767676"/>
                </a:solidFill>
                <a:latin typeface="Meiryo UI" pitchFamily="34" charset="0"/>
                <a:ea typeface="Meiryo UI" pitchFamily="34" charset="-122"/>
                <a:cs typeface="Meiryo UI" pitchFamily="34" charset="-120"/>
              </a:rPr>
              <a:t>株価 143.20 ドルに一致する弱気の確率は 72〜87%(定義により異なる)</a:t>
            </a:r>
            <a:endParaRPr lang="en-US" sz="950" dirty="0"/>
          </a:p>
        </p:txBody>
      </p:sp>
      <p:graphicFrame>
        <p:nvGraphicFramePr>
          <p:cNvPr id="38" name="tbl"/>
          <p:cNvGraphicFramePr>
            <a:graphicFrameLocks noGrp="1"/>
          </p:cNvGraphicFramePr>
          <p:nvPr>
            <p:extLst>
              <p:ext uri="{D42A27DB-BD31-4B8C-83A1-F6EECF244321}">
                <p14:modId xmlns:p14="http://schemas.microsoft.com/office/powerpoint/2010/main" val="1579011935"/>
              </p:ext>
            </p:extLst>
          </p:nvPr>
        </p:nvGraphicFramePr>
        <p:xfrm>
          <a:off x="6446520" y="1554480"/>
          <a:ext cx="5285232" cy="914400"/>
        </p:xfrm>
        <a:graphic>
          <a:graphicData uri="http://schemas.openxmlformats.org/drawingml/2006/table">
            <a:tbl>
              <a:tblPr/>
              <a:tblGrid>
                <a:gridCol w="3017520"/>
                <a:gridCol w="1133856"/>
                <a:gridCol w="1133856"/>
              </a:tblGrid>
              <a:tr h="329184">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前提(ベース → 変化)</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下側</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上側</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29184">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同業 PER 23 倍 → 20 / 26 倍</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−10.8</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+10.8</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PEG 1.0 → 0.8 / 1.2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−16.7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+16.7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29184">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EPS −10% / +10%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−17.2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+17.2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重み → FY27 末のみ / 均等</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−25.6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+9.5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29184">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金利 → 6% 高止まり / 予測どおり低下</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−8.8</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+14.6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EPS をエンジンの値にする</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−11.5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29184">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PEG の成長率から自社株買いの効果を除く</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−3.6〜−10.0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2" name="ovl_takeaway_bg"/>
          <p:cNvSpPr/>
          <p:nvPr/>
        </p:nvSpPr>
        <p:spPr>
          <a:xfrm>
            <a:off x="6446520" y="4663440"/>
            <a:ext cx="5285232" cy="1005840"/>
          </a:xfrm>
          <a:prstGeom prst="rect">
            <a:avLst/>
          </a:prstGeom>
          <a:solidFill>
            <a:srgbClr val="EAF4EE"/>
          </a:solidFill>
          <a:ln w="12700">
            <a:solidFill>
              <a:srgbClr val="EAF4EE"/>
            </a:solidFill>
            <a:prstDash val="solid"/>
          </a:ln>
        </p:spPr>
      </p:sp>
      <p:sp>
        <p:nvSpPr>
          <p:cNvPr id="23" name="takeaway"/>
          <p:cNvSpPr txBox="1"/>
          <p:nvPr/>
        </p:nvSpPr>
        <p:spPr>
          <a:xfrm>
            <a:off x="6556248" y="4736592"/>
            <a:ext cx="5065776" cy="85953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最も効くのは重み・EPS・PEG。</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どれを単独で動かしても理論株価は株価を 57% 以上上回る</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4-3 最終判断</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最終判断</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構造評価と価格の乖離を合わせ、投資判断とエントリー価格帯を決める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3 経路の乖離は +61〜+77% で表上「買い」だが、争点の差分が</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未確立のため「買い検討」。株価は分割エントリー圏(136〜229 ドル)</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構造評価 × 価格乖離の 2 軸マトリクス(valuation-model §4-1)、3 経路の乖離、非対称性、エントリー価格帯(scenario-strategy §6)</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需給エンジン第4.3版(calc/out/m8_fair.json・m8_extra.json)、銘柄分析メソッド</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38</a:t>
            </a:r>
            <a:endParaRPr lang="en-US" sz="800" dirty="0"/>
          </a:p>
        </p:txBody>
      </p:sp>
      <p:sp>
        <p:nvSpPr>
          <p:cNvPr id="19" name="mx_yt"/>
          <p:cNvSpPr txBox="1"/>
          <p:nvPr/>
        </p:nvSpPr>
        <p:spPr>
          <a:xfrm>
            <a:off x="457200" y="1554480"/>
            <a:ext cx="1005840" cy="365760"/>
          </a:xfrm>
          <a:prstGeom prst="rect">
            <a:avLst/>
          </a:prstGeom>
          <a:noFill/>
          <a:ln/>
        </p:spPr>
        <p:txBody>
          <a:bodyPr wrap="square" lIns="0" tIns="0" rIns="0" bIns="0" rtlCol="0" anchor="b"/>
          <a:lstStyle/>
          <a:p>
            <a:pPr indent="0" marL="0">
              <a:buNone/>
            </a:pPr>
            <a:r>
              <a:rPr lang="en-US" sz="900" dirty="0">
                <a:solidFill>
                  <a:srgbClr val="767676"/>
                </a:solidFill>
                <a:latin typeface="Meiryo UI" pitchFamily="34" charset="0"/>
                <a:ea typeface="Meiryo UI" pitchFamily="34" charset="-122"/>
                <a:cs typeface="Meiryo UI" pitchFamily="34" charset="-120"/>
              </a:rPr>
              <a:t>構造評価</a:t>
            </a:r>
            <a:endParaRPr lang="en-US" sz="900" dirty="0"/>
          </a:p>
        </p:txBody>
      </p:sp>
      <p:sp>
        <p:nvSpPr>
          <p:cNvPr id="20" name="mx_x0"/>
          <p:cNvSpPr txBox="1"/>
          <p:nvPr/>
        </p:nvSpPr>
        <p:spPr>
          <a:xfrm>
            <a:off x="1463040" y="1554480"/>
            <a:ext cx="1257300" cy="36576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+30% 以上</a:t>
            </a:r>
            <a:endParaRPr lang="en-US" sz="950" dirty="0"/>
          </a:p>
        </p:txBody>
      </p:sp>
      <p:sp>
        <p:nvSpPr>
          <p:cNvPr id="21" name="mx_x1"/>
          <p:cNvSpPr txBox="1"/>
          <p:nvPr/>
        </p:nvSpPr>
        <p:spPr>
          <a:xfrm>
            <a:off x="2720340" y="1554480"/>
            <a:ext cx="1257300" cy="36576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+10〜30%</a:t>
            </a:r>
            <a:endParaRPr lang="en-US" sz="950" dirty="0"/>
          </a:p>
        </p:txBody>
      </p:sp>
      <p:sp>
        <p:nvSpPr>
          <p:cNvPr id="22" name="mx_x2"/>
          <p:cNvSpPr txBox="1"/>
          <p:nvPr/>
        </p:nvSpPr>
        <p:spPr>
          <a:xfrm>
            <a:off x="3977640" y="1554480"/>
            <a:ext cx="1257300" cy="36576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−10〜+10%</a:t>
            </a:r>
            <a:endParaRPr lang="en-US" sz="950" dirty="0"/>
          </a:p>
        </p:txBody>
      </p:sp>
      <p:sp>
        <p:nvSpPr>
          <p:cNvPr id="23" name="mx_x3"/>
          <p:cNvSpPr txBox="1"/>
          <p:nvPr/>
        </p:nvSpPr>
        <p:spPr>
          <a:xfrm>
            <a:off x="5234940" y="1554480"/>
            <a:ext cx="1257300" cy="36576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−10% 未満</a:t>
            </a:r>
            <a:endParaRPr lang="en-US" sz="950" dirty="0"/>
          </a:p>
        </p:txBody>
      </p:sp>
      <p:sp>
        <p:nvSpPr>
          <p:cNvPr id="24" name="mx_y0"/>
          <p:cNvSpPr txBox="1"/>
          <p:nvPr/>
        </p:nvSpPr>
        <p:spPr>
          <a:xfrm>
            <a:off x="457200" y="1920240"/>
            <a:ext cx="960120" cy="685800"/>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S・A</a:t>
            </a:r>
            <a:endParaRPr lang="en-US" sz="950" dirty="0"/>
          </a:p>
        </p:txBody>
      </p:sp>
      <p:sp>
        <p:nvSpPr>
          <p:cNvPr id="25" name="ovl_mx0_0"/>
          <p:cNvSpPr/>
          <p:nvPr/>
        </p:nvSpPr>
        <p:spPr>
          <a:xfrm>
            <a:off x="1463040" y="1920240"/>
            <a:ext cx="1220724" cy="649224"/>
          </a:xfrm>
          <a:prstGeom prst="rect">
            <a:avLst/>
          </a:prstGeom>
          <a:solidFill>
            <a:srgbClr val="FFFFFF"/>
          </a:solidFill>
          <a:ln w="9525">
            <a:solidFill>
              <a:srgbClr val="D9D9D9"/>
            </a:solidFill>
            <a:prstDash val="solid"/>
          </a:ln>
        </p:spPr>
      </p:sp>
      <p:sp>
        <p:nvSpPr>
          <p:cNvPr id="26" name="mx_t0_0"/>
          <p:cNvSpPr txBox="1"/>
          <p:nvPr/>
        </p:nvSpPr>
        <p:spPr>
          <a:xfrm>
            <a:off x="1508760" y="19476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買い</a:t>
            </a:r>
            <a:endParaRPr lang="en-US" sz="950" dirty="0"/>
          </a:p>
        </p:txBody>
      </p:sp>
      <p:sp>
        <p:nvSpPr>
          <p:cNvPr id="27" name="ovl_mx1_0"/>
          <p:cNvSpPr/>
          <p:nvPr/>
        </p:nvSpPr>
        <p:spPr>
          <a:xfrm>
            <a:off x="2720340" y="1920240"/>
            <a:ext cx="1220724" cy="649224"/>
          </a:xfrm>
          <a:prstGeom prst="rect">
            <a:avLst/>
          </a:prstGeom>
          <a:solidFill>
            <a:srgbClr val="FFFFFF"/>
          </a:solidFill>
          <a:ln w="9525">
            <a:solidFill>
              <a:srgbClr val="D9D9D9"/>
            </a:solidFill>
            <a:prstDash val="solid"/>
          </a:ln>
        </p:spPr>
      </p:sp>
      <p:sp>
        <p:nvSpPr>
          <p:cNvPr id="28" name="mx_t1_0"/>
          <p:cNvSpPr txBox="1"/>
          <p:nvPr/>
        </p:nvSpPr>
        <p:spPr>
          <a:xfrm>
            <a:off x="2766060" y="19476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買い</a:t>
            </a:r>
            <a:endParaRPr lang="en-US" sz="950" dirty="0"/>
          </a:p>
        </p:txBody>
      </p:sp>
      <p:sp>
        <p:nvSpPr>
          <p:cNvPr id="29" name="ovl_mx2_0"/>
          <p:cNvSpPr/>
          <p:nvPr/>
        </p:nvSpPr>
        <p:spPr>
          <a:xfrm>
            <a:off x="3977640" y="1920240"/>
            <a:ext cx="1220724" cy="649224"/>
          </a:xfrm>
          <a:prstGeom prst="rect">
            <a:avLst/>
          </a:prstGeom>
          <a:solidFill>
            <a:srgbClr val="FFFFFF"/>
          </a:solidFill>
          <a:ln w="9525">
            <a:solidFill>
              <a:srgbClr val="D9D9D9"/>
            </a:solidFill>
            <a:prstDash val="solid"/>
          </a:ln>
        </p:spPr>
      </p:sp>
      <p:sp>
        <p:nvSpPr>
          <p:cNvPr id="30" name="mx_t2_0"/>
          <p:cNvSpPr txBox="1"/>
          <p:nvPr/>
        </p:nvSpPr>
        <p:spPr>
          <a:xfrm>
            <a:off x="4023360" y="19476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買い検討</a:t>
            </a:r>
            <a:endParaRPr lang="en-US" sz="950" dirty="0"/>
          </a:p>
        </p:txBody>
      </p:sp>
      <p:sp>
        <p:nvSpPr>
          <p:cNvPr id="31" name="ovl_mx3_0"/>
          <p:cNvSpPr/>
          <p:nvPr/>
        </p:nvSpPr>
        <p:spPr>
          <a:xfrm>
            <a:off x="5234940" y="1920240"/>
            <a:ext cx="1220724" cy="649224"/>
          </a:xfrm>
          <a:prstGeom prst="rect">
            <a:avLst/>
          </a:prstGeom>
          <a:solidFill>
            <a:srgbClr val="FFFFFF"/>
          </a:solidFill>
          <a:ln w="9525">
            <a:solidFill>
              <a:srgbClr val="D9D9D9"/>
            </a:solidFill>
            <a:prstDash val="solid"/>
          </a:ln>
        </p:spPr>
      </p:sp>
      <p:sp>
        <p:nvSpPr>
          <p:cNvPr id="32" name="mx_t3_0"/>
          <p:cNvSpPr txBox="1"/>
          <p:nvPr/>
        </p:nvSpPr>
        <p:spPr>
          <a:xfrm>
            <a:off x="5280660" y="19476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監視</a:t>
            </a:r>
            <a:endParaRPr lang="en-US" sz="950" dirty="0"/>
          </a:p>
        </p:txBody>
      </p:sp>
      <p:sp>
        <p:nvSpPr>
          <p:cNvPr id="33" name="mx_y1"/>
          <p:cNvSpPr txBox="1"/>
          <p:nvPr/>
        </p:nvSpPr>
        <p:spPr>
          <a:xfrm>
            <a:off x="457200" y="2606040"/>
            <a:ext cx="960120" cy="685800"/>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B</a:t>
            </a:r>
            <a:endParaRPr lang="en-US" sz="950" dirty="0"/>
          </a:p>
        </p:txBody>
      </p:sp>
      <p:sp>
        <p:nvSpPr>
          <p:cNvPr id="34" name="ovl_mx0_1"/>
          <p:cNvSpPr/>
          <p:nvPr/>
        </p:nvSpPr>
        <p:spPr>
          <a:xfrm>
            <a:off x="1463040" y="2606040"/>
            <a:ext cx="1220724" cy="649224"/>
          </a:xfrm>
          <a:prstGeom prst="rect">
            <a:avLst/>
          </a:prstGeom>
          <a:solidFill>
            <a:srgbClr val="197A56"/>
          </a:solidFill>
          <a:ln w="9525">
            <a:solidFill>
              <a:srgbClr val="D9D9D9"/>
            </a:solidFill>
            <a:prstDash val="solid"/>
          </a:ln>
        </p:spPr>
      </p:sp>
      <p:sp>
        <p:nvSpPr>
          <p:cNvPr id="35" name="mx_t0_1"/>
          <p:cNvSpPr txBox="1"/>
          <p:nvPr/>
        </p:nvSpPr>
        <p:spPr>
          <a:xfrm>
            <a:off x="1508760" y="2633472"/>
            <a:ext cx="1129284" cy="59436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買い</a:t>
            </a:r>
            <a:endParaRPr lang="en-US" sz="950" dirty="0"/>
          </a:p>
        </p:txBody>
      </p:sp>
      <p:sp>
        <p:nvSpPr>
          <p:cNvPr id="36" name="ovl_mx1_1"/>
          <p:cNvSpPr/>
          <p:nvPr/>
        </p:nvSpPr>
        <p:spPr>
          <a:xfrm>
            <a:off x="2720340" y="2606040"/>
            <a:ext cx="1220724" cy="649224"/>
          </a:xfrm>
          <a:prstGeom prst="rect">
            <a:avLst/>
          </a:prstGeom>
          <a:solidFill>
            <a:srgbClr val="FFFFFF"/>
          </a:solidFill>
          <a:ln w="9525">
            <a:solidFill>
              <a:srgbClr val="D9D9D9"/>
            </a:solidFill>
            <a:prstDash val="solid"/>
          </a:ln>
        </p:spPr>
      </p:sp>
      <p:sp>
        <p:nvSpPr>
          <p:cNvPr id="37" name="mx_t1_1"/>
          <p:cNvSpPr txBox="1"/>
          <p:nvPr/>
        </p:nvSpPr>
        <p:spPr>
          <a:xfrm>
            <a:off x="2766060" y="26334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買い検討</a:t>
            </a:r>
            <a:endParaRPr lang="en-US" sz="950" dirty="0"/>
          </a:p>
        </p:txBody>
      </p:sp>
      <p:sp>
        <p:nvSpPr>
          <p:cNvPr id="38" name="ovl_mx2_1"/>
          <p:cNvSpPr/>
          <p:nvPr/>
        </p:nvSpPr>
        <p:spPr>
          <a:xfrm>
            <a:off x="3977640" y="2606040"/>
            <a:ext cx="1220724" cy="649224"/>
          </a:xfrm>
          <a:prstGeom prst="rect">
            <a:avLst/>
          </a:prstGeom>
          <a:solidFill>
            <a:srgbClr val="FFFFFF"/>
          </a:solidFill>
          <a:ln w="9525">
            <a:solidFill>
              <a:srgbClr val="D9D9D9"/>
            </a:solidFill>
            <a:prstDash val="solid"/>
          </a:ln>
        </p:spPr>
      </p:sp>
      <p:sp>
        <p:nvSpPr>
          <p:cNvPr id="39" name="mx_t2_1"/>
          <p:cNvSpPr txBox="1"/>
          <p:nvPr/>
        </p:nvSpPr>
        <p:spPr>
          <a:xfrm>
            <a:off x="4023360" y="26334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監視</a:t>
            </a:r>
            <a:endParaRPr lang="en-US" sz="950" dirty="0"/>
          </a:p>
        </p:txBody>
      </p:sp>
      <p:sp>
        <p:nvSpPr>
          <p:cNvPr id="40" name="ovl_mx3_1"/>
          <p:cNvSpPr/>
          <p:nvPr/>
        </p:nvSpPr>
        <p:spPr>
          <a:xfrm>
            <a:off x="5234940" y="2606040"/>
            <a:ext cx="1220724" cy="649224"/>
          </a:xfrm>
          <a:prstGeom prst="rect">
            <a:avLst/>
          </a:prstGeom>
          <a:solidFill>
            <a:srgbClr val="FFFFFF"/>
          </a:solidFill>
          <a:ln w="9525">
            <a:solidFill>
              <a:srgbClr val="D9D9D9"/>
            </a:solidFill>
            <a:prstDash val="solid"/>
          </a:ln>
        </p:spPr>
      </p:sp>
      <p:sp>
        <p:nvSpPr>
          <p:cNvPr id="41" name="mx_t3_1"/>
          <p:cNvSpPr txBox="1"/>
          <p:nvPr/>
        </p:nvSpPr>
        <p:spPr>
          <a:xfrm>
            <a:off x="5280660" y="26334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見送り</a:t>
            </a:r>
            <a:endParaRPr lang="en-US" sz="950" dirty="0"/>
          </a:p>
        </p:txBody>
      </p:sp>
      <p:sp>
        <p:nvSpPr>
          <p:cNvPr id="42" name="mx_y2"/>
          <p:cNvSpPr txBox="1"/>
          <p:nvPr/>
        </p:nvSpPr>
        <p:spPr>
          <a:xfrm>
            <a:off x="457200" y="3291840"/>
            <a:ext cx="960120" cy="685800"/>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C</a:t>
            </a:r>
            <a:endParaRPr lang="en-US" sz="950" dirty="0"/>
          </a:p>
        </p:txBody>
      </p:sp>
      <p:sp>
        <p:nvSpPr>
          <p:cNvPr id="43" name="ovl_mx0_2"/>
          <p:cNvSpPr/>
          <p:nvPr/>
        </p:nvSpPr>
        <p:spPr>
          <a:xfrm>
            <a:off x="1463040" y="3291840"/>
            <a:ext cx="1220724" cy="649224"/>
          </a:xfrm>
          <a:prstGeom prst="rect">
            <a:avLst/>
          </a:prstGeom>
          <a:solidFill>
            <a:srgbClr val="FFFFFF"/>
          </a:solidFill>
          <a:ln w="9525">
            <a:solidFill>
              <a:srgbClr val="D9D9D9"/>
            </a:solidFill>
            <a:prstDash val="solid"/>
          </a:ln>
        </p:spPr>
      </p:sp>
      <p:sp>
        <p:nvSpPr>
          <p:cNvPr id="44" name="mx_t0_2"/>
          <p:cNvSpPr txBox="1"/>
          <p:nvPr/>
        </p:nvSpPr>
        <p:spPr>
          <a:xfrm>
            <a:off x="1508760" y="33192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買い検討</a:t>
            </a:r>
            <a:endParaRPr lang="en-US" sz="950" dirty="0"/>
          </a:p>
        </p:txBody>
      </p:sp>
      <p:sp>
        <p:nvSpPr>
          <p:cNvPr id="45" name="ovl_mx1_2"/>
          <p:cNvSpPr/>
          <p:nvPr/>
        </p:nvSpPr>
        <p:spPr>
          <a:xfrm>
            <a:off x="2720340" y="3291840"/>
            <a:ext cx="1220724" cy="649224"/>
          </a:xfrm>
          <a:prstGeom prst="rect">
            <a:avLst/>
          </a:prstGeom>
          <a:solidFill>
            <a:srgbClr val="FFFFFF"/>
          </a:solidFill>
          <a:ln w="9525">
            <a:solidFill>
              <a:srgbClr val="D9D9D9"/>
            </a:solidFill>
            <a:prstDash val="solid"/>
          </a:ln>
        </p:spPr>
      </p:sp>
      <p:sp>
        <p:nvSpPr>
          <p:cNvPr id="46" name="mx_t1_2"/>
          <p:cNvSpPr txBox="1"/>
          <p:nvPr/>
        </p:nvSpPr>
        <p:spPr>
          <a:xfrm>
            <a:off x="2766060" y="33192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監視</a:t>
            </a:r>
            <a:endParaRPr lang="en-US" sz="950" dirty="0"/>
          </a:p>
        </p:txBody>
      </p:sp>
      <p:sp>
        <p:nvSpPr>
          <p:cNvPr id="47" name="ovl_mx2_2"/>
          <p:cNvSpPr/>
          <p:nvPr/>
        </p:nvSpPr>
        <p:spPr>
          <a:xfrm>
            <a:off x="3977640" y="3291840"/>
            <a:ext cx="1220724" cy="649224"/>
          </a:xfrm>
          <a:prstGeom prst="rect">
            <a:avLst/>
          </a:prstGeom>
          <a:solidFill>
            <a:srgbClr val="FFFFFF"/>
          </a:solidFill>
          <a:ln w="9525">
            <a:solidFill>
              <a:srgbClr val="D9D9D9"/>
            </a:solidFill>
            <a:prstDash val="solid"/>
          </a:ln>
        </p:spPr>
      </p:sp>
      <p:sp>
        <p:nvSpPr>
          <p:cNvPr id="48" name="mx_t2_2"/>
          <p:cNvSpPr txBox="1"/>
          <p:nvPr/>
        </p:nvSpPr>
        <p:spPr>
          <a:xfrm>
            <a:off x="4023360" y="33192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監視</a:t>
            </a:r>
            <a:endParaRPr lang="en-US" sz="950" dirty="0"/>
          </a:p>
        </p:txBody>
      </p:sp>
      <p:sp>
        <p:nvSpPr>
          <p:cNvPr id="49" name="ovl_mx3_2"/>
          <p:cNvSpPr/>
          <p:nvPr/>
        </p:nvSpPr>
        <p:spPr>
          <a:xfrm>
            <a:off x="5234940" y="3291840"/>
            <a:ext cx="1220724" cy="649224"/>
          </a:xfrm>
          <a:prstGeom prst="rect">
            <a:avLst/>
          </a:prstGeom>
          <a:solidFill>
            <a:srgbClr val="FFFFFF"/>
          </a:solidFill>
          <a:ln w="9525">
            <a:solidFill>
              <a:srgbClr val="D9D9D9"/>
            </a:solidFill>
            <a:prstDash val="solid"/>
          </a:ln>
        </p:spPr>
      </p:sp>
      <p:sp>
        <p:nvSpPr>
          <p:cNvPr id="50" name="mx_t3_2"/>
          <p:cNvSpPr txBox="1"/>
          <p:nvPr/>
        </p:nvSpPr>
        <p:spPr>
          <a:xfrm>
            <a:off x="5280660" y="33192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見送り</a:t>
            </a:r>
            <a:endParaRPr lang="en-US" sz="950" dirty="0"/>
          </a:p>
        </p:txBody>
      </p:sp>
      <p:sp>
        <p:nvSpPr>
          <p:cNvPr id="51" name="mx_y3"/>
          <p:cNvSpPr txBox="1"/>
          <p:nvPr/>
        </p:nvSpPr>
        <p:spPr>
          <a:xfrm>
            <a:off x="457200" y="3977640"/>
            <a:ext cx="960120" cy="685800"/>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D 以下</a:t>
            </a:r>
            <a:endParaRPr lang="en-US" sz="950" dirty="0"/>
          </a:p>
        </p:txBody>
      </p:sp>
      <p:sp>
        <p:nvSpPr>
          <p:cNvPr id="52" name="ovl_mx0_3"/>
          <p:cNvSpPr/>
          <p:nvPr/>
        </p:nvSpPr>
        <p:spPr>
          <a:xfrm>
            <a:off x="1463040" y="3977640"/>
            <a:ext cx="1220724" cy="649224"/>
          </a:xfrm>
          <a:prstGeom prst="rect">
            <a:avLst/>
          </a:prstGeom>
          <a:solidFill>
            <a:srgbClr val="FFFFFF"/>
          </a:solidFill>
          <a:ln w="9525">
            <a:solidFill>
              <a:srgbClr val="D9D9D9"/>
            </a:solidFill>
            <a:prstDash val="solid"/>
          </a:ln>
        </p:spPr>
      </p:sp>
      <p:sp>
        <p:nvSpPr>
          <p:cNvPr id="53" name="mx_t0_3"/>
          <p:cNvSpPr txBox="1"/>
          <p:nvPr/>
        </p:nvSpPr>
        <p:spPr>
          <a:xfrm>
            <a:off x="1508760" y="40050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見送り</a:t>
            </a:r>
            <a:endParaRPr lang="en-US" sz="950" dirty="0"/>
          </a:p>
        </p:txBody>
      </p:sp>
      <p:sp>
        <p:nvSpPr>
          <p:cNvPr id="54" name="ovl_mx1_3"/>
          <p:cNvSpPr/>
          <p:nvPr/>
        </p:nvSpPr>
        <p:spPr>
          <a:xfrm>
            <a:off x="2720340" y="3977640"/>
            <a:ext cx="1220724" cy="649224"/>
          </a:xfrm>
          <a:prstGeom prst="rect">
            <a:avLst/>
          </a:prstGeom>
          <a:solidFill>
            <a:srgbClr val="FFFFFF"/>
          </a:solidFill>
          <a:ln w="9525">
            <a:solidFill>
              <a:srgbClr val="D9D9D9"/>
            </a:solidFill>
            <a:prstDash val="solid"/>
          </a:ln>
        </p:spPr>
      </p:sp>
      <p:sp>
        <p:nvSpPr>
          <p:cNvPr id="55" name="mx_t1_3"/>
          <p:cNvSpPr txBox="1"/>
          <p:nvPr/>
        </p:nvSpPr>
        <p:spPr>
          <a:xfrm>
            <a:off x="2766060" y="40050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見送り</a:t>
            </a:r>
            <a:endParaRPr lang="en-US" sz="950" dirty="0"/>
          </a:p>
        </p:txBody>
      </p:sp>
      <p:sp>
        <p:nvSpPr>
          <p:cNvPr id="56" name="ovl_mx2_3"/>
          <p:cNvSpPr/>
          <p:nvPr/>
        </p:nvSpPr>
        <p:spPr>
          <a:xfrm>
            <a:off x="3977640" y="3977640"/>
            <a:ext cx="1220724" cy="649224"/>
          </a:xfrm>
          <a:prstGeom prst="rect">
            <a:avLst/>
          </a:prstGeom>
          <a:solidFill>
            <a:srgbClr val="FFFFFF"/>
          </a:solidFill>
          <a:ln w="9525">
            <a:solidFill>
              <a:srgbClr val="D9D9D9"/>
            </a:solidFill>
            <a:prstDash val="solid"/>
          </a:ln>
        </p:spPr>
      </p:sp>
      <p:sp>
        <p:nvSpPr>
          <p:cNvPr id="57" name="mx_t2_3"/>
          <p:cNvSpPr txBox="1"/>
          <p:nvPr/>
        </p:nvSpPr>
        <p:spPr>
          <a:xfrm>
            <a:off x="4023360" y="40050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見送り</a:t>
            </a:r>
            <a:endParaRPr lang="en-US" sz="950" dirty="0"/>
          </a:p>
        </p:txBody>
      </p:sp>
      <p:sp>
        <p:nvSpPr>
          <p:cNvPr id="58" name="ovl_mx3_3"/>
          <p:cNvSpPr/>
          <p:nvPr/>
        </p:nvSpPr>
        <p:spPr>
          <a:xfrm>
            <a:off x="5234940" y="3977640"/>
            <a:ext cx="1220724" cy="649224"/>
          </a:xfrm>
          <a:prstGeom prst="rect">
            <a:avLst/>
          </a:prstGeom>
          <a:solidFill>
            <a:srgbClr val="FFFFFF"/>
          </a:solidFill>
          <a:ln w="9525">
            <a:solidFill>
              <a:srgbClr val="D9D9D9"/>
            </a:solidFill>
            <a:prstDash val="solid"/>
          </a:ln>
        </p:spPr>
      </p:sp>
      <p:sp>
        <p:nvSpPr>
          <p:cNvPr id="59" name="mx_t3_3"/>
          <p:cNvSpPr txBox="1"/>
          <p:nvPr/>
        </p:nvSpPr>
        <p:spPr>
          <a:xfrm>
            <a:off x="5280660" y="40050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見送り</a:t>
            </a:r>
            <a:endParaRPr lang="en-US" sz="950" dirty="0"/>
          </a:p>
        </p:txBody>
      </p:sp>
      <p:sp>
        <p:nvSpPr>
          <p:cNvPr id="60" name="mx_xt"/>
          <p:cNvSpPr txBox="1"/>
          <p:nvPr/>
        </p:nvSpPr>
        <p:spPr>
          <a:xfrm>
            <a:off x="1463040" y="4681728"/>
            <a:ext cx="5029200" cy="237744"/>
          </a:xfrm>
          <a:prstGeom prst="rect">
            <a:avLst/>
          </a:prstGeom>
          <a:noFill/>
          <a:ln/>
        </p:spPr>
        <p:txBody>
          <a:bodyPr wrap="square" lIns="0" tIns="0" rIns="0" bIns="0" rtlCol="0" anchor="t"/>
          <a:lstStyle/>
          <a:p>
            <a:pPr algn="ctr" indent="0" marL="0">
              <a:buNone/>
            </a:pPr>
            <a:r>
              <a:rPr lang="en-US" sz="900" dirty="0">
                <a:solidFill>
                  <a:srgbClr val="767676"/>
                </a:solidFill>
                <a:latin typeface="Meiryo UI" pitchFamily="34" charset="0"/>
                <a:ea typeface="Meiryo UI" pitchFamily="34" charset="-122"/>
                <a:cs typeface="Meiryo UI" pitchFamily="34" charset="-120"/>
              </a:rPr>
              <a:t>価格乖離(採用経路の理論株価 ÷ 株価 − 1)</a:t>
            </a:r>
            <a:endParaRPr lang="en-US" sz="900" dirty="0"/>
          </a:p>
        </p:txBody>
      </p:sp>
      <p:sp>
        <p:nvSpPr>
          <p:cNvPr id="61" name="ovl_takeaway_bg"/>
          <p:cNvSpPr/>
          <p:nvPr/>
        </p:nvSpPr>
        <p:spPr>
          <a:xfrm>
            <a:off x="457200" y="5010912"/>
            <a:ext cx="6035040" cy="731520"/>
          </a:xfrm>
          <a:prstGeom prst="rect">
            <a:avLst/>
          </a:prstGeom>
          <a:solidFill>
            <a:srgbClr val="EAF4EE"/>
          </a:solidFill>
          <a:ln w="12700">
            <a:solidFill>
              <a:srgbClr val="EAF4EE"/>
            </a:solidFill>
            <a:prstDash val="solid"/>
          </a:ln>
        </p:spPr>
      </p:sp>
      <p:sp>
        <p:nvSpPr>
          <p:cNvPr id="62" name="takeaway"/>
          <p:cNvSpPr txBox="1"/>
          <p:nvPr/>
        </p:nvSpPr>
        <p:spPr>
          <a:xfrm>
            <a:off x="566928" y="5084064"/>
            <a:ext cx="5815584" cy="58521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表上は「買い」。市場との差分(FY29 の FCF・OpenAI)が</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確立していないため、規則により「買い検討」を上限とする</a:t>
            </a:r>
            <a:endParaRPr lang="en-US" sz="1100" dirty="0"/>
          </a:p>
        </p:txBody>
      </p:sp>
      <p:graphicFrame>
        <p:nvGraphicFramePr>
          <p:cNvPr id="39" name="tbl"/>
          <p:cNvGraphicFramePr>
            <a:graphicFrameLocks noGrp="1"/>
          </p:cNvGraphicFramePr>
          <p:nvPr>
            <p:extLst>
              <p:ext uri="{D42A27DB-BD31-4B8C-83A1-F6EECF244321}">
                <p14:modId xmlns:p14="http://schemas.microsoft.com/office/powerpoint/2010/main" val="1579011935"/>
              </p:ext>
            </p:extLst>
          </p:nvPr>
        </p:nvGraphicFramePr>
        <p:xfrm>
          <a:off x="6720840" y="1554480"/>
          <a:ext cx="5010912" cy="914400"/>
        </p:xfrm>
        <a:graphic>
          <a:graphicData uri="http://schemas.openxmlformats.org/drawingml/2006/table">
            <a:tbl>
              <a:tblPr/>
              <a:tblGrid>
                <a:gridCol w="2194560"/>
                <a:gridCol w="1371600"/>
                <a:gridCol w="1444752"/>
              </a:tblGrid>
              <a:tr h="310896">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経路</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理論株価</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乖離</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コンセンサス(採用)</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251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+75%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会社シナリオ(FY30 EPS 21)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254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+77%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需給エンジンの EPS</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239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+67%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DCF(照合)</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231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+61%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graphicFrame>
        <p:nvGraphicFramePr>
          <p:cNvPr id="77" name="tbl"/>
          <p:cNvGraphicFramePr>
            <a:graphicFrameLocks noGrp="1"/>
          </p:cNvGraphicFramePr>
          <p:nvPr>
            <p:extLst>
              <p:ext uri="{D42A27DB-BD31-4B8C-83A1-F6EECF244321}">
                <p14:modId xmlns:p14="http://schemas.microsoft.com/office/powerpoint/2010/main" val="1579011935"/>
              </p:ext>
            </p:extLst>
          </p:nvPr>
        </p:nvGraphicFramePr>
        <p:xfrm>
          <a:off x="6720840" y="3291840"/>
          <a:ext cx="5010912" cy="914400"/>
        </p:xfrm>
        <a:graphic>
          <a:graphicData uri="http://schemas.openxmlformats.org/drawingml/2006/table">
            <a:tbl>
              <a:tblPr/>
              <a:tblGrid>
                <a:gridCol w="2194560"/>
                <a:gridCol w="1371600"/>
                <a:gridCol w="1444752"/>
              </a:tblGrid>
              <a:tr h="310896">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非対称性</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理論株価</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DCF</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下値(弱気)</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121(−16%)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92(−36%)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上値(強気)</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359(+150%)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392(+173%)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65" name="bullets"/>
          <p:cNvSpPr txBox="1"/>
          <p:nvPr/>
        </p:nvSpPr>
        <p:spPr>
          <a:xfrm>
            <a:off x="6720840" y="4343400"/>
            <a:ext cx="5010912" cy="1371600"/>
          </a:xfrm>
          <a:prstGeom prst="rect">
            <a:avLst/>
          </a:prstGeom>
          <a:noFill/>
          <a:ln/>
        </p:spPr>
        <p:txBody>
          <a:bodyPr wrap="square" lIns="508" tIns="508" rIns="508" bIns="508" rtlCol="0" anchor="t"/>
          <a:lstStyle/>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α 25%(構造 B の上端。争点が未解決のため)</a:t>
            </a:r>
            <a:endParaRPr lang="en-US" sz="1000" dirty="0"/>
          </a:p>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即エントリー上限 Z1 = min(261×0.75, 121×1.125)= 136</a:t>
            </a:r>
            <a:endParaRPr lang="en-US" sz="1000" dirty="0"/>
          </a:p>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分割エントリー上限 Z2 = 261×0.875 = 229 → 株価 143.20 は分割エントリー圏</a:t>
            </a:r>
            <a:endParaRPr lang="en-US" sz="1000" dirty="0"/>
          </a:p>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差分が確立するまで即エントリー圏は設けない</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4-4 リスク</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144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144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リスク</a:t>
            </a:r>
            <a:endParaRPr lang="en-US" sz="1000" dirty="0"/>
          </a:p>
        </p:txBody>
      </p:sp>
      <p:sp>
        <p:nvSpPr>
          <p:cNvPr id="14" name="hdr_why"/>
          <p:cNvSpPr txBox="1"/>
          <p:nvPr/>
        </p:nvSpPr>
        <p:spPr>
          <a:xfrm>
            <a:off x="1747774" y="356616"/>
            <a:ext cx="9986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判断を覆しうる事象と、その兆候を先に決めておく</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最大のリスクは OpenAI の支払能力と FY29 の格下げで、</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どちらも 12 月〜3 月の開示に兆候が出る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発生確率 × 影響(本体評価に組み込んだリスクとテールリスク)。右: 兆候とトリガー</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report/ORCL_report.md §12-2(テールリスクの確率は 3 年)、本資料 第3章の監視 KPI</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39</a:t>
            </a:r>
            <a:endParaRPr lang="en-US" sz="800" dirty="0"/>
          </a:p>
        </p:txBody>
      </p:sp>
      <p:sp>
        <p:nvSpPr>
          <p:cNvPr id="19" name="mx_yt"/>
          <p:cNvSpPr txBox="1"/>
          <p:nvPr/>
        </p:nvSpPr>
        <p:spPr>
          <a:xfrm>
            <a:off x="457200" y="1554480"/>
            <a:ext cx="1005840" cy="365760"/>
          </a:xfrm>
          <a:prstGeom prst="rect">
            <a:avLst/>
          </a:prstGeom>
          <a:noFill/>
          <a:ln/>
        </p:spPr>
        <p:txBody>
          <a:bodyPr wrap="square" lIns="0" tIns="0" rIns="0" bIns="0" rtlCol="0" anchor="b"/>
          <a:lstStyle/>
          <a:p>
            <a:pPr indent="0" marL="0">
              <a:buNone/>
            </a:pPr>
            <a:r>
              <a:rPr lang="en-US" sz="900" dirty="0">
                <a:solidFill>
                  <a:srgbClr val="767676"/>
                </a:solidFill>
                <a:latin typeface="Meiryo UI" pitchFamily="34" charset="0"/>
                <a:ea typeface="Meiryo UI" pitchFamily="34" charset="-122"/>
                <a:cs typeface="Meiryo UI" pitchFamily="34" charset="-120"/>
              </a:rPr>
              <a:t>発生確率</a:t>
            </a:r>
            <a:endParaRPr lang="en-US" sz="900" dirty="0"/>
          </a:p>
        </p:txBody>
      </p:sp>
      <p:sp>
        <p:nvSpPr>
          <p:cNvPr id="20" name="mx_x0"/>
          <p:cNvSpPr txBox="1"/>
          <p:nvPr/>
        </p:nvSpPr>
        <p:spPr>
          <a:xfrm>
            <a:off x="1463040" y="1554480"/>
            <a:ext cx="1615440" cy="36576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影響 中</a:t>
            </a:r>
            <a:endParaRPr lang="en-US" sz="950" dirty="0"/>
          </a:p>
        </p:txBody>
      </p:sp>
      <p:sp>
        <p:nvSpPr>
          <p:cNvPr id="21" name="mx_x1"/>
          <p:cNvSpPr txBox="1"/>
          <p:nvPr/>
        </p:nvSpPr>
        <p:spPr>
          <a:xfrm>
            <a:off x="3078480" y="1554480"/>
            <a:ext cx="1615440" cy="36576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影響 大</a:t>
            </a:r>
            <a:endParaRPr lang="en-US" sz="950" dirty="0"/>
          </a:p>
        </p:txBody>
      </p:sp>
      <p:sp>
        <p:nvSpPr>
          <p:cNvPr id="22" name="mx_x2"/>
          <p:cNvSpPr txBox="1"/>
          <p:nvPr/>
        </p:nvSpPr>
        <p:spPr>
          <a:xfrm>
            <a:off x="4693920" y="1554480"/>
            <a:ext cx="1615440" cy="36576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影響 極大</a:t>
            </a:r>
            <a:endParaRPr lang="en-US" sz="950" dirty="0"/>
          </a:p>
        </p:txBody>
      </p:sp>
      <p:sp>
        <p:nvSpPr>
          <p:cNvPr id="23" name="mx_y0"/>
          <p:cNvSpPr txBox="1"/>
          <p:nvPr/>
        </p:nvSpPr>
        <p:spPr>
          <a:xfrm>
            <a:off x="457200" y="1920240"/>
            <a:ext cx="960120" cy="1463040"/>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確率 中</a:t>
            </a:r>
            <a:endParaRPr lang="en-US" sz="950" dirty="0"/>
          </a:p>
          <a:p>
            <a:pPr indent="0" marL="0">
              <a:buNone/>
            </a:pPr>
            <a:r>
              <a:rPr lang="en-US" sz="950" b="1" dirty="0">
                <a:solidFill>
                  <a:srgbClr val="0E4D33"/>
                </a:solidFill>
                <a:latin typeface="Meiryo UI" pitchFamily="34" charset="0"/>
                <a:ea typeface="Meiryo UI" pitchFamily="34" charset="-122"/>
                <a:cs typeface="Meiryo UI" pitchFamily="34" charset="-120"/>
              </a:rPr>
              <a:t>(本体に</a:t>
            </a:r>
            <a:endParaRPr lang="en-US" sz="950" dirty="0"/>
          </a:p>
          <a:p>
            <a:pPr indent="0" marL="0">
              <a:buNone/>
            </a:pPr>
            <a:r>
              <a:rPr lang="en-US" sz="950" b="1" dirty="0">
                <a:solidFill>
                  <a:srgbClr val="0E4D33"/>
                </a:solidFill>
                <a:latin typeface="Meiryo UI" pitchFamily="34" charset="0"/>
                <a:ea typeface="Meiryo UI" pitchFamily="34" charset="-122"/>
                <a:cs typeface="Meiryo UI" pitchFamily="34" charset="-120"/>
              </a:rPr>
              <a:t>組込み)</a:t>
            </a:r>
            <a:endParaRPr lang="en-US" sz="950" dirty="0"/>
          </a:p>
        </p:txBody>
      </p:sp>
      <p:sp>
        <p:nvSpPr>
          <p:cNvPr id="24" name="ovl_mx0_0"/>
          <p:cNvSpPr/>
          <p:nvPr/>
        </p:nvSpPr>
        <p:spPr>
          <a:xfrm>
            <a:off x="1463040" y="1920240"/>
            <a:ext cx="1578864" cy="1426464"/>
          </a:xfrm>
          <a:prstGeom prst="rect">
            <a:avLst/>
          </a:prstGeom>
          <a:solidFill>
            <a:srgbClr val="FFFFFF"/>
          </a:solidFill>
          <a:ln w="9525">
            <a:solidFill>
              <a:srgbClr val="D9D9D9"/>
            </a:solidFill>
            <a:prstDash val="solid"/>
          </a:ln>
        </p:spPr>
      </p:sp>
      <p:sp>
        <p:nvSpPr>
          <p:cNvPr id="25" name="mx_t0_0"/>
          <p:cNvSpPr txBox="1"/>
          <p:nvPr/>
        </p:nvSpPr>
        <p:spPr>
          <a:xfrm>
            <a:off x="1508760" y="1947672"/>
            <a:ext cx="1487424" cy="137160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FY29 の格下げ・</a:t>
            </a:r>
            <a:endParaRPr lang="en-US" sz="950" dirty="0"/>
          </a:p>
          <a:p>
            <a:pPr algn="ctr" indent="0" marL="0">
              <a:buNone/>
            </a:pPr>
            <a:r>
              <a:rPr lang="en-US" sz="950" dirty="0">
                <a:solidFill>
                  <a:srgbClr val="333333"/>
                </a:solidFill>
                <a:latin typeface="Meiryo UI" pitchFamily="34" charset="0"/>
                <a:ea typeface="Meiryo UI" pitchFamily="34" charset="-122"/>
                <a:cs typeface="Meiryo UI" pitchFamily="34" charset="-120"/>
              </a:rPr>
              <a:t>電力と拠点の遅延・</a:t>
            </a:r>
            <a:endParaRPr lang="en-US" sz="950" dirty="0"/>
          </a:p>
          <a:p>
            <a:pPr algn="ctr" indent="0" marL="0">
              <a:buNone/>
            </a:pPr>
            <a:r>
              <a:rPr lang="en-US" sz="950" dirty="0">
                <a:solidFill>
                  <a:srgbClr val="333333"/>
                </a:solidFill>
                <a:latin typeface="Meiryo UI" pitchFamily="34" charset="0"/>
                <a:ea typeface="Meiryo UI" pitchFamily="34" charset="-122"/>
                <a:cs typeface="Meiryo UI" pitchFamily="34" charset="-120"/>
              </a:rPr>
              <a:t>資金調達と希薄化</a:t>
            </a:r>
            <a:endParaRPr lang="en-US" sz="950" dirty="0"/>
          </a:p>
        </p:txBody>
      </p:sp>
      <p:sp>
        <p:nvSpPr>
          <p:cNvPr id="26" name="ovl_mx1_0"/>
          <p:cNvSpPr/>
          <p:nvPr/>
        </p:nvSpPr>
        <p:spPr>
          <a:xfrm>
            <a:off x="3078480" y="1920240"/>
            <a:ext cx="1578864" cy="1426464"/>
          </a:xfrm>
          <a:prstGeom prst="rect">
            <a:avLst/>
          </a:prstGeom>
          <a:solidFill>
            <a:srgbClr val="197A56"/>
          </a:solidFill>
          <a:ln w="9525">
            <a:solidFill>
              <a:srgbClr val="D9D9D9"/>
            </a:solidFill>
            <a:prstDash val="solid"/>
          </a:ln>
        </p:spPr>
      </p:sp>
      <p:sp>
        <p:nvSpPr>
          <p:cNvPr id="27" name="mx_t1_0"/>
          <p:cNvSpPr txBox="1"/>
          <p:nvPr/>
        </p:nvSpPr>
        <p:spPr>
          <a:xfrm>
            <a:off x="3124200" y="1947672"/>
            <a:ext cx="1487424" cy="137160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OpenAI の支払能力・GPU の陳腐化と単価下落</a:t>
            </a:r>
            <a:endParaRPr lang="en-US" sz="950" dirty="0"/>
          </a:p>
        </p:txBody>
      </p:sp>
      <p:sp>
        <p:nvSpPr>
          <p:cNvPr id="28" name="ovl_mx2_0"/>
          <p:cNvSpPr/>
          <p:nvPr/>
        </p:nvSpPr>
        <p:spPr>
          <a:xfrm>
            <a:off x="4693920" y="1920240"/>
            <a:ext cx="1578864" cy="1426464"/>
          </a:xfrm>
          <a:prstGeom prst="rect">
            <a:avLst/>
          </a:prstGeom>
          <a:solidFill>
            <a:srgbClr val="FFFFFF"/>
          </a:solidFill>
          <a:ln w="9525">
            <a:solidFill>
              <a:srgbClr val="D9D9D9"/>
            </a:solidFill>
            <a:prstDash val="solid"/>
          </a:ln>
        </p:spPr>
      </p:sp>
      <p:sp>
        <p:nvSpPr>
          <p:cNvPr id="29" name="mx_t2_0"/>
          <p:cNvSpPr txBox="1"/>
          <p:nvPr/>
        </p:nvSpPr>
        <p:spPr>
          <a:xfrm>
            <a:off x="4739640" y="1947672"/>
            <a:ext cx="1487424" cy="137160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a:t>
            </a:r>
            <a:endParaRPr lang="en-US" sz="950" dirty="0"/>
          </a:p>
        </p:txBody>
      </p:sp>
      <p:sp>
        <p:nvSpPr>
          <p:cNvPr id="30" name="mx_y1"/>
          <p:cNvSpPr txBox="1"/>
          <p:nvPr/>
        </p:nvSpPr>
        <p:spPr>
          <a:xfrm>
            <a:off x="457200" y="3383280"/>
            <a:ext cx="960120" cy="1463040"/>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確率 低</a:t>
            </a:r>
            <a:endParaRPr lang="en-US" sz="950" dirty="0"/>
          </a:p>
          <a:p>
            <a:pPr indent="0" marL="0">
              <a:buNone/>
            </a:pPr>
            <a:r>
              <a:rPr lang="en-US" sz="950" b="1" dirty="0">
                <a:solidFill>
                  <a:srgbClr val="0E4D33"/>
                </a:solidFill>
                <a:latin typeface="Meiryo UI" pitchFamily="34" charset="0"/>
                <a:ea typeface="Meiryo UI" pitchFamily="34" charset="-122"/>
                <a:cs typeface="Meiryo UI" pitchFamily="34" charset="-120"/>
              </a:rPr>
              <a:t>(テール 3 年で</a:t>
            </a:r>
            <a:endParaRPr lang="en-US" sz="950" dirty="0"/>
          </a:p>
          <a:p>
            <a:pPr indent="0" marL="0">
              <a:buNone/>
            </a:pPr>
            <a:r>
              <a:rPr lang="en-US" sz="950" b="1" dirty="0">
                <a:solidFill>
                  <a:srgbClr val="0E4D33"/>
                </a:solidFill>
                <a:latin typeface="Meiryo UI" pitchFamily="34" charset="0"/>
                <a:ea typeface="Meiryo UI" pitchFamily="34" charset="-122"/>
                <a:cs typeface="Meiryo UI" pitchFamily="34" charset="-120"/>
              </a:rPr>
              <a:t>5〜10%)</a:t>
            </a:r>
            <a:endParaRPr lang="en-US" sz="950" dirty="0"/>
          </a:p>
        </p:txBody>
      </p:sp>
      <p:sp>
        <p:nvSpPr>
          <p:cNvPr id="31" name="ovl_mx0_1"/>
          <p:cNvSpPr/>
          <p:nvPr/>
        </p:nvSpPr>
        <p:spPr>
          <a:xfrm>
            <a:off x="1463040" y="3383280"/>
            <a:ext cx="1578864" cy="1426464"/>
          </a:xfrm>
          <a:prstGeom prst="rect">
            <a:avLst/>
          </a:prstGeom>
          <a:solidFill>
            <a:srgbClr val="FFFFFF"/>
          </a:solidFill>
          <a:ln w="9525">
            <a:solidFill>
              <a:srgbClr val="D9D9D9"/>
            </a:solidFill>
            <a:prstDash val="solid"/>
          </a:ln>
        </p:spPr>
      </p:sp>
      <p:sp>
        <p:nvSpPr>
          <p:cNvPr id="32" name="mx_t0_1"/>
          <p:cNvSpPr txBox="1"/>
          <p:nvPr/>
        </p:nvSpPr>
        <p:spPr>
          <a:xfrm>
            <a:off x="1508760" y="3410712"/>
            <a:ext cx="1487424" cy="137160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キーパーソン(5%)</a:t>
            </a:r>
            <a:endParaRPr lang="en-US" sz="950" dirty="0"/>
          </a:p>
        </p:txBody>
      </p:sp>
      <p:sp>
        <p:nvSpPr>
          <p:cNvPr id="33" name="ovl_mx1_1"/>
          <p:cNvSpPr/>
          <p:nvPr/>
        </p:nvSpPr>
        <p:spPr>
          <a:xfrm>
            <a:off x="3078480" y="3383280"/>
            <a:ext cx="1578864" cy="1426464"/>
          </a:xfrm>
          <a:prstGeom prst="rect">
            <a:avLst/>
          </a:prstGeom>
          <a:solidFill>
            <a:srgbClr val="FFFFFF"/>
          </a:solidFill>
          <a:ln w="9525">
            <a:solidFill>
              <a:srgbClr val="D9D9D9"/>
            </a:solidFill>
            <a:prstDash val="solid"/>
          </a:ln>
        </p:spPr>
      </p:sp>
      <p:sp>
        <p:nvSpPr>
          <p:cNvPr id="34" name="mx_t1_1"/>
          <p:cNvSpPr txBox="1"/>
          <p:nvPr/>
        </p:nvSpPr>
        <p:spPr>
          <a:xfrm>
            <a:off x="3124200" y="3410712"/>
            <a:ext cx="1487424" cy="137160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電力規制(5〜10%)・</a:t>
            </a:r>
            <a:endParaRPr lang="en-US" sz="950" dirty="0"/>
          </a:p>
          <a:p>
            <a:pPr algn="ctr" indent="0" marL="0">
              <a:buNone/>
            </a:pPr>
            <a:r>
              <a:rPr lang="en-US" sz="950" dirty="0">
                <a:solidFill>
                  <a:srgbClr val="333333"/>
                </a:solidFill>
                <a:latin typeface="Meiryo UI" pitchFamily="34" charset="0"/>
                <a:ea typeface="Meiryo UI" pitchFamily="34" charset="-122"/>
                <a:cs typeface="Meiryo UI" pitchFamily="34" charset="-120"/>
              </a:rPr>
              <a:t>地政学(5%)</a:t>
            </a:r>
            <a:endParaRPr lang="en-US" sz="950" dirty="0"/>
          </a:p>
        </p:txBody>
      </p:sp>
      <p:sp>
        <p:nvSpPr>
          <p:cNvPr id="35" name="ovl_mx2_1"/>
          <p:cNvSpPr/>
          <p:nvPr/>
        </p:nvSpPr>
        <p:spPr>
          <a:xfrm>
            <a:off x="4693920" y="3383280"/>
            <a:ext cx="1578864" cy="1426464"/>
          </a:xfrm>
          <a:prstGeom prst="rect">
            <a:avLst/>
          </a:prstGeom>
          <a:solidFill>
            <a:srgbClr val="FFFFFF"/>
          </a:solidFill>
          <a:ln w="9525">
            <a:solidFill>
              <a:srgbClr val="D9D9D9"/>
            </a:solidFill>
            <a:prstDash val="solid"/>
          </a:ln>
        </p:spPr>
      </p:sp>
      <p:sp>
        <p:nvSpPr>
          <p:cNvPr id="36" name="mx_t2_1"/>
          <p:cNvSpPr txBox="1"/>
          <p:nvPr/>
        </p:nvSpPr>
        <p:spPr>
          <a:xfrm>
            <a:off x="4739640" y="3410712"/>
            <a:ext cx="1487424" cy="137160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AI 投資の全面的な逆回転(10%)</a:t>
            </a:r>
            <a:endParaRPr lang="en-US" sz="950" dirty="0"/>
          </a:p>
        </p:txBody>
      </p:sp>
      <p:sp>
        <p:nvSpPr>
          <p:cNvPr id="37" name="mx_xt"/>
          <p:cNvSpPr txBox="1"/>
          <p:nvPr/>
        </p:nvSpPr>
        <p:spPr>
          <a:xfrm>
            <a:off x="1463040" y="4864608"/>
            <a:ext cx="4846320" cy="237744"/>
          </a:xfrm>
          <a:prstGeom prst="rect">
            <a:avLst/>
          </a:prstGeom>
          <a:noFill/>
          <a:ln/>
        </p:spPr>
        <p:txBody>
          <a:bodyPr wrap="square" lIns="0" tIns="0" rIns="0" bIns="0" rtlCol="0" anchor="t"/>
          <a:lstStyle/>
          <a:p>
            <a:pPr algn="ctr" indent="0" marL="0">
              <a:buNone/>
            </a:pPr>
            <a:r>
              <a:rPr lang="en-US" sz="900" dirty="0">
                <a:solidFill>
                  <a:srgbClr val="767676"/>
                </a:solidFill>
                <a:latin typeface="Meiryo UI" pitchFamily="34" charset="0"/>
                <a:ea typeface="Meiryo UI" pitchFamily="34" charset="-122"/>
                <a:cs typeface="Meiryo UI" pitchFamily="34" charset="-120"/>
              </a:rPr>
              <a:t>1 株価値への影響</a:t>
            </a:r>
            <a:endParaRPr lang="en-US" sz="900" dirty="0"/>
          </a:p>
        </p:txBody>
      </p:sp>
      <p:sp>
        <p:nvSpPr>
          <p:cNvPr id="38" name="ovl_takeaway_bg"/>
          <p:cNvSpPr/>
          <p:nvPr/>
        </p:nvSpPr>
        <p:spPr>
          <a:xfrm>
            <a:off x="457200" y="5120640"/>
            <a:ext cx="5852160" cy="960120"/>
          </a:xfrm>
          <a:prstGeom prst="rect">
            <a:avLst/>
          </a:prstGeom>
          <a:solidFill>
            <a:srgbClr val="EAF4EE"/>
          </a:solidFill>
          <a:ln w="12700">
            <a:solidFill>
              <a:srgbClr val="EAF4EE"/>
            </a:solidFill>
            <a:prstDash val="solid"/>
          </a:ln>
        </p:spPr>
      </p:sp>
      <p:sp>
        <p:nvSpPr>
          <p:cNvPr id="39" name="takeaway"/>
          <p:cNvSpPr txBox="1"/>
          <p:nvPr/>
        </p:nvSpPr>
        <p:spPr>
          <a:xfrm>
            <a:off x="566928" y="5193792"/>
            <a:ext cx="5632704" cy="81381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テールは本体評価から分けたが無視しない。</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AI 投資の逆回転で −50% になっても許容できる大きさに建玉を抑える</a:t>
            </a:r>
            <a:endParaRPr lang="en-US" sz="1100" dirty="0"/>
          </a:p>
        </p:txBody>
      </p:sp>
      <p:graphicFrame>
        <p:nvGraphicFramePr>
          <p:cNvPr id="40" name="tbl"/>
          <p:cNvGraphicFramePr>
            <a:graphicFrameLocks noGrp="1"/>
          </p:cNvGraphicFramePr>
          <p:nvPr>
            <p:extLst>
              <p:ext uri="{D42A27DB-BD31-4B8C-83A1-F6EECF244321}">
                <p14:modId xmlns:p14="http://schemas.microsoft.com/office/powerpoint/2010/main" val="1579011935"/>
              </p:ext>
            </p:extLst>
          </p:nvPr>
        </p:nvGraphicFramePr>
        <p:xfrm>
          <a:off x="6537960" y="1554480"/>
          <a:ext cx="5193792" cy="914400"/>
        </p:xfrm>
        <a:graphic>
          <a:graphicData uri="http://schemas.openxmlformats.org/drawingml/2006/table">
            <a:tbl>
              <a:tblPr/>
              <a:tblGrid>
                <a:gridCol w="1508760"/>
                <a:gridCol w="2468880"/>
                <a:gridCol w="1216152"/>
              </a:tblGrid>
              <a:tr h="502920">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リスク</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兆候・トリガー</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確認の時期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50292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OpenAI の支払能力</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契約変更・支払遅延の報道、受注残の OpenAI 比率</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12 月・2027 前半</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FY29 の格下げ</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四半期 FCF、S&amp;P の見通し、</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CDS 300bp 超</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毎四半期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50292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GPU の陳腐化</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更新プレミアム 0% 以下、</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H100 1 年契約 2.00 ドル未満</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毎四半期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電力・拠点の遅延</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納入 0.8GW/四半期 未満が</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2 期、NM のガス管(2027-02)</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毎四半期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50292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AI 投資の逆回転</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OpenAI のダウンラウンド、</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大手の capex 引き下げ、</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H100 指数 1.5 ドル未満</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随時</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4-5 投資行動(1/2)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投資行動</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判断を、いつ・どれだけ・何を確かめて建てるかの手順に落とす</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エントリー期は分割で建て、検証期に判別 KPI を 2 四半期確かめ、</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合格すれば本格保有期に移る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時系列投資戦略(4 フェーズ)。判別 KPI は第3章の監視 KPI と共通</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銘柄分析メソッド scenario-strategy §7、本資料 第3章・最終判断</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40</a:t>
            </a:r>
            <a:endParaRPr lang="en-US" sz="800" dirty="0"/>
          </a:p>
        </p:txBody>
      </p:sp>
      <p:sp>
        <p:nvSpPr>
          <p:cNvPr id="19" name="ovl_chev0"/>
          <p:cNvSpPr/>
          <p:nvPr/>
        </p:nvSpPr>
        <p:spPr>
          <a:xfrm>
            <a:off x="457200" y="1554480"/>
            <a:ext cx="2743200" cy="640080"/>
          </a:xfrm>
          <a:prstGeom prst="chevron">
            <a:avLst/>
          </a:prstGeom>
          <a:solidFill>
            <a:srgbClr val="0E4D33"/>
          </a:solidFill>
          <a:ln w="12700">
            <a:solidFill>
              <a:srgbClr val="0E4D33"/>
            </a:solidFill>
            <a:prstDash val="solid"/>
          </a:ln>
        </p:spPr>
      </p:sp>
      <p:sp>
        <p:nvSpPr>
          <p:cNvPr id="20" name="ovl_chev_t0"/>
          <p:cNvSpPr txBox="1"/>
          <p:nvPr/>
        </p:nvSpPr>
        <p:spPr>
          <a:xfrm>
            <a:off x="457200" y="1554480"/>
            <a:ext cx="274320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 エントリー期</a:t>
            </a:r>
            <a:endParaRPr lang="en-US" sz="1200" dirty="0"/>
          </a:p>
        </p:txBody>
      </p:sp>
      <p:sp>
        <p:nvSpPr>
          <p:cNvPr id="21" name="ovl_chev1"/>
          <p:cNvSpPr/>
          <p:nvPr/>
        </p:nvSpPr>
        <p:spPr>
          <a:xfrm>
            <a:off x="3108960" y="1554480"/>
            <a:ext cx="2743200" cy="640080"/>
          </a:xfrm>
          <a:prstGeom prst="chevron">
            <a:avLst/>
          </a:prstGeom>
          <a:solidFill>
            <a:srgbClr val="197A56"/>
          </a:solidFill>
          <a:ln w="12700">
            <a:solidFill>
              <a:srgbClr val="197A56"/>
            </a:solidFill>
            <a:prstDash val="solid"/>
          </a:ln>
        </p:spPr>
      </p:sp>
      <p:sp>
        <p:nvSpPr>
          <p:cNvPr id="22" name="ovl_chev_t1"/>
          <p:cNvSpPr txBox="1"/>
          <p:nvPr/>
        </p:nvSpPr>
        <p:spPr>
          <a:xfrm>
            <a:off x="3108960" y="1554480"/>
            <a:ext cx="274320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 検証期</a:t>
            </a:r>
            <a:endParaRPr lang="en-US" sz="1200" dirty="0"/>
          </a:p>
        </p:txBody>
      </p:sp>
      <p:sp>
        <p:nvSpPr>
          <p:cNvPr id="23" name="ovl_chev2"/>
          <p:cNvSpPr/>
          <p:nvPr/>
        </p:nvSpPr>
        <p:spPr>
          <a:xfrm>
            <a:off x="5760720" y="1554480"/>
            <a:ext cx="2743200" cy="640080"/>
          </a:xfrm>
          <a:prstGeom prst="chevron">
            <a:avLst/>
          </a:prstGeom>
          <a:solidFill>
            <a:srgbClr val="86C99B"/>
          </a:solidFill>
          <a:ln w="12700">
            <a:solidFill>
              <a:srgbClr val="86C99B"/>
            </a:solidFill>
            <a:prstDash val="solid"/>
          </a:ln>
        </p:spPr>
      </p:sp>
      <p:sp>
        <p:nvSpPr>
          <p:cNvPr id="24" name="ovl_chev_t2"/>
          <p:cNvSpPr txBox="1"/>
          <p:nvPr/>
        </p:nvSpPr>
        <p:spPr>
          <a:xfrm>
            <a:off x="5760720" y="1554480"/>
            <a:ext cx="2743200" cy="640080"/>
          </a:xfrm>
          <a:prstGeom prst="rect">
            <a:avLst/>
          </a:prstGeom>
          <a:noFill/>
          <a:ln/>
        </p:spPr>
        <p:txBody>
          <a:bodyPr wrap="square" lIns="0" tIns="0" rIns="0" bIns="0" rtlCol="0" anchor="ctr"/>
          <a:lstStyle/>
          <a:p>
            <a:pPr algn="ctr" indent="0" marL="0">
              <a:buNone/>
            </a:pPr>
            <a:r>
              <a:rPr lang="en-US" sz="1200" b="1" dirty="0">
                <a:solidFill>
                  <a:srgbClr val="0E4D33"/>
                </a:solidFill>
                <a:latin typeface="Meiryo UI" pitchFamily="34" charset="0"/>
                <a:ea typeface="Meiryo UI" pitchFamily="34" charset="-122"/>
                <a:cs typeface="Meiryo UI" pitchFamily="34" charset="-120"/>
              </a:rPr>
              <a:t>3 本格保有期</a:t>
            </a:r>
            <a:endParaRPr lang="en-US" sz="1200" dirty="0"/>
          </a:p>
        </p:txBody>
      </p:sp>
      <p:sp>
        <p:nvSpPr>
          <p:cNvPr id="25" name="ovl_chev3"/>
          <p:cNvSpPr/>
          <p:nvPr/>
        </p:nvSpPr>
        <p:spPr>
          <a:xfrm>
            <a:off x="8412480" y="1554480"/>
            <a:ext cx="2743200" cy="640080"/>
          </a:xfrm>
          <a:prstGeom prst="chevron">
            <a:avLst/>
          </a:prstGeom>
          <a:solidFill>
            <a:srgbClr val="1BA1A6"/>
          </a:solidFill>
          <a:ln w="12700">
            <a:solidFill>
              <a:srgbClr val="1BA1A6"/>
            </a:solidFill>
            <a:prstDash val="solid"/>
          </a:ln>
        </p:spPr>
      </p:sp>
      <p:sp>
        <p:nvSpPr>
          <p:cNvPr id="26" name="ovl_chev_t3"/>
          <p:cNvSpPr txBox="1"/>
          <p:nvPr/>
        </p:nvSpPr>
        <p:spPr>
          <a:xfrm>
            <a:off x="8412480" y="1554480"/>
            <a:ext cx="274320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4 再評価期</a:t>
            </a:r>
            <a:endParaRPr lang="en-US" sz="1200" dirty="0"/>
          </a:p>
        </p:txBody>
      </p:sp>
      <p:graphicFrame>
        <p:nvGraphicFramePr>
          <p:cNvPr id="41" name="tbl"/>
          <p:cNvGraphicFramePr>
            <a:graphicFrameLocks noGrp="1"/>
          </p:cNvGraphicFramePr>
          <p:nvPr>
            <p:extLst>
              <p:ext uri="{D42A27DB-BD31-4B8C-83A1-F6EECF244321}">
                <p14:modId xmlns:p14="http://schemas.microsoft.com/office/powerpoint/2010/main" val="1579011935"/>
              </p:ext>
            </p:extLst>
          </p:nvPr>
        </p:nvGraphicFramePr>
        <p:xfrm>
          <a:off x="457200" y="2331720"/>
          <a:ext cx="11274552" cy="914400"/>
        </p:xfrm>
        <a:graphic>
          <a:graphicData uri="http://schemas.openxmlformats.org/drawingml/2006/table">
            <a:tbl>
              <a:tblPr/>
              <a:tblGrid>
                <a:gridCol w="1325880"/>
                <a:gridCol w="2487168"/>
                <a:gridCol w="2487168"/>
                <a:gridCol w="2487168"/>
                <a:gridCol w="2487168"/>
              </a:tblGrid>
              <a:tr h="603504">
                <a:tc>
                  <a:txBody>
                    <a:bodyPr/>
                    <a:lstStyle/>
                    <a:p>
                      <a:pPr algn="l" indent="0" marL="0">
                        <a:buNone/>
                      </a:pP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エントリー期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検証期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本格保有期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再評価期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60350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期間</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今から 1〜2 四半期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2〜4 四半期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FY29 の格付け通過と</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FY30 の FCF 反転の後</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株価が理論株価に近づいた後</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60350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やること</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分割エントリー圏(136〜229 ドル)で</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3 回に分けて建てる</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判別 KPI を四半期ごとに確かめる</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確度に応じて増やす</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新しい差分を探し、なければ縮小する</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60350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確認 KPI</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Q2 FY27 の納入・FCF・受注残の構成</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納入 1GW/四半期以上、36 か月比率</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50% 以上、CDS 200bp 未満、</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OpenAI 比率 40% 未満</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FCF 黒字の継続、AI 粗利率 35% 以上</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PEG 1.0 以上、コンセンサスとの差</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60350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撤退条件</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OpenAI の契約変更、</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FY29 より前の BB+</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合格ラインを 2 四半期続けて下回り、</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一時要因で説明できない</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OpenAI の支払いの破綻</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差分の消失</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28" name="ovl_takeaway_bg"/>
          <p:cNvSpPr/>
          <p:nvPr/>
        </p:nvSpPr>
        <p:spPr>
          <a:xfrm>
            <a:off x="457200" y="5440680"/>
            <a:ext cx="11274552" cy="640080"/>
          </a:xfrm>
          <a:prstGeom prst="rect">
            <a:avLst/>
          </a:prstGeom>
          <a:solidFill>
            <a:srgbClr val="EAF4EE"/>
          </a:solidFill>
          <a:ln w="12700">
            <a:solidFill>
              <a:srgbClr val="EAF4EE"/>
            </a:solidFill>
            <a:prstDash val="solid"/>
          </a:ln>
        </p:spPr>
      </p:sp>
      <p:sp>
        <p:nvSpPr>
          <p:cNvPr id="29" name="takeaway"/>
          <p:cNvSpPr txBox="1"/>
          <p:nvPr/>
        </p:nvSpPr>
        <p:spPr>
          <a:xfrm>
            <a:off x="566928" y="5513832"/>
            <a:ext cx="11055096" cy="49377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判別 KPI のうち 2 つ以上を満たしたら差分が確立したとみなし、「買い」に引き上げて即エントリー圏(136 ドル以下)を有効にする</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4-5 投資行動(2/2)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144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144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まとめ</a:t>
            </a:r>
            <a:endParaRPr lang="en-US" sz="1000" dirty="0"/>
          </a:p>
        </p:txBody>
      </p:sp>
      <p:sp>
        <p:nvSpPr>
          <p:cNvPr id="14" name="hdr_why"/>
          <p:cNvSpPr txBox="1"/>
          <p:nvPr/>
        </p:nvSpPr>
        <p:spPr>
          <a:xfrm>
            <a:off x="1747774" y="356616"/>
            <a:ext cx="9986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事実と行動を 1 枚で対応づけ、次に確かめることをはっきりさせる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評価の事実は「構造 B・価格 1.75 倍・差分未確立」で、</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行動は「分割で建て、KPI で差分を確かめる」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分析結果のサマリ(事実)。右: 示唆とネクストアクション(左の行と対応)</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本資料の各章</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41</a:t>
            </a:r>
            <a:endParaRPr lang="en-US" sz="800" dirty="0"/>
          </a:p>
        </p:txBody>
      </p:sp>
      <p:sp>
        <p:nvSpPr>
          <p:cNvPr id="19" name="pane_head"/>
          <p:cNvSpPr txBox="1"/>
          <p:nvPr/>
        </p:nvSpPr>
        <p:spPr>
          <a:xfrm>
            <a:off x="457200"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分析結果のサマリ</a:t>
            </a:r>
            <a:endParaRPr lang="en-US" sz="1200" dirty="0"/>
          </a:p>
        </p:txBody>
      </p:sp>
      <p:sp>
        <p:nvSpPr>
          <p:cNvPr id="20" name="pane_head"/>
          <p:cNvSpPr txBox="1"/>
          <p:nvPr/>
        </p:nvSpPr>
        <p:spPr>
          <a:xfrm>
            <a:off x="6199632"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示唆・ネクストアクション</a:t>
            </a:r>
            <a:endParaRPr lang="en-US" sz="1200" dirty="0"/>
          </a:p>
        </p:txBody>
      </p:sp>
      <p:sp>
        <p:nvSpPr>
          <p:cNvPr id="21" name="ovl_sum0"/>
          <p:cNvSpPr/>
          <p:nvPr/>
        </p:nvSpPr>
        <p:spPr>
          <a:xfrm>
            <a:off x="457200" y="1874520"/>
            <a:ext cx="5532120" cy="749808"/>
          </a:xfrm>
          <a:prstGeom prst="rect">
            <a:avLst/>
          </a:prstGeom>
          <a:solidFill>
            <a:srgbClr val="FFFFFF"/>
          </a:solidFill>
          <a:ln w="9525">
            <a:solidFill>
              <a:srgbClr val="D9D9D9"/>
            </a:solidFill>
            <a:prstDash val="solid"/>
          </a:ln>
        </p:spPr>
      </p:sp>
      <p:sp>
        <p:nvSpPr>
          <p:cNvPr id="22" name="sum_t0"/>
          <p:cNvSpPr txBox="1"/>
          <p:nvPr/>
        </p:nvSpPr>
        <p:spPr>
          <a:xfrm>
            <a:off x="566928" y="1947672"/>
            <a:ext cx="5312664" cy="603504"/>
          </a:xfrm>
          <a:prstGeom prst="rect">
            <a:avLst/>
          </a:prstGeom>
          <a:noFill/>
          <a:ln/>
        </p:spPr>
        <p:txBody>
          <a:bodyPr wrap="square" lIns="508" tIns="508" rIns="508" bIns="508" rtlCol="0" anchor="ctr"/>
          <a:lstStyle/>
          <a:p>
            <a:pPr indent="0" marL="0">
              <a:buNone/>
            </a:pPr>
            <a:r>
              <a:rPr lang="en-US" sz="1050" dirty="0">
                <a:solidFill>
                  <a:srgbClr val="333333"/>
                </a:solidFill>
                <a:latin typeface="Meiryo UI" pitchFamily="34" charset="0"/>
                <a:ea typeface="Meiryo UI" pitchFamily="34" charset="-122"/>
                <a:cs typeface="Meiryo UI" pitchFamily="34" charset="-120"/>
              </a:rPr>
              <a:t>構造評価 B(S1・A2・B8・C2)。弱点は条件7・8</a:t>
            </a:r>
            <a:endParaRPr lang="en-US" sz="1050" dirty="0"/>
          </a:p>
        </p:txBody>
      </p:sp>
      <p:sp>
        <p:nvSpPr>
          <p:cNvPr id="23" name="ovl_imp0"/>
          <p:cNvSpPr/>
          <p:nvPr/>
        </p:nvSpPr>
        <p:spPr>
          <a:xfrm>
            <a:off x="6199632" y="1874520"/>
            <a:ext cx="5532120" cy="749808"/>
          </a:xfrm>
          <a:prstGeom prst="rect">
            <a:avLst/>
          </a:prstGeom>
          <a:solidFill>
            <a:srgbClr val="EAF4EE"/>
          </a:solidFill>
          <a:ln w="9525">
            <a:solidFill>
              <a:srgbClr val="EAF4EE"/>
            </a:solidFill>
            <a:prstDash val="solid"/>
          </a:ln>
        </p:spPr>
      </p:sp>
      <p:sp>
        <p:nvSpPr>
          <p:cNvPr id="24" name="imp_t0"/>
          <p:cNvSpPr txBox="1"/>
          <p:nvPr/>
        </p:nvSpPr>
        <p:spPr>
          <a:xfrm>
            <a:off x="6309360" y="1947672"/>
            <a:ext cx="5312664" cy="603504"/>
          </a:xfrm>
          <a:prstGeom prst="rect">
            <a:avLst/>
          </a:prstGeom>
          <a:noFill/>
          <a:ln/>
        </p:spPr>
        <p:txBody>
          <a:bodyPr wrap="square" lIns="508" tIns="508" rIns="508" bIns="508" rtlCol="0" anchor="ctr"/>
          <a:lstStyle/>
          <a:p>
            <a:pPr indent="0" marL="0">
              <a:buNone/>
            </a:pPr>
            <a:r>
              <a:rPr lang="en-US" sz="1050" dirty="0">
                <a:solidFill>
                  <a:srgbClr val="0E4D33"/>
                </a:solidFill>
                <a:latin typeface="Meiryo UI" pitchFamily="34" charset="0"/>
                <a:ea typeface="Meiryo UI" pitchFamily="34" charset="-122"/>
                <a:cs typeface="Meiryo UI" pitchFamily="34" charset="-120"/>
              </a:rPr>
              <a:t>判断は「買い検討」。株価 143.20 ドルは分割エントリー圏(136〜229 ドル)</a:t>
            </a:r>
            <a:endParaRPr lang="en-US" sz="1050" dirty="0"/>
          </a:p>
        </p:txBody>
      </p:sp>
      <p:sp>
        <p:nvSpPr>
          <p:cNvPr id="25" name="ovl_sum1"/>
          <p:cNvSpPr/>
          <p:nvPr/>
        </p:nvSpPr>
        <p:spPr>
          <a:xfrm>
            <a:off x="457200" y="2715768"/>
            <a:ext cx="5532120" cy="749808"/>
          </a:xfrm>
          <a:prstGeom prst="rect">
            <a:avLst/>
          </a:prstGeom>
          <a:solidFill>
            <a:srgbClr val="FFFFFF"/>
          </a:solidFill>
          <a:ln w="9525">
            <a:solidFill>
              <a:srgbClr val="D9D9D9"/>
            </a:solidFill>
            <a:prstDash val="solid"/>
          </a:ln>
        </p:spPr>
      </p:sp>
      <p:sp>
        <p:nvSpPr>
          <p:cNvPr id="26" name="sum_t1"/>
          <p:cNvSpPr txBox="1"/>
          <p:nvPr/>
        </p:nvSpPr>
        <p:spPr>
          <a:xfrm>
            <a:off x="566928" y="2788920"/>
            <a:ext cx="5312664" cy="603504"/>
          </a:xfrm>
          <a:prstGeom prst="rect">
            <a:avLst/>
          </a:prstGeom>
          <a:noFill/>
          <a:ln/>
        </p:spPr>
        <p:txBody>
          <a:bodyPr wrap="square" lIns="508" tIns="508" rIns="508" bIns="508" rtlCol="0" anchor="ctr"/>
          <a:lstStyle/>
          <a:p>
            <a:pPr indent="0" marL="0">
              <a:buNone/>
            </a:pPr>
            <a:r>
              <a:rPr lang="en-US" sz="1050" dirty="0">
                <a:solidFill>
                  <a:srgbClr val="333333"/>
                </a:solidFill>
                <a:latin typeface="Meiryo UI" pitchFamily="34" charset="0"/>
                <a:ea typeface="Meiryo UI" pitchFamily="34" charset="-122"/>
                <a:cs typeface="Meiryo UI" pitchFamily="34" charset="-120"/>
              </a:rPr>
              <a:t>理論株価 251 ドル(株価の 1.75 倍)。3 経路の乖離は +61〜+77%</a:t>
            </a:r>
            <a:endParaRPr lang="en-US" sz="1050" dirty="0"/>
          </a:p>
        </p:txBody>
      </p:sp>
      <p:sp>
        <p:nvSpPr>
          <p:cNvPr id="27" name="ovl_imp1"/>
          <p:cNvSpPr/>
          <p:nvPr/>
        </p:nvSpPr>
        <p:spPr>
          <a:xfrm>
            <a:off x="6199632" y="2715768"/>
            <a:ext cx="5532120" cy="749808"/>
          </a:xfrm>
          <a:prstGeom prst="rect">
            <a:avLst/>
          </a:prstGeom>
          <a:solidFill>
            <a:srgbClr val="EAF4EE"/>
          </a:solidFill>
          <a:ln w="9525">
            <a:solidFill>
              <a:srgbClr val="EAF4EE"/>
            </a:solidFill>
            <a:prstDash val="solid"/>
          </a:ln>
        </p:spPr>
      </p:sp>
      <p:sp>
        <p:nvSpPr>
          <p:cNvPr id="28" name="imp_t1"/>
          <p:cNvSpPr txBox="1"/>
          <p:nvPr/>
        </p:nvSpPr>
        <p:spPr>
          <a:xfrm>
            <a:off x="6309360" y="2788920"/>
            <a:ext cx="5312664" cy="603504"/>
          </a:xfrm>
          <a:prstGeom prst="rect">
            <a:avLst/>
          </a:prstGeom>
          <a:noFill/>
          <a:ln/>
        </p:spPr>
        <p:txBody>
          <a:bodyPr wrap="square" lIns="508" tIns="508" rIns="508" bIns="508" rtlCol="0" anchor="ctr"/>
          <a:lstStyle/>
          <a:p>
            <a:pPr indent="0" marL="0">
              <a:buNone/>
            </a:pPr>
            <a:r>
              <a:rPr lang="en-US" sz="1050" dirty="0">
                <a:solidFill>
                  <a:srgbClr val="0E4D33"/>
                </a:solidFill>
                <a:latin typeface="Meiryo UI" pitchFamily="34" charset="0"/>
                <a:ea typeface="Meiryo UI" pitchFamily="34" charset="-122"/>
                <a:cs typeface="Meiryo UI" pitchFamily="34" charset="-120"/>
              </a:rPr>
              <a:t>3 回に分けて建て、AI 投資の逆回転で −50% でも許容できる大きさに抑える</a:t>
            </a:r>
            <a:endParaRPr lang="en-US" sz="1050" dirty="0"/>
          </a:p>
        </p:txBody>
      </p:sp>
      <p:sp>
        <p:nvSpPr>
          <p:cNvPr id="29" name="ovl_sum2"/>
          <p:cNvSpPr/>
          <p:nvPr/>
        </p:nvSpPr>
        <p:spPr>
          <a:xfrm>
            <a:off x="457200" y="3557016"/>
            <a:ext cx="5532120" cy="749808"/>
          </a:xfrm>
          <a:prstGeom prst="rect">
            <a:avLst/>
          </a:prstGeom>
          <a:solidFill>
            <a:srgbClr val="FFFFFF"/>
          </a:solidFill>
          <a:ln w="9525">
            <a:solidFill>
              <a:srgbClr val="D9D9D9"/>
            </a:solidFill>
            <a:prstDash val="solid"/>
          </a:ln>
        </p:spPr>
      </p:sp>
      <p:sp>
        <p:nvSpPr>
          <p:cNvPr id="30" name="sum_t2"/>
          <p:cNvSpPr txBox="1"/>
          <p:nvPr/>
        </p:nvSpPr>
        <p:spPr>
          <a:xfrm>
            <a:off x="566928" y="3630168"/>
            <a:ext cx="5312664" cy="603504"/>
          </a:xfrm>
          <a:prstGeom prst="rect">
            <a:avLst/>
          </a:prstGeom>
          <a:noFill/>
          <a:ln/>
        </p:spPr>
        <p:txBody>
          <a:bodyPr wrap="square" lIns="508" tIns="508" rIns="508" bIns="508" rtlCol="0" anchor="ctr"/>
          <a:lstStyle/>
          <a:p>
            <a:pPr indent="0" marL="0">
              <a:buNone/>
            </a:pPr>
            <a:r>
              <a:rPr lang="en-US" sz="1050" dirty="0">
                <a:solidFill>
                  <a:srgbClr val="333333"/>
                </a:solidFill>
                <a:latin typeface="Meiryo UI" pitchFamily="34" charset="0"/>
                <a:ea typeface="Meiryo UI" pitchFamily="34" charset="-122"/>
                <a:cs typeface="Meiryo UI" pitchFamily="34" charset="-120"/>
              </a:rPr>
              <a:t>下値 −16%(DCF では −36%)、上値 +150%</a:t>
            </a:r>
            <a:endParaRPr lang="en-US" sz="1050" dirty="0"/>
          </a:p>
        </p:txBody>
      </p:sp>
      <p:sp>
        <p:nvSpPr>
          <p:cNvPr id="31" name="ovl_imp2"/>
          <p:cNvSpPr/>
          <p:nvPr/>
        </p:nvSpPr>
        <p:spPr>
          <a:xfrm>
            <a:off x="6199632" y="3557016"/>
            <a:ext cx="5532120" cy="749808"/>
          </a:xfrm>
          <a:prstGeom prst="rect">
            <a:avLst/>
          </a:prstGeom>
          <a:solidFill>
            <a:srgbClr val="EAF4EE"/>
          </a:solidFill>
          <a:ln w="9525">
            <a:solidFill>
              <a:srgbClr val="EAF4EE"/>
            </a:solidFill>
            <a:prstDash val="solid"/>
          </a:ln>
        </p:spPr>
      </p:sp>
      <p:sp>
        <p:nvSpPr>
          <p:cNvPr id="32" name="imp_t2"/>
          <p:cNvSpPr txBox="1"/>
          <p:nvPr/>
        </p:nvSpPr>
        <p:spPr>
          <a:xfrm>
            <a:off x="6309360" y="3630168"/>
            <a:ext cx="5312664" cy="603504"/>
          </a:xfrm>
          <a:prstGeom prst="rect">
            <a:avLst/>
          </a:prstGeom>
          <a:noFill/>
          <a:ln/>
        </p:spPr>
        <p:txBody>
          <a:bodyPr wrap="square" lIns="508" tIns="508" rIns="508" bIns="508" rtlCol="0" anchor="ctr"/>
          <a:lstStyle/>
          <a:p>
            <a:pPr indent="0" marL="0">
              <a:buNone/>
            </a:pPr>
            <a:r>
              <a:rPr lang="en-US" sz="1050" dirty="0">
                <a:solidFill>
                  <a:srgbClr val="0E4D33"/>
                </a:solidFill>
                <a:latin typeface="Meiryo UI" pitchFamily="34" charset="0"/>
                <a:ea typeface="Meiryo UI" pitchFamily="34" charset="-122"/>
                <a:cs typeface="Meiryo UI" pitchFamily="34" charset="-120"/>
              </a:rPr>
              <a:t>下値は DCF の −36% を前提に建玉を決める</a:t>
            </a:r>
            <a:endParaRPr lang="en-US" sz="1050" dirty="0"/>
          </a:p>
        </p:txBody>
      </p:sp>
      <p:sp>
        <p:nvSpPr>
          <p:cNvPr id="33" name="ovl_sum3"/>
          <p:cNvSpPr/>
          <p:nvPr/>
        </p:nvSpPr>
        <p:spPr>
          <a:xfrm>
            <a:off x="457200" y="4398264"/>
            <a:ext cx="5532120" cy="749808"/>
          </a:xfrm>
          <a:prstGeom prst="rect">
            <a:avLst/>
          </a:prstGeom>
          <a:solidFill>
            <a:srgbClr val="FFFFFF"/>
          </a:solidFill>
          <a:ln w="9525">
            <a:solidFill>
              <a:srgbClr val="D9D9D9"/>
            </a:solidFill>
            <a:prstDash val="solid"/>
          </a:ln>
        </p:spPr>
      </p:sp>
      <p:sp>
        <p:nvSpPr>
          <p:cNvPr id="34" name="sum_t3"/>
          <p:cNvSpPr txBox="1"/>
          <p:nvPr/>
        </p:nvSpPr>
        <p:spPr>
          <a:xfrm>
            <a:off x="566928" y="4471416"/>
            <a:ext cx="5312664" cy="603504"/>
          </a:xfrm>
          <a:prstGeom prst="rect">
            <a:avLst/>
          </a:prstGeom>
          <a:noFill/>
          <a:ln/>
        </p:spPr>
        <p:txBody>
          <a:bodyPr wrap="square" lIns="508" tIns="508" rIns="508" bIns="508" rtlCol="0" anchor="ctr"/>
          <a:lstStyle/>
          <a:p>
            <a:pPr indent="0" marL="0">
              <a:buNone/>
            </a:pPr>
            <a:r>
              <a:rPr lang="en-US" sz="1050" dirty="0">
                <a:solidFill>
                  <a:srgbClr val="333333"/>
                </a:solidFill>
                <a:latin typeface="Meiryo UI" pitchFamily="34" charset="0"/>
                <a:ea typeface="Meiryo UI" pitchFamily="34" charset="-122"/>
                <a:cs typeface="Meiryo UI" pitchFamily="34" charset="-120"/>
              </a:rPr>
              <a:t>市場は弱気寄りの倍率(15.7 倍)で、EPS ではなく現金化を疑う</a:t>
            </a:r>
            <a:endParaRPr lang="en-US" sz="1050" dirty="0"/>
          </a:p>
        </p:txBody>
      </p:sp>
      <p:sp>
        <p:nvSpPr>
          <p:cNvPr id="35" name="ovl_imp3"/>
          <p:cNvSpPr/>
          <p:nvPr/>
        </p:nvSpPr>
        <p:spPr>
          <a:xfrm>
            <a:off x="6199632" y="4398264"/>
            <a:ext cx="5532120" cy="749808"/>
          </a:xfrm>
          <a:prstGeom prst="rect">
            <a:avLst/>
          </a:prstGeom>
          <a:solidFill>
            <a:srgbClr val="EAF4EE"/>
          </a:solidFill>
          <a:ln w="9525">
            <a:solidFill>
              <a:srgbClr val="EAF4EE"/>
            </a:solidFill>
            <a:prstDash val="solid"/>
          </a:ln>
        </p:spPr>
      </p:sp>
      <p:sp>
        <p:nvSpPr>
          <p:cNvPr id="36" name="imp_t3"/>
          <p:cNvSpPr txBox="1"/>
          <p:nvPr/>
        </p:nvSpPr>
        <p:spPr>
          <a:xfrm>
            <a:off x="6309360" y="4471416"/>
            <a:ext cx="5312664" cy="603504"/>
          </a:xfrm>
          <a:prstGeom prst="rect">
            <a:avLst/>
          </a:prstGeom>
          <a:noFill/>
          <a:ln/>
        </p:spPr>
        <p:txBody>
          <a:bodyPr wrap="square" lIns="508" tIns="508" rIns="508" bIns="508" rtlCol="0" anchor="ctr"/>
          <a:lstStyle/>
          <a:p>
            <a:pPr indent="0" marL="0">
              <a:buNone/>
            </a:pPr>
            <a:r>
              <a:rPr lang="en-US" sz="1050" dirty="0">
                <a:solidFill>
                  <a:srgbClr val="0E4D33"/>
                </a:solidFill>
                <a:latin typeface="Meiryo UI" pitchFamily="34" charset="0"/>
                <a:ea typeface="Meiryo UI" pitchFamily="34" charset="-122"/>
                <a:cs typeface="Meiryo UI" pitchFamily="34" charset="-120"/>
              </a:rPr>
              <a:t>引き上げ条件: 納入 1GW/四半期・OpenAI 比率 40% 未満・CDS 200bp 未満・FY30〜32 の電力確保のうち 2 つ以上</a:t>
            </a:r>
            <a:endParaRPr lang="en-US" sz="1050" dirty="0"/>
          </a:p>
        </p:txBody>
      </p:sp>
      <p:sp>
        <p:nvSpPr>
          <p:cNvPr id="37" name="ovl_sum4"/>
          <p:cNvSpPr/>
          <p:nvPr/>
        </p:nvSpPr>
        <p:spPr>
          <a:xfrm>
            <a:off x="457200" y="5239512"/>
            <a:ext cx="5532120" cy="749808"/>
          </a:xfrm>
          <a:prstGeom prst="rect">
            <a:avLst/>
          </a:prstGeom>
          <a:solidFill>
            <a:srgbClr val="FFFFFF"/>
          </a:solidFill>
          <a:ln w="9525">
            <a:solidFill>
              <a:srgbClr val="D9D9D9"/>
            </a:solidFill>
            <a:prstDash val="solid"/>
          </a:ln>
        </p:spPr>
      </p:sp>
      <p:sp>
        <p:nvSpPr>
          <p:cNvPr id="38" name="sum_t4"/>
          <p:cNvSpPr txBox="1"/>
          <p:nvPr/>
        </p:nvSpPr>
        <p:spPr>
          <a:xfrm>
            <a:off x="566928" y="5312664"/>
            <a:ext cx="5312664" cy="603504"/>
          </a:xfrm>
          <a:prstGeom prst="rect">
            <a:avLst/>
          </a:prstGeom>
          <a:noFill/>
          <a:ln/>
        </p:spPr>
        <p:txBody>
          <a:bodyPr wrap="square" lIns="508" tIns="508" rIns="508" bIns="508" rtlCol="0" anchor="ctr"/>
          <a:lstStyle/>
          <a:p>
            <a:pPr indent="0" marL="0">
              <a:buNone/>
            </a:pPr>
            <a:r>
              <a:rPr lang="en-US" sz="1050" dirty="0">
                <a:solidFill>
                  <a:srgbClr val="333333"/>
                </a:solidFill>
                <a:latin typeface="Meiryo UI" pitchFamily="34" charset="0"/>
                <a:ea typeface="Meiryo UI" pitchFamily="34" charset="-122"/>
                <a:cs typeface="Meiryo UI" pitchFamily="34" charset="-120"/>
              </a:rPr>
              <a:t>争点は FY29 の FCF と OpenAI の支払能力</a:t>
            </a:r>
            <a:endParaRPr lang="en-US" sz="1050" dirty="0"/>
          </a:p>
        </p:txBody>
      </p:sp>
      <p:sp>
        <p:nvSpPr>
          <p:cNvPr id="39" name="ovl_imp4"/>
          <p:cNvSpPr/>
          <p:nvPr/>
        </p:nvSpPr>
        <p:spPr>
          <a:xfrm>
            <a:off x="6199632" y="5239512"/>
            <a:ext cx="5532120" cy="749808"/>
          </a:xfrm>
          <a:prstGeom prst="rect">
            <a:avLst/>
          </a:prstGeom>
          <a:solidFill>
            <a:srgbClr val="EAF4EE"/>
          </a:solidFill>
          <a:ln w="9525">
            <a:solidFill>
              <a:srgbClr val="EAF4EE"/>
            </a:solidFill>
            <a:prstDash val="solid"/>
          </a:ln>
        </p:spPr>
      </p:sp>
      <p:sp>
        <p:nvSpPr>
          <p:cNvPr id="40" name="imp_t4"/>
          <p:cNvSpPr txBox="1"/>
          <p:nvPr/>
        </p:nvSpPr>
        <p:spPr>
          <a:xfrm>
            <a:off x="6309360" y="5312664"/>
            <a:ext cx="5312664" cy="603504"/>
          </a:xfrm>
          <a:prstGeom prst="rect">
            <a:avLst/>
          </a:prstGeom>
          <a:noFill/>
          <a:ln/>
        </p:spPr>
        <p:txBody>
          <a:bodyPr wrap="square" lIns="508" tIns="508" rIns="508" bIns="508" rtlCol="0" anchor="ctr"/>
          <a:lstStyle/>
          <a:p>
            <a:pPr indent="0" marL="0">
              <a:buNone/>
            </a:pPr>
            <a:r>
              <a:rPr lang="en-US" sz="1050" dirty="0">
                <a:solidFill>
                  <a:srgbClr val="0E4D33"/>
                </a:solidFill>
                <a:latin typeface="Meiryo UI" pitchFamily="34" charset="0"/>
                <a:ea typeface="Meiryo UI" pitchFamily="34" charset="-122"/>
                <a:cs typeface="Meiryo UI" pitchFamily="34" charset="-120"/>
              </a:rPr>
              <a:t>撤退: OpenAI の契約変更・支払遅延、FY29 より前の BB+、</a:t>
            </a:r>
            <a:endParaRPr lang="en-US" sz="1050" dirty="0"/>
          </a:p>
          <a:p>
            <a:pPr indent="0" marL="0">
              <a:buNone/>
            </a:pPr>
            <a:r>
              <a:rPr lang="en-US" sz="1050" dirty="0">
                <a:solidFill>
                  <a:srgbClr val="0E4D33"/>
                </a:solidFill>
                <a:latin typeface="Meiryo UI" pitchFamily="34" charset="0"/>
                <a:ea typeface="Meiryo UI" pitchFamily="34" charset="-122"/>
                <a:cs typeface="Meiryo UI" pitchFamily="34" charset="-120"/>
              </a:rPr>
              <a:t>CDS 300bp 超。次の確認は AI World と 12 月の Q2 決算</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付録 前提と履歴(1/2)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398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398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前提と履歴</a:t>
            </a:r>
            <a:endParaRPr lang="en-US" sz="1000" dirty="0"/>
          </a:p>
        </p:txBody>
      </p:sp>
      <p:sp>
        <p:nvSpPr>
          <p:cNvPr id="14" name="hdr_why"/>
          <p:cNvSpPr txBox="1"/>
          <p:nvPr/>
        </p:nvSpPr>
        <p:spPr>
          <a:xfrm>
            <a:off x="2001774" y="356616"/>
            <a:ext cx="9732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計算の前提と版ごとの修正を残し、後から検証できるようにする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計算の前提と修正の履歴: 理論株価は第 1 版 134 ドルから</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第 4.3 版 251 ドルへ。各段の理由を記録した</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Appendix</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calc/prereg.md・prereg2.md §9(すべての変更と「結果を見た後か」の記録)</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42</a:t>
            </a:r>
            <a:endParaRPr lang="en-US" sz="800" dirty="0"/>
          </a:p>
        </p:txBody>
      </p:sp>
      <p:graphicFrame>
        <p:nvGraphicFramePr>
          <p:cNvPr id="43" name="tbl"/>
          <p:cNvGraphicFramePr>
            <a:graphicFrameLocks noGrp="1"/>
          </p:cNvGraphicFramePr>
          <p:nvPr>
            <p:extLst>
              <p:ext uri="{D42A27DB-BD31-4B8C-83A1-F6EECF244321}">
                <p14:modId xmlns:p14="http://schemas.microsoft.com/office/powerpoint/2010/main" val="1579011935"/>
              </p:ext>
            </p:extLst>
          </p:nvPr>
        </p:nvGraphicFramePr>
        <p:xfrm>
          <a:off x="457200" y="1481328"/>
          <a:ext cx="5669280" cy="914400"/>
        </p:xfrm>
        <a:graphic>
          <a:graphicData uri="http://schemas.openxmlformats.org/drawingml/2006/table">
            <a:tbl>
              <a:tblPr/>
              <a:tblGrid>
                <a:gridCol w="1828800"/>
                <a:gridCol w="3840480"/>
              </a:tblGrid>
              <a:tr h="301752">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項目</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第4.3版の前提</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0175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EPS</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事業実態 EPS。FY27〜30 はコンセンサス、</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FY31 以降は需給エンジンの伸び</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妥当 PER</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同業 23 倍・PEG 1.0 × 3 年成長率・エンジンの価値の平均</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0175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重み</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FY27 末 40%・FY28 末 30%・</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FY29 末 20%・FY30 末 10%</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株主資本コスト</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10.77%(5.2% + 1.32 × 4.23%)</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0175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シナリオ</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強気 25%・ベース 50%・弱気 25%(対称)</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倒産確率</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S&amp;P の条件で格付けを機械判定し、全経路に反映</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0175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配当</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年 2.00 ドル(FY27 は残り 1.00)</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株価</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143.20 ドル(2026-10-13 終値)</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graphicFrame>
        <p:nvGraphicFramePr>
          <p:cNvPr id="20" name="chart" descr=""/>
          <p:cNvGraphicFramePr/>
          <p:nvPr/>
        </p:nvGraphicFramePr>
        <p:xfrm>
          <a:off x="6355080" y="1508760"/>
          <a:ext cx="5376672" cy="3291840"/>
        </p:xfrm>
        <a:graphic xmlns:a="http://schemas.openxmlformats.org/drawingml/2006/main">
          <a:graphicData uri="http://schemas.openxmlformats.org/drawingml/2006/chart">
            <c:chart xmlns:c="http://schemas.openxmlformats.org/drawingml/2006/chart" r:id="rId1"/>
          </a:graphicData>
        </a:graphic>
      </p:graphicFrame>
      <p:sp>
        <p:nvSpPr>
          <p:cNvPr id="21" name="bullets"/>
          <p:cNvSpPr txBox="1"/>
          <p:nvPr/>
        </p:nvSpPr>
        <p:spPr>
          <a:xfrm>
            <a:off x="6355080" y="4892040"/>
            <a:ext cx="5376672" cy="1234440"/>
          </a:xfrm>
          <a:prstGeom prst="rect">
            <a:avLst/>
          </a:prstGeom>
          <a:noFill/>
          <a:ln/>
        </p:spPr>
        <p:txBody>
          <a:bodyPr wrap="square" lIns="508" tIns="508" rIns="508" bIns="508" rtlCol="0" anchor="t"/>
          <a:lstStyle/>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第3.1版→第4.0版: 方法の変更(利用者の指示: コンセンサス起点・年度別・対称)と</a:t>
            </a:r>
            <a:br/>
            <a:r>
              <a:rPr lang="en-US" sz="950" dirty="0">
                <a:solidFill>
                  <a:srgbClr val="333333"/>
                </a:solidFill>
                <a:latin typeface="Meiryo UI" pitchFamily="34" charset="0"/>
                <a:ea typeface="Meiryo UI" pitchFamily="34" charset="-122"/>
                <a:cs typeface="Meiryo UI" pitchFamily="34" charset="-120"/>
              </a:rPr>
              <a:t>容量計画の引き上げ</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第4.1版→第4.3版: 品質確認で −27</a:t>
            </a:r>
            <a:br/>
            <a:r>
              <a:rPr lang="en-US" sz="950" dirty="0">
                <a:solidFill>
                  <a:srgbClr val="333333"/>
                </a:solidFill>
                <a:latin typeface="Meiryo UI" pitchFamily="34" charset="0"/>
                <a:ea typeface="Meiryo UI" pitchFamily="34" charset="-122"/>
                <a:cs typeface="Meiryo UI" pitchFamily="34" charset="-120"/>
              </a:rPr>
              <a:t>(EPS の基準・倒産確率・自社株買い・ガイダンス較正など)</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どの変更も「結果を見た後」と記録している</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E4D33"/>
        </a:solidFill>
      </p:bgPr>
    </p:bg>
    <p:spTree>
      <p:nvGrpSpPr>
        <p:cNvPr id="1" name=""/>
        <p:cNvGrpSpPr/>
        <p:nvPr/>
      </p:nvGrpSpPr>
      <p:grpSpPr>
        <a:xfrm>
          <a:off x="0" y="0"/>
          <a:ext cx="0" cy="0"/>
          <a:chOff x="0" y="0"/>
          <a:chExt cx="0" cy="0"/>
        </a:xfrm>
      </p:grpSpPr>
      <p:sp>
        <p:nvSpPr>
          <p:cNvPr id="2" name="bg_divider"/>
          <p:cNvSpPr/>
          <p:nvPr/>
        </p:nvSpPr>
        <p:spPr>
          <a:xfrm>
            <a:off x="0" y="0"/>
            <a:ext cx="12191695" cy="6858000"/>
          </a:xfrm>
          <a:prstGeom prst="rect">
            <a:avLst/>
          </a:prstGeom>
          <a:solidFill>
            <a:srgbClr val="0E4D33"/>
          </a:solidFill>
          <a:ln w="12700">
            <a:solidFill>
              <a:srgbClr val="0E4D33"/>
            </a:solidFill>
            <a:prstDash val="solid"/>
          </a:ln>
        </p:spPr>
      </p:sp>
      <p:sp>
        <p:nvSpPr>
          <p:cNvPr id="3" name="bg_close_crumb"/>
          <p:cNvSpPr txBox="1"/>
          <p:nvPr/>
        </p:nvSpPr>
        <p:spPr>
          <a:xfrm>
            <a:off x="822960" y="457200"/>
            <a:ext cx="10515600" cy="274320"/>
          </a:xfrm>
          <a:prstGeom prst="rect">
            <a:avLst/>
          </a:prstGeom>
          <a:noFill/>
          <a:ln/>
        </p:spPr>
        <p:txBody>
          <a:bodyPr wrap="square" lIns="0" tIns="0" rIns="0" bIns="0" rtlCol="0" anchor="t"/>
          <a:lstStyle/>
          <a:p>
            <a:pPr indent="0" marL="0">
              <a:buNone/>
            </a:pPr>
            <a:r>
              <a:rPr lang="en-US" sz="950" dirty="0">
                <a:solidFill>
                  <a:srgbClr val="86C99B"/>
                </a:solidFill>
                <a:latin typeface="Meiryo UI" pitchFamily="34" charset="0"/>
                <a:ea typeface="Meiryo UI" pitchFamily="34" charset="-122"/>
                <a:cs typeface="Meiryo UI" pitchFamily="34" charset="-120"/>
              </a:rPr>
              <a:t>付録 前提と履歴(2/2)   ›   テーマ: 免責と制約(数値の出所と限界を明示する)</a:t>
            </a:r>
            <a:endParaRPr lang="en-US" sz="950" dirty="0"/>
          </a:p>
        </p:txBody>
      </p:sp>
      <p:sp>
        <p:nvSpPr>
          <p:cNvPr id="4" name="bg_close_t"/>
          <p:cNvSpPr txBox="1"/>
          <p:nvPr/>
        </p:nvSpPr>
        <p:spPr>
          <a:xfrm>
            <a:off x="822960" y="2377440"/>
            <a:ext cx="10515600" cy="822960"/>
          </a:xfrm>
          <a:prstGeom prst="rect">
            <a:avLst/>
          </a:prstGeom>
          <a:noFill/>
          <a:ln/>
        </p:spPr>
        <p:txBody>
          <a:bodyPr wrap="square" lIns="508" tIns="508" rIns="508" bIns="508" rtlCol="0" anchor="t"/>
          <a:lstStyle/>
          <a:p>
            <a:pPr indent="0" marL="0">
              <a:buNone/>
            </a:pPr>
            <a:r>
              <a:rPr lang="en-US" sz="2600" b="1" dirty="0">
                <a:solidFill>
                  <a:srgbClr val="FFFFFF"/>
                </a:solidFill>
                <a:latin typeface="Meiryo UI" pitchFamily="34" charset="0"/>
                <a:ea typeface="Meiryo UI" pitchFamily="34" charset="-122"/>
                <a:cs typeface="Meiryo UI" pitchFamily="34" charset="-120"/>
              </a:rPr>
              <a:t>免責と既知の制約</a:t>
            </a:r>
            <a:endParaRPr lang="en-US" sz="2600" dirty="0"/>
          </a:p>
        </p:txBody>
      </p:sp>
      <p:sp>
        <p:nvSpPr>
          <p:cNvPr id="5" name="bg_close_n"/>
          <p:cNvSpPr txBox="1"/>
          <p:nvPr/>
        </p:nvSpPr>
        <p:spPr>
          <a:xfrm>
            <a:off x="822960" y="3383280"/>
            <a:ext cx="10515600" cy="2011680"/>
          </a:xfrm>
          <a:prstGeom prst="rect">
            <a:avLst/>
          </a:prstGeom>
          <a:noFill/>
          <a:ln/>
        </p:spPr>
        <p:txBody>
          <a:bodyPr wrap="square" lIns="508" tIns="508" rIns="508" bIns="508" rtlCol="0" anchor="t"/>
          <a:lstStyle/>
          <a:p>
            <a:pPr indent="0" marL="0">
              <a:buNone/>
            </a:pPr>
            <a:r>
              <a:rPr lang="en-US" sz="1100" dirty="0">
                <a:solidFill>
                  <a:srgbClr val="FFFFFF"/>
                </a:solidFill>
                <a:latin typeface="Meiryo UI" pitchFamily="34" charset="0"/>
                <a:ea typeface="Meiryo UI" pitchFamily="34" charset="-122"/>
                <a:cs typeface="Meiryo UI" pitchFamily="34" charset="-120"/>
              </a:rPr>
              <a:t>本資料は情報の整理を目的とし、投資助言ではない。投資判断は自己の責任で行うこと。</a:t>
            </a:r>
            <a:endParaRPr lang="en-US" sz="1100" dirty="0"/>
          </a:p>
          <a:p>
            <a:pPr indent="0" marL="0">
              <a:buNone/>
            </a:pPr>
            <a:r>
              <a:rPr lang="en-US" sz="1100" dirty="0">
                <a:solidFill>
                  <a:srgbClr val="FFFFFF"/>
                </a:solidFill>
                <a:latin typeface="Meiryo UI" pitchFamily="34" charset="0"/>
                <a:ea typeface="Meiryo UI" pitchFamily="34" charset="-122"/>
                <a:cs typeface="Meiryo UI" pitchFamily="34" charset="-120"/>
              </a:rPr>
              <a:t>数値の多くは検索要約経由で、一次資料の原本は未開封のものがある。TradingView の年度別予想は取得できず、他の集計サイトで代えた。</a:t>
            </a:r>
            <a:endParaRPr lang="en-US" sz="1100" dirty="0"/>
          </a:p>
          <a:p>
            <a:pPr indent="0" marL="0">
              <a:buNone/>
            </a:pPr>
            <a:r>
              <a:rPr lang="en-US" sz="1100" dirty="0">
                <a:solidFill>
                  <a:srgbClr val="FFFFFF"/>
                </a:solidFill>
                <a:latin typeface="Meiryo UI" pitchFamily="34" charset="0"/>
                <a:ea typeface="Meiryo UI" pitchFamily="34" charset="-122"/>
                <a:cs typeface="Meiryo UI" pitchFamily="34" charset="-120"/>
              </a:rPr>
              <a:t>S&amp;P の格付けの判定は記載をもとにした機械判定で、格付会社の判断そのものではない。Jupiter の不可抗力通知は単一系統の報道で未確認。</a:t>
            </a:r>
            <a:endParaRPr lang="en-US" sz="1100" dirty="0"/>
          </a:p>
          <a:p>
            <a:pPr indent="0" marL="0">
              <a:buNone/>
            </a:pPr>
            <a:r>
              <a:rPr lang="en-US" sz="1100" dirty="0">
                <a:solidFill>
                  <a:srgbClr val="FFFFFF"/>
                </a:solidFill>
                <a:latin typeface="Meiryo UI" pitchFamily="34" charset="0"/>
                <a:ea typeface="Meiryo UI" pitchFamily="34" charset="-122"/>
                <a:cs typeface="Meiryo UI" pitchFamily="34" charset="-120"/>
              </a:rPr>
              <a:t>需給エンジンの EPS は FY29〜30 にコンセンサスより 8〜14% 低い(償却負担)。理論株価はコンセンサスの EPS を使っている。</a:t>
            </a:r>
            <a:endParaRPr lang="en-US" sz="1100" dirty="0"/>
          </a:p>
          <a:p>
            <a:pPr indent="0" marL="0">
              <a:buNone/>
            </a:pPr>
            <a:r>
              <a:rPr lang="en-US" sz="1100" dirty="0">
                <a:solidFill>
                  <a:srgbClr val="FFFFFF"/>
                </a:solidFill>
                <a:latin typeface="Meiryo UI" pitchFamily="34" charset="0"/>
                <a:ea typeface="Meiryo UI" pitchFamily="34" charset="-122"/>
                <a:cs typeface="Meiryo UI" pitchFamily="34" charset="-120"/>
              </a:rPr>
              <a:t>株価・コンセンサスは 2026-10-13〜15 時点。AI World(10/25〜28)と Q2 FY27 決算で更新が必要になる。</a:t>
            </a:r>
            <a:endParaRPr lang="en-US" sz="1100" dirty="0"/>
          </a:p>
        </p:txBody>
      </p:sp>
      <p:sp>
        <p:nvSpPr>
          <p:cNvPr id="6"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86C99B"/>
                </a:solidFill>
                <a:latin typeface="Meiryo UI" pitchFamily="34" charset="0"/>
                <a:ea typeface="Meiryo UI" pitchFamily="34" charset="-122"/>
                <a:cs typeface="Meiryo UI" pitchFamily="34" charset="-120"/>
              </a:rPr>
              <a:t>43</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Oracle(ORCL)長期保有適格性審査</dc:title>
  <dc:subject>PptxGenJS Presentation</dc:subject>
  <dc:creator>Oracle 長期保有適格性審査</dc:creator>
  <cp:lastModifiedBy>Oracle 長期保有適格性審査</cp:lastModifiedBy>
  <cp:revision>1</cp:revision>
  <dcterms:created xsi:type="dcterms:W3CDTF">2026-10-17T06:50:41Z</dcterms:created>
  <dcterms:modified xsi:type="dcterms:W3CDTF">2026-10-17T06:50:41Z</dcterms:modified>
</cp:coreProperties>
</file>