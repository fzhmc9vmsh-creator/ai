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5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6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7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8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9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10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11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12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作動している +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[&gt;=4]0&quot;%&quot;;&quot;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重み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両面・停滞</c:v>
                </c:pt>
              </c:strCache>
            </c:strRef>
          </c:tx>
          <c:spPr>
            <a:solidFill>
              <a:srgbClr val="D68910"/>
            </a:solidFill>
            <a:effectLst/>
          </c:spPr>
          <c:invertIfNegative val="0"/>
          <c:dLbls>
            <c:numFmt formatCode="[&gt;=4]0&quot;%&quot;;&quot;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重み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逆行 −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[&gt;=4]0&quot;%&quot;;&quot;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重み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保留</c:v>
                </c:pt>
              </c:strCache>
            </c:strRef>
          </c:tx>
          <c:spPr>
            <a:solidFill>
              <a:srgbClr val="767676"/>
            </a:solidFill>
            <a:effectLst/>
          </c:spPr>
          <c:invertIfNegative val="0"/>
          <c:dLbls>
            <c:numFmt formatCode="[&gt;=4]0&quot;%&quot;;&quot;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重み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dLbls>
          <c:numFmt formatCode="[&gt;=4]0&quot;%&quot;;&quot;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Meiryo U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増加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純金利収益</c:v>
                  </c:pt>
                  <c:pt idx="1">
                    <c:v>ローン組成・売却の損益</c:v>
                  </c:pt>
                  <c:pt idx="2">
                    <c:v>インターチェンジ・会費ほか</c:v>
                  </c:pt>
                  <c:pt idx="3">
                    <c:v>LPB 手数料</c:v>
                  </c:pt>
                  <c:pt idx="4">
                    <c:v>テクノロジー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270.4</c:v>
                </c:pt>
                <c:pt idx="1">
                  <c:v>79.5</c:v>
                </c:pt>
                <c:pt idx="2">
                  <c:v>38.7</c:v>
                </c:pt>
                <c:pt idx="3">
                  <c:v>13.5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減少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純金利収益</c:v>
                  </c:pt>
                  <c:pt idx="1">
                    <c:v>ローン組成・売却の損益</c:v>
                  </c:pt>
                  <c:pt idx="2">
                    <c:v>インターチェンジ・会費ほか</c:v>
                  </c:pt>
                  <c:pt idx="3">
                    <c:v>LPB 手数料</c:v>
                  </c:pt>
                  <c:pt idx="4">
                    <c:v>テクノロジー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-38.3</c:v>
                </c:pt>
              </c:numCache>
            </c:numRef>
          </c:val>
        </c:ser>
        <c:dLbls>
          <c:numFmt formatCode="0.0;-0.0;;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-8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実績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2025-12</c:v>
                  </c:pt>
                  <c:pt idx="1">
                    <c:v>2026-03</c:v>
                  </c:pt>
                  <c:pt idx="2">
                    <c:v>2026-06</c:v>
                  </c:pt>
                  <c:pt idx="3">
                    <c:v>2026-12予</c:v>
                  </c:pt>
                  <c:pt idx="4">
                    <c:v>2027-12予</c:v>
                  </c:pt>
                  <c:pt idx="5">
                    <c:v>2028-12予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22.9</c:v>
                </c:pt>
                <c:pt idx="1">
                  <c:v>21.3</c:v>
                </c:pt>
                <c:pt idx="2">
                  <c:v>18.8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予想</c:v>
                </c:pt>
              </c:strCache>
            </c:strRef>
          </c:tx>
          <c:spPr>
            <a:solidFill>
              <a:srgbClr val="86C99B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2025-12</c:v>
                  </c:pt>
                  <c:pt idx="1">
                    <c:v>2026-03</c:v>
                  </c:pt>
                  <c:pt idx="2">
                    <c:v>2026-06</c:v>
                  </c:pt>
                  <c:pt idx="3">
                    <c:v>2026-12予</c:v>
                  </c:pt>
                  <c:pt idx="4">
                    <c:v>2027-12予</c:v>
                  </c:pt>
                  <c:pt idx="5">
                    <c:v>2028-12予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17</c:v>
                </c:pt>
                <c:pt idx="4">
                  <c:v>16.1</c:v>
                </c:pt>
                <c:pt idx="5">
                  <c:v>16.3</c:v>
                </c:pt>
              </c:numCache>
            </c:numRef>
          </c:val>
        </c:ser>
        <c:dLbls>
          <c:numFmt formatCode="0.0;-0.0;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Meiryo U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報告値</c:v>
                </c:pt>
              </c:strCache>
            </c:strRef>
          </c:tx>
          <c:spPr>
            <a:solidFill>
              <a:srgbClr val="1BA1A6"/>
            </a:solidFill>
            <a:ln w="25400" cap="flat">
              <a:solidFill>
                <a:srgbClr val="1BA1A6"/>
              </a:solidFill>
              <a:prstDash val="dash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A1A6"/>
              </a:solidFill>
              <a:ln w="9525" cap="flat">
                <a:solidFill>
                  <a:srgbClr val="1BA1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Q2 24</c:v>
                  </c:pt>
                  <c:pt idx="1">
                    <c:v>Q3 24</c:v>
                  </c:pt>
                  <c:pt idx="2">
                    <c:v>Q4 24</c:v>
                  </c:pt>
                  <c:pt idx="3">
                    <c:v>Q1 25</c:v>
                  </c:pt>
                  <c:pt idx="4">
                    <c:v>Q2 25</c:v>
                  </c:pt>
                  <c:pt idx="5">
                    <c:v>Q3 25</c:v>
                  </c:pt>
                  <c:pt idx="6">
                    <c:v>Q4 25</c:v>
                  </c:pt>
                  <c:pt idx="7">
                    <c:v>Q1 26</c:v>
                  </c:pt>
                  <c:pt idx="8">
                    <c:v>Q2 26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3.84</c:v>
                </c:pt>
                <c:pt idx="1">
                  <c:v>3.52</c:v>
                </c:pt>
                <c:pt idx="2">
                  <c:v>3.37</c:v>
                </c:pt>
                <c:pt idx="3">
                  <c:v>3.31</c:v>
                </c:pt>
                <c:pt idx="4">
                  <c:v>2.83</c:v>
                </c:pt>
                <c:pt idx="5">
                  <c:v>2.6</c:v>
                </c:pt>
                <c:pt idx="6">
                  <c:v>2.8</c:v>
                </c:pt>
                <c:pt idx="7">
                  <c:v>3.03</c:v>
                </c:pt>
                <c:pt idx="8">
                  <c:v>2.62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公正価値の損失前提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dash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Q2 24</c:v>
                  </c:pt>
                  <c:pt idx="1">
                    <c:v>Q3 24</c:v>
                  </c:pt>
                  <c:pt idx="2">
                    <c:v>Q4 24</c:v>
                  </c:pt>
                  <c:pt idx="3">
                    <c:v>Q1 25</c:v>
                  </c:pt>
                  <c:pt idx="4">
                    <c:v>Q2 25</c:v>
                  </c:pt>
                  <c:pt idx="5">
                    <c:v>Q3 25</c:v>
                  </c:pt>
                  <c:pt idx="6">
                    <c:v>Q4 25</c:v>
                  </c:pt>
                  <c:pt idx="7">
                    <c:v>Q1 26</c:v>
                  </c:pt>
                  <c:pt idx="8">
                    <c:v>Q2 26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4.8</c:v>
                </c:pt>
                <c:pt idx="1">
                  <c:v/>
                </c:pt>
                <c:pt idx="2">
                  <c:v>4.55</c:v>
                </c:pt>
                <c:pt idx="3">
                  <c:v>4.37</c:v>
                </c:pt>
                <c:pt idx="4">
                  <c:v>4.28</c:v>
                </c:pt>
                <c:pt idx="5">
                  <c:v>4.33</c:v>
                </c:pt>
                <c:pt idx="6">
                  <c:v>4.46</c:v>
                </c:pt>
                <c:pt idx="7">
                  <c:v>4.57</c:v>
                </c:pt>
                <c:pt idx="8">
                  <c:v>4.8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all-in(売却した延滞債権を足し戻し)</c:v>
                </c:pt>
              </c:strCache>
            </c:strRef>
          </c:tx>
          <c:spPr>
            <a:solidFill>
              <a:srgbClr val="197A56"/>
            </a:solidFill>
            <a:ln w="25400" cap="flat">
              <a:solidFill>
                <a:srgbClr val="197A56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97A56"/>
              </a:solidFill>
              <a:ln w="9525" cap="flat">
                <a:solidFill>
                  <a:srgbClr val="197A5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Q2 24</c:v>
                  </c:pt>
                  <c:pt idx="1">
                    <c:v>Q3 24</c:v>
                  </c:pt>
                  <c:pt idx="2">
                    <c:v>Q4 24</c:v>
                  </c:pt>
                  <c:pt idx="3">
                    <c:v>Q1 25</c:v>
                  </c:pt>
                  <c:pt idx="4">
                    <c:v>Q2 25</c:v>
                  </c:pt>
                  <c:pt idx="5">
                    <c:v>Q3 25</c:v>
                  </c:pt>
                  <c:pt idx="6">
                    <c:v>Q4 25</c:v>
                  </c:pt>
                  <c:pt idx="7">
                    <c:v>Q1 26</c:v>
                  </c:pt>
                  <c:pt idx="8">
                    <c:v>Q2 26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5.4</c:v>
                </c:pt>
                <c:pt idx="1">
                  <c:v>5</c:v>
                </c:pt>
                <c:pt idx="2">
                  <c:v/>
                </c:pt>
                <c:pt idx="3">
                  <c:v>4.8</c:v>
                </c:pt>
                <c:pt idx="4">
                  <c:v>4.5</c:v>
                </c:pt>
                <c:pt idx="5">
                  <c:v/>
                </c:pt>
                <c:pt idx="6">
                  <c:v>4.4</c:v>
                </c:pt>
                <c:pt idx="7">
                  <c:v>4.4</c:v>
                </c:pt>
                <c:pt idx="8">
                  <c:v>3.7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6"/>
          <c:min val="0"/>
        </c:scaling>
        <c:delete val="1"/>
        <c:axPos val="r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実績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0;-0.0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 予</c:v>
                  </c:pt>
                  <c:pt idx="3">
                    <c:v>Q4 予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0.12</c:v>
                </c:pt>
                <c:pt idx="1">
                  <c:v>0.12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予想</c:v>
                </c:pt>
              </c:strCache>
            </c:strRef>
          </c:tx>
          <c:spPr>
            <a:solidFill>
              <a:srgbClr val="86C99B"/>
            </a:solidFill>
            <a:effectLst/>
          </c:spPr>
          <c:invertIfNegative val="0"/>
          <c:dLbls>
            <c:numFmt formatCode="0.00;-0.0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 予</c:v>
                  </c:pt>
                  <c:pt idx="3">
                    <c:v>Q4 予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0.17</c:v>
                </c:pt>
                <c:pt idx="3">
                  <c:v>0.19</c:v>
                </c:pt>
              </c:numCache>
            </c:numRef>
          </c:val>
        </c:ser>
        <c:dLbls>
          <c:numFmt formatCode="0.00;-0.00;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Meiryo U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会員当たり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Q1 24</c:v>
                  </c:pt>
                  <c:pt idx="1">
                    <c:v>Q2 24</c:v>
                  </c:pt>
                  <c:pt idx="2">
                    <c:v>Q3 24</c:v>
                  </c:pt>
                  <c:pt idx="3">
                    <c:v>Q4 24</c:v>
                  </c:pt>
                  <c:pt idx="4">
                    <c:v>Q1 25</c:v>
                  </c:pt>
                  <c:pt idx="5">
                    <c:v>Q2 25</c:v>
                  </c:pt>
                  <c:pt idx="6">
                    <c:v>Q3 25</c:v>
                  </c:pt>
                  <c:pt idx="7">
                    <c:v>Q4 25</c:v>
                  </c:pt>
                  <c:pt idx="8">
                    <c:v>Q1 26</c:v>
                  </c:pt>
                  <c:pt idx="9">
                    <c:v>Q2 26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269</c:v>
                </c:pt>
                <c:pt idx="1">
                  <c:v>287</c:v>
                </c:pt>
                <c:pt idx="2">
                  <c:v>284</c:v>
                </c:pt>
                <c:pt idx="3">
                  <c:v>292</c:v>
                </c:pt>
                <c:pt idx="4">
                  <c:v>298</c:v>
                </c:pt>
                <c:pt idx="5">
                  <c:v>311</c:v>
                </c:pt>
                <c:pt idx="6">
                  <c:v>317</c:v>
                </c:pt>
                <c:pt idx="7">
                  <c:v>306</c:v>
                </c:pt>
                <c:pt idx="8">
                  <c:v>305</c:v>
                </c:pt>
                <c:pt idx="9">
                  <c:v>357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製品当たり</c:v>
                </c:pt>
              </c:strCache>
            </c:strRef>
          </c:tx>
          <c:spPr>
            <a:solidFill>
              <a:srgbClr val="197A56"/>
            </a:solidFill>
            <a:ln w="25400" cap="flat">
              <a:solidFill>
                <a:srgbClr val="197A5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97A56"/>
              </a:solidFill>
              <a:ln w="9525" cap="flat">
                <a:solidFill>
                  <a:srgbClr val="197A5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Q1 24</c:v>
                  </c:pt>
                  <c:pt idx="1">
                    <c:v>Q2 24</c:v>
                  </c:pt>
                  <c:pt idx="2">
                    <c:v>Q3 24</c:v>
                  </c:pt>
                  <c:pt idx="3">
                    <c:v>Q4 24</c:v>
                  </c:pt>
                  <c:pt idx="4">
                    <c:v>Q1 25</c:v>
                  </c:pt>
                  <c:pt idx="5">
                    <c:v>Q2 25</c:v>
                  </c:pt>
                  <c:pt idx="6">
                    <c:v>Q3 25</c:v>
                  </c:pt>
                  <c:pt idx="7">
                    <c:v>Q4 25</c:v>
                  </c:pt>
                  <c:pt idx="8">
                    <c:v>Q1 26</c:v>
                  </c:pt>
                  <c:pt idx="9">
                    <c:v>Q2 26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169</c:v>
                </c:pt>
                <c:pt idx="1">
                  <c:v>195</c:v>
                </c:pt>
                <c:pt idx="2">
                  <c:v>195</c:v>
                </c:pt>
                <c:pt idx="3">
                  <c:v>208</c:v>
                </c:pt>
                <c:pt idx="4">
                  <c:v>198</c:v>
                </c:pt>
                <c:pt idx="5">
                  <c:v>210</c:v>
                </c:pt>
                <c:pt idx="6">
                  <c:v>205</c:v>
                </c:pt>
                <c:pt idx="7">
                  <c:v>191</c:v>
                </c:pt>
                <c:pt idx="8">
                  <c:v>186</c:v>
                </c:pt>
                <c:pt idx="9">
                  <c:v>178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新規会員の製品当たり</c:v>
                </c:pt>
              </c:strCache>
            </c:strRef>
          </c:tx>
          <c:spPr>
            <a:solidFill>
              <a:srgbClr val="D68910"/>
            </a:solidFill>
            <a:ln w="25400" cap="flat">
              <a:solidFill>
                <a:srgbClr val="D6891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68910"/>
              </a:solidFill>
              <a:ln w="9525" cap="flat">
                <a:solidFill>
                  <a:srgbClr val="D6891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Q1 24</c:v>
                  </c:pt>
                  <c:pt idx="1">
                    <c:v>Q2 24</c:v>
                  </c:pt>
                  <c:pt idx="2">
                    <c:v>Q3 24</c:v>
                  </c:pt>
                  <c:pt idx="3">
                    <c:v>Q4 24</c:v>
                  </c:pt>
                  <c:pt idx="4">
                    <c:v>Q1 25</c:v>
                  </c:pt>
                  <c:pt idx="5">
                    <c:v>Q2 25</c:v>
                  </c:pt>
                  <c:pt idx="6">
                    <c:v>Q3 25</c:v>
                  </c:pt>
                  <c:pt idx="7">
                    <c:v>Q4 25</c:v>
                  </c:pt>
                  <c:pt idx="8">
                    <c:v>Q1 26</c:v>
                  </c:pt>
                  <c:pt idx="9">
                    <c:v>Q2 26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311</c:v>
                </c:pt>
                <c:pt idx="4">
                  <c:v>310</c:v>
                </c:pt>
                <c:pt idx="5">
                  <c:v>323</c:v>
                </c:pt>
                <c:pt idx="6">
                  <c:v>342</c:v>
                </c:pt>
                <c:pt idx="7">
                  <c:v>318</c:v>
                </c:pt>
                <c:pt idx="8">
                  <c:v>327</c:v>
                </c:pt>
                <c:pt idx="9">
                  <c:v>364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個人ローン組成のうち LPB に回した割合(%)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Q1 25</c:v>
                  </c:pt>
                  <c:pt idx="1">
                    <c:v>Q2 25</c:v>
                  </c:pt>
                  <c:pt idx="2">
                    <c:v>Q3 25</c:v>
                  </c:pt>
                  <c:pt idx="3">
                    <c:v>Q4 25</c:v>
                  </c:pt>
                  <c:pt idx="4">
                    <c:v>Q1 26</c:v>
                  </c:pt>
                  <c:pt idx="5">
                    <c:v>Q2 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29.1</c:v>
                </c:pt>
                <c:pt idx="1">
                  <c:v>34.3</c:v>
                </c:pt>
                <c:pt idx="2">
                  <c:v>45.3</c:v>
                </c:pt>
                <c:pt idx="3">
                  <c:v>49.3</c:v>
                </c:pt>
                <c:pt idx="4">
                  <c:v>36.1</c:v>
                </c:pt>
                <c:pt idx="5">
                  <c:v>29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収益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Q1 24</c:v>
                  </c:pt>
                  <c:pt idx="1">
                    <c:v>Q2 24</c:v>
                  </c:pt>
                  <c:pt idx="2">
                    <c:v>Q3 24</c:v>
                  </c:pt>
                  <c:pt idx="3">
                    <c:v>Q4 24</c:v>
                  </c:pt>
                  <c:pt idx="4">
                    <c:v>Q1 25</c:v>
                  </c:pt>
                  <c:pt idx="5">
                    <c:v>Q2 25</c:v>
                  </c:pt>
                  <c:pt idx="6">
                    <c:v>Q3 25</c:v>
                  </c:pt>
                  <c:pt idx="7">
                    <c:v>Q4 25</c:v>
                  </c:pt>
                  <c:pt idx="8">
                    <c:v>Q1 26</c:v>
                  </c:pt>
                  <c:pt idx="9">
                    <c:v>Q2 26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94.4</c:v>
                </c:pt>
                <c:pt idx="1">
                  <c:v>95.4</c:v>
                </c:pt>
                <c:pt idx="2">
                  <c:v>102.5</c:v>
                </c:pt>
                <c:pt idx="3">
                  <c:v>102.8</c:v>
                </c:pt>
                <c:pt idx="4">
                  <c:v>103.4</c:v>
                </c:pt>
                <c:pt idx="5">
                  <c:v>109.8</c:v>
                </c:pt>
                <c:pt idx="6">
                  <c:v>114.6</c:v>
                </c:pt>
                <c:pt idx="7">
                  <c:v>122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大口離脱後</c:v>
                </c:pt>
              </c:strCache>
            </c:strRef>
          </c:tx>
          <c:spPr>
            <a:solidFill>
              <a:srgbClr val="D68910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Q1 24</c:v>
                  </c:pt>
                  <c:pt idx="1">
                    <c:v>Q2 24</c:v>
                  </c:pt>
                  <c:pt idx="2">
                    <c:v>Q3 24</c:v>
                  </c:pt>
                  <c:pt idx="3">
                    <c:v>Q4 24</c:v>
                  </c:pt>
                  <c:pt idx="4">
                    <c:v>Q1 25</c:v>
                  </c:pt>
                  <c:pt idx="5">
                    <c:v>Q2 25</c:v>
                  </c:pt>
                  <c:pt idx="6">
                    <c:v>Q3 25</c:v>
                  </c:pt>
                  <c:pt idx="7">
                    <c:v>Q4 25</c:v>
                  </c:pt>
                  <c:pt idx="8">
                    <c:v>Q1 26</c:v>
                  </c:pt>
                  <c:pt idx="9">
                    <c:v>Q2 26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75.1</c:v>
                </c:pt>
                <c:pt idx="9">
                  <c:v>84.5</c:v>
                </c:pt>
              </c:numCache>
            </c:numRef>
          </c:val>
        </c:ser>
        <c:dLbls>
          <c:numFmt formatCode="0.0;-0.0;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Meiryo U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負債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SoFi(β 1.93)</c:v>
                  </c:pt>
                  <c:pt idx="1">
                    <c:v>免許なしの
フィンテック</c:v>
                  </c:pt>
                  <c:pt idx="2">
                    <c:v>SoFi(β 1.3 なら)</c:v>
                  </c:pt>
                  <c:pt idx="3">
                    <c:v>SoFi(β 1.0 なら)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2.62</c:v>
                </c:pt>
                <c:pt idx="1">
                  <c:v>3.96</c:v>
                </c:pt>
                <c:pt idx="2">
                  <c:v>2.62</c:v>
                </c:pt>
                <c:pt idx="3">
                  <c:v>2.62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株主資本</c:v>
                </c:pt>
              </c:strCache>
            </c:strRef>
          </c:tx>
          <c:spPr>
            <a:solidFill>
              <a:srgbClr val="D6891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Meiryo U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SoFi(β 1.93)</c:v>
                  </c:pt>
                  <c:pt idx="1">
                    <c:v>免許なしの
フィンテック</c:v>
                  </c:pt>
                  <c:pt idx="2">
                    <c:v>SoFi(β 1.3 なら)</c:v>
                  </c:pt>
                  <c:pt idx="3">
                    <c:v>SoFi(β 1.0 なら)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2.61</c:v>
                </c:pt>
                <c:pt idx="1">
                  <c:v>2.61</c:v>
                </c:pt>
                <c:pt idx="2">
                  <c:v>2.08</c:v>
                </c:pt>
                <c:pt idx="3">
                  <c:v>1.83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Meiryo U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 年 CAGR(%)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コンセンサス</c:v>
                  </c:pt>
                  <c:pt idx="1">
                    <c:v>会社の目標の延長</c:v>
                  </c:pt>
                  <c:pt idx="2">
                    <c:v>需給エンジン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30.1</c:v>
                </c:pt>
                <c:pt idx="1">
                  <c:v>34.9</c:v>
                </c:pt>
                <c:pt idx="2">
                  <c:v>31.1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株当たり価値(ドル)</c:v>
                </c:pt>
              </c:strCache>
            </c:strRef>
          </c:tx>
          <c:spPr>
            <a:solidFill>
              <a:srgbClr val="197A56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97A5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6891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弱気(29.9%)</c:v>
                  </c:pt>
                  <c:pt idx="1">
                    <c:v>ベース(48.3%)</c:v>
                  </c:pt>
                  <c:pt idx="2">
                    <c:v>強気(21.7%)</c:v>
                  </c:pt>
                  <c:pt idx="3">
                    <c:v>期待値</c:v>
                  </c:pt>
                  <c:pt idx="4">
                    <c:v>株価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11.8</c:v>
                </c:pt>
                <c:pt idx="1">
                  <c:v>14.9</c:v>
                </c:pt>
                <c:pt idx="2">
                  <c:v>18.2</c:v>
                </c:pt>
                <c:pt idx="3">
                  <c:v>14.7</c:v>
                </c:pt>
                <c:pt idx="4">
                  <c:v>14.55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 節点すべて成功</c:v>
                </c:pt>
              </c:strCache>
            </c:strRef>
          </c:tx>
          <c:spPr>
            <a:solidFill>
              <a:srgbClr val="86C99B"/>
            </a:solidFill>
            <a:ln w="25400" cap="flat">
              <a:solidFill>
                <a:srgbClr val="86C99B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6C99B"/>
              </a:solidFill>
              <a:ln w="9525" cap="flat">
                <a:solidFill>
                  <a:srgbClr val="86C99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2030(延長)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0.673</c:v>
                </c:pt>
                <c:pt idx="1">
                  <c:v>1.01</c:v>
                </c:pt>
                <c:pt idx="2">
                  <c:v>1.367</c:v>
                </c:pt>
                <c:pt idx="3">
                  <c:v>1.716</c:v>
                </c:pt>
                <c:pt idx="4">
                  <c:v>2.156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 節点すべて失敗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2030(延長)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0.525</c:v>
                </c:pt>
                <c:pt idx="1">
                  <c:v>0.684</c:v>
                </c:pt>
                <c:pt idx="2">
                  <c:v>0.854</c:v>
                </c:pt>
                <c:pt idx="3">
                  <c:v>1.015</c:v>
                </c:pt>
                <c:pt idx="4">
                  <c:v>1.221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コンセンサス</c:v>
                </c:pt>
              </c:strCache>
            </c:strRef>
          </c:tx>
          <c:spPr>
            <a:solidFill>
              <a:srgbClr val="1BA1A6"/>
            </a:solidFill>
            <a:ln w="25400" cap="flat">
              <a:solidFill>
                <a:srgbClr val="1BA1A6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A1A6"/>
              </a:solidFill>
              <a:ln w="9525" cap="flat">
                <a:solidFill>
                  <a:srgbClr val="1BA1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2030(延長)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0.6</c:v>
                </c:pt>
                <c:pt idx="1">
                  <c:v>0.83</c:v>
                </c:pt>
                <c:pt idx="2">
                  <c:v>1.08</c:v>
                </c:pt>
                <c:pt idx="3">
                  <c:v>1.32</c:v>
                </c:pt>
                <c:pt idx="4">
                  <c:v>1.558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ベース(事業エンジン)</c:v>
                </c:pt>
              </c:strCache>
            </c:strRef>
          </c:tx>
          <c:spPr>
            <a:solidFill>
              <a:srgbClr val="0E4D33"/>
            </a:solidFill>
            <a:ln w="25400" cap="flat">
              <a:solidFill>
                <a:srgbClr val="0E4D33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Meiryo U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4D33"/>
              </a:solidFill>
              <a:ln w="9525" cap="flat">
                <a:solidFill>
                  <a:srgbClr val="0E4D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2030(延長)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0.5993</c:v>
                </c:pt>
                <c:pt idx="1">
                  <c:v>0.8448</c:v>
                </c:pt>
                <c:pt idx="2">
                  <c:v>1.1034</c:v>
                </c:pt>
                <c:pt idx="3">
                  <c:v>1.3494</c:v>
                </c:pt>
                <c:pt idx="4">
                  <c:v>1.6571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Meiryo U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2"/>
          <c:min val="0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2.2"/>
          <c:min val="0"/>
        </c:scaling>
        <c:delete val="1"/>
        <c:axPos val="r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67676"/>
                </a:solidFill>
                <a:latin typeface="Meiryo U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Meiryo U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eiryo UI"/>
              <a:cs typeface="Meiryo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cover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cover_title"/>
          <p:cNvSpPr txBox="1"/>
          <p:nvPr/>
        </p:nvSpPr>
        <p:spPr>
          <a:xfrm>
            <a:off x="731520" y="1828800"/>
            <a:ext cx="658368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Technologies(SOFI)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長期保有適格性審査</a:t>
            </a:r>
            <a:endParaRPr lang="en-US" sz="3000" dirty="0"/>
          </a:p>
        </p:txBody>
      </p:sp>
      <p:sp>
        <p:nvSpPr>
          <p:cNvPr id="4" name="bg_cover_sub"/>
          <p:cNvSpPr txBox="1"/>
          <p:nvPr/>
        </p:nvSpPr>
        <p:spPr>
          <a:xfrm>
            <a:off x="731520" y="3749040"/>
            <a:ext cx="65836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銀行免許を持つフィンテック。攻めの獲得投資で会員を重ね、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自己資本が成長を律速する。第2版: 成長の尺度で評価し直した</a:t>
            </a:r>
            <a:endParaRPr lang="en-US" sz="1400" dirty="0"/>
          </a:p>
        </p:txBody>
      </p:sp>
      <p:sp>
        <p:nvSpPr>
          <p:cNvPr id="5" name="bg_cover_date"/>
          <p:cNvSpPr txBox="1"/>
          <p:nvPr/>
        </p:nvSpPr>
        <p:spPr>
          <a:xfrm>
            <a:off x="731520" y="5943600"/>
            <a:ext cx="45720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2026-10-18(第2版)</a:t>
            </a:r>
            <a:endParaRPr lang="en-US" sz="1100" dirty="0"/>
          </a:p>
        </p:txBody>
      </p:sp>
      <p:sp>
        <p:nvSpPr>
          <p:cNvPr id="6" name="bg_cover_k1"/>
          <p:cNvSpPr txBox="1"/>
          <p:nvPr/>
        </p:nvSpPr>
        <p:spPr>
          <a:xfrm>
            <a:off x="8321040" y="1828800"/>
            <a:ext cx="34107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最終判断</a:t>
            </a:r>
            <a:endParaRPr lang="en-US" sz="1100" dirty="0"/>
          </a:p>
        </p:txBody>
      </p:sp>
      <p:sp>
        <p:nvSpPr>
          <p:cNvPr id="7" name="bg_cover_k1v"/>
          <p:cNvSpPr txBox="1"/>
          <p:nvPr/>
        </p:nvSpPr>
        <p:spPr>
          <a:xfrm>
            <a:off x="8321040" y="2121408"/>
            <a:ext cx="34107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</a:t>
            </a:r>
            <a:endParaRPr lang="en-US" sz="2600" dirty="0"/>
          </a:p>
        </p:txBody>
      </p:sp>
      <p:sp>
        <p:nvSpPr>
          <p:cNvPr id="8" name="bg_cover_k2"/>
          <p:cNvSpPr txBox="1"/>
          <p:nvPr/>
        </p:nvSpPr>
        <p:spPr>
          <a:xfrm>
            <a:off x="8321040" y="3017520"/>
            <a:ext cx="34107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理論株価(確率加重)</a:t>
            </a:r>
            <a:endParaRPr lang="en-US" sz="1100" dirty="0"/>
          </a:p>
        </p:txBody>
      </p:sp>
      <p:sp>
        <p:nvSpPr>
          <p:cNvPr id="9" name="bg_cover_k2v"/>
          <p:cNvSpPr txBox="1"/>
          <p:nvPr/>
        </p:nvSpPr>
        <p:spPr>
          <a:xfrm>
            <a:off x="8321040" y="3310128"/>
            <a:ext cx="34107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14.7 ドル</a:t>
            </a:r>
            <a:endParaRPr lang="en-US" sz="2600" dirty="0"/>
          </a:p>
        </p:txBody>
      </p:sp>
      <p:sp>
        <p:nvSpPr>
          <p:cNvPr id="10" name="bg_cover_k3"/>
          <p:cNvSpPr txBox="1"/>
          <p:nvPr/>
        </p:nvSpPr>
        <p:spPr>
          <a:xfrm>
            <a:off x="8321040" y="4206240"/>
            <a:ext cx="341071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1100" dirty="0"/>
          </a:p>
        </p:txBody>
      </p:sp>
      <p:sp>
        <p:nvSpPr>
          <p:cNvPr id="11" name="bg_cover_k3v"/>
          <p:cNvSpPr txBox="1"/>
          <p:nvPr/>
        </p:nvSpPr>
        <p:spPr>
          <a:xfrm>
            <a:off x="8321040" y="4498848"/>
            <a:ext cx="34107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600" dirty="0"/>
          </a:p>
        </p:txBody>
      </p:sp>
      <p:sp>
        <p:nvSpPr>
          <p:cNvPr id="12" name="bg_cover_note"/>
          <p:cNvSpPr txBox="1"/>
          <p:nvPr/>
        </p:nvSpPr>
        <p:spPr>
          <a:xfrm>
            <a:off x="8321040" y="5303520"/>
            <a:ext cx="34107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 14.55 ドル(2026-10-16 終値)は理論株価の 0.99 倍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第1章 評価総括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1-1 結論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017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017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結論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620774" y="356616"/>
            <a:ext cx="10113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最初に判断と根拠の骨格を示す。詳しい根拠は各章で確かめる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 B(C との境界)・確率加重の理論株価 14.7 ドルで「監視」。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成長投資は攻めで単位経済は正だが、自己資本が成長を律速する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エグゼクティブサマリ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決算・10-Q)、コンセンサス(Yahoo・Chartmill・WallStreetZen・Benzinga)、本資料の計算(calc/out/val.json)。株価は 2026-10-16 終値、calc/out/growth_v2.json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ovl_tile0"/>
          <p:cNvSpPr/>
          <p:nvPr/>
        </p:nvSpPr>
        <p:spPr>
          <a:xfrm>
            <a:off x="457200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2" name="tile_v0"/>
          <p:cNvSpPr txBox="1"/>
          <p:nvPr/>
        </p:nvSpPr>
        <p:spPr>
          <a:xfrm>
            <a:off x="548640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14.7 ドル</a:t>
            </a:r>
            <a:endParaRPr lang="en-US" sz="3200" dirty="0"/>
          </a:p>
        </p:txBody>
      </p:sp>
      <p:sp>
        <p:nvSpPr>
          <p:cNvPr id="23" name="tile_l0"/>
          <p:cNvSpPr txBox="1"/>
          <p:nvPr/>
        </p:nvSpPr>
        <p:spPr>
          <a:xfrm>
            <a:off x="548640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理論株価(確率加重)</a:t>
            </a:r>
            <a:endParaRPr lang="en-US" sz="1050" dirty="0"/>
          </a:p>
        </p:txBody>
      </p:sp>
      <p:sp>
        <p:nvSpPr>
          <p:cNvPr id="24" name="tile_n0"/>
          <p:cNvSpPr txBox="1"/>
          <p:nvPr/>
        </p:nvSpPr>
        <p:spPr>
          <a:xfrm>
            <a:off x="548640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ベース 14.9・強気 18.2・弱気 11.8</a:t>
            </a:r>
            <a:endParaRPr lang="en-US" sz="850" dirty="0"/>
          </a:p>
        </p:txBody>
      </p:sp>
      <p:sp>
        <p:nvSpPr>
          <p:cNvPr id="25" name="ovl_tile1"/>
          <p:cNvSpPr/>
          <p:nvPr/>
        </p:nvSpPr>
        <p:spPr>
          <a:xfrm>
            <a:off x="3333674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6" name="tile_v1"/>
          <p:cNvSpPr txBox="1"/>
          <p:nvPr/>
        </p:nvSpPr>
        <p:spPr>
          <a:xfrm>
            <a:off x="3425114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14.55 ドル</a:t>
            </a:r>
            <a:endParaRPr lang="en-US" sz="3200" dirty="0"/>
          </a:p>
        </p:txBody>
      </p:sp>
      <p:sp>
        <p:nvSpPr>
          <p:cNvPr id="27" name="tile_l1"/>
          <p:cNvSpPr txBox="1"/>
          <p:nvPr/>
        </p:nvSpPr>
        <p:spPr>
          <a:xfrm>
            <a:off x="3425114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株価(10/16)</a:t>
            </a:r>
            <a:endParaRPr lang="en-US" sz="1050" dirty="0"/>
          </a:p>
        </p:txBody>
      </p:sp>
      <p:sp>
        <p:nvSpPr>
          <p:cNvPr id="28" name="tile_n1"/>
          <p:cNvSpPr txBox="1"/>
          <p:nvPr/>
        </p:nvSpPr>
        <p:spPr>
          <a:xfrm>
            <a:off x="3425114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理論株価の 0.99 倍</a:t>
            </a:r>
            <a:endParaRPr lang="en-US" sz="850" dirty="0"/>
          </a:p>
        </p:txBody>
      </p:sp>
      <p:sp>
        <p:nvSpPr>
          <p:cNvPr id="29" name="ovl_tile2"/>
          <p:cNvSpPr/>
          <p:nvPr/>
        </p:nvSpPr>
        <p:spPr>
          <a:xfrm>
            <a:off x="6210148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0" name="tile_v2"/>
          <p:cNvSpPr txBox="1"/>
          <p:nvPr/>
        </p:nvSpPr>
        <p:spPr>
          <a:xfrm>
            <a:off x="6301588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3200" dirty="0"/>
          </a:p>
        </p:txBody>
      </p:sp>
      <p:sp>
        <p:nvSpPr>
          <p:cNvPr id="31" name="tile_l2"/>
          <p:cNvSpPr txBox="1"/>
          <p:nvPr/>
        </p:nvSpPr>
        <p:spPr>
          <a:xfrm>
            <a:off x="6301588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1050" dirty="0"/>
          </a:p>
        </p:txBody>
      </p:sp>
      <p:sp>
        <p:nvSpPr>
          <p:cNvPr id="32" name="tile_n2"/>
          <p:cNvSpPr txBox="1"/>
          <p:nvPr/>
        </p:nvSpPr>
        <p:spPr>
          <a:xfrm>
            <a:off x="6301588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S1・B8・C3(条件9 は対象外)</a:t>
            </a:r>
            <a:endParaRPr lang="en-US" sz="850" dirty="0"/>
          </a:p>
        </p:txBody>
      </p:sp>
      <p:sp>
        <p:nvSpPr>
          <p:cNvPr id="33" name="ovl_tile3"/>
          <p:cNvSpPr/>
          <p:nvPr/>
        </p:nvSpPr>
        <p:spPr>
          <a:xfrm>
            <a:off x="9086621" y="1481328"/>
            <a:ext cx="2647874" cy="1325880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4" name="tile_v3"/>
          <p:cNvSpPr txBox="1"/>
          <p:nvPr/>
        </p:nvSpPr>
        <p:spPr>
          <a:xfrm>
            <a:off x="9178061" y="1554480"/>
            <a:ext cx="246499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</a:t>
            </a:r>
            <a:endParaRPr lang="en-US" sz="3200" dirty="0"/>
          </a:p>
        </p:txBody>
      </p:sp>
      <p:sp>
        <p:nvSpPr>
          <p:cNvPr id="35" name="tile_l3"/>
          <p:cNvSpPr txBox="1"/>
          <p:nvPr/>
        </p:nvSpPr>
        <p:spPr>
          <a:xfrm>
            <a:off x="9178061" y="2286000"/>
            <a:ext cx="24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最終判断</a:t>
            </a:r>
            <a:endParaRPr lang="en-US" sz="1050" dirty="0"/>
          </a:p>
        </p:txBody>
      </p:sp>
      <p:sp>
        <p:nvSpPr>
          <p:cNvPr id="36" name="tile_n3"/>
          <p:cNvSpPr txBox="1"/>
          <p:nvPr/>
        </p:nvSpPr>
        <p:spPr>
          <a:xfrm>
            <a:off x="9178061" y="2551176"/>
            <a:ext cx="246499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分割エントリーの目安 13.2 ドル以下</a:t>
            </a:r>
            <a:endParaRPr lang="en-US" sz="850" dirty="0"/>
          </a:p>
        </p:txBody>
      </p:sp>
      <p:sp>
        <p:nvSpPr>
          <p:cNvPr id="37" name="ovl_rail0"/>
          <p:cNvSpPr/>
          <p:nvPr/>
        </p:nvSpPr>
        <p:spPr>
          <a:xfrm>
            <a:off x="457200" y="2971800"/>
            <a:ext cx="2103120" cy="603504"/>
          </a:xfrm>
          <a:prstGeom prst="rect">
            <a:avLst/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38" name="rail0"/>
          <p:cNvSpPr txBox="1"/>
          <p:nvPr/>
        </p:nvSpPr>
        <p:spPr>
          <a:xfrm>
            <a:off x="566928" y="297180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</a:t>
            </a:r>
            <a:endParaRPr lang="en-US" sz="1200" dirty="0"/>
          </a:p>
        </p:txBody>
      </p:sp>
      <p:sp>
        <p:nvSpPr>
          <p:cNvPr id="39" name="body0"/>
          <p:cNvSpPr txBox="1"/>
          <p:nvPr/>
        </p:nvSpPr>
        <p:spPr>
          <a:xfrm>
            <a:off x="2743200" y="2971800"/>
            <a:ext cx="8988552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構造は B(C との境界)、株価は理論株価とほぼ同じ(乖離 +1%)。市場との差分は無く「監視」。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13.2 ドル以下、または判別 KPI の合格で再検討する</a:t>
            </a:r>
            <a:endParaRPr lang="en-US" sz="1100" dirty="0"/>
          </a:p>
        </p:txBody>
      </p:sp>
      <p:sp>
        <p:nvSpPr>
          <p:cNvPr id="40" name="ovl_rail1"/>
          <p:cNvSpPr/>
          <p:nvPr/>
        </p:nvSpPr>
        <p:spPr>
          <a:xfrm>
            <a:off x="457200" y="3630168"/>
            <a:ext cx="2103120" cy="603504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1" name="rail1"/>
          <p:cNvSpPr txBox="1"/>
          <p:nvPr/>
        </p:nvSpPr>
        <p:spPr>
          <a:xfrm>
            <a:off x="566928" y="363016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</a:t>
            </a:r>
            <a:endParaRPr lang="en-US" sz="1200" dirty="0"/>
          </a:p>
        </p:txBody>
      </p:sp>
      <p:sp>
        <p:nvSpPr>
          <p:cNvPr id="42" name="body1"/>
          <p:cNvSpPr txBox="1"/>
          <p:nvPr/>
        </p:nvSpPr>
        <p:spPr>
          <a:xfrm>
            <a:off x="2743200" y="3630168"/>
            <a:ext cx="8988552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1,580 万人の給与振込が預金 455 億ドルを集め、その安い資金で個人・学生ローンを抱えて利ざやを稼ぐ銀行型フィンテック</a:t>
            </a:r>
            <a:endParaRPr lang="en-US" sz="1100" dirty="0"/>
          </a:p>
        </p:txBody>
      </p:sp>
      <p:sp>
        <p:nvSpPr>
          <p:cNvPr id="43" name="ovl_rail2"/>
          <p:cNvSpPr/>
          <p:nvPr/>
        </p:nvSpPr>
        <p:spPr>
          <a:xfrm>
            <a:off x="457200" y="4288536"/>
            <a:ext cx="2103120" cy="603504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4" name="rail2"/>
          <p:cNvSpPr txBox="1"/>
          <p:nvPr/>
        </p:nvSpPr>
        <p:spPr>
          <a:xfrm>
            <a:off x="566928" y="428853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成長の質</a:t>
            </a:r>
            <a:endParaRPr lang="en-US" sz="1200" dirty="0"/>
          </a:p>
        </p:txBody>
      </p:sp>
      <p:sp>
        <p:nvSpPr>
          <p:cNvPr id="45" name="body2"/>
          <p:cNvSpPr txBox="1"/>
          <p:nvPr/>
        </p:nvSpPr>
        <p:spPr>
          <a:xfrm>
            <a:off x="2743200" y="4288536"/>
            <a:ext cx="8988552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 +48% は攻めの再投資(6 検査中 4 つ)で、単位経済は正(経済的 LTV/CAC 約 2 倍)。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クロスバイは 51% に加速。ただし自己資本の自給率は 0.34 で、成長を律速する</a:t>
            </a:r>
            <a:endParaRPr lang="en-US" sz="1100" dirty="0"/>
          </a:p>
        </p:txBody>
      </p:sp>
      <p:sp>
        <p:nvSpPr>
          <p:cNvPr id="46" name="ovl_rail3"/>
          <p:cNvSpPr/>
          <p:nvPr/>
        </p:nvSpPr>
        <p:spPr>
          <a:xfrm>
            <a:off x="457200" y="4946904"/>
            <a:ext cx="2103120" cy="603504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7" name="rail3"/>
          <p:cNvSpPr txBox="1"/>
          <p:nvPr/>
        </p:nvSpPr>
        <p:spPr>
          <a:xfrm>
            <a:off x="566928" y="4946904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価値</a:t>
            </a:r>
            <a:endParaRPr lang="en-US" sz="1200" dirty="0"/>
          </a:p>
        </p:txBody>
      </p:sp>
      <p:sp>
        <p:nvSpPr>
          <p:cNvPr id="48" name="body3"/>
          <p:cNvSpPr txBox="1"/>
          <p:nvPr/>
        </p:nvSpPr>
        <p:spPr>
          <a:xfrm>
            <a:off x="2743200" y="4946904"/>
            <a:ext cx="8988552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 B の許容 PEG(1.0〜1.15)を年度別に当ててベース 14.9 ドル、節点ツリーの期待値 14.7 ドル。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強気(うまくいった場合)18.2 ドル・確率 22%、弱気 11.8 ドル・30%</a:t>
            </a:r>
            <a:endParaRPr lang="en-US" sz="1100" dirty="0"/>
          </a:p>
        </p:txBody>
      </p:sp>
      <p:sp>
        <p:nvSpPr>
          <p:cNvPr id="49" name="ovl_rail4"/>
          <p:cNvSpPr/>
          <p:nvPr/>
        </p:nvSpPr>
        <p:spPr>
          <a:xfrm>
            <a:off x="457200" y="5605272"/>
            <a:ext cx="2103120" cy="603504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50" name="rail4"/>
          <p:cNvSpPr txBox="1"/>
          <p:nvPr/>
        </p:nvSpPr>
        <p:spPr>
          <a:xfrm>
            <a:off x="566928" y="560527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市場との差分</a:t>
            </a:r>
            <a:endParaRPr lang="en-US" sz="1200" dirty="0"/>
          </a:p>
        </p:txBody>
      </p:sp>
      <p:sp>
        <p:nvSpPr>
          <p:cNvPr id="51" name="body4"/>
          <p:cNvSpPr txBox="1"/>
          <p:nvPr/>
        </p:nvSpPr>
        <p:spPr>
          <a:xfrm>
            <a:off x="2743200" y="5605272"/>
            <a:ext cx="8988552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株価は強気の確率 約 17% を織り込み、本資料の 22% との差は感応度の幅の内側。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銀行免許による資金の優位(年 7.1 億ドル)は既に NIM に入っている。差分は無い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4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agend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agenda_lbl"/>
          <p:cNvSpPr txBox="1"/>
          <p:nvPr/>
        </p:nvSpPr>
        <p:spPr>
          <a:xfrm>
            <a:off x="73152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bg_agenda_n0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bg_agenda_nt0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bg_agenda_ch0"/>
          <p:cNvSpPr txBox="1"/>
          <p:nvPr/>
        </p:nvSpPr>
        <p:spPr>
          <a:xfrm>
            <a:off x="1417320" y="1444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評価総括</a:t>
            </a:r>
            <a:endParaRPr lang="en-US" sz="1800" dirty="0"/>
          </a:p>
        </p:txBody>
      </p:sp>
      <p:sp>
        <p:nvSpPr>
          <p:cNvPr id="7" name="bg_agenda_why0"/>
          <p:cNvSpPr txBox="1"/>
          <p:nvPr/>
        </p:nvSpPr>
        <p:spPr>
          <a:xfrm>
            <a:off x="1417320" y="192024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結論と評価の全体像を先に示し、以降の章で根拠を確かめる</a:t>
            </a:r>
            <a:endParaRPr lang="en-US" sz="1000" dirty="0"/>
          </a:p>
        </p:txBody>
      </p:sp>
      <p:sp>
        <p:nvSpPr>
          <p:cNvPr id="8" name="bg_agenda_n1"/>
          <p:cNvSpPr/>
          <p:nvPr/>
        </p:nvSpPr>
        <p:spPr>
          <a:xfrm>
            <a:off x="777240" y="2395728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bg_agenda_nt1"/>
          <p:cNvSpPr txBox="1"/>
          <p:nvPr/>
        </p:nvSpPr>
        <p:spPr>
          <a:xfrm>
            <a:off x="7772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bg_agenda_ch1"/>
          <p:cNvSpPr txBox="1"/>
          <p:nvPr/>
        </p:nvSpPr>
        <p:spPr>
          <a:xfrm>
            <a:off x="1417320" y="2377440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事業・資金・成長</a:t>
            </a:r>
            <a:endParaRPr lang="en-US" sz="1800" dirty="0"/>
          </a:p>
        </p:txBody>
      </p:sp>
      <p:sp>
        <p:nvSpPr>
          <p:cNvPr id="11" name="bg_agenda_n2"/>
          <p:cNvSpPr/>
          <p:nvPr/>
        </p:nvSpPr>
        <p:spPr>
          <a:xfrm>
            <a:off x="777240" y="3328416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bg_agenda_nt2"/>
          <p:cNvSpPr txBox="1"/>
          <p:nvPr/>
        </p:nvSpPr>
        <p:spPr>
          <a:xfrm>
            <a:off x="7772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bg_agenda_ch2"/>
          <p:cNvSpPr txBox="1"/>
          <p:nvPr/>
        </p:nvSpPr>
        <p:spPr>
          <a:xfrm>
            <a:off x="1417320" y="3310128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成長の尺度</a:t>
            </a:r>
            <a:endParaRPr lang="en-US" sz="1800" dirty="0"/>
          </a:p>
        </p:txBody>
      </p:sp>
      <p:sp>
        <p:nvSpPr>
          <p:cNvPr id="14" name="bg_agenda_n3"/>
          <p:cNvSpPr/>
          <p:nvPr/>
        </p:nvSpPr>
        <p:spPr>
          <a:xfrm>
            <a:off x="777240" y="4261104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bg_agenda_nt3"/>
          <p:cNvSpPr txBox="1"/>
          <p:nvPr/>
        </p:nvSpPr>
        <p:spPr>
          <a:xfrm>
            <a:off x="7772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bg_agenda_ch3"/>
          <p:cNvSpPr txBox="1"/>
          <p:nvPr/>
        </p:nvSpPr>
        <p:spPr>
          <a:xfrm>
            <a:off x="1417320" y="4242816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13条件の構造分析</a:t>
            </a:r>
            <a:endParaRPr lang="en-US" sz="1800" dirty="0"/>
          </a:p>
        </p:txBody>
      </p:sp>
      <p:sp>
        <p:nvSpPr>
          <p:cNvPr id="17" name="bg_agenda_n4"/>
          <p:cNvSpPr/>
          <p:nvPr/>
        </p:nvSpPr>
        <p:spPr>
          <a:xfrm>
            <a:off x="777240" y="5193792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bg_agenda_nt4"/>
          <p:cNvSpPr txBox="1"/>
          <p:nvPr/>
        </p:nvSpPr>
        <p:spPr>
          <a:xfrm>
            <a:off x="7772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bg_agenda_ch4"/>
          <p:cNvSpPr txBox="1"/>
          <p:nvPr/>
        </p:nvSpPr>
        <p:spPr>
          <a:xfrm>
            <a:off x="1417320" y="5175504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バリュエーション・リスク・投資アクション</a:t>
            </a:r>
            <a:endParaRPr lang="en-US" sz="1800" dirty="0"/>
          </a:p>
        </p:txBody>
      </p:sp>
      <p:sp>
        <p:nvSpPr>
          <p:cNvPr id="20" name="bg_agenda_rule"/>
          <p:cNvSpPr/>
          <p:nvPr/>
        </p:nvSpPr>
        <p:spPr>
          <a:xfrm>
            <a:off x="7543800" y="1463040"/>
            <a:ext cx="0" cy="4389120"/>
          </a:xfrm>
          <a:prstGeom prst="line">
            <a:avLst/>
          </a:prstGeom>
          <a:noFill/>
          <a:ln w="9525">
            <a:solidFill>
              <a:srgbClr val="86C99B"/>
            </a:solidFill>
            <a:prstDash val="solid"/>
          </a:ln>
        </p:spPr>
      </p:sp>
      <p:sp>
        <p:nvSpPr>
          <p:cNvPr id="21" name="bg_agenda_sh"/>
          <p:cNvSpPr txBox="1"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第1章の構成</a:t>
            </a:r>
            <a:endParaRPr lang="en-US" sz="1300" dirty="0"/>
          </a:p>
        </p:txBody>
      </p:sp>
      <p:sp>
        <p:nvSpPr>
          <p:cNvPr id="22" name="bg_agenda_s0"/>
          <p:cNvSpPr txBox="1"/>
          <p:nvPr/>
        </p:nvSpPr>
        <p:spPr>
          <a:xfrm>
            <a:off x="781812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1-1  結論</a:t>
            </a:r>
            <a:endParaRPr lang="en-US" sz="1250" dirty="0"/>
          </a:p>
        </p:txBody>
      </p:sp>
      <p:sp>
        <p:nvSpPr>
          <p:cNvPr id="23" name="bg_agenda_p0"/>
          <p:cNvSpPr txBox="1"/>
          <p:nvPr/>
        </p:nvSpPr>
        <p:spPr>
          <a:xfrm>
            <a:off x="10881360" y="1920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</a:t>
            </a:r>
            <a:endParaRPr lang="en-US" sz="1050" dirty="0"/>
          </a:p>
        </p:txBody>
      </p:sp>
      <p:sp>
        <p:nvSpPr>
          <p:cNvPr id="24" name="bg_agenda_s1"/>
          <p:cNvSpPr txBox="1"/>
          <p:nvPr/>
        </p:nvSpPr>
        <p:spPr>
          <a:xfrm>
            <a:off x="781812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1-2  評価の全体像</a:t>
            </a:r>
            <a:endParaRPr lang="en-US" sz="1250" dirty="0"/>
          </a:p>
        </p:txBody>
      </p:sp>
      <p:sp>
        <p:nvSpPr>
          <p:cNvPr id="25" name="bg_agenda_p1"/>
          <p:cNvSpPr txBox="1"/>
          <p:nvPr/>
        </p:nvSpPr>
        <p:spPr>
          <a:xfrm>
            <a:off x="10881360" y="23774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p.4–6</a:t>
            </a:r>
            <a:endParaRPr lang="en-US" sz="1050" dirty="0"/>
          </a:p>
        </p:txBody>
      </p:sp>
      <p:sp>
        <p:nvSpPr>
          <p:cNvPr id="26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第1章 評価総括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1-2 評価の全体像(1/3)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525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525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評価の全体像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128774" y="356616"/>
            <a:ext cx="9605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 条件のどこが強く、どこが弱いかを一覧し、構造評価 B の内訳を示す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 条件は S1・B8・C3(条件9 は対象外)。弱点は「安い理由」「商品性」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「アーキタイプ」の 3 つ。条件2 は成長段階の尺度で B に見直した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 条件の評価一覧(評価の色は全スライド共通: S 濃緑・A 緑・B 薄緑・C アンバー・対象外は灰)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本資料 第3章(成長の尺度)・第4章(条件別の構造分析)、銘柄分析メソッド Phase 3・6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800" dirty="0"/>
          </a:p>
        </p:txBody>
      </p:sp>
      <p:graphicFrame>
        <p:nvGraphicFramePr>
          <p:cNvPr id="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926080"/>
                <a:gridCol w="685800"/>
                <a:gridCol w="5120640"/>
                <a:gridCol w="2130552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根拠(一文)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監視 KPI(C のみ)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 年の価格決定力・競争優位・成長性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預金は競合より 0.2〜0.6pt 安く集まり会員は +35%。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銀行免許で負債は 1.33pt 安いが、ローンの価格は市場並み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コア事業の潤沢なキャッシュフロー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定常の ROTCE 約 15% は資本コスト 13.9% を上回る。今の 7〜9% 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攻めの成長投資の結果。自給率 0.34 は監視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コア資産の新しい収益線への転用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年 5.6 億ドル、FS 手数料 +81%、クロスバイ 51%。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Tech Platform は前期比 +12.5% で底打ち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日本株か米国株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NASDAQ 上場の米国企業(前提条件)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経営陣の経歴と資本配分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資本市場・財務の経歴で銀行化と黒字化を実現。貸出は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消費者金融の経験者が率いる。報酬は TBV の総額に連動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 年 EPS 成長率 30% 以上で PEG&lt;1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 年 CAGR 約 30%・PEG 0.8 前後。成長の約 3 割は販促費率の低下による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低 PEG の理由がリスクの過大評価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89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主因は金利・資本・信用の実在のリスク。「利益が売上に付いてこない」は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裁量の再投資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個人ローンマーク 104% / 103%、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all-in 貸倒率 4.0% / 4.8%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コモディティでない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89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ローンは買い手がほぼ額面と手数料で買う市場の商品。金利帯も競合と重なる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NIM 5.8% / 5.3%、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手数料率 4.5% / 3.5%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停めない運用に不可欠(AI 関連のみ)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N/A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 の部品・サービスの供給者ではないため対象外(集計から除外)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無形資産の陳腐化リスク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ブランドと会員の関係は長寿命。技術基盤は Chime の内製化で代替されうる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模倣困難・代替不可能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銀行免許・会員・預金の組み合わせは再現に約 57 億ドルと数年。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部品ごとの再現例(LendingClub・Chime)はある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従量・継続型の収益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残高に課金する利ざやと継続手数料が約 76%。個人ローンは 2〜3 年で返済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アーキタイプ照合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89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個人ローン組成の 71% を自社で抱え、信用の損失を負う(MU 型寄り)。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資本を使わない構造への転換は能力に留まる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B/S 保有比率 65% / 75%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note_kpi"/>
          <p:cNvSpPr txBox="1"/>
          <p:nvPr/>
        </p:nvSpPr>
        <p:spPr>
          <a:xfrm>
            <a:off x="457200" y="5897880"/>
            <a:ext cx="11274552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 KPI は「合格ライン / 撤退ライン」。条件9 は対象外のため、評価の集計から除く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第1章 評価総括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1-2 評価の全体像(2/3)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525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525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評価の全体像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128774" y="356616"/>
            <a:ext cx="9605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集計の規則(拒否権・C 上限・対評価)を当てた結果を示し、評価に恣意がないことを確かめる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 は 3 条件で「C×4 なら B 以上にしない」は発動せず、構造評価は B。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条件2 は C との境界、条件6 は条件7 との対評価で上限を B とした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構造評価の導出: 評価分布 → 適用ルール → 構造評価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銘柄分析メソッド Phase 6、本資料の評価一覧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800" dirty="0"/>
          </a:p>
        </p:txBody>
      </p:sp>
      <p:sp>
        <p:nvSpPr>
          <p:cNvPr id="21" name="flow_h0"/>
          <p:cNvSpPr txBox="1"/>
          <p:nvPr/>
        </p:nvSpPr>
        <p:spPr>
          <a:xfrm>
            <a:off x="457200" y="1554480"/>
            <a:ext cx="3484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入力: 13 条件の評価</a:t>
            </a:r>
            <a:endParaRPr lang="en-US" sz="1100" dirty="0"/>
          </a:p>
        </p:txBody>
      </p:sp>
      <p:sp>
        <p:nvSpPr>
          <p:cNvPr id="22" name="ovl_fbox0_0"/>
          <p:cNvSpPr/>
          <p:nvPr/>
        </p:nvSpPr>
        <p:spPr>
          <a:xfrm>
            <a:off x="457200" y="1947672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23" name="flow_t0_0"/>
          <p:cNvSpPr txBox="1"/>
          <p:nvPr/>
        </p:nvSpPr>
        <p:spPr>
          <a:xfrm>
            <a:off x="530352" y="1984248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 × 1(条件4)</a:t>
            </a:r>
            <a:endParaRPr lang="en-US" sz="1000" dirty="0"/>
          </a:p>
        </p:txBody>
      </p:sp>
      <p:sp>
        <p:nvSpPr>
          <p:cNvPr id="24" name="ovl_fbox0_1"/>
          <p:cNvSpPr/>
          <p:nvPr/>
        </p:nvSpPr>
        <p:spPr>
          <a:xfrm>
            <a:off x="457200" y="2880360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5" name="flow_t0_1"/>
          <p:cNvSpPr txBox="1"/>
          <p:nvPr/>
        </p:nvSpPr>
        <p:spPr>
          <a:xfrm>
            <a:off x="530352" y="2916936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 × 8(条件1・2・3・5・6・10・11・12)</a:t>
            </a:r>
            <a:endParaRPr lang="en-US" sz="1000" dirty="0"/>
          </a:p>
        </p:txBody>
      </p:sp>
      <p:sp>
        <p:nvSpPr>
          <p:cNvPr id="26" name="ovl_fbox0_2"/>
          <p:cNvSpPr/>
          <p:nvPr/>
        </p:nvSpPr>
        <p:spPr>
          <a:xfrm>
            <a:off x="457200" y="3813048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7" name="flow_t0_2"/>
          <p:cNvSpPr txBox="1"/>
          <p:nvPr/>
        </p:nvSpPr>
        <p:spPr>
          <a:xfrm>
            <a:off x="530352" y="3849624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 × 3(条件7・8・13)</a:t>
            </a:r>
            <a:endParaRPr lang="en-US" sz="1000" dirty="0"/>
          </a:p>
        </p:txBody>
      </p:sp>
      <p:sp>
        <p:nvSpPr>
          <p:cNvPr id="28" name="ovl_fbox0_3"/>
          <p:cNvSpPr/>
          <p:nvPr/>
        </p:nvSpPr>
        <p:spPr>
          <a:xfrm>
            <a:off x="457200" y="4745736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29" name="flow_t0_3"/>
          <p:cNvSpPr txBox="1"/>
          <p:nvPr/>
        </p:nvSpPr>
        <p:spPr>
          <a:xfrm>
            <a:off x="530352" y="4782312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対象外 × 1(条件9)</a:t>
            </a:r>
            <a:endParaRPr lang="en-US" sz="1000" dirty="0"/>
          </a:p>
        </p:txBody>
      </p:sp>
      <p:sp>
        <p:nvSpPr>
          <p:cNvPr id="30" name="ovl_farrow0"/>
          <p:cNvSpPr/>
          <p:nvPr/>
        </p:nvSpPr>
        <p:spPr>
          <a:xfrm>
            <a:off x="4003700" y="3575304"/>
            <a:ext cx="288036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1" name="flow_h1"/>
          <p:cNvSpPr txBox="1"/>
          <p:nvPr/>
        </p:nvSpPr>
        <p:spPr>
          <a:xfrm>
            <a:off x="4353458" y="1554480"/>
            <a:ext cx="3484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処理: 適用ルール</a:t>
            </a:r>
            <a:endParaRPr lang="en-US" sz="1100" dirty="0"/>
          </a:p>
        </p:txBody>
      </p:sp>
      <p:sp>
        <p:nvSpPr>
          <p:cNvPr id="32" name="ovl_fbox1_0"/>
          <p:cNvSpPr/>
          <p:nvPr/>
        </p:nvSpPr>
        <p:spPr>
          <a:xfrm>
            <a:off x="4353458" y="2414016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33" name="flow_t1_0"/>
          <p:cNvSpPr txBox="1"/>
          <p:nvPr/>
        </p:nvSpPr>
        <p:spPr>
          <a:xfrm>
            <a:off x="4426610" y="2450592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致命条件の拒否権(E 以下): 非発動</a:t>
            </a:r>
            <a:endParaRPr lang="en-US" sz="1000" dirty="0"/>
          </a:p>
        </p:txBody>
      </p:sp>
      <p:sp>
        <p:nvSpPr>
          <p:cNvPr id="34" name="ovl_fbox1_1"/>
          <p:cNvSpPr/>
          <p:nvPr/>
        </p:nvSpPr>
        <p:spPr>
          <a:xfrm>
            <a:off x="4353458" y="3346704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35" name="flow_t1_1"/>
          <p:cNvSpPr txBox="1"/>
          <p:nvPr/>
        </p:nvSpPr>
        <p:spPr>
          <a:xfrm>
            <a:off x="4426610" y="3383280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条件6・7 の対評価: 発動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(条件7 が C のため条件6 は B が上限)</a:t>
            </a:r>
            <a:endParaRPr lang="en-US" sz="1000" dirty="0"/>
          </a:p>
        </p:txBody>
      </p:sp>
      <p:sp>
        <p:nvSpPr>
          <p:cNvPr id="36" name="ovl_fbox1_2"/>
          <p:cNvSpPr/>
          <p:nvPr/>
        </p:nvSpPr>
        <p:spPr>
          <a:xfrm>
            <a:off x="4353458" y="4279392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37" name="flow_t1_2"/>
          <p:cNvSpPr txBox="1"/>
          <p:nvPr/>
        </p:nvSpPr>
        <p:spPr>
          <a:xfrm>
            <a:off x="4426610" y="4315968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 × 4 以上で B 以上にしない: 非発動(C は 3)</a:t>
            </a:r>
            <a:endParaRPr lang="en-US" sz="1000" dirty="0"/>
          </a:p>
        </p:txBody>
      </p:sp>
      <p:sp>
        <p:nvSpPr>
          <p:cNvPr id="38" name="ovl_farrow1"/>
          <p:cNvSpPr/>
          <p:nvPr/>
        </p:nvSpPr>
        <p:spPr>
          <a:xfrm>
            <a:off x="7899959" y="3575304"/>
            <a:ext cx="288036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9" name="flow_h2"/>
          <p:cNvSpPr txBox="1"/>
          <p:nvPr/>
        </p:nvSpPr>
        <p:spPr>
          <a:xfrm>
            <a:off x="8249717" y="1554480"/>
            <a:ext cx="34847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出力: 構造評価</a:t>
            </a:r>
            <a:endParaRPr lang="en-US" sz="1100" dirty="0"/>
          </a:p>
        </p:txBody>
      </p:sp>
      <p:sp>
        <p:nvSpPr>
          <p:cNvPr id="40" name="ovl_fbox2_0"/>
          <p:cNvSpPr/>
          <p:nvPr/>
        </p:nvSpPr>
        <p:spPr>
          <a:xfrm>
            <a:off x="8249717" y="2560320"/>
            <a:ext cx="3484778" cy="1463040"/>
          </a:xfrm>
          <a:prstGeom prst="roundRect">
            <a:avLst>
              <a:gd name="adj" fmla="val 3750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41" name="flow_t2_0"/>
          <p:cNvSpPr txBox="1"/>
          <p:nvPr/>
        </p:nvSpPr>
        <p:spPr>
          <a:xfrm>
            <a:off x="8322869" y="2596896"/>
            <a:ext cx="33384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4000" dirty="0"/>
          </a:p>
        </p:txBody>
      </p:sp>
      <p:sp>
        <p:nvSpPr>
          <p:cNvPr id="42" name="ovl_fbox2_1"/>
          <p:cNvSpPr/>
          <p:nvPr/>
        </p:nvSpPr>
        <p:spPr>
          <a:xfrm>
            <a:off x="8249717" y="4133088"/>
            <a:ext cx="3484778" cy="822960"/>
          </a:xfrm>
          <a:prstGeom prst="roundRect">
            <a:avLst>
              <a:gd name="adj" fmla="val 6667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3" name="flow_t2_1"/>
          <p:cNvSpPr txBox="1"/>
          <p:nvPr/>
        </p:nvSpPr>
        <p:spPr>
          <a:xfrm>
            <a:off x="8322869" y="4169664"/>
            <a:ext cx="333847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最頻の B。条件2 は C との境界(自給率 0.34)。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第1版は C(条件2 を現在の ROTCE で判定していた)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第1章 評価総括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1-2 評価の全体像(3/3)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525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525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評価の全体像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128774" y="356616"/>
            <a:ext cx="9605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どの事業構造が評価を押し上げ、どれが押し下げたかを、原因から結果の順に示す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 × フィンテックの安い調達、会員の厚みとクロスバイ、攻めの獲得投資が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評価を押し上げ、自己資本の律速とローンの商品性が押し下げる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構造的要因サマリー: 構造(だから)→ 条件の評価(となり)→ 構造評価への効き(を動かした)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本資料 第3章・第4章、calc/out/growth_v2.json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800" dirty="0"/>
          </a:p>
        </p:txBody>
      </p:sp>
      <p:sp>
        <p:nvSpPr>
          <p:cNvPr id="21" name="head_up"/>
          <p:cNvSpPr txBox="1"/>
          <p:nvPr/>
        </p:nvSpPr>
        <p:spPr>
          <a:xfrm>
            <a:off x="457200" y="148132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押し上げ要因</a:t>
            </a:r>
            <a:endParaRPr lang="en-US" sz="1200" dirty="0"/>
          </a:p>
        </p:txBody>
      </p:sp>
      <p:sp>
        <p:nvSpPr>
          <p:cNvPr id="22" name="head_down"/>
          <p:cNvSpPr txBox="1"/>
          <p:nvPr/>
        </p:nvSpPr>
        <p:spPr>
          <a:xfrm>
            <a:off x="457200" y="3630168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押し下げ要因</a:t>
            </a:r>
            <a:endParaRPr lang="en-US" sz="1200" dirty="0"/>
          </a:p>
        </p:txBody>
      </p:sp>
      <p:sp>
        <p:nvSpPr>
          <p:cNvPr id="23" name="ovl_card_up0"/>
          <p:cNvSpPr/>
          <p:nvPr/>
        </p:nvSpPr>
        <p:spPr>
          <a:xfrm>
            <a:off x="457200" y="1828800"/>
            <a:ext cx="2834640" cy="1691640"/>
          </a:xfrm>
          <a:prstGeom prst="rect">
            <a:avLst/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24" name="cn_up0"/>
          <p:cNvSpPr txBox="1"/>
          <p:nvPr/>
        </p:nvSpPr>
        <p:spPr>
          <a:xfrm>
            <a:off x="548640" y="19202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</a:t>
            </a:r>
            <a:endParaRPr lang="en-US" sz="950" dirty="0"/>
          </a:p>
        </p:txBody>
      </p:sp>
      <p:sp>
        <p:nvSpPr>
          <p:cNvPr id="25" name="ovl_badge"/>
          <p:cNvSpPr/>
          <p:nvPr/>
        </p:nvSpPr>
        <p:spPr>
          <a:xfrm>
            <a:off x="932688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6" name="ovl_badge_t"/>
          <p:cNvSpPr txBox="1"/>
          <p:nvPr/>
        </p:nvSpPr>
        <p:spPr>
          <a:xfrm>
            <a:off x="93268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27" name="no_up0_0"/>
          <p:cNvSpPr txBox="1"/>
          <p:nvPr/>
        </p:nvSpPr>
        <p:spPr>
          <a:xfrm>
            <a:off x="1344168" y="192024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950" dirty="0"/>
          </a:p>
        </p:txBody>
      </p:sp>
      <p:sp>
        <p:nvSpPr>
          <p:cNvPr id="28" name="ovl_badge"/>
          <p:cNvSpPr/>
          <p:nvPr/>
        </p:nvSpPr>
        <p:spPr>
          <a:xfrm>
            <a:off x="1591056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9" name="ovl_badge_t"/>
          <p:cNvSpPr txBox="1"/>
          <p:nvPr/>
        </p:nvSpPr>
        <p:spPr>
          <a:xfrm>
            <a:off x="159105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30" name="no_up0_1"/>
          <p:cNvSpPr txBox="1"/>
          <p:nvPr/>
        </p:nvSpPr>
        <p:spPr>
          <a:xfrm>
            <a:off x="2002536" y="192024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950" dirty="0"/>
          </a:p>
        </p:txBody>
      </p:sp>
      <p:sp>
        <p:nvSpPr>
          <p:cNvPr id="31" name="h_up0"/>
          <p:cNvSpPr txBox="1"/>
          <p:nvPr/>
        </p:nvSpPr>
        <p:spPr>
          <a:xfrm>
            <a:off x="548640" y="2359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 × フィンテックの安い調達</a:t>
            </a:r>
            <a:endParaRPr lang="en-US" sz="1100" dirty="0"/>
          </a:p>
        </p:txBody>
      </p:sp>
      <p:sp>
        <p:nvSpPr>
          <p:cNvPr id="32" name="b_up0"/>
          <p:cNvSpPr txBox="1"/>
          <p:nvPr/>
        </p:nvSpPr>
        <p:spPr>
          <a:xfrm>
            <a:off x="548640" y="26700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会員の預金の約 97% が給与振込。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負債は免許なしより 1.33pt 安く、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節約は年 7.1 億ドル(販促費の 45%)</a:t>
            </a:r>
            <a:endParaRPr lang="en-US" sz="950" dirty="0"/>
          </a:p>
        </p:txBody>
      </p:sp>
      <p:sp>
        <p:nvSpPr>
          <p:cNvPr id="33" name="ovl_card_up1"/>
          <p:cNvSpPr/>
          <p:nvPr/>
        </p:nvSpPr>
        <p:spPr>
          <a:xfrm>
            <a:off x="3520440" y="1828800"/>
            <a:ext cx="2834640" cy="1691640"/>
          </a:xfrm>
          <a:prstGeom prst="rect">
            <a:avLst/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34" name="cn_up1"/>
          <p:cNvSpPr txBox="1"/>
          <p:nvPr/>
        </p:nvSpPr>
        <p:spPr>
          <a:xfrm>
            <a:off x="3611880" y="19202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</a:t>
            </a:r>
            <a:endParaRPr lang="en-US" sz="950" dirty="0"/>
          </a:p>
        </p:txBody>
      </p:sp>
      <p:sp>
        <p:nvSpPr>
          <p:cNvPr id="35" name="ovl_badge"/>
          <p:cNvSpPr/>
          <p:nvPr/>
        </p:nvSpPr>
        <p:spPr>
          <a:xfrm>
            <a:off x="3995928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6" name="ovl_badge_t"/>
          <p:cNvSpPr txBox="1"/>
          <p:nvPr/>
        </p:nvSpPr>
        <p:spPr>
          <a:xfrm>
            <a:off x="399592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37" name="no_up1_0"/>
          <p:cNvSpPr txBox="1"/>
          <p:nvPr/>
        </p:nvSpPr>
        <p:spPr>
          <a:xfrm>
            <a:off x="4407408" y="192024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50" dirty="0"/>
          </a:p>
        </p:txBody>
      </p:sp>
      <p:sp>
        <p:nvSpPr>
          <p:cNvPr id="38" name="ovl_badge"/>
          <p:cNvSpPr/>
          <p:nvPr/>
        </p:nvSpPr>
        <p:spPr>
          <a:xfrm>
            <a:off x="4654296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9" name="ovl_badge_t"/>
          <p:cNvSpPr txBox="1"/>
          <p:nvPr/>
        </p:nvSpPr>
        <p:spPr>
          <a:xfrm>
            <a:off x="465429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40" name="no_up1_1"/>
          <p:cNvSpPr txBox="1"/>
          <p:nvPr/>
        </p:nvSpPr>
        <p:spPr>
          <a:xfrm>
            <a:off x="5065776" y="192024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950" dirty="0"/>
          </a:p>
        </p:txBody>
      </p:sp>
      <p:sp>
        <p:nvSpPr>
          <p:cNvPr id="41" name="h_up1"/>
          <p:cNvSpPr txBox="1"/>
          <p:nvPr/>
        </p:nvSpPr>
        <p:spPr>
          <a:xfrm>
            <a:off x="3611880" y="2359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会員の厚みとクロスバイ</a:t>
            </a:r>
            <a:endParaRPr lang="en-US" sz="1100" dirty="0"/>
          </a:p>
        </p:txBody>
      </p:sp>
      <p:sp>
        <p:nvSpPr>
          <p:cNvPr id="42" name="b_up1"/>
          <p:cNvSpPr txBox="1"/>
          <p:nvPr/>
        </p:nvSpPr>
        <p:spPr>
          <a:xfrm>
            <a:off x="3611880" y="26700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クロスバイは 1 年で 35% → 51%。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既存会員の製品は 2.5 倍で、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製品当たり獲得費は −15%</a:t>
            </a:r>
            <a:endParaRPr lang="en-US" sz="950" dirty="0"/>
          </a:p>
        </p:txBody>
      </p:sp>
      <p:sp>
        <p:nvSpPr>
          <p:cNvPr id="43" name="ovl_card_up2"/>
          <p:cNvSpPr/>
          <p:nvPr/>
        </p:nvSpPr>
        <p:spPr>
          <a:xfrm>
            <a:off x="6583680" y="1828800"/>
            <a:ext cx="2834640" cy="1691640"/>
          </a:xfrm>
          <a:prstGeom prst="rect">
            <a:avLst/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44" name="cn_up2"/>
          <p:cNvSpPr txBox="1"/>
          <p:nvPr/>
        </p:nvSpPr>
        <p:spPr>
          <a:xfrm>
            <a:off x="6675120" y="19202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</a:t>
            </a:r>
            <a:endParaRPr lang="en-US" sz="950" dirty="0"/>
          </a:p>
        </p:txBody>
      </p:sp>
      <p:sp>
        <p:nvSpPr>
          <p:cNvPr id="45" name="ovl_badge"/>
          <p:cNvSpPr/>
          <p:nvPr/>
        </p:nvSpPr>
        <p:spPr>
          <a:xfrm>
            <a:off x="7059168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46" name="ovl_badge_t"/>
          <p:cNvSpPr txBox="1"/>
          <p:nvPr/>
        </p:nvSpPr>
        <p:spPr>
          <a:xfrm>
            <a:off x="705916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47" name="no_up2_0"/>
          <p:cNvSpPr txBox="1"/>
          <p:nvPr/>
        </p:nvSpPr>
        <p:spPr>
          <a:xfrm>
            <a:off x="7470648" y="192024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50" dirty="0"/>
          </a:p>
        </p:txBody>
      </p:sp>
      <p:sp>
        <p:nvSpPr>
          <p:cNvPr id="48" name="ovl_badge"/>
          <p:cNvSpPr/>
          <p:nvPr/>
        </p:nvSpPr>
        <p:spPr>
          <a:xfrm>
            <a:off x="7717536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49" name="ovl_badge_t"/>
          <p:cNvSpPr txBox="1"/>
          <p:nvPr/>
        </p:nvSpPr>
        <p:spPr>
          <a:xfrm>
            <a:off x="7717536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300" dirty="0"/>
          </a:p>
        </p:txBody>
      </p:sp>
      <p:sp>
        <p:nvSpPr>
          <p:cNvPr id="50" name="no_up2_1"/>
          <p:cNvSpPr txBox="1"/>
          <p:nvPr/>
        </p:nvSpPr>
        <p:spPr>
          <a:xfrm>
            <a:off x="8129016" y="192024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50" dirty="0"/>
          </a:p>
        </p:txBody>
      </p:sp>
      <p:sp>
        <p:nvSpPr>
          <p:cNvPr id="51" name="h_up2"/>
          <p:cNvSpPr txBox="1"/>
          <p:nvPr/>
        </p:nvSpPr>
        <p:spPr>
          <a:xfrm>
            <a:off x="6675120" y="2359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攻めの獲得投資と単位経済</a:t>
            </a:r>
            <a:endParaRPr lang="en-US" sz="1100" dirty="0"/>
          </a:p>
        </p:txBody>
      </p:sp>
      <p:sp>
        <p:nvSpPr>
          <p:cNvPr id="52" name="b_up2"/>
          <p:cNvSpPr txBox="1"/>
          <p:nvPr/>
        </p:nvSpPr>
        <p:spPr>
          <a:xfrm>
            <a:off x="6675120" y="26700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 +48% は 6 検査中 4 つで攻め。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経済的 LTV/CAC は約 2 倍、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定常の ROTCE 約 15%</a:t>
            </a:r>
            <a:endParaRPr lang="en-US" sz="950" dirty="0"/>
          </a:p>
        </p:txBody>
      </p:sp>
      <p:sp>
        <p:nvSpPr>
          <p:cNvPr id="53" name="ovl_card_down0"/>
          <p:cNvSpPr/>
          <p:nvPr/>
        </p:nvSpPr>
        <p:spPr>
          <a:xfrm>
            <a:off x="457200" y="3977640"/>
            <a:ext cx="2834640" cy="1691640"/>
          </a:xfrm>
          <a:prstGeom prst="rect">
            <a:avLst/>
          </a:prstGeom>
          <a:solidFill>
            <a:srgbClr val="F2F2F2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54" name="cn_down0"/>
          <p:cNvSpPr txBox="1"/>
          <p:nvPr/>
        </p:nvSpPr>
        <p:spPr>
          <a:xfrm>
            <a:off x="548640" y="4069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</a:t>
            </a:r>
            <a:endParaRPr lang="en-US" sz="950" dirty="0"/>
          </a:p>
        </p:txBody>
      </p:sp>
      <p:sp>
        <p:nvSpPr>
          <p:cNvPr id="55" name="ovl_badge"/>
          <p:cNvSpPr/>
          <p:nvPr/>
        </p:nvSpPr>
        <p:spPr>
          <a:xfrm>
            <a:off x="932688" y="4069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56" name="ovl_badge_t"/>
          <p:cNvSpPr txBox="1"/>
          <p:nvPr/>
        </p:nvSpPr>
        <p:spPr>
          <a:xfrm>
            <a:off x="93268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300" dirty="0"/>
          </a:p>
        </p:txBody>
      </p:sp>
      <p:sp>
        <p:nvSpPr>
          <p:cNvPr id="57" name="no_down0_0"/>
          <p:cNvSpPr txBox="1"/>
          <p:nvPr/>
        </p:nvSpPr>
        <p:spPr>
          <a:xfrm>
            <a:off x="1344168" y="406908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</a:t>
            </a:r>
            <a:endParaRPr lang="en-US" sz="950" dirty="0"/>
          </a:p>
        </p:txBody>
      </p:sp>
      <p:sp>
        <p:nvSpPr>
          <p:cNvPr id="58" name="h_down0"/>
          <p:cNvSpPr txBox="1"/>
          <p:nvPr/>
        </p:nvSpPr>
        <p:spPr>
          <a:xfrm>
            <a:off x="548640" y="4507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自己資本の律速と買い手への依存</a:t>
            </a:r>
            <a:endParaRPr lang="en-US" sz="1100" dirty="0"/>
          </a:p>
        </p:txBody>
      </p:sp>
      <p:sp>
        <p:nvSpPr>
          <p:cNvPr id="59" name="b_down0"/>
          <p:cNvSpPr txBox="1"/>
          <p:nvPr/>
        </p:nvSpPr>
        <p:spPr>
          <a:xfrm>
            <a:off x="548640" y="481888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自給率 0.34。LPB への配分は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49% → 29% と逆方向で、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年に資本の下限で試される</a:t>
            </a:r>
            <a:endParaRPr lang="en-US" sz="950" dirty="0"/>
          </a:p>
        </p:txBody>
      </p:sp>
      <p:sp>
        <p:nvSpPr>
          <p:cNvPr id="60" name="ovl_card_down1"/>
          <p:cNvSpPr/>
          <p:nvPr/>
        </p:nvSpPr>
        <p:spPr>
          <a:xfrm>
            <a:off x="3520440" y="3977640"/>
            <a:ext cx="2834640" cy="1691640"/>
          </a:xfrm>
          <a:prstGeom prst="rect">
            <a:avLst/>
          </a:prstGeom>
          <a:solidFill>
            <a:srgbClr val="F2F2F2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61" name="cn_down1"/>
          <p:cNvSpPr txBox="1"/>
          <p:nvPr/>
        </p:nvSpPr>
        <p:spPr>
          <a:xfrm>
            <a:off x="3611880" y="4069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</a:t>
            </a:r>
            <a:endParaRPr lang="en-US" sz="950" dirty="0"/>
          </a:p>
        </p:txBody>
      </p:sp>
      <p:sp>
        <p:nvSpPr>
          <p:cNvPr id="62" name="ovl_badge"/>
          <p:cNvSpPr/>
          <p:nvPr/>
        </p:nvSpPr>
        <p:spPr>
          <a:xfrm>
            <a:off x="3995928" y="4069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63" name="ovl_badge_t"/>
          <p:cNvSpPr txBox="1"/>
          <p:nvPr/>
        </p:nvSpPr>
        <p:spPr>
          <a:xfrm>
            <a:off x="399592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300" dirty="0"/>
          </a:p>
        </p:txBody>
      </p:sp>
      <p:sp>
        <p:nvSpPr>
          <p:cNvPr id="64" name="no_down1_0"/>
          <p:cNvSpPr txBox="1"/>
          <p:nvPr/>
        </p:nvSpPr>
        <p:spPr>
          <a:xfrm>
            <a:off x="4407408" y="406908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950" dirty="0"/>
          </a:p>
        </p:txBody>
      </p:sp>
      <p:sp>
        <p:nvSpPr>
          <p:cNvPr id="65" name="h_down1"/>
          <p:cNvSpPr txBox="1"/>
          <p:nvPr/>
        </p:nvSpPr>
        <p:spPr>
          <a:xfrm>
            <a:off x="3611880" y="4507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ローンの商品性</a:t>
            </a:r>
            <a:endParaRPr lang="en-US" sz="1100" dirty="0"/>
          </a:p>
        </p:txBody>
      </p:sp>
      <p:sp>
        <p:nvSpPr>
          <p:cNvPr id="66" name="b_down1"/>
          <p:cNvSpPr txBox="1"/>
          <p:nvPr/>
        </p:nvSpPr>
        <p:spPr>
          <a:xfrm>
            <a:off x="3611880" y="481888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ローンは買い手がほぼ額面と手数料で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買う市場の商品で、金利帯も競合と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重なり、利ざやを守りにくい</a:t>
            </a:r>
            <a:endParaRPr lang="en-US" sz="950" dirty="0"/>
          </a:p>
        </p:txBody>
      </p:sp>
      <p:sp>
        <p:nvSpPr>
          <p:cNvPr id="67" name="ovl_card_down2"/>
          <p:cNvSpPr/>
          <p:nvPr/>
        </p:nvSpPr>
        <p:spPr>
          <a:xfrm>
            <a:off x="6583680" y="3977640"/>
            <a:ext cx="2834640" cy="1691640"/>
          </a:xfrm>
          <a:prstGeom prst="rect">
            <a:avLst/>
          </a:prstGeom>
          <a:solidFill>
            <a:srgbClr val="F2F2F2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68" name="cn_down2"/>
          <p:cNvSpPr txBox="1"/>
          <p:nvPr/>
        </p:nvSpPr>
        <p:spPr>
          <a:xfrm>
            <a:off x="6675120" y="40690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</a:t>
            </a:r>
            <a:endParaRPr lang="en-US" sz="950" dirty="0"/>
          </a:p>
        </p:txBody>
      </p:sp>
      <p:sp>
        <p:nvSpPr>
          <p:cNvPr id="69" name="ovl_badge"/>
          <p:cNvSpPr/>
          <p:nvPr/>
        </p:nvSpPr>
        <p:spPr>
          <a:xfrm>
            <a:off x="7059168" y="4069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70" name="ovl_badge_t"/>
          <p:cNvSpPr txBox="1"/>
          <p:nvPr/>
        </p:nvSpPr>
        <p:spPr>
          <a:xfrm>
            <a:off x="7059168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300" dirty="0"/>
          </a:p>
        </p:txBody>
      </p:sp>
      <p:sp>
        <p:nvSpPr>
          <p:cNvPr id="71" name="no_down2_0"/>
          <p:cNvSpPr txBox="1"/>
          <p:nvPr/>
        </p:nvSpPr>
        <p:spPr>
          <a:xfrm>
            <a:off x="7470648" y="406908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950" dirty="0"/>
          </a:p>
        </p:txBody>
      </p:sp>
      <p:sp>
        <p:nvSpPr>
          <p:cNvPr id="72" name="h_down2"/>
          <p:cNvSpPr txBox="1"/>
          <p:nvPr/>
        </p:nvSpPr>
        <p:spPr>
          <a:xfrm>
            <a:off x="6675120" y="4507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金利に弱い評価と信用</a:t>
            </a:r>
            <a:endParaRPr lang="en-US" sz="1100" dirty="0"/>
          </a:p>
        </p:txBody>
      </p:sp>
      <p:sp>
        <p:nvSpPr>
          <p:cNvPr id="73" name="b_down2"/>
          <p:cNvSpPr txBox="1"/>
          <p:nvPr/>
        </p:nvSpPr>
        <p:spPr>
          <a:xfrm>
            <a:off x="6675120" y="481888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公正価値の割引率が金利に連動し、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金利上昇でマークが下がる。景気後退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なら貸倒も増える</a:t>
            </a:r>
            <a:endParaRPr lang="en-US" sz="950" dirty="0"/>
          </a:p>
        </p:txBody>
      </p:sp>
      <p:sp>
        <p:nvSpPr>
          <p:cNvPr id="74" name="ovl_band"/>
          <p:cNvSpPr/>
          <p:nvPr/>
        </p:nvSpPr>
        <p:spPr>
          <a:xfrm>
            <a:off x="9829800" y="1828800"/>
            <a:ext cx="1901952" cy="3840480"/>
          </a:xfrm>
          <a:prstGeom prst="rect">
            <a:avLst/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75" name="ovl_badge"/>
          <p:cNvSpPr/>
          <p:nvPr/>
        </p:nvSpPr>
        <p:spPr>
          <a:xfrm>
            <a:off x="10140696" y="2880360"/>
            <a:ext cx="1280160" cy="1280160"/>
          </a:xfrm>
          <a:prstGeom prst="roundRect">
            <a:avLst>
              <a:gd name="adj" fmla="val 5714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76" name="ovl_badge_t"/>
          <p:cNvSpPr txBox="1"/>
          <p:nvPr/>
        </p:nvSpPr>
        <p:spPr>
          <a:xfrm>
            <a:off x="10140696" y="288036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4200" dirty="0"/>
          </a:p>
        </p:txBody>
      </p:sp>
      <p:sp>
        <p:nvSpPr>
          <p:cNvPr id="77" name="band_label"/>
          <p:cNvSpPr txBox="1"/>
          <p:nvPr/>
        </p:nvSpPr>
        <p:spPr>
          <a:xfrm>
            <a:off x="9829800" y="42976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1400" dirty="0"/>
          </a:p>
        </p:txBody>
      </p:sp>
      <p:sp>
        <p:nvSpPr>
          <p:cNvPr id="78" name="ovl_arrow"/>
          <p:cNvSpPr/>
          <p:nvPr/>
        </p:nvSpPr>
        <p:spPr>
          <a:xfrm>
            <a:off x="9418320" y="2674620"/>
            <a:ext cx="411480" cy="914"/>
          </a:xfrm>
          <a:prstGeom prst="line">
            <a:avLst/>
          </a:prstGeom>
          <a:noFill/>
          <a:ln w="12700">
            <a:solidFill>
              <a:srgbClr val="197A56"/>
            </a:solidFill>
            <a:prstDash val="solid"/>
            <a:tailEnd type="triangle"/>
          </a:ln>
        </p:spPr>
      </p:sp>
      <p:sp>
        <p:nvSpPr>
          <p:cNvPr id="79" name="ovl_arrow"/>
          <p:cNvSpPr/>
          <p:nvPr/>
        </p:nvSpPr>
        <p:spPr>
          <a:xfrm>
            <a:off x="9418320" y="4823460"/>
            <a:ext cx="411480" cy="914"/>
          </a:xfrm>
          <a:prstGeom prst="line">
            <a:avLst/>
          </a:prstGeom>
          <a:noFill/>
          <a:ln w="12700">
            <a:solidFill>
              <a:srgbClr val="C0392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4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agend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agenda_lbl"/>
          <p:cNvSpPr txBox="1"/>
          <p:nvPr/>
        </p:nvSpPr>
        <p:spPr>
          <a:xfrm>
            <a:off x="73152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bg_agenda_n0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bg_agenda_nt0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bg_agenda_ch0"/>
          <p:cNvSpPr txBox="1"/>
          <p:nvPr/>
        </p:nvSpPr>
        <p:spPr>
          <a:xfrm>
            <a:off x="1417320" y="1444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評価総括</a:t>
            </a:r>
            <a:endParaRPr lang="en-US" sz="1800" dirty="0"/>
          </a:p>
        </p:txBody>
      </p:sp>
      <p:sp>
        <p:nvSpPr>
          <p:cNvPr id="7" name="bg_agenda_n1"/>
          <p:cNvSpPr/>
          <p:nvPr/>
        </p:nvSpPr>
        <p:spPr>
          <a:xfrm>
            <a:off x="777240" y="2395728"/>
            <a:ext cx="457200" cy="457200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g_agenda_nt1"/>
          <p:cNvSpPr txBox="1"/>
          <p:nvPr/>
        </p:nvSpPr>
        <p:spPr>
          <a:xfrm>
            <a:off x="7772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bg_agenda_ch1"/>
          <p:cNvSpPr txBox="1"/>
          <p:nvPr/>
        </p:nvSpPr>
        <p:spPr>
          <a:xfrm>
            <a:off x="1417320" y="2377440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事業・資金・成長</a:t>
            </a:r>
            <a:endParaRPr lang="en-US" sz="1800" dirty="0"/>
          </a:p>
        </p:txBody>
      </p:sp>
      <p:sp>
        <p:nvSpPr>
          <p:cNvPr id="10" name="bg_agenda_why1"/>
          <p:cNvSpPr txBox="1"/>
          <p:nvPr/>
        </p:nvSpPr>
        <p:spPr>
          <a:xfrm>
            <a:off x="1417320" y="2852928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何で稼ぎ、会社がどんな筋書きを描き、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資金・資本・信用がそれを支えるかを確かめる。価値評価の前提になる</a:t>
            </a:r>
            <a:endParaRPr lang="en-US" sz="1000" dirty="0"/>
          </a:p>
        </p:txBody>
      </p:sp>
      <p:sp>
        <p:nvSpPr>
          <p:cNvPr id="11" name="bg_agenda_n2"/>
          <p:cNvSpPr/>
          <p:nvPr/>
        </p:nvSpPr>
        <p:spPr>
          <a:xfrm>
            <a:off x="777240" y="3328416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bg_agenda_nt2"/>
          <p:cNvSpPr txBox="1"/>
          <p:nvPr/>
        </p:nvSpPr>
        <p:spPr>
          <a:xfrm>
            <a:off x="7772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bg_agenda_ch2"/>
          <p:cNvSpPr txBox="1"/>
          <p:nvPr/>
        </p:nvSpPr>
        <p:spPr>
          <a:xfrm>
            <a:off x="1417320" y="3310128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成長の尺度</a:t>
            </a:r>
            <a:endParaRPr lang="en-US" sz="1800" dirty="0"/>
          </a:p>
        </p:txBody>
      </p:sp>
      <p:sp>
        <p:nvSpPr>
          <p:cNvPr id="14" name="bg_agenda_n3"/>
          <p:cNvSpPr/>
          <p:nvPr/>
        </p:nvSpPr>
        <p:spPr>
          <a:xfrm>
            <a:off x="777240" y="4261104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bg_agenda_nt3"/>
          <p:cNvSpPr txBox="1"/>
          <p:nvPr/>
        </p:nvSpPr>
        <p:spPr>
          <a:xfrm>
            <a:off x="7772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bg_agenda_ch3"/>
          <p:cNvSpPr txBox="1"/>
          <p:nvPr/>
        </p:nvSpPr>
        <p:spPr>
          <a:xfrm>
            <a:off x="1417320" y="4242816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13条件の構造分析</a:t>
            </a:r>
            <a:endParaRPr lang="en-US" sz="1800" dirty="0"/>
          </a:p>
        </p:txBody>
      </p:sp>
      <p:sp>
        <p:nvSpPr>
          <p:cNvPr id="17" name="bg_agenda_n4"/>
          <p:cNvSpPr/>
          <p:nvPr/>
        </p:nvSpPr>
        <p:spPr>
          <a:xfrm>
            <a:off x="777240" y="5193792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bg_agenda_nt4"/>
          <p:cNvSpPr txBox="1"/>
          <p:nvPr/>
        </p:nvSpPr>
        <p:spPr>
          <a:xfrm>
            <a:off x="7772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bg_agenda_ch4"/>
          <p:cNvSpPr txBox="1"/>
          <p:nvPr/>
        </p:nvSpPr>
        <p:spPr>
          <a:xfrm>
            <a:off x="1417320" y="5175504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バリュエーション・リスク・投資アクション</a:t>
            </a:r>
            <a:endParaRPr lang="en-US" sz="1800" dirty="0"/>
          </a:p>
        </p:txBody>
      </p:sp>
      <p:sp>
        <p:nvSpPr>
          <p:cNvPr id="20" name="bg_agenda_rule"/>
          <p:cNvSpPr/>
          <p:nvPr/>
        </p:nvSpPr>
        <p:spPr>
          <a:xfrm>
            <a:off x="7543800" y="1463040"/>
            <a:ext cx="0" cy="4389120"/>
          </a:xfrm>
          <a:prstGeom prst="line">
            <a:avLst/>
          </a:prstGeom>
          <a:noFill/>
          <a:ln w="9525">
            <a:solidFill>
              <a:srgbClr val="86C99B"/>
            </a:solidFill>
            <a:prstDash val="solid"/>
          </a:ln>
        </p:spPr>
      </p:sp>
      <p:sp>
        <p:nvSpPr>
          <p:cNvPr id="21" name="bg_agenda_sh"/>
          <p:cNvSpPr txBox="1"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第2章の構成</a:t>
            </a:r>
            <a:endParaRPr lang="en-US" sz="1300" dirty="0"/>
          </a:p>
        </p:txBody>
      </p:sp>
      <p:sp>
        <p:nvSpPr>
          <p:cNvPr id="22" name="bg_agenda_s0"/>
          <p:cNvSpPr txBox="1"/>
          <p:nvPr/>
        </p:nvSpPr>
        <p:spPr>
          <a:xfrm>
            <a:off x="781812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2-1  事業理解</a:t>
            </a:r>
            <a:endParaRPr lang="en-US" sz="1250" dirty="0"/>
          </a:p>
        </p:txBody>
      </p:sp>
      <p:sp>
        <p:nvSpPr>
          <p:cNvPr id="23" name="bg_agenda_p0"/>
          <p:cNvSpPr txBox="1"/>
          <p:nvPr/>
        </p:nvSpPr>
        <p:spPr>
          <a:xfrm>
            <a:off x="10881360" y="1920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p.8–10</a:t>
            </a:r>
            <a:endParaRPr lang="en-US" sz="1050" dirty="0"/>
          </a:p>
        </p:txBody>
      </p:sp>
      <p:sp>
        <p:nvSpPr>
          <p:cNvPr id="24" name="bg_agenda_s1"/>
          <p:cNvSpPr txBox="1"/>
          <p:nvPr/>
        </p:nvSpPr>
        <p:spPr>
          <a:xfrm>
            <a:off x="781812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2-2  会社のシナリオ</a:t>
            </a:r>
            <a:endParaRPr lang="en-US" sz="1250" dirty="0"/>
          </a:p>
        </p:txBody>
      </p:sp>
      <p:sp>
        <p:nvSpPr>
          <p:cNvPr id="25" name="bg_agenda_p1"/>
          <p:cNvSpPr txBox="1"/>
          <p:nvPr/>
        </p:nvSpPr>
        <p:spPr>
          <a:xfrm>
            <a:off x="10881360" y="23774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p.11–12</a:t>
            </a:r>
            <a:endParaRPr lang="en-US" sz="1050" dirty="0"/>
          </a:p>
        </p:txBody>
      </p:sp>
      <p:sp>
        <p:nvSpPr>
          <p:cNvPr id="26" name="bg_agenda_s2"/>
          <p:cNvSpPr txBox="1"/>
          <p:nvPr/>
        </p:nvSpPr>
        <p:spPr>
          <a:xfrm>
            <a:off x="78181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2-3  収益構造</a:t>
            </a:r>
            <a:endParaRPr lang="en-US" sz="1250" dirty="0"/>
          </a:p>
        </p:txBody>
      </p:sp>
      <p:sp>
        <p:nvSpPr>
          <p:cNvPr id="27" name="bg_agenda_p2"/>
          <p:cNvSpPr txBox="1"/>
          <p:nvPr/>
        </p:nvSpPr>
        <p:spPr>
          <a:xfrm>
            <a:off x="10881360" y="28346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p.13–14</a:t>
            </a:r>
            <a:endParaRPr lang="en-US" sz="1050" dirty="0"/>
          </a:p>
        </p:txBody>
      </p:sp>
      <p:sp>
        <p:nvSpPr>
          <p:cNvPr id="28" name="bg_agenda_s3"/>
          <p:cNvSpPr txBox="1"/>
          <p:nvPr/>
        </p:nvSpPr>
        <p:spPr>
          <a:xfrm>
            <a:off x="781812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2-4  競争優位</a:t>
            </a:r>
            <a:endParaRPr lang="en-US" sz="1250" dirty="0"/>
          </a:p>
        </p:txBody>
      </p:sp>
      <p:sp>
        <p:nvSpPr>
          <p:cNvPr id="29" name="bg_agenda_p3"/>
          <p:cNvSpPr txBox="1"/>
          <p:nvPr/>
        </p:nvSpPr>
        <p:spPr>
          <a:xfrm>
            <a:off x="10881360" y="32918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p.15</a:t>
            </a:r>
            <a:endParaRPr lang="en-US" sz="1050" dirty="0"/>
          </a:p>
        </p:txBody>
      </p:sp>
      <p:sp>
        <p:nvSpPr>
          <p:cNvPr id="30" name="bg_agenda_s4"/>
          <p:cNvSpPr txBox="1"/>
          <p:nvPr/>
        </p:nvSpPr>
        <p:spPr>
          <a:xfrm>
            <a:off x="7818120" y="3749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2-5  資金と信用</a:t>
            </a:r>
            <a:endParaRPr lang="en-US" sz="1250" dirty="0"/>
          </a:p>
        </p:txBody>
      </p:sp>
      <p:sp>
        <p:nvSpPr>
          <p:cNvPr id="31" name="bg_agenda_p4"/>
          <p:cNvSpPr txBox="1"/>
          <p:nvPr/>
        </p:nvSpPr>
        <p:spPr>
          <a:xfrm>
            <a:off x="10881360" y="37490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p.16–17</a:t>
            </a:r>
            <a:endParaRPr lang="en-US" sz="1050" dirty="0"/>
          </a:p>
        </p:txBody>
      </p:sp>
      <p:sp>
        <p:nvSpPr>
          <p:cNvPr id="32" name="bg_agenda_s5"/>
          <p:cNvSpPr txBox="1"/>
          <p:nvPr/>
        </p:nvSpPr>
        <p:spPr>
          <a:xfrm>
            <a:off x="781812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2-6  成長の前提</a:t>
            </a:r>
            <a:endParaRPr lang="en-US" sz="1250" dirty="0"/>
          </a:p>
        </p:txBody>
      </p:sp>
      <p:sp>
        <p:nvSpPr>
          <p:cNvPr id="33" name="bg_agenda_p5"/>
          <p:cNvSpPr txBox="1"/>
          <p:nvPr/>
        </p:nvSpPr>
        <p:spPr>
          <a:xfrm>
            <a:off x="10881360" y="4206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p.18</a:t>
            </a:r>
            <a:endParaRPr lang="en-US" sz="1050" dirty="0"/>
          </a:p>
        </p:txBody>
      </p:sp>
      <p:sp>
        <p:nvSpPr>
          <p:cNvPr id="34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2-1 事業理解(1/3)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事業理解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が何を誰にどう売るかを押さえる。以降の分析はすべてこの区分の上に立つ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は会員 1,580 万人に預金・投資・ローンを重ねて売る。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 3 分の 2 は、預金で安く集めた資金の貸出の利ざや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事業の積み木(何を、どの資金で売るか)。右: 8 群の 5W1H 台帳。下: この資料で使う用語の注釈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決算・10-Q)、research_r2/R9_products_people.md(各社の価格表の第三者集計)、research_r2/R5・R6。Q2 2026 = 2026 年 4〜6 月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事業の積み木(層 × 資金の出どころ)</a:t>
            </a:r>
            <a:endParaRPr lang="en-US" sz="1200" dirty="0"/>
          </a:p>
        </p:txBody>
      </p:sp>
      <p:sp>
        <p:nvSpPr>
          <p:cNvPr id="22" name="blk_colh0"/>
          <p:cNvSpPr txBox="1"/>
          <p:nvPr/>
        </p:nvSpPr>
        <p:spPr>
          <a:xfrm>
            <a:off x="1371600" y="1792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自社の資金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(B/S)</a:t>
            </a:r>
            <a:endParaRPr lang="en-US" sz="900" dirty="0"/>
          </a:p>
        </p:txBody>
      </p:sp>
      <p:sp>
        <p:nvSpPr>
          <p:cNvPr id="23" name="blk_colh1"/>
          <p:cNvSpPr txBox="1"/>
          <p:nvPr/>
        </p:nvSpPr>
        <p:spPr>
          <a:xfrm>
            <a:off x="2423160" y="1792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他社の資金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(LPB)</a:t>
            </a:r>
            <a:endParaRPr lang="en-US" sz="900" dirty="0"/>
          </a:p>
        </p:txBody>
      </p:sp>
      <p:sp>
        <p:nvSpPr>
          <p:cNvPr id="24" name="blk_colh2"/>
          <p:cNvSpPr txBox="1"/>
          <p:nvPr/>
        </p:nvSpPr>
        <p:spPr>
          <a:xfrm>
            <a:off x="3474720" y="17922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他社へ提供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(B2B)</a:t>
            </a:r>
            <a:endParaRPr lang="en-US" sz="900" dirty="0"/>
          </a:p>
        </p:txBody>
      </p:sp>
      <p:sp>
        <p:nvSpPr>
          <p:cNvPr id="25" name="blk_rowh0"/>
          <p:cNvSpPr txBox="1"/>
          <p:nvPr/>
        </p:nvSpPr>
        <p:spPr>
          <a:xfrm>
            <a:off x="457200" y="210312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借りる</a:t>
            </a:r>
            <a:endParaRPr lang="en-US" sz="900" dirty="0"/>
          </a:p>
        </p:txBody>
      </p:sp>
      <p:sp>
        <p:nvSpPr>
          <p:cNvPr id="26" name="blk_rowh1"/>
          <p:cNvSpPr txBox="1"/>
          <p:nvPr/>
        </p:nvSpPr>
        <p:spPr>
          <a:xfrm>
            <a:off x="457200" y="283464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預ける・使う</a:t>
            </a:r>
            <a:endParaRPr lang="en-US" sz="900" dirty="0"/>
          </a:p>
        </p:txBody>
      </p:sp>
      <p:sp>
        <p:nvSpPr>
          <p:cNvPr id="27" name="blk_rowh2"/>
          <p:cNvSpPr txBox="1"/>
          <p:nvPr/>
        </p:nvSpPr>
        <p:spPr>
          <a:xfrm>
            <a:off x="457200" y="356616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増やす</a:t>
            </a:r>
            <a:endParaRPr lang="en-US" sz="900" dirty="0"/>
          </a:p>
        </p:txBody>
      </p:sp>
      <p:sp>
        <p:nvSpPr>
          <p:cNvPr id="28" name="blk_rowh3"/>
          <p:cNvSpPr txBox="1"/>
          <p:nvPr/>
        </p:nvSpPr>
        <p:spPr>
          <a:xfrm>
            <a:off x="457200" y="42976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土台</a:t>
            </a:r>
            <a:endParaRPr lang="en-US" sz="900" dirty="0"/>
          </a:p>
        </p:txBody>
      </p:sp>
      <p:sp>
        <p:nvSpPr>
          <p:cNvPr id="29" name="blk_c00"/>
          <p:cNvSpPr/>
          <p:nvPr/>
        </p:nvSpPr>
        <p:spPr>
          <a:xfrm>
            <a:off x="1371600" y="210312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0E4D33"/>
          </a:solidFill>
          <a:ln w="9525">
            <a:solidFill>
              <a:srgbClr val="0E4D33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学生ローン・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住宅ローン</a:t>
            </a:r>
            <a:endParaRPr lang="en-US" sz="850" dirty="0"/>
          </a:p>
        </p:txBody>
      </p:sp>
      <p:sp>
        <p:nvSpPr>
          <p:cNvPr id="30" name="blk_c01"/>
          <p:cNvSpPr/>
          <p:nvPr/>
        </p:nvSpPr>
        <p:spPr>
          <a:xfrm>
            <a:off x="2423160" y="210312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197A56"/>
          </a:solidFill>
          <a:ln w="9525">
            <a:solidFill>
              <a:srgbClr val="197A5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(個人・中小企業・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ホームエクイティ)</a:t>
            </a:r>
            <a:endParaRPr lang="en-US" sz="850" dirty="0"/>
          </a:p>
        </p:txBody>
      </p:sp>
      <p:sp>
        <p:nvSpPr>
          <p:cNvPr id="31" name="blk_c02"/>
          <p:cNvSpPr/>
          <p:nvPr/>
        </p:nvSpPr>
        <p:spPr>
          <a:xfrm>
            <a:off x="3474720" y="210312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9525">
            <a:solidFill>
              <a:srgbClr val="F2F2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—</a:t>
            </a:r>
            <a:endParaRPr lang="en-US" sz="850" dirty="0"/>
          </a:p>
        </p:txBody>
      </p:sp>
      <p:sp>
        <p:nvSpPr>
          <p:cNvPr id="32" name="blk_c10"/>
          <p:cNvSpPr/>
          <p:nvPr/>
        </p:nvSpPr>
        <p:spPr>
          <a:xfrm>
            <a:off x="1371600" y="28346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0E4D33"/>
          </a:solidFill>
          <a:ln w="9525">
            <a:solidFill>
              <a:srgbClr val="0E4D33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Money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(預金・カード)</a:t>
            </a:r>
            <a:endParaRPr lang="en-US" sz="850" dirty="0"/>
          </a:p>
        </p:txBody>
      </p:sp>
      <p:sp>
        <p:nvSpPr>
          <p:cNvPr id="33" name="blk_c11"/>
          <p:cNvSpPr/>
          <p:nvPr/>
        </p:nvSpPr>
        <p:spPr>
          <a:xfrm>
            <a:off x="2423160" y="28346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暗号資産</a:t>
            </a:r>
            <a:endParaRPr lang="en-US" sz="850" dirty="0"/>
          </a:p>
        </p:txBody>
      </p:sp>
      <p:sp>
        <p:nvSpPr>
          <p:cNvPr id="34" name="blk_c12"/>
          <p:cNvSpPr/>
          <p:nvPr/>
        </p:nvSpPr>
        <p:spPr>
          <a:xfrm>
            <a:off x="3474720" y="283464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法人銀行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(Big Business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Banking)</a:t>
            </a:r>
            <a:endParaRPr lang="en-US" sz="850" dirty="0"/>
          </a:p>
        </p:txBody>
      </p:sp>
      <p:sp>
        <p:nvSpPr>
          <p:cNvPr id="35" name="blk_c20"/>
          <p:cNvSpPr/>
          <p:nvPr/>
        </p:nvSpPr>
        <p:spPr>
          <a:xfrm>
            <a:off x="1371600" y="356616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Invest・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Plus(月 10 ドル)</a:t>
            </a:r>
            <a:endParaRPr lang="en-US" sz="850" dirty="0"/>
          </a:p>
        </p:txBody>
      </p:sp>
      <p:sp>
        <p:nvSpPr>
          <p:cNvPr id="36" name="blk_c21"/>
          <p:cNvSpPr/>
          <p:nvPr/>
        </p:nvSpPr>
        <p:spPr>
          <a:xfrm>
            <a:off x="2423160" y="356616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 w="9525">
            <a:solidFill>
              <a:srgbClr val="F2F2F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—</a:t>
            </a:r>
            <a:endParaRPr lang="en-US" sz="850" dirty="0"/>
          </a:p>
        </p:txBody>
      </p:sp>
      <p:sp>
        <p:nvSpPr>
          <p:cNvPr id="37" name="blk_c22"/>
          <p:cNvSpPr/>
          <p:nvPr/>
        </p:nvSpPr>
        <p:spPr>
          <a:xfrm>
            <a:off x="3474720" y="3566160"/>
            <a:ext cx="100584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Technisys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(口座の基盤)</a:t>
            </a:r>
            <a:endParaRPr lang="en-US" sz="850" dirty="0"/>
          </a:p>
        </p:txBody>
      </p:sp>
      <p:sp>
        <p:nvSpPr>
          <p:cNvPr id="38" name="blk_base"/>
          <p:cNvSpPr/>
          <p:nvPr/>
        </p:nvSpPr>
        <p:spPr>
          <a:xfrm>
            <a:off x="1371600" y="4297680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銀行免許(SoFi Bank, N.A.、2022 年)と自社の技術基盤</a:t>
            </a:r>
            <a:endParaRPr lang="en-US" sz="850" dirty="0"/>
          </a:p>
        </p:txBody>
      </p:sp>
      <p:sp>
        <p:nvSpPr>
          <p:cNvPr id="39" name="blk_legend"/>
          <p:cNvSpPr txBox="1"/>
          <p:nvPr/>
        </p:nvSpPr>
        <p:spPr>
          <a:xfrm>
            <a:off x="457200" y="475488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濃緑 = 利益の柱、緑 = 成長、薄緑 = 上積み</a:t>
            </a:r>
            <a:endParaRPr lang="en-US" sz="850" dirty="0"/>
          </a:p>
        </p:txBody>
      </p:sp>
      <p:sp>
        <p:nvSpPr>
          <p:cNvPr id="40" name="pane_head"/>
          <p:cNvSpPr txBox="1"/>
          <p:nvPr/>
        </p:nvSpPr>
        <p:spPr>
          <a:xfrm>
            <a:off x="4709160" y="1481328"/>
            <a:ext cx="7022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 群の 5W1H 台帳(規模は Q2 2026)</a:t>
            </a:r>
            <a:endParaRPr lang="en-US" sz="1200" dirty="0"/>
          </a:p>
        </p:txBody>
      </p:sp>
      <p:graphicFrame>
        <p:nvGraphicFramePr>
          <p:cNvPr id="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810512"/>
          <a:ext cx="702259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554480"/>
                <a:gridCol w="2011680"/>
                <a:gridCol w="1463040"/>
                <a:gridCol w="71323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群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誰が買う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何を・どう課金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規模(前年比)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役割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(B/S で保有)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FICO 746・年収 15.8 万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ドルの会員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固定 6.99〜35.49%・手数料 0〜7%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平均クーポン 13.0%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残高 261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107 億(+54%)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利益の柱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学生ローン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(借換・大学院)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FICO 765 の会員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大学院生(Grad PLUS 廃止)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大学院 固定 2.45〜14.83%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平均クーポン 5.9%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残高 161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27 億(+170%)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成長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Blue Owl・Fortress など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投資家と銀行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組成して引き渡し、手数料 4.6%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サービシングは保持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31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 1.41 億(+11%)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成長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 Money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(預金・カード)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給与振込の会員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(預金の約 9 割)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普通預金 3.30%(条件付き)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インターチェンジ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 455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口座 790 万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利益の柱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 Invest・Plus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個人投資家・会員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売買手数料 0 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Plus は月 10 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口座 390 万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Plus 有料 20.6 万人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BA1A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上積み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住宅ローン・HE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住宅を持つ会員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固定金利。売却または LPB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14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(+74%)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選択的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Tech Platform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(Galileo)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フィンテック・銀行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口座数・処理件数に課金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 0.85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(−23%)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縮小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新領域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中小企業・法人・会員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中小企業ローン・SoFiUSD・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暗号資産・法人銀行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SoFiUSD 流通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3 億ドル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選択的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2" name="pane_head"/>
          <p:cNvSpPr txBox="1"/>
          <p:nvPr/>
        </p:nvSpPr>
        <p:spPr>
          <a:xfrm>
            <a:off x="457200" y="510235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用語の注釈(この資料に出てくる順)</a:t>
            </a:r>
            <a:endParaRPr lang="en-US" sz="1200" dirty="0"/>
          </a:p>
        </p:txBody>
      </p:sp>
      <p:sp>
        <p:nvSpPr>
          <p:cNvPr id="43" name="note_0"/>
          <p:cNvSpPr txBox="1"/>
          <p:nvPr/>
        </p:nvSpPr>
        <p:spPr>
          <a:xfrm>
            <a:off x="457200" y="541324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SoFi の製品を 1 つ以上持つ顧客。1,580 万人(+35%)</a:t>
            </a:r>
            <a:endParaRPr lang="en-US" sz="850" dirty="0"/>
          </a:p>
        </p:txBody>
      </p:sp>
      <p:sp>
        <p:nvSpPr>
          <p:cNvPr id="44" name="note_1"/>
          <p:cNvSpPr txBox="1"/>
          <p:nvPr/>
        </p:nvSpPr>
        <p:spPr>
          <a:xfrm>
            <a:off x="457200" y="559612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会員が持つ口座・ローンの数。会員当たり 1.54</a:t>
            </a:r>
            <a:endParaRPr lang="en-US" sz="850" dirty="0"/>
          </a:p>
        </p:txBody>
      </p:sp>
      <p:sp>
        <p:nvSpPr>
          <p:cNvPr id="45" name="note_2"/>
          <p:cNvSpPr txBox="1"/>
          <p:nvPr/>
        </p:nvSpPr>
        <p:spPr>
          <a:xfrm>
            <a:off x="457200" y="577900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新製品のうち既存会員が開いた比率。51%</a:t>
            </a:r>
            <a:endParaRPr lang="en-US" sz="850" dirty="0"/>
          </a:p>
        </p:txBody>
      </p:sp>
      <p:sp>
        <p:nvSpPr>
          <p:cNvPr id="46" name="note_3"/>
          <p:cNvSpPr txBox="1"/>
          <p:nvPr/>
        </p:nvSpPr>
        <p:spPr>
          <a:xfrm>
            <a:off x="457200" y="596188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他社の資金でローンを組成し手数料を得る事業</a:t>
            </a:r>
            <a:endParaRPr lang="en-US" sz="850" dirty="0"/>
          </a:p>
        </p:txBody>
      </p:sp>
      <p:sp>
        <p:nvSpPr>
          <p:cNvPr id="47" name="note_4"/>
          <p:cNvSpPr txBox="1"/>
          <p:nvPr/>
        </p:nvSpPr>
        <p:spPr>
          <a:xfrm>
            <a:off x="4251960" y="541324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利付資産に対する純金利収益の比率。5.98%</a:t>
            </a:r>
            <a:endParaRPr lang="en-US" sz="850" dirty="0"/>
          </a:p>
        </p:txBody>
      </p:sp>
      <p:sp>
        <p:nvSpPr>
          <p:cNvPr id="48" name="note_5"/>
          <p:cNvSpPr txBox="1"/>
          <p:nvPr/>
        </p:nvSpPr>
        <p:spPr>
          <a:xfrm>
            <a:off x="4251960" y="559612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公正価値(マーク)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ローンを時価で評価した額面比。個人 104.7%</a:t>
            </a:r>
            <a:endParaRPr lang="en-US" sz="850" dirty="0"/>
          </a:p>
        </p:txBody>
      </p:sp>
      <p:sp>
        <p:nvSpPr>
          <p:cNvPr id="49" name="note_6"/>
          <p:cNvSpPr txBox="1"/>
          <p:nvPr/>
        </p:nvSpPr>
        <p:spPr>
          <a:xfrm>
            <a:off x="4251960" y="577900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貸倒率(all-in)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売却した延滞債権を足し戻した純償却率</a:t>
            </a:r>
            <a:endParaRPr lang="en-US" sz="850" dirty="0"/>
          </a:p>
        </p:txBody>
      </p:sp>
      <p:sp>
        <p:nvSpPr>
          <p:cNvPr id="50" name="note_7"/>
          <p:cNvSpPr txBox="1"/>
          <p:nvPr/>
        </p:nvSpPr>
        <p:spPr>
          <a:xfrm>
            <a:off x="4251960" y="596188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有形自己資本に対する利益率。7〜9%</a:t>
            </a:r>
            <a:endParaRPr lang="en-US" sz="850" dirty="0"/>
          </a:p>
        </p:txBody>
      </p:sp>
      <p:sp>
        <p:nvSpPr>
          <p:cNvPr id="51" name="note_8"/>
          <p:cNvSpPr txBox="1"/>
          <p:nvPr/>
        </p:nvSpPr>
        <p:spPr>
          <a:xfrm>
            <a:off x="8046720" y="541324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TBV(TBVPS)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有形自己資本(1 株当たり 7.34 ドル)</a:t>
            </a:r>
            <a:endParaRPr lang="en-US" sz="850" dirty="0"/>
          </a:p>
        </p:txBody>
      </p:sp>
      <p:sp>
        <p:nvSpPr>
          <p:cNvPr id="52" name="note_9"/>
          <p:cNvSpPr txBox="1"/>
          <p:nvPr/>
        </p:nvSpPr>
        <p:spPr>
          <a:xfrm>
            <a:off x="8046720" y="559612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自己資本 ÷ リスク資産(RWA)。18.8%</a:t>
            </a:r>
            <a:endParaRPr lang="en-US" sz="850" dirty="0"/>
          </a:p>
        </p:txBody>
      </p:sp>
      <p:sp>
        <p:nvSpPr>
          <p:cNvPr id="53" name="note_10"/>
          <p:cNvSpPr txBox="1"/>
          <p:nvPr/>
        </p:nvSpPr>
        <p:spPr>
          <a:xfrm>
            <a:off x="8046720" y="577900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倉庫ライン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銀行から借りる短期の資金枠。預金より高い</a:t>
            </a:r>
            <a:endParaRPr lang="en-US" sz="850" dirty="0"/>
          </a:p>
        </p:txBody>
      </p:sp>
      <p:sp>
        <p:nvSpPr>
          <p:cNvPr id="54" name="note_11"/>
          <p:cNvSpPr txBox="1"/>
          <p:nvPr/>
        </p:nvSpPr>
        <p:spPr>
          <a:xfrm>
            <a:off x="8046720" y="5961888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— SoFi Bank が発行するドル連動のステーブルコイン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2-1 事業理解(2/3)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事業理解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事業どうしが会員と資金をどう受け渡すかを見る。単体の売上より、つながりが成長を生むため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会員の預金が安い資金となって自社の貸出を支え、資本で抱えきれない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ローンは手数料を取って外部の投資家へ流す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会員 → SoFi の事業(資金を集める柱 → 稼ぐ柱)→ 資金の出し手・提携先。①〜⑦ は右の「仕組み」と対応。数値は Q2 2026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決算・10-Q)、research_r2/R5_credit_fv.md・R6_pnl_margin.md・R7_funding_rates_capital.md、research/R1b_kpi.md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800" dirty="0"/>
          </a:p>
        </p:txBody>
      </p:sp>
      <p:sp>
        <p:nvSpPr>
          <p:cNvPr id="21" name="bg_lane0"/>
          <p:cNvSpPr/>
          <p:nvPr/>
        </p:nvSpPr>
        <p:spPr>
          <a:xfrm>
            <a:off x="347472" y="1517904"/>
            <a:ext cx="149961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bg_laneh0"/>
          <p:cNvSpPr/>
          <p:nvPr/>
        </p:nvSpPr>
        <p:spPr>
          <a:xfrm>
            <a:off x="347472" y="1517904"/>
            <a:ext cx="149961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bg_lanet0"/>
          <p:cNvSpPr txBox="1"/>
          <p:nvPr/>
        </p:nvSpPr>
        <p:spPr>
          <a:xfrm>
            <a:off x="347472" y="151790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会員(顧客)</a:t>
            </a:r>
            <a:endParaRPr lang="en-US" sz="950" dirty="0"/>
          </a:p>
        </p:txBody>
      </p:sp>
      <p:sp>
        <p:nvSpPr>
          <p:cNvPr id="24" name="bg_lane1"/>
          <p:cNvSpPr/>
          <p:nvPr/>
        </p:nvSpPr>
        <p:spPr>
          <a:xfrm>
            <a:off x="2420112" y="1517904"/>
            <a:ext cx="3800856" cy="4315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5" name="bg_laneh1"/>
          <p:cNvSpPr/>
          <p:nvPr/>
        </p:nvSpPr>
        <p:spPr>
          <a:xfrm>
            <a:off x="2420112" y="1517904"/>
            <a:ext cx="380085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6" name="bg_lanet1"/>
          <p:cNvSpPr txBox="1"/>
          <p:nvPr/>
        </p:nvSpPr>
        <p:spPr>
          <a:xfrm>
            <a:off x="2420112" y="1517904"/>
            <a:ext cx="3800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の事業</a:t>
            </a:r>
            <a:endParaRPr lang="en-US" sz="950" dirty="0"/>
          </a:p>
        </p:txBody>
      </p:sp>
      <p:sp>
        <p:nvSpPr>
          <p:cNvPr id="27" name="bg_lane2"/>
          <p:cNvSpPr/>
          <p:nvPr/>
        </p:nvSpPr>
        <p:spPr>
          <a:xfrm>
            <a:off x="6793992" y="1517904"/>
            <a:ext cx="159105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8" name="bg_laneh2"/>
          <p:cNvSpPr/>
          <p:nvPr/>
        </p:nvSpPr>
        <p:spPr>
          <a:xfrm>
            <a:off x="6793992" y="1517904"/>
            <a:ext cx="159105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bg_lanet2"/>
          <p:cNvSpPr txBox="1"/>
          <p:nvPr/>
        </p:nvSpPr>
        <p:spPr>
          <a:xfrm>
            <a:off x="6793992" y="151790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資金の出し手・提携先</a:t>
            </a:r>
            <a:endParaRPr lang="en-US" sz="950" dirty="0"/>
          </a:p>
        </p:txBody>
      </p:sp>
      <p:sp>
        <p:nvSpPr>
          <p:cNvPr id="30" name="ovl_grp0"/>
          <p:cNvSpPr/>
          <p:nvPr/>
        </p:nvSpPr>
        <p:spPr>
          <a:xfrm>
            <a:off x="2465832" y="1911096"/>
            <a:ext cx="1499616" cy="2753650"/>
          </a:xfrm>
          <a:prstGeom prst="roundRect">
            <a:avLst>
              <a:gd name="adj" fmla="val 36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1" name="ovl_grp1"/>
          <p:cNvSpPr/>
          <p:nvPr/>
        </p:nvSpPr>
        <p:spPr>
          <a:xfrm>
            <a:off x="4629912" y="1911096"/>
            <a:ext cx="1545336" cy="3689822"/>
          </a:xfrm>
          <a:prstGeom prst="roundRect">
            <a:avLst>
              <a:gd name="adj" fmla="val 3550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2" name="ovl_s08b_e0_0"/>
          <p:cNvSpPr/>
          <p:nvPr/>
        </p:nvSpPr>
        <p:spPr>
          <a:xfrm>
            <a:off x="1737360" y="2351750"/>
            <a:ext cx="79248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3" name="ovl_s08b_e1_0"/>
          <p:cNvSpPr/>
          <p:nvPr/>
        </p:nvSpPr>
        <p:spPr>
          <a:xfrm>
            <a:off x="3901440" y="2351750"/>
            <a:ext cx="79248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4" name="ovl_s08b_e2_0"/>
          <p:cNvSpPr/>
          <p:nvPr/>
        </p:nvSpPr>
        <p:spPr>
          <a:xfrm flipV="1">
            <a:off x="1298448" y="2962656"/>
            <a:ext cx="914" cy="436735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35" name="ovl_s08b_e2_1"/>
          <p:cNvSpPr/>
          <p:nvPr/>
        </p:nvSpPr>
        <p:spPr>
          <a:xfrm>
            <a:off x="1298448" y="2962656"/>
            <a:ext cx="3921252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36" name="ovl_s08b_e2_2"/>
          <p:cNvSpPr/>
          <p:nvPr/>
        </p:nvSpPr>
        <p:spPr>
          <a:xfrm flipV="1">
            <a:off x="5219700" y="2708366"/>
            <a:ext cx="914" cy="254290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7" name="ovl_s08b_e3_0"/>
          <p:cNvSpPr/>
          <p:nvPr/>
        </p:nvSpPr>
        <p:spPr>
          <a:xfrm>
            <a:off x="5036820" y="2708366"/>
            <a:ext cx="914" cy="98842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</a:ln>
        </p:spPr>
      </p:sp>
      <p:sp>
        <p:nvSpPr>
          <p:cNvPr id="38" name="ovl_s08b_e3_1"/>
          <p:cNvSpPr/>
          <p:nvPr/>
        </p:nvSpPr>
        <p:spPr>
          <a:xfrm flipH="1">
            <a:off x="896112" y="2807208"/>
            <a:ext cx="4140708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</a:ln>
        </p:spPr>
      </p:sp>
      <p:sp>
        <p:nvSpPr>
          <p:cNvPr id="39" name="ovl_s08b_e3_2"/>
          <p:cNvSpPr/>
          <p:nvPr/>
        </p:nvSpPr>
        <p:spPr>
          <a:xfrm>
            <a:off x="896112" y="2807208"/>
            <a:ext cx="914" cy="592183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40" name="ovl_s08b_e4_0"/>
          <p:cNvSpPr/>
          <p:nvPr/>
        </p:nvSpPr>
        <p:spPr>
          <a:xfrm>
            <a:off x="5402580" y="2708366"/>
            <a:ext cx="914" cy="691025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41" name="ovl_s08b_e5_0"/>
          <p:cNvSpPr/>
          <p:nvPr/>
        </p:nvSpPr>
        <p:spPr>
          <a:xfrm>
            <a:off x="6111240" y="3673711"/>
            <a:ext cx="79248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42" name="ovl_s08b_e6_0"/>
          <p:cNvSpPr/>
          <p:nvPr/>
        </p:nvSpPr>
        <p:spPr>
          <a:xfrm flipH="1">
            <a:off x="6111240" y="3838303"/>
            <a:ext cx="79248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3" name="ovl_s08b_e7_0"/>
          <p:cNvSpPr/>
          <p:nvPr/>
        </p:nvSpPr>
        <p:spPr>
          <a:xfrm>
            <a:off x="7589520" y="2708366"/>
            <a:ext cx="914" cy="565186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44" name="ovl_s08b_e7_1"/>
          <p:cNvSpPr/>
          <p:nvPr/>
        </p:nvSpPr>
        <p:spPr>
          <a:xfrm flipH="1">
            <a:off x="3215640" y="3273552"/>
            <a:ext cx="437388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45" name="ovl_s08b_e7_2"/>
          <p:cNvSpPr/>
          <p:nvPr/>
        </p:nvSpPr>
        <p:spPr>
          <a:xfrm>
            <a:off x="3215640" y="3273552"/>
            <a:ext cx="914" cy="125839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6" name="ovl_s08b_e8_0"/>
          <p:cNvSpPr/>
          <p:nvPr/>
        </p:nvSpPr>
        <p:spPr>
          <a:xfrm>
            <a:off x="3901440" y="3756007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7" name="ovl_s08b_e8_1"/>
          <p:cNvSpPr/>
          <p:nvPr/>
        </p:nvSpPr>
        <p:spPr>
          <a:xfrm flipV="1">
            <a:off x="4297680" y="2461478"/>
            <a:ext cx="914" cy="1294529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8" name="ovl_s08b_e8_2"/>
          <p:cNvSpPr/>
          <p:nvPr/>
        </p:nvSpPr>
        <p:spPr>
          <a:xfrm>
            <a:off x="4297680" y="2461478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9" name="ovl_s08b_e9_0"/>
          <p:cNvSpPr/>
          <p:nvPr/>
        </p:nvSpPr>
        <p:spPr>
          <a:xfrm flipV="1">
            <a:off x="868680" y="4434840"/>
            <a:ext cx="914" cy="36880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50" name="ovl_s08b_e9_1"/>
          <p:cNvSpPr/>
          <p:nvPr/>
        </p:nvSpPr>
        <p:spPr>
          <a:xfrm>
            <a:off x="868680" y="4434840"/>
            <a:ext cx="43510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51" name="ovl_s08b_e9_2"/>
          <p:cNvSpPr/>
          <p:nvPr/>
        </p:nvSpPr>
        <p:spPr>
          <a:xfrm>
            <a:off x="5219700" y="4434840"/>
            <a:ext cx="914" cy="36880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52" name="ovl_s08b_e10_0"/>
          <p:cNvSpPr/>
          <p:nvPr/>
        </p:nvSpPr>
        <p:spPr>
          <a:xfrm flipV="1">
            <a:off x="5585460" y="4187952"/>
            <a:ext cx="914" cy="615696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3" name="ovl_s08b_e10_1"/>
          <p:cNvSpPr/>
          <p:nvPr/>
        </p:nvSpPr>
        <p:spPr>
          <a:xfrm flipH="1">
            <a:off x="1325880" y="4187952"/>
            <a:ext cx="425958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4" name="ovl_s08b_e10_2"/>
          <p:cNvSpPr/>
          <p:nvPr/>
        </p:nvSpPr>
        <p:spPr>
          <a:xfrm flipV="1">
            <a:off x="1325880" y="4112623"/>
            <a:ext cx="914" cy="75329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55" name="ovl_s08b_e11_0"/>
          <p:cNvSpPr/>
          <p:nvPr/>
        </p:nvSpPr>
        <p:spPr>
          <a:xfrm>
            <a:off x="7589520" y="5516880"/>
            <a:ext cx="914" cy="152400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56" name="ovl_s08b_e11_1"/>
          <p:cNvSpPr/>
          <p:nvPr/>
        </p:nvSpPr>
        <p:spPr>
          <a:xfrm flipH="1">
            <a:off x="3215640" y="5669280"/>
            <a:ext cx="437388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57" name="ovl_s08b_e11_2"/>
          <p:cNvSpPr/>
          <p:nvPr/>
        </p:nvSpPr>
        <p:spPr>
          <a:xfrm flipV="1">
            <a:off x="3215640" y="5516880"/>
            <a:ext cx="914" cy="152400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58" name="ovl_s08b_n_dd"/>
          <p:cNvSpPr/>
          <p:nvPr/>
        </p:nvSpPr>
        <p:spPr>
          <a:xfrm>
            <a:off x="457200" y="1995134"/>
            <a:ext cx="1280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9" name="ovl_s08b_nt_dd"/>
          <p:cNvSpPr txBox="1"/>
          <p:nvPr/>
        </p:nvSpPr>
        <p:spPr>
          <a:xfrm>
            <a:off x="493776" y="202256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給与振込の会員</a:t>
            </a:r>
            <a:endParaRPr lang="en-US" sz="1000" dirty="0"/>
          </a:p>
        </p:txBody>
      </p:sp>
      <p:sp>
        <p:nvSpPr>
          <p:cNvPr id="60" name="ovl_s08b_ns_dd"/>
          <p:cNvSpPr txBox="1"/>
          <p:nvPr/>
        </p:nvSpPr>
        <p:spPr>
          <a:xfrm>
            <a:off x="502920" y="2228306"/>
            <a:ext cx="1188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1,580 万人(+35%)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預金の約 9 割</a:t>
            </a:r>
            <a:endParaRPr lang="en-US" sz="850" dirty="0"/>
          </a:p>
        </p:txBody>
      </p:sp>
      <p:sp>
        <p:nvSpPr>
          <p:cNvPr id="61" name="ovl_s08b_n_borrow"/>
          <p:cNvSpPr/>
          <p:nvPr/>
        </p:nvSpPr>
        <p:spPr>
          <a:xfrm>
            <a:off x="457200" y="3399391"/>
            <a:ext cx="1280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62" name="ovl_s08b_nt_borrow"/>
          <p:cNvSpPr txBox="1"/>
          <p:nvPr/>
        </p:nvSpPr>
        <p:spPr>
          <a:xfrm>
            <a:off x="493776" y="3426823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借りる会員</a:t>
            </a:r>
            <a:endParaRPr lang="en-US" sz="1000" dirty="0"/>
          </a:p>
        </p:txBody>
      </p:sp>
      <p:sp>
        <p:nvSpPr>
          <p:cNvPr id="63" name="ovl_s08b_ns_borrow"/>
          <p:cNvSpPr txBox="1"/>
          <p:nvPr/>
        </p:nvSpPr>
        <p:spPr>
          <a:xfrm>
            <a:off x="502920" y="3632563"/>
            <a:ext cx="1188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FICO 746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年収 15.8 万ドル</a:t>
            </a:r>
            <a:endParaRPr lang="en-US" sz="850" dirty="0"/>
          </a:p>
        </p:txBody>
      </p:sp>
      <p:sp>
        <p:nvSpPr>
          <p:cNvPr id="64" name="ovl_s08b_n_inv"/>
          <p:cNvSpPr/>
          <p:nvPr/>
        </p:nvSpPr>
        <p:spPr>
          <a:xfrm>
            <a:off x="457200" y="4803648"/>
            <a:ext cx="1280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65" name="ovl_s08b_nt_inv"/>
          <p:cNvSpPr txBox="1"/>
          <p:nvPr/>
        </p:nvSpPr>
        <p:spPr>
          <a:xfrm>
            <a:off x="493776" y="4831080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投資・Plus の会員</a:t>
            </a:r>
            <a:endParaRPr lang="en-US" sz="900" dirty="0"/>
          </a:p>
        </p:txBody>
      </p:sp>
      <p:sp>
        <p:nvSpPr>
          <p:cNvPr id="66" name="ovl_s08b_ns_inv"/>
          <p:cNvSpPr txBox="1"/>
          <p:nvPr/>
        </p:nvSpPr>
        <p:spPr>
          <a:xfrm>
            <a:off x="502920" y="5036820"/>
            <a:ext cx="1188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Invest 390 万口座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Plus 有料 20.6 万人</a:t>
            </a:r>
            <a:endParaRPr lang="en-US" sz="850" dirty="0"/>
          </a:p>
        </p:txBody>
      </p:sp>
      <p:sp>
        <p:nvSpPr>
          <p:cNvPr id="67" name="ovl_s08b_n_dep"/>
          <p:cNvSpPr/>
          <p:nvPr/>
        </p:nvSpPr>
        <p:spPr>
          <a:xfrm>
            <a:off x="2529840" y="1995134"/>
            <a:ext cx="1371600" cy="713232"/>
          </a:xfrm>
          <a:prstGeom prst="roundRect">
            <a:avLst>
              <a:gd name="adj" fmla="val 7692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68" name="ovl_s08b_nt_dep"/>
          <p:cNvSpPr txBox="1"/>
          <p:nvPr/>
        </p:nvSpPr>
        <p:spPr>
          <a:xfrm>
            <a:off x="2566416" y="2022566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Money(預金)</a:t>
            </a:r>
            <a:endParaRPr lang="en-US" sz="1000" dirty="0"/>
          </a:p>
        </p:txBody>
      </p:sp>
      <p:sp>
        <p:nvSpPr>
          <p:cNvPr id="69" name="ovl_s08b_ns_dep"/>
          <p:cNvSpPr txBox="1"/>
          <p:nvPr/>
        </p:nvSpPr>
        <p:spPr>
          <a:xfrm>
            <a:off x="2575560" y="2228306"/>
            <a:ext cx="12801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455 億ドル・平均 3.07%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倉庫ラインより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1.56pt 安い</a:t>
            </a:r>
            <a:endParaRPr lang="en-US" sz="850" dirty="0"/>
          </a:p>
        </p:txBody>
      </p:sp>
      <p:sp>
        <p:nvSpPr>
          <p:cNvPr id="70" name="ovl_s08b_n_cap"/>
          <p:cNvSpPr/>
          <p:nvPr/>
        </p:nvSpPr>
        <p:spPr>
          <a:xfrm>
            <a:off x="2529840" y="3399391"/>
            <a:ext cx="1371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1" name="ovl_s08b_nt_cap"/>
          <p:cNvSpPr txBox="1"/>
          <p:nvPr/>
        </p:nvSpPr>
        <p:spPr>
          <a:xfrm>
            <a:off x="2566416" y="3426823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銀行免許と自己資本</a:t>
            </a:r>
            <a:endParaRPr lang="en-US" sz="1000" dirty="0"/>
          </a:p>
        </p:txBody>
      </p:sp>
      <p:sp>
        <p:nvSpPr>
          <p:cNvPr id="72" name="ovl_s08b_ns_cap"/>
          <p:cNvSpPr txBox="1"/>
          <p:nvPr/>
        </p:nvSpPr>
        <p:spPr>
          <a:xfrm>
            <a:off x="2575560" y="3632563"/>
            <a:ext cx="12801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 18.8%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(半年で −4.1pt)</a:t>
            </a:r>
            <a:endParaRPr lang="en-US" sz="850" dirty="0"/>
          </a:p>
        </p:txBody>
      </p:sp>
      <p:sp>
        <p:nvSpPr>
          <p:cNvPr id="73" name="ovl_s08b_n_tp"/>
          <p:cNvSpPr/>
          <p:nvPr/>
        </p:nvSpPr>
        <p:spPr>
          <a:xfrm>
            <a:off x="2529840" y="4803648"/>
            <a:ext cx="1371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4" name="ovl_s08b_nt_tp"/>
          <p:cNvSpPr txBox="1"/>
          <p:nvPr/>
        </p:nvSpPr>
        <p:spPr>
          <a:xfrm>
            <a:off x="2566416" y="4831080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</a:t>
            </a:r>
            <a:endParaRPr lang="en-US" sz="1000" dirty="0"/>
          </a:p>
        </p:txBody>
      </p:sp>
      <p:sp>
        <p:nvSpPr>
          <p:cNvPr id="75" name="ovl_s08b_ns_tp"/>
          <p:cNvSpPr txBox="1"/>
          <p:nvPr/>
        </p:nvSpPr>
        <p:spPr>
          <a:xfrm>
            <a:off x="2575560" y="5036820"/>
            <a:ext cx="12801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 0.85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(−23%、大口が離脱)</a:t>
            </a:r>
            <a:endParaRPr lang="en-US" sz="850" dirty="0"/>
          </a:p>
        </p:txBody>
      </p:sp>
      <p:sp>
        <p:nvSpPr>
          <p:cNvPr id="76" name="ovl_s08b_n_bs"/>
          <p:cNvSpPr/>
          <p:nvPr/>
        </p:nvSpPr>
        <p:spPr>
          <a:xfrm>
            <a:off x="4693920" y="1995134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77" name="ovl_s08b_nt_bs"/>
          <p:cNvSpPr txBox="1"/>
          <p:nvPr/>
        </p:nvSpPr>
        <p:spPr>
          <a:xfrm>
            <a:off x="4730496" y="2022566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</a:t>
            </a:r>
            <a:endParaRPr lang="en-US" sz="1000" dirty="0"/>
          </a:p>
        </p:txBody>
      </p:sp>
      <p:sp>
        <p:nvSpPr>
          <p:cNvPr id="78" name="ovl_s08b_ns_bs"/>
          <p:cNvSpPr txBox="1"/>
          <p:nvPr/>
        </p:nvSpPr>
        <p:spPr>
          <a:xfrm>
            <a:off x="4739640" y="2228306"/>
            <a:ext cx="1325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 261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学生 161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5.98%</a:t>
            </a:r>
            <a:endParaRPr lang="en-US" sz="850" dirty="0"/>
          </a:p>
        </p:txBody>
      </p:sp>
      <p:sp>
        <p:nvSpPr>
          <p:cNvPr id="79" name="ovl_s08b_n_lpb"/>
          <p:cNvSpPr/>
          <p:nvPr/>
        </p:nvSpPr>
        <p:spPr>
          <a:xfrm>
            <a:off x="4693920" y="3399391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80" name="ovl_s08b_nt_lpb"/>
          <p:cNvSpPr txBox="1"/>
          <p:nvPr/>
        </p:nvSpPr>
        <p:spPr>
          <a:xfrm>
            <a:off x="4730496" y="3426823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</a:t>
            </a:r>
            <a:endParaRPr lang="en-US" sz="1000" dirty="0"/>
          </a:p>
        </p:txBody>
      </p:sp>
      <p:sp>
        <p:nvSpPr>
          <p:cNvPr id="81" name="ovl_s08b_ns_lpb"/>
          <p:cNvSpPr txBox="1"/>
          <p:nvPr/>
        </p:nvSpPr>
        <p:spPr>
          <a:xfrm>
            <a:off x="4739640" y="3632563"/>
            <a:ext cx="1325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 31 億ドル/四半期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 4.6%</a:t>
            </a:r>
            <a:endParaRPr lang="en-US" sz="850" dirty="0"/>
          </a:p>
        </p:txBody>
      </p:sp>
      <p:sp>
        <p:nvSpPr>
          <p:cNvPr id="82" name="ovl_s08b_n_fs"/>
          <p:cNvSpPr/>
          <p:nvPr/>
        </p:nvSpPr>
        <p:spPr>
          <a:xfrm>
            <a:off x="4693920" y="4803648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83" name="ovl_s08b_nt_fs"/>
          <p:cNvSpPr txBox="1"/>
          <p:nvPr/>
        </p:nvSpPr>
        <p:spPr>
          <a:xfrm>
            <a:off x="4730496" y="4831080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FS 手数料</a:t>
            </a:r>
            <a:endParaRPr lang="en-US" sz="1000" dirty="0"/>
          </a:p>
        </p:txBody>
      </p:sp>
      <p:sp>
        <p:nvSpPr>
          <p:cNvPr id="84" name="ovl_s08b_ns_fs"/>
          <p:cNvSpPr txBox="1"/>
          <p:nvPr/>
        </p:nvSpPr>
        <p:spPr>
          <a:xfrm>
            <a:off x="4739640" y="5036820"/>
            <a:ext cx="1325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インターチェンジ・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売買・Plus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0.87 億ドル(+81%)</a:t>
            </a:r>
            <a:endParaRPr lang="en-US" sz="850" dirty="0"/>
          </a:p>
        </p:txBody>
      </p:sp>
      <p:sp>
        <p:nvSpPr>
          <p:cNvPr id="85" name="ovl_s08b_n_eq"/>
          <p:cNvSpPr/>
          <p:nvPr/>
        </p:nvSpPr>
        <p:spPr>
          <a:xfrm>
            <a:off x="6903720" y="1995134"/>
            <a:ext cx="1371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86" name="ovl_s08b_nt_eq"/>
          <p:cNvSpPr txBox="1"/>
          <p:nvPr/>
        </p:nvSpPr>
        <p:spPr>
          <a:xfrm>
            <a:off x="6940296" y="2022566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株主</a:t>
            </a:r>
            <a:endParaRPr lang="en-US" sz="1000" dirty="0"/>
          </a:p>
        </p:txBody>
      </p:sp>
      <p:sp>
        <p:nvSpPr>
          <p:cNvPr id="87" name="ovl_s08b_ns_eq"/>
          <p:cNvSpPr txBox="1"/>
          <p:nvPr/>
        </p:nvSpPr>
        <p:spPr>
          <a:xfrm>
            <a:off x="6949440" y="2228306"/>
            <a:ext cx="12801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年に増資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33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(20.85・27.50 ドル)</a:t>
            </a:r>
            <a:endParaRPr lang="en-US" sz="850" dirty="0"/>
          </a:p>
        </p:txBody>
      </p:sp>
      <p:sp>
        <p:nvSpPr>
          <p:cNvPr id="88" name="ovl_s08b_n_buyers"/>
          <p:cNvSpPr/>
          <p:nvPr/>
        </p:nvSpPr>
        <p:spPr>
          <a:xfrm>
            <a:off x="6903720" y="3399391"/>
            <a:ext cx="1371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89" name="ovl_s08b_nt_buyers"/>
          <p:cNvSpPr txBox="1"/>
          <p:nvPr/>
        </p:nvSpPr>
        <p:spPr>
          <a:xfrm>
            <a:off x="6940296" y="3426823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ローンの買い手</a:t>
            </a:r>
            <a:endParaRPr lang="en-US" sz="1000" dirty="0"/>
          </a:p>
        </p:txBody>
      </p:sp>
      <p:sp>
        <p:nvSpPr>
          <p:cNvPr id="90" name="ovl_s08b_ns_buyers"/>
          <p:cNvSpPr txBox="1"/>
          <p:nvPr/>
        </p:nvSpPr>
        <p:spPr>
          <a:xfrm>
            <a:off x="6949440" y="3632563"/>
            <a:ext cx="12801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Blue Owl・Fortress・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 100 億ドル超</a:t>
            </a:r>
            <a:endParaRPr lang="en-US" sz="850" dirty="0"/>
          </a:p>
        </p:txBody>
      </p:sp>
      <p:sp>
        <p:nvSpPr>
          <p:cNvPr id="91" name="ovl_s08b_n_b2b"/>
          <p:cNvSpPr/>
          <p:nvPr/>
        </p:nvSpPr>
        <p:spPr>
          <a:xfrm>
            <a:off x="6903720" y="4803648"/>
            <a:ext cx="1371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92" name="ovl_s08b_nt_b2b"/>
          <p:cNvSpPr txBox="1"/>
          <p:nvPr/>
        </p:nvSpPr>
        <p:spPr>
          <a:xfrm>
            <a:off x="6940296" y="4831080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フィンテック・銀行</a:t>
            </a:r>
            <a:endParaRPr lang="en-US" sz="1000" dirty="0"/>
          </a:p>
        </p:txBody>
      </p:sp>
      <p:sp>
        <p:nvSpPr>
          <p:cNvPr id="93" name="ovl_s08b_ns_b2b"/>
          <p:cNvSpPr txBox="1"/>
          <p:nvPr/>
        </p:nvSpPr>
        <p:spPr>
          <a:xfrm>
            <a:off x="6949440" y="5036820"/>
            <a:ext cx="12801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 の顧客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口座 1.35 億</a:t>
            </a:r>
            <a:endParaRPr lang="en-US" sz="850" dirty="0"/>
          </a:p>
        </p:txBody>
      </p:sp>
      <p:sp>
        <p:nvSpPr>
          <p:cNvPr id="94" name="ovl_s08b_lab0"/>
          <p:cNvSpPr txBox="1"/>
          <p:nvPr/>
        </p:nvSpPr>
        <p:spPr>
          <a:xfrm>
            <a:off x="1769783" y="2118578"/>
            <a:ext cx="72763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</a:t>
            </a:r>
            <a:endParaRPr lang="en-US" sz="850" dirty="0"/>
          </a:p>
        </p:txBody>
      </p:sp>
      <p:sp>
        <p:nvSpPr>
          <p:cNvPr id="95" name="ovl_s08b_lab1"/>
          <p:cNvSpPr txBox="1"/>
          <p:nvPr/>
        </p:nvSpPr>
        <p:spPr>
          <a:xfrm>
            <a:off x="3933863" y="2118578"/>
            <a:ext cx="72763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安い資金</a:t>
            </a:r>
            <a:endParaRPr lang="en-US" sz="850" dirty="0"/>
          </a:p>
        </p:txBody>
      </p:sp>
      <p:sp>
        <p:nvSpPr>
          <p:cNvPr id="96" name="ovl_s08b_lab2"/>
          <p:cNvSpPr txBox="1"/>
          <p:nvPr/>
        </p:nvSpPr>
        <p:spPr>
          <a:xfrm>
            <a:off x="1344168" y="3078153"/>
            <a:ext cx="72180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利息 13%</a:t>
            </a:r>
            <a:endParaRPr lang="en-US" sz="850" dirty="0"/>
          </a:p>
        </p:txBody>
      </p:sp>
      <p:sp>
        <p:nvSpPr>
          <p:cNvPr id="97" name="ovl_s08b_lab4"/>
          <p:cNvSpPr txBox="1"/>
          <p:nvPr/>
        </p:nvSpPr>
        <p:spPr>
          <a:xfrm>
            <a:off x="5448300" y="2951008"/>
            <a:ext cx="107739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抱えきれない分</a:t>
            </a:r>
            <a:endParaRPr lang="en-US" sz="850" dirty="0"/>
          </a:p>
        </p:txBody>
      </p:sp>
      <p:sp>
        <p:nvSpPr>
          <p:cNvPr id="98" name="ovl_s08b_lab5"/>
          <p:cNvSpPr txBox="1"/>
          <p:nvPr/>
        </p:nvSpPr>
        <p:spPr>
          <a:xfrm>
            <a:off x="6141720" y="3298807"/>
            <a:ext cx="731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ローンを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引き渡す</a:t>
            </a:r>
            <a:endParaRPr lang="en-US" sz="850" dirty="0"/>
          </a:p>
        </p:txBody>
      </p:sp>
      <p:sp>
        <p:nvSpPr>
          <p:cNvPr id="99" name="ovl_s08b_lab6"/>
          <p:cNvSpPr txBox="1"/>
          <p:nvPr/>
        </p:nvSpPr>
        <p:spPr>
          <a:xfrm>
            <a:off x="6141720" y="3865735"/>
            <a:ext cx="731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額面+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</a:t>
            </a:r>
            <a:endParaRPr lang="en-US" sz="850" dirty="0"/>
          </a:p>
        </p:txBody>
      </p:sp>
      <p:sp>
        <p:nvSpPr>
          <p:cNvPr id="100" name="ovl_s08b_lab7"/>
          <p:cNvSpPr txBox="1"/>
          <p:nvPr/>
        </p:nvSpPr>
        <p:spPr>
          <a:xfrm>
            <a:off x="7635240" y="2888089"/>
            <a:ext cx="49446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増資</a:t>
            </a:r>
            <a:endParaRPr lang="en-US" sz="850" dirty="0"/>
          </a:p>
        </p:txBody>
      </p:sp>
      <p:sp>
        <p:nvSpPr>
          <p:cNvPr id="101" name="ovl_s08b_lab8"/>
          <p:cNvSpPr txBox="1"/>
          <p:nvPr/>
        </p:nvSpPr>
        <p:spPr>
          <a:xfrm>
            <a:off x="4343400" y="3033304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資本が上限</a:t>
            </a:r>
            <a:endParaRPr lang="en-US" sz="850" dirty="0"/>
          </a:p>
        </p:txBody>
      </p:sp>
      <p:sp>
        <p:nvSpPr>
          <p:cNvPr id="102" name="ovl_s08b_lab9"/>
          <p:cNvSpPr txBox="1"/>
          <p:nvPr/>
        </p:nvSpPr>
        <p:spPr>
          <a:xfrm>
            <a:off x="2563787" y="4201668"/>
            <a:ext cx="96080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手数料・会費</a:t>
            </a:r>
            <a:endParaRPr lang="en-US" sz="850" dirty="0"/>
          </a:p>
        </p:txBody>
      </p:sp>
      <p:sp>
        <p:nvSpPr>
          <p:cNvPr id="103" name="ovl_s08b_lab10"/>
          <p:cNvSpPr txBox="1"/>
          <p:nvPr/>
        </p:nvSpPr>
        <p:spPr>
          <a:xfrm>
            <a:off x="5631180" y="4392930"/>
            <a:ext cx="1071563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51%</a:t>
            </a:r>
            <a:endParaRPr lang="en-US" sz="850" dirty="0"/>
          </a:p>
        </p:txBody>
      </p:sp>
      <p:sp>
        <p:nvSpPr>
          <p:cNvPr id="104" name="ovl_s08b_lab11"/>
          <p:cNvSpPr txBox="1"/>
          <p:nvPr/>
        </p:nvSpPr>
        <p:spPr>
          <a:xfrm>
            <a:off x="3954056" y="5436108"/>
            <a:ext cx="611048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⑦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処理料</a:t>
            </a:r>
            <a:endParaRPr lang="en-US" sz="850" dirty="0"/>
          </a:p>
        </p:txBody>
      </p:sp>
      <p:sp>
        <p:nvSpPr>
          <p:cNvPr id="105" name="ovl_s08b_glab0"/>
          <p:cNvSpPr txBox="1"/>
          <p:nvPr/>
        </p:nvSpPr>
        <p:spPr>
          <a:xfrm>
            <a:off x="2557272" y="1828800"/>
            <a:ext cx="8575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資金を集める柱</a:t>
            </a:r>
            <a:endParaRPr lang="en-US" sz="800" dirty="0"/>
          </a:p>
        </p:txBody>
      </p:sp>
      <p:sp>
        <p:nvSpPr>
          <p:cNvPr id="106" name="ovl_s08b_glab1"/>
          <p:cNvSpPr txBox="1"/>
          <p:nvPr/>
        </p:nvSpPr>
        <p:spPr>
          <a:xfrm>
            <a:off x="4721352" y="1828800"/>
            <a:ext cx="4511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稼ぐ柱</a:t>
            </a:r>
            <a:endParaRPr lang="en-US" sz="800" dirty="0"/>
          </a:p>
        </p:txBody>
      </p:sp>
      <p:sp>
        <p:nvSpPr>
          <p:cNvPr id="107" name="ovl_s08b_leg0"/>
          <p:cNvSpPr/>
          <p:nvPr/>
        </p:nvSpPr>
        <p:spPr>
          <a:xfrm>
            <a:off x="457200" y="5971032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108" name="ovl_s08b_legt0"/>
          <p:cNvSpPr txBox="1"/>
          <p:nvPr/>
        </p:nvSpPr>
        <p:spPr>
          <a:xfrm>
            <a:off x="87782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109" name="ovl_s08b_leg1"/>
          <p:cNvSpPr/>
          <p:nvPr/>
        </p:nvSpPr>
        <p:spPr>
          <a:xfrm>
            <a:off x="1874520" y="5971032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110" name="ovl_s08b_legt1"/>
          <p:cNvSpPr txBox="1"/>
          <p:nvPr/>
        </p:nvSpPr>
        <p:spPr>
          <a:xfrm>
            <a:off x="229514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111" name="ovl_s08b_leg2"/>
          <p:cNvSpPr/>
          <p:nvPr/>
        </p:nvSpPr>
        <p:spPr>
          <a:xfrm>
            <a:off x="3291840" y="5971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12" name="ovl_s08b_legt2"/>
          <p:cNvSpPr txBox="1"/>
          <p:nvPr/>
        </p:nvSpPr>
        <p:spPr>
          <a:xfrm>
            <a:off x="371246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13" name="ovl_s08b_legn"/>
          <p:cNvSpPr txBox="1"/>
          <p:nvPr/>
        </p:nvSpPr>
        <p:spPr>
          <a:xfrm>
            <a:off x="6126480" y="5870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14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15" name="mech"/>
          <p:cNvSpPr txBox="1"/>
          <p:nvPr/>
        </p:nvSpPr>
        <p:spPr>
          <a:xfrm>
            <a:off x="8458200" y="1810512"/>
            <a:ext cx="3276295" cy="33675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給与振込の会員が預金の約 9 割を占め、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455 億ドルを平均 3.07% で集める。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倉庫ラインより 1.56pt 安い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安い預金が B/S の貸出を支え、NIM 5.98%。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 65% はこの利ざや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借りる会員は平均クーポン 13% の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個人ローンを借りる。貸倒は all-in で年 3.7%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資本で抱えきれない分は LPB で買い手へ。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額面+手数料 4.6% で売り、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信用リスクは買い手が負う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貸出の伸びは自己資本で決まる。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年の増資で比率は 22.9% に上がったが、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半年で 18.8% に下がった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投資・Plus・カードの会員は手数料を払い、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新製品の 51% は既存会員が開く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⑦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 は他社に口座の基盤を売るが、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大口顧客の内製化で −23%</a:t>
            </a:r>
            <a:endParaRPr lang="en-US" sz="1100" dirty="0"/>
          </a:p>
        </p:txBody>
      </p:sp>
      <p:sp>
        <p:nvSpPr>
          <p:cNvPr id="116" name="ovl_takeaway_bg"/>
          <p:cNvSpPr/>
          <p:nvPr/>
        </p:nvSpPr>
        <p:spPr>
          <a:xfrm>
            <a:off x="8458200" y="5251196"/>
            <a:ext cx="3276295" cy="83870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17" name="takeaway"/>
          <p:cNvSpPr txBox="1"/>
          <p:nvPr/>
        </p:nvSpPr>
        <p:spPr>
          <a:xfrm>
            <a:off x="8567928" y="5324348"/>
            <a:ext cx="3056839" cy="6924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会員の預金が安い資金になり、自社の貸出の利ざやが収益の 3 分の 2 を生む。伸びの上限は自己資本で、ここが最大の争点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2-1 事業理解(3/3)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成長分野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今後の価値を左右する分野を、規模・伸び・確度で比べ、注目すべき順に絞り込む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注目度が最も高いのは B/S 貸出と LPB。前者は規模で、後者は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資本の上限の先を担えるかで 1 株価値を動かす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成長分野の比較(注目度の高い順)。右: 1 株価値 × 伸びで見た位置。注目度 = 価値への効きが大きいか、伸びが速く結果がまだ決まっていない分野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2026)、calc/out/val.json、research_r2/R9_products_people.md(NBER・各社発表)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800" dirty="0"/>
          </a:p>
        </p:txBody>
      </p:sp>
      <p:graphicFrame>
        <p:nvGraphicFramePr>
          <p:cNvPr id="11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74980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280160"/>
                <a:gridCol w="1234440"/>
                <a:gridCol w="1417320"/>
                <a:gridCol w="160020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分野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規模(Q2 2026)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伸び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株価値への効き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見るべき KPI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注目度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B/S 貸出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(個人・学生)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残高 442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利ざや 7.9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純金利収益 +52%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理論株価の土台。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貸倒 +0.75pt 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−2.0 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自己資本比率・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all-in 貸倒率・NIM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★★★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LPB(手数料型)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31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 1.41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+11%(Q4 2025 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37 億ドルから減速)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資本を使わずに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 を上げる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組成額・手数料率・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買い手の契約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★★★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学生ローン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(Grad PLUS 廃止)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 27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+170%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民間市場に年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80 億ドルの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すき間(NBER)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在学中・大学院の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A1A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FS 手数料・Plus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0.87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Plus 20.6 万人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+81%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小さいが資本不要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Plus 会員(会社は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年で 100 万人)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BA1A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SoFiUSD・暗号資産・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法人銀行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SoFiUSD 流通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3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開始直後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オプション(未計上)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流通残高・取扱額の開示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中小企業ローン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2026-06 開始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BasePoint 3 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開始直後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経由で資本不要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組成額の開示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ovl_takeaway_bg"/>
          <p:cNvSpPr/>
          <p:nvPr/>
        </p:nvSpPr>
        <p:spPr>
          <a:xfrm>
            <a:off x="457200" y="5074920"/>
            <a:ext cx="7498080" cy="73152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3" name="takeaway"/>
          <p:cNvSpPr txBox="1"/>
          <p:nvPr/>
        </p:nvSpPr>
        <p:spPr>
          <a:xfrm>
            <a:off x="566928" y="5148072"/>
            <a:ext cx="727862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貸出は規模で、LPB は資本の上限(2027 年)の先を担えるかで注目度が最も高い。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は足元で停滞。新領域は数字が出るまでオプションとして扱う</a:t>
            </a:r>
            <a:endParaRPr lang="en-US" sz="1100" dirty="0"/>
          </a:p>
        </p:txBody>
      </p:sp>
      <p:sp>
        <p:nvSpPr>
          <p:cNvPr id="24" name="pane_head"/>
          <p:cNvSpPr txBox="1"/>
          <p:nvPr/>
        </p:nvSpPr>
        <p:spPr>
          <a:xfrm>
            <a:off x="8183880" y="148132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株価値 × 伸びで見た位置</a:t>
            </a:r>
            <a:endParaRPr lang="en-US" sz="1200" dirty="0"/>
          </a:p>
        </p:txBody>
      </p:sp>
      <p:sp>
        <p:nvSpPr>
          <p:cNvPr id="25" name="mx_yt"/>
          <p:cNvSpPr txBox="1"/>
          <p:nvPr/>
        </p:nvSpPr>
        <p:spPr>
          <a:xfrm>
            <a:off x="8183880" y="1810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6" name="mx_x0"/>
          <p:cNvSpPr txBox="1"/>
          <p:nvPr/>
        </p:nvSpPr>
        <p:spPr>
          <a:xfrm>
            <a:off x="9189720" y="1810512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伸び 穏やか</a:t>
            </a:r>
            <a:endParaRPr lang="en-US" sz="950" dirty="0"/>
          </a:p>
        </p:txBody>
      </p:sp>
      <p:sp>
        <p:nvSpPr>
          <p:cNvPr id="27" name="mx_x1"/>
          <p:cNvSpPr txBox="1"/>
          <p:nvPr/>
        </p:nvSpPr>
        <p:spPr>
          <a:xfrm>
            <a:off x="10460736" y="1810512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伸び 速い</a:t>
            </a:r>
            <a:endParaRPr lang="en-US" sz="950" dirty="0"/>
          </a:p>
        </p:txBody>
      </p:sp>
      <p:sp>
        <p:nvSpPr>
          <p:cNvPr id="28" name="mx_y0"/>
          <p:cNvSpPr txBox="1"/>
          <p:nvPr/>
        </p:nvSpPr>
        <p:spPr>
          <a:xfrm>
            <a:off x="8183880" y="2176272"/>
            <a:ext cx="960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株価値 大</a:t>
            </a:r>
            <a:endParaRPr lang="en-US" sz="950" dirty="0"/>
          </a:p>
        </p:txBody>
      </p:sp>
      <p:sp>
        <p:nvSpPr>
          <p:cNvPr id="29" name="ovl_mx0_0"/>
          <p:cNvSpPr/>
          <p:nvPr/>
        </p:nvSpPr>
        <p:spPr>
          <a:xfrm>
            <a:off x="9189720" y="2176272"/>
            <a:ext cx="1234440" cy="1289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0" name="mx_t0_0"/>
          <p:cNvSpPr txBox="1"/>
          <p:nvPr/>
        </p:nvSpPr>
        <p:spPr>
          <a:xfrm>
            <a:off x="9235440" y="2203704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LPB(停滞)</a:t>
            </a:r>
            <a:endParaRPr lang="en-US" sz="950" dirty="0"/>
          </a:p>
        </p:txBody>
      </p:sp>
      <p:sp>
        <p:nvSpPr>
          <p:cNvPr id="31" name="ovl_mx1_0"/>
          <p:cNvSpPr/>
          <p:nvPr/>
        </p:nvSpPr>
        <p:spPr>
          <a:xfrm>
            <a:off x="10460736" y="2176272"/>
            <a:ext cx="1234440" cy="1289304"/>
          </a:xfrm>
          <a:prstGeom prst="rect">
            <a:avLst/>
          </a:prstGeom>
          <a:solidFill>
            <a:srgbClr val="197A5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2" name="mx_t1_0"/>
          <p:cNvSpPr txBox="1"/>
          <p:nvPr/>
        </p:nvSpPr>
        <p:spPr>
          <a:xfrm>
            <a:off x="10506456" y="2203704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</a:t>
            </a:r>
            <a:endParaRPr lang="en-US" sz="950" dirty="0"/>
          </a:p>
        </p:txBody>
      </p:sp>
      <p:sp>
        <p:nvSpPr>
          <p:cNvPr id="33" name="mx_y1"/>
          <p:cNvSpPr txBox="1"/>
          <p:nvPr/>
        </p:nvSpPr>
        <p:spPr>
          <a:xfrm>
            <a:off x="8183880" y="3502152"/>
            <a:ext cx="960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株価値 小</a:t>
            </a:r>
            <a:endParaRPr lang="en-US" sz="950" dirty="0"/>
          </a:p>
        </p:txBody>
      </p:sp>
      <p:sp>
        <p:nvSpPr>
          <p:cNvPr id="34" name="ovl_mx0_1"/>
          <p:cNvSpPr/>
          <p:nvPr/>
        </p:nvSpPr>
        <p:spPr>
          <a:xfrm>
            <a:off x="9189720" y="3502152"/>
            <a:ext cx="1234440" cy="1289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5" name="mx_t0_1"/>
          <p:cNvSpPr txBox="1"/>
          <p:nvPr/>
        </p:nvSpPr>
        <p:spPr>
          <a:xfrm>
            <a:off x="9235440" y="3529584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</a:t>
            </a:r>
            <a:endParaRPr lang="en-US" sz="950" dirty="0"/>
          </a:p>
        </p:txBody>
      </p:sp>
      <p:sp>
        <p:nvSpPr>
          <p:cNvPr id="36" name="ovl_mx1_1"/>
          <p:cNvSpPr/>
          <p:nvPr/>
        </p:nvSpPr>
        <p:spPr>
          <a:xfrm>
            <a:off x="10460736" y="3502152"/>
            <a:ext cx="1234440" cy="1289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7" name="mx_t1_1"/>
          <p:cNvSpPr txBox="1"/>
          <p:nvPr/>
        </p:nvSpPr>
        <p:spPr>
          <a:xfrm>
            <a:off x="10506456" y="3529584"/>
            <a:ext cx="1143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学生ローン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FS 手数料・Plus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SoFiUSD・中小企業</a:t>
            </a:r>
            <a:endParaRPr lang="en-US" sz="950" dirty="0"/>
          </a:p>
        </p:txBody>
      </p:sp>
      <p:sp>
        <p:nvSpPr>
          <p:cNvPr id="38" name="mx_xt"/>
          <p:cNvSpPr txBox="1"/>
          <p:nvPr/>
        </p:nvSpPr>
        <p:spPr>
          <a:xfrm>
            <a:off x="9189720" y="484632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伸びは前年同期比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8183880" y="5074920"/>
            <a:ext cx="3547872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★★★ = 1 株価値への効きが大きいか、伸びが速く結果が未確定の分野。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★ = 規模が小さく前提の幅が大きい分野。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右下は「次の柱」の候補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2-2 会社のシナリオ(1/2)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652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652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会社のシナリオ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255774" y="356616"/>
            <a:ext cx="9478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会社が描く成長の筋書きを 1 枚の図にし、以降の検証の地図にする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会社の筋書きは「会員を年 30% 増やし、預金で貸出を伸ばして 2028 年に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約 1.07 ドル」。進み方を決めるのは資本と信用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経営陣の発言と目標を、会員の獲得 → 調達 → 貸出・組成 → 収益化 → 成果の順に並べた。赤は筋書きの進み方を決める制約。下は会員数の道筋と節目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会社開示(Q4 2025・Q2 2026 決算説明会、2025 年の株主への手紙)、research/R3b_management.md、calc/out/val.json(会員数の道筋は事業エンジン)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800" dirty="0"/>
          </a:p>
        </p:txBody>
      </p:sp>
      <p:sp>
        <p:nvSpPr>
          <p:cNvPr id="21" name="goal_0"/>
          <p:cNvSpPr/>
          <p:nvPr/>
        </p:nvSpPr>
        <p:spPr>
          <a:xfrm>
            <a:off x="457200" y="1517904"/>
            <a:ext cx="2697480" cy="71323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 CAGR 30% 以上</a:t>
            </a:r>
            <a:endParaRPr lang="en-US" sz="1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2025→2028 年(調整後純収益)</a:t>
            </a:r>
            <a:endParaRPr lang="en-US" sz="1600" dirty="0"/>
          </a:p>
        </p:txBody>
      </p:sp>
      <p:sp>
        <p:nvSpPr>
          <p:cNvPr id="22" name="goal_1"/>
          <p:cNvSpPr/>
          <p:nvPr/>
        </p:nvSpPr>
        <p:spPr>
          <a:xfrm>
            <a:off x="3319272" y="1517904"/>
            <a:ext cx="2697480" cy="71323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CAGR 38〜42%</a:t>
            </a:r>
            <a:endParaRPr lang="en-US" sz="1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 年に約 1.07 ドル(2025 年 0.39)</a:t>
            </a:r>
            <a:endParaRPr lang="en-US" sz="1600" dirty="0"/>
          </a:p>
        </p:txBody>
      </p:sp>
      <p:sp>
        <p:nvSpPr>
          <p:cNvPr id="23" name="goal_2"/>
          <p:cNvSpPr/>
          <p:nvPr/>
        </p:nvSpPr>
        <p:spPr>
          <a:xfrm>
            <a:off x="6181344" y="1517904"/>
            <a:ext cx="2697480" cy="71323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+30%/年</a:t>
            </a:r>
            <a:endParaRPr lang="en-US" sz="1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 年の目標(Q2 は +35%)</a:t>
            </a:r>
            <a:endParaRPr lang="en-US" sz="1600" dirty="0"/>
          </a:p>
        </p:txBody>
      </p:sp>
      <p:sp>
        <p:nvSpPr>
          <p:cNvPr id="24" name="goal_3"/>
          <p:cNvSpPr/>
          <p:nvPr/>
        </p:nvSpPr>
        <p:spPr>
          <a:xfrm>
            <a:off x="9043416" y="1517904"/>
            <a:ext cx="2697480" cy="71323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20〜30%</a:t>
            </a:r>
            <a:endParaRPr lang="en-US" sz="16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長期の目標(時期は示していない)</a:t>
            </a:r>
            <a:endParaRPr lang="en-US" sz="1600" dirty="0"/>
          </a:p>
        </p:txBody>
      </p:sp>
      <p:sp>
        <p:nvSpPr>
          <p:cNvPr id="25" name="ovl_s08d_e0_0"/>
          <p:cNvSpPr/>
          <p:nvPr/>
        </p:nvSpPr>
        <p:spPr>
          <a:xfrm>
            <a:off x="2148840" y="3006090"/>
            <a:ext cx="704088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26" name="ovl_s08d_e1_0"/>
          <p:cNvSpPr/>
          <p:nvPr/>
        </p:nvSpPr>
        <p:spPr>
          <a:xfrm>
            <a:off x="4544568" y="3006090"/>
            <a:ext cx="704088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27" name="ovl_s08d_e2_0"/>
          <p:cNvSpPr/>
          <p:nvPr/>
        </p:nvSpPr>
        <p:spPr>
          <a:xfrm>
            <a:off x="6940296" y="2923794"/>
            <a:ext cx="704088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28" name="ovl_s08d_e3_0"/>
          <p:cNvSpPr/>
          <p:nvPr/>
        </p:nvSpPr>
        <p:spPr>
          <a:xfrm>
            <a:off x="9336024" y="3006090"/>
            <a:ext cx="704088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29" name="ovl_s08d_e4_0"/>
          <p:cNvSpPr/>
          <p:nvPr/>
        </p:nvSpPr>
        <p:spPr>
          <a:xfrm flipH="1">
            <a:off x="6940296" y="3088386"/>
            <a:ext cx="704088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0" name="ovl_s08d_e5_0"/>
          <p:cNvSpPr/>
          <p:nvPr/>
        </p:nvSpPr>
        <p:spPr>
          <a:xfrm flipV="1">
            <a:off x="10885932" y="3380994"/>
            <a:ext cx="914" cy="324612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31" name="ovl_s08d_e6_0"/>
          <p:cNvSpPr/>
          <p:nvPr/>
        </p:nvSpPr>
        <p:spPr>
          <a:xfrm flipV="1">
            <a:off x="6094476" y="3380994"/>
            <a:ext cx="914" cy="32461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2" name="ovl_s08d_e7_0"/>
          <p:cNvSpPr/>
          <p:nvPr/>
        </p:nvSpPr>
        <p:spPr>
          <a:xfrm flipV="1">
            <a:off x="8490204" y="3380994"/>
            <a:ext cx="914" cy="32461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3" name="ovl_s08d_e8_0"/>
          <p:cNvSpPr/>
          <p:nvPr/>
        </p:nvSpPr>
        <p:spPr>
          <a:xfrm flipV="1">
            <a:off x="3698748" y="3380994"/>
            <a:ext cx="914" cy="32461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4" name="ovl_s08d_n_dem"/>
          <p:cNvSpPr/>
          <p:nvPr/>
        </p:nvSpPr>
        <p:spPr>
          <a:xfrm>
            <a:off x="457200" y="263118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35" name="ovl_s08d_nt_dem"/>
          <p:cNvSpPr txBox="1"/>
          <p:nvPr/>
        </p:nvSpPr>
        <p:spPr>
          <a:xfrm>
            <a:off x="493776" y="265861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会員の獲得</a:t>
            </a:r>
            <a:endParaRPr lang="en-US" sz="1000" dirty="0"/>
          </a:p>
        </p:txBody>
      </p:sp>
      <p:sp>
        <p:nvSpPr>
          <p:cNvPr id="36" name="ovl_s08d_ns_dem"/>
          <p:cNvSpPr txBox="1"/>
          <p:nvPr/>
        </p:nvSpPr>
        <p:spPr>
          <a:xfrm>
            <a:off x="502920" y="286435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ブランドと販促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四半期 110 万人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 3.9 億ドル</a:t>
            </a:r>
            <a:endParaRPr lang="en-US" sz="850" dirty="0"/>
          </a:p>
        </p:txBody>
      </p:sp>
      <p:sp>
        <p:nvSpPr>
          <p:cNvPr id="37" name="ovl_s08d_n_fund"/>
          <p:cNvSpPr/>
          <p:nvPr/>
        </p:nvSpPr>
        <p:spPr>
          <a:xfrm>
            <a:off x="2852928" y="263118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38" name="ovl_s08d_nt_fund"/>
          <p:cNvSpPr txBox="1"/>
          <p:nvPr/>
        </p:nvSpPr>
        <p:spPr>
          <a:xfrm>
            <a:off x="2889504" y="265861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預金で調達</a:t>
            </a:r>
            <a:endParaRPr lang="en-US" sz="1000" dirty="0"/>
          </a:p>
        </p:txBody>
      </p:sp>
      <p:sp>
        <p:nvSpPr>
          <p:cNvPr id="39" name="ovl_s08d_ns_fund"/>
          <p:cNvSpPr txBox="1"/>
          <p:nvPr/>
        </p:nvSpPr>
        <p:spPr>
          <a:xfrm>
            <a:off x="2898648" y="286435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給与振込の預金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455 億ドル・3.07%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年に 33 億ドル増資</a:t>
            </a:r>
            <a:endParaRPr lang="en-US" sz="850" dirty="0"/>
          </a:p>
        </p:txBody>
      </p:sp>
      <p:sp>
        <p:nvSpPr>
          <p:cNvPr id="40" name="ovl_s08d_n_lend"/>
          <p:cNvSpPr/>
          <p:nvPr/>
        </p:nvSpPr>
        <p:spPr>
          <a:xfrm>
            <a:off x="5248656" y="263118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41" name="ovl_s08d_nt_lend"/>
          <p:cNvSpPr txBox="1"/>
          <p:nvPr/>
        </p:nvSpPr>
        <p:spPr>
          <a:xfrm>
            <a:off x="5285232" y="265861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貸出と組成</a:t>
            </a:r>
            <a:endParaRPr lang="en-US" sz="1000" dirty="0"/>
          </a:p>
        </p:txBody>
      </p:sp>
      <p:sp>
        <p:nvSpPr>
          <p:cNvPr id="42" name="ovl_s08d_ns_lend"/>
          <p:cNvSpPr txBox="1"/>
          <p:nvPr/>
        </p:nvSpPr>
        <p:spPr>
          <a:xfrm>
            <a:off x="5294376" y="286435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 148 億ドル/四半期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うち B/S 117 億ドル</a:t>
            </a:r>
            <a:endParaRPr lang="en-US" sz="850" dirty="0"/>
          </a:p>
        </p:txBody>
      </p:sp>
      <p:sp>
        <p:nvSpPr>
          <p:cNvPr id="43" name="ovl_s08d_n_mon"/>
          <p:cNvSpPr/>
          <p:nvPr/>
        </p:nvSpPr>
        <p:spPr>
          <a:xfrm>
            <a:off x="7644384" y="263118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44" name="ovl_s08d_nt_mon"/>
          <p:cNvSpPr txBox="1"/>
          <p:nvPr/>
        </p:nvSpPr>
        <p:spPr>
          <a:xfrm>
            <a:off x="7680960" y="265861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収益化</a:t>
            </a:r>
            <a:endParaRPr lang="en-US" sz="1000" dirty="0"/>
          </a:p>
        </p:txBody>
      </p:sp>
      <p:sp>
        <p:nvSpPr>
          <p:cNvPr id="45" name="ovl_s08d_ns_mon"/>
          <p:cNvSpPr txBox="1"/>
          <p:nvPr/>
        </p:nvSpPr>
        <p:spPr>
          <a:xfrm>
            <a:off x="7690104" y="286435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利ざや NIM 5.98%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手数料 4.6%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51%</a:t>
            </a:r>
            <a:endParaRPr lang="en-US" sz="850" dirty="0"/>
          </a:p>
        </p:txBody>
      </p:sp>
      <p:sp>
        <p:nvSpPr>
          <p:cNvPr id="46" name="ovl_s08d_n_out"/>
          <p:cNvSpPr/>
          <p:nvPr/>
        </p:nvSpPr>
        <p:spPr>
          <a:xfrm>
            <a:off x="10040112" y="263118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47" name="ovl_s08d_nt_out"/>
          <p:cNvSpPr txBox="1"/>
          <p:nvPr/>
        </p:nvSpPr>
        <p:spPr>
          <a:xfrm>
            <a:off x="10076688" y="265861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成果</a:t>
            </a:r>
            <a:endParaRPr lang="en-US" sz="1000" dirty="0"/>
          </a:p>
        </p:txBody>
      </p:sp>
      <p:sp>
        <p:nvSpPr>
          <p:cNvPr id="48" name="ovl_s08d_ns_out"/>
          <p:cNvSpPr txBox="1"/>
          <p:nvPr/>
        </p:nvSpPr>
        <p:spPr>
          <a:xfrm>
            <a:off x="10085832" y="286435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 年 EPS 約 1.07 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20〜30%</a:t>
            </a:r>
            <a:endParaRPr lang="en-US" sz="850" dirty="0"/>
          </a:p>
        </p:txBody>
      </p:sp>
      <p:sp>
        <p:nvSpPr>
          <p:cNvPr id="49" name="ovl_s08d_n_quote"/>
          <p:cNvSpPr/>
          <p:nvPr/>
        </p:nvSpPr>
        <p:spPr>
          <a:xfrm>
            <a:off x="457200" y="3705606"/>
            <a:ext cx="201168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0" name="ovl_s08d_nt_quote"/>
          <p:cNvSpPr txBox="1"/>
          <p:nvPr/>
        </p:nvSpPr>
        <p:spPr>
          <a:xfrm>
            <a:off x="493776" y="3733038"/>
            <a:ext cx="19385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会社の言葉</a:t>
            </a:r>
            <a:endParaRPr lang="en-US" sz="1000" dirty="0"/>
          </a:p>
        </p:txBody>
      </p:sp>
      <p:sp>
        <p:nvSpPr>
          <p:cNvPr id="51" name="ovl_s08d_ns_quote"/>
          <p:cNvSpPr txBox="1"/>
          <p:nvPr/>
        </p:nvSpPr>
        <p:spPr>
          <a:xfrm>
            <a:off x="502920" y="3938778"/>
            <a:ext cx="19202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「会員数・会員当たり製品数・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製品当たり収益の 3 つで伸びる」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「利益の上積みより投資を選ぶ」</a:t>
            </a:r>
            <a:endParaRPr lang="en-US" sz="800" dirty="0"/>
          </a:p>
        </p:txBody>
      </p:sp>
      <p:sp>
        <p:nvSpPr>
          <p:cNvPr id="52" name="ovl_s08d_n_rate"/>
          <p:cNvSpPr/>
          <p:nvPr/>
        </p:nvSpPr>
        <p:spPr>
          <a:xfrm>
            <a:off x="2852928" y="370560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3" name="ovl_s08d_nt_rate"/>
          <p:cNvSpPr txBox="1"/>
          <p:nvPr/>
        </p:nvSpPr>
        <p:spPr>
          <a:xfrm>
            <a:off x="2889504" y="373303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</a:t>
            </a:r>
            <a:endParaRPr lang="en-US" sz="1000" dirty="0"/>
          </a:p>
        </p:txBody>
      </p:sp>
      <p:sp>
        <p:nvSpPr>
          <p:cNvPr id="54" name="ovl_s08d_ns_rate"/>
          <p:cNvSpPr txBox="1"/>
          <p:nvPr/>
        </p:nvSpPr>
        <p:spPr>
          <a:xfrm>
            <a:off x="2898648" y="393877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年債 約 5.3%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公正価値と預金コスト</a:t>
            </a:r>
            <a:endParaRPr lang="en-US" sz="850" dirty="0"/>
          </a:p>
        </p:txBody>
      </p:sp>
      <p:sp>
        <p:nvSpPr>
          <p:cNvPr id="55" name="ovl_s08d_n_cap"/>
          <p:cNvSpPr/>
          <p:nvPr/>
        </p:nvSpPr>
        <p:spPr>
          <a:xfrm>
            <a:off x="5248656" y="370560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6" name="ovl_s08d_nt_cap"/>
          <p:cNvSpPr txBox="1"/>
          <p:nvPr/>
        </p:nvSpPr>
        <p:spPr>
          <a:xfrm>
            <a:off x="5285232" y="373303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</a:t>
            </a:r>
            <a:endParaRPr lang="en-US" sz="1000" dirty="0"/>
          </a:p>
        </p:txBody>
      </p:sp>
      <p:sp>
        <p:nvSpPr>
          <p:cNvPr id="57" name="ovl_s08d_ns_cap"/>
          <p:cNvSpPr txBox="1"/>
          <p:nvPr/>
        </p:nvSpPr>
        <p:spPr>
          <a:xfrm>
            <a:off x="5294376" y="393877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 18.8%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運用下限は low-to-mid teens</a:t>
            </a:r>
            <a:endParaRPr lang="en-US" sz="850" dirty="0"/>
          </a:p>
        </p:txBody>
      </p:sp>
      <p:sp>
        <p:nvSpPr>
          <p:cNvPr id="58" name="ovl_s08d_n_credit"/>
          <p:cNvSpPr/>
          <p:nvPr/>
        </p:nvSpPr>
        <p:spPr>
          <a:xfrm>
            <a:off x="7644384" y="370560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9" name="ovl_s08d_nt_credit"/>
          <p:cNvSpPr txBox="1"/>
          <p:nvPr/>
        </p:nvSpPr>
        <p:spPr>
          <a:xfrm>
            <a:off x="7680960" y="373303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信用サイクル</a:t>
            </a:r>
            <a:endParaRPr lang="en-US" sz="1000" dirty="0"/>
          </a:p>
        </p:txBody>
      </p:sp>
      <p:sp>
        <p:nvSpPr>
          <p:cNvPr id="60" name="ovl_s08d_ns_credit"/>
          <p:cNvSpPr txBox="1"/>
          <p:nvPr/>
        </p:nvSpPr>
        <p:spPr>
          <a:xfrm>
            <a:off x="7690104" y="393877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all-in 貸倒率 3.7%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失業率 4.2%</a:t>
            </a:r>
            <a:endParaRPr lang="en-US" sz="850" dirty="0"/>
          </a:p>
        </p:txBody>
      </p:sp>
      <p:sp>
        <p:nvSpPr>
          <p:cNvPr id="61" name="ovl_s08d_n_add"/>
          <p:cNvSpPr/>
          <p:nvPr/>
        </p:nvSpPr>
        <p:spPr>
          <a:xfrm>
            <a:off x="10040112" y="3705606"/>
            <a:ext cx="16916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2" name="ovl_s08d_nt_add"/>
          <p:cNvSpPr txBox="1"/>
          <p:nvPr/>
        </p:nvSpPr>
        <p:spPr>
          <a:xfrm>
            <a:off x="10076688" y="3733038"/>
            <a:ext cx="16184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上積み</a:t>
            </a:r>
            <a:endParaRPr lang="en-US" sz="1000" dirty="0"/>
          </a:p>
        </p:txBody>
      </p:sp>
      <p:sp>
        <p:nvSpPr>
          <p:cNvPr id="63" name="ovl_s08d_ns_add"/>
          <p:cNvSpPr txBox="1"/>
          <p:nvPr/>
        </p:nvSpPr>
        <p:spPr>
          <a:xfrm>
            <a:off x="10085832" y="3938778"/>
            <a:ext cx="16002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Plus・SoFiUSD・暗号資産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中小企業・法人銀行</a:t>
            </a:r>
            <a:endParaRPr lang="en-US" sz="850" dirty="0"/>
          </a:p>
        </p:txBody>
      </p:sp>
      <p:sp>
        <p:nvSpPr>
          <p:cNvPr id="64" name="ovl_s08d_lab0"/>
          <p:cNvSpPr txBox="1"/>
          <p:nvPr/>
        </p:nvSpPr>
        <p:spPr>
          <a:xfrm>
            <a:off x="2180844" y="2631186"/>
            <a:ext cx="640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預金を運ぶ</a:t>
            </a:r>
            <a:endParaRPr lang="en-US" sz="850" dirty="0"/>
          </a:p>
        </p:txBody>
      </p:sp>
      <p:sp>
        <p:nvSpPr>
          <p:cNvPr id="65" name="ovl_s08d_lab1"/>
          <p:cNvSpPr txBox="1"/>
          <p:nvPr/>
        </p:nvSpPr>
        <p:spPr>
          <a:xfrm>
            <a:off x="4608576" y="2772918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安い資金</a:t>
            </a:r>
            <a:endParaRPr lang="en-US" sz="850" dirty="0"/>
          </a:p>
        </p:txBody>
      </p:sp>
      <p:sp>
        <p:nvSpPr>
          <p:cNvPr id="66" name="ovl_s08d_lab2"/>
          <p:cNvSpPr txBox="1"/>
          <p:nvPr/>
        </p:nvSpPr>
        <p:spPr>
          <a:xfrm>
            <a:off x="6972300" y="2548890"/>
            <a:ext cx="640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利息・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</a:t>
            </a:r>
            <a:endParaRPr lang="en-US" sz="850" dirty="0"/>
          </a:p>
        </p:txBody>
      </p:sp>
      <p:sp>
        <p:nvSpPr>
          <p:cNvPr id="67" name="ovl_s08d_lab3"/>
          <p:cNvSpPr txBox="1"/>
          <p:nvPr/>
        </p:nvSpPr>
        <p:spPr>
          <a:xfrm>
            <a:off x="9516618" y="2772918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</a:t>
            </a:r>
            <a:endParaRPr lang="en-US" sz="850" dirty="0"/>
          </a:p>
        </p:txBody>
      </p:sp>
      <p:sp>
        <p:nvSpPr>
          <p:cNvPr id="68" name="ovl_s08d_lab4"/>
          <p:cNvSpPr txBox="1"/>
          <p:nvPr/>
        </p:nvSpPr>
        <p:spPr>
          <a:xfrm>
            <a:off x="6972300" y="3115818"/>
            <a:ext cx="6400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利益が次の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貸出へ</a:t>
            </a:r>
            <a:endParaRPr lang="en-US" sz="850" dirty="0"/>
          </a:p>
        </p:txBody>
      </p:sp>
      <p:sp>
        <p:nvSpPr>
          <p:cNvPr id="69" name="ovl_s08d_lab5"/>
          <p:cNvSpPr txBox="1"/>
          <p:nvPr/>
        </p:nvSpPr>
        <p:spPr>
          <a:xfrm>
            <a:off x="10931652" y="3440430"/>
            <a:ext cx="45948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上積み</a:t>
            </a:r>
            <a:endParaRPr lang="en-US" sz="850" dirty="0"/>
          </a:p>
        </p:txBody>
      </p:sp>
      <p:sp>
        <p:nvSpPr>
          <p:cNvPr id="70" name="ovl_s08d_lab6"/>
          <p:cNvSpPr txBox="1"/>
          <p:nvPr/>
        </p:nvSpPr>
        <p:spPr>
          <a:xfrm>
            <a:off x="6140196" y="3440430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上限</a:t>
            </a:r>
            <a:endParaRPr lang="en-US" sz="850" dirty="0"/>
          </a:p>
        </p:txBody>
      </p:sp>
      <p:sp>
        <p:nvSpPr>
          <p:cNvPr id="71" name="ovl_s08d_lab7"/>
          <p:cNvSpPr txBox="1"/>
          <p:nvPr/>
        </p:nvSpPr>
        <p:spPr>
          <a:xfrm>
            <a:off x="8535924" y="3440430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貸倒</a:t>
            </a:r>
            <a:endParaRPr lang="en-US" sz="850" dirty="0"/>
          </a:p>
        </p:txBody>
      </p:sp>
      <p:sp>
        <p:nvSpPr>
          <p:cNvPr id="72" name="ovl_s08d_lab8"/>
          <p:cNvSpPr txBox="1"/>
          <p:nvPr/>
        </p:nvSpPr>
        <p:spPr>
          <a:xfrm>
            <a:off x="3744468" y="3440430"/>
            <a:ext cx="80924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評価・コスト</a:t>
            </a:r>
            <a:endParaRPr lang="en-US" sz="850" dirty="0"/>
          </a:p>
        </p:txBody>
      </p:sp>
      <p:sp>
        <p:nvSpPr>
          <p:cNvPr id="73" name="ovl_s08d_leg0"/>
          <p:cNvSpPr/>
          <p:nvPr/>
        </p:nvSpPr>
        <p:spPr>
          <a:xfrm>
            <a:off x="457200" y="4773168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74" name="ovl_s08d_legt0"/>
          <p:cNvSpPr txBox="1"/>
          <p:nvPr/>
        </p:nvSpPr>
        <p:spPr>
          <a:xfrm>
            <a:off x="877824" y="46725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75" name="ovl_s08d_leg1"/>
          <p:cNvSpPr/>
          <p:nvPr/>
        </p:nvSpPr>
        <p:spPr>
          <a:xfrm>
            <a:off x="1874520" y="4773168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76" name="ovl_s08d_legt1"/>
          <p:cNvSpPr txBox="1"/>
          <p:nvPr/>
        </p:nvSpPr>
        <p:spPr>
          <a:xfrm>
            <a:off x="2295144" y="46725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77" name="ovl_s08d_leg2"/>
          <p:cNvSpPr/>
          <p:nvPr/>
        </p:nvSpPr>
        <p:spPr>
          <a:xfrm>
            <a:off x="3291840" y="4773168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78" name="ovl_s08d_legt2"/>
          <p:cNvSpPr txBox="1"/>
          <p:nvPr/>
        </p:nvSpPr>
        <p:spPr>
          <a:xfrm>
            <a:off x="3712464" y="46725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79" name="ovl_tl_head"/>
          <p:cNvSpPr txBox="1"/>
          <p:nvPr/>
        </p:nvSpPr>
        <p:spPr>
          <a:xfrm>
            <a:off x="457200" y="50292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会員数(年末)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年以降は事業エンジン</a:t>
            </a:r>
            <a:endParaRPr lang="en-US" sz="900" dirty="0"/>
          </a:p>
        </p:txBody>
      </p:sp>
      <p:sp>
        <p:nvSpPr>
          <p:cNvPr id="80" name="ovl_tl_axis"/>
          <p:cNvSpPr/>
          <p:nvPr/>
        </p:nvSpPr>
        <p:spPr>
          <a:xfrm>
            <a:off x="731520" y="5605272"/>
            <a:ext cx="10698480" cy="914"/>
          </a:xfrm>
          <a:prstGeom prst="line">
            <a:avLst/>
          </a:prstGeom>
          <a:noFill/>
          <a:ln w="15875">
            <a:solidFill>
              <a:srgbClr val="767676"/>
            </a:solidFill>
            <a:prstDash val="solid"/>
          </a:ln>
        </p:spPr>
      </p:sp>
      <p:sp>
        <p:nvSpPr>
          <p:cNvPr id="81" name="ovl_tl_dot_2025"/>
          <p:cNvSpPr/>
          <p:nvPr/>
        </p:nvSpPr>
        <p:spPr>
          <a:xfrm>
            <a:off x="2670048" y="5532120"/>
            <a:ext cx="146304" cy="14630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82" name="ovl_tl_tick_2025"/>
          <p:cNvSpPr txBox="1"/>
          <p:nvPr/>
        </p:nvSpPr>
        <p:spPr>
          <a:xfrm>
            <a:off x="2377440" y="5715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</a:t>
            </a:r>
            <a:endParaRPr lang="en-US" sz="850" dirty="0"/>
          </a:p>
        </p:txBody>
      </p:sp>
      <p:sp>
        <p:nvSpPr>
          <p:cNvPr id="83" name="ovl_tl_val_2025"/>
          <p:cNvSpPr txBox="1"/>
          <p:nvPr/>
        </p:nvSpPr>
        <p:spPr>
          <a:xfrm>
            <a:off x="2286000" y="5330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1,370 万</a:t>
            </a:r>
            <a:endParaRPr lang="en-US" sz="1000" dirty="0"/>
          </a:p>
        </p:txBody>
      </p:sp>
      <p:sp>
        <p:nvSpPr>
          <p:cNvPr id="84" name="ovl_tl_dot_2026"/>
          <p:cNvSpPr/>
          <p:nvPr/>
        </p:nvSpPr>
        <p:spPr>
          <a:xfrm>
            <a:off x="5413248" y="5532120"/>
            <a:ext cx="146304" cy="14630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85" name="ovl_tl_tick_2026"/>
          <p:cNvSpPr txBox="1"/>
          <p:nvPr/>
        </p:nvSpPr>
        <p:spPr>
          <a:xfrm>
            <a:off x="5120640" y="5715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</a:t>
            </a:r>
            <a:endParaRPr lang="en-US" sz="850" dirty="0"/>
          </a:p>
        </p:txBody>
      </p:sp>
      <p:sp>
        <p:nvSpPr>
          <p:cNvPr id="86" name="ovl_tl_val_2026"/>
          <p:cNvSpPr txBox="1"/>
          <p:nvPr/>
        </p:nvSpPr>
        <p:spPr>
          <a:xfrm>
            <a:off x="5029200" y="5330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1,800 万</a:t>
            </a:r>
            <a:endParaRPr lang="en-US" sz="1000" dirty="0"/>
          </a:p>
        </p:txBody>
      </p:sp>
      <p:sp>
        <p:nvSpPr>
          <p:cNvPr id="87" name="ovl_tl_dot_2027"/>
          <p:cNvSpPr/>
          <p:nvPr/>
        </p:nvSpPr>
        <p:spPr>
          <a:xfrm>
            <a:off x="8156448" y="5532120"/>
            <a:ext cx="146304" cy="14630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88" name="ovl_tl_tick_2027"/>
          <p:cNvSpPr txBox="1"/>
          <p:nvPr/>
        </p:nvSpPr>
        <p:spPr>
          <a:xfrm>
            <a:off x="7863840" y="5715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</a:t>
            </a:r>
            <a:endParaRPr lang="en-US" sz="850" dirty="0"/>
          </a:p>
        </p:txBody>
      </p:sp>
      <p:sp>
        <p:nvSpPr>
          <p:cNvPr id="89" name="ovl_tl_val_2027"/>
          <p:cNvSpPr txBox="1"/>
          <p:nvPr/>
        </p:nvSpPr>
        <p:spPr>
          <a:xfrm>
            <a:off x="7772400" y="5330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2,260 万</a:t>
            </a:r>
            <a:endParaRPr lang="en-US" sz="1000" dirty="0"/>
          </a:p>
        </p:txBody>
      </p:sp>
      <p:sp>
        <p:nvSpPr>
          <p:cNvPr id="90" name="ovl_tl_dot_2028"/>
          <p:cNvSpPr/>
          <p:nvPr/>
        </p:nvSpPr>
        <p:spPr>
          <a:xfrm>
            <a:off x="10899648" y="5532120"/>
            <a:ext cx="146304" cy="146304"/>
          </a:xfrm>
          <a:prstGeom prst="ellipse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91" name="ovl_tl_tick_2028"/>
          <p:cNvSpPr txBox="1"/>
          <p:nvPr/>
        </p:nvSpPr>
        <p:spPr>
          <a:xfrm>
            <a:off x="10607040" y="5715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</a:t>
            </a:r>
            <a:endParaRPr lang="en-US" sz="850" dirty="0"/>
          </a:p>
        </p:txBody>
      </p:sp>
      <p:sp>
        <p:nvSpPr>
          <p:cNvPr id="92" name="ovl_tl_val_2028"/>
          <p:cNvSpPr txBox="1"/>
          <p:nvPr/>
        </p:nvSpPr>
        <p:spPr>
          <a:xfrm>
            <a:off x="10515600" y="5330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2,700 万</a:t>
            </a:r>
            <a:endParaRPr lang="en-US" sz="1000" dirty="0"/>
          </a:p>
        </p:txBody>
      </p:sp>
      <p:sp>
        <p:nvSpPr>
          <p:cNvPr id="93" name="ovl_tl_note0"/>
          <p:cNvSpPr txBox="1"/>
          <p:nvPr/>
        </p:nvSpPr>
        <p:spPr>
          <a:xfrm>
            <a:off x="3017520" y="50474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2026-04: Plus を有料で再開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2026-07: Grad PLUS の新規廃止</a:t>
            </a:r>
            <a:endParaRPr lang="en-US" sz="850" dirty="0"/>
          </a:p>
        </p:txBody>
      </p:sp>
      <p:sp>
        <p:nvSpPr>
          <p:cNvPr id="94" name="ovl_tl_lead0"/>
          <p:cNvSpPr/>
          <p:nvPr/>
        </p:nvSpPr>
        <p:spPr>
          <a:xfrm>
            <a:off x="4114800" y="5376672"/>
            <a:ext cx="914" cy="173736"/>
          </a:xfrm>
          <a:prstGeom prst="line">
            <a:avLst/>
          </a:prstGeom>
          <a:noFill/>
          <a:ln w="9525">
            <a:solidFill>
              <a:srgbClr val="767676"/>
            </a:solidFill>
            <a:prstDash val="sysDot"/>
          </a:ln>
        </p:spPr>
      </p:sp>
      <p:sp>
        <p:nvSpPr>
          <p:cNvPr id="95" name="ovl_tl_mark0"/>
          <p:cNvSpPr/>
          <p:nvPr/>
        </p:nvSpPr>
        <p:spPr>
          <a:xfrm>
            <a:off x="4059936" y="5550408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97A56"/>
            </a:solidFill>
            <a:prstDash val="solid"/>
          </a:ln>
        </p:spPr>
      </p:sp>
      <p:sp>
        <p:nvSpPr>
          <p:cNvPr id="96" name="ovl_tl_note1"/>
          <p:cNvSpPr txBox="1"/>
          <p:nvPr/>
        </p:nvSpPr>
        <p:spPr>
          <a:xfrm>
            <a:off x="5852160" y="50474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年: 自己資本比率が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運用下限に近づく(エンジン)</a:t>
            </a:r>
            <a:endParaRPr lang="en-US" sz="850" dirty="0"/>
          </a:p>
        </p:txBody>
      </p:sp>
      <p:sp>
        <p:nvSpPr>
          <p:cNvPr id="97" name="ovl_tl_lead1"/>
          <p:cNvSpPr/>
          <p:nvPr/>
        </p:nvSpPr>
        <p:spPr>
          <a:xfrm>
            <a:off x="6858000" y="5376672"/>
            <a:ext cx="914" cy="173736"/>
          </a:xfrm>
          <a:prstGeom prst="line">
            <a:avLst/>
          </a:prstGeom>
          <a:noFill/>
          <a:ln w="9525">
            <a:solidFill>
              <a:srgbClr val="767676"/>
            </a:solidFill>
            <a:prstDash val="sysDot"/>
          </a:ln>
        </p:spPr>
      </p:sp>
      <p:sp>
        <p:nvSpPr>
          <p:cNvPr id="98" name="ovl_tl_mark1"/>
          <p:cNvSpPr/>
          <p:nvPr/>
        </p:nvSpPr>
        <p:spPr>
          <a:xfrm>
            <a:off x="6803136" y="5550408"/>
            <a:ext cx="109728" cy="1097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97A56"/>
            </a:solidFill>
            <a:prstDash val="solid"/>
          </a:ln>
        </p:spPr>
      </p:sp>
      <p:sp>
        <p:nvSpPr>
          <p:cNvPr id="99" name="ovl_tl_note2"/>
          <p:cNvSpPr txBox="1"/>
          <p:nvPr/>
        </p:nvSpPr>
        <p:spPr>
          <a:xfrm>
            <a:off x="10332720" y="50474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会社目標の年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2-2 会社のシナリオ(2/2)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652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652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会社のシナリオ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255774" y="356616"/>
            <a:ext cx="9478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筋書きの部品ごとに、数字で作動しているかを採点し、会社の目標をどこまで信じるかを決める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会員獲得・預金・B/S 貸出の 3 部品は数字で作動する。LPB は停滞、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は底打ちの段階で、判定は「条件付きのプラス」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筋書きの部品(P1〜P10)を、数字で作動しているかで採点。右: 規模で重みづけした判定と、会社目標・コンセンサス・事業エンジンの差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会社開示(Q4 2025〜Q2 2026)、research/R1b_kpi.md・R3b_management.md、research_r2/R6・R7、calc/out/val.json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800" dirty="0"/>
          </a:p>
        </p:txBody>
      </p:sp>
      <p:graphicFrame>
        <p:nvGraphicFramePr>
          <p:cNvPr id="13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75895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828800"/>
                <a:gridCol w="731520"/>
                <a:gridCol w="3749040"/>
                <a:gridCol w="8229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部品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進捗(数字で作動しているか)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重み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P1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会員の獲得(ブランド・販促)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作動。純増 110 万人/四半期、ブランド想起 10.4%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P2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クロスバイ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6891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作動(51%)。ただし FS 製品当たり収益は 104 → 88 ドル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P3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預金による調達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作動。倉庫比 −1.56pt、年 7.1 億ドルの節約。差は縮小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P4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B/S 貸出の拡大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作動。純金利収益 +52%。自己資本比率は −4.1pt/半年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P5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LPB(手数料型)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6891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停滞。組成 37 → 31 億ドル(Q4 2025 → Q2 2026)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P6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学生ローン(Grad PLUS)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作動。組成 +170%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P7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増資と資本政策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作動。33 億ドルの増資で TBVPS +56%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P8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Tech Platform(Galileo)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6891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底打ち。前期比 +12.5%、自社コアへ移行。貢献利益率は 30 → 14%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P9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新領域(SoFiUSD ほか)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保留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数字が小さい(SoFiUSD 約 3 億ドル)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P10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販促費の効率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68910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±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販促費率 30.3% → 32.2%。下期の改善待ち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pane_head"/>
          <p:cNvSpPr txBox="1"/>
          <p:nvPr/>
        </p:nvSpPr>
        <p:spPr>
          <a:xfrm>
            <a:off x="8275320" y="148132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規模で重みづけした判定</a:t>
            </a:r>
            <a:endParaRPr lang="en-US" sz="1200" dirty="0"/>
          </a:p>
        </p:txBody>
      </p:sp>
      <p:graphicFrame>
        <p:nvGraphicFramePr>
          <p:cNvPr id="23" name="chart_weight" descr=""/>
          <p:cNvGraphicFramePr/>
          <p:nvPr/>
        </p:nvGraphicFramePr>
        <p:xfrm>
          <a:off x="8275320" y="1783080"/>
          <a:ext cx="3456432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ovl_takeaway_bg"/>
          <p:cNvSpPr/>
          <p:nvPr/>
        </p:nvSpPr>
        <p:spPr>
          <a:xfrm>
            <a:off x="8275320" y="2926080"/>
            <a:ext cx="3456432" cy="8686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5" name="takeaway"/>
          <p:cNvSpPr txBox="1"/>
          <p:nvPr/>
        </p:nvSpPr>
        <p:spPr>
          <a:xfrm>
            <a:off x="8385048" y="2999232"/>
            <a:ext cx="3236976" cy="7223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判定は「条件付きのプラス」。作動している部品の多くが資本を使い、資本の上限が筋書きの速さを決める</a:t>
            </a:r>
            <a:endParaRPr lang="en-US" sz="1100" dirty="0"/>
          </a:p>
        </p:txBody>
      </p:sp>
      <p:sp>
        <p:nvSpPr>
          <p:cNvPr id="26" name="pane_head"/>
          <p:cNvSpPr txBox="1"/>
          <p:nvPr/>
        </p:nvSpPr>
        <p:spPr>
          <a:xfrm>
            <a:off x="8275320" y="3931920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会社の目標をどこまで信じるか(2028 年)</a:t>
            </a:r>
            <a:endParaRPr lang="en-US" sz="1200" dirty="0"/>
          </a:p>
        </p:txBody>
      </p:sp>
      <p:graphicFrame>
        <p:nvGraphicFramePr>
          <p:cNvPr id="2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75320" y="4251960"/>
          <a:ext cx="3456432" cy="914400"/>
        </p:xfrm>
        <a:graphic>
          <a:graphicData uri="http://schemas.openxmlformats.org/drawingml/2006/table">
            <a:tbl>
              <a:tblPr/>
              <a:tblGrid>
                <a:gridCol w="969264"/>
                <a:gridCol w="822960"/>
                <a:gridCol w="832104"/>
                <a:gridCol w="832104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会社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コンセンサス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エンジン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EPS(ドル)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1.03〜1.12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1.08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1.10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20〜30%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(長期)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12.5%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8" name="Text 23"/>
          <p:cNvSpPr txBox="1"/>
          <p:nvPr/>
        </p:nvSpPr>
        <p:spPr>
          <a:xfrm>
            <a:off x="8275320" y="5257800"/>
            <a:ext cx="3456432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の目標はエンジンでも届く。ROTCE の目標には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届かず、成長が生む価値は小さい。理論株価は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エンジンの EPS を土台にした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2-3 収益構造(1/2)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収益構造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売上から利益が残る経路と、売上より速く伸びている費用を確かめる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Q2 2026 の総純収益 12.2 億ドルの 65% は利ざや。販促費(+48%)が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売上(+43%)より速く伸び、純利益は 1.57 億ドルにとどまる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損益フロー(サンキー)、Q2 2026(2026 年 4〜6 月)、百万ドル。( )は前年同期比。GAAP 基準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SoFi Q2 2026 決算発表・10-Q(2026-07)。運営・一般管理は総額からの逆算で、貸倒引当金の繰入を含むとみられる。その他 13.8 は内訳不明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</a:t>
            </a:r>
            <a:endParaRPr lang="en-US" sz="800" dirty="0"/>
          </a:p>
        </p:txBody>
      </p:sp>
      <p:pic>
        <p:nvPicPr>
          <p:cNvPr id="21" name="Image 0" descr="assets/sankey_q2_20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7680960" cy="4572000"/>
          </a:xfrm>
          <a:prstGeom prst="rect">
            <a:avLst/>
          </a:prstGeom>
        </p:spPr>
      </p:pic>
      <p:sp>
        <p:nvSpPr>
          <p:cNvPr id="22" name="ovl_takeaway_bg"/>
          <p:cNvSpPr/>
          <p:nvPr/>
        </p:nvSpPr>
        <p:spPr>
          <a:xfrm>
            <a:off x="8275320" y="1554480"/>
            <a:ext cx="3456432" cy="13258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3" name="takeaway"/>
          <p:cNvSpPr txBox="1"/>
          <p:nvPr/>
        </p:nvSpPr>
        <p:spPr>
          <a:xfrm>
            <a:off x="8385048" y="1627632"/>
            <a:ext cx="3236976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販促費が +48% と売上(+43%)より速く伸び、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増収 3.64 億ドルのうち税引前利益に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残ったのは 0.92 億ドル(25%)</a:t>
            </a:r>
            <a:endParaRPr lang="en-US" sz="1100" dirty="0"/>
          </a:p>
        </p:txBody>
      </p:sp>
      <p:sp>
        <p:nvSpPr>
          <p:cNvPr id="24" name="bullets"/>
          <p:cNvSpPr txBox="1"/>
          <p:nvPr/>
        </p:nvSpPr>
        <p:spPr>
          <a:xfrm>
            <a:off x="8275320" y="3017520"/>
            <a:ext cx="3456432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総純収益の 65% が純金利収益(利ざや)。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非金利収益のうちローン損益の +112% は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金利スワップの益による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テクノロジー収益は大口顧客の離脱で −42%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実効税率は 13.3% → 23.4% に上がり、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純利益の伸び(+61%)は税引前(+82%)より小さい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調整後 EBITDA は 3.58 億ドル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(株式報酬・償却を除く)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2-3 収益構造(2/2)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収益構造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増収がどこから来て、利益率がいつ・なぜ改善するかを確かめ、EPS の伸びの質を見る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増収の 74% は B/S 貸出の利ざや。利益率の改善は販促費率の低下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(32% → 25%)にかかり、下期の計画は増分利益率 50% 超を求める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増収の内訳(Q2 2025 → Q2 2026、百万ドル)。右: 利益率の経路(事業エンジン)と、2026 年下期の計画が求める利益率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10-Q)、research_r2/R6_pnl_margin.md §1・§4、calc/out/val.json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増収 3.64 億ドルの内訳(百万ドル)</a:t>
            </a:r>
            <a:endParaRPr lang="en-US" sz="1200" dirty="0"/>
          </a:p>
        </p:txBody>
      </p:sp>
      <p:graphicFrame>
        <p:nvGraphicFramePr>
          <p:cNvPr id="22" name="chart" descr=""/>
          <p:cNvGraphicFramePr/>
          <p:nvPr/>
        </p:nvGraphicFramePr>
        <p:xfrm>
          <a:off x="457200" y="1810512"/>
          <a:ext cx="57607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457200" y="4937760"/>
            <a:ext cx="57607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会員当たり収益(年換算)は 304 → 316 ドル(+4%)。会員 +35% × 会員当たり +4% で増収 +40%。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増収の 74% は B/S 貸出の利ざや。ローン損益の増加は主に金利スワップの益(前年は損失)</a:t>
            </a:r>
            <a:endParaRPr lang="en-US" sz="950" dirty="0"/>
          </a:p>
        </p:txBody>
      </p:sp>
      <p:sp>
        <p:nvSpPr>
          <p:cNvPr id="24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利益率の経路(事業エンジン)</a:t>
            </a:r>
            <a:endParaRPr lang="en-US" sz="1200" dirty="0"/>
          </a:p>
        </p:txBody>
      </p:sp>
      <p:graphicFrame>
        <p:nvGraphicFramePr>
          <p:cNvPr id="1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10512"/>
          <a:ext cx="528523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463040"/>
                <a:gridCol w="135331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税引前利益率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32.0%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22.0%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7〜9%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30.0%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25.7%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10.9%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28.5%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28.6%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12.5%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27.0%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31.3%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2030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25.5%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33.7%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pane_head"/>
          <p:cNvSpPr txBox="1"/>
          <p:nvPr/>
        </p:nvSpPr>
        <p:spPr>
          <a:xfrm>
            <a:off x="6446520" y="3639312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 年下期の計画が求めるもの</a:t>
            </a:r>
            <a:endParaRPr lang="en-US" sz="1200" dirty="0"/>
          </a:p>
        </p:txBody>
      </p:sp>
      <p:graphicFrame>
        <p:nvGraphicFramePr>
          <p:cNvPr id="2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3931920"/>
          <a:ext cx="528523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162763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上期(実績)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下期(逆算)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調整後 EBITDA 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30.4%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35〜37%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調整後純利益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3.3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5.0 億ドル(+52%)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増分 EBITDA 率(前年比)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53〜64%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ovl_takeaway_bg"/>
          <p:cNvSpPr/>
          <p:nvPr/>
        </p:nvSpPr>
        <p:spPr>
          <a:xfrm>
            <a:off x="6446520" y="5257800"/>
            <a:ext cx="5285232" cy="82296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9" name="takeaway"/>
          <p:cNvSpPr txBox="1"/>
          <p:nvPr/>
        </p:nvSpPr>
        <p:spPr>
          <a:xfrm>
            <a:off x="6556248" y="5330952"/>
            <a:ext cx="5065776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利益率の改善は構成の変化ではなく販促費率の低下(事業内の効果)にかかる。下期の達成が最初の試金石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2-4 競争優位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競争優位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価格と品質を競合と並べ、SoFi が利益を守れる理由と、その限界を見る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優位の源泉は価格ではなく、安い預金とブランド。預金金利は競合より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0.2〜0.6pt 低く、ローンは市場並みの金利で手数料も取る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競合に対する価格・品質・差を生む活動(各社の公表レンジ、2026 年)。右: ファイブフォース(各力の強さと SoFi の利ざやへの効き)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research_r2/R9_products_people.md(LendingTree・NerdWallet・各社ページ・J.D. Power)、research/R4_scuttlebutt.md(預金金利・TransUnion)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</a:t>
            </a:r>
            <a:endParaRPr lang="en-US" sz="800" dirty="0"/>
          </a:p>
        </p:txBody>
      </p:sp>
      <p:sp>
        <p:nvSpPr>
          <p:cNvPr id="21" name="pane_l"/>
          <p:cNvSpPr txBox="1"/>
          <p:nvPr/>
        </p:nvSpPr>
        <p:spPr>
          <a:xfrm>
            <a:off x="457200" y="14813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競合比較: 品質 × 価格 × 価値連鎖</a:t>
            </a:r>
            <a:endParaRPr lang="en-US" sz="1200" dirty="0"/>
          </a:p>
        </p:txBody>
      </p:sp>
      <p:graphicFrame>
        <p:nvGraphicFramePr>
          <p:cNvPr id="16" name="tbl_compet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5321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600200"/>
                <a:gridCol w="141732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価格(対競合)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品質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差を生む活動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APR 6.99〜35.49%・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 0〜7%。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LightStream 6.49〜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25.39%・手数料なし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アプリ評価 4.7。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借り手 FICO 746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会員の基盤と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安い預金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普通預金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3.30%(給与振込が条件)。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Amex 3.90・Chime 3.75・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Capital One 3.50%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NerdWallet 5.0、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月額手数料なし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給与振込で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主口座になる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大学院ローン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固定 2.45〜14.83%。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連邦 PLUS 9.07%+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 4.2%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Yale が代替の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筆頭に案内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借換で培った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審査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売買手数料 0 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(競合も 0)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J.D. Power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DIY 部門 1 位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アプリの一体化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会員サブスク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Plus 月 10 ドル。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Robinhood Gold 5 ドル、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Chime Prime 無料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有料 20.6 万人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預金金利の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上乗せ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ovl_takeaway_bg"/>
          <p:cNvSpPr/>
          <p:nvPr/>
        </p:nvSpPr>
        <p:spPr>
          <a:xfrm>
            <a:off x="457200" y="5257800"/>
            <a:ext cx="5532120" cy="8686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4" name="takeaway"/>
          <p:cNvSpPr txBox="1"/>
          <p:nvPr/>
        </p:nvSpPr>
        <p:spPr>
          <a:xfrm>
            <a:off x="566928" y="5330952"/>
            <a:ext cx="5312664" cy="7223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安いのは学生ローンだけで、個人ローンと Plus は割高。それでも預金は競合より安く集まる。優位は価格ではなく、給与振込で主口座になる関係</a:t>
            </a:r>
            <a:endParaRPr lang="en-US" sz="1100" dirty="0"/>
          </a:p>
        </p:txBody>
      </p:sp>
      <p:sp>
        <p:nvSpPr>
          <p:cNvPr id="25" name="pane_r"/>
          <p:cNvSpPr txBox="1"/>
          <p:nvPr/>
        </p:nvSpPr>
        <p:spPr>
          <a:xfrm>
            <a:off x="6199632" y="14813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ファイブフォース(業界構造)</a:t>
            </a:r>
            <a:endParaRPr lang="en-US" sz="1200" dirty="0"/>
          </a:p>
        </p:txBody>
      </p:sp>
      <p:sp>
        <p:nvSpPr>
          <p:cNvPr id="26" name="ovl_force_rival"/>
          <p:cNvSpPr/>
          <p:nvPr/>
        </p:nvSpPr>
        <p:spPr>
          <a:xfrm>
            <a:off x="6199632" y="1828800"/>
            <a:ext cx="1737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7" name="force_n_rival"/>
          <p:cNvSpPr txBox="1"/>
          <p:nvPr/>
        </p:nvSpPr>
        <p:spPr>
          <a:xfrm>
            <a:off x="6272784" y="1892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業界内の競争</a:t>
            </a:r>
            <a:endParaRPr lang="en-US" sz="950" dirty="0"/>
          </a:p>
        </p:txBody>
      </p:sp>
      <p:sp>
        <p:nvSpPr>
          <p:cNvPr id="28" name="force_s_rival"/>
          <p:cNvSpPr txBox="1"/>
          <p:nvPr/>
        </p:nvSpPr>
        <p:spPr>
          <a:xfrm>
            <a:off x="7644384" y="189280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</a:t>
            </a:r>
            <a:endParaRPr lang="en-US" sz="1000" dirty="0"/>
          </a:p>
        </p:txBody>
      </p:sp>
      <p:sp>
        <p:nvSpPr>
          <p:cNvPr id="29" name="force_f_rival"/>
          <p:cNvSpPr txBox="1"/>
          <p:nvPr/>
        </p:nvSpPr>
        <p:spPr>
          <a:xfrm>
            <a:off x="6272784" y="2194560"/>
            <a:ext cx="15910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個人ローン残高 2,810 億ドル(+9.6%)を LendingClub・Upstart・大手行が奪い合う</a:t>
            </a:r>
            <a:endParaRPr lang="en-US" sz="850" dirty="0"/>
          </a:p>
        </p:txBody>
      </p:sp>
      <p:sp>
        <p:nvSpPr>
          <p:cNvPr id="30" name="ovl_force_entry"/>
          <p:cNvSpPr/>
          <p:nvPr/>
        </p:nvSpPr>
        <p:spPr>
          <a:xfrm>
            <a:off x="8097012" y="1828800"/>
            <a:ext cx="1737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1" name="force_n_entry"/>
          <p:cNvSpPr txBox="1"/>
          <p:nvPr/>
        </p:nvSpPr>
        <p:spPr>
          <a:xfrm>
            <a:off x="8170164" y="1892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新規参入</a:t>
            </a:r>
            <a:endParaRPr lang="en-US" sz="950" dirty="0"/>
          </a:p>
        </p:txBody>
      </p:sp>
      <p:sp>
        <p:nvSpPr>
          <p:cNvPr id="32" name="force_s_entry"/>
          <p:cNvSpPr txBox="1"/>
          <p:nvPr/>
        </p:nvSpPr>
        <p:spPr>
          <a:xfrm>
            <a:off x="9541764" y="189280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6891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</a:t>
            </a:r>
            <a:endParaRPr lang="en-US" sz="1000" dirty="0"/>
          </a:p>
        </p:txBody>
      </p:sp>
      <p:sp>
        <p:nvSpPr>
          <p:cNvPr id="33" name="force_f_entry"/>
          <p:cNvSpPr txBox="1"/>
          <p:nvPr/>
        </p:nvSpPr>
        <p:spPr>
          <a:xfrm>
            <a:off x="8170164" y="2194560"/>
            <a:ext cx="15910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は銀行の買収で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 1 年、払込資本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7.5 億ドル。LendingClub 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 102 億ドルで同じ型</a:t>
            </a:r>
            <a:endParaRPr lang="en-US" sz="850" dirty="0"/>
          </a:p>
        </p:txBody>
      </p:sp>
      <p:sp>
        <p:nvSpPr>
          <p:cNvPr id="34" name="ovl_force_supp"/>
          <p:cNvSpPr/>
          <p:nvPr/>
        </p:nvSpPr>
        <p:spPr>
          <a:xfrm>
            <a:off x="6199632" y="3246120"/>
            <a:ext cx="1737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5" name="force_n_supp"/>
          <p:cNvSpPr txBox="1"/>
          <p:nvPr/>
        </p:nvSpPr>
        <p:spPr>
          <a:xfrm>
            <a:off x="6272784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資金の出し手</a:t>
            </a:r>
            <a:r>
              <a:rPr lang="en-US" sz="8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(供給者)</a:t>
            </a:r>
            <a:endParaRPr lang="en-US" sz="950" dirty="0"/>
          </a:p>
        </p:txBody>
      </p:sp>
      <p:sp>
        <p:nvSpPr>
          <p:cNvPr id="36" name="force_s_supp"/>
          <p:cNvSpPr txBox="1"/>
          <p:nvPr/>
        </p:nvSpPr>
        <p:spPr>
          <a:xfrm>
            <a:off x="7644384" y="331012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弱</a:t>
            </a:r>
            <a:endParaRPr lang="en-US" sz="1000" dirty="0"/>
          </a:p>
        </p:txBody>
      </p:sp>
      <p:sp>
        <p:nvSpPr>
          <p:cNvPr id="37" name="force_f_supp"/>
          <p:cNvSpPr txBox="1"/>
          <p:nvPr/>
        </p:nvSpPr>
        <p:spPr>
          <a:xfrm>
            <a:off x="6272784" y="3611880"/>
            <a:ext cx="15910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預金者は給与振込で定着。LPB の買い手は契約 100 億ドル超で取り合い</a:t>
            </a:r>
            <a:endParaRPr lang="en-US" sz="850" dirty="0"/>
          </a:p>
        </p:txBody>
      </p:sp>
      <p:sp>
        <p:nvSpPr>
          <p:cNvPr id="38" name="ovl_force_buyer"/>
          <p:cNvSpPr/>
          <p:nvPr/>
        </p:nvSpPr>
        <p:spPr>
          <a:xfrm>
            <a:off x="9994392" y="3246120"/>
            <a:ext cx="1737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9" name="force_n_buyer"/>
          <p:cNvSpPr txBox="1"/>
          <p:nvPr/>
        </p:nvSpPr>
        <p:spPr>
          <a:xfrm>
            <a:off x="10067544" y="3310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借り手</a:t>
            </a:r>
            <a:r>
              <a:rPr lang="en-US" sz="8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(買い手)</a:t>
            </a:r>
            <a:endParaRPr lang="en-US" sz="950" dirty="0"/>
          </a:p>
        </p:txBody>
      </p:sp>
      <p:sp>
        <p:nvSpPr>
          <p:cNvPr id="40" name="force_s_buyer"/>
          <p:cNvSpPr txBox="1"/>
          <p:nvPr/>
        </p:nvSpPr>
        <p:spPr>
          <a:xfrm>
            <a:off x="11439144" y="331012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6891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</a:t>
            </a:r>
            <a:endParaRPr lang="en-US" sz="1000" dirty="0"/>
          </a:p>
        </p:txBody>
      </p:sp>
      <p:sp>
        <p:nvSpPr>
          <p:cNvPr id="41" name="force_f_buyer"/>
          <p:cNvSpPr txBox="1"/>
          <p:nvPr/>
        </p:nvSpPr>
        <p:spPr>
          <a:xfrm>
            <a:off x="10067544" y="3611880"/>
            <a:ext cx="15910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FICO 746 の高所得層は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他行も欲しい顧客。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金利で乗り換える</a:t>
            </a:r>
            <a:endParaRPr lang="en-US" sz="850" dirty="0"/>
          </a:p>
        </p:txBody>
      </p:sp>
      <p:sp>
        <p:nvSpPr>
          <p:cNvPr id="42" name="ovl_force_subst"/>
          <p:cNvSpPr/>
          <p:nvPr/>
        </p:nvSpPr>
        <p:spPr>
          <a:xfrm>
            <a:off x="8097012" y="4663440"/>
            <a:ext cx="17373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3" name="force_n_subst"/>
          <p:cNvSpPr txBox="1"/>
          <p:nvPr/>
        </p:nvSpPr>
        <p:spPr>
          <a:xfrm>
            <a:off x="8170164" y="4727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代替品</a:t>
            </a:r>
            <a:endParaRPr lang="en-US" sz="950" dirty="0"/>
          </a:p>
        </p:txBody>
      </p:sp>
      <p:sp>
        <p:nvSpPr>
          <p:cNvPr id="44" name="force_s_subst"/>
          <p:cNvSpPr txBox="1"/>
          <p:nvPr/>
        </p:nvSpPr>
        <p:spPr>
          <a:xfrm>
            <a:off x="9541764" y="472744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6891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</a:t>
            </a:r>
            <a:endParaRPr lang="en-US" sz="1000" dirty="0"/>
          </a:p>
        </p:txBody>
      </p:sp>
      <p:sp>
        <p:nvSpPr>
          <p:cNvPr id="45" name="force_f_subst"/>
          <p:cNvSpPr txBox="1"/>
          <p:nvPr/>
        </p:nvSpPr>
        <p:spPr>
          <a:xfrm>
            <a:off x="8170164" y="5029200"/>
            <a:ext cx="15910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カード・ホームエクイティ・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プライベートクレジットの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直接貸出</a:t>
            </a:r>
            <a:endParaRPr lang="en-US" sz="850" dirty="0"/>
          </a:p>
        </p:txBody>
      </p:sp>
      <p:sp>
        <p:nvSpPr>
          <p:cNvPr id="46" name="ovl_hub"/>
          <p:cNvSpPr/>
          <p:nvPr/>
        </p:nvSpPr>
        <p:spPr>
          <a:xfrm>
            <a:off x="8097012" y="3246120"/>
            <a:ext cx="1737360" cy="1325880"/>
          </a:xfrm>
          <a:prstGeom prst="roundRect">
            <a:avLst>
              <a:gd name="adj" fmla="val 4138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47" name="hub_t"/>
          <p:cNvSpPr txBox="1"/>
          <p:nvPr/>
        </p:nvSpPr>
        <p:spPr>
          <a:xfrm>
            <a:off x="8170164" y="3337560"/>
            <a:ext cx="15910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の利ざや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5.98%</a:t>
            </a:r>
            <a:endParaRPr lang="en-US" sz="1300" dirty="0"/>
          </a:p>
        </p:txBody>
      </p:sp>
      <p:sp>
        <p:nvSpPr>
          <p:cNvPr id="48" name="ovl_arrow"/>
          <p:cNvSpPr/>
          <p:nvPr/>
        </p:nvSpPr>
        <p:spPr>
          <a:xfrm>
            <a:off x="8965692" y="3154680"/>
            <a:ext cx="914" cy="91440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49" name="ovl_arrow"/>
          <p:cNvSpPr/>
          <p:nvPr/>
        </p:nvSpPr>
        <p:spPr>
          <a:xfrm flipV="1">
            <a:off x="8965692" y="4572000"/>
            <a:ext cx="914" cy="91440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50" name="ovl_arrow"/>
          <p:cNvSpPr/>
          <p:nvPr/>
        </p:nvSpPr>
        <p:spPr>
          <a:xfrm>
            <a:off x="7936992" y="3909060"/>
            <a:ext cx="16002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51" name="ovl_arrow"/>
          <p:cNvSpPr/>
          <p:nvPr/>
        </p:nvSpPr>
        <p:spPr>
          <a:xfrm flipH="1">
            <a:off x="9834372" y="3909060"/>
            <a:ext cx="16002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52" name="ovl_arrow"/>
          <p:cNvSpPr/>
          <p:nvPr/>
        </p:nvSpPr>
        <p:spPr>
          <a:xfrm>
            <a:off x="7936992" y="3154680"/>
            <a:ext cx="160020" cy="91440"/>
          </a:xfrm>
          <a:prstGeom prst="line">
            <a:avLst/>
          </a:prstGeom>
          <a:noFill/>
          <a:ln w="12700">
            <a:solidFill>
              <a:srgbClr val="767676"/>
            </a:solidFill>
            <a:prstDash val="solid"/>
            <a:tailEnd type="triangle"/>
          </a:ln>
        </p:spPr>
      </p:sp>
      <p:sp>
        <p:nvSpPr>
          <p:cNvPr id="53" name="ovl_takeaway_bg"/>
          <p:cNvSpPr/>
          <p:nvPr/>
        </p:nvSpPr>
        <p:spPr>
          <a:xfrm>
            <a:off x="9994392" y="4663440"/>
            <a:ext cx="1737360" cy="13258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54" name="takeaway"/>
          <p:cNvSpPr txBox="1"/>
          <p:nvPr/>
        </p:nvSpPr>
        <p:spPr>
          <a:xfrm>
            <a:off x="10104120" y="4736592"/>
            <a:ext cx="1517904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競争が強いのは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貸出の市場。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資金の側が弱い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(SoFi に有利)ことが、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利ざやを支える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2-5 資金と信用(1/2)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398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398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資金と信用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001774" y="356616"/>
            <a:ext cx="9732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安い資金がいつまで続き、資本がいつ成長を律速するかを確かめる(芯の 1 つ: 資金コスト)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預金は倉庫ラインより 1.56pt 安いが差は縮小。総自己資本比率は半年で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22.9% → 18.8% に下がり、2027 年に貸出の伸びを律速する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総自己資本比率の経路(%、2026 年末以降は事業エンジン)。右: 預金の調達コストと構成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10-Q(Q1・Q2 2026)の規制資本の表、research_r2/R7_funding_rates_capital.md、calc/out/val.json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16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総自己資本比率(%)</a:t>
            </a:r>
            <a:endParaRPr lang="en-US" sz="1200" dirty="0"/>
          </a:p>
        </p:txBody>
      </p:sp>
      <p:graphicFrame>
        <p:nvGraphicFramePr>
          <p:cNvPr id="22" name="chart" descr=""/>
          <p:cNvGraphicFramePr/>
          <p:nvPr/>
        </p:nvGraphicFramePr>
        <p:xfrm>
          <a:off x="457200" y="1810512"/>
          <a:ext cx="5760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2628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2025-12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2026-06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リスク資産(RWA)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372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487 億ドル(+31%)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85.2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91.7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457200" y="5486400"/>
            <a:ext cx="57607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運用下限は low-to-mid teens(14〜15%)。エンジンでは 2027 年に貸出の伸びが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資本で止まり(+32% の希望 → 約 +22%)、溢れた分を LPB に回す</a:t>
            </a:r>
            <a:endParaRPr lang="en-US" sz="950" dirty="0"/>
          </a:p>
        </p:txBody>
      </p:sp>
      <p:sp>
        <p:nvSpPr>
          <p:cNvPr id="25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預金の調達コスト</a:t>
            </a:r>
            <a:endParaRPr lang="en-US" sz="1200" dirty="0"/>
          </a:p>
        </p:txBody>
      </p:sp>
      <p:graphicFrame>
        <p:nvGraphicFramePr>
          <p:cNvPr id="33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28800"/>
          <a:ext cx="528523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163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指標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預金の平均金利(2026 年上期)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3.07%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(普通 3.24%・当座 1.07%・定期 3.95%)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倉庫ラインとの差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1.93pt(2024-12)→ 1.56pt(2026-06)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年間の金利の節約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7.1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普通預金の金利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3.30%(9 月の利上げ後も据え置き)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ブローカー預金の比率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3.7% → 10.0%(半年)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bullets"/>
          <p:cNvSpPr txBox="1"/>
          <p:nvPr/>
        </p:nvSpPr>
        <p:spPr>
          <a:xfrm>
            <a:off x="6446520" y="4023360"/>
            <a:ext cx="5285232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利上げ(9/16、FF 3.75〜4.00%)の後も普通預金の金利を据え置き、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利ざやは守られている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Q2 の預金増 53 億ドルの約 6 割がブローカー預金。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給与振込の預金の伸びが貸出に追いついていない</a:t>
            </a:r>
            <a:endParaRPr lang="en-US" sz="1000" dirty="0"/>
          </a:p>
        </p:txBody>
      </p:sp>
      <p:sp>
        <p:nvSpPr>
          <p:cNvPr id="28" name="ovl_takeaway_bg"/>
          <p:cNvSpPr/>
          <p:nvPr/>
        </p:nvSpPr>
        <p:spPr>
          <a:xfrm>
            <a:off x="6446520" y="5303520"/>
            <a:ext cx="5285232" cy="7772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9" name="takeaway"/>
          <p:cNvSpPr txBox="1"/>
          <p:nvPr/>
        </p:nvSpPr>
        <p:spPr>
          <a:xfrm>
            <a:off x="6556248" y="5376672"/>
            <a:ext cx="5065776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安い資金は続くが差は縮小。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成長の上限を決めるのは資金ではなく自己資本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2-5 資金と信用(2/2)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398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398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資金と信用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001774" y="356616"/>
            <a:ext cx="9732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利益の質を左右する貸倒と公正価値の前提を、実績と並べて確かめる(芯の 1 つ: 信用コスト)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公正価値の損失前提(年 4.8%)は実績の貸倒(all-in 3.7%)より保守的。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弱点は金利で、Q3 の金利上昇はマークを押し下げる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個人ローンの貸倒率(報告値・all-in)と公正価値の損失前提(年率、%)。右: 公正価値のマークと金利への感応度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8-K・10-Q(Q2 2024〜Q2 2026)、research_r2/R5_credit_fv.md。Q3 の影響は会社開示のマーク変動からの推計(ヘッジ前)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17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個人ローンの貸倒率と損失前提(%)</a:t>
            </a:r>
            <a:endParaRPr lang="en-US" sz="1200" dirty="0"/>
          </a:p>
        </p:txBody>
      </p:sp>
      <p:graphicFrame>
        <p:nvGraphicFramePr>
          <p:cNvPr id="22" name="chart" descr=""/>
          <p:cNvGraphicFramePr/>
          <p:nvPr/>
        </p:nvGraphicFramePr>
        <p:xfrm>
          <a:off x="457200" y="1810512"/>
          <a:ext cx="5760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457200" y="4846320"/>
            <a:ext cx="576072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all-in は会社の推計(Q3 2024 から開示)。空売り(Muddy Waters)の主張は約 6.1%。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2022 年 Q4〜2025 年 Q3 組成の累積損失は 4.68%(残存元本 35%)で、2017 年組成の同時点 6.43% を下回る。借り手は FICO 746・年収 15.8 万ドル</a:t>
            </a:r>
            <a:endParaRPr lang="en-US" sz="950" dirty="0"/>
          </a:p>
        </p:txBody>
      </p:sp>
      <p:sp>
        <p:nvSpPr>
          <p:cNvPr id="24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公正価値のマークと金利</a:t>
            </a:r>
            <a:endParaRPr lang="en-US" sz="1200" dirty="0"/>
          </a:p>
        </p:txBody>
      </p:sp>
      <p:graphicFrame>
        <p:nvGraphicFramePr>
          <p:cNvPr id="18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10512"/>
          <a:ext cx="528523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45336"/>
                <a:gridCol w="15453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学生ローン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残高(額面)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261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161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マーク(2026-03 → 06)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105.4 → 104.7%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105.2 → 104.4%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割引率(2025-12 → 2026-06)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4.46 → 4.97%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3.89 → 4.29%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割引率 1bp あたりのマーク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1.4〜2.0bp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2.4〜3.3bp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の金利上昇(+55〜60bp)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−2〜3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−2.5〜3.5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6446520" y="4206240"/>
            <a:ext cx="5285232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の行はヘッジ前の推計。Q2 は金利スワップの益が評価減の多くを打ち消した</a:t>
            </a:r>
            <a:endParaRPr lang="en-US" sz="900" dirty="0"/>
          </a:p>
        </p:txBody>
      </p:sp>
      <p:sp>
        <p:nvSpPr>
          <p:cNvPr id="27" name="ovl_takeaway_bg"/>
          <p:cNvSpPr/>
          <p:nvPr/>
        </p:nvSpPr>
        <p:spPr>
          <a:xfrm>
            <a:off x="6446520" y="4754880"/>
            <a:ext cx="5285232" cy="13258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takeaway"/>
          <p:cNvSpPr txBox="1"/>
          <p:nvPr/>
        </p:nvSpPr>
        <p:spPr>
          <a:xfrm>
            <a:off x="6556248" y="4828032"/>
            <a:ext cx="5065776" cy="11795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損失の前提は実績より保守的で、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「利益は偽物」という空売りの主張は信用の数字では裏付けが弱い。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弱点は金利: 割引率が薄く、金利が上がるとマークが下がる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第2章 事業・資金・成長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2-6 成長の前提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398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398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成長の前提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001774" y="356616"/>
            <a:ext cx="9732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根幹の指標の加速・減速から、コンセンサスが妥当かを確かめる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会員純増は四半期 110 万人で横ばい、製品数とクロスバイは加速。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コンセンサスは下期の利益の急増(EPS 0.12 → 0.17 → 0.19)を前提にする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根幹 KPI の水準と加速度(前期比は年率換算)。右: コンセンサスの四半期 EPS(2026 年)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会社開示(Q4 2024〜Q2 2026)、research/R1b_kpi.md、research_r2/R6・R7・R8(Benzinga の四半期コンセンサス)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18</a:t>
            </a:r>
            <a:endParaRPr lang="en-US" sz="800" dirty="0"/>
          </a:p>
        </p:txBody>
      </p:sp>
      <p:graphicFrame>
        <p:nvGraphicFramePr>
          <p:cNvPr id="1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75895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25880"/>
                <a:gridCol w="1188720"/>
                <a:gridCol w="1005840"/>
                <a:gridCol w="141732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根幹 KPI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水準(Q2 2026)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前期比(年率)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前年比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 階差分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コンセンサス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会員数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1,580 万人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+34%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横ばい(+35% が 3 期)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 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+30% 以上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会員純増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110 万人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0%(Q1 も 110 万)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減速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会員当たり製品数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1.54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+8%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加速(1.46 → 1.54)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クロスバイ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+8pt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+16pt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加速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調整後純収益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12.1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+51%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+40%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6767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横ばい(+41 → +40%)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 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47.5〜48.5 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の組成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31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+14%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減速(Q4 2025 の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37 億がピーク)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all-in 貸倒率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3.7%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−0.7pt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−0.8pt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97A5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改善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32.2%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+1.7pt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+1.2pt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悪化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下期に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低下を前提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総自己資本比率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18.8%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−2.5pt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低下が加速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pane_head"/>
          <p:cNvSpPr txBox="1"/>
          <p:nvPr/>
        </p:nvSpPr>
        <p:spPr>
          <a:xfrm>
            <a:off x="8275320" y="148132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四半期 EPS(調整後、ドル)</a:t>
            </a:r>
            <a:endParaRPr lang="en-US" sz="1200" dirty="0"/>
          </a:p>
        </p:txBody>
      </p:sp>
      <p:graphicFrame>
        <p:nvGraphicFramePr>
          <p:cNvPr id="23" name="chart" descr=""/>
          <p:cNvGraphicFramePr/>
          <p:nvPr/>
        </p:nvGraphicFramePr>
        <p:xfrm>
          <a:off x="8275320" y="1810512"/>
          <a:ext cx="345643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ovl_takeaway_bg"/>
          <p:cNvSpPr/>
          <p:nvPr/>
        </p:nvSpPr>
        <p:spPr>
          <a:xfrm>
            <a:off x="8275320" y="4663440"/>
            <a:ext cx="3456432" cy="141732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5" name="takeaway"/>
          <p:cNvSpPr txBox="1"/>
          <p:nvPr/>
        </p:nvSpPr>
        <p:spPr>
          <a:xfrm>
            <a:off x="8385048" y="4736592"/>
            <a:ext cx="3236976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コンセンサスは下期に EPS +50% を前提にし、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会社の通期 0.60 と一致。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会員の伸びは横ばい、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販促費率と資本比率は悪化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4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agend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agenda_lbl"/>
          <p:cNvSpPr txBox="1"/>
          <p:nvPr/>
        </p:nvSpPr>
        <p:spPr>
          <a:xfrm>
            <a:off x="73152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bg_agenda_n0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bg_agenda_nt0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bg_agenda_ch0"/>
          <p:cNvSpPr txBox="1"/>
          <p:nvPr/>
        </p:nvSpPr>
        <p:spPr>
          <a:xfrm>
            <a:off x="1417320" y="1444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評価総括</a:t>
            </a:r>
            <a:endParaRPr lang="en-US" sz="1800" dirty="0"/>
          </a:p>
        </p:txBody>
      </p:sp>
      <p:sp>
        <p:nvSpPr>
          <p:cNvPr id="7" name="bg_agenda_n1"/>
          <p:cNvSpPr/>
          <p:nvPr/>
        </p:nvSpPr>
        <p:spPr>
          <a:xfrm>
            <a:off x="777240" y="2395728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g_agenda_nt1"/>
          <p:cNvSpPr txBox="1"/>
          <p:nvPr/>
        </p:nvSpPr>
        <p:spPr>
          <a:xfrm>
            <a:off x="7772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bg_agenda_ch1"/>
          <p:cNvSpPr txBox="1"/>
          <p:nvPr/>
        </p:nvSpPr>
        <p:spPr>
          <a:xfrm>
            <a:off x="1417320" y="2377440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事業・資金・成長</a:t>
            </a:r>
            <a:endParaRPr lang="en-US" sz="1800" dirty="0"/>
          </a:p>
        </p:txBody>
      </p:sp>
      <p:sp>
        <p:nvSpPr>
          <p:cNvPr id="10" name="bg_agenda_n2"/>
          <p:cNvSpPr/>
          <p:nvPr/>
        </p:nvSpPr>
        <p:spPr>
          <a:xfrm>
            <a:off x="777240" y="3328416"/>
            <a:ext cx="457200" cy="457200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bg_agenda_nt2"/>
          <p:cNvSpPr txBox="1"/>
          <p:nvPr/>
        </p:nvSpPr>
        <p:spPr>
          <a:xfrm>
            <a:off x="7772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bg_agenda_ch2"/>
          <p:cNvSpPr txBox="1"/>
          <p:nvPr/>
        </p:nvSpPr>
        <p:spPr>
          <a:xfrm>
            <a:off x="1417320" y="3310128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成長の尺度</a:t>
            </a:r>
            <a:endParaRPr lang="en-US" sz="1800" dirty="0"/>
          </a:p>
        </p:txBody>
      </p:sp>
      <p:sp>
        <p:nvSpPr>
          <p:cNvPr id="13" name="bg_agenda_why2"/>
          <p:cNvSpPr txBox="1"/>
          <p:nvPr/>
        </p:nvSpPr>
        <p:spPr>
          <a:xfrm>
            <a:off x="1417320" y="3785616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現在の利益率ではなく成長段階の尺度で、構造の強さと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弱さを仕分ける(第2版で追加)</a:t>
            </a:r>
            <a:endParaRPr lang="en-US" sz="1000" dirty="0"/>
          </a:p>
        </p:txBody>
      </p:sp>
      <p:sp>
        <p:nvSpPr>
          <p:cNvPr id="14" name="bg_agenda_n3"/>
          <p:cNvSpPr/>
          <p:nvPr/>
        </p:nvSpPr>
        <p:spPr>
          <a:xfrm>
            <a:off x="777240" y="4261104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bg_agenda_nt3"/>
          <p:cNvSpPr txBox="1"/>
          <p:nvPr/>
        </p:nvSpPr>
        <p:spPr>
          <a:xfrm>
            <a:off x="7772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bg_agenda_ch3"/>
          <p:cNvSpPr txBox="1"/>
          <p:nvPr/>
        </p:nvSpPr>
        <p:spPr>
          <a:xfrm>
            <a:off x="1417320" y="4242816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13条件の構造分析</a:t>
            </a:r>
            <a:endParaRPr lang="en-US" sz="1800" dirty="0"/>
          </a:p>
        </p:txBody>
      </p:sp>
      <p:sp>
        <p:nvSpPr>
          <p:cNvPr id="17" name="bg_agenda_n4"/>
          <p:cNvSpPr/>
          <p:nvPr/>
        </p:nvSpPr>
        <p:spPr>
          <a:xfrm>
            <a:off x="777240" y="5193792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bg_agenda_nt4"/>
          <p:cNvSpPr txBox="1"/>
          <p:nvPr/>
        </p:nvSpPr>
        <p:spPr>
          <a:xfrm>
            <a:off x="7772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bg_agenda_ch4"/>
          <p:cNvSpPr txBox="1"/>
          <p:nvPr/>
        </p:nvSpPr>
        <p:spPr>
          <a:xfrm>
            <a:off x="1417320" y="5175504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バリュエーション・リスク・投資アクション</a:t>
            </a:r>
            <a:endParaRPr lang="en-US" sz="1800" dirty="0"/>
          </a:p>
        </p:txBody>
      </p:sp>
      <p:sp>
        <p:nvSpPr>
          <p:cNvPr id="20" name="bg_agenda_rule"/>
          <p:cNvSpPr/>
          <p:nvPr/>
        </p:nvSpPr>
        <p:spPr>
          <a:xfrm>
            <a:off x="7543800" y="1463040"/>
            <a:ext cx="0" cy="4389120"/>
          </a:xfrm>
          <a:prstGeom prst="line">
            <a:avLst/>
          </a:prstGeom>
          <a:noFill/>
          <a:ln w="9525">
            <a:solidFill>
              <a:srgbClr val="86C99B"/>
            </a:solidFill>
            <a:prstDash val="solid"/>
          </a:ln>
        </p:spPr>
      </p:sp>
      <p:sp>
        <p:nvSpPr>
          <p:cNvPr id="21" name="bg_agenda_sh"/>
          <p:cNvSpPr txBox="1"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第3章の構成</a:t>
            </a:r>
            <a:endParaRPr lang="en-US" sz="1300" dirty="0"/>
          </a:p>
        </p:txBody>
      </p:sp>
      <p:sp>
        <p:nvSpPr>
          <p:cNvPr id="22" name="bg_agenda_s0"/>
          <p:cNvSpPr txBox="1"/>
          <p:nvPr/>
        </p:nvSpPr>
        <p:spPr>
          <a:xfrm>
            <a:off x="781812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3-1  成長エンジン</a:t>
            </a:r>
            <a:endParaRPr lang="en-US" sz="1250" dirty="0"/>
          </a:p>
        </p:txBody>
      </p:sp>
      <p:sp>
        <p:nvSpPr>
          <p:cNvPr id="23" name="bg_agenda_p0"/>
          <p:cNvSpPr txBox="1"/>
          <p:nvPr/>
        </p:nvSpPr>
        <p:spPr>
          <a:xfrm>
            <a:off x="10881360" y="1920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p.20–21</a:t>
            </a:r>
            <a:endParaRPr lang="en-US" sz="1050" dirty="0"/>
          </a:p>
        </p:txBody>
      </p:sp>
      <p:sp>
        <p:nvSpPr>
          <p:cNvPr id="24" name="bg_agenda_s1"/>
          <p:cNvSpPr txBox="1"/>
          <p:nvPr/>
        </p:nvSpPr>
        <p:spPr>
          <a:xfrm>
            <a:off x="781812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3-2  獲得投資と資本</a:t>
            </a:r>
            <a:endParaRPr lang="en-US" sz="1250" dirty="0"/>
          </a:p>
        </p:txBody>
      </p:sp>
      <p:sp>
        <p:nvSpPr>
          <p:cNvPr id="25" name="bg_agenda_p1"/>
          <p:cNvSpPr txBox="1"/>
          <p:nvPr/>
        </p:nvSpPr>
        <p:spPr>
          <a:xfrm>
            <a:off x="10881360" y="23774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p.22–23</a:t>
            </a:r>
            <a:endParaRPr lang="en-US" sz="1050" dirty="0"/>
          </a:p>
        </p:txBody>
      </p:sp>
      <p:sp>
        <p:nvSpPr>
          <p:cNvPr id="26" name="bg_agenda_s2"/>
          <p:cNvSpPr txBox="1"/>
          <p:nvPr/>
        </p:nvSpPr>
        <p:spPr>
          <a:xfrm>
            <a:off x="78181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3-3  段階とオプション</a:t>
            </a:r>
            <a:endParaRPr lang="en-US" sz="1250" dirty="0"/>
          </a:p>
        </p:txBody>
      </p:sp>
      <p:sp>
        <p:nvSpPr>
          <p:cNvPr id="27" name="bg_agenda_p2"/>
          <p:cNvSpPr txBox="1"/>
          <p:nvPr/>
        </p:nvSpPr>
        <p:spPr>
          <a:xfrm>
            <a:off x="10881360" y="28346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p.24</a:t>
            </a:r>
            <a:endParaRPr lang="en-US" sz="1050" dirty="0"/>
          </a:p>
        </p:txBody>
      </p:sp>
      <p:sp>
        <p:nvSpPr>
          <p:cNvPr id="28" name="bg_agenda_s3"/>
          <p:cNvSpPr txBox="1"/>
          <p:nvPr/>
        </p:nvSpPr>
        <p:spPr>
          <a:xfrm>
            <a:off x="781812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3-4  組み合わせと資本コスト</a:t>
            </a:r>
            <a:endParaRPr lang="en-US" sz="1250" dirty="0"/>
          </a:p>
        </p:txBody>
      </p:sp>
      <p:sp>
        <p:nvSpPr>
          <p:cNvPr id="29" name="bg_agenda_p3"/>
          <p:cNvSpPr txBox="1"/>
          <p:nvPr/>
        </p:nvSpPr>
        <p:spPr>
          <a:xfrm>
            <a:off x="10881360" y="32918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p.25</a:t>
            </a:r>
            <a:endParaRPr lang="en-US" sz="1050" dirty="0"/>
          </a:p>
        </p:txBody>
      </p:sp>
      <p:sp>
        <p:nvSpPr>
          <p:cNvPr id="3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成長の尺度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3-1 成長エンジン(1/2)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525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525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成長エンジン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128774" y="356616"/>
            <a:ext cx="9605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獲得 → 主口座化 → クロスセルの連鎖が回っているかで、成長投資の価値が決まる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販促費で会員を取り、給与振込で主口座にし、クロスセルで製品を重ねる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連鎖が回る。製品当たり獲得費は −15%、律速は自己資本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会員 → SoFi の獲得と関係 → 収益化 → 資金と資本。①〜⑥ は右と対応。数値は Q2 2026(販促費は年換算)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research_r3/R10_growth_engine_cac.md・R11・R12、会社開示(Q2 2026)、calc/out/growth_v2.json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</a:t>
            </a:r>
            <a:endParaRPr lang="en-US" sz="800" dirty="0"/>
          </a:p>
        </p:txBody>
      </p:sp>
      <p:sp>
        <p:nvSpPr>
          <p:cNvPr id="21" name="bg_lane0"/>
          <p:cNvSpPr/>
          <p:nvPr/>
        </p:nvSpPr>
        <p:spPr>
          <a:xfrm>
            <a:off x="347472" y="1517904"/>
            <a:ext cx="149961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bg_laneh0"/>
          <p:cNvSpPr/>
          <p:nvPr/>
        </p:nvSpPr>
        <p:spPr>
          <a:xfrm>
            <a:off x="347472" y="1517904"/>
            <a:ext cx="149961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bg_lanet0"/>
          <p:cNvSpPr txBox="1"/>
          <p:nvPr/>
        </p:nvSpPr>
        <p:spPr>
          <a:xfrm>
            <a:off x="347472" y="151790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</a:t>
            </a:r>
            <a:endParaRPr lang="en-US" sz="950" dirty="0"/>
          </a:p>
        </p:txBody>
      </p:sp>
      <p:sp>
        <p:nvSpPr>
          <p:cNvPr id="24" name="bg_lane1"/>
          <p:cNvSpPr/>
          <p:nvPr/>
        </p:nvSpPr>
        <p:spPr>
          <a:xfrm>
            <a:off x="2481072" y="1517904"/>
            <a:ext cx="3861816" cy="4315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5" name="bg_laneh1"/>
          <p:cNvSpPr/>
          <p:nvPr/>
        </p:nvSpPr>
        <p:spPr>
          <a:xfrm>
            <a:off x="2481072" y="1517904"/>
            <a:ext cx="386181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6" name="bg_lanet1"/>
          <p:cNvSpPr txBox="1"/>
          <p:nvPr/>
        </p:nvSpPr>
        <p:spPr>
          <a:xfrm>
            <a:off x="2481072" y="1517904"/>
            <a:ext cx="3861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の成長エンジン</a:t>
            </a:r>
            <a:endParaRPr lang="en-US" sz="950" dirty="0"/>
          </a:p>
        </p:txBody>
      </p:sp>
      <p:sp>
        <p:nvSpPr>
          <p:cNvPr id="27" name="bg_lane2"/>
          <p:cNvSpPr/>
          <p:nvPr/>
        </p:nvSpPr>
        <p:spPr>
          <a:xfrm>
            <a:off x="6976872" y="1517904"/>
            <a:ext cx="140817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8" name="bg_laneh2"/>
          <p:cNvSpPr/>
          <p:nvPr/>
        </p:nvSpPr>
        <p:spPr>
          <a:xfrm>
            <a:off x="6976872" y="1517904"/>
            <a:ext cx="140817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bg_lanet2"/>
          <p:cNvSpPr txBox="1"/>
          <p:nvPr/>
        </p:nvSpPr>
        <p:spPr>
          <a:xfrm>
            <a:off x="6976872" y="151790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資金と資本</a:t>
            </a:r>
            <a:endParaRPr lang="en-US" sz="950" dirty="0"/>
          </a:p>
        </p:txBody>
      </p:sp>
      <p:sp>
        <p:nvSpPr>
          <p:cNvPr id="30" name="ovl_grp0"/>
          <p:cNvSpPr/>
          <p:nvPr/>
        </p:nvSpPr>
        <p:spPr>
          <a:xfrm>
            <a:off x="2526792" y="1911096"/>
            <a:ext cx="1499616" cy="3783439"/>
          </a:xfrm>
          <a:prstGeom prst="roundRect">
            <a:avLst>
              <a:gd name="adj" fmla="val 3659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1" name="ovl_grp1"/>
          <p:cNvSpPr/>
          <p:nvPr/>
        </p:nvSpPr>
        <p:spPr>
          <a:xfrm>
            <a:off x="4751832" y="1911096"/>
            <a:ext cx="1545336" cy="3783439"/>
          </a:xfrm>
          <a:prstGeom prst="roundRect">
            <a:avLst>
              <a:gd name="adj" fmla="val 3550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2" name="ovl_s15a_e0_0"/>
          <p:cNvSpPr/>
          <p:nvPr/>
        </p:nvSpPr>
        <p:spPr>
          <a:xfrm flipH="1">
            <a:off x="1737360" y="3802815"/>
            <a:ext cx="8534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3" name="ovl_s15a_e1_0"/>
          <p:cNvSpPr/>
          <p:nvPr/>
        </p:nvSpPr>
        <p:spPr>
          <a:xfrm flipV="1">
            <a:off x="731520" y="2680934"/>
            <a:ext cx="914" cy="73783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4" name="ovl_s15a_e2_0"/>
          <p:cNvSpPr/>
          <p:nvPr/>
        </p:nvSpPr>
        <p:spPr>
          <a:xfrm>
            <a:off x="1737360" y="2351750"/>
            <a:ext cx="8534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5" name="ovl_s15a_e3_0"/>
          <p:cNvSpPr/>
          <p:nvPr/>
        </p:nvSpPr>
        <p:spPr>
          <a:xfrm>
            <a:off x="3962400" y="2351750"/>
            <a:ext cx="8534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6" name="ovl_s15a_e4_0"/>
          <p:cNvSpPr/>
          <p:nvPr/>
        </p:nvSpPr>
        <p:spPr>
          <a:xfrm>
            <a:off x="1737360" y="5253881"/>
            <a:ext cx="85344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37" name="ovl_s15a_e5_0"/>
          <p:cNvSpPr/>
          <p:nvPr/>
        </p:nvSpPr>
        <p:spPr>
          <a:xfrm>
            <a:off x="3962400" y="5253881"/>
            <a:ext cx="8534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8" name="ovl_s15a_e6_0"/>
          <p:cNvSpPr/>
          <p:nvPr/>
        </p:nvSpPr>
        <p:spPr>
          <a:xfrm flipV="1">
            <a:off x="3002280" y="4186863"/>
            <a:ext cx="914" cy="73783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9" name="ovl_s15a_e7_0"/>
          <p:cNvSpPr/>
          <p:nvPr/>
        </p:nvSpPr>
        <p:spPr>
          <a:xfrm>
            <a:off x="6233160" y="2351750"/>
            <a:ext cx="85344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0" name="ovl_s15a_e8_0"/>
          <p:cNvSpPr/>
          <p:nvPr/>
        </p:nvSpPr>
        <p:spPr>
          <a:xfrm>
            <a:off x="5524500" y="2680934"/>
            <a:ext cx="914" cy="371421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41" name="ovl_s15a_e9_0"/>
          <p:cNvSpPr/>
          <p:nvPr/>
        </p:nvSpPr>
        <p:spPr>
          <a:xfrm>
            <a:off x="6233160" y="3381538"/>
            <a:ext cx="85344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42" name="ovl_s15a_n_dd"/>
          <p:cNvSpPr/>
          <p:nvPr/>
        </p:nvSpPr>
        <p:spPr>
          <a:xfrm>
            <a:off x="457200" y="2022566"/>
            <a:ext cx="1280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3" name="ovl_s15a_nt_dd"/>
          <p:cNvSpPr txBox="1"/>
          <p:nvPr/>
        </p:nvSpPr>
        <p:spPr>
          <a:xfrm>
            <a:off x="493776" y="2049998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給与振込の会員</a:t>
            </a:r>
            <a:endParaRPr lang="en-US" sz="1000" dirty="0"/>
          </a:p>
        </p:txBody>
      </p:sp>
      <p:sp>
        <p:nvSpPr>
          <p:cNvPr id="44" name="ovl_s15a_ns_dd"/>
          <p:cNvSpPr txBox="1"/>
          <p:nvPr/>
        </p:nvSpPr>
        <p:spPr>
          <a:xfrm>
            <a:off x="502920" y="2255738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会員の預金の約 97%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(主口座)</a:t>
            </a:r>
            <a:endParaRPr lang="en-US" sz="850" dirty="0"/>
          </a:p>
        </p:txBody>
      </p:sp>
      <p:sp>
        <p:nvSpPr>
          <p:cNvPr id="45" name="ovl_s15a_n_newm"/>
          <p:cNvSpPr/>
          <p:nvPr/>
        </p:nvSpPr>
        <p:spPr>
          <a:xfrm>
            <a:off x="457200" y="3418767"/>
            <a:ext cx="128016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6" name="ovl_s15a_nt_newm"/>
          <p:cNvSpPr txBox="1"/>
          <p:nvPr/>
        </p:nvSpPr>
        <p:spPr>
          <a:xfrm>
            <a:off x="493776" y="3446199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新しい会員</a:t>
            </a:r>
            <a:endParaRPr lang="en-US" sz="1000" dirty="0"/>
          </a:p>
        </p:txBody>
      </p:sp>
      <p:sp>
        <p:nvSpPr>
          <p:cNvPr id="47" name="ovl_s15a_ns_newm"/>
          <p:cNvSpPr txBox="1"/>
          <p:nvPr/>
        </p:nvSpPr>
        <p:spPr>
          <a:xfrm>
            <a:off x="502920" y="3651939"/>
            <a:ext cx="118872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純増 110 万人/四半期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 357 ドル</a:t>
            </a:r>
            <a:endParaRPr lang="en-US" sz="850" dirty="0"/>
          </a:p>
        </p:txBody>
      </p:sp>
      <p:sp>
        <p:nvSpPr>
          <p:cNvPr id="48" name="ovl_s15a_n_ex"/>
          <p:cNvSpPr/>
          <p:nvPr/>
        </p:nvSpPr>
        <p:spPr>
          <a:xfrm>
            <a:off x="457200" y="4924697"/>
            <a:ext cx="1280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9" name="ovl_s15a_nt_ex"/>
          <p:cNvSpPr txBox="1"/>
          <p:nvPr/>
        </p:nvSpPr>
        <p:spPr>
          <a:xfrm>
            <a:off x="493776" y="4952129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既存会員</a:t>
            </a:r>
            <a:endParaRPr lang="en-US" sz="1000" dirty="0"/>
          </a:p>
        </p:txBody>
      </p:sp>
      <p:sp>
        <p:nvSpPr>
          <p:cNvPr id="50" name="ovl_s15a_ns_ex"/>
          <p:cNvSpPr txBox="1"/>
          <p:nvPr/>
        </p:nvSpPr>
        <p:spPr>
          <a:xfrm>
            <a:off x="502920" y="5157869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1,580 万人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1.54 製品</a:t>
            </a:r>
            <a:endParaRPr lang="en-US" sz="850" dirty="0"/>
          </a:p>
        </p:txBody>
      </p:sp>
      <p:sp>
        <p:nvSpPr>
          <p:cNvPr id="51" name="ovl_s15a_n_money"/>
          <p:cNvSpPr/>
          <p:nvPr/>
        </p:nvSpPr>
        <p:spPr>
          <a:xfrm>
            <a:off x="2590800" y="2022566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2" name="ovl_s15a_nt_money"/>
          <p:cNvSpPr txBox="1"/>
          <p:nvPr/>
        </p:nvSpPr>
        <p:spPr>
          <a:xfrm>
            <a:off x="2627376" y="2049998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Money(預金)</a:t>
            </a:r>
            <a:endParaRPr lang="en-US" sz="1000" dirty="0"/>
          </a:p>
        </p:txBody>
      </p:sp>
      <p:sp>
        <p:nvSpPr>
          <p:cNvPr id="53" name="ovl_s15a_ns_money"/>
          <p:cNvSpPr txBox="1"/>
          <p:nvPr/>
        </p:nvSpPr>
        <p:spPr>
          <a:xfrm>
            <a:off x="2636520" y="2255738"/>
            <a:ext cx="12801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455 億ドル・平均 3.07%</a:t>
            </a:r>
            <a:endParaRPr lang="en-US" sz="850" dirty="0"/>
          </a:p>
        </p:txBody>
      </p:sp>
      <p:sp>
        <p:nvSpPr>
          <p:cNvPr id="54" name="ovl_s15a_n_sm"/>
          <p:cNvSpPr/>
          <p:nvPr/>
        </p:nvSpPr>
        <p:spPr>
          <a:xfrm>
            <a:off x="2590800" y="3418767"/>
            <a:ext cx="1371600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5" name="ovl_s15a_nt_sm"/>
          <p:cNvSpPr txBox="1"/>
          <p:nvPr/>
        </p:nvSpPr>
        <p:spPr>
          <a:xfrm>
            <a:off x="2627376" y="3446199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販促・ブランド</a:t>
            </a:r>
            <a:endParaRPr lang="en-US" sz="1000" dirty="0"/>
          </a:p>
        </p:txBody>
      </p:sp>
      <p:sp>
        <p:nvSpPr>
          <p:cNvPr id="56" name="ovl_s15a_ns_sm"/>
          <p:cNvSpPr txBox="1"/>
          <p:nvPr/>
        </p:nvSpPr>
        <p:spPr>
          <a:xfrm>
            <a:off x="2636520" y="3651939"/>
            <a:ext cx="128016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15.7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(売上の 32%)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認知度 10.4%</a:t>
            </a:r>
            <a:endParaRPr lang="en-US" sz="850" dirty="0"/>
          </a:p>
        </p:txBody>
      </p:sp>
      <p:sp>
        <p:nvSpPr>
          <p:cNvPr id="57" name="ovl_s15a_n_cross"/>
          <p:cNvSpPr/>
          <p:nvPr/>
        </p:nvSpPr>
        <p:spPr>
          <a:xfrm>
            <a:off x="2590800" y="4924697"/>
            <a:ext cx="1371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8" name="ovl_s15a_nt_cross"/>
          <p:cNvSpPr txBox="1"/>
          <p:nvPr/>
        </p:nvSpPr>
        <p:spPr>
          <a:xfrm>
            <a:off x="2627376" y="4952129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</a:t>
            </a:r>
            <a:endParaRPr lang="en-US" sz="1000" dirty="0"/>
          </a:p>
        </p:txBody>
      </p:sp>
      <p:sp>
        <p:nvSpPr>
          <p:cNvPr id="59" name="ovl_s15a_ns_cross"/>
          <p:cNvSpPr txBox="1"/>
          <p:nvPr/>
        </p:nvSpPr>
        <p:spPr>
          <a:xfrm>
            <a:off x="2636520" y="5157869"/>
            <a:ext cx="12801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新製品の 51%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(1 年前 35%)</a:t>
            </a:r>
            <a:endParaRPr lang="en-US" sz="850" dirty="0"/>
          </a:p>
        </p:txBody>
      </p:sp>
      <p:sp>
        <p:nvSpPr>
          <p:cNvPr id="60" name="ovl_s15a_n_bs"/>
          <p:cNvSpPr/>
          <p:nvPr/>
        </p:nvSpPr>
        <p:spPr>
          <a:xfrm>
            <a:off x="4815840" y="2022566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61" name="ovl_s15a_nt_bs"/>
          <p:cNvSpPr txBox="1"/>
          <p:nvPr/>
        </p:nvSpPr>
        <p:spPr>
          <a:xfrm>
            <a:off x="4852416" y="2049998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</a:t>
            </a:r>
            <a:endParaRPr lang="en-US" sz="1000" dirty="0"/>
          </a:p>
        </p:txBody>
      </p:sp>
      <p:sp>
        <p:nvSpPr>
          <p:cNvPr id="62" name="ovl_s15a_ns_bs"/>
          <p:cNvSpPr txBox="1"/>
          <p:nvPr/>
        </p:nvSpPr>
        <p:spPr>
          <a:xfrm>
            <a:off x="4861560" y="2255738"/>
            <a:ext cx="13258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5.98%</a:t>
            </a:r>
            <a:endParaRPr lang="en-US" sz="850" dirty="0"/>
          </a:p>
        </p:txBody>
      </p:sp>
      <p:sp>
        <p:nvSpPr>
          <p:cNvPr id="63" name="ovl_s15a_n_lpb"/>
          <p:cNvSpPr/>
          <p:nvPr/>
        </p:nvSpPr>
        <p:spPr>
          <a:xfrm>
            <a:off x="4815840" y="3052354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4" name="ovl_s15a_nt_lpb"/>
          <p:cNvSpPr txBox="1"/>
          <p:nvPr/>
        </p:nvSpPr>
        <p:spPr>
          <a:xfrm>
            <a:off x="4852416" y="3079786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</a:t>
            </a:r>
            <a:endParaRPr lang="en-US" sz="1000" dirty="0"/>
          </a:p>
        </p:txBody>
      </p:sp>
      <p:sp>
        <p:nvSpPr>
          <p:cNvPr id="65" name="ovl_s15a_ns_lpb"/>
          <p:cNvSpPr txBox="1"/>
          <p:nvPr/>
        </p:nvSpPr>
        <p:spPr>
          <a:xfrm>
            <a:off x="4861560" y="3285526"/>
            <a:ext cx="13258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配分 49% → 29%</a:t>
            </a:r>
            <a:endParaRPr lang="en-US" sz="850" dirty="0"/>
          </a:p>
        </p:txBody>
      </p:sp>
      <p:sp>
        <p:nvSpPr>
          <p:cNvPr id="66" name="ovl_s15a_n_tp"/>
          <p:cNvSpPr/>
          <p:nvPr/>
        </p:nvSpPr>
        <p:spPr>
          <a:xfrm>
            <a:off x="4815840" y="3942806"/>
            <a:ext cx="14173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7" name="ovl_s15a_nt_tp"/>
          <p:cNvSpPr txBox="1"/>
          <p:nvPr/>
        </p:nvSpPr>
        <p:spPr>
          <a:xfrm>
            <a:off x="4852416" y="3970238"/>
            <a:ext cx="1344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</a:t>
            </a:r>
            <a:endParaRPr lang="en-US" sz="900" dirty="0"/>
          </a:p>
        </p:txBody>
      </p:sp>
      <p:sp>
        <p:nvSpPr>
          <p:cNvPr id="68" name="ovl_s15a_ns_tp"/>
          <p:cNvSpPr txBox="1"/>
          <p:nvPr/>
        </p:nvSpPr>
        <p:spPr>
          <a:xfrm>
            <a:off x="4861560" y="4326854"/>
            <a:ext cx="1325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前期比 +12.5%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自社コアへ移行</a:t>
            </a:r>
            <a:endParaRPr lang="en-US" sz="850" dirty="0"/>
          </a:p>
        </p:txBody>
      </p:sp>
      <p:sp>
        <p:nvSpPr>
          <p:cNvPr id="69" name="ovl_s15a_n_fees"/>
          <p:cNvSpPr/>
          <p:nvPr/>
        </p:nvSpPr>
        <p:spPr>
          <a:xfrm>
            <a:off x="4815840" y="4924697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0" name="ovl_s15a_nt_fees"/>
          <p:cNvSpPr txBox="1"/>
          <p:nvPr/>
        </p:nvSpPr>
        <p:spPr>
          <a:xfrm>
            <a:off x="4852416" y="4952129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手数料・会費</a:t>
            </a:r>
            <a:endParaRPr lang="en-US" sz="1000" dirty="0"/>
          </a:p>
        </p:txBody>
      </p:sp>
      <p:sp>
        <p:nvSpPr>
          <p:cNvPr id="71" name="ovl_s15a_ns_fees"/>
          <p:cNvSpPr txBox="1"/>
          <p:nvPr/>
        </p:nvSpPr>
        <p:spPr>
          <a:xfrm>
            <a:off x="4861560" y="5157869"/>
            <a:ext cx="13258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FS 手数料 +81%</a:t>
            </a:r>
            <a:endParaRPr lang="en-US" sz="850" dirty="0"/>
          </a:p>
        </p:txBody>
      </p:sp>
      <p:sp>
        <p:nvSpPr>
          <p:cNvPr id="72" name="ovl_s15a_n_cap"/>
          <p:cNvSpPr/>
          <p:nvPr/>
        </p:nvSpPr>
        <p:spPr>
          <a:xfrm>
            <a:off x="7086600" y="2022566"/>
            <a:ext cx="1188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3" name="ovl_s15a_nt_cap"/>
          <p:cNvSpPr txBox="1"/>
          <p:nvPr/>
        </p:nvSpPr>
        <p:spPr>
          <a:xfrm>
            <a:off x="7123176" y="2049998"/>
            <a:ext cx="11155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</a:t>
            </a:r>
            <a:endParaRPr lang="en-US" sz="1000" dirty="0"/>
          </a:p>
        </p:txBody>
      </p:sp>
      <p:sp>
        <p:nvSpPr>
          <p:cNvPr id="74" name="ovl_s15a_ns_cap"/>
          <p:cNvSpPr txBox="1"/>
          <p:nvPr/>
        </p:nvSpPr>
        <p:spPr>
          <a:xfrm>
            <a:off x="7132320" y="2255738"/>
            <a:ext cx="1097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比率 18.8%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自給率 0.34</a:t>
            </a:r>
            <a:endParaRPr lang="en-US" sz="850" dirty="0"/>
          </a:p>
        </p:txBody>
      </p:sp>
      <p:sp>
        <p:nvSpPr>
          <p:cNvPr id="75" name="ovl_s15a_n_buyers"/>
          <p:cNvSpPr/>
          <p:nvPr/>
        </p:nvSpPr>
        <p:spPr>
          <a:xfrm>
            <a:off x="7086600" y="3052354"/>
            <a:ext cx="1188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76" name="ovl_s15a_nt_buyers"/>
          <p:cNvSpPr txBox="1"/>
          <p:nvPr/>
        </p:nvSpPr>
        <p:spPr>
          <a:xfrm>
            <a:off x="7123176" y="3079786"/>
            <a:ext cx="11155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ローンの買い手</a:t>
            </a:r>
            <a:endParaRPr lang="en-US" sz="1000" dirty="0"/>
          </a:p>
        </p:txBody>
      </p:sp>
      <p:sp>
        <p:nvSpPr>
          <p:cNvPr id="77" name="ovl_s15a_ns_buyers"/>
          <p:cNvSpPr txBox="1"/>
          <p:nvPr/>
        </p:nvSpPr>
        <p:spPr>
          <a:xfrm>
            <a:off x="7132320" y="3285526"/>
            <a:ext cx="1097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 100 億ドル超</a:t>
            </a:r>
            <a:endParaRPr lang="en-US" sz="850" dirty="0"/>
          </a:p>
        </p:txBody>
      </p:sp>
      <p:sp>
        <p:nvSpPr>
          <p:cNvPr id="78" name="ovl_s15a_lab0"/>
          <p:cNvSpPr txBox="1"/>
          <p:nvPr/>
        </p:nvSpPr>
        <p:spPr>
          <a:xfrm>
            <a:off x="1916849" y="3569643"/>
            <a:ext cx="49446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獲得</a:t>
            </a:r>
            <a:endParaRPr lang="en-US" sz="850" dirty="0"/>
          </a:p>
        </p:txBody>
      </p:sp>
      <p:sp>
        <p:nvSpPr>
          <p:cNvPr id="79" name="ovl_s15a_lab1"/>
          <p:cNvSpPr txBox="1"/>
          <p:nvPr/>
        </p:nvSpPr>
        <p:spPr>
          <a:xfrm>
            <a:off x="777240" y="2946981"/>
            <a:ext cx="72763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</a:t>
            </a:r>
            <a:endParaRPr lang="en-US" sz="850" dirty="0"/>
          </a:p>
        </p:txBody>
      </p:sp>
      <p:sp>
        <p:nvSpPr>
          <p:cNvPr id="80" name="ovl_s15a_lab2"/>
          <p:cNvSpPr txBox="1"/>
          <p:nvPr/>
        </p:nvSpPr>
        <p:spPr>
          <a:xfrm>
            <a:off x="1876044" y="2118578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安い預金</a:t>
            </a:r>
            <a:endParaRPr lang="en-US" sz="850" dirty="0"/>
          </a:p>
        </p:txBody>
      </p:sp>
      <p:sp>
        <p:nvSpPr>
          <p:cNvPr id="81" name="ovl_s15a_lab3"/>
          <p:cNvSpPr txBox="1"/>
          <p:nvPr/>
        </p:nvSpPr>
        <p:spPr>
          <a:xfrm>
            <a:off x="4141889" y="2118578"/>
            <a:ext cx="49446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</a:t>
            </a:r>
            <a:endParaRPr lang="en-US" sz="850" dirty="0"/>
          </a:p>
        </p:txBody>
      </p:sp>
      <p:sp>
        <p:nvSpPr>
          <p:cNvPr id="82" name="ovl_s15a_lab4"/>
          <p:cNvSpPr txBox="1"/>
          <p:nvPr/>
        </p:nvSpPr>
        <p:spPr>
          <a:xfrm>
            <a:off x="1741970" y="5020709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製品を足す</a:t>
            </a:r>
            <a:endParaRPr lang="en-US" sz="850" dirty="0"/>
          </a:p>
        </p:txBody>
      </p:sp>
      <p:sp>
        <p:nvSpPr>
          <p:cNvPr id="83" name="ovl_s15a_lab5"/>
          <p:cNvSpPr txBox="1"/>
          <p:nvPr/>
        </p:nvSpPr>
        <p:spPr>
          <a:xfrm>
            <a:off x="4159377" y="5020709"/>
            <a:ext cx="45948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</a:t>
            </a:r>
            <a:endParaRPr lang="en-US" sz="850" dirty="0"/>
          </a:p>
        </p:txBody>
      </p:sp>
      <p:sp>
        <p:nvSpPr>
          <p:cNvPr id="84" name="ovl_s15a_lab6"/>
          <p:cNvSpPr txBox="1"/>
          <p:nvPr/>
        </p:nvSpPr>
        <p:spPr>
          <a:xfrm>
            <a:off x="3048000" y="4382044"/>
            <a:ext cx="86868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製品当たり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獲得費 −15%</a:t>
            </a:r>
            <a:endParaRPr lang="en-US" sz="850" dirty="0"/>
          </a:p>
        </p:txBody>
      </p:sp>
      <p:sp>
        <p:nvSpPr>
          <p:cNvPr id="85" name="ovl_s15a_lab7"/>
          <p:cNvSpPr txBox="1"/>
          <p:nvPr/>
        </p:nvSpPr>
        <p:spPr>
          <a:xfrm>
            <a:off x="6266688" y="1976846"/>
            <a:ext cx="786384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資本を使う</a:t>
            </a:r>
            <a:endParaRPr lang="en-US" sz="850" dirty="0"/>
          </a:p>
        </p:txBody>
      </p:sp>
      <p:sp>
        <p:nvSpPr>
          <p:cNvPr id="86" name="ovl_s15a_lab8"/>
          <p:cNvSpPr txBox="1"/>
          <p:nvPr/>
        </p:nvSpPr>
        <p:spPr>
          <a:xfrm>
            <a:off x="5570220" y="2763774"/>
            <a:ext cx="92583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抱えきれない分</a:t>
            </a:r>
            <a:endParaRPr lang="en-US" sz="850" dirty="0"/>
          </a:p>
        </p:txBody>
      </p:sp>
      <p:sp>
        <p:nvSpPr>
          <p:cNvPr id="87" name="ovl_s15a_lab9"/>
          <p:cNvSpPr txBox="1"/>
          <p:nvPr/>
        </p:nvSpPr>
        <p:spPr>
          <a:xfrm>
            <a:off x="6371844" y="3148366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引き渡し</a:t>
            </a:r>
            <a:endParaRPr lang="en-US" sz="850" dirty="0"/>
          </a:p>
        </p:txBody>
      </p:sp>
      <p:sp>
        <p:nvSpPr>
          <p:cNvPr id="88" name="ovl_s15a_glab0"/>
          <p:cNvSpPr txBox="1"/>
          <p:nvPr/>
        </p:nvSpPr>
        <p:spPr>
          <a:xfrm>
            <a:off x="2618232" y="1828800"/>
            <a:ext cx="6543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獲得と関係</a:t>
            </a:r>
            <a:endParaRPr lang="en-US" sz="800" dirty="0"/>
          </a:p>
        </p:txBody>
      </p:sp>
      <p:sp>
        <p:nvSpPr>
          <p:cNvPr id="89" name="ovl_s15a_glab1"/>
          <p:cNvSpPr txBox="1"/>
          <p:nvPr/>
        </p:nvSpPr>
        <p:spPr>
          <a:xfrm>
            <a:off x="4843272" y="1828800"/>
            <a:ext cx="4511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収益化</a:t>
            </a:r>
            <a:endParaRPr lang="en-US" sz="800" dirty="0"/>
          </a:p>
        </p:txBody>
      </p:sp>
      <p:sp>
        <p:nvSpPr>
          <p:cNvPr id="90" name="ovl_s15a_leg0"/>
          <p:cNvSpPr/>
          <p:nvPr/>
        </p:nvSpPr>
        <p:spPr>
          <a:xfrm>
            <a:off x="457200" y="5971032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91" name="ovl_s15a_legt0"/>
          <p:cNvSpPr txBox="1"/>
          <p:nvPr/>
        </p:nvSpPr>
        <p:spPr>
          <a:xfrm>
            <a:off x="87782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92" name="ovl_s15a_leg1"/>
          <p:cNvSpPr/>
          <p:nvPr/>
        </p:nvSpPr>
        <p:spPr>
          <a:xfrm>
            <a:off x="1874520" y="5971032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93" name="ovl_s15a_legt1"/>
          <p:cNvSpPr txBox="1"/>
          <p:nvPr/>
        </p:nvSpPr>
        <p:spPr>
          <a:xfrm>
            <a:off x="229514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94" name="ovl_s15a_leg2"/>
          <p:cNvSpPr/>
          <p:nvPr/>
        </p:nvSpPr>
        <p:spPr>
          <a:xfrm>
            <a:off x="3291840" y="5971032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95" name="ovl_s15a_legt2"/>
          <p:cNvSpPr txBox="1"/>
          <p:nvPr/>
        </p:nvSpPr>
        <p:spPr>
          <a:xfrm>
            <a:off x="371246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96" name="ovl_s15a_leg3"/>
          <p:cNvSpPr/>
          <p:nvPr/>
        </p:nvSpPr>
        <p:spPr>
          <a:xfrm>
            <a:off x="4709160" y="5971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97" name="ovl_s15a_legt3"/>
          <p:cNvSpPr txBox="1"/>
          <p:nvPr/>
        </p:nvSpPr>
        <p:spPr>
          <a:xfrm>
            <a:off x="512978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98" name="ovl_s15a_legn"/>
          <p:cNvSpPr txBox="1"/>
          <p:nvPr/>
        </p:nvSpPr>
        <p:spPr>
          <a:xfrm>
            <a:off x="6126480" y="5870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99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00" name="mech"/>
          <p:cNvSpPr txBox="1"/>
          <p:nvPr/>
        </p:nvSpPr>
        <p:spPr>
          <a:xfrm>
            <a:off x="8458200" y="1810512"/>
            <a:ext cx="3276295" cy="26258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販促費(年 15.7 億ドル、売上の 32%)で会員を取る。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純増は四半期 110 万人、会員当たり 357 ドル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新しい会員が給与振込を設定して主口座になる。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会員の預金の約 97% が給与振込・主口座の会員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安い預金(平均 3.07%、倉庫ラインより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1.56pt 安い)が B/S 貸出を支え、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5.98%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既存会員が製品を足す。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クロスバイは 1 年で 35% → 51%、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既存会員の製品は 2.5 倍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クロスバイが増えるほど製品当たり獲得費が下がる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(210 → 178 ドル、−15%)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ただし貸出は自己資本を使う。自給率 0.34 で、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への配分は 49% → 29% に下がった</a:t>
            </a:r>
            <a:endParaRPr lang="en-US" sz="950" dirty="0"/>
          </a:p>
        </p:txBody>
      </p:sp>
      <p:sp>
        <p:nvSpPr>
          <p:cNvPr id="101" name="ovl_takeaway_bg"/>
          <p:cNvSpPr/>
          <p:nvPr/>
        </p:nvSpPr>
        <p:spPr>
          <a:xfrm>
            <a:off x="8458200" y="4509516"/>
            <a:ext cx="3276295" cy="915924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02" name="takeaway"/>
          <p:cNvSpPr txBox="1"/>
          <p:nvPr/>
        </p:nvSpPr>
        <p:spPr>
          <a:xfrm>
            <a:off x="8567928" y="4582668"/>
            <a:ext cx="3056839" cy="7696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連鎖は回っている(製品当たり獲得費 −15%、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51%)。律速は預金ではなく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</a:t>
            </a:r>
            <a:endParaRPr lang="en-US" sz="1000" dirty="0"/>
          </a:p>
        </p:txBody>
      </p:sp>
      <p:sp>
        <p:nvSpPr>
          <p:cNvPr id="103" name="updown"/>
          <p:cNvSpPr txBox="1"/>
          <p:nvPr/>
        </p:nvSpPr>
        <p:spPr>
          <a:xfrm>
            <a:off x="8458200" y="5498592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会員当たり販促費 330 ドル以下と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50% 超が続けば成長の価値が上がる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会員当たり販促費の上昇が続き、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の配分が戻らなければ成長は資本で止まる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成長の尺度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3-1 成長エンジン(2/2)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652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652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成長段階の尺度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255774" y="356616"/>
            <a:ext cx="9478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現在の利益率ではなく、成長段階の尺度で構造の強さと弱さを仕分ける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 つの尺度ではクロスセル(A)と単位経済・切替コスト(B)が強く、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資本の転換と新技術の効果(C)が弱い。段階の弱さは監視に回す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成長段階の尺度 G1〜G8(銘柄分析メソッド 第4.5版)。判定は S〜F(G2 は攻め/混合/必要)。段階: 預金・FS は獲得期、貸出は転換期の手前、Tech Platform は失注後の回復期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calc/A2_growth_memo.md、calc/out/growth_v2.json、research_r3/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21</a:t>
            </a:r>
            <a:endParaRPr lang="en-US" sz="800" dirty="0"/>
          </a:p>
        </p:txBody>
      </p:sp>
      <p:graphicFrame>
        <p:nvGraphicFramePr>
          <p:cNvPr id="22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651760"/>
                <a:gridCol w="3840480"/>
                <a:gridCol w="914400"/>
                <a:gridCol w="20391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尺度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何を見るか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数値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判定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 条件への効き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G1 単位経済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獲得 1 単位の採算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経済的 LTV/CAC 1.0〜3.3 倍(中央 約 2 倍)、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回収 1.6〜3.3 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G2 獲得投資の裁量性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攻めか、必要に迫られた支出か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 つの検査で攻め 4・混合 1・保留 1。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維持水準なら 2026 年 EPS 1.04 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条件2・6・7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G3 切替コスト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主口座化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会員の預金の約 97% が給与振込・主口座。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カード口座は会員の 3%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条件1・11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G4 クロスセル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獲得済みの会員が生む将来の収益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クロスバイ 35 → 51%、既存会員の製品 2.5 倍。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将来の利益は 1 株 0.45 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条件1・12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G5 資本の転換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自己資本の自給率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0.34。LPB の配分 49 → 29%、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手数料型の比率 44 → 39%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89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条件2・13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G6 B2B 基盤の段階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失注 → 底打ち → 信頼獲得 → 再成長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前期比 +12.5%、自社コアへ移行、新規 13 社。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貢献利益率 16 → 14%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条件3・10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G7 コスト構造の変化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新技術の費用効果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SoFiUSD で自社カードの決済を切替。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1bp の削減で年 250 万ドル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89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G8 組み合わせと資本コスト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銀行免許 × フィンテック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必要利回り 5.24%(免許なし 6.57%)。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節約 年 7.1 億ドル、β 1.93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9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条件1・2・11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ovl_takeaway_bg"/>
          <p:cNvSpPr/>
          <p:nvPr/>
        </p:nvSpPr>
        <p:spPr>
          <a:xfrm>
            <a:off x="457200" y="5440680"/>
            <a:ext cx="11274552" cy="6400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3" name="takeaway"/>
          <p:cNvSpPr txBox="1"/>
          <p:nvPr/>
        </p:nvSpPr>
        <p:spPr>
          <a:xfrm>
            <a:off x="566928" y="5513832"/>
            <a:ext cx="1105509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強いのはクロスセル(A)と、単位経済・切替コスト・組み合わせ(B)。弱いのは資本の転換と新技術の効果(C)で、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どちらも成長段階の弱さとして監視 KPI に置く。これにより条件2 を C → B に見直した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成長の尺度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3-2 獲得投資と資本(1/2)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779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779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獲得投資の裁量性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382774" y="356616"/>
            <a:ext cx="9351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は販促費の出し入れで調整できる。攻めの投資か、必要に迫られた支出かを見分ける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 +48% は 6 つの検査のうち 4 つで「攻め」。維持水準なら 2026 年の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は 1.04 ドルで、EPS 成長の約 3 割は販促費率の低下による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純増 1 件当たりの販促費(ドル、販促費 ÷ 純増。ローンのリード費・既存会員向けの特典を含むため上限寄り)。右: 6 つの検査と EPS への効き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research_r3/R10_growth_engine_cac.md(10-Q・8-K の要約)、calc/out/growth_v2.json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22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純増 1 件当たりの販促費(ドル)</a:t>
            </a:r>
            <a:endParaRPr lang="en-US" sz="1200" dirty="0"/>
          </a:p>
        </p:txBody>
      </p:sp>
      <p:graphicFrame>
        <p:nvGraphicFramePr>
          <p:cNvPr id="22" name="chart" descr=""/>
          <p:cNvGraphicFramePr/>
          <p:nvPr/>
        </p:nvGraphicFramePr>
        <p:xfrm>
          <a:off x="457200" y="1810512"/>
          <a:ext cx="57607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note_q2"/>
          <p:cNvSpPr txBox="1"/>
          <p:nvPr/>
        </p:nvSpPr>
        <p:spPr>
          <a:xfrm>
            <a:off x="457200" y="4846320"/>
            <a:ext cx="5760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Q2 2026: 会員当たり 357 ドル(前期比 +17%)、製品当たり 178 ドル(前年比 −15%)。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製品の純増 220 万件の 51% は既存会員が開いた(獲得費がほぼかからない)</a:t>
            </a:r>
            <a:endParaRPr lang="en-US" sz="900" dirty="0"/>
          </a:p>
        </p:txBody>
      </p:sp>
      <p:sp>
        <p:nvSpPr>
          <p:cNvPr id="24" name="ovl_takeaway_bg"/>
          <p:cNvSpPr/>
          <p:nvPr/>
        </p:nvSpPr>
        <p:spPr>
          <a:xfrm>
            <a:off x="457200" y="5394960"/>
            <a:ext cx="5760720" cy="6858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5" name="takeaway"/>
          <p:cNvSpPr txBox="1"/>
          <p:nvPr/>
        </p:nvSpPr>
        <p:spPr>
          <a:xfrm>
            <a:off x="566928" y="5468112"/>
            <a:ext cx="5541264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販促は攻めの再投資で、EPS は必要なら上げられる。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 Q2 は会員当たりの効率が悪化した(前期比 +17%)</a:t>
            </a:r>
            <a:endParaRPr lang="en-US" sz="1100" dirty="0"/>
          </a:p>
        </p:txBody>
      </p:sp>
      <p:sp>
        <p:nvSpPr>
          <p:cNvPr id="26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 つの検査(攻めか、必要に迫られた支出か)</a:t>
            </a:r>
            <a:endParaRPr lang="en-US" sz="1200" dirty="0"/>
          </a:p>
        </p:txBody>
      </p:sp>
      <p:graphicFrame>
        <p:nvGraphicFramePr>
          <p:cNvPr id="23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10512"/>
          <a:ext cx="528523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291840"/>
                <a:gridCol w="75895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検査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 の材料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判定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限界 CAC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製品当たり −15%、会員当たり +15%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混合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解約・休眠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非開示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普通預金 3.30% を利上げ後も据え置き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競合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 +48%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(Chime +25%、Robinhood の営業費用 +33%)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経営の運用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売上計画を上げ、EBITDA 計画は据え置き(再投資)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有機的な獲得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認知度 10.4%、クロスバイ 51%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攻め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A56"/>
                    </a:solidFill>
                  </a:tcPr>
                </a:tc>
              </a:tr>
            </a:tbl>
          </a:graphicData>
        </a:graphic>
      </p:graphicFrame>
      <p:sp>
        <p:nvSpPr>
          <p:cNvPr id="28" name="pane_head"/>
          <p:cNvSpPr txBox="1"/>
          <p:nvPr/>
        </p:nvSpPr>
        <p:spPr>
          <a:xfrm>
            <a:off x="6446520" y="431596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への効き(経営が出し入れできる部分)</a:t>
            </a:r>
            <a:endParaRPr lang="en-US" sz="1200" dirty="0"/>
          </a:p>
        </p:txBody>
      </p:sp>
      <p:graphicFrame>
        <p:nvGraphicFramePr>
          <p:cNvPr id="4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4645152"/>
          <a:ext cx="528523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3347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販促費率 1pt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 0.027 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維持水準(16%)なら 2026 年 EPS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1.04 ドル(13〜19% で 0.95〜1.12)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 年の再投資(売上計画の上振れ分)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 0.08 ドル相当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 成長(2026→29)のうち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販促費率の低下による部分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30%(32% 据え置きなら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2029 年 1.13、エンジン 1.35)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成長の尺度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3-2 獲得投資と資本(2/2)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033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033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単位経済と資本の転換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636774" y="356616"/>
            <a:ext cx="9097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獲得 1 単位の採算と、成長を自前の資本で賄えるかを確かめる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経済的 LTV/CAC は中央 約 2 倍で価値を生む。だが自己資本の自給率は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0.34 で、LPB への配分は 49% → 29% と逆方向に動いた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獲得 1 単位の採算(G1。資本コストと税を引き、株主資本コスト 13.9% で割り引いた経済的 LTV)。右: 自己資本の自給率と LPB への配分(G5)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calc/out/growth_v2.json(g1・g5)、research_r3/R10・R12、会社開示(Q2 2026)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23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単位経済(G1)</a:t>
            </a:r>
            <a:endParaRPr lang="en-US" sz="1200" dirty="0"/>
          </a:p>
        </p:txBody>
      </p:sp>
      <p:graphicFrame>
        <p:nvGraphicFramePr>
          <p:cNvPr id="24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76072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1945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計算の流れ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販促費控除前の税引前利益率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49%(Q2 2026)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資本コスト(必要資本 14.5% × RWA × 13.9%)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収益の 20%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税引後の経済的利益率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年で増えた年換算収益 × 22%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13.8 億ドル → 年 3.1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3" name="pane_head"/>
          <p:cNvSpPr txBox="1"/>
          <p:nvPr/>
        </p:nvSpPr>
        <p:spPr>
          <a:xfrm>
            <a:off x="457200" y="361188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LTV/CAC</a:t>
            </a:r>
            <a:endParaRPr lang="en-US" sz="1200" dirty="0"/>
          </a:p>
        </p:txBody>
      </p:sp>
      <p:graphicFrame>
        <p:nvGraphicFramePr>
          <p:cNvPr id="4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59352"/>
          <a:ext cx="5760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68680"/>
                <a:gridCol w="868680"/>
                <a:gridCol w="868680"/>
                <a:gridCol w="9601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CAC の基準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残存率 85%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残存率 90%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残存率 95%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回収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成長分の販促費(6.4 億ドル)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2.2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2.6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3.3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1.6 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販促費の全額(13.2 億ドル)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1.0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1.3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1.6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3.3 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製品単位の検算(178 ドル)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1.4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3.1 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1"/>
          <p:cNvSpPr txBox="1"/>
          <p:nvPr/>
        </p:nvSpPr>
        <p:spPr>
          <a:xfrm>
            <a:off x="457200" y="5440680"/>
            <a:ext cx="57607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注: 1 倍を超えれば資本コスト以上の価値を生む。維持水準の販促費は売上の 16% と置いた</a:t>
            </a:r>
            <a:endParaRPr lang="en-US" sz="900" dirty="0"/>
          </a:p>
        </p:txBody>
      </p:sp>
      <p:sp>
        <p:nvSpPr>
          <p:cNvPr id="26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資本の転換(G5)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6446520" y="1810512"/>
            <a:ext cx="528523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個人ローン組成のうち LPB に回した割合(%)</a:t>
            </a:r>
            <a:endParaRPr lang="en-US" sz="950" dirty="0"/>
          </a:p>
        </p:txBody>
      </p:sp>
      <p:graphicFrame>
        <p:nvGraphicFramePr>
          <p:cNvPr id="28" name="chart" descr=""/>
          <p:cNvGraphicFramePr/>
          <p:nvPr/>
        </p:nvGraphicFramePr>
        <p:xfrm>
          <a:off x="6446520" y="2057400"/>
          <a:ext cx="5285232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0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3977640"/>
          <a:ext cx="528523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9923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指標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自己資本の自給率(2026 年上期)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0.34(資本の生成 5.6 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÷ 必要資本の増加 16.6 億ドル)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手数料型収益の比率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44.0%(Q2 2025)→ 39.2%(Q2 2026)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経営陣の説明(Q1 2026)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「資本比率が非常に強いので自社に載せた」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ovl_takeaway_bg"/>
          <p:cNvSpPr/>
          <p:nvPr/>
        </p:nvSpPr>
        <p:spPr>
          <a:xfrm>
            <a:off x="6446520" y="5440680"/>
            <a:ext cx="5285232" cy="6858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1" name="takeaway"/>
          <p:cNvSpPr txBox="1"/>
          <p:nvPr/>
        </p:nvSpPr>
        <p:spPr>
          <a:xfrm>
            <a:off x="6556248" y="5513832"/>
            <a:ext cx="5065776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単位経済は正で、成長投資は価値を生む。だが資本の転換は能力に留まり、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年に資本の下限に当たるときに試される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成長の尺度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3-3 段階とオプション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7729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77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B2B 基盤と新技術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376424" y="356616"/>
            <a:ext cx="9358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前年比では見えない回復の段階と、新しい決済網のコスト効果を確かめる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は前期比 +12.5% で底打ちし、自社コアへの移行で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信頼獲得の段階。SoFiUSD の費用削減はまだ EPS の 1% 未満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Tech Platform の四半期収益(百万ドル)と段階(G6)。右: SoFiUSD の稼働状況と費用効果の感応度(G7、算術のみ)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research_r3/R11_techplatform_sofiusd.md(8-K・10-Q・会社発表の要約)、calc/out/growth_v2.json(g7)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24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の収益(百万ドル)</a:t>
            </a:r>
            <a:endParaRPr lang="en-US" sz="1200" dirty="0"/>
          </a:p>
        </p:txBody>
      </p:sp>
      <p:graphicFrame>
        <p:nvGraphicFramePr>
          <p:cNvPr id="22" name="chart" descr=""/>
          <p:cNvGraphicFramePr/>
          <p:nvPr/>
        </p:nvGraphicFramePr>
        <p:xfrm>
          <a:off x="457200" y="1810512"/>
          <a:ext cx="57607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flow_h0"/>
          <p:cNvSpPr txBox="1"/>
          <p:nvPr/>
        </p:nvSpPr>
        <p:spPr>
          <a:xfrm>
            <a:off x="457200" y="4407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失注</a:t>
            </a:r>
            <a:endParaRPr lang="en-US" sz="1100" dirty="0"/>
          </a:p>
        </p:txBody>
      </p:sp>
      <p:sp>
        <p:nvSpPr>
          <p:cNvPr id="24" name="ovl_fbox0_0"/>
          <p:cNvSpPr/>
          <p:nvPr/>
        </p:nvSpPr>
        <p:spPr>
          <a:xfrm>
            <a:off x="457200" y="4791456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5" name="flow_t0_0"/>
          <p:cNvSpPr txBox="1"/>
          <p:nvPr/>
        </p:nvSpPr>
        <p:spPr>
          <a:xfrm>
            <a:off x="530352" y="4828032"/>
            <a:ext cx="10881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大口顧客が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年末に離脱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(前年比 −27%)</a:t>
            </a:r>
            <a:endParaRPr lang="en-US" sz="950" dirty="0"/>
          </a:p>
        </p:txBody>
      </p:sp>
      <p:sp>
        <p:nvSpPr>
          <p:cNvPr id="26" name="ovl_farrow0"/>
          <p:cNvSpPr/>
          <p:nvPr/>
        </p:nvSpPr>
        <p:spPr>
          <a:xfrm>
            <a:off x="1732788" y="5042916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7" name="flow_h1"/>
          <p:cNvSpPr txBox="1"/>
          <p:nvPr/>
        </p:nvSpPr>
        <p:spPr>
          <a:xfrm>
            <a:off x="1965960" y="4407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底打ち(現在)</a:t>
            </a:r>
            <a:endParaRPr lang="en-US" sz="1100" dirty="0"/>
          </a:p>
        </p:txBody>
      </p:sp>
      <p:sp>
        <p:nvSpPr>
          <p:cNvPr id="28" name="ovl_fbox1_0"/>
          <p:cNvSpPr/>
          <p:nvPr/>
        </p:nvSpPr>
        <p:spPr>
          <a:xfrm>
            <a:off x="1965960" y="4791456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29" name="flow_t1_0"/>
          <p:cNvSpPr txBox="1"/>
          <p:nvPr/>
        </p:nvSpPr>
        <p:spPr>
          <a:xfrm>
            <a:off x="2039112" y="4828032"/>
            <a:ext cx="10881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前期比 +12.5%、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口座 +190 万</a:t>
            </a:r>
            <a:endParaRPr lang="en-US" sz="950" dirty="0"/>
          </a:p>
        </p:txBody>
      </p:sp>
      <p:sp>
        <p:nvSpPr>
          <p:cNvPr id="30" name="ovl_farrow1"/>
          <p:cNvSpPr/>
          <p:nvPr/>
        </p:nvSpPr>
        <p:spPr>
          <a:xfrm>
            <a:off x="3241548" y="5042916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1" name="flow_h2"/>
          <p:cNvSpPr txBox="1"/>
          <p:nvPr/>
        </p:nvSpPr>
        <p:spPr>
          <a:xfrm>
            <a:off x="3474720" y="4407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信頼獲得</a:t>
            </a:r>
            <a:endParaRPr lang="en-US" sz="1100" dirty="0"/>
          </a:p>
        </p:txBody>
      </p:sp>
      <p:sp>
        <p:nvSpPr>
          <p:cNvPr id="32" name="ovl_fbox2_0"/>
          <p:cNvSpPr/>
          <p:nvPr/>
        </p:nvSpPr>
        <p:spPr>
          <a:xfrm>
            <a:off x="3474720" y="4791456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3" name="flow_t2_0"/>
          <p:cNvSpPr txBox="1"/>
          <p:nvPr/>
        </p:nvSpPr>
        <p:spPr>
          <a:xfrm>
            <a:off x="3547872" y="4828032"/>
            <a:ext cx="10881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Money 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自社の新コアへ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移行、新規 13 社</a:t>
            </a:r>
            <a:endParaRPr lang="en-US" sz="950" dirty="0"/>
          </a:p>
        </p:txBody>
      </p:sp>
      <p:sp>
        <p:nvSpPr>
          <p:cNvPr id="34" name="ovl_farrow2"/>
          <p:cNvSpPr/>
          <p:nvPr/>
        </p:nvSpPr>
        <p:spPr>
          <a:xfrm>
            <a:off x="4750308" y="5042916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5" name="flow_h3"/>
          <p:cNvSpPr txBox="1"/>
          <p:nvPr/>
        </p:nvSpPr>
        <p:spPr>
          <a:xfrm>
            <a:off x="4983480" y="44074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再成長</a:t>
            </a:r>
            <a:endParaRPr lang="en-US" sz="1100" dirty="0"/>
          </a:p>
        </p:txBody>
      </p:sp>
      <p:sp>
        <p:nvSpPr>
          <p:cNvPr id="36" name="ovl_fbox3_0"/>
          <p:cNvSpPr/>
          <p:nvPr/>
        </p:nvSpPr>
        <p:spPr>
          <a:xfrm>
            <a:off x="4983480" y="4791456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7" name="flow_t3_0"/>
          <p:cNvSpPr txBox="1"/>
          <p:nvPr/>
        </p:nvSpPr>
        <p:spPr>
          <a:xfrm>
            <a:off x="5056632" y="4828032"/>
            <a:ext cx="10881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Q1 2027 から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前年比が楽になる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457200" y="5760720"/>
            <a:ext cx="57607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貢献利益は 1,200 万 → 1,180 万ドル(率 16% → 14%)で未底打ち。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大口除外後の伸び 12%(目標 20%)</a:t>
            </a:r>
            <a:endParaRPr lang="en-US" sz="950" dirty="0"/>
          </a:p>
        </p:txBody>
      </p:sp>
      <p:sp>
        <p:nvSpPr>
          <p:cNvPr id="39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SoFiUSD(G7)</a:t>
            </a:r>
            <a:endParaRPr lang="en-US" sz="1200" dirty="0"/>
          </a:p>
        </p:txBody>
      </p:sp>
      <p:graphicFrame>
        <p:nvGraphicFramePr>
          <p:cNvPr id="2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28800"/>
          <a:ext cx="528523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7355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指標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発行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2025-12 発表、2026-05 会員向け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流通残高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 3 億ドル(Q2 末、報道)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自社カードの決済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2026-09-22 に Mastercard 決済を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SoFiUSD へ切替(年 250 億ドル超の見込み)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費用削減の開示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なし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1" name="pane_head"/>
          <p:cNvSpPr txBox="1"/>
          <p:nvPr/>
        </p:nvSpPr>
        <p:spPr>
          <a:xfrm>
            <a:off x="6446520" y="3474720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費用効果の感応度(算術のみ)</a:t>
            </a:r>
            <a:endParaRPr lang="en-US" sz="1200" dirty="0"/>
          </a:p>
        </p:txBody>
      </p:sp>
      <p:graphicFrame>
        <p:nvGraphicFramePr>
          <p:cNvPr id="4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3840480"/>
          <a:ext cx="5285232" cy="914400"/>
        </p:xfrm>
        <a:graphic>
          <a:graphicData uri="http://schemas.openxmlformats.org/drawingml/2006/table">
            <a:tbl>
              <a:tblPr/>
              <a:tblGrid>
                <a:gridCol w="2542032"/>
                <a:gridCol w="146304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決済の削減 1bp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250 万ドル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0.0014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決済の削減 5bp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1,250 万ドル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0.007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流通 30 億ドル × 利ざや 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3,000 万ドル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0.017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流通 100 億ドル × 利ざや 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億ドル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0.056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3" name="ovl_takeaway_bg"/>
          <p:cNvSpPr/>
          <p:nvPr/>
        </p:nvSpPr>
        <p:spPr>
          <a:xfrm>
            <a:off x="6446520" y="5440680"/>
            <a:ext cx="5285232" cy="6858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44" name="takeaway"/>
          <p:cNvSpPr txBox="1"/>
          <p:nvPr/>
        </p:nvSpPr>
        <p:spPr>
          <a:xfrm>
            <a:off x="6556248" y="5513832"/>
            <a:ext cx="5065776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は収益で底打ち、利益は未底打ち。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 は仕組みとして正しいが、効果はまだ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の 1% 未満で、オプションとして扱う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第3章 成長の尺度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3-4 組み合わせと資本コスト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2364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2364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銀行免許 × フィンテック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839974" y="356616"/>
            <a:ext cx="88945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他にない組み合わせが、資本コストの面でどれだけ得か(損か)を楽観も悲観もせずに測る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銀行免許で負債は 1.33pt 安いが、株主資本はテック並みに高い(β 1.93)。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預金の節約 年 7.1 億ドルは販促費の 45%。律速は自己資本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組み合わせの希少さと再現コスト。右: 貸出 100 ドル当たりの税引前の必要利回り(負債 85.5% + 株主資本 14.5%、費用と信用損失の前)と、預金の節約の使い道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calc/A2_growth_memo.md §5、calc/out/growth_v2.json(g8)、research_r2/R7(預金と倉庫ラインの差)、research/R4・research_r3/R12(競合)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25</a:t>
            </a:r>
            <a:endParaRPr lang="en-US" sz="800" dirty="0"/>
          </a:p>
        </p:txBody>
      </p:sp>
      <p:sp>
        <p:nvSpPr>
          <p:cNvPr id="21" name="pane_l"/>
          <p:cNvSpPr txBox="1"/>
          <p:nvPr/>
        </p:nvSpPr>
        <p:spPr>
          <a:xfrm>
            <a:off x="457200" y="14813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希少さ(片方だけを持つ相手と比べる)</a:t>
            </a:r>
            <a:endParaRPr lang="en-US" sz="1200" dirty="0"/>
          </a:p>
        </p:txBody>
      </p:sp>
      <p:graphicFrame>
        <p:nvGraphicFramePr>
          <p:cNvPr id="26" name="tbl_rar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5321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240280"/>
                <a:gridCol w="228600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会社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銀行免許・預金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フィンテックの製品・技術基盤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SoFi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国法銀行(2022)、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 455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 1,580 万人、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Galileo・Technisys(外販)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LendingClub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銀行(2021 年に買収)、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 102 億ドル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個人ローン中心、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外販の基盤なし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Chime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なし(提携銀行)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 1,040 万人、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自社基盤 ChimeCore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Robinhood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なし(銀行業務は提携)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資金入り顧客 2,840 万人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Upstart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なし(買い手・資本市場で資金)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 審査の貸出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伝統的な銀行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あり(無利息預金が厚く、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預金コストは低い)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製品の速さ・会員の伸びで劣る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3" name="pane_l2"/>
          <p:cNvSpPr txBox="1"/>
          <p:nvPr/>
        </p:nvSpPr>
        <p:spPr>
          <a:xfrm>
            <a:off x="457200" y="4370832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再現コスト</a:t>
            </a:r>
            <a:endParaRPr lang="en-US" sz="1200" dirty="0"/>
          </a:p>
        </p:txBody>
      </p:sp>
      <p:sp>
        <p:nvSpPr>
          <p:cNvPr id="24" name="bul_repro"/>
          <p:cNvSpPr txBox="1"/>
          <p:nvPr/>
        </p:nvSpPr>
        <p:spPr>
          <a:xfrm>
            <a:off x="457200" y="4681728"/>
            <a:ext cx="5532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 26.2 億(2024〜26 年上期)+ 技術の買収 約 23 億 + 払込資本 7.5 億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= 約 57 億ドルと数年(時価総額 約 188 億ドルの約 3 割)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部品ごとの再現例はある: LendingClub は買収で約 1 年で免許、</a:t>
            </a:r>
            <a:br/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 は基盤を自前で、Robinhood は提携で銀行業務</a:t>
            </a:r>
            <a:endParaRPr lang="en-US" sz="1000" dirty="0"/>
          </a:p>
        </p:txBody>
      </p:sp>
      <p:sp>
        <p:nvSpPr>
          <p:cNvPr id="25" name="pane_r"/>
          <p:cNvSpPr txBox="1"/>
          <p:nvPr/>
        </p:nvSpPr>
        <p:spPr>
          <a:xfrm>
            <a:off x="6199632" y="14813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必要利回り(%、税引前)</a:t>
            </a:r>
            <a:endParaRPr lang="en-US" sz="1200" dirty="0"/>
          </a:p>
        </p:txBody>
      </p:sp>
      <p:graphicFrame>
        <p:nvGraphicFramePr>
          <p:cNvPr id="26" name="chart" descr=""/>
          <p:cNvGraphicFramePr/>
          <p:nvPr/>
        </p:nvGraphicFramePr>
        <p:xfrm>
          <a:off x="6199632" y="2103120"/>
          <a:ext cx="55321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otal_0"/>
          <p:cNvSpPr txBox="1"/>
          <p:nvPr/>
        </p:nvSpPr>
        <p:spPr>
          <a:xfrm>
            <a:off x="6455664" y="1828800"/>
            <a:ext cx="11109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合計 </a:t>
            </a: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5.24</a:t>
            </a:r>
            <a:endParaRPr lang="en-US" sz="1100" dirty="0"/>
          </a:p>
        </p:txBody>
      </p:sp>
      <p:sp>
        <p:nvSpPr>
          <p:cNvPr id="28" name="total_1"/>
          <p:cNvSpPr txBox="1"/>
          <p:nvPr/>
        </p:nvSpPr>
        <p:spPr>
          <a:xfrm>
            <a:off x="7566660" y="1828800"/>
            <a:ext cx="11109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合計 </a:t>
            </a: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6.57</a:t>
            </a:r>
            <a:endParaRPr lang="en-US" sz="1100" dirty="0"/>
          </a:p>
        </p:txBody>
      </p:sp>
      <p:sp>
        <p:nvSpPr>
          <p:cNvPr id="29" name="total_2"/>
          <p:cNvSpPr txBox="1"/>
          <p:nvPr/>
        </p:nvSpPr>
        <p:spPr>
          <a:xfrm>
            <a:off x="8677656" y="1828800"/>
            <a:ext cx="11109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合計 </a:t>
            </a: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4.71</a:t>
            </a:r>
            <a:endParaRPr lang="en-US" sz="1100" dirty="0"/>
          </a:p>
        </p:txBody>
      </p:sp>
      <p:sp>
        <p:nvSpPr>
          <p:cNvPr id="30" name="total_3"/>
          <p:cNvSpPr txBox="1"/>
          <p:nvPr/>
        </p:nvSpPr>
        <p:spPr>
          <a:xfrm>
            <a:off x="9788652" y="1828800"/>
            <a:ext cx="11109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合計 </a:t>
            </a: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4.45</a:t>
            </a:r>
            <a:endParaRPr lang="en-US" sz="1100" dirty="0"/>
          </a:p>
        </p:txBody>
      </p:sp>
      <p:sp>
        <p:nvSpPr>
          <p:cNvPr id="31" name="bul_read"/>
          <p:cNvSpPr txBox="1"/>
          <p:nvPr/>
        </p:nvSpPr>
        <p:spPr>
          <a:xfrm>
            <a:off x="6199632" y="4279392"/>
            <a:ext cx="553212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負債は銀行並みに安い: 預金で 1.33pt 得(免許なし比)。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株主資本はテック並みに高い: β 1.93 の負担は銀行並みの β 比 0.79pt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預金は貸出の資金で、広告・開発の直接の原資ではない。原資は厚くなった利ざや: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節約 年 7.1 億ドル = 販促費の 45%、販促 + 開発の 31%(税引後 1 株 0.40 ドル)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広告・開発は自己資本(コスト 13.9%)を減らす費用。律速は自己資本(自給率 0.34)</a:t>
            </a:r>
            <a:endParaRPr lang="en-US" sz="9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差は縮小中: 1.93pt(Q4 2024)→ 1.56pt(Q2 2026)。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預金コストは政策金利より約 0.8pt 低いだけ</a:t>
            </a:r>
            <a:endParaRPr lang="en-US" sz="950" dirty="0"/>
          </a:p>
        </p:txBody>
      </p:sp>
      <p:sp>
        <p:nvSpPr>
          <p:cNvPr id="32" name="ovl_takeaway_bg"/>
          <p:cNvSpPr/>
          <p:nvPr/>
        </p:nvSpPr>
        <p:spPr>
          <a:xfrm>
            <a:off x="457200" y="5623560"/>
            <a:ext cx="11274552" cy="5486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3" name="takeaway"/>
          <p:cNvSpPr txBox="1"/>
          <p:nvPr/>
        </p:nvSpPr>
        <p:spPr>
          <a:xfrm>
            <a:off x="566928" y="5696712"/>
            <a:ext cx="11055096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組み合わせは希少で、負債の安さは本物。ただし株主資本はテック並みに高く、差は縮小中で、部品は買える →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G8 は B、条件11 は B(A との境界)。資金の優位は NIM に既に入っており、理論株価に別建てで足さない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4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agend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agenda_lbl"/>
          <p:cNvSpPr txBox="1"/>
          <p:nvPr/>
        </p:nvSpPr>
        <p:spPr>
          <a:xfrm>
            <a:off x="73152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bg_agenda_n0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bg_agenda_nt0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bg_agenda_ch0"/>
          <p:cNvSpPr txBox="1"/>
          <p:nvPr/>
        </p:nvSpPr>
        <p:spPr>
          <a:xfrm>
            <a:off x="1417320" y="1444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評価総括</a:t>
            </a:r>
            <a:endParaRPr lang="en-US" sz="1800" dirty="0"/>
          </a:p>
        </p:txBody>
      </p:sp>
      <p:sp>
        <p:nvSpPr>
          <p:cNvPr id="7" name="bg_agenda_n1"/>
          <p:cNvSpPr/>
          <p:nvPr/>
        </p:nvSpPr>
        <p:spPr>
          <a:xfrm>
            <a:off x="777240" y="2395728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g_agenda_nt1"/>
          <p:cNvSpPr txBox="1"/>
          <p:nvPr/>
        </p:nvSpPr>
        <p:spPr>
          <a:xfrm>
            <a:off x="7772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bg_agenda_ch1"/>
          <p:cNvSpPr txBox="1"/>
          <p:nvPr/>
        </p:nvSpPr>
        <p:spPr>
          <a:xfrm>
            <a:off x="1417320" y="2377440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事業・資金・成長</a:t>
            </a:r>
            <a:endParaRPr lang="en-US" sz="1800" dirty="0"/>
          </a:p>
        </p:txBody>
      </p:sp>
      <p:sp>
        <p:nvSpPr>
          <p:cNvPr id="10" name="bg_agenda_n2"/>
          <p:cNvSpPr/>
          <p:nvPr/>
        </p:nvSpPr>
        <p:spPr>
          <a:xfrm>
            <a:off x="777240" y="3328416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bg_agenda_nt2"/>
          <p:cNvSpPr txBox="1"/>
          <p:nvPr/>
        </p:nvSpPr>
        <p:spPr>
          <a:xfrm>
            <a:off x="7772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bg_agenda_ch2"/>
          <p:cNvSpPr txBox="1"/>
          <p:nvPr/>
        </p:nvSpPr>
        <p:spPr>
          <a:xfrm>
            <a:off x="1417320" y="3310128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成長の尺度</a:t>
            </a:r>
            <a:endParaRPr lang="en-US" sz="1800" dirty="0"/>
          </a:p>
        </p:txBody>
      </p:sp>
      <p:sp>
        <p:nvSpPr>
          <p:cNvPr id="13" name="bg_agenda_n3"/>
          <p:cNvSpPr/>
          <p:nvPr/>
        </p:nvSpPr>
        <p:spPr>
          <a:xfrm>
            <a:off x="777240" y="4261104"/>
            <a:ext cx="457200" cy="457200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bg_agenda_nt3"/>
          <p:cNvSpPr txBox="1"/>
          <p:nvPr/>
        </p:nvSpPr>
        <p:spPr>
          <a:xfrm>
            <a:off x="7772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bg_agenda_ch3"/>
          <p:cNvSpPr txBox="1"/>
          <p:nvPr/>
        </p:nvSpPr>
        <p:spPr>
          <a:xfrm>
            <a:off x="1417320" y="4242816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13条件の構造分析</a:t>
            </a:r>
            <a:endParaRPr lang="en-US" sz="1800" dirty="0"/>
          </a:p>
        </p:txBody>
      </p:sp>
      <p:sp>
        <p:nvSpPr>
          <p:cNvPr id="16" name="bg_agenda_why3"/>
          <p:cNvSpPr txBox="1"/>
          <p:nvPr/>
        </p:nvSpPr>
        <p:spPr>
          <a:xfrm>
            <a:off x="1417320" y="4718304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長期保有に耐える構造かを 13 の条件で確かめ、構造評価を決める。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構造評価は許容する倍率(PEG)に直結する</a:t>
            </a:r>
            <a:endParaRPr lang="en-US" sz="1000" dirty="0"/>
          </a:p>
        </p:txBody>
      </p:sp>
      <p:sp>
        <p:nvSpPr>
          <p:cNvPr id="17" name="bg_agenda_n4"/>
          <p:cNvSpPr/>
          <p:nvPr/>
        </p:nvSpPr>
        <p:spPr>
          <a:xfrm>
            <a:off x="777240" y="5193792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bg_agenda_nt4"/>
          <p:cNvSpPr txBox="1"/>
          <p:nvPr/>
        </p:nvSpPr>
        <p:spPr>
          <a:xfrm>
            <a:off x="7772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bg_agenda_ch4"/>
          <p:cNvSpPr txBox="1"/>
          <p:nvPr/>
        </p:nvSpPr>
        <p:spPr>
          <a:xfrm>
            <a:off x="1417320" y="5175504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バリュエーション・リスク・投資アクション</a:t>
            </a:r>
            <a:endParaRPr lang="en-US" sz="1800" dirty="0"/>
          </a:p>
        </p:txBody>
      </p:sp>
      <p:sp>
        <p:nvSpPr>
          <p:cNvPr id="20" name="bg_agenda_rule"/>
          <p:cNvSpPr/>
          <p:nvPr/>
        </p:nvSpPr>
        <p:spPr>
          <a:xfrm>
            <a:off x="7543800" y="1463040"/>
            <a:ext cx="0" cy="4389120"/>
          </a:xfrm>
          <a:prstGeom prst="line">
            <a:avLst/>
          </a:prstGeom>
          <a:noFill/>
          <a:ln w="9525">
            <a:solidFill>
              <a:srgbClr val="86C99B"/>
            </a:solidFill>
            <a:prstDash val="solid"/>
          </a:ln>
        </p:spPr>
      </p:sp>
      <p:sp>
        <p:nvSpPr>
          <p:cNvPr id="21" name="bg_agenda_sh"/>
          <p:cNvSpPr txBox="1"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第4章の構成</a:t>
            </a:r>
            <a:endParaRPr lang="en-US" sz="1300" dirty="0"/>
          </a:p>
        </p:txBody>
      </p:sp>
      <p:sp>
        <p:nvSpPr>
          <p:cNvPr id="22" name="bg_agenda_s0"/>
          <p:cNvSpPr txBox="1"/>
          <p:nvPr/>
        </p:nvSpPr>
        <p:spPr>
          <a:xfrm>
            <a:off x="781812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4-1  稼ぐ力(条件1〜3)</a:t>
            </a:r>
            <a:endParaRPr lang="en-US" sz="1250" dirty="0"/>
          </a:p>
        </p:txBody>
      </p:sp>
      <p:sp>
        <p:nvSpPr>
          <p:cNvPr id="23" name="bg_agenda_p0"/>
          <p:cNvSpPr txBox="1"/>
          <p:nvPr/>
        </p:nvSpPr>
        <p:spPr>
          <a:xfrm>
            <a:off x="10881360" y="1920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p.27–29</a:t>
            </a:r>
            <a:endParaRPr lang="en-US" sz="1050" dirty="0"/>
          </a:p>
        </p:txBody>
      </p:sp>
      <p:sp>
        <p:nvSpPr>
          <p:cNvPr id="24" name="bg_agenda_s1"/>
          <p:cNvSpPr txBox="1"/>
          <p:nvPr/>
        </p:nvSpPr>
        <p:spPr>
          <a:xfrm>
            <a:off x="781812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4-2  経営(条件5)</a:t>
            </a:r>
            <a:endParaRPr lang="en-US" sz="1250" dirty="0"/>
          </a:p>
        </p:txBody>
      </p:sp>
      <p:sp>
        <p:nvSpPr>
          <p:cNvPr id="25" name="bg_agenda_p1"/>
          <p:cNvSpPr txBox="1"/>
          <p:nvPr/>
        </p:nvSpPr>
        <p:spPr>
          <a:xfrm>
            <a:off x="10881360" y="23774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p.30</a:t>
            </a:r>
            <a:endParaRPr lang="en-US" sz="1050" dirty="0"/>
          </a:p>
        </p:txBody>
      </p:sp>
      <p:sp>
        <p:nvSpPr>
          <p:cNvPr id="26" name="bg_agenda_s2"/>
          <p:cNvSpPr txBox="1"/>
          <p:nvPr/>
        </p:nvSpPr>
        <p:spPr>
          <a:xfrm>
            <a:off x="78181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4-3  成長と割安度(条件6・7)</a:t>
            </a:r>
            <a:endParaRPr lang="en-US" sz="1250" dirty="0"/>
          </a:p>
        </p:txBody>
      </p:sp>
      <p:sp>
        <p:nvSpPr>
          <p:cNvPr id="27" name="bg_agenda_p2"/>
          <p:cNvSpPr txBox="1"/>
          <p:nvPr/>
        </p:nvSpPr>
        <p:spPr>
          <a:xfrm>
            <a:off x="10881360" y="28346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p.31–32</a:t>
            </a:r>
            <a:endParaRPr lang="en-US" sz="1050" dirty="0"/>
          </a:p>
        </p:txBody>
      </p:sp>
      <p:sp>
        <p:nvSpPr>
          <p:cNvPr id="28" name="bg_agenda_s3"/>
          <p:cNvSpPr txBox="1"/>
          <p:nvPr/>
        </p:nvSpPr>
        <p:spPr>
          <a:xfrm>
            <a:off x="781812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4-4  商品と資産(条件8・10〜12)</a:t>
            </a:r>
            <a:endParaRPr lang="en-US" sz="1250" dirty="0"/>
          </a:p>
        </p:txBody>
      </p:sp>
      <p:sp>
        <p:nvSpPr>
          <p:cNvPr id="29" name="bg_agenda_p3"/>
          <p:cNvSpPr txBox="1"/>
          <p:nvPr/>
        </p:nvSpPr>
        <p:spPr>
          <a:xfrm>
            <a:off x="10881360" y="32918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p.33–35</a:t>
            </a:r>
            <a:endParaRPr lang="en-US" sz="1050" dirty="0"/>
          </a:p>
        </p:txBody>
      </p:sp>
      <p:sp>
        <p:nvSpPr>
          <p:cNvPr id="30" name="bg_agenda_s4"/>
          <p:cNvSpPr txBox="1"/>
          <p:nvPr/>
        </p:nvSpPr>
        <p:spPr>
          <a:xfrm>
            <a:off x="7818120" y="3749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4-5  総合(条件13)</a:t>
            </a:r>
            <a:endParaRPr lang="en-US" sz="1250" dirty="0"/>
          </a:p>
        </p:txBody>
      </p:sp>
      <p:sp>
        <p:nvSpPr>
          <p:cNvPr id="31" name="bg_agenda_p4"/>
          <p:cNvSpPr txBox="1"/>
          <p:nvPr/>
        </p:nvSpPr>
        <p:spPr>
          <a:xfrm>
            <a:off x="10881360" y="37490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p.36</a:t>
            </a:r>
            <a:endParaRPr lang="en-US" sz="1050" dirty="0"/>
          </a:p>
        </p:txBody>
      </p:sp>
      <p:sp>
        <p:nvSpPr>
          <p:cNvPr id="32" name="bg_agenda_note"/>
          <p:cNvSpPr txBox="1"/>
          <p:nvPr/>
        </p:nvSpPr>
        <p:spPr>
          <a:xfrm>
            <a:off x="7818120" y="4343400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条件4(上場市場)は審査の前提条件、条件9(AI 運用への不可欠性)は AI 関連企業でないため対象外。どちらも 1-2 の評価一覧で扱う</a:t>
            </a:r>
            <a:endParaRPr lang="en-US" sz="950" dirty="0"/>
          </a:p>
        </p:txBody>
      </p:sp>
      <p:sp>
        <p:nvSpPr>
          <p:cNvPr id="33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4-1 稼ぐ力(条件1〜3)(1/3)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115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115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競争優位の持続(条件1)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719324" y="356616"/>
            <a:ext cx="9015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年保有の前提は、利益を守る優位が続くこと。どの優位が何年続くかを見る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預金とブランドで競合より安く資金を集めるが、ローンは市場並みの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価格で、10 年の圧倒的な価格決定力とは言えない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会員 → SoFi の事業 → 優位の源泉 ← 競合の圧力。下: 優位が続く期間。①〜⑥ は右と対応。数値は Q2 2026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決算)、research_r2/R7_funding_rates_capital.md・R9_products_people.md、research/R4_scuttlebutt.md(各社 APY・価格表の第三者集計)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27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条件1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47472" y="1517904"/>
            <a:ext cx="1545336" cy="3172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47472" y="1517904"/>
            <a:ext cx="154533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47472" y="151790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2572512" y="1517904"/>
            <a:ext cx="3724656" cy="3172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2572512" y="1517904"/>
            <a:ext cx="372465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2572512" y="1517904"/>
            <a:ext cx="3724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の事業と優位の源泉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6976872" y="1517904"/>
            <a:ext cx="1408176" cy="3172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6976872" y="1517904"/>
            <a:ext cx="140817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6976872" y="151790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</a:t>
            </a:r>
            <a:endParaRPr lang="en-US" sz="950" dirty="0"/>
          </a:p>
        </p:txBody>
      </p:sp>
      <p:sp>
        <p:nvSpPr>
          <p:cNvPr id="33" name="ovl_grp0"/>
          <p:cNvSpPr/>
          <p:nvPr/>
        </p:nvSpPr>
        <p:spPr>
          <a:xfrm>
            <a:off x="2618232" y="1911096"/>
            <a:ext cx="1408176" cy="2734056"/>
          </a:xfrm>
          <a:prstGeom prst="roundRect">
            <a:avLst>
              <a:gd name="adj" fmla="val 3896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4" name="ovl_grp1"/>
          <p:cNvSpPr/>
          <p:nvPr/>
        </p:nvSpPr>
        <p:spPr>
          <a:xfrm>
            <a:off x="4797552" y="1911096"/>
            <a:ext cx="1453896" cy="2734056"/>
          </a:xfrm>
          <a:prstGeom prst="roundRect">
            <a:avLst>
              <a:gd name="adj" fmla="val 3774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5" name="ovl_s17_e0_0"/>
          <p:cNvSpPr/>
          <p:nvPr/>
        </p:nvSpPr>
        <p:spPr>
          <a:xfrm>
            <a:off x="1783080" y="2348484"/>
            <a:ext cx="8991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6" name="ovl_s17_e1_0"/>
          <p:cNvSpPr/>
          <p:nvPr/>
        </p:nvSpPr>
        <p:spPr>
          <a:xfrm flipH="1">
            <a:off x="3962400" y="2348484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7" name="ovl_s17_e2_0"/>
          <p:cNvSpPr/>
          <p:nvPr/>
        </p:nvSpPr>
        <p:spPr>
          <a:xfrm>
            <a:off x="3322320" y="2677668"/>
            <a:ext cx="914" cy="271272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8" name="ovl_s17_e3_0"/>
          <p:cNvSpPr/>
          <p:nvPr/>
        </p:nvSpPr>
        <p:spPr>
          <a:xfrm>
            <a:off x="1783080" y="3278124"/>
            <a:ext cx="8991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9" name="ovl_s17_e4_0"/>
          <p:cNvSpPr/>
          <p:nvPr/>
        </p:nvSpPr>
        <p:spPr>
          <a:xfrm flipH="1">
            <a:off x="6187440" y="3278124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0" name="ovl_s17_e5_0"/>
          <p:cNvSpPr/>
          <p:nvPr/>
        </p:nvSpPr>
        <p:spPr>
          <a:xfrm flipH="1">
            <a:off x="3962400" y="3278124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1" name="ovl_s17_e6_0"/>
          <p:cNvSpPr/>
          <p:nvPr/>
        </p:nvSpPr>
        <p:spPr>
          <a:xfrm>
            <a:off x="1783080" y="4207764"/>
            <a:ext cx="8991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2" name="ovl_s17_e7_0"/>
          <p:cNvSpPr/>
          <p:nvPr/>
        </p:nvSpPr>
        <p:spPr>
          <a:xfrm flipH="1">
            <a:off x="3962400" y="4207764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3" name="ovl_s17_e8_0"/>
          <p:cNvSpPr/>
          <p:nvPr/>
        </p:nvSpPr>
        <p:spPr>
          <a:xfrm flipH="1">
            <a:off x="6187440" y="2348484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4" name="ovl_s17_e9_0"/>
          <p:cNvSpPr/>
          <p:nvPr/>
        </p:nvSpPr>
        <p:spPr>
          <a:xfrm flipH="1">
            <a:off x="6187440" y="4207764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5" name="ovl_s17_n_dd"/>
          <p:cNvSpPr/>
          <p:nvPr/>
        </p:nvSpPr>
        <p:spPr>
          <a:xfrm>
            <a:off x="457200" y="201930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6" name="ovl_s17_nt_dd"/>
          <p:cNvSpPr txBox="1"/>
          <p:nvPr/>
        </p:nvSpPr>
        <p:spPr>
          <a:xfrm>
            <a:off x="493776" y="204673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給与振込の会員</a:t>
            </a:r>
            <a:endParaRPr lang="en-US" sz="1000" dirty="0"/>
          </a:p>
        </p:txBody>
      </p:sp>
      <p:sp>
        <p:nvSpPr>
          <p:cNvPr id="47" name="ovl_s17_ns_dd"/>
          <p:cNvSpPr txBox="1"/>
          <p:nvPr/>
        </p:nvSpPr>
        <p:spPr>
          <a:xfrm>
            <a:off x="502920" y="225247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預金の約 9 割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普通預金 3.30%</a:t>
            </a:r>
            <a:endParaRPr lang="en-US" sz="850" dirty="0"/>
          </a:p>
        </p:txBody>
      </p:sp>
      <p:sp>
        <p:nvSpPr>
          <p:cNvPr id="48" name="ovl_s17_n_borrow"/>
          <p:cNvSpPr/>
          <p:nvPr/>
        </p:nvSpPr>
        <p:spPr>
          <a:xfrm>
            <a:off x="457200" y="294894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9" name="ovl_s17_nt_borrow"/>
          <p:cNvSpPr txBox="1"/>
          <p:nvPr/>
        </p:nvSpPr>
        <p:spPr>
          <a:xfrm>
            <a:off x="493776" y="297637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借りる会員</a:t>
            </a:r>
            <a:endParaRPr lang="en-US" sz="1000" dirty="0"/>
          </a:p>
        </p:txBody>
      </p:sp>
      <p:sp>
        <p:nvSpPr>
          <p:cNvPr id="50" name="ovl_s17_ns_borrow"/>
          <p:cNvSpPr txBox="1"/>
          <p:nvPr/>
        </p:nvSpPr>
        <p:spPr>
          <a:xfrm>
            <a:off x="502920" y="318211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FICO 746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金利を比べて選ぶ</a:t>
            </a:r>
            <a:endParaRPr lang="en-US" sz="850" dirty="0"/>
          </a:p>
        </p:txBody>
      </p:sp>
      <p:sp>
        <p:nvSpPr>
          <p:cNvPr id="51" name="ovl_s17_n_inv"/>
          <p:cNvSpPr/>
          <p:nvPr/>
        </p:nvSpPr>
        <p:spPr>
          <a:xfrm>
            <a:off x="457200" y="387858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2" name="ovl_s17_nt_inv"/>
          <p:cNvSpPr txBox="1"/>
          <p:nvPr/>
        </p:nvSpPr>
        <p:spPr>
          <a:xfrm>
            <a:off x="493776" y="390601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投資・カードの会員</a:t>
            </a:r>
            <a:endParaRPr lang="en-US" sz="900" dirty="0"/>
          </a:p>
        </p:txBody>
      </p:sp>
      <p:sp>
        <p:nvSpPr>
          <p:cNvPr id="53" name="ovl_s17_ns_inv"/>
          <p:cNvSpPr txBox="1"/>
          <p:nvPr/>
        </p:nvSpPr>
        <p:spPr>
          <a:xfrm>
            <a:off x="502920" y="411175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Invest 390 万口座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Plus 有料 20.6 万人</a:t>
            </a:r>
            <a:endParaRPr lang="en-US" sz="850" dirty="0"/>
          </a:p>
        </p:txBody>
      </p:sp>
      <p:sp>
        <p:nvSpPr>
          <p:cNvPr id="54" name="ovl_s17_n_dep"/>
          <p:cNvSpPr/>
          <p:nvPr/>
        </p:nvSpPr>
        <p:spPr>
          <a:xfrm>
            <a:off x="2682240" y="2019300"/>
            <a:ext cx="1280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5" name="ovl_s17_nt_dep"/>
          <p:cNvSpPr txBox="1"/>
          <p:nvPr/>
        </p:nvSpPr>
        <p:spPr>
          <a:xfrm>
            <a:off x="2718816" y="204673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Money(預金)</a:t>
            </a:r>
            <a:endParaRPr lang="en-US" sz="1000" dirty="0"/>
          </a:p>
        </p:txBody>
      </p:sp>
      <p:sp>
        <p:nvSpPr>
          <p:cNvPr id="56" name="ovl_s17_ns_dep"/>
          <p:cNvSpPr txBox="1"/>
          <p:nvPr/>
        </p:nvSpPr>
        <p:spPr>
          <a:xfrm>
            <a:off x="2727960" y="2252472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455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 3.07%</a:t>
            </a:r>
            <a:endParaRPr lang="en-US" sz="850" dirty="0"/>
          </a:p>
        </p:txBody>
      </p:sp>
      <p:sp>
        <p:nvSpPr>
          <p:cNvPr id="57" name="ovl_s17_n_bs"/>
          <p:cNvSpPr/>
          <p:nvPr/>
        </p:nvSpPr>
        <p:spPr>
          <a:xfrm>
            <a:off x="2682240" y="2948940"/>
            <a:ext cx="1280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8" name="ovl_s17_nt_bs"/>
          <p:cNvSpPr txBox="1"/>
          <p:nvPr/>
        </p:nvSpPr>
        <p:spPr>
          <a:xfrm>
            <a:off x="2718816" y="297637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</a:t>
            </a:r>
            <a:endParaRPr lang="en-US" sz="1000" dirty="0"/>
          </a:p>
        </p:txBody>
      </p:sp>
      <p:sp>
        <p:nvSpPr>
          <p:cNvPr id="59" name="ovl_s17_ns_bs"/>
          <p:cNvSpPr txBox="1"/>
          <p:nvPr/>
        </p:nvSpPr>
        <p:spPr>
          <a:xfrm>
            <a:off x="2727960" y="3182112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APR 6.99〜35.49%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5.98%</a:t>
            </a:r>
            <a:endParaRPr lang="en-US" sz="850" dirty="0"/>
          </a:p>
        </p:txBody>
      </p:sp>
      <p:sp>
        <p:nvSpPr>
          <p:cNvPr id="60" name="ovl_s17_n_cross"/>
          <p:cNvSpPr/>
          <p:nvPr/>
        </p:nvSpPr>
        <p:spPr>
          <a:xfrm>
            <a:off x="2682240" y="3878580"/>
            <a:ext cx="12801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1" name="ovl_s17_nt_cross"/>
          <p:cNvSpPr txBox="1"/>
          <p:nvPr/>
        </p:nvSpPr>
        <p:spPr>
          <a:xfrm>
            <a:off x="2718816" y="390601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</a:t>
            </a:r>
            <a:endParaRPr lang="en-US" sz="1000" dirty="0"/>
          </a:p>
        </p:txBody>
      </p:sp>
      <p:sp>
        <p:nvSpPr>
          <p:cNvPr id="62" name="ovl_s17_ns_cross"/>
          <p:cNvSpPr txBox="1"/>
          <p:nvPr/>
        </p:nvSpPr>
        <p:spPr>
          <a:xfrm>
            <a:off x="2727960" y="4111752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新製品の 51% 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既存会員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1.54 製品</a:t>
            </a:r>
            <a:endParaRPr lang="en-US" sz="850" dirty="0"/>
          </a:p>
        </p:txBody>
      </p:sp>
      <p:sp>
        <p:nvSpPr>
          <p:cNvPr id="63" name="ovl_s17_n_fund"/>
          <p:cNvSpPr/>
          <p:nvPr/>
        </p:nvSpPr>
        <p:spPr>
          <a:xfrm>
            <a:off x="4861560" y="201930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64" name="ovl_s17_nt_fund"/>
          <p:cNvSpPr txBox="1"/>
          <p:nvPr/>
        </p:nvSpPr>
        <p:spPr>
          <a:xfrm>
            <a:off x="4898136" y="204673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銀行免許と安い資金</a:t>
            </a:r>
            <a:endParaRPr lang="en-US" sz="900" dirty="0"/>
          </a:p>
        </p:txBody>
      </p:sp>
      <p:sp>
        <p:nvSpPr>
          <p:cNvPr id="65" name="ovl_s17_ns_fund"/>
          <p:cNvSpPr txBox="1"/>
          <p:nvPr/>
        </p:nvSpPr>
        <p:spPr>
          <a:xfrm>
            <a:off x="4907280" y="225247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倉庫ラインより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1.56pt 安い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(前年 1.87pt)</a:t>
            </a:r>
            <a:endParaRPr lang="en-US" sz="850" dirty="0"/>
          </a:p>
        </p:txBody>
      </p:sp>
      <p:sp>
        <p:nvSpPr>
          <p:cNvPr id="66" name="ovl_s17_n_price"/>
          <p:cNvSpPr/>
          <p:nvPr/>
        </p:nvSpPr>
        <p:spPr>
          <a:xfrm>
            <a:off x="4861560" y="294894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7" name="ovl_s17_nt_price"/>
          <p:cNvSpPr txBox="1"/>
          <p:nvPr/>
        </p:nvSpPr>
        <p:spPr>
          <a:xfrm>
            <a:off x="4898136" y="297637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価格の優位</a:t>
            </a:r>
            <a:endParaRPr lang="en-US" sz="1000" dirty="0"/>
          </a:p>
        </p:txBody>
      </p:sp>
      <p:sp>
        <p:nvSpPr>
          <p:cNvPr id="68" name="ovl_s17_ns_price"/>
          <p:cNvSpPr txBox="1"/>
          <p:nvPr/>
        </p:nvSpPr>
        <p:spPr>
          <a:xfrm>
            <a:off x="4907280" y="318211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APR 帯は競合と重なる</a:t>
            </a:r>
            <a:endParaRPr lang="en-US" sz="850" dirty="0"/>
          </a:p>
        </p:txBody>
      </p:sp>
      <p:sp>
        <p:nvSpPr>
          <p:cNvPr id="69" name="ovl_s17_n_brand"/>
          <p:cNvSpPr/>
          <p:nvPr/>
        </p:nvSpPr>
        <p:spPr>
          <a:xfrm>
            <a:off x="4861560" y="387858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70" name="ovl_s17_nt_brand"/>
          <p:cNvSpPr txBox="1"/>
          <p:nvPr/>
        </p:nvSpPr>
        <p:spPr>
          <a:xfrm>
            <a:off x="4898136" y="390601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ブランドと関係</a:t>
            </a:r>
            <a:endParaRPr lang="en-US" sz="1000" dirty="0"/>
          </a:p>
        </p:txBody>
      </p:sp>
      <p:sp>
        <p:nvSpPr>
          <p:cNvPr id="71" name="ovl_s17_ns_brand"/>
          <p:cNvSpPr txBox="1"/>
          <p:nvPr/>
        </p:nvSpPr>
        <p:spPr>
          <a:xfrm>
            <a:off x="4907280" y="411175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想起 10.4%(+1.9pt)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 3.9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(四半期)</a:t>
            </a:r>
            <a:endParaRPr lang="en-US" sz="850" dirty="0"/>
          </a:p>
        </p:txBody>
      </p:sp>
      <p:sp>
        <p:nvSpPr>
          <p:cNvPr id="72" name="ovl_s17_n_banks"/>
          <p:cNvSpPr/>
          <p:nvPr/>
        </p:nvSpPr>
        <p:spPr>
          <a:xfrm>
            <a:off x="7086600" y="2019300"/>
            <a:ext cx="1188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3" name="ovl_s17_nt_banks"/>
          <p:cNvSpPr txBox="1"/>
          <p:nvPr/>
        </p:nvSpPr>
        <p:spPr>
          <a:xfrm>
            <a:off x="7123176" y="2046732"/>
            <a:ext cx="11155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オンライン銀行</a:t>
            </a:r>
            <a:endParaRPr lang="en-US" sz="1000" dirty="0"/>
          </a:p>
        </p:txBody>
      </p:sp>
      <p:sp>
        <p:nvSpPr>
          <p:cNvPr id="74" name="ovl_s17_ns_banks"/>
          <p:cNvSpPr txBox="1"/>
          <p:nvPr/>
        </p:nvSpPr>
        <p:spPr>
          <a:xfrm>
            <a:off x="7132320" y="2252472"/>
            <a:ext cx="1097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 3.75%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Amex 3.90%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Capital One 3.50%</a:t>
            </a:r>
            <a:endParaRPr lang="en-US" sz="850" dirty="0"/>
          </a:p>
        </p:txBody>
      </p:sp>
      <p:sp>
        <p:nvSpPr>
          <p:cNvPr id="75" name="ovl_s17_n_lenders"/>
          <p:cNvSpPr/>
          <p:nvPr/>
        </p:nvSpPr>
        <p:spPr>
          <a:xfrm>
            <a:off x="7086600" y="2857500"/>
            <a:ext cx="11887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6" name="ovl_s17_nt_lenders"/>
          <p:cNvSpPr txBox="1"/>
          <p:nvPr/>
        </p:nvSpPr>
        <p:spPr>
          <a:xfrm>
            <a:off x="7123176" y="2884932"/>
            <a:ext cx="11155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ローン専業</a:t>
            </a:r>
            <a:endParaRPr lang="en-US" sz="1000" dirty="0"/>
          </a:p>
        </p:txBody>
      </p:sp>
      <p:sp>
        <p:nvSpPr>
          <p:cNvPr id="77" name="ovl_s17_ns_lenders"/>
          <p:cNvSpPr txBox="1"/>
          <p:nvPr/>
        </p:nvSpPr>
        <p:spPr>
          <a:xfrm>
            <a:off x="7132320" y="3090672"/>
            <a:ext cx="1097280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LightStream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6.49〜25.39%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LendingClub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5.96〜35.99%</a:t>
            </a:r>
            <a:endParaRPr lang="en-US" sz="850" dirty="0"/>
          </a:p>
        </p:txBody>
      </p:sp>
      <p:sp>
        <p:nvSpPr>
          <p:cNvPr id="78" name="ovl_s17_n_neo"/>
          <p:cNvSpPr/>
          <p:nvPr/>
        </p:nvSpPr>
        <p:spPr>
          <a:xfrm>
            <a:off x="7086600" y="3878580"/>
            <a:ext cx="1188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9" name="ovl_s17_nt_neo"/>
          <p:cNvSpPr txBox="1"/>
          <p:nvPr/>
        </p:nvSpPr>
        <p:spPr>
          <a:xfrm>
            <a:off x="7123176" y="3906012"/>
            <a:ext cx="11155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Robinhood・Chime</a:t>
            </a:r>
            <a:endParaRPr lang="en-US" sz="900" dirty="0"/>
          </a:p>
        </p:txBody>
      </p:sp>
      <p:sp>
        <p:nvSpPr>
          <p:cNvPr id="80" name="ovl_s17_ns_neo"/>
          <p:cNvSpPr txBox="1"/>
          <p:nvPr/>
        </p:nvSpPr>
        <p:spPr>
          <a:xfrm>
            <a:off x="7132320" y="4111752"/>
            <a:ext cx="109728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給与振込と会員を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取りに来る</a:t>
            </a:r>
            <a:endParaRPr lang="en-US" sz="850" dirty="0"/>
          </a:p>
        </p:txBody>
      </p:sp>
      <p:sp>
        <p:nvSpPr>
          <p:cNvPr id="81" name="ovl_s17_tag_fund"/>
          <p:cNvSpPr/>
          <p:nvPr/>
        </p:nvSpPr>
        <p:spPr>
          <a:xfrm>
            <a:off x="5280660" y="2705100"/>
            <a:ext cx="487680" cy="182880"/>
          </a:xfrm>
          <a:prstGeom prst="roundRect">
            <a:avLst>
              <a:gd name="adj" fmla="val 20000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82" name="ovl_s17_tagt_fund"/>
          <p:cNvSpPr txBox="1"/>
          <p:nvPr/>
        </p:nvSpPr>
        <p:spPr>
          <a:xfrm>
            <a:off x="5280660" y="2705100"/>
            <a:ext cx="48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縮小中</a:t>
            </a:r>
            <a:endParaRPr lang="en-US" sz="800" dirty="0"/>
          </a:p>
        </p:txBody>
      </p:sp>
      <p:sp>
        <p:nvSpPr>
          <p:cNvPr id="83" name="ovl_s17_tag_price"/>
          <p:cNvSpPr/>
          <p:nvPr/>
        </p:nvSpPr>
        <p:spPr>
          <a:xfrm>
            <a:off x="5331460" y="3634740"/>
            <a:ext cx="386080" cy="18288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4" name="ovl_s17_tagt_price"/>
          <p:cNvSpPr txBox="1"/>
          <p:nvPr/>
        </p:nvSpPr>
        <p:spPr>
          <a:xfrm>
            <a:off x="5331460" y="3634740"/>
            <a:ext cx="38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なし</a:t>
            </a:r>
            <a:endParaRPr lang="en-US" sz="800" dirty="0"/>
          </a:p>
        </p:txBody>
      </p:sp>
      <p:sp>
        <p:nvSpPr>
          <p:cNvPr id="85" name="ovl_s17_tag_brand"/>
          <p:cNvSpPr/>
          <p:nvPr/>
        </p:nvSpPr>
        <p:spPr>
          <a:xfrm>
            <a:off x="5229860" y="4564380"/>
            <a:ext cx="589280" cy="182880"/>
          </a:xfrm>
          <a:prstGeom prst="roundRect">
            <a:avLst>
              <a:gd name="adj" fmla="val 20000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86" name="ovl_s17_tagt_brand"/>
          <p:cNvSpPr txBox="1"/>
          <p:nvPr/>
        </p:nvSpPr>
        <p:spPr>
          <a:xfrm>
            <a:off x="5229860" y="4564380"/>
            <a:ext cx="58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販促次第</a:t>
            </a:r>
            <a:endParaRPr lang="en-US" sz="800" dirty="0"/>
          </a:p>
        </p:txBody>
      </p:sp>
      <p:sp>
        <p:nvSpPr>
          <p:cNvPr id="87" name="ovl_s17_lab0"/>
          <p:cNvSpPr txBox="1"/>
          <p:nvPr/>
        </p:nvSpPr>
        <p:spPr>
          <a:xfrm>
            <a:off x="1868843" y="2115312"/>
            <a:ext cx="72763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</a:t>
            </a:r>
            <a:endParaRPr lang="en-US" sz="850" dirty="0"/>
          </a:p>
        </p:txBody>
      </p:sp>
      <p:sp>
        <p:nvSpPr>
          <p:cNvPr id="88" name="ovl_s17_lab1"/>
          <p:cNvSpPr txBox="1"/>
          <p:nvPr/>
        </p:nvSpPr>
        <p:spPr>
          <a:xfrm>
            <a:off x="3989870" y="2115312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安く集める</a:t>
            </a:r>
            <a:endParaRPr lang="en-US" sz="850" dirty="0"/>
          </a:p>
        </p:txBody>
      </p:sp>
      <p:sp>
        <p:nvSpPr>
          <p:cNvPr id="89" name="ovl_s17_lab2"/>
          <p:cNvSpPr txBox="1"/>
          <p:nvPr/>
        </p:nvSpPr>
        <p:spPr>
          <a:xfrm>
            <a:off x="3368040" y="2710434"/>
            <a:ext cx="72763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安い資金</a:t>
            </a:r>
            <a:endParaRPr lang="en-US" sz="850" dirty="0"/>
          </a:p>
        </p:txBody>
      </p:sp>
      <p:sp>
        <p:nvSpPr>
          <p:cNvPr id="90" name="ovl_s17_lab3"/>
          <p:cNvSpPr txBox="1"/>
          <p:nvPr/>
        </p:nvSpPr>
        <p:spPr>
          <a:xfrm>
            <a:off x="1947539" y="3044952"/>
            <a:ext cx="570243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利息 13%</a:t>
            </a:r>
            <a:endParaRPr lang="en-US" sz="850" dirty="0"/>
          </a:p>
        </p:txBody>
      </p:sp>
      <p:sp>
        <p:nvSpPr>
          <p:cNvPr id="91" name="ovl_s17_lab4"/>
          <p:cNvSpPr txBox="1"/>
          <p:nvPr/>
        </p:nvSpPr>
        <p:spPr>
          <a:xfrm>
            <a:off x="6214910" y="3044952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同じ価格帯</a:t>
            </a:r>
            <a:endParaRPr lang="en-US" sz="850" dirty="0"/>
          </a:p>
        </p:txBody>
      </p:sp>
      <p:sp>
        <p:nvSpPr>
          <p:cNvPr id="92" name="ovl_s17_lab5"/>
          <p:cNvSpPr txBox="1"/>
          <p:nvPr/>
        </p:nvSpPr>
        <p:spPr>
          <a:xfrm>
            <a:off x="3998976" y="2903220"/>
            <a:ext cx="82600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市場並みの価格</a:t>
            </a:r>
            <a:endParaRPr lang="en-US" sz="850" dirty="0"/>
          </a:p>
        </p:txBody>
      </p:sp>
      <p:sp>
        <p:nvSpPr>
          <p:cNvPr id="93" name="ovl_s17_lab6"/>
          <p:cNvSpPr txBox="1"/>
          <p:nvPr/>
        </p:nvSpPr>
        <p:spPr>
          <a:xfrm>
            <a:off x="1886331" y="3974592"/>
            <a:ext cx="692658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製品を足す</a:t>
            </a:r>
            <a:endParaRPr lang="en-US" sz="850" dirty="0"/>
          </a:p>
        </p:txBody>
      </p:sp>
      <p:sp>
        <p:nvSpPr>
          <p:cNvPr id="94" name="ovl_s17_lab7"/>
          <p:cNvSpPr txBox="1"/>
          <p:nvPr/>
        </p:nvSpPr>
        <p:spPr>
          <a:xfrm>
            <a:off x="3989870" y="3974592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定着させる</a:t>
            </a:r>
            <a:endParaRPr lang="en-US" sz="850" dirty="0"/>
          </a:p>
        </p:txBody>
      </p:sp>
      <p:sp>
        <p:nvSpPr>
          <p:cNvPr id="95" name="ovl_s17_lab8"/>
          <p:cNvSpPr txBox="1"/>
          <p:nvPr/>
        </p:nvSpPr>
        <p:spPr>
          <a:xfrm>
            <a:off x="6224016" y="1973580"/>
            <a:ext cx="82600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高い金利で引き抜く</a:t>
            </a:r>
            <a:endParaRPr lang="en-US" sz="850" dirty="0"/>
          </a:p>
        </p:txBody>
      </p:sp>
      <p:sp>
        <p:nvSpPr>
          <p:cNvPr id="96" name="ovl_s17_lab9"/>
          <p:cNvSpPr txBox="1"/>
          <p:nvPr/>
        </p:nvSpPr>
        <p:spPr>
          <a:xfrm>
            <a:off x="6224016" y="3832860"/>
            <a:ext cx="82600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会員の奪い合い</a:t>
            </a:r>
            <a:endParaRPr lang="en-US" sz="850" dirty="0"/>
          </a:p>
        </p:txBody>
      </p:sp>
      <p:sp>
        <p:nvSpPr>
          <p:cNvPr id="97" name="ovl_s17_glab0"/>
          <p:cNvSpPr txBox="1"/>
          <p:nvPr/>
        </p:nvSpPr>
        <p:spPr>
          <a:xfrm>
            <a:off x="2709672" y="1828800"/>
            <a:ext cx="3495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</a:t>
            </a:r>
            <a:endParaRPr lang="en-US" sz="800" dirty="0"/>
          </a:p>
        </p:txBody>
      </p:sp>
      <p:sp>
        <p:nvSpPr>
          <p:cNvPr id="98" name="ovl_s17_glab1"/>
          <p:cNvSpPr txBox="1"/>
          <p:nvPr/>
        </p:nvSpPr>
        <p:spPr>
          <a:xfrm>
            <a:off x="4888992" y="1828800"/>
            <a:ext cx="6543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優位の源泉</a:t>
            </a:r>
            <a:endParaRPr lang="en-US" sz="800" dirty="0"/>
          </a:p>
        </p:txBody>
      </p:sp>
      <p:sp>
        <p:nvSpPr>
          <p:cNvPr id="99" name="ovl_s17_leg0"/>
          <p:cNvSpPr/>
          <p:nvPr/>
        </p:nvSpPr>
        <p:spPr>
          <a:xfrm>
            <a:off x="457200" y="4828032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100" name="ovl_s17_legt0"/>
          <p:cNvSpPr txBox="1"/>
          <p:nvPr/>
        </p:nvSpPr>
        <p:spPr>
          <a:xfrm>
            <a:off x="877824" y="4727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101" name="ovl_s17_leg1"/>
          <p:cNvSpPr/>
          <p:nvPr/>
        </p:nvSpPr>
        <p:spPr>
          <a:xfrm>
            <a:off x="1874520" y="4828032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02" name="ovl_s17_legt1"/>
          <p:cNvSpPr txBox="1"/>
          <p:nvPr/>
        </p:nvSpPr>
        <p:spPr>
          <a:xfrm>
            <a:off x="2295144" y="4727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103" name="ovl_s17_leg2"/>
          <p:cNvSpPr/>
          <p:nvPr/>
        </p:nvSpPr>
        <p:spPr>
          <a:xfrm>
            <a:off x="3291840" y="4828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04" name="ovl_s17_legt2"/>
          <p:cNvSpPr txBox="1"/>
          <p:nvPr/>
        </p:nvSpPr>
        <p:spPr>
          <a:xfrm>
            <a:off x="3712464" y="4727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05" name="ovl_s17_legn"/>
          <p:cNvSpPr txBox="1"/>
          <p:nvPr/>
        </p:nvSpPr>
        <p:spPr>
          <a:xfrm>
            <a:off x="6126480" y="4727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06" name="ovl_s17_tbhead"/>
          <p:cNvSpPr txBox="1"/>
          <p:nvPr/>
        </p:nvSpPr>
        <p:spPr>
          <a:xfrm>
            <a:off x="457200" y="50292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優位が続く期間</a:t>
            </a:r>
            <a:endParaRPr lang="en-US" sz="850" dirty="0"/>
          </a:p>
        </p:txBody>
      </p:sp>
      <p:sp>
        <p:nvSpPr>
          <p:cNvPr id="107" name="ovl_s17tb_tk2026"/>
          <p:cNvSpPr txBox="1"/>
          <p:nvPr/>
        </p:nvSpPr>
        <p:spPr>
          <a:xfrm>
            <a:off x="178308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</a:t>
            </a:r>
            <a:endParaRPr lang="en-US" sz="800" dirty="0"/>
          </a:p>
        </p:txBody>
      </p:sp>
      <p:sp>
        <p:nvSpPr>
          <p:cNvPr id="108" name="ovl_s17tb_gl2026"/>
          <p:cNvSpPr/>
          <p:nvPr/>
        </p:nvSpPr>
        <p:spPr>
          <a:xfrm>
            <a:off x="205740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09" name="ovl_s17tb_tk2028"/>
          <p:cNvSpPr txBox="1"/>
          <p:nvPr/>
        </p:nvSpPr>
        <p:spPr>
          <a:xfrm>
            <a:off x="3026664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</a:t>
            </a:r>
            <a:endParaRPr lang="en-US" sz="800" dirty="0"/>
          </a:p>
        </p:txBody>
      </p:sp>
      <p:sp>
        <p:nvSpPr>
          <p:cNvPr id="110" name="ovl_s17tb_gl2028"/>
          <p:cNvSpPr/>
          <p:nvPr/>
        </p:nvSpPr>
        <p:spPr>
          <a:xfrm>
            <a:off x="3300984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1" name="ovl_s17tb_tk2030"/>
          <p:cNvSpPr txBox="1"/>
          <p:nvPr/>
        </p:nvSpPr>
        <p:spPr>
          <a:xfrm>
            <a:off x="4270248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2030</a:t>
            </a:r>
            <a:endParaRPr lang="en-US" sz="800" dirty="0"/>
          </a:p>
        </p:txBody>
      </p:sp>
      <p:sp>
        <p:nvSpPr>
          <p:cNvPr id="112" name="ovl_s17tb_gl2030"/>
          <p:cNvSpPr/>
          <p:nvPr/>
        </p:nvSpPr>
        <p:spPr>
          <a:xfrm>
            <a:off x="4544568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3" name="ovl_s17tb_tk2032"/>
          <p:cNvSpPr txBox="1"/>
          <p:nvPr/>
        </p:nvSpPr>
        <p:spPr>
          <a:xfrm>
            <a:off x="5513832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2032</a:t>
            </a:r>
            <a:endParaRPr lang="en-US" sz="800" dirty="0"/>
          </a:p>
        </p:txBody>
      </p:sp>
      <p:sp>
        <p:nvSpPr>
          <p:cNvPr id="114" name="ovl_s17tb_gl2032"/>
          <p:cNvSpPr/>
          <p:nvPr/>
        </p:nvSpPr>
        <p:spPr>
          <a:xfrm>
            <a:off x="5788152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5" name="ovl_s17tb_tk2034"/>
          <p:cNvSpPr txBox="1"/>
          <p:nvPr/>
        </p:nvSpPr>
        <p:spPr>
          <a:xfrm>
            <a:off x="6757416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2034</a:t>
            </a:r>
            <a:endParaRPr lang="en-US" sz="800" dirty="0"/>
          </a:p>
        </p:txBody>
      </p:sp>
      <p:sp>
        <p:nvSpPr>
          <p:cNvPr id="116" name="ovl_s17tb_gl2034"/>
          <p:cNvSpPr/>
          <p:nvPr/>
        </p:nvSpPr>
        <p:spPr>
          <a:xfrm>
            <a:off x="7031736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7" name="ovl_s17tb_tk2036"/>
          <p:cNvSpPr txBox="1"/>
          <p:nvPr/>
        </p:nvSpPr>
        <p:spPr>
          <a:xfrm>
            <a:off x="800100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2036</a:t>
            </a:r>
            <a:endParaRPr lang="en-US" sz="800" dirty="0"/>
          </a:p>
        </p:txBody>
      </p:sp>
      <p:sp>
        <p:nvSpPr>
          <p:cNvPr id="118" name="ovl_s17tb_gl2036"/>
          <p:cNvSpPr/>
          <p:nvPr/>
        </p:nvSpPr>
        <p:spPr>
          <a:xfrm>
            <a:off x="827532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9" name="ovl_s17tb_l0"/>
          <p:cNvSpPr txBox="1"/>
          <p:nvPr/>
        </p:nvSpPr>
        <p:spPr>
          <a:xfrm>
            <a:off x="457200" y="5248656"/>
            <a:ext cx="1527048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</a:t>
            </a:r>
            <a:endParaRPr lang="en-US" sz="850" dirty="0"/>
          </a:p>
        </p:txBody>
      </p:sp>
      <p:sp>
        <p:nvSpPr>
          <p:cNvPr id="120" name="ovl_s17tb_b0"/>
          <p:cNvSpPr/>
          <p:nvPr/>
        </p:nvSpPr>
        <p:spPr>
          <a:xfrm>
            <a:off x="2057400" y="5285354"/>
            <a:ext cx="6217920" cy="188732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21" name="ovl_s17tb_t0"/>
          <p:cNvSpPr txBox="1"/>
          <p:nvPr/>
        </p:nvSpPr>
        <p:spPr>
          <a:xfrm>
            <a:off x="2057400" y="5285354"/>
            <a:ext cx="6217920" cy="188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年超</a:t>
            </a:r>
            <a:endParaRPr lang="en-US" sz="800" dirty="0"/>
          </a:p>
        </p:txBody>
      </p:sp>
      <p:sp>
        <p:nvSpPr>
          <p:cNvPr id="122" name="ovl_s17tb_l1"/>
          <p:cNvSpPr txBox="1"/>
          <p:nvPr/>
        </p:nvSpPr>
        <p:spPr>
          <a:xfrm>
            <a:off x="457200" y="5510784"/>
            <a:ext cx="1527048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給与振込の関係(安い資金)</a:t>
            </a:r>
            <a:endParaRPr lang="en-US" sz="850" dirty="0"/>
          </a:p>
        </p:txBody>
      </p:sp>
      <p:sp>
        <p:nvSpPr>
          <p:cNvPr id="123" name="ovl_s17tb_b1"/>
          <p:cNvSpPr/>
          <p:nvPr/>
        </p:nvSpPr>
        <p:spPr>
          <a:xfrm>
            <a:off x="2057400" y="5547482"/>
            <a:ext cx="4974336" cy="188732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124" name="ovl_s17tb_t1"/>
          <p:cNvSpPr txBox="1"/>
          <p:nvPr/>
        </p:nvSpPr>
        <p:spPr>
          <a:xfrm>
            <a:off x="2057400" y="5547482"/>
            <a:ext cx="4974336" cy="188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7〜10 年(差は縮小中)</a:t>
            </a:r>
            <a:endParaRPr lang="en-US" sz="800" dirty="0"/>
          </a:p>
        </p:txBody>
      </p:sp>
      <p:sp>
        <p:nvSpPr>
          <p:cNvPr id="125" name="ovl_s17tb_l2"/>
          <p:cNvSpPr txBox="1"/>
          <p:nvPr/>
        </p:nvSpPr>
        <p:spPr>
          <a:xfrm>
            <a:off x="457200" y="5772912"/>
            <a:ext cx="1527048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</a:t>
            </a:r>
            <a:endParaRPr lang="en-US" sz="850" dirty="0"/>
          </a:p>
        </p:txBody>
      </p:sp>
      <p:sp>
        <p:nvSpPr>
          <p:cNvPr id="126" name="ovl_s17tb_b2"/>
          <p:cNvSpPr/>
          <p:nvPr/>
        </p:nvSpPr>
        <p:spPr>
          <a:xfrm>
            <a:off x="2057400" y="5809610"/>
            <a:ext cx="2487168" cy="188732"/>
          </a:xfrm>
          <a:prstGeom prst="rect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127" name="ovl_s17tb_t2"/>
          <p:cNvSpPr txBox="1"/>
          <p:nvPr/>
        </p:nvSpPr>
        <p:spPr>
          <a:xfrm>
            <a:off x="2057400" y="5809610"/>
            <a:ext cx="2487168" cy="188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販促を続ける限り</a:t>
            </a:r>
            <a:endParaRPr lang="en-US" sz="800" dirty="0"/>
          </a:p>
        </p:txBody>
      </p:sp>
      <p:sp>
        <p:nvSpPr>
          <p:cNvPr id="128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29" name="mech"/>
          <p:cNvSpPr txBox="1"/>
          <p:nvPr/>
        </p:nvSpPr>
        <p:spPr>
          <a:xfrm>
            <a:off x="8458200" y="1810512"/>
            <a:ext cx="3276295" cy="2801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給与振込の会員が預金の約 9 割。普通預金 3.30% は Chime 3.75%・Amex 3.90% より低いのに預金が残る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銀行免許で集めた預金は倉庫ラインより 1.56pt 安い。ただし前年の 1.87pt から縮んだ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安い預金が貸出を支え、NIM は 5.98%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個人ローンの APR 6.99〜35.49% は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LightStream・LendingClub と重なり、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価格では勝っていない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ブランド(非助成想起 10.4%)とクロスバイ 51% で会員当たり 1.54 製品。販促費は四半期 3.9 億ドル(+48%)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Robinhood・Chime も給与振込と会員を取りに来ており、資金の差を縮める圧力が続く</a:t>
            </a:r>
            <a:endParaRPr lang="en-US" sz="1100" dirty="0"/>
          </a:p>
        </p:txBody>
      </p:sp>
      <p:sp>
        <p:nvSpPr>
          <p:cNvPr id="130" name="ovl_takeaway_bg"/>
          <p:cNvSpPr/>
          <p:nvPr/>
        </p:nvSpPr>
        <p:spPr>
          <a:xfrm>
            <a:off x="8458200" y="4684776"/>
            <a:ext cx="3276295" cy="870204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31" name="takeaway"/>
          <p:cNvSpPr txBox="1"/>
          <p:nvPr/>
        </p:nvSpPr>
        <p:spPr>
          <a:xfrm>
            <a:off x="8567928" y="4757928"/>
            <a:ext cx="3056839" cy="7239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優位は価格ではなく、給与振込の関係が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生む安い資金。7〜10 年続くと見るが、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差は縮小中で圧倒的ではないため B</a:t>
            </a:r>
            <a:endParaRPr lang="en-US" sz="1000" dirty="0"/>
          </a:p>
        </p:txBody>
      </p:sp>
      <p:sp>
        <p:nvSpPr>
          <p:cNvPr id="132" name="updown"/>
          <p:cNvSpPr txBox="1"/>
          <p:nvPr/>
        </p:nvSpPr>
        <p:spPr>
          <a:xfrm>
            <a:off x="8458200" y="5628132"/>
            <a:ext cx="3276295" cy="4617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倉庫ライン比の差が 1.5pt 以上を保ち、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給与振込の預金が貸出と同じ速さで伸びれば 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差が 1.2pt を割れば C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4-1 稼ぐ力(条件1〜3)(2/3)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623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623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コア事業の稼ぐ力と資本(条件2)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3227324" y="356616"/>
            <a:ext cx="8507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成長を自前の利益で賄えるかが、増資なしに伸びられるかを決める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定常の ROTCE は約 15% で資本コスト 13.9% を上回り、今の 7〜9% 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成長投資の結果。ただし成長は自前の資本の約 3 倍の速さで進む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資金の出し手 → SoFi の資本の源 → 使い道と結果 → 評価。①〜⑥ は右と対応。数値は Q2 2026(2026-06-30)と需給エンジン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会社開示(10-Q Q2 2026、自己資本比率の表)、research_r2/R7_funding_rates_capital.md、calc/out/val.json(engine_detail・steady_state・rotce)、calc/out/growth_v2.json(定常の ROTCE)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28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条件2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47472" y="1517904"/>
            <a:ext cx="145389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資金の出し手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2481072" y="1517904"/>
            <a:ext cx="3770376" cy="4005072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2481072" y="1517904"/>
            <a:ext cx="377037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2481072" y="1517904"/>
            <a:ext cx="377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6931152" y="1517904"/>
            <a:ext cx="145389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6931152" y="1517904"/>
            <a:ext cx="14538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693115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</a:t>
            </a:r>
            <a:endParaRPr lang="en-US" sz="950" dirty="0"/>
          </a:p>
        </p:txBody>
      </p:sp>
      <p:sp>
        <p:nvSpPr>
          <p:cNvPr id="33" name="ovl_grp0"/>
          <p:cNvSpPr/>
          <p:nvPr/>
        </p:nvSpPr>
        <p:spPr>
          <a:xfrm>
            <a:off x="2526792" y="1911096"/>
            <a:ext cx="1453896" cy="3566160"/>
          </a:xfrm>
          <a:prstGeom prst="roundRect">
            <a:avLst>
              <a:gd name="adj" fmla="val 3774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4" name="ovl_grp1"/>
          <p:cNvSpPr/>
          <p:nvPr/>
        </p:nvSpPr>
        <p:spPr>
          <a:xfrm>
            <a:off x="4751832" y="1911096"/>
            <a:ext cx="1453896" cy="3566160"/>
          </a:xfrm>
          <a:prstGeom prst="roundRect">
            <a:avLst>
              <a:gd name="adj" fmla="val 3774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5" name="ovl_s18_e0_0"/>
          <p:cNvSpPr/>
          <p:nvPr/>
        </p:nvSpPr>
        <p:spPr>
          <a:xfrm>
            <a:off x="1691640" y="2336292"/>
            <a:ext cx="8991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6" name="ovl_s18_e1_0"/>
          <p:cNvSpPr/>
          <p:nvPr/>
        </p:nvSpPr>
        <p:spPr>
          <a:xfrm flipV="1">
            <a:off x="3253740" y="2665476"/>
            <a:ext cx="914" cy="24688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7" name="ovl_s18_e2_0"/>
          <p:cNvSpPr/>
          <p:nvPr/>
        </p:nvSpPr>
        <p:spPr>
          <a:xfrm flipV="1">
            <a:off x="3253740" y="3570732"/>
            <a:ext cx="914" cy="24688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8" name="ovl_s18_e3_0"/>
          <p:cNvSpPr/>
          <p:nvPr/>
        </p:nvSpPr>
        <p:spPr>
          <a:xfrm>
            <a:off x="1074420" y="3570732"/>
            <a:ext cx="914" cy="13258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39" name="ovl_s18_e3_1"/>
          <p:cNvSpPr/>
          <p:nvPr/>
        </p:nvSpPr>
        <p:spPr>
          <a:xfrm>
            <a:off x="1074420" y="3703320"/>
            <a:ext cx="39471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40" name="ovl_s18_e3_2"/>
          <p:cNvSpPr/>
          <p:nvPr/>
        </p:nvSpPr>
        <p:spPr>
          <a:xfrm flipV="1">
            <a:off x="5021580" y="3570732"/>
            <a:ext cx="914" cy="13258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1" name="ovl_s18_e4_0"/>
          <p:cNvSpPr/>
          <p:nvPr/>
        </p:nvSpPr>
        <p:spPr>
          <a:xfrm flipV="1">
            <a:off x="1074420" y="3767328"/>
            <a:ext cx="914" cy="50292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42" name="ovl_s18_e4_1"/>
          <p:cNvSpPr/>
          <p:nvPr/>
        </p:nvSpPr>
        <p:spPr>
          <a:xfrm>
            <a:off x="1074420" y="3767328"/>
            <a:ext cx="417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43" name="ovl_s18_e4_2"/>
          <p:cNvSpPr/>
          <p:nvPr/>
        </p:nvSpPr>
        <p:spPr>
          <a:xfrm flipV="1">
            <a:off x="5250180" y="3570732"/>
            <a:ext cx="914" cy="196596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4" name="ovl_s18_e5_0"/>
          <p:cNvSpPr/>
          <p:nvPr/>
        </p:nvSpPr>
        <p:spPr>
          <a:xfrm flipV="1">
            <a:off x="5478780" y="2665476"/>
            <a:ext cx="914" cy="246888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45" name="ovl_s18_e6_0"/>
          <p:cNvSpPr/>
          <p:nvPr/>
        </p:nvSpPr>
        <p:spPr>
          <a:xfrm flipH="1">
            <a:off x="3916680" y="2336292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6" name="ovl_s18_e7_0"/>
          <p:cNvSpPr/>
          <p:nvPr/>
        </p:nvSpPr>
        <p:spPr>
          <a:xfrm>
            <a:off x="3916680" y="2564892"/>
            <a:ext cx="15240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7" name="ovl_s18_e7_1"/>
          <p:cNvSpPr/>
          <p:nvPr/>
        </p:nvSpPr>
        <p:spPr>
          <a:xfrm>
            <a:off x="4069080" y="2564892"/>
            <a:ext cx="914" cy="2487168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8" name="ovl_s18_e7_2"/>
          <p:cNvSpPr/>
          <p:nvPr/>
        </p:nvSpPr>
        <p:spPr>
          <a:xfrm flipH="1">
            <a:off x="3916680" y="5052060"/>
            <a:ext cx="15240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9" name="ovl_s18_e8_0"/>
          <p:cNvSpPr/>
          <p:nvPr/>
        </p:nvSpPr>
        <p:spPr>
          <a:xfrm>
            <a:off x="5615940" y="3570732"/>
            <a:ext cx="914" cy="246888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50" name="ovl_s18_e9_0"/>
          <p:cNvSpPr/>
          <p:nvPr/>
        </p:nvSpPr>
        <p:spPr>
          <a:xfrm>
            <a:off x="5478780" y="4475988"/>
            <a:ext cx="914" cy="12344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</a:ln>
        </p:spPr>
      </p:sp>
      <p:sp>
        <p:nvSpPr>
          <p:cNvPr id="51" name="ovl_s18_e9_1"/>
          <p:cNvSpPr/>
          <p:nvPr/>
        </p:nvSpPr>
        <p:spPr>
          <a:xfrm flipH="1">
            <a:off x="1074420" y="4599432"/>
            <a:ext cx="44043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</a:ln>
        </p:spPr>
      </p:sp>
      <p:sp>
        <p:nvSpPr>
          <p:cNvPr id="52" name="ovl_s18_e9_2"/>
          <p:cNvSpPr/>
          <p:nvPr/>
        </p:nvSpPr>
        <p:spPr>
          <a:xfrm>
            <a:off x="1074420" y="4599432"/>
            <a:ext cx="914" cy="12344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53" name="ovl_s18_e10_0"/>
          <p:cNvSpPr/>
          <p:nvPr/>
        </p:nvSpPr>
        <p:spPr>
          <a:xfrm>
            <a:off x="6141720" y="5052060"/>
            <a:ext cx="6705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4" name="ovl_s18_e10_1"/>
          <p:cNvSpPr/>
          <p:nvPr/>
        </p:nvSpPr>
        <p:spPr>
          <a:xfrm flipV="1">
            <a:off x="6812280" y="2336292"/>
            <a:ext cx="914" cy="2715768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5" name="ovl_s18_e10_2"/>
          <p:cNvSpPr/>
          <p:nvPr/>
        </p:nvSpPr>
        <p:spPr>
          <a:xfrm>
            <a:off x="6812280" y="2336292"/>
            <a:ext cx="2286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56" name="ovl_s18_n_eq"/>
          <p:cNvSpPr/>
          <p:nvPr/>
        </p:nvSpPr>
        <p:spPr>
          <a:xfrm>
            <a:off x="457200" y="2007108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7" name="ovl_s18_nt_eq"/>
          <p:cNvSpPr txBox="1"/>
          <p:nvPr/>
        </p:nvSpPr>
        <p:spPr>
          <a:xfrm>
            <a:off x="493776" y="2034540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株主</a:t>
            </a:r>
            <a:endParaRPr lang="en-US" sz="1000" dirty="0"/>
          </a:p>
        </p:txBody>
      </p:sp>
      <p:sp>
        <p:nvSpPr>
          <p:cNvPr id="58" name="ovl_s18_ns_eq"/>
          <p:cNvSpPr txBox="1"/>
          <p:nvPr/>
        </p:nvSpPr>
        <p:spPr>
          <a:xfrm>
            <a:off x="502920" y="2240280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33 億ドル増資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(20.85・27.50 ドル)</a:t>
            </a:r>
            <a:endParaRPr lang="en-US" sz="850" dirty="0"/>
          </a:p>
        </p:txBody>
      </p:sp>
      <p:sp>
        <p:nvSpPr>
          <p:cNvPr id="59" name="ovl_s18_n_dep"/>
          <p:cNvSpPr/>
          <p:nvPr/>
        </p:nvSpPr>
        <p:spPr>
          <a:xfrm>
            <a:off x="457200" y="2912364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60" name="ovl_s18_nt_dep"/>
          <p:cNvSpPr txBox="1"/>
          <p:nvPr/>
        </p:nvSpPr>
        <p:spPr>
          <a:xfrm>
            <a:off x="493776" y="293979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預金者</a:t>
            </a:r>
            <a:endParaRPr lang="en-US" sz="1000" dirty="0"/>
          </a:p>
        </p:txBody>
      </p:sp>
      <p:sp>
        <p:nvSpPr>
          <p:cNvPr id="61" name="ovl_s18_ns_dep"/>
          <p:cNvSpPr txBox="1"/>
          <p:nvPr/>
        </p:nvSpPr>
        <p:spPr>
          <a:xfrm>
            <a:off x="502920" y="3145536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455 億ドル</a:t>
            </a:r>
            <a:endParaRPr lang="en-US" sz="850" dirty="0"/>
          </a:p>
        </p:txBody>
      </p:sp>
      <p:sp>
        <p:nvSpPr>
          <p:cNvPr id="62" name="ovl_s18_n_mem"/>
          <p:cNvSpPr/>
          <p:nvPr/>
        </p:nvSpPr>
        <p:spPr>
          <a:xfrm>
            <a:off x="457200" y="381762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63" name="ovl_s18_nt_mem"/>
          <p:cNvSpPr txBox="1"/>
          <p:nvPr/>
        </p:nvSpPr>
        <p:spPr>
          <a:xfrm>
            <a:off x="493776" y="3845052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借りる会員</a:t>
            </a:r>
            <a:endParaRPr lang="en-US" sz="1000" dirty="0"/>
          </a:p>
        </p:txBody>
      </p:sp>
      <p:sp>
        <p:nvSpPr>
          <p:cNvPr id="64" name="ovl_s18_ns_mem"/>
          <p:cNvSpPr txBox="1"/>
          <p:nvPr/>
        </p:nvSpPr>
        <p:spPr>
          <a:xfrm>
            <a:off x="502920" y="4050792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 107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(四半期、+54%)</a:t>
            </a:r>
            <a:endParaRPr lang="en-US" sz="850" dirty="0"/>
          </a:p>
        </p:txBody>
      </p:sp>
      <p:sp>
        <p:nvSpPr>
          <p:cNvPr id="65" name="ovl_s18_n_buyers"/>
          <p:cNvSpPr/>
          <p:nvPr/>
        </p:nvSpPr>
        <p:spPr>
          <a:xfrm>
            <a:off x="457200" y="4722876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66" name="ovl_s18_nt_buyers"/>
          <p:cNvSpPr txBox="1"/>
          <p:nvPr/>
        </p:nvSpPr>
        <p:spPr>
          <a:xfrm>
            <a:off x="493776" y="4750308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ローンの買い手</a:t>
            </a:r>
            <a:endParaRPr lang="en-US" sz="1000" dirty="0"/>
          </a:p>
        </p:txBody>
      </p:sp>
      <p:sp>
        <p:nvSpPr>
          <p:cNvPr id="67" name="ovl_s18_ns_buyers"/>
          <p:cNvSpPr txBox="1"/>
          <p:nvPr/>
        </p:nvSpPr>
        <p:spPr>
          <a:xfrm>
            <a:off x="502920" y="4956048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契約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100 億ドル超</a:t>
            </a:r>
            <a:endParaRPr lang="en-US" sz="850" dirty="0"/>
          </a:p>
        </p:txBody>
      </p:sp>
      <p:sp>
        <p:nvSpPr>
          <p:cNvPr id="68" name="ovl_s18_n_cap"/>
          <p:cNvSpPr/>
          <p:nvPr/>
        </p:nvSpPr>
        <p:spPr>
          <a:xfrm>
            <a:off x="2590800" y="2007108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69" name="ovl_s18_nt_cap"/>
          <p:cNvSpPr txBox="1"/>
          <p:nvPr/>
        </p:nvSpPr>
        <p:spPr>
          <a:xfrm>
            <a:off x="2627376" y="2034540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</a:t>
            </a:r>
            <a:endParaRPr lang="en-US" sz="1000" dirty="0"/>
          </a:p>
        </p:txBody>
      </p:sp>
      <p:sp>
        <p:nvSpPr>
          <p:cNvPr id="70" name="ovl_s18_ns_cap"/>
          <p:cNvSpPr txBox="1"/>
          <p:nvPr/>
        </p:nvSpPr>
        <p:spPr>
          <a:xfrm>
            <a:off x="2636520" y="2240280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91.7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 18.8%</a:t>
            </a:r>
            <a:endParaRPr lang="en-US" sz="850" dirty="0"/>
          </a:p>
        </p:txBody>
      </p:sp>
      <p:sp>
        <p:nvSpPr>
          <p:cNvPr id="71" name="ovl_s18_n_ni"/>
          <p:cNvSpPr/>
          <p:nvPr/>
        </p:nvSpPr>
        <p:spPr>
          <a:xfrm>
            <a:off x="2590800" y="2912364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2" name="ovl_s18_nt_ni"/>
          <p:cNvSpPr txBox="1"/>
          <p:nvPr/>
        </p:nvSpPr>
        <p:spPr>
          <a:xfrm>
            <a:off x="2627376" y="293979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</a:t>
            </a:r>
            <a:endParaRPr lang="en-US" sz="1000" dirty="0"/>
          </a:p>
        </p:txBody>
      </p:sp>
      <p:sp>
        <p:nvSpPr>
          <p:cNvPr id="73" name="ovl_s18_ns_ni"/>
          <p:cNvSpPr txBox="1"/>
          <p:nvPr/>
        </p:nvSpPr>
        <p:spPr>
          <a:xfrm>
            <a:off x="2636520" y="3145536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 年 8.3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(エンジン)</a:t>
            </a:r>
            <a:endParaRPr lang="en-US" sz="850" dirty="0"/>
          </a:p>
        </p:txBody>
      </p:sp>
      <p:sp>
        <p:nvSpPr>
          <p:cNvPr id="74" name="ovl_s18_n_sbc"/>
          <p:cNvSpPr/>
          <p:nvPr/>
        </p:nvSpPr>
        <p:spPr>
          <a:xfrm>
            <a:off x="2590800" y="381762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5" name="ovl_s18_nt_sbc"/>
          <p:cNvSpPr txBox="1"/>
          <p:nvPr/>
        </p:nvSpPr>
        <p:spPr>
          <a:xfrm>
            <a:off x="2627376" y="384505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株式報酬</a:t>
            </a:r>
            <a:endParaRPr lang="en-US" sz="1000" dirty="0"/>
          </a:p>
        </p:txBody>
      </p:sp>
      <p:sp>
        <p:nvSpPr>
          <p:cNvPr id="76" name="ovl_s18_ns_sbc"/>
          <p:cNvSpPr txBox="1"/>
          <p:nvPr/>
        </p:nvSpPr>
        <p:spPr>
          <a:xfrm>
            <a:off x="2636520" y="405079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2.6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(資本に加わる)</a:t>
            </a:r>
            <a:endParaRPr lang="en-US" sz="850" dirty="0"/>
          </a:p>
        </p:txBody>
      </p:sp>
      <p:sp>
        <p:nvSpPr>
          <p:cNvPr id="77" name="ovl_s18_n_floor"/>
          <p:cNvSpPr/>
          <p:nvPr/>
        </p:nvSpPr>
        <p:spPr>
          <a:xfrm>
            <a:off x="2590800" y="4722876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8" name="ovl_s18_nt_floor"/>
          <p:cNvSpPr txBox="1"/>
          <p:nvPr/>
        </p:nvSpPr>
        <p:spPr>
          <a:xfrm>
            <a:off x="2627376" y="475030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運用の下限</a:t>
            </a:r>
            <a:endParaRPr lang="en-US" sz="1000" dirty="0"/>
          </a:p>
        </p:txBody>
      </p:sp>
      <p:sp>
        <p:nvSpPr>
          <p:cNvPr id="79" name="ovl_s18_ns_floor"/>
          <p:cNvSpPr txBox="1"/>
          <p:nvPr/>
        </p:nvSpPr>
        <p:spPr>
          <a:xfrm>
            <a:off x="2636520" y="4956048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比率 14〜15%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(10% 台前半〜半ば)</a:t>
            </a:r>
            <a:endParaRPr lang="en-US" sz="850" dirty="0"/>
          </a:p>
        </p:txBody>
      </p:sp>
      <p:sp>
        <p:nvSpPr>
          <p:cNvPr id="80" name="ovl_s18_n_rwa"/>
          <p:cNvSpPr/>
          <p:nvPr/>
        </p:nvSpPr>
        <p:spPr>
          <a:xfrm>
            <a:off x="4815840" y="2007108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1" name="ovl_s18_nt_rwa"/>
          <p:cNvSpPr txBox="1"/>
          <p:nvPr/>
        </p:nvSpPr>
        <p:spPr>
          <a:xfrm>
            <a:off x="4852416" y="2034540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リスク資産(RWA)</a:t>
            </a:r>
            <a:endParaRPr lang="en-US" sz="1000" dirty="0"/>
          </a:p>
        </p:txBody>
      </p:sp>
      <p:sp>
        <p:nvSpPr>
          <p:cNvPr id="82" name="ovl_s18_ns_rwa"/>
          <p:cNvSpPr txBox="1"/>
          <p:nvPr/>
        </p:nvSpPr>
        <p:spPr>
          <a:xfrm>
            <a:off x="4861560" y="2240280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372 → 487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(半年で +31%)</a:t>
            </a:r>
            <a:endParaRPr lang="en-US" sz="850" dirty="0"/>
          </a:p>
        </p:txBody>
      </p:sp>
      <p:sp>
        <p:nvSpPr>
          <p:cNvPr id="83" name="ovl_s18_n_bs"/>
          <p:cNvSpPr/>
          <p:nvPr/>
        </p:nvSpPr>
        <p:spPr>
          <a:xfrm>
            <a:off x="4815840" y="2912364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84" name="ovl_s18_nt_bs"/>
          <p:cNvSpPr txBox="1"/>
          <p:nvPr/>
        </p:nvSpPr>
        <p:spPr>
          <a:xfrm>
            <a:off x="4852416" y="293979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貸出</a:t>
            </a:r>
            <a:endParaRPr lang="en-US" sz="1000" dirty="0"/>
          </a:p>
        </p:txBody>
      </p:sp>
      <p:sp>
        <p:nvSpPr>
          <p:cNvPr id="85" name="ovl_s18_ns_bs"/>
          <p:cNvSpPr txBox="1"/>
          <p:nvPr/>
        </p:nvSpPr>
        <p:spPr>
          <a:xfrm>
            <a:off x="4861560" y="3145536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5.98%</a:t>
            </a:r>
            <a:endParaRPr lang="en-US" sz="850" dirty="0"/>
          </a:p>
        </p:txBody>
      </p:sp>
      <p:sp>
        <p:nvSpPr>
          <p:cNvPr id="86" name="ovl_s18_n_lpb"/>
          <p:cNvSpPr/>
          <p:nvPr/>
        </p:nvSpPr>
        <p:spPr>
          <a:xfrm>
            <a:off x="4815840" y="381762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87" name="ovl_s18_nt_lpb"/>
          <p:cNvSpPr txBox="1"/>
          <p:nvPr/>
        </p:nvSpPr>
        <p:spPr>
          <a:xfrm>
            <a:off x="4852416" y="384505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</a:t>
            </a:r>
            <a:endParaRPr lang="en-US" sz="1000" dirty="0"/>
          </a:p>
        </p:txBody>
      </p:sp>
      <p:sp>
        <p:nvSpPr>
          <p:cNvPr id="88" name="ovl_s18_ns_lpb"/>
          <p:cNvSpPr txBox="1"/>
          <p:nvPr/>
        </p:nvSpPr>
        <p:spPr>
          <a:xfrm>
            <a:off x="4861560" y="4050792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資本を使わない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 4.6%</a:t>
            </a:r>
            <a:endParaRPr lang="en-US" sz="850" dirty="0"/>
          </a:p>
        </p:txBody>
      </p:sp>
      <p:sp>
        <p:nvSpPr>
          <p:cNvPr id="89" name="ovl_s18_n_steady"/>
          <p:cNvSpPr/>
          <p:nvPr/>
        </p:nvSpPr>
        <p:spPr>
          <a:xfrm>
            <a:off x="4815840" y="4722876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90" name="ovl_s18_nt_steady"/>
          <p:cNvSpPr txBox="1"/>
          <p:nvPr/>
        </p:nvSpPr>
        <p:spPr>
          <a:xfrm>
            <a:off x="4852416" y="475030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定常の稼ぐ力</a:t>
            </a:r>
            <a:endParaRPr lang="en-US" sz="1000" dirty="0"/>
          </a:p>
        </p:txBody>
      </p:sp>
      <p:sp>
        <p:nvSpPr>
          <p:cNvPr id="91" name="ovl_s18_ns_steady"/>
          <p:cNvSpPr txBox="1"/>
          <p:nvPr/>
        </p:nvSpPr>
        <p:spPr>
          <a:xfrm>
            <a:off x="4861560" y="4956048"/>
            <a:ext cx="123444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成長を止めれば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純利益 約 15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(ROTCE 約 15%)</a:t>
            </a:r>
            <a:endParaRPr lang="en-US" sz="850" dirty="0"/>
          </a:p>
        </p:txBody>
      </p:sp>
      <p:sp>
        <p:nvSpPr>
          <p:cNvPr id="92" name="ovl_s18_n_rotce"/>
          <p:cNvSpPr/>
          <p:nvPr/>
        </p:nvSpPr>
        <p:spPr>
          <a:xfrm>
            <a:off x="7040880" y="2007108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93" name="ovl_s18_nt_rotce"/>
          <p:cNvSpPr txBox="1"/>
          <p:nvPr/>
        </p:nvSpPr>
        <p:spPr>
          <a:xfrm>
            <a:off x="7077456" y="2034540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</a:t>
            </a:r>
            <a:endParaRPr lang="en-US" sz="1000" dirty="0"/>
          </a:p>
        </p:txBody>
      </p:sp>
      <p:sp>
        <p:nvSpPr>
          <p:cNvPr id="94" name="ovl_s18_ns_rotce"/>
          <p:cNvSpPr txBox="1"/>
          <p:nvPr/>
        </p:nvSpPr>
        <p:spPr>
          <a:xfrm>
            <a:off x="7086600" y="2240280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 年 7〜9%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資本コスト 13.9%</a:t>
            </a:r>
            <a:endParaRPr lang="en-US" sz="850" dirty="0"/>
          </a:p>
        </p:txBody>
      </p:sp>
      <p:sp>
        <p:nvSpPr>
          <p:cNvPr id="95" name="ovl_s18_n_tbv"/>
          <p:cNvSpPr/>
          <p:nvPr/>
        </p:nvSpPr>
        <p:spPr>
          <a:xfrm>
            <a:off x="7040880" y="381762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96" name="ovl_s18_nt_tbv"/>
          <p:cNvSpPr txBox="1"/>
          <p:nvPr/>
        </p:nvSpPr>
        <p:spPr>
          <a:xfrm>
            <a:off x="7077456" y="3845052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TBVPS</a:t>
            </a:r>
            <a:endParaRPr lang="en-US" sz="1000" dirty="0"/>
          </a:p>
        </p:txBody>
      </p:sp>
      <p:sp>
        <p:nvSpPr>
          <p:cNvPr id="97" name="ovl_s18_ns_tbv"/>
          <p:cNvSpPr txBox="1"/>
          <p:nvPr/>
        </p:nvSpPr>
        <p:spPr>
          <a:xfrm>
            <a:off x="7086600" y="4050792"/>
            <a:ext cx="1143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7.34 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(増資で +56%)</a:t>
            </a:r>
            <a:endParaRPr lang="en-US" sz="850" dirty="0"/>
          </a:p>
        </p:txBody>
      </p:sp>
      <p:sp>
        <p:nvSpPr>
          <p:cNvPr id="98" name="ovl_s18_lab0"/>
          <p:cNvSpPr txBox="1"/>
          <p:nvPr/>
        </p:nvSpPr>
        <p:spPr>
          <a:xfrm>
            <a:off x="1736598" y="2103120"/>
            <a:ext cx="80924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増資 33 億</a:t>
            </a:r>
            <a:endParaRPr lang="en-US" sz="850" dirty="0"/>
          </a:p>
        </p:txBody>
      </p:sp>
      <p:sp>
        <p:nvSpPr>
          <p:cNvPr id="99" name="ovl_s18_lab1"/>
          <p:cNvSpPr txBox="1"/>
          <p:nvPr/>
        </p:nvSpPr>
        <p:spPr>
          <a:xfrm>
            <a:off x="2398776" y="2686050"/>
            <a:ext cx="80924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年約 11 億</a:t>
            </a:r>
            <a:endParaRPr lang="en-US" sz="850" dirty="0"/>
          </a:p>
        </p:txBody>
      </p:sp>
      <p:sp>
        <p:nvSpPr>
          <p:cNvPr id="100" name="ovl_s18_lab3"/>
          <p:cNvSpPr txBox="1"/>
          <p:nvPr/>
        </p:nvSpPr>
        <p:spPr>
          <a:xfrm>
            <a:off x="1916430" y="3470148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</a:t>
            </a:r>
            <a:endParaRPr lang="en-US" sz="850" dirty="0"/>
          </a:p>
        </p:txBody>
      </p:sp>
      <p:sp>
        <p:nvSpPr>
          <p:cNvPr id="101" name="ovl_s18_lab4"/>
          <p:cNvSpPr txBox="1"/>
          <p:nvPr/>
        </p:nvSpPr>
        <p:spPr>
          <a:xfrm>
            <a:off x="1856994" y="3794760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利息</a:t>
            </a:r>
            <a:endParaRPr lang="en-US" sz="850" dirty="0"/>
          </a:p>
        </p:txBody>
      </p:sp>
      <p:sp>
        <p:nvSpPr>
          <p:cNvPr id="102" name="ovl_s18_lab5"/>
          <p:cNvSpPr txBox="1"/>
          <p:nvPr/>
        </p:nvSpPr>
        <p:spPr>
          <a:xfrm>
            <a:off x="5524500" y="2686050"/>
            <a:ext cx="96080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貸出が増える</a:t>
            </a:r>
            <a:endParaRPr lang="en-US" sz="850" dirty="0"/>
          </a:p>
        </p:txBody>
      </p:sp>
      <p:sp>
        <p:nvSpPr>
          <p:cNvPr id="103" name="ovl_s18_lab6"/>
          <p:cNvSpPr txBox="1"/>
          <p:nvPr/>
        </p:nvSpPr>
        <p:spPr>
          <a:xfrm>
            <a:off x="3953256" y="1961388"/>
            <a:ext cx="82600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必要資本 年約 30 億</a:t>
            </a:r>
            <a:endParaRPr lang="en-US" sz="850" dirty="0"/>
          </a:p>
        </p:txBody>
      </p:sp>
      <p:sp>
        <p:nvSpPr>
          <p:cNvPr id="104" name="ovl_s18_lab7"/>
          <p:cNvSpPr txBox="1"/>
          <p:nvPr/>
        </p:nvSpPr>
        <p:spPr>
          <a:xfrm>
            <a:off x="4114800" y="4098798"/>
            <a:ext cx="669341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</a:t>
            </a:r>
            <a:endParaRPr lang="en-US" sz="850" dirty="0"/>
          </a:p>
        </p:txBody>
      </p:sp>
      <p:sp>
        <p:nvSpPr>
          <p:cNvPr id="105" name="ovl_s18_lab8"/>
          <p:cNvSpPr txBox="1"/>
          <p:nvPr/>
        </p:nvSpPr>
        <p:spPr>
          <a:xfrm>
            <a:off x="5661660" y="3591306"/>
            <a:ext cx="107739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抱えきれない分</a:t>
            </a:r>
            <a:endParaRPr lang="en-US" sz="850" dirty="0"/>
          </a:p>
        </p:txBody>
      </p:sp>
      <p:sp>
        <p:nvSpPr>
          <p:cNvPr id="106" name="ovl_s18_lab9"/>
          <p:cNvSpPr txBox="1"/>
          <p:nvPr/>
        </p:nvSpPr>
        <p:spPr>
          <a:xfrm>
            <a:off x="1854708" y="4366260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引き渡し</a:t>
            </a:r>
            <a:endParaRPr lang="en-US" sz="850" dirty="0"/>
          </a:p>
        </p:txBody>
      </p:sp>
      <p:sp>
        <p:nvSpPr>
          <p:cNvPr id="107" name="ovl_s18_lab10"/>
          <p:cNvSpPr txBox="1"/>
          <p:nvPr/>
        </p:nvSpPr>
        <p:spPr>
          <a:xfrm>
            <a:off x="6858000" y="3042666"/>
            <a:ext cx="107739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成長の先行費用</a:t>
            </a:r>
            <a:endParaRPr lang="en-US" sz="850" dirty="0"/>
          </a:p>
        </p:txBody>
      </p:sp>
      <p:sp>
        <p:nvSpPr>
          <p:cNvPr id="108" name="ovl_s18_glab0"/>
          <p:cNvSpPr txBox="1"/>
          <p:nvPr/>
        </p:nvSpPr>
        <p:spPr>
          <a:xfrm>
            <a:off x="2618232" y="1828800"/>
            <a:ext cx="5527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資本の源</a:t>
            </a:r>
            <a:endParaRPr lang="en-US" sz="800" dirty="0"/>
          </a:p>
        </p:txBody>
      </p:sp>
      <p:sp>
        <p:nvSpPr>
          <p:cNvPr id="109" name="ovl_s18_glab1"/>
          <p:cNvSpPr txBox="1"/>
          <p:nvPr/>
        </p:nvSpPr>
        <p:spPr>
          <a:xfrm>
            <a:off x="4843272" y="1828800"/>
            <a:ext cx="7559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使い道と結果</a:t>
            </a:r>
            <a:endParaRPr lang="en-US" sz="800" dirty="0"/>
          </a:p>
        </p:txBody>
      </p:sp>
      <p:sp>
        <p:nvSpPr>
          <p:cNvPr id="110" name="ovl_s18_leg0"/>
          <p:cNvSpPr/>
          <p:nvPr/>
        </p:nvSpPr>
        <p:spPr>
          <a:xfrm>
            <a:off x="457200" y="5660136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111" name="ovl_s18_legt0"/>
          <p:cNvSpPr txBox="1"/>
          <p:nvPr/>
        </p:nvSpPr>
        <p:spPr>
          <a:xfrm>
            <a:off x="87782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112" name="ovl_s18_leg1"/>
          <p:cNvSpPr/>
          <p:nvPr/>
        </p:nvSpPr>
        <p:spPr>
          <a:xfrm>
            <a:off x="1874520" y="5660136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113" name="ovl_s18_legt1"/>
          <p:cNvSpPr txBox="1"/>
          <p:nvPr/>
        </p:nvSpPr>
        <p:spPr>
          <a:xfrm>
            <a:off x="229514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114" name="ovl_s18_leg2"/>
          <p:cNvSpPr/>
          <p:nvPr/>
        </p:nvSpPr>
        <p:spPr>
          <a:xfrm>
            <a:off x="3291840" y="5660136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15" name="ovl_s18_legt2"/>
          <p:cNvSpPr txBox="1"/>
          <p:nvPr/>
        </p:nvSpPr>
        <p:spPr>
          <a:xfrm>
            <a:off x="371246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116" name="ovl_s18_leg3"/>
          <p:cNvSpPr/>
          <p:nvPr/>
        </p:nvSpPr>
        <p:spPr>
          <a:xfrm>
            <a:off x="4709160" y="5660136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17" name="ovl_s18_legt3"/>
          <p:cNvSpPr txBox="1"/>
          <p:nvPr/>
        </p:nvSpPr>
        <p:spPr>
          <a:xfrm>
            <a:off x="512978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18" name="ovl_s18_legn"/>
          <p:cNvSpPr txBox="1"/>
          <p:nvPr/>
        </p:nvSpPr>
        <p:spPr>
          <a:xfrm>
            <a:off x="6126480" y="555955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19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20" name="mech"/>
          <p:cNvSpPr txBox="1"/>
          <p:nvPr/>
        </p:nvSpPr>
        <p:spPr>
          <a:xfrm>
            <a:off x="8458200" y="1810512"/>
            <a:ext cx="3276295" cy="2191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年の増資 33 億ドルで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総自己資本比率は 22.9% に。TBVPS は 7.34 ドル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自前の資本生成は、利益と株式報酬で年約 11 億ドル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上期の貸出の伸びが続くと、必要資本は年約 30 億ドルで自前の約 3 倍。比率は半年で 22.9% → 18.8%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このままでは 2027 年に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運用の下限(14〜15%)に当たる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その先は資本を使わない LPB に回すか増資。CFO は「現行計画では増資は不要」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今の規模で成長を止めれば純利益は約 15 億ドル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(ROTCE 約 15%、必要資本ベース 18%)で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資本コストを上回る。今の 7〜9% は成長投資の結果</a:t>
            </a:r>
            <a:endParaRPr lang="en-US" sz="950" dirty="0"/>
          </a:p>
        </p:txBody>
      </p:sp>
      <p:sp>
        <p:nvSpPr>
          <p:cNvPr id="121" name="ovl_takeaway_bg"/>
          <p:cNvSpPr/>
          <p:nvPr/>
        </p:nvSpPr>
        <p:spPr>
          <a:xfrm>
            <a:off x="8458200" y="4108704"/>
            <a:ext cx="3276295" cy="10058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22" name="takeaway"/>
          <p:cNvSpPr txBox="1"/>
          <p:nvPr/>
        </p:nvSpPr>
        <p:spPr>
          <a:xfrm>
            <a:off x="8567928" y="4181856"/>
            <a:ext cx="3056839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定常の稼ぐ力は資本コストを上回り、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単位経済も正。留保は自給率 0.34 と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買い手への依存で、C との境界の B</a:t>
            </a:r>
            <a:endParaRPr lang="en-US" sz="1000" dirty="0"/>
          </a:p>
        </p:txBody>
      </p:sp>
      <p:sp>
        <p:nvSpPr>
          <p:cNvPr id="123" name="updown"/>
          <p:cNvSpPr txBox="1"/>
          <p:nvPr/>
        </p:nvSpPr>
        <p:spPr>
          <a:xfrm>
            <a:off x="8458200" y="5187696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12% 以上と比率 16% 以上を保ち、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の配分が 40% 超に戻れば A 寄り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自給率が上がらないまま比率 15% 未満、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または増資なら C</a:t>
            </a:r>
            <a:endParaRPr lang="en-US" sz="850" dirty="0"/>
          </a:p>
        </p:txBody>
      </p:sp>
      <p:sp>
        <p:nvSpPr>
          <p:cNvPr id="124" name="ovl_kpibox"/>
          <p:cNvSpPr/>
          <p:nvPr/>
        </p:nvSpPr>
        <p:spPr>
          <a:xfrm>
            <a:off x="457200" y="5870448"/>
            <a:ext cx="11277295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68910"/>
            </a:solidFill>
            <a:prstDash val="solid"/>
          </a:ln>
        </p:spPr>
      </p:sp>
      <p:sp>
        <p:nvSpPr>
          <p:cNvPr id="125" name="kpi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 KPI とトリガー: 総自己資本比率 16% 未満で警戒・14% 未満で C 候補 / 自給率(資本の生成 ÷ 必要資本の増加)0.5 以上で確度を上げる / LPB の配分 40% 超で A 候補(毎四半期)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4-1 稼ぐ力(条件1〜3)(3/3)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861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861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資産の転用(条件3)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465324" y="356616"/>
            <a:ext cx="9269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既存の会員と組成の基盤が新しい収益線を生めば、少ない追加投資で伸びる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会員と組成の基盤を LPB(年 5.6 億ドル)・手数料・SoFiUSD に転用。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は離脱後に底打ちし、自社コアの移行で信頼獲得の段階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既存の資産 → 転用の経路 → 新しい収益 ← 外部。①〜④ は右と対応。数値は Q2 2026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決算・説明会)、research_r2/R9_products_people.md、research/R1b_kpi.md・R4_scuttlebutt.md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29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条件3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47472" y="1517904"/>
            <a:ext cx="145389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既存の資産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2542032" y="1517904"/>
            <a:ext cx="3739896" cy="4315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2542032" y="1517904"/>
            <a:ext cx="373989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2542032" y="1517904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の転用と成果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7022592" y="1517904"/>
            <a:ext cx="136245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7022592" y="1517904"/>
            <a:ext cx="136245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7022592" y="1517904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</a:t>
            </a:r>
            <a:endParaRPr lang="en-US" sz="950" dirty="0"/>
          </a:p>
        </p:txBody>
      </p:sp>
      <p:sp>
        <p:nvSpPr>
          <p:cNvPr id="33" name="ovl_grp0"/>
          <p:cNvSpPr/>
          <p:nvPr/>
        </p:nvSpPr>
        <p:spPr>
          <a:xfrm>
            <a:off x="2587752" y="1911096"/>
            <a:ext cx="1408176" cy="3877056"/>
          </a:xfrm>
          <a:prstGeom prst="roundRect">
            <a:avLst>
              <a:gd name="adj" fmla="val 3896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4" name="ovl_grp1"/>
          <p:cNvSpPr/>
          <p:nvPr/>
        </p:nvSpPr>
        <p:spPr>
          <a:xfrm>
            <a:off x="4828032" y="1911096"/>
            <a:ext cx="1408176" cy="3877056"/>
          </a:xfrm>
          <a:prstGeom prst="roundRect">
            <a:avLst>
              <a:gd name="adj" fmla="val 3896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5" name="ovl_s19_e0_0"/>
          <p:cNvSpPr/>
          <p:nvPr/>
        </p:nvSpPr>
        <p:spPr>
          <a:xfrm>
            <a:off x="1691640" y="2375154"/>
            <a:ext cx="96012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6" name="ovl_s19_e1_0"/>
          <p:cNvSpPr/>
          <p:nvPr/>
        </p:nvSpPr>
        <p:spPr>
          <a:xfrm>
            <a:off x="3931920" y="2375154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7" name="ovl_s19_e2_0"/>
          <p:cNvSpPr/>
          <p:nvPr/>
        </p:nvSpPr>
        <p:spPr>
          <a:xfrm>
            <a:off x="1691640" y="3358134"/>
            <a:ext cx="96012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38" name="ovl_s19_e3_0"/>
          <p:cNvSpPr/>
          <p:nvPr/>
        </p:nvSpPr>
        <p:spPr>
          <a:xfrm>
            <a:off x="3931920" y="3358134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9" name="ovl_s19_e4_0"/>
          <p:cNvSpPr/>
          <p:nvPr/>
        </p:nvSpPr>
        <p:spPr>
          <a:xfrm flipH="1">
            <a:off x="6172200" y="3358134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0" name="ovl_s19_e5_0"/>
          <p:cNvSpPr/>
          <p:nvPr/>
        </p:nvSpPr>
        <p:spPr>
          <a:xfrm>
            <a:off x="1691640" y="4341114"/>
            <a:ext cx="96012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1" name="ovl_s19_e6_0"/>
          <p:cNvSpPr/>
          <p:nvPr/>
        </p:nvSpPr>
        <p:spPr>
          <a:xfrm>
            <a:off x="3931920" y="4341114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2" name="ovl_s19_e7_0"/>
          <p:cNvSpPr/>
          <p:nvPr/>
        </p:nvSpPr>
        <p:spPr>
          <a:xfrm>
            <a:off x="1691640" y="5324094"/>
            <a:ext cx="96012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3" name="ovl_s19_e8_0"/>
          <p:cNvSpPr/>
          <p:nvPr/>
        </p:nvSpPr>
        <p:spPr>
          <a:xfrm>
            <a:off x="3931920" y="5324094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44" name="ovl_s19_e9_0"/>
          <p:cNvSpPr/>
          <p:nvPr/>
        </p:nvSpPr>
        <p:spPr>
          <a:xfrm flipH="1">
            <a:off x="6172200" y="5324094"/>
            <a:ext cx="96012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5" name="ovl_s19_n_mem"/>
          <p:cNvSpPr/>
          <p:nvPr/>
        </p:nvSpPr>
        <p:spPr>
          <a:xfrm>
            <a:off x="457200" y="200939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46" name="ovl_s19_nt_mem"/>
          <p:cNvSpPr txBox="1"/>
          <p:nvPr/>
        </p:nvSpPr>
        <p:spPr>
          <a:xfrm>
            <a:off x="493776" y="203682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1,580 万人</a:t>
            </a:r>
            <a:endParaRPr lang="en-US" sz="1000" dirty="0"/>
          </a:p>
        </p:txBody>
      </p:sp>
      <p:sp>
        <p:nvSpPr>
          <p:cNvPr id="47" name="ovl_s19_ns_mem"/>
          <p:cNvSpPr txBox="1"/>
          <p:nvPr/>
        </p:nvSpPr>
        <p:spPr>
          <a:xfrm>
            <a:off x="502920" y="224256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+35%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1.54 製品</a:t>
            </a:r>
            <a:endParaRPr lang="en-US" sz="850" dirty="0"/>
          </a:p>
        </p:txBody>
      </p:sp>
      <p:sp>
        <p:nvSpPr>
          <p:cNvPr id="48" name="ovl_s19_n_orig"/>
          <p:cNvSpPr/>
          <p:nvPr/>
        </p:nvSpPr>
        <p:spPr>
          <a:xfrm>
            <a:off x="457200" y="299237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49" name="ovl_s19_nt_orig"/>
          <p:cNvSpPr txBox="1"/>
          <p:nvPr/>
        </p:nvSpPr>
        <p:spPr>
          <a:xfrm>
            <a:off x="493776" y="301980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組成の能力</a:t>
            </a:r>
            <a:endParaRPr lang="en-US" sz="1000" dirty="0"/>
          </a:p>
        </p:txBody>
      </p:sp>
      <p:sp>
        <p:nvSpPr>
          <p:cNvPr id="50" name="ovl_s19_ns_orig"/>
          <p:cNvSpPr txBox="1"/>
          <p:nvPr/>
        </p:nvSpPr>
        <p:spPr>
          <a:xfrm>
            <a:off x="502920" y="322554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個人ローン組成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107 億ドル/四半期</a:t>
            </a:r>
            <a:endParaRPr lang="en-US" sz="850" dirty="0"/>
          </a:p>
        </p:txBody>
      </p:sp>
      <p:sp>
        <p:nvSpPr>
          <p:cNvPr id="51" name="ovl_s19_n_charter"/>
          <p:cNvSpPr/>
          <p:nvPr/>
        </p:nvSpPr>
        <p:spPr>
          <a:xfrm>
            <a:off x="457200" y="397535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2" name="ovl_s19_nt_charter"/>
          <p:cNvSpPr txBox="1"/>
          <p:nvPr/>
        </p:nvSpPr>
        <p:spPr>
          <a:xfrm>
            <a:off x="493776" y="400278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銀行免許と預金</a:t>
            </a:r>
            <a:endParaRPr lang="en-US" sz="1000" dirty="0"/>
          </a:p>
        </p:txBody>
      </p:sp>
      <p:sp>
        <p:nvSpPr>
          <p:cNvPr id="53" name="ovl_s19_ns_charter"/>
          <p:cNvSpPr txBox="1"/>
          <p:nvPr/>
        </p:nvSpPr>
        <p:spPr>
          <a:xfrm>
            <a:off x="502920" y="420852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455 億ドル</a:t>
            </a:r>
            <a:endParaRPr lang="en-US" sz="850" dirty="0"/>
          </a:p>
        </p:txBody>
      </p:sp>
      <p:sp>
        <p:nvSpPr>
          <p:cNvPr id="54" name="ovl_s19_n_tech"/>
          <p:cNvSpPr/>
          <p:nvPr/>
        </p:nvSpPr>
        <p:spPr>
          <a:xfrm>
            <a:off x="457200" y="495833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5" name="ovl_s19_nt_tech"/>
          <p:cNvSpPr txBox="1"/>
          <p:nvPr/>
        </p:nvSpPr>
        <p:spPr>
          <a:xfrm>
            <a:off x="493776" y="498576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</a:t>
            </a:r>
            <a:endParaRPr lang="en-US" sz="1000" dirty="0"/>
          </a:p>
        </p:txBody>
      </p:sp>
      <p:sp>
        <p:nvSpPr>
          <p:cNvPr id="56" name="ovl_s19_ns_tech"/>
          <p:cNvSpPr txBox="1"/>
          <p:nvPr/>
        </p:nvSpPr>
        <p:spPr>
          <a:xfrm>
            <a:off x="502920" y="519150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Galileo・Technisys</a:t>
            </a:r>
            <a:endParaRPr lang="en-US" sz="850" dirty="0"/>
          </a:p>
        </p:txBody>
      </p:sp>
      <p:sp>
        <p:nvSpPr>
          <p:cNvPr id="57" name="ovl_s19_n_cross"/>
          <p:cNvSpPr/>
          <p:nvPr/>
        </p:nvSpPr>
        <p:spPr>
          <a:xfrm>
            <a:off x="2651760" y="200939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58" name="ovl_s19_nt_cross"/>
          <p:cNvSpPr txBox="1"/>
          <p:nvPr/>
        </p:nvSpPr>
        <p:spPr>
          <a:xfrm>
            <a:off x="2688336" y="203682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</a:t>
            </a:r>
            <a:endParaRPr lang="en-US" sz="1000" dirty="0"/>
          </a:p>
        </p:txBody>
      </p:sp>
      <p:sp>
        <p:nvSpPr>
          <p:cNvPr id="59" name="ovl_s19_ns_cross"/>
          <p:cNvSpPr txBox="1"/>
          <p:nvPr/>
        </p:nvSpPr>
        <p:spPr>
          <a:xfrm>
            <a:off x="2697480" y="224256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新製品の 51% 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既存会員</a:t>
            </a:r>
            <a:endParaRPr lang="en-US" sz="850" dirty="0"/>
          </a:p>
        </p:txBody>
      </p:sp>
      <p:sp>
        <p:nvSpPr>
          <p:cNvPr id="60" name="ovl_s19_n_lpbc"/>
          <p:cNvSpPr/>
          <p:nvPr/>
        </p:nvSpPr>
        <p:spPr>
          <a:xfrm>
            <a:off x="2651760" y="299237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1" name="ovl_s19_nt_lpbc"/>
          <p:cNvSpPr txBox="1"/>
          <p:nvPr/>
        </p:nvSpPr>
        <p:spPr>
          <a:xfrm>
            <a:off x="2688336" y="301980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契約</a:t>
            </a:r>
            <a:endParaRPr lang="en-US" sz="1000" dirty="0"/>
          </a:p>
        </p:txBody>
      </p:sp>
      <p:sp>
        <p:nvSpPr>
          <p:cNvPr id="62" name="ovl_s19_ns_lpbc"/>
          <p:cNvSpPr txBox="1"/>
          <p:nvPr/>
        </p:nvSpPr>
        <p:spPr>
          <a:xfrm>
            <a:off x="2697480" y="322554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Blue Owl 最大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50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ほか 100 億ドル超</a:t>
            </a:r>
            <a:endParaRPr lang="en-US" sz="850" dirty="0"/>
          </a:p>
        </p:txBody>
      </p:sp>
      <p:sp>
        <p:nvSpPr>
          <p:cNvPr id="63" name="ovl_s19_n_chain"/>
          <p:cNvSpPr/>
          <p:nvPr/>
        </p:nvSpPr>
        <p:spPr>
          <a:xfrm>
            <a:off x="2651760" y="397535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4" name="ovl_s19_nt_chain"/>
          <p:cNvSpPr txBox="1"/>
          <p:nvPr/>
        </p:nvSpPr>
        <p:spPr>
          <a:xfrm>
            <a:off x="2688336" y="400278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銀行の新商品</a:t>
            </a:r>
            <a:endParaRPr lang="en-US" sz="1000" dirty="0"/>
          </a:p>
        </p:txBody>
      </p:sp>
      <p:sp>
        <p:nvSpPr>
          <p:cNvPr id="65" name="ovl_s19_ns_chain"/>
          <p:cNvSpPr txBox="1"/>
          <p:nvPr/>
        </p:nvSpPr>
        <p:spPr>
          <a:xfrm>
            <a:off x="2697480" y="420852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暗号資産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2025-11 再開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 2026-05</a:t>
            </a:r>
            <a:endParaRPr lang="en-US" sz="850" dirty="0"/>
          </a:p>
        </p:txBody>
      </p:sp>
      <p:sp>
        <p:nvSpPr>
          <p:cNvPr id="66" name="ovl_s19_n_ext"/>
          <p:cNvSpPr/>
          <p:nvPr/>
        </p:nvSpPr>
        <p:spPr>
          <a:xfrm>
            <a:off x="2651760" y="495833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7" name="ovl_s19_nt_ext"/>
          <p:cNvSpPr txBox="1"/>
          <p:nvPr/>
        </p:nvSpPr>
        <p:spPr>
          <a:xfrm>
            <a:off x="2688336" y="498576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外販</a:t>
            </a:r>
            <a:endParaRPr lang="en-US" sz="1000" dirty="0"/>
          </a:p>
        </p:txBody>
      </p:sp>
      <p:sp>
        <p:nvSpPr>
          <p:cNvPr id="68" name="ovl_s19_ns_ext"/>
          <p:cNvSpPr txBox="1"/>
          <p:nvPr/>
        </p:nvSpPr>
        <p:spPr>
          <a:xfrm>
            <a:off x="2697480" y="519150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他社に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口座基盤を提供</a:t>
            </a:r>
            <a:endParaRPr lang="en-US" sz="850" dirty="0"/>
          </a:p>
        </p:txBody>
      </p:sp>
      <p:sp>
        <p:nvSpPr>
          <p:cNvPr id="69" name="ovl_s19_n_fs"/>
          <p:cNvSpPr/>
          <p:nvPr/>
        </p:nvSpPr>
        <p:spPr>
          <a:xfrm>
            <a:off x="4892040" y="200939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0" name="ovl_s19_nt_fs"/>
          <p:cNvSpPr txBox="1"/>
          <p:nvPr/>
        </p:nvSpPr>
        <p:spPr>
          <a:xfrm>
            <a:off x="4928616" y="203682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FS 手数料</a:t>
            </a:r>
            <a:endParaRPr lang="en-US" sz="1000" dirty="0"/>
          </a:p>
        </p:txBody>
      </p:sp>
      <p:sp>
        <p:nvSpPr>
          <p:cNvPr id="71" name="ovl_s19_ns_fs"/>
          <p:cNvSpPr txBox="1"/>
          <p:nvPr/>
        </p:nvSpPr>
        <p:spPr>
          <a:xfrm>
            <a:off x="4937760" y="224256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0.87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(+81%)</a:t>
            </a:r>
            <a:endParaRPr lang="en-US" sz="850" dirty="0"/>
          </a:p>
        </p:txBody>
      </p:sp>
      <p:sp>
        <p:nvSpPr>
          <p:cNvPr id="72" name="ovl_s19_n_lpb"/>
          <p:cNvSpPr/>
          <p:nvPr/>
        </p:nvSpPr>
        <p:spPr>
          <a:xfrm>
            <a:off x="4892040" y="299237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3" name="ovl_s19_nt_lpb"/>
          <p:cNvSpPr txBox="1"/>
          <p:nvPr/>
        </p:nvSpPr>
        <p:spPr>
          <a:xfrm>
            <a:off x="4928616" y="301980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</a:t>
            </a:r>
            <a:endParaRPr lang="en-US" sz="1000" dirty="0"/>
          </a:p>
        </p:txBody>
      </p:sp>
      <p:sp>
        <p:nvSpPr>
          <p:cNvPr id="74" name="ovl_s19_ns_lpb"/>
          <p:cNvSpPr txBox="1"/>
          <p:nvPr/>
        </p:nvSpPr>
        <p:spPr>
          <a:xfrm>
            <a:off x="4937760" y="322554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5.6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(+11%)</a:t>
            </a:r>
            <a:endParaRPr lang="en-US" sz="850" dirty="0"/>
          </a:p>
        </p:txBody>
      </p:sp>
      <p:sp>
        <p:nvSpPr>
          <p:cNvPr id="75" name="ovl_s19_n_newb"/>
          <p:cNvSpPr/>
          <p:nvPr/>
        </p:nvSpPr>
        <p:spPr>
          <a:xfrm>
            <a:off x="4892040" y="3911346"/>
            <a:ext cx="1280160" cy="859536"/>
          </a:xfrm>
          <a:prstGeom prst="roundRect">
            <a:avLst>
              <a:gd name="adj" fmla="val 6383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6" name="ovl_s19_nt_newb"/>
          <p:cNvSpPr txBox="1"/>
          <p:nvPr/>
        </p:nvSpPr>
        <p:spPr>
          <a:xfrm>
            <a:off x="4928616" y="3938778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新領域</a:t>
            </a:r>
            <a:endParaRPr lang="en-US" sz="1000" dirty="0"/>
          </a:p>
        </p:txBody>
      </p:sp>
      <p:sp>
        <p:nvSpPr>
          <p:cNvPr id="77" name="ovl_s19_ns_newb"/>
          <p:cNvSpPr txBox="1"/>
          <p:nvPr/>
        </p:nvSpPr>
        <p:spPr>
          <a:xfrm>
            <a:off x="4937760" y="4144518"/>
            <a:ext cx="118872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SoFiUSD 流通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 3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中小企業ローン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2026-06〜</a:t>
            </a:r>
            <a:endParaRPr lang="en-US" sz="850" dirty="0"/>
          </a:p>
        </p:txBody>
      </p:sp>
      <p:sp>
        <p:nvSpPr>
          <p:cNvPr id="78" name="ovl_s19_n_gal"/>
          <p:cNvSpPr/>
          <p:nvPr/>
        </p:nvSpPr>
        <p:spPr>
          <a:xfrm>
            <a:off x="4892040" y="495833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9" name="ovl_s19_nt_gal"/>
          <p:cNvSpPr txBox="1"/>
          <p:nvPr/>
        </p:nvSpPr>
        <p:spPr>
          <a:xfrm>
            <a:off x="4928616" y="498576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</a:t>
            </a:r>
            <a:endParaRPr lang="en-US" sz="1000" dirty="0"/>
          </a:p>
        </p:txBody>
      </p:sp>
      <p:sp>
        <p:nvSpPr>
          <p:cNvPr id="80" name="ovl_s19_ns_gal"/>
          <p:cNvSpPr txBox="1"/>
          <p:nvPr/>
        </p:nvSpPr>
        <p:spPr>
          <a:xfrm>
            <a:off x="4937760" y="519150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前期比 +12.5%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底打ち・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自社コアへ移行</a:t>
            </a:r>
            <a:endParaRPr lang="en-US" sz="850" dirty="0"/>
          </a:p>
        </p:txBody>
      </p:sp>
      <p:sp>
        <p:nvSpPr>
          <p:cNvPr id="81" name="ovl_s19_n_buyers"/>
          <p:cNvSpPr/>
          <p:nvPr/>
        </p:nvSpPr>
        <p:spPr>
          <a:xfrm>
            <a:off x="7132320" y="2910078"/>
            <a:ext cx="114300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82" name="ovl_s19_nt_buyers"/>
          <p:cNvSpPr txBox="1"/>
          <p:nvPr/>
        </p:nvSpPr>
        <p:spPr>
          <a:xfrm>
            <a:off x="7168896" y="2937510"/>
            <a:ext cx="1069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ローンの買い手</a:t>
            </a:r>
            <a:endParaRPr lang="en-US" sz="1000" dirty="0"/>
          </a:p>
        </p:txBody>
      </p:sp>
      <p:sp>
        <p:nvSpPr>
          <p:cNvPr id="83" name="ovl_s19_ns_buyers"/>
          <p:cNvSpPr txBox="1"/>
          <p:nvPr/>
        </p:nvSpPr>
        <p:spPr>
          <a:xfrm>
            <a:off x="7178040" y="3143250"/>
            <a:ext cx="1051560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Blue Owl・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Fortress・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BasePoint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(3 年 30 億ドル)</a:t>
            </a:r>
            <a:endParaRPr lang="en-US" sz="850" dirty="0"/>
          </a:p>
        </p:txBody>
      </p:sp>
      <p:sp>
        <p:nvSpPr>
          <p:cNvPr id="84" name="ovl_s19_n_chime"/>
          <p:cNvSpPr/>
          <p:nvPr/>
        </p:nvSpPr>
        <p:spPr>
          <a:xfrm>
            <a:off x="7132320" y="4958334"/>
            <a:ext cx="11430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5" name="ovl_s19_nt_chime"/>
          <p:cNvSpPr txBox="1"/>
          <p:nvPr/>
        </p:nvSpPr>
        <p:spPr>
          <a:xfrm>
            <a:off x="7168896" y="4985766"/>
            <a:ext cx="1069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</a:t>
            </a:r>
            <a:endParaRPr lang="en-US" sz="1000" dirty="0"/>
          </a:p>
        </p:txBody>
      </p:sp>
      <p:sp>
        <p:nvSpPr>
          <p:cNvPr id="86" name="ovl_s19_ns_chime"/>
          <p:cNvSpPr txBox="1"/>
          <p:nvPr/>
        </p:nvSpPr>
        <p:spPr>
          <a:xfrm>
            <a:off x="7178040" y="5191506"/>
            <a:ext cx="105156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自社基盤へ移行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解約料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1,800 万ドル</a:t>
            </a:r>
            <a:endParaRPr lang="en-US" sz="850" dirty="0"/>
          </a:p>
        </p:txBody>
      </p:sp>
      <p:sp>
        <p:nvSpPr>
          <p:cNvPr id="87" name="ovl_s19_lab0"/>
          <p:cNvSpPr txBox="1"/>
          <p:nvPr/>
        </p:nvSpPr>
        <p:spPr>
          <a:xfrm>
            <a:off x="1807883" y="2141982"/>
            <a:ext cx="72763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既存会員</a:t>
            </a:r>
            <a:endParaRPr lang="en-US" sz="850" dirty="0"/>
          </a:p>
        </p:txBody>
      </p:sp>
      <p:sp>
        <p:nvSpPr>
          <p:cNvPr id="88" name="ovl_s19_lab1"/>
          <p:cNvSpPr txBox="1"/>
          <p:nvPr/>
        </p:nvSpPr>
        <p:spPr>
          <a:xfrm>
            <a:off x="4182237" y="2141982"/>
            <a:ext cx="45948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</a:t>
            </a:r>
            <a:endParaRPr lang="en-US" sz="850" dirty="0"/>
          </a:p>
        </p:txBody>
      </p:sp>
      <p:sp>
        <p:nvSpPr>
          <p:cNvPr id="89" name="ovl_s19_lab2"/>
          <p:cNvSpPr txBox="1"/>
          <p:nvPr/>
        </p:nvSpPr>
        <p:spPr>
          <a:xfrm>
            <a:off x="1728216" y="2983230"/>
            <a:ext cx="88696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組成して渡す</a:t>
            </a:r>
            <a:endParaRPr lang="en-US" sz="850" dirty="0"/>
          </a:p>
        </p:txBody>
      </p:sp>
      <p:sp>
        <p:nvSpPr>
          <p:cNvPr id="90" name="ovl_s19_lab3"/>
          <p:cNvSpPr txBox="1"/>
          <p:nvPr/>
        </p:nvSpPr>
        <p:spPr>
          <a:xfrm>
            <a:off x="4036505" y="3124962"/>
            <a:ext cx="750951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 4.6%</a:t>
            </a:r>
            <a:endParaRPr lang="en-US" sz="850" dirty="0"/>
          </a:p>
        </p:txBody>
      </p:sp>
      <p:sp>
        <p:nvSpPr>
          <p:cNvPr id="91" name="ovl_s19_lab4"/>
          <p:cNvSpPr txBox="1"/>
          <p:nvPr/>
        </p:nvSpPr>
        <p:spPr>
          <a:xfrm>
            <a:off x="6273870" y="3124962"/>
            <a:ext cx="75678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額面+手数料</a:t>
            </a:r>
            <a:endParaRPr lang="en-US" sz="850" dirty="0"/>
          </a:p>
        </p:txBody>
      </p:sp>
      <p:sp>
        <p:nvSpPr>
          <p:cNvPr id="92" name="ovl_s19_lab5"/>
          <p:cNvSpPr txBox="1"/>
          <p:nvPr/>
        </p:nvSpPr>
        <p:spPr>
          <a:xfrm>
            <a:off x="1749590" y="4107942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銀行が発行</a:t>
            </a:r>
            <a:endParaRPr lang="en-US" sz="850" dirty="0"/>
          </a:p>
        </p:txBody>
      </p:sp>
      <p:sp>
        <p:nvSpPr>
          <p:cNvPr id="93" name="ovl_s19_lab6"/>
          <p:cNvSpPr txBox="1"/>
          <p:nvPr/>
        </p:nvSpPr>
        <p:spPr>
          <a:xfrm>
            <a:off x="4240530" y="4107942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流通</a:t>
            </a:r>
            <a:endParaRPr lang="en-US" sz="850" dirty="0"/>
          </a:p>
        </p:txBody>
      </p:sp>
      <p:sp>
        <p:nvSpPr>
          <p:cNvPr id="94" name="ovl_s19_lab8"/>
          <p:cNvSpPr txBox="1"/>
          <p:nvPr/>
        </p:nvSpPr>
        <p:spPr>
          <a:xfrm>
            <a:off x="4106456" y="5090922"/>
            <a:ext cx="611048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処理料</a:t>
            </a:r>
            <a:endParaRPr lang="en-US" sz="850" dirty="0"/>
          </a:p>
        </p:txBody>
      </p:sp>
      <p:sp>
        <p:nvSpPr>
          <p:cNvPr id="95" name="ovl_s19_lab9"/>
          <p:cNvSpPr txBox="1"/>
          <p:nvPr/>
        </p:nvSpPr>
        <p:spPr>
          <a:xfrm>
            <a:off x="6480810" y="5090922"/>
            <a:ext cx="34290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離脱</a:t>
            </a:r>
            <a:endParaRPr lang="en-US" sz="850" dirty="0"/>
          </a:p>
        </p:txBody>
      </p:sp>
      <p:sp>
        <p:nvSpPr>
          <p:cNvPr id="96" name="ovl_s19_glab0"/>
          <p:cNvSpPr txBox="1"/>
          <p:nvPr/>
        </p:nvSpPr>
        <p:spPr>
          <a:xfrm>
            <a:off x="2679192" y="1828800"/>
            <a:ext cx="6543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転用の経路</a:t>
            </a:r>
            <a:endParaRPr lang="en-US" sz="800" dirty="0"/>
          </a:p>
        </p:txBody>
      </p:sp>
      <p:sp>
        <p:nvSpPr>
          <p:cNvPr id="97" name="ovl_s19_glab1"/>
          <p:cNvSpPr txBox="1"/>
          <p:nvPr/>
        </p:nvSpPr>
        <p:spPr>
          <a:xfrm>
            <a:off x="4919472" y="1828800"/>
            <a:ext cx="6543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新しい収益</a:t>
            </a:r>
            <a:endParaRPr lang="en-US" sz="800" dirty="0"/>
          </a:p>
        </p:txBody>
      </p:sp>
      <p:sp>
        <p:nvSpPr>
          <p:cNvPr id="98" name="ovl_s19_leg0"/>
          <p:cNvSpPr/>
          <p:nvPr/>
        </p:nvSpPr>
        <p:spPr>
          <a:xfrm>
            <a:off x="457200" y="5971032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99" name="ovl_s19_legt0"/>
          <p:cNvSpPr txBox="1"/>
          <p:nvPr/>
        </p:nvSpPr>
        <p:spPr>
          <a:xfrm>
            <a:off x="87782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100" name="ovl_s19_leg1"/>
          <p:cNvSpPr/>
          <p:nvPr/>
        </p:nvSpPr>
        <p:spPr>
          <a:xfrm>
            <a:off x="1874520" y="5971032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101" name="ovl_s19_legt1"/>
          <p:cNvSpPr txBox="1"/>
          <p:nvPr/>
        </p:nvSpPr>
        <p:spPr>
          <a:xfrm>
            <a:off x="229514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102" name="ovl_s19_leg2"/>
          <p:cNvSpPr/>
          <p:nvPr/>
        </p:nvSpPr>
        <p:spPr>
          <a:xfrm>
            <a:off x="3291840" y="5971032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03" name="ovl_s19_legt2"/>
          <p:cNvSpPr txBox="1"/>
          <p:nvPr/>
        </p:nvSpPr>
        <p:spPr>
          <a:xfrm>
            <a:off x="371246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104" name="ovl_s19_leg3"/>
          <p:cNvSpPr/>
          <p:nvPr/>
        </p:nvSpPr>
        <p:spPr>
          <a:xfrm>
            <a:off x="4709160" y="5971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05" name="ovl_s19_legt3"/>
          <p:cNvSpPr txBox="1"/>
          <p:nvPr/>
        </p:nvSpPr>
        <p:spPr>
          <a:xfrm>
            <a:off x="512978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06" name="ovl_s19_legn"/>
          <p:cNvSpPr txBox="1"/>
          <p:nvPr/>
        </p:nvSpPr>
        <p:spPr>
          <a:xfrm>
            <a:off x="6126480" y="5870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07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08" name="mech"/>
          <p:cNvSpPr txBox="1"/>
          <p:nvPr/>
        </p:nvSpPr>
        <p:spPr>
          <a:xfrm>
            <a:off x="8458200" y="1810512"/>
            <a:ext cx="3276295" cy="2338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1,580 万人に製品を足す。新製品の 51% は既存会員が開き、FS 手数料は 0.87 億ドル(+81%)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組成の能力を他社の資金に貸す。LPB 契約は 100 億ドル超、手数料は年 5.6 億ドル(+11%)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銀行免許の上に暗号資産(2025-11 再開)と SoFiUSD(2026-05)を載せた。流通は約 3 億ドルでまだ小さい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技術基盤の外販は大口顧客(Chime)の離脱で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 −23%。ただし前期比 +12.5% で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底打ちし、SoFi Money を自社の新コアへ移して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外販の信頼を得る段階</a:t>
            </a:r>
            <a:endParaRPr lang="en-US" sz="1100" dirty="0"/>
          </a:p>
        </p:txBody>
      </p:sp>
      <p:sp>
        <p:nvSpPr>
          <p:cNvPr id="109" name="ovl_takeaway_bg"/>
          <p:cNvSpPr/>
          <p:nvPr/>
        </p:nvSpPr>
        <p:spPr>
          <a:xfrm>
            <a:off x="8458200" y="4419600"/>
            <a:ext cx="3276295" cy="10058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10" name="takeaway"/>
          <p:cNvSpPr txBox="1"/>
          <p:nvPr/>
        </p:nvSpPr>
        <p:spPr>
          <a:xfrm>
            <a:off x="8567928" y="4492752"/>
            <a:ext cx="3056839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会員と組成の基盤の転用は成果が出た。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は底打ち → 信頼獲得の段階で、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新領域はまだ小さいため B</a:t>
            </a:r>
            <a:endParaRPr lang="en-US" sz="1000" dirty="0"/>
          </a:p>
        </p:txBody>
      </p:sp>
      <p:sp>
        <p:nvSpPr>
          <p:cNvPr id="111" name="updown"/>
          <p:cNvSpPr txBox="1"/>
          <p:nvPr/>
        </p:nvSpPr>
        <p:spPr>
          <a:xfrm>
            <a:off x="8458200" y="5498592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手数料が年 7 億ドルを超え、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が前年比で増収に戻れば 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組成が四半期 30 億ドルを割り、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の貢献利益の低下が続けば C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4-2 経営(条件5)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988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988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経営者の能力(条件5)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592324" y="356616"/>
            <a:ext cx="9142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成長と信用の判断を任せる経営陣が、その事業を築いた経験と資本配分の規律を持つかを確かめる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CEO は資本市場と財務の経歴で銀行化と黒字化を果たし、貸出は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消費者金融の経験者が率いる。報酬は 1 株当たりでなく TBV の総額に連動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経歴(どこで何を築いたか)→ 現職 → 担う事業 → 結果。①〜⑤ は右と対応。経歴は会社発表・報道の要約に基づく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research/R3b_management.md、research_r2/R9_products_people.md(会社発表・DEF 14A・Form 4 の要約)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条件5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47472" y="1517904"/>
            <a:ext cx="159105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47472" y="1517904"/>
            <a:ext cx="159105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47472" y="151790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経歴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2557272" y="1517904"/>
            <a:ext cx="3663696" cy="4315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2557272" y="1517904"/>
            <a:ext cx="366369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2557272" y="1517904"/>
            <a:ext cx="3663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経営陣と担う事業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6839712" y="1517904"/>
            <a:ext cx="154533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6839712" y="1517904"/>
            <a:ext cx="154533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6839712" y="151790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</a:t>
            </a:r>
            <a:endParaRPr lang="en-US" sz="950" dirty="0"/>
          </a:p>
        </p:txBody>
      </p:sp>
      <p:sp>
        <p:nvSpPr>
          <p:cNvPr id="33" name="ovl_s21_e0_0"/>
          <p:cNvSpPr/>
          <p:nvPr/>
        </p:nvSpPr>
        <p:spPr>
          <a:xfrm>
            <a:off x="1828800" y="237515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4" name="ovl_s21_e1_0"/>
          <p:cNvSpPr/>
          <p:nvPr/>
        </p:nvSpPr>
        <p:spPr>
          <a:xfrm>
            <a:off x="1828800" y="335813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5" name="ovl_s21_e2_0"/>
          <p:cNvSpPr/>
          <p:nvPr/>
        </p:nvSpPr>
        <p:spPr>
          <a:xfrm>
            <a:off x="1828800" y="434111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6" name="ovl_s21_e3_0"/>
          <p:cNvSpPr/>
          <p:nvPr/>
        </p:nvSpPr>
        <p:spPr>
          <a:xfrm>
            <a:off x="1828800" y="532409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7" name="ovl_s21_e4_0"/>
          <p:cNvSpPr/>
          <p:nvPr/>
        </p:nvSpPr>
        <p:spPr>
          <a:xfrm>
            <a:off x="3992880" y="237515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8" name="ovl_s21_e5_0"/>
          <p:cNvSpPr/>
          <p:nvPr/>
        </p:nvSpPr>
        <p:spPr>
          <a:xfrm>
            <a:off x="3992880" y="335813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9" name="ovl_s21_e6_0"/>
          <p:cNvSpPr/>
          <p:nvPr/>
        </p:nvSpPr>
        <p:spPr>
          <a:xfrm>
            <a:off x="3992880" y="434111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0" name="ovl_s21_e7_0"/>
          <p:cNvSpPr/>
          <p:nvPr/>
        </p:nvSpPr>
        <p:spPr>
          <a:xfrm>
            <a:off x="3992880" y="532409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1" name="ovl_s21_e8_0"/>
          <p:cNvSpPr/>
          <p:nvPr/>
        </p:nvSpPr>
        <p:spPr>
          <a:xfrm>
            <a:off x="6111240" y="237515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2" name="ovl_s21_e9_0"/>
          <p:cNvSpPr/>
          <p:nvPr/>
        </p:nvSpPr>
        <p:spPr>
          <a:xfrm>
            <a:off x="6111240" y="335813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3" name="ovl_s21_e10_0"/>
          <p:cNvSpPr/>
          <p:nvPr/>
        </p:nvSpPr>
        <p:spPr>
          <a:xfrm>
            <a:off x="6111240" y="4341114"/>
            <a:ext cx="83820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4" name="ovl_s21_n_gt"/>
          <p:cNvSpPr/>
          <p:nvPr/>
        </p:nvSpPr>
        <p:spPr>
          <a:xfrm>
            <a:off x="457200" y="1904238"/>
            <a:ext cx="1371600" cy="941832"/>
          </a:xfrm>
          <a:prstGeom prst="roundRect">
            <a:avLst>
              <a:gd name="adj" fmla="val 5825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45" name="ovl_s21_nt_gt"/>
          <p:cNvSpPr txBox="1"/>
          <p:nvPr/>
        </p:nvSpPr>
        <p:spPr>
          <a:xfrm>
            <a:off x="493776" y="1931670"/>
            <a:ext cx="12984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Goldman・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NFL・Twitter</a:t>
            </a:r>
            <a:endParaRPr lang="en-US" sz="900" dirty="0"/>
          </a:p>
        </p:txBody>
      </p:sp>
      <p:sp>
        <p:nvSpPr>
          <p:cNvPr id="46" name="ovl_s21_ns_gt"/>
          <p:cNvSpPr txBox="1"/>
          <p:nvPr/>
        </p:nvSpPr>
        <p:spPr>
          <a:xfrm>
            <a:off x="502920" y="2288286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Noto: GS 1999〜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2004 パートナー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NFL 2008〜10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Twitter CFO 2014〜17</a:t>
            </a:r>
            <a:endParaRPr lang="en-US" sz="850" dirty="0"/>
          </a:p>
        </p:txBody>
      </p:sp>
      <p:sp>
        <p:nvSpPr>
          <p:cNvPr id="47" name="ovl_s21_n_uber"/>
          <p:cNvSpPr/>
          <p:nvPr/>
        </p:nvSpPr>
        <p:spPr>
          <a:xfrm>
            <a:off x="457200" y="2983230"/>
            <a:ext cx="13716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48" name="ovl_s21_nt_uber"/>
          <p:cNvSpPr txBox="1"/>
          <p:nvPr/>
        </p:nvSpPr>
        <p:spPr>
          <a:xfrm>
            <a:off x="493776" y="3010662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Goldman・Uber</a:t>
            </a:r>
            <a:endParaRPr lang="en-US" sz="1000" dirty="0"/>
          </a:p>
        </p:txBody>
      </p:sp>
      <p:sp>
        <p:nvSpPr>
          <p:cNvPr id="49" name="ovl_s21_ns_uber"/>
          <p:cNvSpPr txBox="1"/>
          <p:nvPr/>
        </p:nvSpPr>
        <p:spPr>
          <a:xfrm>
            <a:off x="502920" y="3216402"/>
            <a:ext cx="128016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Lapointe: GS 2012〜15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Uber 2015〜18</a:t>
            </a:r>
            <a:endParaRPr lang="en-US" sz="850" dirty="0"/>
          </a:p>
        </p:txBody>
      </p:sp>
      <p:sp>
        <p:nvSpPr>
          <p:cNvPr id="50" name="ovl_s21_n_cons"/>
          <p:cNvSpPr/>
          <p:nvPr/>
        </p:nvSpPr>
        <p:spPr>
          <a:xfrm>
            <a:off x="457200" y="3950208"/>
            <a:ext cx="1371600" cy="1764792"/>
          </a:xfrm>
          <a:prstGeom prst="roundRect">
            <a:avLst>
              <a:gd name="adj" fmla="val 4000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1" name="ovl_s21_nt_cons"/>
          <p:cNvSpPr txBox="1"/>
          <p:nvPr/>
        </p:nvSpPr>
        <p:spPr>
          <a:xfrm>
            <a:off x="493776" y="3977640"/>
            <a:ext cx="12984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消費者金融・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資産運用</a:t>
            </a:r>
            <a:endParaRPr lang="en-US" sz="900" dirty="0"/>
          </a:p>
        </p:txBody>
      </p:sp>
      <p:sp>
        <p:nvSpPr>
          <p:cNvPr id="52" name="ovl_s21_ns_cons"/>
          <p:cNvSpPr txBox="1"/>
          <p:nvPr/>
        </p:nvSpPr>
        <p:spPr>
          <a:xfrm>
            <a:off x="502920" y="4334256"/>
            <a:ext cx="12801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JPM 住宅ローン CFO・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Capital One・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Citizens/Schwab・JPM</a:t>
            </a:r>
            <a:endParaRPr lang="en-US" sz="850" dirty="0"/>
          </a:p>
        </p:txBody>
      </p:sp>
      <p:sp>
        <p:nvSpPr>
          <p:cNvPr id="53" name="ovl_s21_n_noto"/>
          <p:cNvSpPr/>
          <p:nvPr/>
        </p:nvSpPr>
        <p:spPr>
          <a:xfrm>
            <a:off x="2667000" y="200025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4" name="ovl_s21_nt_noto"/>
          <p:cNvSpPr txBox="1"/>
          <p:nvPr/>
        </p:nvSpPr>
        <p:spPr>
          <a:xfrm>
            <a:off x="2703576" y="2027682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(CEO)</a:t>
            </a:r>
            <a:endParaRPr lang="en-US" sz="900" dirty="0"/>
          </a:p>
        </p:txBody>
      </p:sp>
      <p:sp>
        <p:nvSpPr>
          <p:cNvPr id="55" name="ovl_s21_ns_noto"/>
          <p:cNvSpPr txBox="1"/>
          <p:nvPr/>
        </p:nvSpPr>
        <p:spPr>
          <a:xfrm>
            <a:off x="2712720" y="238429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2018-02 就任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West Point・Wharton</a:t>
            </a:r>
            <a:endParaRPr lang="en-US" sz="850" dirty="0"/>
          </a:p>
        </p:txBody>
      </p:sp>
      <p:sp>
        <p:nvSpPr>
          <p:cNvPr id="56" name="ovl_s21_n_lap"/>
          <p:cNvSpPr/>
          <p:nvPr/>
        </p:nvSpPr>
        <p:spPr>
          <a:xfrm>
            <a:off x="2667000" y="298323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57" name="ovl_s21_nt_lap"/>
          <p:cNvSpPr txBox="1"/>
          <p:nvPr/>
        </p:nvSpPr>
        <p:spPr>
          <a:xfrm>
            <a:off x="2703576" y="3010662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Lapointe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(CFO)</a:t>
            </a:r>
            <a:endParaRPr lang="en-US" sz="900" dirty="0"/>
          </a:p>
        </p:txBody>
      </p:sp>
      <p:sp>
        <p:nvSpPr>
          <p:cNvPr id="58" name="ovl_s21_ns_lap"/>
          <p:cNvSpPr txBox="1"/>
          <p:nvPr/>
        </p:nvSpPr>
        <p:spPr>
          <a:xfrm>
            <a:off x="2712720" y="336727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2018 入社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2020-09 CFO</a:t>
            </a:r>
            <a:endParaRPr lang="en-US" sz="850" dirty="0"/>
          </a:p>
        </p:txBody>
      </p:sp>
      <p:sp>
        <p:nvSpPr>
          <p:cNvPr id="59" name="ovl_s21_n_sch"/>
          <p:cNvSpPr/>
          <p:nvPr/>
        </p:nvSpPr>
        <p:spPr>
          <a:xfrm>
            <a:off x="2667000" y="396621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60" name="ovl_s21_nt_sch"/>
          <p:cNvSpPr txBox="1"/>
          <p:nvPr/>
        </p:nvSpPr>
        <p:spPr>
          <a:xfrm>
            <a:off x="2703576" y="3993642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Schuppenhauer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(貸出の責任者)</a:t>
            </a:r>
            <a:endParaRPr lang="en-US" sz="900" dirty="0"/>
          </a:p>
        </p:txBody>
      </p:sp>
      <p:sp>
        <p:nvSpPr>
          <p:cNvPr id="61" name="ovl_s21_ns_sch"/>
          <p:cNvSpPr txBox="1"/>
          <p:nvPr/>
        </p:nvSpPr>
        <p:spPr>
          <a:xfrm>
            <a:off x="2712720" y="435025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2024-08 入社</a:t>
            </a:r>
            <a:endParaRPr lang="en-US" sz="850" dirty="0"/>
          </a:p>
        </p:txBody>
      </p:sp>
      <p:sp>
        <p:nvSpPr>
          <p:cNvPr id="62" name="ovl_s21_n_keo"/>
          <p:cNvSpPr/>
          <p:nvPr/>
        </p:nvSpPr>
        <p:spPr>
          <a:xfrm>
            <a:off x="2667000" y="494919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63" name="ovl_s21_nt_keo"/>
          <p:cNvSpPr txBox="1"/>
          <p:nvPr/>
        </p:nvSpPr>
        <p:spPr>
          <a:xfrm>
            <a:off x="2703576" y="4976622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Keough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(FS の責任者)</a:t>
            </a:r>
            <a:endParaRPr lang="en-US" sz="900" dirty="0"/>
          </a:p>
        </p:txBody>
      </p:sp>
      <p:sp>
        <p:nvSpPr>
          <p:cNvPr id="64" name="ovl_s21_ns_keo"/>
          <p:cNvSpPr txBox="1"/>
          <p:nvPr/>
        </p:nvSpPr>
        <p:spPr>
          <a:xfrm>
            <a:off x="2712720" y="533323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2023-03 入社</a:t>
            </a:r>
            <a:endParaRPr lang="en-US" sz="850" dirty="0"/>
          </a:p>
        </p:txBody>
      </p:sp>
      <p:sp>
        <p:nvSpPr>
          <p:cNvPr id="65" name="ovl_s21_n_bank"/>
          <p:cNvSpPr/>
          <p:nvPr/>
        </p:nvSpPr>
        <p:spPr>
          <a:xfrm>
            <a:off x="4831080" y="2000250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6" name="ovl_s21_nt_bank"/>
          <p:cNvSpPr txBox="1"/>
          <p:nvPr/>
        </p:nvSpPr>
        <p:spPr>
          <a:xfrm>
            <a:off x="4867656" y="202768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銀行化と資本</a:t>
            </a:r>
            <a:endParaRPr lang="en-US" sz="1000" dirty="0"/>
          </a:p>
        </p:txBody>
      </p:sp>
      <p:sp>
        <p:nvSpPr>
          <p:cNvPr id="67" name="ovl_s21_ns_bank"/>
          <p:cNvSpPr txBox="1"/>
          <p:nvPr/>
        </p:nvSpPr>
        <p:spPr>
          <a:xfrm>
            <a:off x="4876800" y="2233422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免許・増資・資本配分</a:t>
            </a:r>
            <a:endParaRPr lang="en-US" sz="850" dirty="0"/>
          </a:p>
        </p:txBody>
      </p:sp>
      <p:sp>
        <p:nvSpPr>
          <p:cNvPr id="68" name="ovl_s21_n_fin"/>
          <p:cNvSpPr/>
          <p:nvPr/>
        </p:nvSpPr>
        <p:spPr>
          <a:xfrm>
            <a:off x="4831080" y="2983230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9" name="ovl_s21_nt_fin"/>
          <p:cNvSpPr txBox="1"/>
          <p:nvPr/>
        </p:nvSpPr>
        <p:spPr>
          <a:xfrm>
            <a:off x="4867656" y="301066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財務とガイダンス</a:t>
            </a:r>
            <a:endParaRPr lang="en-US" sz="1000" dirty="0"/>
          </a:p>
        </p:txBody>
      </p:sp>
      <p:sp>
        <p:nvSpPr>
          <p:cNvPr id="70" name="ovl_s21_ns_fin"/>
          <p:cNvSpPr txBox="1"/>
          <p:nvPr/>
        </p:nvSpPr>
        <p:spPr>
          <a:xfrm>
            <a:off x="4876800" y="3216402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利益計画・開示</a:t>
            </a:r>
            <a:endParaRPr lang="en-US" sz="850" dirty="0"/>
          </a:p>
        </p:txBody>
      </p:sp>
      <p:sp>
        <p:nvSpPr>
          <p:cNvPr id="71" name="ovl_s21_n_lend"/>
          <p:cNvSpPr/>
          <p:nvPr/>
        </p:nvSpPr>
        <p:spPr>
          <a:xfrm>
            <a:off x="4831080" y="3966210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2" name="ovl_s21_nt_lend"/>
          <p:cNvSpPr txBox="1"/>
          <p:nvPr/>
        </p:nvSpPr>
        <p:spPr>
          <a:xfrm>
            <a:off x="4867656" y="3993642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個人・学生・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住宅ローン</a:t>
            </a:r>
            <a:endParaRPr lang="en-US" sz="900" dirty="0"/>
          </a:p>
        </p:txBody>
      </p:sp>
      <p:sp>
        <p:nvSpPr>
          <p:cNvPr id="73" name="ovl_s21_ns_lend"/>
          <p:cNvSpPr txBox="1"/>
          <p:nvPr/>
        </p:nvSpPr>
        <p:spPr>
          <a:xfrm>
            <a:off x="4876800" y="4350258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与信と SoFi Bank</a:t>
            </a:r>
            <a:endParaRPr lang="en-US" sz="850" dirty="0"/>
          </a:p>
        </p:txBody>
      </p:sp>
      <p:sp>
        <p:nvSpPr>
          <p:cNvPr id="74" name="ovl_s21_n_fsb"/>
          <p:cNvSpPr/>
          <p:nvPr/>
        </p:nvSpPr>
        <p:spPr>
          <a:xfrm>
            <a:off x="4831080" y="4949190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5" name="ovl_s21_nt_fsb"/>
          <p:cNvSpPr txBox="1"/>
          <p:nvPr/>
        </p:nvSpPr>
        <p:spPr>
          <a:xfrm>
            <a:off x="4867656" y="497662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預金・投資・保険</a:t>
            </a:r>
            <a:endParaRPr lang="en-US" sz="1000" dirty="0"/>
          </a:p>
        </p:txBody>
      </p:sp>
      <p:sp>
        <p:nvSpPr>
          <p:cNvPr id="76" name="ovl_s21_ns_fsb"/>
          <p:cNvSpPr txBox="1"/>
          <p:nvPr/>
        </p:nvSpPr>
        <p:spPr>
          <a:xfrm>
            <a:off x="4876800" y="5182362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Spend・Invest・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Protect・Save</a:t>
            </a:r>
            <a:endParaRPr lang="en-US" sz="850" dirty="0"/>
          </a:p>
        </p:txBody>
      </p:sp>
      <p:sp>
        <p:nvSpPr>
          <p:cNvPr id="77" name="ovl_s21_n_res1"/>
          <p:cNvSpPr/>
          <p:nvPr/>
        </p:nvSpPr>
        <p:spPr>
          <a:xfrm>
            <a:off x="6949440" y="200025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78" name="ovl_s21_nt_res1"/>
          <p:cNvSpPr txBox="1"/>
          <p:nvPr/>
        </p:nvSpPr>
        <p:spPr>
          <a:xfrm>
            <a:off x="6986016" y="2027682"/>
            <a:ext cx="12527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 2022 年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GAAP 黒字 Q4 2023</a:t>
            </a:r>
            <a:endParaRPr lang="en-US" sz="900" dirty="0"/>
          </a:p>
        </p:txBody>
      </p:sp>
      <p:sp>
        <p:nvSpPr>
          <p:cNvPr id="79" name="ovl_s21_ns_res1"/>
          <p:cNvSpPr txBox="1"/>
          <p:nvPr/>
        </p:nvSpPr>
        <p:spPr>
          <a:xfrm>
            <a:off x="6995160" y="238429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約束した時期どおり</a:t>
            </a:r>
            <a:endParaRPr lang="en-US" sz="850" dirty="0"/>
          </a:p>
        </p:txBody>
      </p:sp>
      <p:sp>
        <p:nvSpPr>
          <p:cNvPr id="80" name="ovl_s21_n_res2"/>
          <p:cNvSpPr/>
          <p:nvPr/>
        </p:nvSpPr>
        <p:spPr>
          <a:xfrm>
            <a:off x="6949440" y="298323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81" name="ovl_s21_nt_res2"/>
          <p:cNvSpPr txBox="1"/>
          <p:nvPr/>
        </p:nvSpPr>
        <p:spPr>
          <a:xfrm>
            <a:off x="6986016" y="301066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年は計画超え</a:t>
            </a:r>
            <a:endParaRPr lang="en-US" sz="1000" dirty="0"/>
          </a:p>
        </p:txBody>
      </p:sp>
      <p:sp>
        <p:nvSpPr>
          <p:cNvPr id="82" name="ovl_s21_ns_res2"/>
          <p:cNvSpPr txBox="1"/>
          <p:nvPr/>
        </p:nvSpPr>
        <p:spPr>
          <a:xfrm>
            <a:off x="6995160" y="3216402"/>
            <a:ext cx="1234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計画 0.25〜0.27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実績 0.39</a:t>
            </a:r>
            <a:endParaRPr lang="en-US" sz="850" dirty="0"/>
          </a:p>
        </p:txBody>
      </p:sp>
      <p:sp>
        <p:nvSpPr>
          <p:cNvPr id="83" name="ovl_s21_n_res3"/>
          <p:cNvSpPr/>
          <p:nvPr/>
        </p:nvSpPr>
        <p:spPr>
          <a:xfrm>
            <a:off x="6949440" y="3929634"/>
            <a:ext cx="1325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4" name="ovl_s21_nt_res3"/>
          <p:cNvSpPr txBox="1"/>
          <p:nvPr/>
        </p:nvSpPr>
        <p:spPr>
          <a:xfrm>
            <a:off x="6986016" y="395706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未達と未検証</a:t>
            </a:r>
            <a:endParaRPr lang="en-US" sz="1000" dirty="0"/>
          </a:p>
        </p:txBody>
      </p:sp>
      <p:sp>
        <p:nvSpPr>
          <p:cNvPr id="85" name="ovl_s21_ns_res3"/>
          <p:cNvSpPr txBox="1"/>
          <p:nvPr/>
        </p:nvSpPr>
        <p:spPr>
          <a:xfrm>
            <a:off x="6995160" y="4162806"/>
            <a:ext cx="123444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上場時の 2024 年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予測に収益 −7%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Technisys の効果は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未検証</a:t>
            </a:r>
            <a:endParaRPr lang="en-US" sz="850" dirty="0"/>
          </a:p>
        </p:txBody>
      </p:sp>
      <p:sp>
        <p:nvSpPr>
          <p:cNvPr id="86" name="ovl_s21_tag_noto"/>
          <p:cNvSpPr/>
          <p:nvPr/>
        </p:nvSpPr>
        <p:spPr>
          <a:xfrm>
            <a:off x="2753360" y="2777490"/>
            <a:ext cx="1153160" cy="182880"/>
          </a:xfrm>
          <a:prstGeom prst="roundRect">
            <a:avLst>
              <a:gd name="adj" fmla="val 20000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87" name="ovl_s21_tagt_noto"/>
          <p:cNvSpPr txBox="1"/>
          <p:nvPr/>
        </p:nvSpPr>
        <p:spPr>
          <a:xfrm>
            <a:off x="2753360" y="2777490"/>
            <a:ext cx="115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報酬は TBV の総額</a:t>
            </a:r>
            <a:endParaRPr lang="en-US" sz="800" dirty="0"/>
          </a:p>
        </p:txBody>
      </p:sp>
      <p:sp>
        <p:nvSpPr>
          <p:cNvPr id="88" name="ovl_s21_lab0"/>
          <p:cNvSpPr txBox="1"/>
          <p:nvPr/>
        </p:nvSpPr>
        <p:spPr>
          <a:xfrm>
            <a:off x="1836420" y="2000250"/>
            <a:ext cx="8229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資本市場・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上場企業財務</a:t>
            </a:r>
            <a:endParaRPr lang="en-US" sz="850" dirty="0"/>
          </a:p>
        </p:txBody>
      </p:sp>
      <p:sp>
        <p:nvSpPr>
          <p:cNvPr id="89" name="ovl_s21_lab1"/>
          <p:cNvSpPr txBox="1"/>
          <p:nvPr/>
        </p:nvSpPr>
        <p:spPr>
          <a:xfrm>
            <a:off x="1901571" y="3124962"/>
            <a:ext cx="692658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財務・成長</a:t>
            </a:r>
            <a:endParaRPr lang="en-US" sz="850" dirty="0"/>
          </a:p>
        </p:txBody>
      </p:sp>
      <p:sp>
        <p:nvSpPr>
          <p:cNvPr id="90" name="ovl_s21_lab2"/>
          <p:cNvSpPr txBox="1"/>
          <p:nvPr/>
        </p:nvSpPr>
        <p:spPr>
          <a:xfrm>
            <a:off x="1901571" y="4107942"/>
            <a:ext cx="692658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消費者金融</a:t>
            </a:r>
            <a:endParaRPr lang="en-US" sz="850" dirty="0"/>
          </a:p>
        </p:txBody>
      </p:sp>
      <p:sp>
        <p:nvSpPr>
          <p:cNvPr id="91" name="ovl_s21_lab3"/>
          <p:cNvSpPr txBox="1"/>
          <p:nvPr/>
        </p:nvSpPr>
        <p:spPr>
          <a:xfrm>
            <a:off x="1959864" y="5090922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資産運用</a:t>
            </a:r>
            <a:endParaRPr lang="en-US" sz="850" dirty="0"/>
          </a:p>
        </p:txBody>
      </p:sp>
      <p:sp>
        <p:nvSpPr>
          <p:cNvPr id="92" name="ovl_s21_num4"/>
          <p:cNvSpPr/>
          <p:nvPr/>
        </p:nvSpPr>
        <p:spPr>
          <a:xfrm>
            <a:off x="4293108" y="225628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ovl_s21_numt4"/>
          <p:cNvSpPr txBox="1"/>
          <p:nvPr/>
        </p:nvSpPr>
        <p:spPr>
          <a:xfrm>
            <a:off x="4293108" y="225628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900" dirty="0"/>
          </a:p>
        </p:txBody>
      </p:sp>
      <p:sp>
        <p:nvSpPr>
          <p:cNvPr id="94" name="ovl_s21_num5"/>
          <p:cNvSpPr/>
          <p:nvPr/>
        </p:nvSpPr>
        <p:spPr>
          <a:xfrm>
            <a:off x="4293108" y="323926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ovl_s21_numt5"/>
          <p:cNvSpPr txBox="1"/>
          <p:nvPr/>
        </p:nvSpPr>
        <p:spPr>
          <a:xfrm>
            <a:off x="4293108" y="323926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  <p:sp>
        <p:nvSpPr>
          <p:cNvPr id="96" name="ovl_s21_num6"/>
          <p:cNvSpPr/>
          <p:nvPr/>
        </p:nvSpPr>
        <p:spPr>
          <a:xfrm>
            <a:off x="4293108" y="422224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ovl_s21_numt6"/>
          <p:cNvSpPr txBox="1"/>
          <p:nvPr/>
        </p:nvSpPr>
        <p:spPr>
          <a:xfrm>
            <a:off x="4293108" y="422224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  <p:sp>
        <p:nvSpPr>
          <p:cNvPr id="98" name="ovl_s21_num7"/>
          <p:cNvSpPr/>
          <p:nvPr/>
        </p:nvSpPr>
        <p:spPr>
          <a:xfrm>
            <a:off x="4293108" y="520522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ovl_s21_numt7"/>
          <p:cNvSpPr txBox="1"/>
          <p:nvPr/>
        </p:nvSpPr>
        <p:spPr>
          <a:xfrm>
            <a:off x="4293108" y="520522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  <p:sp>
        <p:nvSpPr>
          <p:cNvPr id="100" name="ovl_s21_leg0"/>
          <p:cNvSpPr/>
          <p:nvPr/>
        </p:nvSpPr>
        <p:spPr>
          <a:xfrm>
            <a:off x="457200" y="5971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01" name="ovl_s21_legt0"/>
          <p:cNvSpPr txBox="1"/>
          <p:nvPr/>
        </p:nvSpPr>
        <p:spPr>
          <a:xfrm>
            <a:off x="87782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02" name="ovl_s21_legn"/>
          <p:cNvSpPr txBox="1"/>
          <p:nvPr/>
        </p:nvSpPr>
        <p:spPr>
          <a:xfrm>
            <a:off x="6126480" y="5870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03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04" name="mech"/>
          <p:cNvSpPr txBox="1"/>
          <p:nvPr/>
        </p:nvSpPr>
        <p:spPr>
          <a:xfrm>
            <a:off x="8458200" y="1810512"/>
            <a:ext cx="3276295" cy="2562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Noto は GS で資本市場、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Twitter で上場企業の財務を担った。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銀行免許(2022)と GAAP 黒字(Q4 2023)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を約束どおり達成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Lapointe は GS・Uber で財務を担い、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 年は利益計画(EPS 0.25〜0.27)を上回る 0.39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貸出は JPM 住宅ローン CFO・Capital One・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Citizens の消費者金融を経た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Schuppenhauer が率いる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預金・投資・保険は Schwab・JPM で資産運用を担った Keough が率いる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報酬の PSU は TBV の総額の伸びに連動し、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株当たりではない。増資で総額は伸びる。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CEO は 2026 年に約 225 万ドル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(15.73〜18.06 ドル)を買い増し、1,228 万株を保有</a:t>
            </a:r>
            <a:endParaRPr lang="en-US" sz="950" dirty="0"/>
          </a:p>
        </p:txBody>
      </p:sp>
      <p:sp>
        <p:nvSpPr>
          <p:cNvPr id="105" name="ovl_takeaway_bg"/>
          <p:cNvSpPr/>
          <p:nvPr/>
        </p:nvSpPr>
        <p:spPr>
          <a:xfrm>
            <a:off x="8458200" y="4446016"/>
            <a:ext cx="3276295" cy="979424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06" name="takeaway"/>
          <p:cNvSpPr txBox="1"/>
          <p:nvPr/>
        </p:nvSpPr>
        <p:spPr>
          <a:xfrm>
            <a:off x="8567928" y="4519168"/>
            <a:ext cx="3056839" cy="83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その事業を築いた経験の持ち主が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貸出と預金を率い、約束の実行力は高い。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報酬が 1 株当たりでない点で B</a:t>
            </a:r>
            <a:endParaRPr lang="en-US" sz="1000" dirty="0"/>
          </a:p>
        </p:txBody>
      </p:sp>
      <p:sp>
        <p:nvSpPr>
          <p:cNvPr id="107" name="updown"/>
          <p:cNvSpPr txBox="1"/>
          <p:nvPr/>
        </p:nvSpPr>
        <p:spPr>
          <a:xfrm>
            <a:off x="8458200" y="5498592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報酬を 1 株当たりの指標に切り替え、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目標の時期を示せば 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利益計画の下方修正か、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低い株価での増資なら C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4-3 成長と割安度(条件6・7)(1/2)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988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988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成長と割安度(条件6)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592324" y="356616"/>
            <a:ext cx="9142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成長の割に安いか(PEG&lt;1)は、長期保有で超過リターンを得る前提になる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の 3 年成長率は約 30% で PEG は 0.8 前後。ただし成長の約 3 割は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販促費率の低下によるもので、2029 年以降は 20% 台に減速する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条件6 3 年 EPS 成長率で PEG&lt;1(EPS CAGR 30% 前後)。EPS は調整後(会社定義)。PER は株価 14.55 ドル ÷ 2026 年 EPS 0.60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コンセンサス(research_r2/R8_peers_consensus.md)、会社の中期目標(2025〜28 年の調整後 EPS CAGR 38〜42%、2026-01-30。上端 42% を 2028 年まで使い、以降は +32%・+25%)、需給エンジン(calc/out/val.json の paths)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31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条件6</a:t>
            </a:r>
            <a:endParaRPr lang="en-US" sz="800" dirty="0"/>
          </a:p>
        </p:txBody>
      </p:sp>
      <p:graphicFrame>
        <p:nvGraphicFramePr>
          <p:cNvPr id="32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75895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43000"/>
                <a:gridCol w="1143000"/>
                <a:gridCol w="1097280"/>
                <a:gridCol w="109728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経路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2029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 年 CAGR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PER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PEG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コンセンサス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0.60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1.32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30.1%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24.3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0.81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会社の目標(42%)の延長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0.60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1.47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34.9%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24.3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0.70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需給エンジン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0.60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1.35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31.1%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24.3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0.78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bullets"/>
          <p:cNvSpPr txBox="1"/>
          <p:nvPr/>
        </p:nvSpPr>
        <p:spPr>
          <a:xfrm>
            <a:off x="457200" y="3383280"/>
            <a:ext cx="75895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年ごとの伸びはエンジンで +41% → +31% → +22% → +23%、コンセンサスで +38% → +30% → +22% → +18%。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2029 年以降は 20% 台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成長の約 3 割は販促費率の低下(32% → 27%)による。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販促費率を据え置くと 2029 年 EPS は 1.13 ドル(エンジン 1.35)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条件7 が C(安い理由の主因は実在のリスク)のため、規則により B が上限</a:t>
            </a:r>
            <a:endParaRPr lang="en-US" sz="1050" dirty="0"/>
          </a:p>
        </p:txBody>
      </p:sp>
      <p:graphicFrame>
        <p:nvGraphicFramePr>
          <p:cNvPr id="26" name="chart_cagr" descr=""/>
          <p:cNvGraphicFramePr/>
          <p:nvPr/>
        </p:nvGraphicFramePr>
        <p:xfrm>
          <a:off x="457200" y="4343400"/>
          <a:ext cx="758952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ovl_thr"/>
          <p:cNvSpPr txBox="1"/>
          <p:nvPr/>
        </p:nvSpPr>
        <p:spPr>
          <a:xfrm>
            <a:off x="6309360" y="4663440"/>
            <a:ext cx="1737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D6891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閾値 30%</a:t>
            </a:r>
            <a:endParaRPr lang="en-US" sz="900" dirty="0"/>
          </a:p>
        </p:txBody>
      </p:sp>
      <p:sp>
        <p:nvSpPr>
          <p:cNvPr id="28" name="ovl_evbox"/>
          <p:cNvSpPr/>
          <p:nvPr/>
        </p:nvSpPr>
        <p:spPr>
          <a:xfrm>
            <a:off x="8275320" y="1481328"/>
            <a:ext cx="345643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9" name="ev_head"/>
          <p:cNvSpPr txBox="1"/>
          <p:nvPr/>
        </p:nvSpPr>
        <p:spPr>
          <a:xfrm>
            <a:off x="8385048" y="1536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根拠</a:t>
            </a:r>
            <a:endParaRPr lang="en-US" sz="1200" dirty="0"/>
          </a:p>
        </p:txBody>
      </p:sp>
      <p:sp>
        <p:nvSpPr>
          <p:cNvPr id="30" name="evidence"/>
          <p:cNvSpPr txBox="1"/>
          <p:nvPr/>
        </p:nvSpPr>
        <p:spPr>
          <a:xfrm>
            <a:off x="8385048" y="1847088"/>
            <a:ext cx="3255264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PER 24.3 倍 = 14.55 ÷ 2026 年 EPS 0.60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年 CAGR は 2026 → 2029 年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コンセンサスとエンジンの差は 2029 年で 0.03 ドル(EPS に差分なし)</a:t>
            </a:r>
            <a:endParaRPr lang="en-US" sz="950" dirty="0"/>
          </a:p>
        </p:txBody>
      </p:sp>
      <p:sp>
        <p:nvSpPr>
          <p:cNvPr id="31" name="ovl_takeaway_bg"/>
          <p:cNvSpPr/>
          <p:nvPr/>
        </p:nvSpPr>
        <p:spPr>
          <a:xfrm>
            <a:off x="8275320" y="4389120"/>
            <a:ext cx="3456432" cy="11430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2" name="takeaway"/>
          <p:cNvSpPr txBox="1"/>
          <p:nvPr/>
        </p:nvSpPr>
        <p:spPr>
          <a:xfrm>
            <a:off x="8385048" y="4462272"/>
            <a:ext cx="3236976" cy="996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数値は PEG&lt;1 を満たすが、余裕が小さく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条件7 と対で評価して B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4-3 成長と割安度(条件6・7)(2/2)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115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115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安い理由の検証(条件7)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719324" y="356616"/>
            <a:ext cx="9015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安さが市場の見落としなら機会、実在のリスクなら罠。どちらかを見分ける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安い理由の主因は金利・資本・信用という実在のリスク。ただし「利益が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売上に付いてこない」は裁量の再投資で、市場の見落としの候補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市場の懸念(出所)→ 懸念の対象 → 事実 → 判定。①〜④ は右と対応。株価は 2026 年 EPS の 24.3 倍、2027 年の 17.2 倍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research/R3a_market_hypothesis.md(Muddy Waters・KBW・Morgan Stanley・BofA の要約)、research_r2/R5_credit_fv.md・R7_funding_rates_capital.md・R6_pnl_margin.md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32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条件7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47472" y="1517904"/>
            <a:ext cx="159105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47472" y="1517904"/>
            <a:ext cx="159105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47472" y="151790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市場の懸念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2618232" y="1517904"/>
            <a:ext cx="1499616" cy="4005072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2618232" y="1517904"/>
            <a:ext cx="149961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2618232" y="151790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SoFi(懸念の対象)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4797552" y="1517904"/>
            <a:ext cx="168249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4797552" y="1517904"/>
            <a:ext cx="16824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4797552" y="151790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事実</a:t>
            </a:r>
            <a:endParaRPr lang="en-US" sz="950" dirty="0"/>
          </a:p>
        </p:txBody>
      </p:sp>
      <p:sp>
        <p:nvSpPr>
          <p:cNvPr id="33" name="bg_lane3"/>
          <p:cNvSpPr/>
          <p:nvPr/>
        </p:nvSpPr>
        <p:spPr>
          <a:xfrm>
            <a:off x="7159752" y="1517904"/>
            <a:ext cx="122529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bg_laneh3"/>
          <p:cNvSpPr/>
          <p:nvPr/>
        </p:nvSpPr>
        <p:spPr>
          <a:xfrm>
            <a:off x="7159752" y="1517904"/>
            <a:ext cx="12252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bg_lanet3"/>
          <p:cNvSpPr txBox="1"/>
          <p:nvPr/>
        </p:nvSpPr>
        <p:spPr>
          <a:xfrm>
            <a:off x="7159752" y="151790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判定</a:t>
            </a:r>
            <a:endParaRPr lang="en-US" sz="950" dirty="0"/>
          </a:p>
        </p:txBody>
      </p:sp>
      <p:sp>
        <p:nvSpPr>
          <p:cNvPr id="36" name="ovl_s23_e0_0"/>
          <p:cNvSpPr/>
          <p:nvPr/>
        </p:nvSpPr>
        <p:spPr>
          <a:xfrm>
            <a:off x="1828800" y="2336292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7" name="ovl_s23_e1_0"/>
          <p:cNvSpPr/>
          <p:nvPr/>
        </p:nvSpPr>
        <p:spPr>
          <a:xfrm>
            <a:off x="4008120" y="2336292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8" name="ovl_s23_e2_0"/>
          <p:cNvSpPr/>
          <p:nvPr/>
        </p:nvSpPr>
        <p:spPr>
          <a:xfrm>
            <a:off x="6370320" y="2336292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9" name="ovl_s23_e3_0"/>
          <p:cNvSpPr/>
          <p:nvPr/>
        </p:nvSpPr>
        <p:spPr>
          <a:xfrm>
            <a:off x="1828800" y="3241548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0" name="ovl_s23_e4_0"/>
          <p:cNvSpPr/>
          <p:nvPr/>
        </p:nvSpPr>
        <p:spPr>
          <a:xfrm>
            <a:off x="4008120" y="3241548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1" name="ovl_s23_e5_0"/>
          <p:cNvSpPr/>
          <p:nvPr/>
        </p:nvSpPr>
        <p:spPr>
          <a:xfrm>
            <a:off x="6370320" y="3241548"/>
            <a:ext cx="44958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2" name="ovl_s23_e5_1"/>
          <p:cNvSpPr/>
          <p:nvPr/>
        </p:nvSpPr>
        <p:spPr>
          <a:xfrm>
            <a:off x="6819900" y="3241548"/>
            <a:ext cx="914" cy="795528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3" name="ovl_s23_e5_2"/>
          <p:cNvSpPr/>
          <p:nvPr/>
        </p:nvSpPr>
        <p:spPr>
          <a:xfrm>
            <a:off x="6819900" y="4037076"/>
            <a:ext cx="44958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4" name="ovl_s23_e6_0"/>
          <p:cNvSpPr/>
          <p:nvPr/>
        </p:nvSpPr>
        <p:spPr>
          <a:xfrm>
            <a:off x="1828800" y="4146804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5" name="ovl_s23_e7_0"/>
          <p:cNvSpPr/>
          <p:nvPr/>
        </p:nvSpPr>
        <p:spPr>
          <a:xfrm>
            <a:off x="4008120" y="4146804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6" name="ovl_s23_e8_0"/>
          <p:cNvSpPr/>
          <p:nvPr/>
        </p:nvSpPr>
        <p:spPr>
          <a:xfrm>
            <a:off x="6370320" y="4146804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7" name="ovl_s23_e9_0"/>
          <p:cNvSpPr/>
          <p:nvPr/>
        </p:nvSpPr>
        <p:spPr>
          <a:xfrm>
            <a:off x="1828800" y="5052060"/>
            <a:ext cx="899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8" name="ovl_s23_e10_0"/>
          <p:cNvSpPr/>
          <p:nvPr/>
        </p:nvSpPr>
        <p:spPr>
          <a:xfrm>
            <a:off x="4008120" y="5052060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9" name="ovl_s23_e11_0"/>
          <p:cNvSpPr/>
          <p:nvPr/>
        </p:nvSpPr>
        <p:spPr>
          <a:xfrm>
            <a:off x="6370320" y="5052060"/>
            <a:ext cx="8991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50" name="ovl_s23_n_d1"/>
          <p:cNvSpPr/>
          <p:nvPr/>
        </p:nvSpPr>
        <p:spPr>
          <a:xfrm>
            <a:off x="457200" y="1984248"/>
            <a:ext cx="137160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1" name="ovl_s23_nt_d1"/>
          <p:cNvSpPr txBox="1"/>
          <p:nvPr/>
        </p:nvSpPr>
        <p:spPr>
          <a:xfrm>
            <a:off x="493776" y="2011680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会計への疑い(MW)</a:t>
            </a:r>
            <a:endParaRPr lang="en-US" sz="1000" dirty="0"/>
          </a:p>
        </p:txBody>
      </p:sp>
      <p:sp>
        <p:nvSpPr>
          <p:cNvPr id="52" name="ovl_s23_ns_d1"/>
          <p:cNvSpPr txBox="1"/>
          <p:nvPr/>
        </p:nvSpPr>
        <p:spPr>
          <a:xfrm>
            <a:off x="502920" y="2217420"/>
            <a:ext cx="12801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実質の貸倒 6.1%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未計上の債務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3.12 億ドル</a:t>
            </a:r>
            <a:endParaRPr lang="en-US" sz="850" dirty="0"/>
          </a:p>
        </p:txBody>
      </p:sp>
      <p:sp>
        <p:nvSpPr>
          <p:cNvPr id="53" name="ovl_s23_n_d2"/>
          <p:cNvSpPr/>
          <p:nvPr/>
        </p:nvSpPr>
        <p:spPr>
          <a:xfrm>
            <a:off x="457200" y="2889504"/>
            <a:ext cx="137160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4" name="ovl_s23_nt_d2"/>
          <p:cNvSpPr txBox="1"/>
          <p:nvPr/>
        </p:nvSpPr>
        <p:spPr>
          <a:xfrm>
            <a:off x="493776" y="2916936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金利と公正価値(KBW)</a:t>
            </a:r>
            <a:endParaRPr lang="en-US" sz="900" dirty="0"/>
          </a:p>
        </p:txBody>
      </p:sp>
      <p:sp>
        <p:nvSpPr>
          <p:cNvPr id="55" name="ovl_s23_ns_d2"/>
          <p:cNvSpPr txBox="1"/>
          <p:nvPr/>
        </p:nvSpPr>
        <p:spPr>
          <a:xfrm>
            <a:off x="502920" y="3122676"/>
            <a:ext cx="12801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億ドル超の逆風</a:t>
            </a:r>
            <a:endParaRPr lang="en-US" sz="850" dirty="0"/>
          </a:p>
        </p:txBody>
      </p:sp>
      <p:sp>
        <p:nvSpPr>
          <p:cNvPr id="56" name="ovl_s23_n_d3"/>
          <p:cNvSpPr/>
          <p:nvPr/>
        </p:nvSpPr>
        <p:spPr>
          <a:xfrm>
            <a:off x="457200" y="3794760"/>
            <a:ext cx="137160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7" name="ovl_s23_nt_d3"/>
          <p:cNvSpPr txBox="1"/>
          <p:nvPr/>
        </p:nvSpPr>
        <p:spPr>
          <a:xfrm>
            <a:off x="493776" y="3822192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資本を食う成長(MS)</a:t>
            </a:r>
            <a:endParaRPr lang="en-US" sz="900" dirty="0"/>
          </a:p>
        </p:txBody>
      </p:sp>
      <p:sp>
        <p:nvSpPr>
          <p:cNvPr id="58" name="ovl_s23_ns_d3"/>
          <p:cNvSpPr txBox="1"/>
          <p:nvPr/>
        </p:nvSpPr>
        <p:spPr>
          <a:xfrm>
            <a:off x="502920" y="4027932"/>
            <a:ext cx="12801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成長が資本集約的</a:t>
            </a:r>
            <a:endParaRPr lang="en-US" sz="850" dirty="0"/>
          </a:p>
        </p:txBody>
      </p:sp>
      <p:sp>
        <p:nvSpPr>
          <p:cNvPr id="59" name="ovl_s23_n_d4"/>
          <p:cNvSpPr/>
          <p:nvPr/>
        </p:nvSpPr>
        <p:spPr>
          <a:xfrm>
            <a:off x="457200" y="4700016"/>
            <a:ext cx="137160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0" name="ovl_s23_nt_d4"/>
          <p:cNvSpPr txBox="1"/>
          <p:nvPr/>
        </p:nvSpPr>
        <p:spPr>
          <a:xfrm>
            <a:off x="493776" y="4727448"/>
            <a:ext cx="12984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利益が付いてこない(BofA)</a:t>
            </a:r>
            <a:endParaRPr lang="en-US" sz="900" dirty="0"/>
          </a:p>
        </p:txBody>
      </p:sp>
      <p:sp>
        <p:nvSpPr>
          <p:cNvPr id="61" name="ovl_s23_ns_d4"/>
          <p:cNvSpPr txBox="1"/>
          <p:nvPr/>
        </p:nvSpPr>
        <p:spPr>
          <a:xfrm>
            <a:off x="502920" y="50840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売上は上方修正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利益計画は据え置き</a:t>
            </a:r>
            <a:endParaRPr lang="en-US" sz="850" dirty="0"/>
          </a:p>
        </p:txBody>
      </p:sp>
      <p:sp>
        <p:nvSpPr>
          <p:cNvPr id="62" name="ovl_s23_n_o1"/>
          <p:cNvSpPr/>
          <p:nvPr/>
        </p:nvSpPr>
        <p:spPr>
          <a:xfrm>
            <a:off x="2727960" y="1984248"/>
            <a:ext cx="128016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3" name="ovl_s23_nt_o1"/>
          <p:cNvSpPr txBox="1"/>
          <p:nvPr/>
        </p:nvSpPr>
        <p:spPr>
          <a:xfrm>
            <a:off x="2764536" y="2011680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貸倒と損失の前提</a:t>
            </a:r>
            <a:endParaRPr lang="en-US" sz="1000" dirty="0"/>
          </a:p>
        </p:txBody>
      </p:sp>
      <p:sp>
        <p:nvSpPr>
          <p:cNvPr id="64" name="ovl_s23_ns_o1"/>
          <p:cNvSpPr txBox="1"/>
          <p:nvPr/>
        </p:nvSpPr>
        <p:spPr>
          <a:xfrm>
            <a:off x="2773680" y="2217420"/>
            <a:ext cx="11887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公正価値の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損失前提 4.8%</a:t>
            </a:r>
            <a:endParaRPr lang="en-US" sz="850" dirty="0"/>
          </a:p>
        </p:txBody>
      </p:sp>
      <p:sp>
        <p:nvSpPr>
          <p:cNvPr id="65" name="ovl_s23_n_o2"/>
          <p:cNvSpPr/>
          <p:nvPr/>
        </p:nvSpPr>
        <p:spPr>
          <a:xfrm>
            <a:off x="2727960" y="2889504"/>
            <a:ext cx="128016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6" name="ovl_s23_nt_o2"/>
          <p:cNvSpPr txBox="1"/>
          <p:nvPr/>
        </p:nvSpPr>
        <p:spPr>
          <a:xfrm>
            <a:off x="2764536" y="291693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ローンの評価</a:t>
            </a:r>
            <a:endParaRPr lang="en-US" sz="1000" dirty="0"/>
          </a:p>
        </p:txBody>
      </p:sp>
      <p:sp>
        <p:nvSpPr>
          <p:cNvPr id="67" name="ovl_s23_ns_o2"/>
          <p:cNvSpPr txBox="1"/>
          <p:nvPr/>
        </p:nvSpPr>
        <p:spPr>
          <a:xfrm>
            <a:off x="2773680" y="3122676"/>
            <a:ext cx="11887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マーク 個人 104.7%</a:t>
            </a:r>
            <a:endParaRPr lang="en-US" sz="850" dirty="0"/>
          </a:p>
        </p:txBody>
      </p:sp>
      <p:sp>
        <p:nvSpPr>
          <p:cNvPr id="68" name="ovl_s23_n_o3"/>
          <p:cNvSpPr/>
          <p:nvPr/>
        </p:nvSpPr>
        <p:spPr>
          <a:xfrm>
            <a:off x="2727960" y="3794760"/>
            <a:ext cx="128016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9" name="ovl_s23_nt_o3"/>
          <p:cNvSpPr txBox="1"/>
          <p:nvPr/>
        </p:nvSpPr>
        <p:spPr>
          <a:xfrm>
            <a:off x="2764536" y="382219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自己資本</a:t>
            </a:r>
            <a:endParaRPr lang="en-US" sz="1000" dirty="0"/>
          </a:p>
        </p:txBody>
      </p:sp>
      <p:sp>
        <p:nvSpPr>
          <p:cNvPr id="70" name="ovl_s23_ns_o3"/>
          <p:cNvSpPr txBox="1"/>
          <p:nvPr/>
        </p:nvSpPr>
        <p:spPr>
          <a:xfrm>
            <a:off x="2773680" y="4027932"/>
            <a:ext cx="11887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比率 18.8%</a:t>
            </a:r>
            <a:endParaRPr lang="en-US" sz="850" dirty="0"/>
          </a:p>
        </p:txBody>
      </p:sp>
      <p:sp>
        <p:nvSpPr>
          <p:cNvPr id="71" name="ovl_s23_n_o4"/>
          <p:cNvSpPr/>
          <p:nvPr/>
        </p:nvSpPr>
        <p:spPr>
          <a:xfrm>
            <a:off x="2727960" y="4700016"/>
            <a:ext cx="128016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2" name="ovl_s23_nt_o4"/>
          <p:cNvSpPr txBox="1"/>
          <p:nvPr/>
        </p:nvSpPr>
        <p:spPr>
          <a:xfrm>
            <a:off x="2764536" y="4727448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下期の利益計画</a:t>
            </a:r>
            <a:endParaRPr lang="en-US" sz="1000" dirty="0"/>
          </a:p>
        </p:txBody>
      </p:sp>
      <p:sp>
        <p:nvSpPr>
          <p:cNvPr id="73" name="ovl_s23_ns_o4"/>
          <p:cNvSpPr txBox="1"/>
          <p:nvPr/>
        </p:nvSpPr>
        <p:spPr>
          <a:xfrm>
            <a:off x="2773680" y="4933188"/>
            <a:ext cx="11887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通期 EPS 0.60 ドル</a:t>
            </a:r>
            <a:endParaRPr lang="en-US" sz="850" dirty="0"/>
          </a:p>
        </p:txBody>
      </p:sp>
      <p:sp>
        <p:nvSpPr>
          <p:cNvPr id="74" name="ovl_s23_n_e1"/>
          <p:cNvSpPr/>
          <p:nvPr/>
        </p:nvSpPr>
        <p:spPr>
          <a:xfrm>
            <a:off x="4907280" y="1984248"/>
            <a:ext cx="1463040" cy="704088"/>
          </a:xfrm>
          <a:prstGeom prst="roundRect">
            <a:avLst>
              <a:gd name="adj" fmla="val 7792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75" name="ovl_s23_nt_e1"/>
          <p:cNvSpPr txBox="1"/>
          <p:nvPr/>
        </p:nvSpPr>
        <p:spPr>
          <a:xfrm>
            <a:off x="4943856" y="2011680"/>
            <a:ext cx="13898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 4.8% &gt; all-in 3.7%</a:t>
            </a:r>
            <a:endParaRPr lang="en-US" sz="900" dirty="0"/>
          </a:p>
        </p:txBody>
      </p:sp>
      <p:sp>
        <p:nvSpPr>
          <p:cNvPr id="76" name="ovl_s23_ns_e1"/>
          <p:cNvSpPr txBox="1"/>
          <p:nvPr/>
        </p:nvSpPr>
        <p:spPr>
          <a:xfrm>
            <a:off x="4953000" y="23682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売却した延滞債権を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足し戻しても内側</a:t>
            </a:r>
            <a:endParaRPr lang="en-US" sz="850" dirty="0"/>
          </a:p>
        </p:txBody>
      </p:sp>
      <p:sp>
        <p:nvSpPr>
          <p:cNvPr id="77" name="ovl_s23_n_e2"/>
          <p:cNvSpPr/>
          <p:nvPr/>
        </p:nvSpPr>
        <p:spPr>
          <a:xfrm>
            <a:off x="4907280" y="2889504"/>
            <a:ext cx="14630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8" name="ovl_s23_nt_e2"/>
          <p:cNvSpPr txBox="1"/>
          <p:nvPr/>
        </p:nvSpPr>
        <p:spPr>
          <a:xfrm>
            <a:off x="4943856" y="2916936"/>
            <a:ext cx="13898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割引率が薄い</a:t>
            </a:r>
            <a:endParaRPr lang="en-US" sz="1000" dirty="0"/>
          </a:p>
        </p:txBody>
      </p:sp>
      <p:sp>
        <p:nvSpPr>
          <p:cNvPr id="79" name="ovl_s23_ns_e2"/>
          <p:cNvSpPr txBox="1"/>
          <p:nvPr/>
        </p:nvSpPr>
        <p:spPr>
          <a:xfrm>
            <a:off x="4953000" y="3122676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 4.97%・学生 4.29%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ヘッジ前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−4.5〜6.5 億ドル</a:t>
            </a:r>
            <a:endParaRPr lang="en-US" sz="850" dirty="0"/>
          </a:p>
        </p:txBody>
      </p:sp>
      <p:sp>
        <p:nvSpPr>
          <p:cNvPr id="80" name="ovl_s23_n_e3"/>
          <p:cNvSpPr/>
          <p:nvPr/>
        </p:nvSpPr>
        <p:spPr>
          <a:xfrm>
            <a:off x="4907280" y="3794760"/>
            <a:ext cx="14630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1" name="ovl_s23_nt_e3"/>
          <p:cNvSpPr txBox="1"/>
          <p:nvPr/>
        </p:nvSpPr>
        <p:spPr>
          <a:xfrm>
            <a:off x="4943856" y="3822192"/>
            <a:ext cx="13898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比率の低下</a:t>
            </a:r>
            <a:endParaRPr lang="en-US" sz="1000" dirty="0"/>
          </a:p>
        </p:txBody>
      </p:sp>
      <p:sp>
        <p:nvSpPr>
          <p:cNvPr id="82" name="ovl_s23_ns_e3"/>
          <p:cNvSpPr txBox="1"/>
          <p:nvPr/>
        </p:nvSpPr>
        <p:spPr>
          <a:xfrm>
            <a:off x="4953000" y="4027932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半年で 22.9% → 18.8%</a:t>
            </a:r>
            <a:endParaRPr lang="en-US" sz="850" dirty="0"/>
          </a:p>
        </p:txBody>
      </p:sp>
      <p:sp>
        <p:nvSpPr>
          <p:cNvPr id="83" name="ovl_s23_n_e4"/>
          <p:cNvSpPr/>
          <p:nvPr/>
        </p:nvSpPr>
        <p:spPr>
          <a:xfrm>
            <a:off x="4907280" y="4700016"/>
            <a:ext cx="14630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4" name="ovl_s23_nt_e4"/>
          <p:cNvSpPr txBox="1"/>
          <p:nvPr/>
        </p:nvSpPr>
        <p:spPr>
          <a:xfrm>
            <a:off x="4943856" y="4727448"/>
            <a:ext cx="13898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下期に高い増分利益率</a:t>
            </a:r>
            <a:endParaRPr lang="en-US" sz="900" dirty="0"/>
          </a:p>
        </p:txBody>
      </p:sp>
      <p:sp>
        <p:nvSpPr>
          <p:cNvPr id="85" name="ovl_s23_ns_e4"/>
          <p:cNvSpPr txBox="1"/>
          <p:nvPr/>
        </p:nvSpPr>
        <p:spPr>
          <a:xfrm>
            <a:off x="4953000" y="4933188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増分 EBITDA 率 53〜64%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(前年は 36%)</a:t>
            </a:r>
            <a:endParaRPr lang="en-US" sz="850" dirty="0"/>
          </a:p>
        </p:txBody>
      </p:sp>
      <p:sp>
        <p:nvSpPr>
          <p:cNvPr id="86" name="ovl_s23_n_v1"/>
          <p:cNvSpPr/>
          <p:nvPr/>
        </p:nvSpPr>
        <p:spPr>
          <a:xfrm>
            <a:off x="7269480" y="1984248"/>
            <a:ext cx="1005840" cy="704088"/>
          </a:xfrm>
          <a:prstGeom prst="roundRect">
            <a:avLst>
              <a:gd name="adj" fmla="val 7792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87" name="ovl_s23_nt_v1"/>
          <p:cNvSpPr txBox="1"/>
          <p:nvPr/>
        </p:nvSpPr>
        <p:spPr>
          <a:xfrm>
            <a:off x="7306056" y="2011680"/>
            <a:ext cx="9326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会計の不正は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裏付けが弱い</a:t>
            </a:r>
            <a:endParaRPr lang="en-US" sz="900" dirty="0"/>
          </a:p>
        </p:txBody>
      </p:sp>
      <p:sp>
        <p:nvSpPr>
          <p:cNvPr id="88" name="ovl_s23_n_v2"/>
          <p:cNvSpPr/>
          <p:nvPr/>
        </p:nvSpPr>
        <p:spPr>
          <a:xfrm>
            <a:off x="7269480" y="3794760"/>
            <a:ext cx="1005840" cy="1609344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9" name="ovl_s23_nt_v2"/>
          <p:cNvSpPr txBox="1"/>
          <p:nvPr/>
        </p:nvSpPr>
        <p:spPr>
          <a:xfrm>
            <a:off x="7306056" y="3822192"/>
            <a:ext cx="9326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金利・資本・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信用は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実在のリスク</a:t>
            </a:r>
            <a:endParaRPr lang="en-US" sz="900" dirty="0"/>
          </a:p>
        </p:txBody>
      </p:sp>
      <p:sp>
        <p:nvSpPr>
          <p:cNvPr id="90" name="ovl_s23_lab0"/>
          <p:cNvSpPr txBox="1"/>
          <p:nvPr/>
        </p:nvSpPr>
        <p:spPr>
          <a:xfrm>
            <a:off x="2031149" y="2103120"/>
            <a:ext cx="49446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疑い</a:t>
            </a:r>
            <a:endParaRPr lang="en-US" sz="850" dirty="0"/>
          </a:p>
        </p:txBody>
      </p:sp>
      <p:sp>
        <p:nvSpPr>
          <p:cNvPr id="91" name="ovl_s23_lab3"/>
          <p:cNvSpPr txBox="1"/>
          <p:nvPr/>
        </p:nvSpPr>
        <p:spPr>
          <a:xfrm>
            <a:off x="2031149" y="3008376"/>
            <a:ext cx="49446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疑い</a:t>
            </a:r>
            <a:endParaRPr lang="en-US" sz="850" dirty="0"/>
          </a:p>
        </p:txBody>
      </p:sp>
      <p:sp>
        <p:nvSpPr>
          <p:cNvPr id="92" name="ovl_s23_num6"/>
          <p:cNvSpPr/>
          <p:nvPr/>
        </p:nvSpPr>
        <p:spPr>
          <a:xfrm>
            <a:off x="2159508" y="4027932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ovl_s23_numt6"/>
          <p:cNvSpPr txBox="1"/>
          <p:nvPr/>
        </p:nvSpPr>
        <p:spPr>
          <a:xfrm>
            <a:off x="2159508" y="40279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  <p:sp>
        <p:nvSpPr>
          <p:cNvPr id="94" name="ovl_s23_num9"/>
          <p:cNvSpPr/>
          <p:nvPr/>
        </p:nvSpPr>
        <p:spPr>
          <a:xfrm>
            <a:off x="2159508" y="4933188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ovl_s23_numt9"/>
          <p:cNvSpPr txBox="1"/>
          <p:nvPr/>
        </p:nvSpPr>
        <p:spPr>
          <a:xfrm>
            <a:off x="2159508" y="49331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  <p:sp>
        <p:nvSpPr>
          <p:cNvPr id="96" name="ovl_s23_leg0"/>
          <p:cNvSpPr/>
          <p:nvPr/>
        </p:nvSpPr>
        <p:spPr>
          <a:xfrm>
            <a:off x="457200" y="5660136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97" name="ovl_s23_legt0"/>
          <p:cNvSpPr txBox="1"/>
          <p:nvPr/>
        </p:nvSpPr>
        <p:spPr>
          <a:xfrm>
            <a:off x="87782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98" name="ovl_s23_leg1"/>
          <p:cNvSpPr/>
          <p:nvPr/>
        </p:nvSpPr>
        <p:spPr>
          <a:xfrm>
            <a:off x="1874520" y="5660136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99" name="ovl_s23_legt1"/>
          <p:cNvSpPr txBox="1"/>
          <p:nvPr/>
        </p:nvSpPr>
        <p:spPr>
          <a:xfrm>
            <a:off x="229514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00" name="ovl_s23_legn"/>
          <p:cNvSpPr txBox="1"/>
          <p:nvPr/>
        </p:nvSpPr>
        <p:spPr>
          <a:xfrm>
            <a:off x="6126480" y="555955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01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02" name="mech"/>
          <p:cNvSpPr txBox="1"/>
          <p:nvPr/>
        </p:nvSpPr>
        <p:spPr>
          <a:xfrm>
            <a:off x="8458200" y="1810512"/>
            <a:ext cx="3276295" cy="2338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MW は実質の貸倒 6.1% を主張。会社の公正価値の損失前提 4.8% は、売却した延滞債権を足し戻した all-in 3.7% より高く、利益の水増しの裏付けは弱い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ただし割引率は個人 4.97%・学生 4.29% と薄い。Q3 の金利上昇(+55〜60bp)でヘッジ前 −4.5〜6.5 億ドルの評価減を見込む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資本比率は半年で 4.1pt 下がった。成長を続けるには LPB か増資が要る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下期の利益計画は増分 EBITDA 率 53〜64%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を要する。ただし EBITDA 計画の据え置きは、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増収分を販促に再投資した結果(裁量)</a:t>
            </a:r>
            <a:endParaRPr lang="en-US" sz="1100" dirty="0"/>
          </a:p>
        </p:txBody>
      </p:sp>
      <p:sp>
        <p:nvSpPr>
          <p:cNvPr id="103" name="ovl_takeaway_bg"/>
          <p:cNvSpPr/>
          <p:nvPr/>
        </p:nvSpPr>
        <p:spPr>
          <a:xfrm>
            <a:off x="8458200" y="4222496"/>
            <a:ext cx="3276295" cy="89204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04" name="takeaway"/>
          <p:cNvSpPr txBox="1"/>
          <p:nvPr/>
        </p:nvSpPr>
        <p:spPr>
          <a:xfrm>
            <a:off x="8567928" y="4295648"/>
            <a:ext cx="3056839" cy="745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安さの主因は金利・資本・信用という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実在のリスク。「利益が付いてこない」は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裁量の再投資のため、全体は C</a:t>
            </a:r>
            <a:endParaRPr lang="en-US" sz="1000" dirty="0"/>
          </a:p>
        </p:txBody>
      </p:sp>
      <p:sp>
        <p:nvSpPr>
          <p:cNvPr id="105" name="updown"/>
          <p:cNvSpPr txBox="1"/>
          <p:nvPr/>
        </p:nvSpPr>
        <p:spPr>
          <a:xfrm>
            <a:off x="8458200" y="5187696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のマークが 104% 以上、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all-in 貸倒率 4.0% 以下、下期の計画を達成すれば B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マークが 103% 未満、all-in 4.8% 超、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再表示があれば D</a:t>
            </a:r>
            <a:endParaRPr lang="en-US" sz="850" dirty="0"/>
          </a:p>
        </p:txBody>
      </p:sp>
      <p:sp>
        <p:nvSpPr>
          <p:cNvPr id="106" name="ovl_kpibox"/>
          <p:cNvSpPr/>
          <p:nvPr/>
        </p:nvSpPr>
        <p:spPr>
          <a:xfrm>
            <a:off x="457200" y="5870448"/>
            <a:ext cx="11277295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68910"/>
            </a:solidFill>
            <a:prstDash val="solid"/>
          </a:ln>
        </p:spPr>
      </p:sp>
      <p:sp>
        <p:nvSpPr>
          <p:cNvPr id="107" name="kpi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 KPI とトリガー: 個人ローンのマーク 104% 以上で B 候補・103% 未満で D 候補 / all-in 貸倒率 4.0% 以下で確度を上げ・4.8% 超で D 候補(損失前提を超える)/ 再表示・当局の調査で E 候補(毎四半期)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4-4 商品と資産(条件8・10〜12)(1/3)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11582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115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コモディティ性(条件8)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719324" y="356616"/>
            <a:ext cx="90151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商品になる部分は競争で利ざやが削られる。価値のどれだけが商品かを測る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ローンは買い手がほぼ額面と手数料で買う市場の商品で、差別化は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会員との関係と預金にある。収益の約 6 割は貸出の利ざや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借り手 → SoFi の事業 → ローンの買い手 ← 価格の基準。①〜⑤ は右と対応。収益の内訳は Q2 2026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決算・10-Q)、research_r2/R9_products_people.md(各社の価格表)、research/R4_scuttlebutt.md(LPB 契約・プライベートクレジット)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33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条件8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47472" y="1517904"/>
            <a:ext cx="131673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47472" y="1517904"/>
            <a:ext cx="131673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47472" y="151790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借り手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2404872" y="1517904"/>
            <a:ext cx="1545336" cy="4005072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2404872" y="1517904"/>
            <a:ext cx="154533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2404872" y="151790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の事業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4690872" y="1517904"/>
            <a:ext cx="149961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4690872" y="1517904"/>
            <a:ext cx="149961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4690872" y="1517904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ローンの買い手</a:t>
            </a:r>
            <a:endParaRPr lang="en-US" sz="950" dirty="0"/>
          </a:p>
        </p:txBody>
      </p:sp>
      <p:sp>
        <p:nvSpPr>
          <p:cNvPr id="33" name="bg_lane3"/>
          <p:cNvSpPr/>
          <p:nvPr/>
        </p:nvSpPr>
        <p:spPr>
          <a:xfrm>
            <a:off x="6931152" y="1517904"/>
            <a:ext cx="1453896" cy="4005072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bg_laneh3"/>
          <p:cNvSpPr/>
          <p:nvPr/>
        </p:nvSpPr>
        <p:spPr>
          <a:xfrm>
            <a:off x="6931152" y="1517904"/>
            <a:ext cx="14538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bg_lanet3"/>
          <p:cNvSpPr txBox="1"/>
          <p:nvPr/>
        </p:nvSpPr>
        <p:spPr>
          <a:xfrm>
            <a:off x="693115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価格の基準</a:t>
            </a:r>
            <a:endParaRPr lang="en-US" sz="950" dirty="0"/>
          </a:p>
        </p:txBody>
      </p:sp>
      <p:sp>
        <p:nvSpPr>
          <p:cNvPr id="36" name="ovl_s24_e0_0"/>
          <p:cNvSpPr/>
          <p:nvPr/>
        </p:nvSpPr>
        <p:spPr>
          <a:xfrm>
            <a:off x="1554480" y="2487168"/>
            <a:ext cx="96012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7" name="ovl_s24_e1_0"/>
          <p:cNvSpPr/>
          <p:nvPr/>
        </p:nvSpPr>
        <p:spPr>
          <a:xfrm flipV="1">
            <a:off x="7658100" y="1847088"/>
            <a:ext cx="914" cy="18288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38" name="ovl_s24_e1_1"/>
          <p:cNvSpPr/>
          <p:nvPr/>
        </p:nvSpPr>
        <p:spPr>
          <a:xfrm flipH="1">
            <a:off x="1005840" y="1847088"/>
            <a:ext cx="66522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39" name="ovl_s24_e1_2"/>
          <p:cNvSpPr/>
          <p:nvPr/>
        </p:nvSpPr>
        <p:spPr>
          <a:xfrm>
            <a:off x="1005840" y="1847088"/>
            <a:ext cx="914" cy="265176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0" name="ovl_s24_e2_0"/>
          <p:cNvSpPr/>
          <p:nvPr/>
        </p:nvSpPr>
        <p:spPr>
          <a:xfrm>
            <a:off x="2811780" y="2862072"/>
            <a:ext cx="914" cy="457200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41" name="ovl_s24_e3_0"/>
          <p:cNvSpPr/>
          <p:nvPr/>
        </p:nvSpPr>
        <p:spPr>
          <a:xfrm>
            <a:off x="3840480" y="3694176"/>
            <a:ext cx="4800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</a:ln>
        </p:spPr>
      </p:sp>
      <p:sp>
        <p:nvSpPr>
          <p:cNvPr id="42" name="ovl_s24_e3_1"/>
          <p:cNvSpPr/>
          <p:nvPr/>
        </p:nvSpPr>
        <p:spPr>
          <a:xfrm flipV="1">
            <a:off x="4320540" y="2487168"/>
            <a:ext cx="914" cy="1207008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</a:ln>
        </p:spPr>
      </p:sp>
      <p:sp>
        <p:nvSpPr>
          <p:cNvPr id="43" name="ovl_s24_e3_2"/>
          <p:cNvSpPr/>
          <p:nvPr/>
        </p:nvSpPr>
        <p:spPr>
          <a:xfrm>
            <a:off x="4320540" y="2487168"/>
            <a:ext cx="4800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44" name="ovl_s24_e4_0"/>
          <p:cNvSpPr/>
          <p:nvPr/>
        </p:nvSpPr>
        <p:spPr>
          <a:xfrm>
            <a:off x="7658100" y="4069080"/>
            <a:ext cx="914" cy="9144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5" name="ovl_s24_e4_1"/>
          <p:cNvSpPr/>
          <p:nvPr/>
        </p:nvSpPr>
        <p:spPr>
          <a:xfrm flipH="1">
            <a:off x="3177540" y="4160520"/>
            <a:ext cx="44805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6" name="ovl_s24_e4_2"/>
          <p:cNvSpPr/>
          <p:nvPr/>
        </p:nvSpPr>
        <p:spPr>
          <a:xfrm flipV="1">
            <a:off x="3177540" y="4069080"/>
            <a:ext cx="914" cy="9144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7" name="ovl_s24_e5_0"/>
          <p:cNvSpPr/>
          <p:nvPr/>
        </p:nvSpPr>
        <p:spPr>
          <a:xfrm flipV="1">
            <a:off x="5440680" y="2862072"/>
            <a:ext cx="914" cy="45720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8" name="ovl_s24_e6_0"/>
          <p:cNvSpPr/>
          <p:nvPr/>
        </p:nvSpPr>
        <p:spPr>
          <a:xfrm>
            <a:off x="1554480" y="3694176"/>
            <a:ext cx="18288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49" name="ovl_s24_e6_1"/>
          <p:cNvSpPr/>
          <p:nvPr/>
        </p:nvSpPr>
        <p:spPr>
          <a:xfrm>
            <a:off x="1737360" y="3694176"/>
            <a:ext cx="914" cy="1344168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</a:ln>
        </p:spPr>
      </p:sp>
      <p:sp>
        <p:nvSpPr>
          <p:cNvPr id="50" name="ovl_s24_e6_2"/>
          <p:cNvSpPr/>
          <p:nvPr/>
        </p:nvSpPr>
        <p:spPr>
          <a:xfrm>
            <a:off x="1737360" y="5038344"/>
            <a:ext cx="7772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51" name="ovl_s24_e7_0"/>
          <p:cNvSpPr/>
          <p:nvPr/>
        </p:nvSpPr>
        <p:spPr>
          <a:xfrm>
            <a:off x="1554480" y="4764024"/>
            <a:ext cx="3200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2" name="ovl_s24_e7_1"/>
          <p:cNvSpPr/>
          <p:nvPr/>
        </p:nvSpPr>
        <p:spPr>
          <a:xfrm flipV="1">
            <a:off x="1874520" y="2596896"/>
            <a:ext cx="914" cy="2167128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3" name="ovl_s24_e7_2"/>
          <p:cNvSpPr/>
          <p:nvPr/>
        </p:nvSpPr>
        <p:spPr>
          <a:xfrm>
            <a:off x="1874520" y="2596896"/>
            <a:ext cx="64008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54" name="ovl_s24_e8_0"/>
          <p:cNvSpPr/>
          <p:nvPr/>
        </p:nvSpPr>
        <p:spPr>
          <a:xfrm flipV="1">
            <a:off x="7658100" y="4251960"/>
            <a:ext cx="914" cy="274320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5" name="ovl_s24_e8_1"/>
          <p:cNvSpPr/>
          <p:nvPr/>
        </p:nvSpPr>
        <p:spPr>
          <a:xfrm flipH="1">
            <a:off x="1005840" y="4251960"/>
            <a:ext cx="66522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56" name="ovl_s24_e8_2"/>
          <p:cNvSpPr/>
          <p:nvPr/>
        </p:nvSpPr>
        <p:spPr>
          <a:xfrm flipV="1">
            <a:off x="1005840" y="4069080"/>
            <a:ext cx="914" cy="182880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57" name="ovl_s24_n_borrow"/>
          <p:cNvSpPr/>
          <p:nvPr/>
        </p:nvSpPr>
        <p:spPr>
          <a:xfrm>
            <a:off x="457200" y="2112264"/>
            <a:ext cx="10972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8" name="ovl_s24_nt_borrow"/>
          <p:cNvSpPr txBox="1"/>
          <p:nvPr/>
        </p:nvSpPr>
        <p:spPr>
          <a:xfrm>
            <a:off x="493776" y="2139696"/>
            <a:ext cx="10241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借りる会員</a:t>
            </a:r>
            <a:endParaRPr lang="en-US" sz="1000" dirty="0"/>
          </a:p>
        </p:txBody>
      </p:sp>
      <p:sp>
        <p:nvSpPr>
          <p:cNvPr id="59" name="ovl_s24_ns_borrow"/>
          <p:cNvSpPr txBox="1"/>
          <p:nvPr/>
        </p:nvSpPr>
        <p:spPr>
          <a:xfrm>
            <a:off x="502920" y="2345436"/>
            <a:ext cx="10058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FICO 746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金利を比べて選ぶ</a:t>
            </a:r>
            <a:endParaRPr lang="en-US" sz="850" dirty="0"/>
          </a:p>
        </p:txBody>
      </p:sp>
      <p:sp>
        <p:nvSpPr>
          <p:cNvPr id="60" name="ovl_s24_n_rel"/>
          <p:cNvSpPr/>
          <p:nvPr/>
        </p:nvSpPr>
        <p:spPr>
          <a:xfrm>
            <a:off x="457200" y="3319272"/>
            <a:ext cx="109728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61" name="ovl_s24_nt_rel"/>
          <p:cNvSpPr txBox="1"/>
          <p:nvPr/>
        </p:nvSpPr>
        <p:spPr>
          <a:xfrm>
            <a:off x="493776" y="3346704"/>
            <a:ext cx="10241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会員との関係</a:t>
            </a:r>
            <a:endParaRPr lang="en-US" sz="1000" dirty="0"/>
          </a:p>
        </p:txBody>
      </p:sp>
      <p:sp>
        <p:nvSpPr>
          <p:cNvPr id="62" name="ovl_s24_ns_rel"/>
          <p:cNvSpPr txBox="1"/>
          <p:nvPr/>
        </p:nvSpPr>
        <p:spPr>
          <a:xfrm>
            <a:off x="502920" y="3552444"/>
            <a:ext cx="10058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51%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1.54 製品</a:t>
            </a:r>
            <a:endParaRPr lang="en-US" sz="850" dirty="0"/>
          </a:p>
        </p:txBody>
      </p:sp>
      <p:sp>
        <p:nvSpPr>
          <p:cNvPr id="63" name="ovl_s24_n_dd"/>
          <p:cNvSpPr/>
          <p:nvPr/>
        </p:nvSpPr>
        <p:spPr>
          <a:xfrm>
            <a:off x="457200" y="4526280"/>
            <a:ext cx="109728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64" name="ovl_s24_nt_dd"/>
          <p:cNvSpPr txBox="1"/>
          <p:nvPr/>
        </p:nvSpPr>
        <p:spPr>
          <a:xfrm>
            <a:off x="493776" y="4553712"/>
            <a:ext cx="10241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給与振込の預金</a:t>
            </a:r>
            <a:endParaRPr lang="en-US" sz="1000" dirty="0"/>
          </a:p>
        </p:txBody>
      </p:sp>
      <p:sp>
        <p:nvSpPr>
          <p:cNvPr id="65" name="ovl_s24_ns_dd"/>
          <p:cNvSpPr txBox="1"/>
          <p:nvPr/>
        </p:nvSpPr>
        <p:spPr>
          <a:xfrm>
            <a:off x="502920" y="4759452"/>
            <a:ext cx="10058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 3.07%</a:t>
            </a:r>
            <a:endParaRPr lang="en-US" sz="850" dirty="0"/>
          </a:p>
        </p:txBody>
      </p:sp>
      <p:sp>
        <p:nvSpPr>
          <p:cNvPr id="66" name="ovl_s24_n_nii"/>
          <p:cNvSpPr/>
          <p:nvPr/>
        </p:nvSpPr>
        <p:spPr>
          <a:xfrm>
            <a:off x="2514600" y="2112264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7" name="ovl_s24_nt_nii"/>
          <p:cNvSpPr txBox="1"/>
          <p:nvPr/>
        </p:nvSpPr>
        <p:spPr>
          <a:xfrm>
            <a:off x="2551176" y="213969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貸出の利ざや</a:t>
            </a:r>
            <a:endParaRPr lang="en-US" sz="1000" dirty="0"/>
          </a:p>
        </p:txBody>
      </p:sp>
      <p:sp>
        <p:nvSpPr>
          <p:cNvPr id="68" name="ovl_s24_ns_nii"/>
          <p:cNvSpPr txBox="1"/>
          <p:nvPr/>
        </p:nvSpPr>
        <p:spPr>
          <a:xfrm>
            <a:off x="2560320" y="2345436"/>
            <a:ext cx="1234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 65%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5.98%</a:t>
            </a:r>
            <a:endParaRPr lang="en-US" sz="850" dirty="0"/>
          </a:p>
        </p:txBody>
      </p:sp>
      <p:sp>
        <p:nvSpPr>
          <p:cNvPr id="69" name="ovl_s24_n_lpb"/>
          <p:cNvSpPr/>
          <p:nvPr/>
        </p:nvSpPr>
        <p:spPr>
          <a:xfrm>
            <a:off x="2514600" y="3319272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0" name="ovl_s24_nt_lpb"/>
          <p:cNvSpPr txBox="1"/>
          <p:nvPr/>
        </p:nvSpPr>
        <p:spPr>
          <a:xfrm>
            <a:off x="2551176" y="3346704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LPB・売却益</a:t>
            </a:r>
            <a:endParaRPr lang="en-US" sz="1000" dirty="0"/>
          </a:p>
        </p:txBody>
      </p:sp>
      <p:sp>
        <p:nvSpPr>
          <p:cNvPr id="71" name="ovl_s24_ns_lpb"/>
          <p:cNvSpPr txBox="1"/>
          <p:nvPr/>
        </p:nvSpPr>
        <p:spPr>
          <a:xfrm>
            <a:off x="2560320" y="3552444"/>
            <a:ext cx="1234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 24%</a:t>
            </a:r>
            <a:endParaRPr lang="en-US" sz="850" dirty="0"/>
          </a:p>
        </p:txBody>
      </p:sp>
      <p:sp>
        <p:nvSpPr>
          <p:cNvPr id="72" name="ovl_s24_n_fee"/>
          <p:cNvSpPr/>
          <p:nvPr/>
        </p:nvSpPr>
        <p:spPr>
          <a:xfrm>
            <a:off x="2514600" y="4526280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3" name="ovl_s24_nt_fee"/>
          <p:cNvSpPr txBox="1"/>
          <p:nvPr/>
        </p:nvSpPr>
        <p:spPr>
          <a:xfrm>
            <a:off x="2551176" y="4553712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手数料・会費</a:t>
            </a:r>
            <a:endParaRPr lang="en-US" sz="1000" dirty="0"/>
          </a:p>
        </p:txBody>
      </p:sp>
      <p:sp>
        <p:nvSpPr>
          <p:cNvPr id="74" name="ovl_s24_ns_fee"/>
          <p:cNvSpPr txBox="1"/>
          <p:nvPr/>
        </p:nvSpPr>
        <p:spPr>
          <a:xfrm>
            <a:off x="2560320" y="4759452"/>
            <a:ext cx="123444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 11%</a:t>
            </a:r>
            <a:endParaRPr lang="en-US" sz="850" dirty="0"/>
          </a:p>
        </p:txBody>
      </p:sp>
      <p:sp>
        <p:nvSpPr>
          <p:cNvPr id="75" name="ovl_s24_n_bo"/>
          <p:cNvSpPr/>
          <p:nvPr/>
        </p:nvSpPr>
        <p:spPr>
          <a:xfrm>
            <a:off x="4800600" y="2112264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76" name="ovl_s24_nt_bo"/>
          <p:cNvSpPr txBox="1"/>
          <p:nvPr/>
        </p:nvSpPr>
        <p:spPr>
          <a:xfrm>
            <a:off x="4837176" y="213969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Blue Owl・Fortress</a:t>
            </a:r>
            <a:endParaRPr lang="en-US" sz="900" dirty="0"/>
          </a:p>
        </p:txBody>
      </p:sp>
      <p:sp>
        <p:nvSpPr>
          <p:cNvPr id="77" name="ovl_s24_ns_bo"/>
          <p:cNvSpPr txBox="1"/>
          <p:nvPr/>
        </p:nvSpPr>
        <p:spPr>
          <a:xfrm>
            <a:off x="4846320" y="2345436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契約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100 億ドル超</a:t>
            </a:r>
            <a:endParaRPr lang="en-US" sz="850" dirty="0"/>
          </a:p>
        </p:txBody>
      </p:sp>
      <p:sp>
        <p:nvSpPr>
          <p:cNvPr id="78" name="ovl_s24_n_pc"/>
          <p:cNvSpPr/>
          <p:nvPr/>
        </p:nvSpPr>
        <p:spPr>
          <a:xfrm>
            <a:off x="4800600" y="3319272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9" name="ovl_s24_nt_pc"/>
          <p:cNvSpPr txBox="1"/>
          <p:nvPr/>
        </p:nvSpPr>
        <p:spPr>
          <a:xfrm>
            <a:off x="4837176" y="3346704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プライベート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クレジット</a:t>
            </a:r>
            <a:endParaRPr lang="en-US" sz="900" dirty="0"/>
          </a:p>
        </p:txBody>
      </p:sp>
      <p:sp>
        <p:nvSpPr>
          <p:cNvPr id="80" name="ovl_s24_ns_pc"/>
          <p:cNvSpPr txBox="1"/>
          <p:nvPr/>
        </p:nvSpPr>
        <p:spPr>
          <a:xfrm>
            <a:off x="4846320" y="3703320"/>
            <a:ext cx="1188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個人ローン組成の約 1/4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に資金(前年 6%)</a:t>
            </a:r>
            <a:endParaRPr lang="en-US" sz="800" dirty="0"/>
          </a:p>
        </p:txBody>
      </p:sp>
      <p:sp>
        <p:nvSpPr>
          <p:cNvPr id="81" name="ovl_s24_n_bank"/>
          <p:cNvSpPr/>
          <p:nvPr/>
        </p:nvSpPr>
        <p:spPr>
          <a:xfrm>
            <a:off x="4800600" y="4526280"/>
            <a:ext cx="1280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82" name="ovl_s24_nt_bank"/>
          <p:cNvSpPr txBox="1"/>
          <p:nvPr/>
        </p:nvSpPr>
        <p:spPr>
          <a:xfrm>
            <a:off x="4837176" y="4553712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銀行・ABS の投資家</a:t>
            </a:r>
            <a:endParaRPr lang="en-US" sz="900" dirty="0"/>
          </a:p>
        </p:txBody>
      </p:sp>
      <p:sp>
        <p:nvSpPr>
          <p:cNvPr id="83" name="ovl_s24_ns_bank"/>
          <p:cNvSpPr txBox="1"/>
          <p:nvPr/>
        </p:nvSpPr>
        <p:spPr>
          <a:xfrm>
            <a:off x="4846320" y="4759452"/>
            <a:ext cx="118872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全額売却 106.5%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(Q4 2025)</a:t>
            </a:r>
            <a:endParaRPr lang="en-US" sz="850" dirty="0"/>
          </a:p>
        </p:txBody>
      </p:sp>
      <p:sp>
        <p:nvSpPr>
          <p:cNvPr id="84" name="ovl_s24_n_apr"/>
          <p:cNvSpPr/>
          <p:nvPr/>
        </p:nvSpPr>
        <p:spPr>
          <a:xfrm>
            <a:off x="7040880" y="2029968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5" name="ovl_s24_nt_apr"/>
          <p:cNvSpPr txBox="1"/>
          <p:nvPr/>
        </p:nvSpPr>
        <p:spPr>
          <a:xfrm>
            <a:off x="7077456" y="2057400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競合の APR</a:t>
            </a:r>
            <a:endParaRPr lang="en-US" sz="1000" dirty="0"/>
          </a:p>
        </p:txBody>
      </p:sp>
      <p:sp>
        <p:nvSpPr>
          <p:cNvPr id="86" name="ovl_s24_ns_apr"/>
          <p:cNvSpPr txBox="1"/>
          <p:nvPr/>
        </p:nvSpPr>
        <p:spPr>
          <a:xfrm>
            <a:off x="7086600" y="2263140"/>
            <a:ext cx="11430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LendingClub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5.96〜35.99%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LightStream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6.49〜25.39%</a:t>
            </a:r>
            <a:endParaRPr lang="en-US" sz="850" dirty="0"/>
          </a:p>
        </p:txBody>
      </p:sp>
      <p:sp>
        <p:nvSpPr>
          <p:cNvPr id="87" name="ovl_s24_n_par"/>
          <p:cNvSpPr/>
          <p:nvPr/>
        </p:nvSpPr>
        <p:spPr>
          <a:xfrm>
            <a:off x="7040880" y="3319272"/>
            <a:ext cx="12344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8" name="ovl_s24_nt_par"/>
          <p:cNvSpPr txBox="1"/>
          <p:nvPr/>
        </p:nvSpPr>
        <p:spPr>
          <a:xfrm>
            <a:off x="7077456" y="3346704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売却の価格</a:t>
            </a:r>
            <a:endParaRPr lang="en-US" sz="1000" dirty="0"/>
          </a:p>
        </p:txBody>
      </p:sp>
      <p:sp>
        <p:nvSpPr>
          <p:cNvPr id="89" name="ovl_s24_ns_par"/>
          <p:cNvSpPr txBox="1"/>
          <p:nvPr/>
        </p:nvSpPr>
        <p:spPr>
          <a:xfrm>
            <a:off x="7086600" y="3552444"/>
            <a:ext cx="11430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ほぼ額面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 手数料 4.6%</a:t>
            </a:r>
            <a:endParaRPr lang="en-US" sz="850" dirty="0"/>
          </a:p>
        </p:txBody>
      </p:sp>
      <p:sp>
        <p:nvSpPr>
          <p:cNvPr id="90" name="ovl_s24_n_brand"/>
          <p:cNvSpPr/>
          <p:nvPr/>
        </p:nvSpPr>
        <p:spPr>
          <a:xfrm>
            <a:off x="7040880" y="4526280"/>
            <a:ext cx="1234440" cy="749808"/>
          </a:xfrm>
          <a:prstGeom prst="roundRect">
            <a:avLst>
              <a:gd name="adj" fmla="val 7317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91" name="ovl_s24_nt_brand"/>
          <p:cNvSpPr txBox="1"/>
          <p:nvPr/>
        </p:nvSpPr>
        <p:spPr>
          <a:xfrm>
            <a:off x="7077456" y="4553712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</a:t>
            </a:r>
            <a:endParaRPr lang="en-US" sz="1000" dirty="0"/>
          </a:p>
        </p:txBody>
      </p:sp>
      <p:sp>
        <p:nvSpPr>
          <p:cNvPr id="92" name="ovl_s24_ns_brand"/>
          <p:cNvSpPr txBox="1"/>
          <p:nvPr/>
        </p:nvSpPr>
        <p:spPr>
          <a:xfrm>
            <a:off x="7086600" y="4759452"/>
            <a:ext cx="1143000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想起 10.4%</a:t>
            </a:r>
            <a:endParaRPr lang="en-US" sz="850" dirty="0"/>
          </a:p>
        </p:txBody>
      </p:sp>
      <p:sp>
        <p:nvSpPr>
          <p:cNvPr id="93" name="ovl_s24_tag_nii"/>
          <p:cNvSpPr/>
          <p:nvPr/>
        </p:nvSpPr>
        <p:spPr>
          <a:xfrm>
            <a:off x="2984500" y="1901952"/>
            <a:ext cx="386080" cy="18288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4" name="ovl_s24_tagt_nii"/>
          <p:cNvSpPr txBox="1"/>
          <p:nvPr/>
        </p:nvSpPr>
        <p:spPr>
          <a:xfrm>
            <a:off x="2984500" y="1901952"/>
            <a:ext cx="38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商品</a:t>
            </a:r>
            <a:endParaRPr lang="en-US" sz="800" dirty="0"/>
          </a:p>
        </p:txBody>
      </p:sp>
      <p:sp>
        <p:nvSpPr>
          <p:cNvPr id="95" name="ovl_s24_tag_lpb"/>
          <p:cNvSpPr/>
          <p:nvPr/>
        </p:nvSpPr>
        <p:spPr>
          <a:xfrm>
            <a:off x="2984500" y="3108960"/>
            <a:ext cx="386080" cy="18288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6" name="ovl_s24_tagt_lpb"/>
          <p:cNvSpPr txBox="1"/>
          <p:nvPr/>
        </p:nvSpPr>
        <p:spPr>
          <a:xfrm>
            <a:off x="2984500" y="3108960"/>
            <a:ext cx="38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商品</a:t>
            </a:r>
            <a:endParaRPr lang="en-US" sz="800" dirty="0"/>
          </a:p>
        </p:txBody>
      </p:sp>
      <p:sp>
        <p:nvSpPr>
          <p:cNvPr id="97" name="ovl_s24_tag_fee"/>
          <p:cNvSpPr/>
          <p:nvPr/>
        </p:nvSpPr>
        <p:spPr>
          <a:xfrm>
            <a:off x="2933700" y="4315968"/>
            <a:ext cx="487680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98" name="ovl_s24_tagt_fee"/>
          <p:cNvSpPr txBox="1"/>
          <p:nvPr/>
        </p:nvSpPr>
        <p:spPr>
          <a:xfrm>
            <a:off x="2933700" y="4315968"/>
            <a:ext cx="48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差別化</a:t>
            </a:r>
            <a:endParaRPr lang="en-US" sz="800" dirty="0"/>
          </a:p>
        </p:txBody>
      </p:sp>
      <p:sp>
        <p:nvSpPr>
          <p:cNvPr id="99" name="ovl_s24_lab0"/>
          <p:cNvSpPr txBox="1"/>
          <p:nvPr/>
        </p:nvSpPr>
        <p:spPr>
          <a:xfrm>
            <a:off x="1673638" y="2253996"/>
            <a:ext cx="721804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利息 13%</a:t>
            </a:r>
            <a:endParaRPr lang="en-US" sz="850" dirty="0"/>
          </a:p>
        </p:txBody>
      </p:sp>
      <p:sp>
        <p:nvSpPr>
          <p:cNvPr id="100" name="ovl_s24_lab1"/>
          <p:cNvSpPr txBox="1"/>
          <p:nvPr/>
        </p:nvSpPr>
        <p:spPr>
          <a:xfrm>
            <a:off x="6296787" y="1874520"/>
            <a:ext cx="45948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比べる</a:t>
            </a:r>
            <a:endParaRPr lang="en-US" sz="850" dirty="0"/>
          </a:p>
        </p:txBody>
      </p:sp>
      <p:sp>
        <p:nvSpPr>
          <p:cNvPr id="101" name="ovl_s24_lab2"/>
          <p:cNvSpPr txBox="1"/>
          <p:nvPr/>
        </p:nvSpPr>
        <p:spPr>
          <a:xfrm>
            <a:off x="2857500" y="2887218"/>
            <a:ext cx="107739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抱えきれない分</a:t>
            </a:r>
            <a:endParaRPr lang="en-US" sz="850" dirty="0"/>
          </a:p>
        </p:txBody>
      </p:sp>
      <p:sp>
        <p:nvSpPr>
          <p:cNvPr id="102" name="ovl_s24_lab3"/>
          <p:cNvSpPr txBox="1"/>
          <p:nvPr/>
        </p:nvSpPr>
        <p:spPr>
          <a:xfrm>
            <a:off x="4366260" y="2987802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引き渡し</a:t>
            </a:r>
            <a:endParaRPr lang="en-US" sz="850" dirty="0"/>
          </a:p>
        </p:txBody>
      </p:sp>
      <p:sp>
        <p:nvSpPr>
          <p:cNvPr id="103" name="ovl_s24_lab4"/>
          <p:cNvSpPr txBox="1"/>
          <p:nvPr/>
        </p:nvSpPr>
        <p:spPr>
          <a:xfrm>
            <a:off x="6092990" y="3927348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価格の上限</a:t>
            </a:r>
            <a:endParaRPr lang="en-US" sz="850" dirty="0"/>
          </a:p>
        </p:txBody>
      </p:sp>
      <p:sp>
        <p:nvSpPr>
          <p:cNvPr id="104" name="ovl_s24_num5"/>
          <p:cNvSpPr/>
          <p:nvPr/>
        </p:nvSpPr>
        <p:spPr>
          <a:xfrm>
            <a:off x="5321808" y="2971800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ovl_s24_numt5"/>
          <p:cNvSpPr txBox="1"/>
          <p:nvPr/>
        </p:nvSpPr>
        <p:spPr>
          <a:xfrm>
            <a:off x="5321808" y="2971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  <p:sp>
        <p:nvSpPr>
          <p:cNvPr id="106" name="ovl_s24_num6"/>
          <p:cNvSpPr/>
          <p:nvPr/>
        </p:nvSpPr>
        <p:spPr>
          <a:xfrm>
            <a:off x="2007108" y="4919472"/>
            <a:ext cx="237744" cy="237744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7" name="ovl_s24_numt6"/>
          <p:cNvSpPr txBox="1"/>
          <p:nvPr/>
        </p:nvSpPr>
        <p:spPr>
          <a:xfrm>
            <a:off x="2007108" y="4919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  <p:sp>
        <p:nvSpPr>
          <p:cNvPr id="108" name="ovl_s24_lab7"/>
          <p:cNvSpPr txBox="1"/>
          <p:nvPr/>
        </p:nvSpPr>
        <p:spPr>
          <a:xfrm>
            <a:off x="1920240" y="3577590"/>
            <a:ext cx="57607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安い資金</a:t>
            </a:r>
            <a:endParaRPr lang="en-US" sz="850" dirty="0"/>
          </a:p>
        </p:txBody>
      </p:sp>
      <p:sp>
        <p:nvSpPr>
          <p:cNvPr id="109" name="ovl_s24_leg0"/>
          <p:cNvSpPr/>
          <p:nvPr/>
        </p:nvSpPr>
        <p:spPr>
          <a:xfrm>
            <a:off x="457200" y="5660136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110" name="ovl_s24_legt0"/>
          <p:cNvSpPr txBox="1"/>
          <p:nvPr/>
        </p:nvSpPr>
        <p:spPr>
          <a:xfrm>
            <a:off x="87782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111" name="ovl_s24_leg1"/>
          <p:cNvSpPr/>
          <p:nvPr/>
        </p:nvSpPr>
        <p:spPr>
          <a:xfrm>
            <a:off x="1874520" y="5660136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112" name="ovl_s24_legt1"/>
          <p:cNvSpPr txBox="1"/>
          <p:nvPr/>
        </p:nvSpPr>
        <p:spPr>
          <a:xfrm>
            <a:off x="229514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113" name="ovl_s24_leg2"/>
          <p:cNvSpPr/>
          <p:nvPr/>
        </p:nvSpPr>
        <p:spPr>
          <a:xfrm>
            <a:off x="3291840" y="5660136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14" name="ovl_s24_legt2"/>
          <p:cNvSpPr txBox="1"/>
          <p:nvPr/>
        </p:nvSpPr>
        <p:spPr>
          <a:xfrm>
            <a:off x="371246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115" name="ovl_s24_leg3"/>
          <p:cNvSpPr/>
          <p:nvPr/>
        </p:nvSpPr>
        <p:spPr>
          <a:xfrm>
            <a:off x="4709160" y="5660136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16" name="ovl_s24_legt3"/>
          <p:cNvSpPr txBox="1"/>
          <p:nvPr/>
        </p:nvSpPr>
        <p:spPr>
          <a:xfrm>
            <a:off x="5129784" y="5559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17" name="ovl_s24_legn"/>
          <p:cNvSpPr txBox="1"/>
          <p:nvPr/>
        </p:nvSpPr>
        <p:spPr>
          <a:xfrm>
            <a:off x="6126480" y="555955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18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19" name="mech"/>
          <p:cNvSpPr txBox="1"/>
          <p:nvPr/>
        </p:nvSpPr>
        <p:spPr>
          <a:xfrm>
            <a:off x="8458200" y="1810512"/>
            <a:ext cx="3276295" cy="24023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借り手は FICO 746 の優良層で、金利を比べて選ぶ。APR 帯は LendingClub・LightStream と重なる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抱えきれないローンは LPB と売却で他社に渡す。収益の 24%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買い手はほぼ額面と手数料 4.6% で買う。市場で値の付く商品で、上乗せは小さい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プライベートクレジットは 2025 年の個人ローン組成の約 1/4 に資金を出し(前年 6%)、競合にも同じ資金が回る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差別化は会員との関係(クロスバイ 51%)と安い預金。商品の部分が収益の約 6 割を占める</a:t>
            </a:r>
            <a:endParaRPr lang="en-US" sz="1100" dirty="0"/>
          </a:p>
        </p:txBody>
      </p:sp>
      <p:sp>
        <p:nvSpPr>
          <p:cNvPr id="120" name="ovl_takeaway_bg"/>
          <p:cNvSpPr/>
          <p:nvPr/>
        </p:nvSpPr>
        <p:spPr>
          <a:xfrm>
            <a:off x="8458200" y="4285996"/>
            <a:ext cx="3276295" cy="95808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21" name="takeaway"/>
          <p:cNvSpPr txBox="1"/>
          <p:nvPr/>
        </p:nvSpPr>
        <p:spPr>
          <a:xfrm>
            <a:off x="8567928" y="4359148"/>
            <a:ext cx="3056839" cy="8117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ローンは市場で値の付く商品。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差別化は会員との関係と預金にあり、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収益の約 6 割が商品の性格のため C</a:t>
            </a:r>
            <a:endParaRPr lang="en-US" sz="1000" dirty="0"/>
          </a:p>
        </p:txBody>
      </p:sp>
      <p:sp>
        <p:nvSpPr>
          <p:cNvPr id="122" name="updown"/>
          <p:cNvSpPr txBox="1"/>
          <p:nvPr/>
        </p:nvSpPr>
        <p:spPr>
          <a:xfrm>
            <a:off x="8458200" y="5317236"/>
            <a:ext cx="3276295" cy="4617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5.8% 以上と LPB 手数料率 4.5% 以上を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保てば B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NIM 5.3% 未満か、手数料率 3.5% 未満なら D</a:t>
            </a:r>
            <a:endParaRPr lang="en-US" sz="850" dirty="0"/>
          </a:p>
        </p:txBody>
      </p:sp>
      <p:sp>
        <p:nvSpPr>
          <p:cNvPr id="123" name="ovl_kpibox"/>
          <p:cNvSpPr/>
          <p:nvPr/>
        </p:nvSpPr>
        <p:spPr>
          <a:xfrm>
            <a:off x="457200" y="5870448"/>
            <a:ext cx="11277295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68910"/>
            </a:solidFill>
            <a:prstDash val="solid"/>
          </a:ln>
        </p:spPr>
      </p:sp>
      <p:sp>
        <p:nvSpPr>
          <p:cNvPr id="124" name="kpi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 KPI とトリガー: NIM 5.8% 以上で B 候補・5.3% 未満で D 候補 / LPB の手数料率 4.5% 以上で確度を上げ・3.5% 未満で D 候補(毎四半期)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4-4 商品と資産(条件8・10〜12)(2/3)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7063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7063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模倣困難性と陳腐化(条件10・11)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3309874" y="356616"/>
            <a:ext cx="84246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真似できない資産があれば超過利益が長く続く。何が再現困難で、何が陳腐化しうるかを分けて見る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銀行免許・会員・455 億ドルの預金は再現に数年かかるが、技術基盤は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 の内製化で陳腐化しうることが示された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再現に時間がかかる資産 / 陳腐化しうる資産 ← 競合の動き。下: 資産ごとの持ちの長さ。①〜⑤ は右と対応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決算)、research/R4_scuttlebutt.md(Chime の S-1、Robinhood・LendingClub の Q2 2026 決算)、research_r2/R9_products_people.md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34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条件10・11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47472" y="1517904"/>
            <a:ext cx="3800856" cy="3172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47472" y="1517904"/>
            <a:ext cx="380085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47472" y="1517904"/>
            <a:ext cx="3800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再現に時間がかかる資産(条件11)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4767072" y="1517904"/>
            <a:ext cx="1453896" cy="3172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4767072" y="1517904"/>
            <a:ext cx="145389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476707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陳腐化する資産(条件10)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6839712" y="1517904"/>
            <a:ext cx="1545336" cy="3172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6839712" y="1517904"/>
            <a:ext cx="154533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6839712" y="151790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競合の動き</a:t>
            </a:r>
            <a:endParaRPr lang="en-US" sz="950" dirty="0"/>
          </a:p>
        </p:txBody>
      </p:sp>
      <p:sp>
        <p:nvSpPr>
          <p:cNvPr id="33" name="ovl_s26_e0_0"/>
          <p:cNvSpPr/>
          <p:nvPr/>
        </p:nvSpPr>
        <p:spPr>
          <a:xfrm flipH="1">
            <a:off x="6629400" y="2348484"/>
            <a:ext cx="32004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34" name="ovl_s26_e0_1"/>
          <p:cNvSpPr/>
          <p:nvPr/>
        </p:nvSpPr>
        <p:spPr>
          <a:xfrm>
            <a:off x="6629400" y="2348484"/>
            <a:ext cx="914" cy="1859280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35" name="ovl_s26_e0_2"/>
          <p:cNvSpPr/>
          <p:nvPr/>
        </p:nvSpPr>
        <p:spPr>
          <a:xfrm flipH="1">
            <a:off x="6111240" y="4207764"/>
            <a:ext cx="5181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36" name="ovl_s26_e1_0"/>
          <p:cNvSpPr/>
          <p:nvPr/>
        </p:nvSpPr>
        <p:spPr>
          <a:xfrm flipH="1">
            <a:off x="4480560" y="2348484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37" name="ovl_s26_e1_1"/>
          <p:cNvSpPr/>
          <p:nvPr/>
        </p:nvSpPr>
        <p:spPr>
          <a:xfrm>
            <a:off x="4480560" y="2348484"/>
            <a:ext cx="914" cy="1859280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38" name="ovl_s26_e1_2"/>
          <p:cNvSpPr/>
          <p:nvPr/>
        </p:nvSpPr>
        <p:spPr>
          <a:xfrm>
            <a:off x="4480560" y="4207764"/>
            <a:ext cx="3962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39" name="ovl_s26_e2_0"/>
          <p:cNvSpPr/>
          <p:nvPr/>
        </p:nvSpPr>
        <p:spPr>
          <a:xfrm flipH="1">
            <a:off x="6111240" y="3278124"/>
            <a:ext cx="83820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0" name="ovl_s26_e3_0"/>
          <p:cNvSpPr/>
          <p:nvPr/>
        </p:nvSpPr>
        <p:spPr>
          <a:xfrm>
            <a:off x="7612380" y="4546092"/>
            <a:ext cx="914" cy="8077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1" name="ovl_s26_e3_1"/>
          <p:cNvSpPr/>
          <p:nvPr/>
        </p:nvSpPr>
        <p:spPr>
          <a:xfrm flipH="1">
            <a:off x="1120140" y="4626864"/>
            <a:ext cx="649224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2" name="ovl_s26_e3_2"/>
          <p:cNvSpPr/>
          <p:nvPr/>
        </p:nvSpPr>
        <p:spPr>
          <a:xfrm flipV="1">
            <a:off x="1120140" y="4546092"/>
            <a:ext cx="914" cy="8077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43" name="ovl_s26_e4_0"/>
          <p:cNvSpPr/>
          <p:nvPr/>
        </p:nvSpPr>
        <p:spPr>
          <a:xfrm>
            <a:off x="1783080" y="2348484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4" name="ovl_s26_e4_1"/>
          <p:cNvSpPr/>
          <p:nvPr/>
        </p:nvSpPr>
        <p:spPr>
          <a:xfrm>
            <a:off x="2148840" y="2348484"/>
            <a:ext cx="914" cy="1859280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5" name="ovl_s26_e4_2"/>
          <p:cNvSpPr/>
          <p:nvPr/>
        </p:nvSpPr>
        <p:spPr>
          <a:xfrm flipH="1">
            <a:off x="1783080" y="4207764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6" name="ovl_s26_e5_0"/>
          <p:cNvSpPr/>
          <p:nvPr/>
        </p:nvSpPr>
        <p:spPr>
          <a:xfrm>
            <a:off x="1783080" y="3278124"/>
            <a:ext cx="5943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7" name="ovl_s26_e5_1"/>
          <p:cNvSpPr/>
          <p:nvPr/>
        </p:nvSpPr>
        <p:spPr>
          <a:xfrm flipV="1">
            <a:off x="2377440" y="2348484"/>
            <a:ext cx="914" cy="929640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8" name="ovl_s26_e5_2"/>
          <p:cNvSpPr/>
          <p:nvPr/>
        </p:nvSpPr>
        <p:spPr>
          <a:xfrm>
            <a:off x="2377440" y="2348484"/>
            <a:ext cx="2438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9" name="ovl_s26_n_charter"/>
          <p:cNvSpPr/>
          <p:nvPr/>
        </p:nvSpPr>
        <p:spPr>
          <a:xfrm>
            <a:off x="457200" y="201015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0" name="ovl_s26_nt_charter"/>
          <p:cNvSpPr txBox="1"/>
          <p:nvPr/>
        </p:nvSpPr>
        <p:spPr>
          <a:xfrm>
            <a:off x="493776" y="203758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</a:t>
            </a:r>
            <a:endParaRPr lang="en-US" sz="1000" dirty="0"/>
          </a:p>
        </p:txBody>
      </p:sp>
      <p:sp>
        <p:nvSpPr>
          <p:cNvPr id="51" name="ovl_s26_ns_charter"/>
          <p:cNvSpPr txBox="1"/>
          <p:nvPr/>
        </p:nvSpPr>
        <p:spPr>
          <a:xfrm>
            <a:off x="502920" y="224332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2022 年に銀行を買収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審査に約 1 年</a:t>
            </a:r>
            <a:endParaRPr lang="en-US" sz="850" dirty="0"/>
          </a:p>
        </p:txBody>
      </p:sp>
      <p:sp>
        <p:nvSpPr>
          <p:cNvPr id="52" name="ovl_s26_n_mem"/>
          <p:cNvSpPr/>
          <p:nvPr/>
        </p:nvSpPr>
        <p:spPr>
          <a:xfrm>
            <a:off x="457200" y="293979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3" name="ovl_s26_nt_mem"/>
          <p:cNvSpPr txBox="1"/>
          <p:nvPr/>
        </p:nvSpPr>
        <p:spPr>
          <a:xfrm>
            <a:off x="493776" y="296722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1,580 万人</a:t>
            </a:r>
            <a:endParaRPr lang="en-US" sz="1000" dirty="0"/>
          </a:p>
        </p:txBody>
      </p:sp>
      <p:sp>
        <p:nvSpPr>
          <p:cNvPr id="54" name="ovl_s26_ns_mem"/>
          <p:cNvSpPr txBox="1"/>
          <p:nvPr/>
        </p:nvSpPr>
        <p:spPr>
          <a:xfrm>
            <a:off x="502920" y="317296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会員 1.54 製品</a:t>
            </a:r>
            <a:endParaRPr lang="en-US" sz="850" dirty="0"/>
          </a:p>
        </p:txBody>
      </p:sp>
      <p:sp>
        <p:nvSpPr>
          <p:cNvPr id="55" name="ovl_s26_n_dep"/>
          <p:cNvSpPr/>
          <p:nvPr/>
        </p:nvSpPr>
        <p:spPr>
          <a:xfrm>
            <a:off x="457200" y="386943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6" name="ovl_s26_nt_dep"/>
          <p:cNvSpPr txBox="1"/>
          <p:nvPr/>
        </p:nvSpPr>
        <p:spPr>
          <a:xfrm>
            <a:off x="493776" y="389686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 455 億ドル</a:t>
            </a:r>
            <a:endParaRPr lang="en-US" sz="1000" dirty="0"/>
          </a:p>
        </p:txBody>
      </p:sp>
      <p:sp>
        <p:nvSpPr>
          <p:cNvPr id="57" name="ovl_s26_ns_dep"/>
          <p:cNvSpPr txBox="1"/>
          <p:nvPr/>
        </p:nvSpPr>
        <p:spPr>
          <a:xfrm>
            <a:off x="502920" y="410260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給与振込が約 9 割</a:t>
            </a:r>
            <a:endParaRPr lang="en-US" sz="850" dirty="0"/>
          </a:p>
        </p:txBody>
      </p:sp>
      <p:sp>
        <p:nvSpPr>
          <p:cNvPr id="58" name="ovl_s26_n_brand"/>
          <p:cNvSpPr/>
          <p:nvPr/>
        </p:nvSpPr>
        <p:spPr>
          <a:xfrm>
            <a:off x="2621280" y="2010156"/>
            <a:ext cx="1417320" cy="676656"/>
          </a:xfrm>
          <a:prstGeom prst="roundRect">
            <a:avLst>
              <a:gd name="adj" fmla="val 8108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59" name="ovl_s26_nt_brand"/>
          <p:cNvSpPr txBox="1"/>
          <p:nvPr/>
        </p:nvSpPr>
        <p:spPr>
          <a:xfrm>
            <a:off x="2657856" y="2037588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</a:t>
            </a:r>
            <a:endParaRPr lang="en-US" sz="1000" dirty="0"/>
          </a:p>
        </p:txBody>
      </p:sp>
      <p:sp>
        <p:nvSpPr>
          <p:cNvPr id="60" name="ovl_s26_ns_brand"/>
          <p:cNvSpPr txBox="1"/>
          <p:nvPr/>
        </p:nvSpPr>
        <p:spPr>
          <a:xfrm>
            <a:off x="2667000" y="2243328"/>
            <a:ext cx="1325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想起 10.4%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(販促が必要)</a:t>
            </a:r>
            <a:endParaRPr lang="en-US" sz="850" dirty="0"/>
          </a:p>
        </p:txBody>
      </p:sp>
      <p:sp>
        <p:nvSpPr>
          <p:cNvPr id="61" name="ovl_s26_n_data"/>
          <p:cNvSpPr/>
          <p:nvPr/>
        </p:nvSpPr>
        <p:spPr>
          <a:xfrm>
            <a:off x="2621280" y="2939796"/>
            <a:ext cx="1417320" cy="676656"/>
          </a:xfrm>
          <a:prstGeom prst="roundRect">
            <a:avLst>
              <a:gd name="adj" fmla="val 8108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62" name="ovl_s26_nt_data"/>
          <p:cNvSpPr txBox="1"/>
          <p:nvPr/>
        </p:nvSpPr>
        <p:spPr>
          <a:xfrm>
            <a:off x="2657856" y="2967228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信用データ</a:t>
            </a:r>
            <a:endParaRPr lang="en-US" sz="1000" dirty="0"/>
          </a:p>
        </p:txBody>
      </p:sp>
      <p:sp>
        <p:nvSpPr>
          <p:cNvPr id="63" name="ovl_s26_ns_data"/>
          <p:cNvSpPr txBox="1"/>
          <p:nvPr/>
        </p:nvSpPr>
        <p:spPr>
          <a:xfrm>
            <a:off x="2667000" y="3172968"/>
            <a:ext cx="1325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組成の実績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(個人ローンの損失履歴)</a:t>
            </a:r>
            <a:endParaRPr lang="en-US" sz="850" dirty="0"/>
          </a:p>
        </p:txBody>
      </p:sp>
      <p:sp>
        <p:nvSpPr>
          <p:cNvPr id="64" name="ovl_s26_n_lpbn"/>
          <p:cNvSpPr/>
          <p:nvPr/>
        </p:nvSpPr>
        <p:spPr>
          <a:xfrm>
            <a:off x="2621280" y="3869436"/>
            <a:ext cx="141732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5" name="ovl_s26_nt_lpbn"/>
          <p:cNvSpPr txBox="1"/>
          <p:nvPr/>
        </p:nvSpPr>
        <p:spPr>
          <a:xfrm>
            <a:off x="2657856" y="3896868"/>
            <a:ext cx="13441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の買い手の網</a:t>
            </a:r>
            <a:endParaRPr lang="en-US" sz="1000" dirty="0"/>
          </a:p>
        </p:txBody>
      </p:sp>
      <p:sp>
        <p:nvSpPr>
          <p:cNvPr id="66" name="ovl_s26_ns_lpbn"/>
          <p:cNvSpPr txBox="1"/>
          <p:nvPr/>
        </p:nvSpPr>
        <p:spPr>
          <a:xfrm>
            <a:off x="2667000" y="4102608"/>
            <a:ext cx="132588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100 億ドル超の契約</a:t>
            </a:r>
            <a:endParaRPr lang="en-US" sz="850" dirty="0"/>
          </a:p>
        </p:txBody>
      </p:sp>
      <p:sp>
        <p:nvSpPr>
          <p:cNvPr id="67" name="ovl_s26_n_tech"/>
          <p:cNvSpPr/>
          <p:nvPr/>
        </p:nvSpPr>
        <p:spPr>
          <a:xfrm>
            <a:off x="4876800" y="2010156"/>
            <a:ext cx="12344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8" name="ovl_s26_nt_tech"/>
          <p:cNvSpPr txBox="1"/>
          <p:nvPr/>
        </p:nvSpPr>
        <p:spPr>
          <a:xfrm>
            <a:off x="4913376" y="2037588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</a:t>
            </a:r>
            <a:endParaRPr lang="en-US" sz="1000" dirty="0"/>
          </a:p>
        </p:txBody>
      </p:sp>
      <p:sp>
        <p:nvSpPr>
          <p:cNvPr id="69" name="ovl_s26_ns_tech"/>
          <p:cNvSpPr txBox="1"/>
          <p:nvPr/>
        </p:nvSpPr>
        <p:spPr>
          <a:xfrm>
            <a:off x="4922520" y="2243328"/>
            <a:ext cx="11430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Galileo・Technisys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(買収 約 23 億ドル)</a:t>
            </a:r>
            <a:endParaRPr lang="en-US" sz="850" dirty="0"/>
          </a:p>
        </p:txBody>
      </p:sp>
      <p:sp>
        <p:nvSpPr>
          <p:cNvPr id="70" name="ovl_s26_n_app"/>
          <p:cNvSpPr/>
          <p:nvPr/>
        </p:nvSpPr>
        <p:spPr>
          <a:xfrm>
            <a:off x="4876800" y="2939796"/>
            <a:ext cx="12344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1" name="ovl_s26_nt_app"/>
          <p:cNvSpPr txBox="1"/>
          <p:nvPr/>
        </p:nvSpPr>
        <p:spPr>
          <a:xfrm>
            <a:off x="4913376" y="2967228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アプリ・製品</a:t>
            </a:r>
            <a:endParaRPr lang="en-US" sz="1000" dirty="0"/>
          </a:p>
        </p:txBody>
      </p:sp>
      <p:sp>
        <p:nvSpPr>
          <p:cNvPr id="72" name="ovl_s26_ns_app"/>
          <p:cNvSpPr txBox="1"/>
          <p:nvPr/>
        </p:nvSpPr>
        <p:spPr>
          <a:xfrm>
            <a:off x="4922520" y="3172968"/>
            <a:ext cx="11430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機能は真似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されやすい</a:t>
            </a:r>
            <a:endParaRPr lang="en-US" sz="850" dirty="0"/>
          </a:p>
        </p:txBody>
      </p:sp>
      <p:sp>
        <p:nvSpPr>
          <p:cNvPr id="73" name="ovl_s26_n_gal"/>
          <p:cNvSpPr/>
          <p:nvPr/>
        </p:nvSpPr>
        <p:spPr>
          <a:xfrm>
            <a:off x="4876800" y="3869436"/>
            <a:ext cx="12344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4" name="ovl_s26_nt_gal"/>
          <p:cNvSpPr txBox="1"/>
          <p:nvPr/>
        </p:nvSpPr>
        <p:spPr>
          <a:xfrm>
            <a:off x="4913376" y="3896868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 の外販</a:t>
            </a:r>
            <a:endParaRPr lang="en-US" sz="1000" dirty="0"/>
          </a:p>
        </p:txBody>
      </p:sp>
      <p:sp>
        <p:nvSpPr>
          <p:cNvPr id="75" name="ovl_s26_ns_gal"/>
          <p:cNvSpPr txBox="1"/>
          <p:nvPr/>
        </p:nvSpPr>
        <p:spPr>
          <a:xfrm>
            <a:off x="4922520" y="4102608"/>
            <a:ext cx="11430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 −23%</a:t>
            </a:r>
            <a:endParaRPr lang="en-US" sz="850" dirty="0"/>
          </a:p>
        </p:txBody>
      </p:sp>
      <p:sp>
        <p:nvSpPr>
          <p:cNvPr id="76" name="ovl_s26_n_chime"/>
          <p:cNvSpPr/>
          <p:nvPr/>
        </p:nvSpPr>
        <p:spPr>
          <a:xfrm>
            <a:off x="6949440" y="201015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7" name="ovl_s26_nt_chime"/>
          <p:cNvSpPr txBox="1"/>
          <p:nvPr/>
        </p:nvSpPr>
        <p:spPr>
          <a:xfrm>
            <a:off x="6986016" y="203758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</a:t>
            </a:r>
            <a:endParaRPr lang="en-US" sz="1000" dirty="0"/>
          </a:p>
        </p:txBody>
      </p:sp>
      <p:sp>
        <p:nvSpPr>
          <p:cNvPr id="78" name="ovl_s26_ns_chime"/>
          <p:cNvSpPr txBox="1"/>
          <p:nvPr/>
        </p:nvSpPr>
        <p:spPr>
          <a:xfrm>
            <a:off x="6995160" y="224332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自社基盤 ChimeCore へ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解約料 1,800 万ドル</a:t>
            </a:r>
            <a:endParaRPr lang="en-US" sz="850" dirty="0"/>
          </a:p>
        </p:txBody>
      </p:sp>
      <p:sp>
        <p:nvSpPr>
          <p:cNvPr id="79" name="ovl_s26_n_rh"/>
          <p:cNvSpPr/>
          <p:nvPr/>
        </p:nvSpPr>
        <p:spPr>
          <a:xfrm>
            <a:off x="6949440" y="293979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0" name="ovl_s26_nt_rh"/>
          <p:cNvSpPr txBox="1"/>
          <p:nvPr/>
        </p:nvSpPr>
        <p:spPr>
          <a:xfrm>
            <a:off x="6986016" y="296722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Robinhood</a:t>
            </a:r>
            <a:endParaRPr lang="en-US" sz="1000" dirty="0"/>
          </a:p>
        </p:txBody>
      </p:sp>
      <p:sp>
        <p:nvSpPr>
          <p:cNvPr id="81" name="ovl_s26_ns_rh"/>
          <p:cNvSpPr txBox="1"/>
          <p:nvPr/>
        </p:nvSpPr>
        <p:spPr>
          <a:xfrm>
            <a:off x="6995160" y="317296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銀行業務 入金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 億ドル超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Gold 480 万人</a:t>
            </a:r>
            <a:endParaRPr lang="en-US" sz="850" dirty="0"/>
          </a:p>
        </p:txBody>
      </p:sp>
      <p:sp>
        <p:nvSpPr>
          <p:cNvPr id="82" name="ovl_s26_n_lc"/>
          <p:cNvSpPr/>
          <p:nvPr/>
        </p:nvSpPr>
        <p:spPr>
          <a:xfrm>
            <a:off x="6949440" y="3869436"/>
            <a:ext cx="13258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83" name="ovl_s26_nt_lc"/>
          <p:cNvSpPr txBox="1"/>
          <p:nvPr/>
        </p:nvSpPr>
        <p:spPr>
          <a:xfrm>
            <a:off x="6986016" y="3896868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LendingClub</a:t>
            </a:r>
            <a:endParaRPr lang="en-US" sz="1000" dirty="0"/>
          </a:p>
        </p:txBody>
      </p:sp>
      <p:sp>
        <p:nvSpPr>
          <p:cNvPr id="84" name="ovl_s26_ns_lc"/>
          <p:cNvSpPr txBox="1"/>
          <p:nvPr/>
        </p:nvSpPr>
        <p:spPr>
          <a:xfrm>
            <a:off x="6995160" y="4102608"/>
            <a:ext cx="1234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 102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借り手が新規口座の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15% 超</a:t>
            </a:r>
            <a:endParaRPr lang="en-US" sz="850" dirty="0"/>
          </a:p>
        </p:txBody>
      </p:sp>
      <p:sp>
        <p:nvSpPr>
          <p:cNvPr id="85" name="ovl_s26_lab0"/>
          <p:cNvSpPr txBox="1"/>
          <p:nvPr/>
        </p:nvSpPr>
        <p:spPr>
          <a:xfrm>
            <a:off x="5622874" y="2708910"/>
            <a:ext cx="96080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内製化で離脱</a:t>
            </a:r>
            <a:endParaRPr lang="en-US" sz="850" dirty="0"/>
          </a:p>
        </p:txBody>
      </p:sp>
      <p:sp>
        <p:nvSpPr>
          <p:cNvPr id="86" name="ovl_s26_num2"/>
          <p:cNvSpPr/>
          <p:nvPr/>
        </p:nvSpPr>
        <p:spPr>
          <a:xfrm>
            <a:off x="6137148" y="3159252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ovl_s26_numt2"/>
          <p:cNvSpPr txBox="1"/>
          <p:nvPr/>
        </p:nvSpPr>
        <p:spPr>
          <a:xfrm>
            <a:off x="6137148" y="31592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  <p:sp>
        <p:nvSpPr>
          <p:cNvPr id="88" name="ovl_s26_num3"/>
          <p:cNvSpPr/>
          <p:nvPr/>
        </p:nvSpPr>
        <p:spPr>
          <a:xfrm>
            <a:off x="4247388" y="4462272"/>
            <a:ext cx="237744" cy="2377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ovl_s26_numt3"/>
          <p:cNvSpPr txBox="1"/>
          <p:nvPr/>
        </p:nvSpPr>
        <p:spPr>
          <a:xfrm>
            <a:off x="4247388" y="44622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  <p:sp>
        <p:nvSpPr>
          <p:cNvPr id="90" name="ovl_s26_num4"/>
          <p:cNvSpPr/>
          <p:nvPr/>
        </p:nvSpPr>
        <p:spPr>
          <a:xfrm>
            <a:off x="1847088" y="222961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ovl_s26_numt4"/>
          <p:cNvSpPr txBox="1"/>
          <p:nvPr/>
        </p:nvSpPr>
        <p:spPr>
          <a:xfrm>
            <a:off x="1847088" y="22296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  <p:sp>
        <p:nvSpPr>
          <p:cNvPr id="92" name="ovl_s26_num5"/>
          <p:cNvSpPr/>
          <p:nvPr/>
        </p:nvSpPr>
        <p:spPr>
          <a:xfrm>
            <a:off x="2258568" y="2694432"/>
            <a:ext cx="237744" cy="237744"/>
          </a:xfrm>
          <a:prstGeom prst="ellipse">
            <a:avLst/>
          </a:prstGeom>
          <a:solidFill>
            <a:srgbClr val="7676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ovl_s26_numt5"/>
          <p:cNvSpPr txBox="1"/>
          <p:nvPr/>
        </p:nvSpPr>
        <p:spPr>
          <a:xfrm>
            <a:off x="2258568" y="26944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  <p:sp>
        <p:nvSpPr>
          <p:cNvPr id="94" name="ovl_s26_leg0"/>
          <p:cNvSpPr/>
          <p:nvPr/>
        </p:nvSpPr>
        <p:spPr>
          <a:xfrm>
            <a:off x="457200" y="4828032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95" name="ovl_s26_legt0"/>
          <p:cNvSpPr txBox="1"/>
          <p:nvPr/>
        </p:nvSpPr>
        <p:spPr>
          <a:xfrm>
            <a:off x="877824" y="4727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96" name="ovl_s26_leg1"/>
          <p:cNvSpPr/>
          <p:nvPr/>
        </p:nvSpPr>
        <p:spPr>
          <a:xfrm>
            <a:off x="1874520" y="4828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97" name="ovl_s26_legt1"/>
          <p:cNvSpPr txBox="1"/>
          <p:nvPr/>
        </p:nvSpPr>
        <p:spPr>
          <a:xfrm>
            <a:off x="2295144" y="4727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98" name="ovl_s26_legn"/>
          <p:cNvSpPr txBox="1"/>
          <p:nvPr/>
        </p:nvSpPr>
        <p:spPr>
          <a:xfrm>
            <a:off x="6126480" y="4727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99" name="ovl_s26_tbhead"/>
          <p:cNvSpPr txBox="1"/>
          <p:nvPr/>
        </p:nvSpPr>
        <p:spPr>
          <a:xfrm>
            <a:off x="457200" y="502920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資産ごとの持ちの長さ</a:t>
            </a:r>
            <a:endParaRPr lang="en-US" sz="850" dirty="0"/>
          </a:p>
        </p:txBody>
      </p:sp>
      <p:sp>
        <p:nvSpPr>
          <p:cNvPr id="100" name="ovl_s26tb_tk2026"/>
          <p:cNvSpPr txBox="1"/>
          <p:nvPr/>
        </p:nvSpPr>
        <p:spPr>
          <a:xfrm>
            <a:off x="160020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</a:t>
            </a:r>
            <a:endParaRPr lang="en-US" sz="800" dirty="0"/>
          </a:p>
        </p:txBody>
      </p:sp>
      <p:sp>
        <p:nvSpPr>
          <p:cNvPr id="101" name="ovl_s26tb_gl2026"/>
          <p:cNvSpPr/>
          <p:nvPr/>
        </p:nvSpPr>
        <p:spPr>
          <a:xfrm>
            <a:off x="187452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02" name="ovl_s26tb_tk2028"/>
          <p:cNvSpPr txBox="1"/>
          <p:nvPr/>
        </p:nvSpPr>
        <p:spPr>
          <a:xfrm>
            <a:off x="288036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2028</a:t>
            </a:r>
            <a:endParaRPr lang="en-US" sz="800" dirty="0"/>
          </a:p>
        </p:txBody>
      </p:sp>
      <p:sp>
        <p:nvSpPr>
          <p:cNvPr id="103" name="ovl_s26tb_gl2028"/>
          <p:cNvSpPr/>
          <p:nvPr/>
        </p:nvSpPr>
        <p:spPr>
          <a:xfrm>
            <a:off x="315468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04" name="ovl_s26tb_tk2030"/>
          <p:cNvSpPr txBox="1"/>
          <p:nvPr/>
        </p:nvSpPr>
        <p:spPr>
          <a:xfrm>
            <a:off x="416052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2030</a:t>
            </a:r>
            <a:endParaRPr lang="en-US" sz="800" dirty="0"/>
          </a:p>
        </p:txBody>
      </p:sp>
      <p:sp>
        <p:nvSpPr>
          <p:cNvPr id="105" name="ovl_s26tb_gl2030"/>
          <p:cNvSpPr/>
          <p:nvPr/>
        </p:nvSpPr>
        <p:spPr>
          <a:xfrm>
            <a:off x="443484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06" name="ovl_s26tb_tk2032"/>
          <p:cNvSpPr txBox="1"/>
          <p:nvPr/>
        </p:nvSpPr>
        <p:spPr>
          <a:xfrm>
            <a:off x="544068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2032</a:t>
            </a:r>
            <a:endParaRPr lang="en-US" sz="800" dirty="0"/>
          </a:p>
        </p:txBody>
      </p:sp>
      <p:sp>
        <p:nvSpPr>
          <p:cNvPr id="107" name="ovl_s26tb_gl2032"/>
          <p:cNvSpPr/>
          <p:nvPr/>
        </p:nvSpPr>
        <p:spPr>
          <a:xfrm>
            <a:off x="571500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08" name="ovl_s26tb_tk2034"/>
          <p:cNvSpPr txBox="1"/>
          <p:nvPr/>
        </p:nvSpPr>
        <p:spPr>
          <a:xfrm>
            <a:off x="672084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2034</a:t>
            </a:r>
            <a:endParaRPr lang="en-US" sz="800" dirty="0"/>
          </a:p>
        </p:txBody>
      </p:sp>
      <p:sp>
        <p:nvSpPr>
          <p:cNvPr id="109" name="ovl_s26tb_gl2034"/>
          <p:cNvSpPr/>
          <p:nvPr/>
        </p:nvSpPr>
        <p:spPr>
          <a:xfrm>
            <a:off x="699516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0" name="ovl_s26tb_tk2036"/>
          <p:cNvSpPr txBox="1"/>
          <p:nvPr/>
        </p:nvSpPr>
        <p:spPr>
          <a:xfrm>
            <a:off x="8001000" y="5029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2036</a:t>
            </a:r>
            <a:endParaRPr lang="en-US" sz="800" dirty="0"/>
          </a:p>
        </p:txBody>
      </p:sp>
      <p:sp>
        <p:nvSpPr>
          <p:cNvPr id="111" name="ovl_s26tb_gl2036"/>
          <p:cNvSpPr/>
          <p:nvPr/>
        </p:nvSpPr>
        <p:spPr>
          <a:xfrm>
            <a:off x="8275320" y="5212080"/>
            <a:ext cx="914" cy="822960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112" name="ovl_s26tb_l0"/>
          <p:cNvSpPr txBox="1"/>
          <p:nvPr/>
        </p:nvSpPr>
        <p:spPr>
          <a:xfrm>
            <a:off x="457200" y="5248656"/>
            <a:ext cx="13441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</a:t>
            </a:r>
            <a:endParaRPr lang="en-US" sz="850" dirty="0"/>
          </a:p>
        </p:txBody>
      </p:sp>
      <p:sp>
        <p:nvSpPr>
          <p:cNvPr id="113" name="ovl_s26tb_b0"/>
          <p:cNvSpPr/>
          <p:nvPr/>
        </p:nvSpPr>
        <p:spPr>
          <a:xfrm>
            <a:off x="1874520" y="5276179"/>
            <a:ext cx="6400800" cy="141549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14" name="ovl_s26tb_t0"/>
          <p:cNvSpPr txBox="1"/>
          <p:nvPr/>
        </p:nvSpPr>
        <p:spPr>
          <a:xfrm>
            <a:off x="1874520" y="5276179"/>
            <a:ext cx="6400800" cy="14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 年超</a:t>
            </a:r>
            <a:endParaRPr lang="en-US" sz="800" dirty="0"/>
          </a:p>
        </p:txBody>
      </p:sp>
      <p:sp>
        <p:nvSpPr>
          <p:cNvPr id="115" name="ovl_s26tb_l1"/>
          <p:cNvSpPr txBox="1"/>
          <p:nvPr/>
        </p:nvSpPr>
        <p:spPr>
          <a:xfrm>
            <a:off x="457200" y="5445252"/>
            <a:ext cx="13441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会員と預金</a:t>
            </a:r>
            <a:endParaRPr lang="en-US" sz="850" dirty="0"/>
          </a:p>
        </p:txBody>
      </p:sp>
      <p:sp>
        <p:nvSpPr>
          <p:cNvPr id="116" name="ovl_s26tb_b1"/>
          <p:cNvSpPr/>
          <p:nvPr/>
        </p:nvSpPr>
        <p:spPr>
          <a:xfrm>
            <a:off x="1874520" y="5472775"/>
            <a:ext cx="5120640" cy="141549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117" name="ovl_s26tb_t1"/>
          <p:cNvSpPr txBox="1"/>
          <p:nvPr/>
        </p:nvSpPr>
        <p:spPr>
          <a:xfrm>
            <a:off x="1874520" y="5472775"/>
            <a:ext cx="5120640" cy="14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7〜10 年</a:t>
            </a:r>
            <a:endParaRPr lang="en-US" sz="800" dirty="0"/>
          </a:p>
        </p:txBody>
      </p:sp>
      <p:sp>
        <p:nvSpPr>
          <p:cNvPr id="118" name="ovl_s26tb_l2"/>
          <p:cNvSpPr txBox="1"/>
          <p:nvPr/>
        </p:nvSpPr>
        <p:spPr>
          <a:xfrm>
            <a:off x="457200" y="5641848"/>
            <a:ext cx="13441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ブランド</a:t>
            </a:r>
            <a:endParaRPr lang="en-US" sz="850" dirty="0"/>
          </a:p>
        </p:txBody>
      </p:sp>
      <p:sp>
        <p:nvSpPr>
          <p:cNvPr id="119" name="ovl_s26tb_b2"/>
          <p:cNvSpPr/>
          <p:nvPr/>
        </p:nvSpPr>
        <p:spPr>
          <a:xfrm>
            <a:off x="1874520" y="5669371"/>
            <a:ext cx="2560320" cy="141549"/>
          </a:xfrm>
          <a:prstGeom prst="rect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120" name="ovl_s26tb_t2"/>
          <p:cNvSpPr txBox="1"/>
          <p:nvPr/>
        </p:nvSpPr>
        <p:spPr>
          <a:xfrm>
            <a:off x="1874520" y="5669371"/>
            <a:ext cx="2560320" cy="14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販促が続く限り</a:t>
            </a:r>
            <a:endParaRPr lang="en-US" sz="800" dirty="0"/>
          </a:p>
        </p:txBody>
      </p:sp>
      <p:sp>
        <p:nvSpPr>
          <p:cNvPr id="121" name="ovl_s26tb_l3"/>
          <p:cNvSpPr txBox="1"/>
          <p:nvPr/>
        </p:nvSpPr>
        <p:spPr>
          <a:xfrm>
            <a:off x="457200" y="5838444"/>
            <a:ext cx="13441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</a:t>
            </a:r>
            <a:endParaRPr lang="en-US" sz="850" dirty="0"/>
          </a:p>
        </p:txBody>
      </p:sp>
      <p:sp>
        <p:nvSpPr>
          <p:cNvPr id="122" name="ovl_s26tb_b3"/>
          <p:cNvSpPr/>
          <p:nvPr/>
        </p:nvSpPr>
        <p:spPr>
          <a:xfrm>
            <a:off x="1874520" y="5865967"/>
            <a:ext cx="2560320" cy="141549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123" name="ovl_s26tb_t3"/>
          <p:cNvSpPr txBox="1"/>
          <p:nvPr/>
        </p:nvSpPr>
        <p:spPr>
          <a:xfrm>
            <a:off x="1874520" y="5865967"/>
            <a:ext cx="2560320" cy="141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3〜5 年で更新が要る</a:t>
            </a:r>
            <a:endParaRPr lang="en-US" sz="800" dirty="0"/>
          </a:p>
        </p:txBody>
      </p:sp>
      <p:sp>
        <p:nvSpPr>
          <p:cNvPr id="124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25" name="mech"/>
          <p:cNvSpPr txBox="1"/>
          <p:nvPr/>
        </p:nvSpPr>
        <p:spPr>
          <a:xfrm>
            <a:off x="8458200" y="1810512"/>
            <a:ext cx="3276295" cy="2790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Chime は自社基盤へ移り、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解約料 1,800 万ドルを払って Galileo を離れた。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技術基盤の外販は内製化で陳腐化しうる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Robinhood は銀行業務(入金 30 億ドル超、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給与振込の設定 約 4 割)を始め、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アプリの機能は真似されやすい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LendingClub は貸し手と預金を組み合わせた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同じ型(預金 102 億ドル)。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型そのものは独占ではない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銀行免許は買収と審査に約 1 年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(2021-03 契約 → 2022-02 完了)。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給与振込の預金 455 億ドルは短期に再現できない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</a:t>
            </a: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1,580 万人とブランドは、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販促を続ける限り積み上がる</a:t>
            </a:r>
            <a:endParaRPr lang="en-US" sz="1050" dirty="0"/>
          </a:p>
        </p:txBody>
      </p:sp>
      <p:sp>
        <p:nvSpPr>
          <p:cNvPr id="126" name="ovl_takeaway_bg"/>
          <p:cNvSpPr/>
          <p:nvPr/>
        </p:nvSpPr>
        <p:spPr>
          <a:xfrm>
            <a:off x="8458200" y="4674616"/>
            <a:ext cx="3276295" cy="750824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27" name="takeaway"/>
          <p:cNvSpPr txBox="1"/>
          <p:nvPr/>
        </p:nvSpPr>
        <p:spPr>
          <a:xfrm>
            <a:off x="8567928" y="4747768"/>
            <a:ext cx="3056839" cy="60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免許・会員・預金は再現に数年かかる(11 B)。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技術基盤の外販は内製化で陳腐化しうる(10 B)</a:t>
            </a:r>
            <a:endParaRPr lang="en-US" sz="1000" dirty="0"/>
          </a:p>
        </p:txBody>
      </p:sp>
      <p:sp>
        <p:nvSpPr>
          <p:cNvPr id="128" name="updown"/>
          <p:cNvSpPr txBox="1"/>
          <p:nvPr/>
        </p:nvSpPr>
        <p:spPr>
          <a:xfrm>
            <a:off x="8458200" y="5498592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 の外販が増収に戻り、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会員当たりの製品が 1.7 を超えれば 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他のフィンテックの銀行免許取得が続き、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資金の差が 1.2pt を割れば C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4-4 商品と資産(条件8・10〜12)(3/3)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9316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931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収益の性格(条件12)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535174" y="356616"/>
            <a:ext cx="91993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残高に課金するストック型なら売上の見通しが立ち、評価倍率を高くできる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収益の約 76% は残高に課金する利ざやと継続手数料のストック型。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ただし個人ローンは 2〜3 年で返済され、組成を続ける必要がある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左から: 収益の源 → SoFi の収益の種類 → ストックとフロー → 続く条件。①〜④ は右と対応。金額は Q2 2026(百万ドル)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決算、損益計算書)、deck/assets/data/f19_sankey_nodes.csv、research_r2/R5_credit_fv.md(期前返済率)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35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条件12</a:t>
            </a:r>
            <a:endParaRPr lang="en-US" sz="800" dirty="0"/>
          </a:p>
        </p:txBody>
      </p:sp>
      <p:sp>
        <p:nvSpPr>
          <p:cNvPr id="24" name="bg_lane0"/>
          <p:cNvSpPr/>
          <p:nvPr/>
        </p:nvSpPr>
        <p:spPr>
          <a:xfrm>
            <a:off x="347472" y="1517904"/>
            <a:ext cx="145389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5" name="bg_laneh0"/>
          <p:cNvSpPr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bg_lanet0"/>
          <p:cNvSpPr txBox="1"/>
          <p:nvPr/>
        </p:nvSpPr>
        <p:spPr>
          <a:xfrm>
            <a:off x="347472" y="1517904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収益の源</a:t>
            </a:r>
            <a:endParaRPr lang="en-US" sz="950" dirty="0"/>
          </a:p>
        </p:txBody>
      </p:sp>
      <p:sp>
        <p:nvSpPr>
          <p:cNvPr id="27" name="bg_lane1"/>
          <p:cNvSpPr/>
          <p:nvPr/>
        </p:nvSpPr>
        <p:spPr>
          <a:xfrm>
            <a:off x="2511552" y="1517904"/>
            <a:ext cx="3755136" cy="4315968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8" name="bg_laneh1"/>
          <p:cNvSpPr/>
          <p:nvPr/>
        </p:nvSpPr>
        <p:spPr>
          <a:xfrm>
            <a:off x="2511552" y="1517904"/>
            <a:ext cx="3755136" cy="274320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bg_lanet1"/>
          <p:cNvSpPr txBox="1"/>
          <p:nvPr/>
        </p:nvSpPr>
        <p:spPr>
          <a:xfrm>
            <a:off x="2511552" y="1517904"/>
            <a:ext cx="3755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の収益</a:t>
            </a:r>
            <a:endParaRPr lang="en-US" sz="950" dirty="0"/>
          </a:p>
        </p:txBody>
      </p:sp>
      <p:sp>
        <p:nvSpPr>
          <p:cNvPr id="30" name="bg_lane2"/>
          <p:cNvSpPr/>
          <p:nvPr/>
        </p:nvSpPr>
        <p:spPr>
          <a:xfrm>
            <a:off x="6976872" y="1517904"/>
            <a:ext cx="1408176" cy="431596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bg_laneh2"/>
          <p:cNvSpPr/>
          <p:nvPr/>
        </p:nvSpPr>
        <p:spPr>
          <a:xfrm>
            <a:off x="6976872" y="1517904"/>
            <a:ext cx="1408176" cy="27432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bg_lanet2"/>
          <p:cNvSpPr txBox="1"/>
          <p:nvPr/>
        </p:nvSpPr>
        <p:spPr>
          <a:xfrm>
            <a:off x="6976872" y="1517904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続く条件</a:t>
            </a:r>
            <a:endParaRPr lang="en-US" sz="950" dirty="0"/>
          </a:p>
        </p:txBody>
      </p:sp>
      <p:sp>
        <p:nvSpPr>
          <p:cNvPr id="33" name="ovl_grp0"/>
          <p:cNvSpPr/>
          <p:nvPr/>
        </p:nvSpPr>
        <p:spPr>
          <a:xfrm>
            <a:off x="2557272" y="1911096"/>
            <a:ext cx="1453896" cy="3877056"/>
          </a:xfrm>
          <a:prstGeom prst="roundRect">
            <a:avLst>
              <a:gd name="adj" fmla="val 3774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4" name="ovl_grp1"/>
          <p:cNvSpPr/>
          <p:nvPr/>
        </p:nvSpPr>
        <p:spPr>
          <a:xfrm>
            <a:off x="4812792" y="1911096"/>
            <a:ext cx="1408176" cy="3877056"/>
          </a:xfrm>
          <a:prstGeom prst="roundRect">
            <a:avLst>
              <a:gd name="adj" fmla="val 3896"/>
            </a:avLst>
          </a:prstGeom>
          <a:solidFill>
            <a:srgbClr val="FFFFFF">
              <a:alpha val="0"/>
            </a:srgbClr>
          </a:solidFill>
          <a:ln w="12700">
            <a:solidFill>
              <a:srgbClr val="197A56"/>
            </a:solidFill>
            <a:prstDash val="dash"/>
          </a:ln>
        </p:spPr>
      </p:sp>
      <p:sp>
        <p:nvSpPr>
          <p:cNvPr id="35" name="ovl_s28_e0_0"/>
          <p:cNvSpPr/>
          <p:nvPr/>
        </p:nvSpPr>
        <p:spPr>
          <a:xfrm>
            <a:off x="1691640" y="2375154"/>
            <a:ext cx="9296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6" name="ovl_s28_e1_0"/>
          <p:cNvSpPr/>
          <p:nvPr/>
        </p:nvSpPr>
        <p:spPr>
          <a:xfrm>
            <a:off x="1691640" y="3358134"/>
            <a:ext cx="9296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7" name="ovl_s28_e2_0"/>
          <p:cNvSpPr/>
          <p:nvPr/>
        </p:nvSpPr>
        <p:spPr>
          <a:xfrm>
            <a:off x="1691640" y="4341114"/>
            <a:ext cx="92964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38" name="ovl_s28_e3_0"/>
          <p:cNvSpPr/>
          <p:nvPr/>
        </p:nvSpPr>
        <p:spPr>
          <a:xfrm>
            <a:off x="1691640" y="5324094"/>
            <a:ext cx="92964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39" name="ovl_s28_e4_0"/>
          <p:cNvSpPr/>
          <p:nvPr/>
        </p:nvSpPr>
        <p:spPr>
          <a:xfrm>
            <a:off x="3947160" y="2375154"/>
            <a:ext cx="9296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0" name="ovl_s28_e5_0"/>
          <p:cNvSpPr/>
          <p:nvPr/>
        </p:nvSpPr>
        <p:spPr>
          <a:xfrm>
            <a:off x="3947160" y="3358134"/>
            <a:ext cx="9296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1" name="ovl_s28_e6_0"/>
          <p:cNvSpPr/>
          <p:nvPr/>
        </p:nvSpPr>
        <p:spPr>
          <a:xfrm>
            <a:off x="3947160" y="5141214"/>
            <a:ext cx="25908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2" name="ovl_s28_e6_1"/>
          <p:cNvSpPr/>
          <p:nvPr/>
        </p:nvSpPr>
        <p:spPr>
          <a:xfrm flipV="1">
            <a:off x="4206240" y="3467862"/>
            <a:ext cx="914" cy="1673352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</a:ln>
        </p:spPr>
      </p:sp>
      <p:sp>
        <p:nvSpPr>
          <p:cNvPr id="43" name="ovl_s28_e6_2"/>
          <p:cNvSpPr/>
          <p:nvPr/>
        </p:nvSpPr>
        <p:spPr>
          <a:xfrm>
            <a:off x="4206240" y="3467862"/>
            <a:ext cx="6705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4" name="ovl_s28_e7_0"/>
          <p:cNvSpPr/>
          <p:nvPr/>
        </p:nvSpPr>
        <p:spPr>
          <a:xfrm flipH="1">
            <a:off x="6156960" y="3358134"/>
            <a:ext cx="9296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5" name="ovl_s28_e8_0"/>
          <p:cNvSpPr/>
          <p:nvPr/>
        </p:nvSpPr>
        <p:spPr>
          <a:xfrm flipH="1">
            <a:off x="6156960" y="4341114"/>
            <a:ext cx="9296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6" name="ovl_s28_e9_0"/>
          <p:cNvSpPr/>
          <p:nvPr/>
        </p:nvSpPr>
        <p:spPr>
          <a:xfrm>
            <a:off x="3947160" y="4341114"/>
            <a:ext cx="92964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47" name="ovl_s28_e10_0"/>
          <p:cNvSpPr/>
          <p:nvPr/>
        </p:nvSpPr>
        <p:spPr>
          <a:xfrm flipH="1">
            <a:off x="4617720" y="5506974"/>
            <a:ext cx="25908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8" name="ovl_s28_e10_1"/>
          <p:cNvSpPr/>
          <p:nvPr/>
        </p:nvSpPr>
        <p:spPr>
          <a:xfrm flipV="1">
            <a:off x="4617720" y="2484882"/>
            <a:ext cx="914" cy="3022092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</a:ln>
        </p:spPr>
      </p:sp>
      <p:sp>
        <p:nvSpPr>
          <p:cNvPr id="49" name="ovl_s28_e10_2"/>
          <p:cNvSpPr/>
          <p:nvPr/>
        </p:nvSpPr>
        <p:spPr>
          <a:xfrm flipH="1">
            <a:off x="3947160" y="2484882"/>
            <a:ext cx="6705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50" name="ovl_s28_n_loans"/>
          <p:cNvSpPr/>
          <p:nvPr/>
        </p:nvSpPr>
        <p:spPr>
          <a:xfrm>
            <a:off x="457200" y="200939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1" name="ovl_s28_nt_loans"/>
          <p:cNvSpPr txBox="1"/>
          <p:nvPr/>
        </p:nvSpPr>
        <p:spPr>
          <a:xfrm>
            <a:off x="493776" y="203682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のローン</a:t>
            </a:r>
            <a:endParaRPr lang="en-US" sz="1000" dirty="0"/>
          </a:p>
        </p:txBody>
      </p:sp>
      <p:sp>
        <p:nvSpPr>
          <p:cNvPr id="52" name="ovl_s28_ns_loans"/>
          <p:cNvSpPr txBox="1"/>
          <p:nvPr/>
        </p:nvSpPr>
        <p:spPr>
          <a:xfrm>
            <a:off x="502920" y="224256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 261・学生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161 億ドル</a:t>
            </a:r>
            <a:endParaRPr lang="en-US" sz="850" dirty="0"/>
          </a:p>
        </p:txBody>
      </p:sp>
      <p:sp>
        <p:nvSpPr>
          <p:cNvPr id="53" name="ovl_s28_n_acct"/>
          <p:cNvSpPr/>
          <p:nvPr/>
        </p:nvSpPr>
        <p:spPr>
          <a:xfrm>
            <a:off x="457200" y="299237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4" name="ovl_s28_nt_acct"/>
          <p:cNvSpPr txBox="1"/>
          <p:nvPr/>
        </p:nvSpPr>
        <p:spPr>
          <a:xfrm>
            <a:off x="493776" y="301980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会員の口座</a:t>
            </a:r>
            <a:endParaRPr lang="en-US" sz="1000" dirty="0"/>
          </a:p>
        </p:txBody>
      </p:sp>
      <p:sp>
        <p:nvSpPr>
          <p:cNvPr id="55" name="ovl_s28_ns_acct"/>
          <p:cNvSpPr txBox="1"/>
          <p:nvPr/>
        </p:nvSpPr>
        <p:spPr>
          <a:xfrm>
            <a:off x="502920" y="322554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 455 億ドル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Invest 390 万口座</a:t>
            </a:r>
            <a:endParaRPr lang="en-US" sz="850" dirty="0"/>
          </a:p>
        </p:txBody>
      </p:sp>
      <p:sp>
        <p:nvSpPr>
          <p:cNvPr id="56" name="ovl_s28_n_orig"/>
          <p:cNvSpPr/>
          <p:nvPr/>
        </p:nvSpPr>
        <p:spPr>
          <a:xfrm>
            <a:off x="457200" y="397535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57" name="ovl_s28_nt_orig"/>
          <p:cNvSpPr txBox="1"/>
          <p:nvPr/>
        </p:nvSpPr>
        <p:spPr>
          <a:xfrm>
            <a:off x="493776" y="400278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新しい組成</a:t>
            </a:r>
            <a:endParaRPr lang="en-US" sz="1000" dirty="0"/>
          </a:p>
        </p:txBody>
      </p:sp>
      <p:sp>
        <p:nvSpPr>
          <p:cNvPr id="58" name="ovl_s28_ns_orig"/>
          <p:cNvSpPr txBox="1"/>
          <p:nvPr/>
        </p:nvSpPr>
        <p:spPr>
          <a:xfrm>
            <a:off x="502920" y="420852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107 億ドル/四半期</a:t>
            </a:r>
            <a:endParaRPr lang="en-US" sz="850" dirty="0"/>
          </a:p>
        </p:txBody>
      </p:sp>
      <p:sp>
        <p:nvSpPr>
          <p:cNvPr id="59" name="ovl_s28_n_b2b"/>
          <p:cNvSpPr/>
          <p:nvPr/>
        </p:nvSpPr>
        <p:spPr>
          <a:xfrm>
            <a:off x="457200" y="4958334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</p:sp>
      <p:sp>
        <p:nvSpPr>
          <p:cNvPr id="60" name="ovl_s28_nt_b2b"/>
          <p:cNvSpPr txBox="1"/>
          <p:nvPr/>
        </p:nvSpPr>
        <p:spPr>
          <a:xfrm>
            <a:off x="493776" y="4985766"/>
            <a:ext cx="116128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Galileo の顧客</a:t>
            </a:r>
            <a:endParaRPr lang="en-US" sz="1000" dirty="0"/>
          </a:p>
        </p:txBody>
      </p:sp>
      <p:sp>
        <p:nvSpPr>
          <p:cNvPr id="61" name="ovl_s28_ns_b2b"/>
          <p:cNvSpPr txBox="1"/>
          <p:nvPr/>
        </p:nvSpPr>
        <p:spPr>
          <a:xfrm>
            <a:off x="502920" y="5191506"/>
            <a:ext cx="114300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口座 1.35 億</a:t>
            </a:r>
            <a:endParaRPr lang="en-US" sz="850" dirty="0"/>
          </a:p>
        </p:txBody>
      </p:sp>
      <p:sp>
        <p:nvSpPr>
          <p:cNvPr id="62" name="ovl_s28_n_nii"/>
          <p:cNvSpPr/>
          <p:nvPr/>
        </p:nvSpPr>
        <p:spPr>
          <a:xfrm>
            <a:off x="2621280" y="2009394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63" name="ovl_s28_nt_nii"/>
          <p:cNvSpPr txBox="1"/>
          <p:nvPr/>
        </p:nvSpPr>
        <p:spPr>
          <a:xfrm>
            <a:off x="2657856" y="203682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純金利収益</a:t>
            </a:r>
            <a:endParaRPr lang="en-US" sz="1000" dirty="0"/>
          </a:p>
        </p:txBody>
      </p:sp>
      <p:sp>
        <p:nvSpPr>
          <p:cNvPr id="64" name="ovl_s28_ns_nii"/>
          <p:cNvSpPr txBox="1"/>
          <p:nvPr/>
        </p:nvSpPr>
        <p:spPr>
          <a:xfrm>
            <a:off x="2667000" y="2242566"/>
            <a:ext cx="123444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788.2(収益の 65%)</a:t>
            </a:r>
            <a:endParaRPr lang="en-US" sz="850" dirty="0"/>
          </a:p>
        </p:txBody>
      </p:sp>
      <p:sp>
        <p:nvSpPr>
          <p:cNvPr id="65" name="ovl_s28_n_fee"/>
          <p:cNvSpPr/>
          <p:nvPr/>
        </p:nvSpPr>
        <p:spPr>
          <a:xfrm>
            <a:off x="2621280" y="2992374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6" name="ovl_s28_nt_fee"/>
          <p:cNvSpPr txBox="1"/>
          <p:nvPr/>
        </p:nvSpPr>
        <p:spPr>
          <a:xfrm>
            <a:off x="2657856" y="301980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継続手数料</a:t>
            </a:r>
            <a:endParaRPr lang="en-US" sz="1000" dirty="0"/>
          </a:p>
        </p:txBody>
      </p:sp>
      <p:sp>
        <p:nvSpPr>
          <p:cNvPr id="67" name="ovl_s28_ns_fee"/>
          <p:cNvSpPr txBox="1"/>
          <p:nvPr/>
        </p:nvSpPr>
        <p:spPr>
          <a:xfrm>
            <a:off x="2667000" y="3225546"/>
            <a:ext cx="123444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86.7(7%)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インターチェンジ・Plus</a:t>
            </a:r>
            <a:endParaRPr lang="en-US" sz="800" dirty="0"/>
          </a:p>
        </p:txBody>
      </p:sp>
      <p:sp>
        <p:nvSpPr>
          <p:cNvPr id="68" name="ovl_s28_n_flow"/>
          <p:cNvSpPr/>
          <p:nvPr/>
        </p:nvSpPr>
        <p:spPr>
          <a:xfrm>
            <a:off x="2621280" y="3975354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69" name="ovl_s28_nt_flow"/>
          <p:cNvSpPr txBox="1"/>
          <p:nvPr/>
        </p:nvSpPr>
        <p:spPr>
          <a:xfrm>
            <a:off x="2657856" y="400278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売却益・LPB</a:t>
            </a:r>
            <a:endParaRPr lang="en-US" sz="1000" dirty="0"/>
          </a:p>
        </p:txBody>
      </p:sp>
      <p:sp>
        <p:nvSpPr>
          <p:cNvPr id="70" name="ovl_s28_ns_flow"/>
          <p:cNvSpPr txBox="1"/>
          <p:nvPr/>
        </p:nvSpPr>
        <p:spPr>
          <a:xfrm>
            <a:off x="2667000" y="4208526"/>
            <a:ext cx="123444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売却益 150.4(12%)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140.9(12%)</a:t>
            </a:r>
            <a:endParaRPr lang="en-US" sz="850" dirty="0"/>
          </a:p>
        </p:txBody>
      </p:sp>
      <p:sp>
        <p:nvSpPr>
          <p:cNvPr id="71" name="ovl_s28_n_tp"/>
          <p:cNvSpPr/>
          <p:nvPr/>
        </p:nvSpPr>
        <p:spPr>
          <a:xfrm>
            <a:off x="2621280" y="4958334"/>
            <a:ext cx="13258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197A56"/>
            </a:solidFill>
            <a:prstDash val="solid"/>
          </a:ln>
        </p:spPr>
      </p:sp>
      <p:sp>
        <p:nvSpPr>
          <p:cNvPr id="72" name="ovl_s28_nt_tp"/>
          <p:cNvSpPr txBox="1"/>
          <p:nvPr/>
        </p:nvSpPr>
        <p:spPr>
          <a:xfrm>
            <a:off x="2657856" y="4985766"/>
            <a:ext cx="125272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</a:t>
            </a:r>
            <a:endParaRPr lang="en-US" sz="1000" dirty="0"/>
          </a:p>
        </p:txBody>
      </p:sp>
      <p:sp>
        <p:nvSpPr>
          <p:cNvPr id="73" name="ovl_s28_ns_tp"/>
          <p:cNvSpPr txBox="1"/>
          <p:nvPr/>
        </p:nvSpPr>
        <p:spPr>
          <a:xfrm>
            <a:off x="2667000" y="5191506"/>
            <a:ext cx="123444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52.5(4%)</a:t>
            </a:r>
            <a:endParaRPr lang="en-US" sz="850" dirty="0"/>
          </a:p>
        </p:txBody>
      </p:sp>
      <p:sp>
        <p:nvSpPr>
          <p:cNvPr id="74" name="ovl_s28_n_stock"/>
          <p:cNvSpPr/>
          <p:nvPr/>
        </p:nvSpPr>
        <p:spPr>
          <a:xfrm>
            <a:off x="4876800" y="2020824"/>
            <a:ext cx="1280160" cy="1691640"/>
          </a:xfrm>
          <a:prstGeom prst="roundRect">
            <a:avLst>
              <a:gd name="adj" fmla="val 4286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75" name="ovl_s28_nt_stock"/>
          <p:cNvSpPr txBox="1"/>
          <p:nvPr/>
        </p:nvSpPr>
        <p:spPr>
          <a:xfrm>
            <a:off x="4913376" y="204825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ストック型 約 76%</a:t>
            </a:r>
            <a:endParaRPr lang="en-US" sz="1000" dirty="0"/>
          </a:p>
        </p:txBody>
      </p:sp>
      <p:sp>
        <p:nvSpPr>
          <p:cNvPr id="76" name="ovl_s28_ns_stock"/>
          <p:cNvSpPr txBox="1"/>
          <p:nvPr/>
        </p:nvSpPr>
        <p:spPr>
          <a:xfrm>
            <a:off x="4922520" y="2253996"/>
            <a:ext cx="1188720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残高・口座に課金</a:t>
            </a:r>
            <a:endParaRPr lang="en-US" sz="850" dirty="0"/>
          </a:p>
        </p:txBody>
      </p:sp>
      <p:sp>
        <p:nvSpPr>
          <p:cNvPr id="77" name="ovl_s28_n_flowk"/>
          <p:cNvSpPr/>
          <p:nvPr/>
        </p:nvSpPr>
        <p:spPr>
          <a:xfrm>
            <a:off x="4876800" y="397535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8" name="ovl_s28_nt_flowk"/>
          <p:cNvSpPr txBox="1"/>
          <p:nvPr/>
        </p:nvSpPr>
        <p:spPr>
          <a:xfrm>
            <a:off x="4913376" y="400278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フロー型 約 24%</a:t>
            </a:r>
            <a:endParaRPr lang="en-US" sz="1000" dirty="0"/>
          </a:p>
        </p:txBody>
      </p:sp>
      <p:sp>
        <p:nvSpPr>
          <p:cNvPr id="79" name="ovl_s28_ns_flowk"/>
          <p:cNvSpPr txBox="1"/>
          <p:nvPr/>
        </p:nvSpPr>
        <p:spPr>
          <a:xfrm>
            <a:off x="4922520" y="420852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組成のたびに発生</a:t>
            </a:r>
            <a:endParaRPr lang="en-US" sz="850" dirty="0"/>
          </a:p>
        </p:txBody>
      </p:sp>
      <p:sp>
        <p:nvSpPr>
          <p:cNvPr id="80" name="ovl_s28_n_runoff"/>
          <p:cNvSpPr/>
          <p:nvPr/>
        </p:nvSpPr>
        <p:spPr>
          <a:xfrm>
            <a:off x="4876800" y="4958334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1" name="ovl_s28_nt_runoff"/>
          <p:cNvSpPr txBox="1"/>
          <p:nvPr/>
        </p:nvSpPr>
        <p:spPr>
          <a:xfrm>
            <a:off x="4913376" y="4985766"/>
            <a:ext cx="120700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残高の目減り</a:t>
            </a:r>
            <a:endParaRPr lang="en-US" sz="1000" dirty="0"/>
          </a:p>
        </p:txBody>
      </p:sp>
      <p:sp>
        <p:nvSpPr>
          <p:cNvPr id="82" name="ovl_s28_ns_runoff"/>
          <p:cNvSpPr txBox="1"/>
          <p:nvPr/>
        </p:nvSpPr>
        <p:spPr>
          <a:xfrm>
            <a:off x="4922520" y="5191506"/>
            <a:ext cx="118872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期前返済 年 25.8%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個人ローンは 2〜3 年</a:t>
            </a:r>
            <a:endParaRPr lang="en-US" sz="850" dirty="0"/>
          </a:p>
        </p:txBody>
      </p:sp>
      <p:sp>
        <p:nvSpPr>
          <p:cNvPr id="83" name="ovl_s28_n_cond1"/>
          <p:cNvSpPr/>
          <p:nvPr/>
        </p:nvSpPr>
        <p:spPr>
          <a:xfrm>
            <a:off x="7086600" y="2992374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EAF4EE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84" name="ovl_s28_nt_cond1"/>
          <p:cNvSpPr txBox="1"/>
          <p:nvPr/>
        </p:nvSpPr>
        <p:spPr>
          <a:xfrm>
            <a:off x="7123176" y="3019806"/>
            <a:ext cx="11155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会員と預金が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増える</a:t>
            </a:r>
            <a:endParaRPr lang="en-US" sz="900" dirty="0"/>
          </a:p>
        </p:txBody>
      </p:sp>
      <p:sp>
        <p:nvSpPr>
          <p:cNvPr id="85" name="ovl_s28_ns_cond1"/>
          <p:cNvSpPr txBox="1"/>
          <p:nvPr/>
        </p:nvSpPr>
        <p:spPr>
          <a:xfrm>
            <a:off x="7132320" y="337642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 +35%</a:t>
            </a:r>
            <a:endParaRPr lang="en-US" sz="850" dirty="0"/>
          </a:p>
        </p:txBody>
      </p:sp>
      <p:sp>
        <p:nvSpPr>
          <p:cNvPr id="86" name="ovl_s28_n_cond2"/>
          <p:cNvSpPr/>
          <p:nvPr/>
        </p:nvSpPr>
        <p:spPr>
          <a:xfrm>
            <a:off x="7086600" y="3975354"/>
            <a:ext cx="11887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87" name="ovl_s28_nt_cond2"/>
          <p:cNvSpPr txBox="1"/>
          <p:nvPr/>
        </p:nvSpPr>
        <p:spPr>
          <a:xfrm>
            <a:off x="7123176" y="4002786"/>
            <a:ext cx="111556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組成を続ける</a:t>
            </a:r>
            <a:endParaRPr lang="en-US" sz="1000" dirty="0"/>
          </a:p>
        </p:txBody>
      </p:sp>
      <p:sp>
        <p:nvSpPr>
          <p:cNvPr id="88" name="ovl_s28_ns_cond2"/>
          <p:cNvSpPr txBox="1"/>
          <p:nvPr/>
        </p:nvSpPr>
        <p:spPr>
          <a:xfrm>
            <a:off x="7132320" y="4208526"/>
            <a:ext cx="109728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組成が止まれば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残高が減る</a:t>
            </a:r>
            <a:endParaRPr lang="en-US" sz="850" dirty="0"/>
          </a:p>
        </p:txBody>
      </p:sp>
      <p:sp>
        <p:nvSpPr>
          <p:cNvPr id="89" name="ovl_s28_lab0"/>
          <p:cNvSpPr txBox="1"/>
          <p:nvPr/>
        </p:nvSpPr>
        <p:spPr>
          <a:xfrm>
            <a:off x="1909229" y="2141982"/>
            <a:ext cx="494462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利息</a:t>
            </a:r>
            <a:endParaRPr lang="en-US" sz="850" dirty="0"/>
          </a:p>
        </p:txBody>
      </p:sp>
      <p:sp>
        <p:nvSpPr>
          <p:cNvPr id="90" name="ovl_s28_lab1"/>
          <p:cNvSpPr txBox="1"/>
          <p:nvPr/>
        </p:nvSpPr>
        <p:spPr>
          <a:xfrm>
            <a:off x="1728216" y="2983230"/>
            <a:ext cx="856488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会費・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手数料</a:t>
            </a:r>
            <a:endParaRPr lang="en-US" sz="850" dirty="0"/>
          </a:p>
        </p:txBody>
      </p:sp>
      <p:sp>
        <p:nvSpPr>
          <p:cNvPr id="91" name="ovl_s28_lab2"/>
          <p:cNvSpPr txBox="1"/>
          <p:nvPr/>
        </p:nvSpPr>
        <p:spPr>
          <a:xfrm>
            <a:off x="1734350" y="4107942"/>
            <a:ext cx="844220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850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売る・渡す</a:t>
            </a:r>
            <a:endParaRPr lang="en-US" sz="850" dirty="0"/>
          </a:p>
        </p:txBody>
      </p:sp>
      <p:sp>
        <p:nvSpPr>
          <p:cNvPr id="92" name="ovl_s28_lab3"/>
          <p:cNvSpPr txBox="1"/>
          <p:nvPr/>
        </p:nvSpPr>
        <p:spPr>
          <a:xfrm>
            <a:off x="1926717" y="5090922"/>
            <a:ext cx="459486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処理料</a:t>
            </a:r>
            <a:endParaRPr lang="en-US" sz="850" dirty="0"/>
          </a:p>
        </p:txBody>
      </p:sp>
      <p:sp>
        <p:nvSpPr>
          <p:cNvPr id="93" name="ovl_s28_lab10"/>
          <p:cNvSpPr txBox="1"/>
          <p:nvPr/>
        </p:nvSpPr>
        <p:spPr>
          <a:xfrm>
            <a:off x="4663440" y="3742182"/>
            <a:ext cx="611048" cy="2057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850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目減り</a:t>
            </a:r>
            <a:endParaRPr lang="en-US" sz="850" dirty="0"/>
          </a:p>
        </p:txBody>
      </p:sp>
      <p:sp>
        <p:nvSpPr>
          <p:cNvPr id="94" name="ovl_s28_glab0"/>
          <p:cNvSpPr txBox="1"/>
          <p:nvPr/>
        </p:nvSpPr>
        <p:spPr>
          <a:xfrm>
            <a:off x="2648712" y="1828800"/>
            <a:ext cx="6543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収益の種類</a:t>
            </a:r>
            <a:endParaRPr lang="en-US" sz="800" dirty="0"/>
          </a:p>
        </p:txBody>
      </p:sp>
      <p:sp>
        <p:nvSpPr>
          <p:cNvPr id="95" name="ovl_s28_glab1"/>
          <p:cNvSpPr txBox="1"/>
          <p:nvPr/>
        </p:nvSpPr>
        <p:spPr>
          <a:xfrm>
            <a:off x="4904232" y="1828800"/>
            <a:ext cx="349504" cy="16459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性格</a:t>
            </a:r>
            <a:endParaRPr lang="en-US" sz="800" dirty="0"/>
          </a:p>
        </p:txBody>
      </p:sp>
      <p:sp>
        <p:nvSpPr>
          <p:cNvPr id="96" name="ovl_s28_leg0"/>
          <p:cNvSpPr/>
          <p:nvPr/>
        </p:nvSpPr>
        <p:spPr>
          <a:xfrm>
            <a:off x="457200" y="5971032"/>
            <a:ext cx="365760" cy="914"/>
          </a:xfrm>
          <a:prstGeom prst="line">
            <a:avLst/>
          </a:prstGeom>
          <a:noFill/>
          <a:ln w="22225">
            <a:solidFill>
              <a:srgbClr val="0E4D33"/>
            </a:solidFill>
            <a:prstDash val="solid"/>
            <a:tailEnd type="triangle"/>
          </a:ln>
        </p:spPr>
      </p:sp>
      <p:sp>
        <p:nvSpPr>
          <p:cNvPr id="97" name="ovl_s28_legt0"/>
          <p:cNvSpPr txBox="1"/>
          <p:nvPr/>
        </p:nvSpPr>
        <p:spPr>
          <a:xfrm>
            <a:off x="87782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カネ</a:t>
            </a:r>
            <a:endParaRPr lang="en-US" sz="800" dirty="0"/>
          </a:p>
        </p:txBody>
      </p:sp>
      <p:sp>
        <p:nvSpPr>
          <p:cNvPr id="98" name="ovl_s28_leg1"/>
          <p:cNvSpPr/>
          <p:nvPr/>
        </p:nvSpPr>
        <p:spPr>
          <a:xfrm>
            <a:off x="1874520" y="5971032"/>
            <a:ext cx="365760" cy="914"/>
          </a:xfrm>
          <a:prstGeom prst="line">
            <a:avLst/>
          </a:prstGeom>
          <a:noFill/>
          <a:ln w="19050">
            <a:solidFill>
              <a:srgbClr val="1BA1A6"/>
            </a:solidFill>
            <a:prstDash val="solid"/>
            <a:tailEnd type="triangle"/>
          </a:ln>
        </p:spPr>
      </p:sp>
      <p:sp>
        <p:nvSpPr>
          <p:cNvPr id="99" name="ovl_s28_legt1"/>
          <p:cNvSpPr txBox="1"/>
          <p:nvPr/>
        </p:nvSpPr>
        <p:spPr>
          <a:xfrm>
            <a:off x="229514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モノ・サービス</a:t>
            </a:r>
            <a:endParaRPr lang="en-US" sz="800" dirty="0"/>
          </a:p>
        </p:txBody>
      </p:sp>
      <p:sp>
        <p:nvSpPr>
          <p:cNvPr id="100" name="ovl_s28_leg2"/>
          <p:cNvSpPr/>
          <p:nvPr/>
        </p:nvSpPr>
        <p:spPr>
          <a:xfrm>
            <a:off x="3291840" y="5971032"/>
            <a:ext cx="365760" cy="914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01" name="ovl_s28_legt2"/>
          <p:cNvSpPr txBox="1"/>
          <p:nvPr/>
        </p:nvSpPr>
        <p:spPr>
          <a:xfrm>
            <a:off x="371246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</a:t>
            </a:r>
            <a:endParaRPr lang="en-US" sz="800" dirty="0"/>
          </a:p>
        </p:txBody>
      </p:sp>
      <p:sp>
        <p:nvSpPr>
          <p:cNvPr id="102" name="ovl_s28_leg3"/>
          <p:cNvSpPr/>
          <p:nvPr/>
        </p:nvSpPr>
        <p:spPr>
          <a:xfrm>
            <a:off x="4709160" y="5971032"/>
            <a:ext cx="365760" cy="914"/>
          </a:xfrm>
          <a:prstGeom prst="line">
            <a:avLst/>
          </a:prstGeom>
          <a:noFill/>
          <a:ln w="12700">
            <a:solidFill>
              <a:srgbClr val="767676"/>
            </a:solidFill>
            <a:prstDash val="sysDash"/>
            <a:tailEnd type="triangle"/>
          </a:ln>
        </p:spPr>
      </p:sp>
      <p:sp>
        <p:nvSpPr>
          <p:cNvPr id="103" name="ovl_s28_legt3"/>
          <p:cNvSpPr txBox="1"/>
          <p:nvPr/>
        </p:nvSpPr>
        <p:spPr>
          <a:xfrm>
            <a:off x="5129784" y="5870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契約・統治</a:t>
            </a:r>
            <a:endParaRPr lang="en-US" sz="800" dirty="0"/>
          </a:p>
        </p:txBody>
      </p:sp>
      <p:sp>
        <p:nvSpPr>
          <p:cNvPr id="104" name="ovl_s28_legn"/>
          <p:cNvSpPr txBox="1"/>
          <p:nvPr/>
        </p:nvSpPr>
        <p:spPr>
          <a:xfrm>
            <a:off x="6126480" y="587044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①② … は右の「仕組み」の番号</a:t>
            </a:r>
            <a:endParaRPr lang="en-US" sz="800" dirty="0"/>
          </a:p>
        </p:txBody>
      </p:sp>
      <p:sp>
        <p:nvSpPr>
          <p:cNvPr id="105" name="mech_head"/>
          <p:cNvSpPr txBox="1"/>
          <p:nvPr/>
        </p:nvSpPr>
        <p:spPr>
          <a:xfrm>
            <a:off x="8458200" y="1481328"/>
            <a:ext cx="3276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仕組み(図の ①② … と対応)</a:t>
            </a:r>
            <a:endParaRPr lang="en-US" sz="1200" dirty="0"/>
          </a:p>
        </p:txBody>
      </p:sp>
      <p:sp>
        <p:nvSpPr>
          <p:cNvPr id="106" name="mech"/>
          <p:cNvSpPr txBox="1"/>
          <p:nvPr/>
        </p:nvSpPr>
        <p:spPr>
          <a:xfrm>
            <a:off x="8458200" y="1810512"/>
            <a:ext cx="3276295" cy="1835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B/S のローン残高に利息が付く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純金利収益が 788.2 百万ドルで収益の 65%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会員の口座に付く継続手数料と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を足すと、ストック型は約 76%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売却益と LPB は組成のたびに生じる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フロー型で、約 24%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ただし個人ローンは期前返済が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 25.8% と速く、2〜3 年で返済される。</a:t>
            </a:r>
            <a:br/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残高を保つには組成を続ける必要がある</a:t>
            </a:r>
            <a:endParaRPr lang="en-US" sz="1100" dirty="0"/>
          </a:p>
        </p:txBody>
      </p:sp>
      <p:sp>
        <p:nvSpPr>
          <p:cNvPr id="107" name="ovl_takeaway_bg"/>
          <p:cNvSpPr/>
          <p:nvPr/>
        </p:nvSpPr>
        <p:spPr>
          <a:xfrm>
            <a:off x="8458200" y="4419600"/>
            <a:ext cx="3276295" cy="10058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08" name="takeaway"/>
          <p:cNvSpPr txBox="1"/>
          <p:nvPr/>
        </p:nvSpPr>
        <p:spPr>
          <a:xfrm>
            <a:off x="8567928" y="4492752"/>
            <a:ext cx="3056839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収益の約 4 分の 3 は残高に課金する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ストック型。ただし残高は 2〜3 年で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入れ替わるため B</a:t>
            </a:r>
            <a:endParaRPr lang="en-US" sz="1000" dirty="0"/>
          </a:p>
        </p:txBody>
      </p:sp>
      <p:sp>
        <p:nvSpPr>
          <p:cNvPr id="109" name="updown"/>
          <p:cNvSpPr txBox="1"/>
          <p:nvPr/>
        </p:nvSpPr>
        <p:spPr>
          <a:xfrm>
            <a:off x="8458200" y="5498592"/>
            <a:ext cx="3276295" cy="591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Plus の有料会員が 100 万人を超え、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継続手数料が収益の 15% を超えれば 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下がる条件  </a:t>
            </a: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組成の減速で B/S の残高が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減り始めれば C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第4章 13条件の構造分析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4-5 総合(条件13)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20586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2058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アーキタイプ(条件13)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662174" y="356616"/>
            <a:ext cx="90723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各条件を束ね、目指す型(ORCL 型)と避けたい型(MU・VRT・AVGO 型)のどちらに近いかを判定する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預金と手数料は ORCL 型に近いが、個人ローンの 71% を自社で抱える部分が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MU 型(景気循環)に寄る。資本を使わない構造への転換は能力に留まる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条件13(総合)アーキタイプ照合: ORCL 型(継続課金・低い陳腐化)か MU 型(景気循環)・VRT 型・AVGO 型か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会社開示(Q2 2026 決算)、research_r2/R5_credit_fv.md、calc/out/val.json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36</a:t>
            </a:r>
            <a:endParaRPr lang="en-US" sz="800" dirty="0"/>
          </a:p>
        </p:txBody>
      </p:sp>
      <p:sp>
        <p:nvSpPr>
          <p:cNvPr id="21" name="ovl_badge"/>
          <p:cNvSpPr/>
          <p:nvPr/>
        </p:nvSpPr>
        <p:spPr>
          <a:xfrm>
            <a:off x="10865815" y="649224"/>
            <a:ext cx="868680" cy="677570"/>
          </a:xfrm>
          <a:prstGeom prst="roundRect">
            <a:avLst>
              <a:gd name="adj" fmla="val 10796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2" name="ovl_badge_t"/>
          <p:cNvSpPr txBox="1"/>
          <p:nvPr/>
        </p:nvSpPr>
        <p:spPr>
          <a:xfrm>
            <a:off x="10865815" y="649224"/>
            <a:ext cx="86868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2900" dirty="0"/>
          </a:p>
        </p:txBody>
      </p:sp>
      <p:sp>
        <p:nvSpPr>
          <p:cNvPr id="23" name="ovl_badge_l"/>
          <p:cNvSpPr txBox="1"/>
          <p:nvPr/>
        </p:nvSpPr>
        <p:spPr>
          <a:xfrm>
            <a:off x="10865815" y="1083564"/>
            <a:ext cx="8686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条件13</a:t>
            </a:r>
            <a:endParaRPr lang="en-US" sz="800" dirty="0"/>
          </a:p>
        </p:txBody>
      </p:sp>
      <p:sp>
        <p:nvSpPr>
          <p:cNvPr id="24" name="flow_h0"/>
          <p:cNvSpPr txBox="1"/>
          <p:nvPr/>
        </p:nvSpPr>
        <p:spPr>
          <a:xfrm>
            <a:off x="457200" y="16002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原型</a:t>
            </a:r>
            <a:endParaRPr lang="en-US" sz="1100" dirty="0"/>
          </a:p>
        </p:txBody>
      </p:sp>
      <p:sp>
        <p:nvSpPr>
          <p:cNvPr id="25" name="ovl_fbox0_0"/>
          <p:cNvSpPr/>
          <p:nvPr/>
        </p:nvSpPr>
        <p:spPr>
          <a:xfrm>
            <a:off x="457200" y="2066544"/>
            <a:ext cx="1408176" cy="822960"/>
          </a:xfrm>
          <a:prstGeom prst="roundRect">
            <a:avLst>
              <a:gd name="adj" fmla="val 6667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26" name="flow_t0_0"/>
          <p:cNvSpPr txBox="1"/>
          <p:nvPr/>
        </p:nvSpPr>
        <p:spPr>
          <a:xfrm>
            <a:off x="530352" y="2103120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ORCL 型</a:t>
            </a:r>
            <a:endParaRPr lang="en-US" sz="1000" dirty="0"/>
          </a:p>
        </p:txBody>
      </p:sp>
      <p:sp>
        <p:nvSpPr>
          <p:cNvPr id="27" name="ovl_farrow0"/>
          <p:cNvSpPr/>
          <p:nvPr/>
        </p:nvSpPr>
        <p:spPr>
          <a:xfrm>
            <a:off x="1885950" y="2295144"/>
            <a:ext cx="109728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8" name="flow_h1"/>
          <p:cNvSpPr txBox="1"/>
          <p:nvPr/>
        </p:nvSpPr>
        <p:spPr>
          <a:xfrm>
            <a:off x="2002536" y="16002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100" dirty="0"/>
          </a:p>
        </p:txBody>
      </p:sp>
      <p:sp>
        <p:nvSpPr>
          <p:cNvPr id="29" name="ovl_fbox1_0"/>
          <p:cNvSpPr/>
          <p:nvPr/>
        </p:nvSpPr>
        <p:spPr>
          <a:xfrm>
            <a:off x="2002536" y="2066544"/>
            <a:ext cx="1408176" cy="822960"/>
          </a:xfrm>
          <a:prstGeom prst="roundRect">
            <a:avLst>
              <a:gd name="adj" fmla="val 666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30" name="flow_t1_0"/>
          <p:cNvSpPr txBox="1"/>
          <p:nvPr/>
        </p:nvSpPr>
        <p:spPr>
          <a:xfrm>
            <a:off x="2075688" y="2103120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預金・FS 手数料</a:t>
            </a:r>
            <a:endParaRPr lang="en-US" sz="1000" dirty="0"/>
          </a:p>
        </p:txBody>
      </p:sp>
      <p:sp>
        <p:nvSpPr>
          <p:cNvPr id="31" name="ovl_farrow1"/>
          <p:cNvSpPr/>
          <p:nvPr/>
        </p:nvSpPr>
        <p:spPr>
          <a:xfrm>
            <a:off x="3431286" y="2295144"/>
            <a:ext cx="109728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2" name="flow_h2"/>
          <p:cNvSpPr txBox="1"/>
          <p:nvPr/>
        </p:nvSpPr>
        <p:spPr>
          <a:xfrm>
            <a:off x="3547872" y="16002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1100" dirty="0"/>
          </a:p>
        </p:txBody>
      </p:sp>
      <p:sp>
        <p:nvSpPr>
          <p:cNvPr id="33" name="ovl_fbox2_0"/>
          <p:cNvSpPr/>
          <p:nvPr/>
        </p:nvSpPr>
        <p:spPr>
          <a:xfrm>
            <a:off x="3547872" y="2066544"/>
            <a:ext cx="1408176" cy="822960"/>
          </a:xfrm>
          <a:prstGeom prst="roundRect">
            <a:avLst>
              <a:gd name="adj" fmla="val 6667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34" name="flow_t2_0"/>
          <p:cNvSpPr txBox="1"/>
          <p:nvPr/>
        </p:nvSpPr>
        <p:spPr>
          <a:xfrm>
            <a:off x="3621024" y="2103120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LPB(資本を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使わない手数料)</a:t>
            </a:r>
            <a:endParaRPr lang="en-US" sz="1000" dirty="0"/>
          </a:p>
        </p:txBody>
      </p:sp>
      <p:sp>
        <p:nvSpPr>
          <p:cNvPr id="35" name="ovl_farrow2"/>
          <p:cNvSpPr/>
          <p:nvPr/>
        </p:nvSpPr>
        <p:spPr>
          <a:xfrm>
            <a:off x="4976622" y="2295144"/>
            <a:ext cx="109728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6" name="flow_h3"/>
          <p:cNvSpPr txBox="1"/>
          <p:nvPr/>
        </p:nvSpPr>
        <p:spPr>
          <a:xfrm>
            <a:off x="5093208" y="16002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100" dirty="0"/>
          </a:p>
        </p:txBody>
      </p:sp>
      <p:sp>
        <p:nvSpPr>
          <p:cNvPr id="37" name="ovl_fbox3_0"/>
          <p:cNvSpPr/>
          <p:nvPr/>
        </p:nvSpPr>
        <p:spPr>
          <a:xfrm>
            <a:off x="5093208" y="2066544"/>
            <a:ext cx="1408176" cy="822960"/>
          </a:xfrm>
          <a:prstGeom prst="roundRect">
            <a:avLst>
              <a:gd name="adj" fmla="val 6667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8" name="flow_t3_0"/>
          <p:cNvSpPr txBox="1"/>
          <p:nvPr/>
        </p:nvSpPr>
        <p:spPr>
          <a:xfrm>
            <a:off x="5166360" y="2103120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学生ローン(B/S)</a:t>
            </a:r>
            <a:endParaRPr lang="en-US" sz="1000" dirty="0"/>
          </a:p>
        </p:txBody>
      </p:sp>
      <p:sp>
        <p:nvSpPr>
          <p:cNvPr id="39" name="ovl_farrow3"/>
          <p:cNvSpPr/>
          <p:nvPr/>
        </p:nvSpPr>
        <p:spPr>
          <a:xfrm>
            <a:off x="6521958" y="2295144"/>
            <a:ext cx="109728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40" name="flow_h4"/>
          <p:cNvSpPr txBox="1"/>
          <p:nvPr/>
        </p:nvSpPr>
        <p:spPr>
          <a:xfrm>
            <a:off x="6638544" y="160020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100" dirty="0"/>
          </a:p>
        </p:txBody>
      </p:sp>
      <p:sp>
        <p:nvSpPr>
          <p:cNvPr id="41" name="ovl_fbox4_0"/>
          <p:cNvSpPr/>
          <p:nvPr/>
        </p:nvSpPr>
        <p:spPr>
          <a:xfrm>
            <a:off x="6638544" y="2066544"/>
            <a:ext cx="1408176" cy="82296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42" name="flow_t4_0"/>
          <p:cNvSpPr txBox="1"/>
          <p:nvPr/>
        </p:nvSpPr>
        <p:spPr>
          <a:xfrm>
            <a:off x="6711696" y="2103120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個人ローン(B/S)</a:t>
            </a:r>
            <a:endParaRPr lang="en-US" sz="1000" dirty="0"/>
          </a:p>
        </p:txBody>
      </p:sp>
      <p:graphicFrame>
        <p:nvGraphicFramePr>
          <p:cNvPr id="3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7589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観点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ORCL 型の要素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MU 型の要素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課金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預金の利ざや・継続手数料(収益の約 76%)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売却益は組成と市況で変わる(約 24%)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信用の損失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は損失を買い手が負う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個人ローン組成の 71% を自社で保有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(Q4 2025 は 51%)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と手数料は資本を使わない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貸出の伸びが資本を食い、自給率 0.34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会員の基盤は長く使える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Galileo は内製化で縮小(AVGO 型の商品化)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4" name="ovl_evbox"/>
          <p:cNvSpPr/>
          <p:nvPr/>
        </p:nvSpPr>
        <p:spPr>
          <a:xfrm>
            <a:off x="8275320" y="1481328"/>
            <a:ext cx="345643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5" name="ev_head"/>
          <p:cNvSpPr txBox="1"/>
          <p:nvPr/>
        </p:nvSpPr>
        <p:spPr>
          <a:xfrm>
            <a:off x="8385048" y="15361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根拠</a:t>
            </a:r>
            <a:endParaRPr lang="en-US" sz="1200" dirty="0"/>
          </a:p>
        </p:txBody>
      </p:sp>
      <p:sp>
        <p:nvSpPr>
          <p:cNvPr id="46" name="evidence"/>
          <p:cNvSpPr txBox="1"/>
          <p:nvPr/>
        </p:nvSpPr>
        <p:spPr>
          <a:xfrm>
            <a:off x="8385048" y="1847088"/>
            <a:ext cx="3255264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個人ローン組成のうち自社で保有する比率 51% → 71%(Q4 2025 → Q2 2026)。</a:t>
            </a:r>
            <a:br/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経営陣「資本比率が強いので自社に載せた」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all-in 貸倒率 3.7%。景気減速で +0.75pt なら理論株価 −2.0 ドル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 が資本コストを超えるのは 2029〜30 年</a:t>
            </a:r>
            <a:endParaRPr lang="en-US" sz="950" dirty="0"/>
          </a:p>
        </p:txBody>
      </p:sp>
      <p:sp>
        <p:nvSpPr>
          <p:cNvPr id="47" name="ovl_takeaway_bg"/>
          <p:cNvSpPr/>
          <p:nvPr/>
        </p:nvSpPr>
        <p:spPr>
          <a:xfrm>
            <a:off x="8275320" y="4389120"/>
            <a:ext cx="3456432" cy="114300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48" name="takeaway"/>
          <p:cNvSpPr txBox="1"/>
          <p:nvPr/>
        </p:nvSpPr>
        <p:spPr>
          <a:xfrm>
            <a:off x="8385048" y="4462272"/>
            <a:ext cx="3236976" cy="996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原型は ORCL 型に近いが、資本の余裕で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自社保有を増やし MU 型に寄る。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転換は能力に留まるため C</a:t>
            </a:r>
            <a:endParaRPr lang="en-US" sz="1050" dirty="0"/>
          </a:p>
        </p:txBody>
      </p:sp>
      <p:sp>
        <p:nvSpPr>
          <p:cNvPr id="49" name="ovl_kpibox"/>
          <p:cNvSpPr/>
          <p:nvPr/>
        </p:nvSpPr>
        <p:spPr>
          <a:xfrm>
            <a:off x="457200" y="5870448"/>
            <a:ext cx="11277295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68910"/>
            </a:solidFill>
            <a:prstDash val="solid"/>
          </a:ln>
        </p:spPr>
      </p:sp>
      <p:sp>
        <p:nvSpPr>
          <p:cNvPr id="50" name="kpi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 KPI とトリガー: 個人ローン組成の自社保有の比率 65% 未満で B 候補・75% 超で D 候補(毎四半期)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E4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agenda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3" name="bg_agenda_lbl"/>
          <p:cNvSpPr txBox="1"/>
          <p:nvPr/>
        </p:nvSpPr>
        <p:spPr>
          <a:xfrm>
            <a:off x="73152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目次</a:t>
            </a:r>
            <a:endParaRPr lang="en-US" sz="2600" dirty="0"/>
          </a:p>
        </p:txBody>
      </p:sp>
      <p:sp>
        <p:nvSpPr>
          <p:cNvPr id="4" name="bg_agenda_n0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bg_agenda_nt0"/>
          <p:cNvSpPr txBox="1"/>
          <p:nvPr/>
        </p:nvSpPr>
        <p:spPr>
          <a:xfrm>
            <a:off x="777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bg_agenda_ch0"/>
          <p:cNvSpPr txBox="1"/>
          <p:nvPr/>
        </p:nvSpPr>
        <p:spPr>
          <a:xfrm>
            <a:off x="1417320" y="144475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評価総括</a:t>
            </a:r>
            <a:endParaRPr lang="en-US" sz="1800" dirty="0"/>
          </a:p>
        </p:txBody>
      </p:sp>
      <p:sp>
        <p:nvSpPr>
          <p:cNvPr id="7" name="bg_agenda_n1"/>
          <p:cNvSpPr/>
          <p:nvPr/>
        </p:nvSpPr>
        <p:spPr>
          <a:xfrm>
            <a:off x="777240" y="2395728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bg_agenda_nt1"/>
          <p:cNvSpPr txBox="1"/>
          <p:nvPr/>
        </p:nvSpPr>
        <p:spPr>
          <a:xfrm>
            <a:off x="7772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bg_agenda_ch1"/>
          <p:cNvSpPr txBox="1"/>
          <p:nvPr/>
        </p:nvSpPr>
        <p:spPr>
          <a:xfrm>
            <a:off x="1417320" y="2377440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事業・資金・成長</a:t>
            </a:r>
            <a:endParaRPr lang="en-US" sz="1800" dirty="0"/>
          </a:p>
        </p:txBody>
      </p:sp>
      <p:sp>
        <p:nvSpPr>
          <p:cNvPr id="10" name="bg_agenda_n2"/>
          <p:cNvSpPr/>
          <p:nvPr/>
        </p:nvSpPr>
        <p:spPr>
          <a:xfrm>
            <a:off x="777240" y="3328416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bg_agenda_nt2"/>
          <p:cNvSpPr txBox="1"/>
          <p:nvPr/>
        </p:nvSpPr>
        <p:spPr>
          <a:xfrm>
            <a:off x="77724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bg_agenda_ch2"/>
          <p:cNvSpPr txBox="1"/>
          <p:nvPr/>
        </p:nvSpPr>
        <p:spPr>
          <a:xfrm>
            <a:off x="1417320" y="3310128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成長の尺度</a:t>
            </a:r>
            <a:endParaRPr lang="en-US" sz="1800" dirty="0"/>
          </a:p>
        </p:txBody>
      </p:sp>
      <p:sp>
        <p:nvSpPr>
          <p:cNvPr id="13" name="bg_agenda_n3"/>
          <p:cNvSpPr/>
          <p:nvPr/>
        </p:nvSpPr>
        <p:spPr>
          <a:xfrm>
            <a:off x="777240" y="4261104"/>
            <a:ext cx="457200" cy="457200"/>
          </a:xfrm>
          <a:prstGeom prst="ellipse">
            <a:avLst/>
          </a:prstGeom>
          <a:solidFill>
            <a:srgbClr val="0E4D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bg_agenda_nt3"/>
          <p:cNvSpPr txBox="1"/>
          <p:nvPr/>
        </p:nvSpPr>
        <p:spPr>
          <a:xfrm>
            <a:off x="7772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bg_agenda_ch3"/>
          <p:cNvSpPr txBox="1"/>
          <p:nvPr/>
        </p:nvSpPr>
        <p:spPr>
          <a:xfrm>
            <a:off x="1417320" y="4242816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13条件の構造分析</a:t>
            </a:r>
            <a:endParaRPr lang="en-US" sz="1800" dirty="0"/>
          </a:p>
        </p:txBody>
      </p:sp>
      <p:sp>
        <p:nvSpPr>
          <p:cNvPr id="16" name="bg_agenda_n4"/>
          <p:cNvSpPr/>
          <p:nvPr/>
        </p:nvSpPr>
        <p:spPr>
          <a:xfrm>
            <a:off x="777240" y="5193792"/>
            <a:ext cx="457200" cy="457200"/>
          </a:xfrm>
          <a:prstGeom prst="ellipse">
            <a:avLst/>
          </a:prstGeom>
          <a:solidFill>
            <a:srgbClr val="19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bg_agenda_nt4"/>
          <p:cNvSpPr txBox="1"/>
          <p:nvPr/>
        </p:nvSpPr>
        <p:spPr>
          <a:xfrm>
            <a:off x="77724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bg_agenda_ch4"/>
          <p:cNvSpPr txBox="1"/>
          <p:nvPr/>
        </p:nvSpPr>
        <p:spPr>
          <a:xfrm>
            <a:off x="1417320" y="5175504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バリュエーション・リスク・投資アクション</a:t>
            </a:r>
            <a:endParaRPr lang="en-US" sz="1800" dirty="0"/>
          </a:p>
        </p:txBody>
      </p:sp>
      <p:sp>
        <p:nvSpPr>
          <p:cNvPr id="19" name="bg_agenda_why4"/>
          <p:cNvSpPr txBox="1"/>
          <p:nvPr/>
        </p:nvSpPr>
        <p:spPr>
          <a:xfrm>
            <a:off x="1417320" y="5650992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構造評価を倍率に変えて理論株価を出し、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リスクを踏まえて建て方と撤退条件を決める</a:t>
            </a:r>
            <a:endParaRPr lang="en-US" sz="1000" dirty="0"/>
          </a:p>
        </p:txBody>
      </p:sp>
      <p:sp>
        <p:nvSpPr>
          <p:cNvPr id="20" name="bg_agenda_rule"/>
          <p:cNvSpPr/>
          <p:nvPr/>
        </p:nvSpPr>
        <p:spPr>
          <a:xfrm>
            <a:off x="7543800" y="1463040"/>
            <a:ext cx="0" cy="4389120"/>
          </a:xfrm>
          <a:prstGeom prst="line">
            <a:avLst/>
          </a:prstGeom>
          <a:noFill/>
          <a:ln w="9525">
            <a:solidFill>
              <a:srgbClr val="86C99B"/>
            </a:solidFill>
            <a:prstDash val="solid"/>
          </a:ln>
        </p:spPr>
      </p:sp>
      <p:sp>
        <p:nvSpPr>
          <p:cNvPr id="21" name="bg_agenda_sh"/>
          <p:cNvSpPr txBox="1"/>
          <p:nvPr/>
        </p:nvSpPr>
        <p:spPr>
          <a:xfrm>
            <a:off x="78181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第5章の構成</a:t>
            </a:r>
            <a:endParaRPr lang="en-US" sz="1300" dirty="0"/>
          </a:p>
        </p:txBody>
      </p:sp>
      <p:sp>
        <p:nvSpPr>
          <p:cNvPr id="22" name="bg_agenda_s0"/>
          <p:cNvSpPr txBox="1"/>
          <p:nvPr/>
        </p:nvSpPr>
        <p:spPr>
          <a:xfrm>
            <a:off x="781812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5-1  市場との差分</a:t>
            </a:r>
            <a:endParaRPr lang="en-US" sz="1250" dirty="0"/>
          </a:p>
        </p:txBody>
      </p:sp>
      <p:sp>
        <p:nvSpPr>
          <p:cNvPr id="23" name="bg_agenda_p0"/>
          <p:cNvSpPr txBox="1"/>
          <p:nvPr/>
        </p:nvSpPr>
        <p:spPr>
          <a:xfrm>
            <a:off x="10881360" y="1920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p.38</a:t>
            </a:r>
            <a:endParaRPr lang="en-US" sz="1050" dirty="0"/>
          </a:p>
        </p:txBody>
      </p:sp>
      <p:sp>
        <p:nvSpPr>
          <p:cNvPr id="24" name="bg_agenda_s1"/>
          <p:cNvSpPr txBox="1"/>
          <p:nvPr/>
        </p:nvSpPr>
        <p:spPr>
          <a:xfrm>
            <a:off x="7818120" y="2377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5-2  価値評価</a:t>
            </a:r>
            <a:endParaRPr lang="en-US" sz="1250" dirty="0"/>
          </a:p>
        </p:txBody>
      </p:sp>
      <p:sp>
        <p:nvSpPr>
          <p:cNvPr id="25" name="bg_agenda_p1"/>
          <p:cNvSpPr txBox="1"/>
          <p:nvPr/>
        </p:nvSpPr>
        <p:spPr>
          <a:xfrm>
            <a:off x="10881360" y="23774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p.39–42</a:t>
            </a:r>
            <a:endParaRPr lang="en-US" sz="1050" dirty="0"/>
          </a:p>
        </p:txBody>
      </p:sp>
      <p:sp>
        <p:nvSpPr>
          <p:cNvPr id="26" name="bg_agenda_s2"/>
          <p:cNvSpPr txBox="1"/>
          <p:nvPr/>
        </p:nvSpPr>
        <p:spPr>
          <a:xfrm>
            <a:off x="78181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5-3  最終判断</a:t>
            </a:r>
            <a:endParaRPr lang="en-US" sz="1250" dirty="0"/>
          </a:p>
        </p:txBody>
      </p:sp>
      <p:sp>
        <p:nvSpPr>
          <p:cNvPr id="27" name="bg_agenda_p2"/>
          <p:cNvSpPr txBox="1"/>
          <p:nvPr/>
        </p:nvSpPr>
        <p:spPr>
          <a:xfrm>
            <a:off x="10881360" y="28346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p.43</a:t>
            </a:r>
            <a:endParaRPr lang="en-US" sz="1050" dirty="0"/>
          </a:p>
        </p:txBody>
      </p:sp>
      <p:sp>
        <p:nvSpPr>
          <p:cNvPr id="28" name="bg_agenda_s3"/>
          <p:cNvSpPr txBox="1"/>
          <p:nvPr/>
        </p:nvSpPr>
        <p:spPr>
          <a:xfrm>
            <a:off x="781812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5-4  リスク</a:t>
            </a:r>
            <a:endParaRPr lang="en-US" sz="1250" dirty="0"/>
          </a:p>
        </p:txBody>
      </p:sp>
      <p:sp>
        <p:nvSpPr>
          <p:cNvPr id="29" name="bg_agenda_p3"/>
          <p:cNvSpPr txBox="1"/>
          <p:nvPr/>
        </p:nvSpPr>
        <p:spPr>
          <a:xfrm>
            <a:off x="10881360" y="32918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p.44</a:t>
            </a:r>
            <a:endParaRPr lang="en-US" sz="1050" dirty="0"/>
          </a:p>
        </p:txBody>
      </p:sp>
      <p:sp>
        <p:nvSpPr>
          <p:cNvPr id="30" name="bg_agenda_s4"/>
          <p:cNvSpPr txBox="1"/>
          <p:nvPr/>
        </p:nvSpPr>
        <p:spPr>
          <a:xfrm>
            <a:off x="7818120" y="3749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5-5  投資行動</a:t>
            </a:r>
            <a:endParaRPr lang="en-US" sz="1250" dirty="0"/>
          </a:p>
        </p:txBody>
      </p:sp>
      <p:sp>
        <p:nvSpPr>
          <p:cNvPr id="31" name="bg_agenda_p4"/>
          <p:cNvSpPr txBox="1"/>
          <p:nvPr/>
        </p:nvSpPr>
        <p:spPr>
          <a:xfrm>
            <a:off x="10881360" y="37490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p.45</a:t>
            </a:r>
            <a:endParaRPr lang="en-US" sz="1050" dirty="0"/>
          </a:p>
        </p:txBody>
      </p:sp>
      <p:sp>
        <p:nvSpPr>
          <p:cNvPr id="32" name="bg_agenda_s5"/>
          <p:cNvSpPr txBox="1"/>
          <p:nvPr/>
        </p:nvSpPr>
        <p:spPr>
          <a:xfrm>
            <a:off x="7818120" y="4206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付録  前提と制約</a:t>
            </a:r>
            <a:endParaRPr lang="en-US" sz="1250" dirty="0"/>
          </a:p>
        </p:txBody>
      </p:sp>
      <p:sp>
        <p:nvSpPr>
          <p:cNvPr id="33" name="bg_agenda_p5"/>
          <p:cNvSpPr txBox="1"/>
          <p:nvPr/>
        </p:nvSpPr>
        <p:spPr>
          <a:xfrm>
            <a:off x="10881360" y="4206240"/>
            <a:ext cx="85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p.46</a:t>
            </a:r>
            <a:endParaRPr lang="en-US" sz="1050" dirty="0"/>
          </a:p>
        </p:txBody>
      </p:sp>
      <p:sp>
        <p:nvSpPr>
          <p:cNvPr id="34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6C99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37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5-1 市場との差分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525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525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市場との差分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128774" y="356616"/>
            <a:ext cx="9605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市場が何を織り込み、どこに見落としがあるか(無いか)を確かめる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株価は強気の確率 約 17% を織り込み、本資料の 22% との差は 5pt。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感応度の幅の内側で、買いの根拠になる市場との差分は無い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シナリオ別の 1 株当たり価値と株価、株価が示す強気の確率。右: 市場の仮説と構造上の見方(差分の候補)、カタリストの日程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calc/out/growth_v2.json(節点ツリー・理論株価)、calc/out/val.json、research/R3a_market_hypothesis.md(Muddy Waters・KBW・Morgan Stanley・BofA・StoneX・Citi)、会社開示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38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シナリオ別の価値と株価(ドル)</a:t>
            </a:r>
            <a:endParaRPr lang="en-US" sz="1200" dirty="0"/>
          </a:p>
        </p:txBody>
      </p:sp>
      <p:graphicFrame>
        <p:nvGraphicFramePr>
          <p:cNvPr id="22" name="chart" descr=""/>
          <p:cNvGraphicFramePr/>
          <p:nvPr/>
        </p:nvGraphicFramePr>
        <p:xfrm>
          <a:off x="457200" y="1810512"/>
          <a:ext cx="55321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86200"/>
          <a:ext cx="5532120" cy="914400"/>
        </p:xfrm>
        <a:graphic>
          <a:graphicData uri="http://schemas.openxmlformats.org/drawingml/2006/table">
            <a:tbl>
              <a:tblPr/>
              <a:tblGrid>
                <a:gridCol w="388620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株価が示す確率(定義)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値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株価に合う強気の確率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(弱気 29.9% を固定し、強気とベースの比を逆算)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16.6%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本資料の確率(節点ツリー)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21.7%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N1・N2 を ±10pt 動かした幅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13.6〜31.9%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note"/>
          <p:cNvSpPr txBox="1"/>
          <p:nvPr/>
        </p:nvSpPr>
        <p:spPr>
          <a:xfrm>
            <a:off x="457200" y="5257800"/>
            <a:ext cx="55321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 5pt は感応度の幅の内側。買いの根拠になる差分にはならない</a:t>
            </a:r>
            <a:endParaRPr lang="en-US" sz="950" dirty="0"/>
          </a:p>
        </p:txBody>
      </p:sp>
      <p:sp>
        <p:nvSpPr>
          <p:cNvPr id="25" name="pane_head"/>
          <p:cNvSpPr txBox="1"/>
          <p:nvPr/>
        </p:nvSpPr>
        <p:spPr>
          <a:xfrm>
            <a:off x="6199632" y="14813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市場の仮説 → 構造上の見方</a:t>
            </a:r>
            <a:endParaRPr lang="en-US" sz="1200" dirty="0"/>
          </a:p>
        </p:txBody>
      </p:sp>
      <p:graphicFrame>
        <p:nvGraphicFramePr>
          <p:cNvPr id="77" name="tbl_hypothesi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1810512"/>
          <a:ext cx="5532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17830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市場の仮説(出所)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構造上の見方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差分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会計が甘い(Muddy Waters)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損失の前提 4.8% は実績 3.7% より保守的。ただし割引率は薄い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一部は過大(優位: 分析)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成長が資本を食う(MS・KBW)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自給率 0.34、律速は自己資本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無し(市場と同じ)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利益が売上に付いてこない(BofA)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販促の裁量的な再投資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(6 検査中 4 つが攻め)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見方の違い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(価値への効きは小さい)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下げすぎ(StoneX・Citi)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 14.7 で株価とほぼ同じ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無し</a:t>
                      </a:r>
                      <a:endParaRPr lang="en-US" sz="8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7" name="pane_head"/>
          <p:cNvSpPr txBox="1"/>
          <p:nvPr/>
        </p:nvSpPr>
        <p:spPr>
          <a:xfrm>
            <a:off x="6199632" y="384048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カタリストの日程</a:t>
            </a:r>
            <a:endParaRPr lang="en-US" sz="1200" dirty="0"/>
          </a:p>
        </p:txBody>
      </p:sp>
      <p:graphicFrame>
        <p:nvGraphicFramePr>
          <p:cNvPr id="115" name="tbl_cataly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99632" y="4160520"/>
          <a:ext cx="55321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828800"/>
                <a:gridCol w="24688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カタリスト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何が分かるか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10/27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2026 決算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 0.17 の達成、公正価値のマーク、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販促費率、総自己資本比率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10/28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FOMC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利上げの有無(確率 3〜5 割)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2027-01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Q4 決算・2027 年見通し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 年の EPS・ROTCE の見通し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2027-07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Q2 2027 決算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自己資本比率 15% 前後で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への切替が進むか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随時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景気(失業率 4.2%)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all-in 貸倒率の上昇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5-2 価値評価(1/4)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価値評価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理論株価の土台になる将来 EPS と ROTCE の経路を、シナリオ別に示す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事業実態 EPS はエンジン経路で 0.60 → 1.66 ドル(2030 年)。4 節点が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すべて成功なら 2.16 ドル、すべて失敗なら 1.22 ドル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事業実態 EPS(調整後 EPS。株式報酬を費用に含む)、ドル。2026〜29 年はコンセンサス・4 節点すべて成功と失敗・事業エンジン、2030 年は延長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コンセンサス(R2・R8)、会社の中期目標(2025→28 年 EPS CAGR 38〜42%)、calc/out/growth_v2.json(4 節点すべて成功・失敗)、calc/out/val.json(事業エンジン)。過去の成長率は使っていない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39</a:t>
            </a:r>
            <a:endParaRPr lang="en-US" sz="800" dirty="0"/>
          </a:p>
        </p:txBody>
      </p:sp>
      <p:graphicFrame>
        <p:nvGraphicFramePr>
          <p:cNvPr id="21" name="chart" descr=""/>
          <p:cNvGraphicFramePr/>
          <p:nvPr/>
        </p:nvGraphicFramePr>
        <p:xfrm>
          <a:off x="457200" y="1508760"/>
          <a:ext cx="76352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ovl_takeaway_bg"/>
          <p:cNvSpPr/>
          <p:nvPr/>
        </p:nvSpPr>
        <p:spPr>
          <a:xfrm>
            <a:off x="8275320" y="1554480"/>
            <a:ext cx="3456432" cy="12344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3" name="takeaway"/>
          <p:cNvSpPr txBox="1"/>
          <p:nvPr/>
        </p:nvSpPr>
        <p:spPr>
          <a:xfrm>
            <a:off x="8385048" y="1627632"/>
            <a:ext cx="3236976" cy="1088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ベースの 2026→29 年の CAGR は 31%。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コンセンサスとの差は ±3% で、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EPS の見通しに差分は無い</a:t>
            </a:r>
            <a:endParaRPr lang="en-US" sz="1100" dirty="0"/>
          </a:p>
        </p:txBody>
      </p:sp>
      <p:sp>
        <p:nvSpPr>
          <p:cNvPr id="24" name="points"/>
          <p:cNvSpPr txBox="1"/>
          <p:nvPr/>
        </p:nvSpPr>
        <p:spPr>
          <a:xfrm>
            <a:off x="8275320" y="2926080"/>
            <a:ext cx="3456432" cy="3154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ROTCE(エンジン)は 2027 年 10.9%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2030 年 14.5%。定常(成長投資を止めた場合)は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 15%(必要資本ベース 18%)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2027 年から自己資本比率の下限で貸出の伸びが止まり、溢れた分は LPB へ回る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強気・弱気は 4 節点(獲得効率・資本の転換・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信用・新しい収益線)を同じ幅で</a:t>
            </a:r>
            <a:br/>
            <a:r>
              <a:rPr lang="en-US" sz="10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逆に動かした(対称)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5-2 価値評価(2/4)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価値評価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構造評価から許容倍率を決め、年度別に当てて理論株価を出す手順を示す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 B は許容 PEG 1.0〜1.15。3 経路の妥当 PER を年度別に当て、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近い年度を重くするとベース 14.9 ドル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年度別理論株価 = Σ 重み × [ 妥当 PER × 翌年度の事業実態 EPS × 生存確率 98.5% を株主資本コスト 13.9% で今日へ割引 ]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calc/val_model.py・out/val.json・out/growth_v2.json、銘柄分析メソッド valuation-model §3-3(構造評価 B の出発 PEG 1.0〜1.3)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40</a:t>
            </a:r>
            <a:endParaRPr lang="en-US" sz="800" dirty="0"/>
          </a:p>
        </p:txBody>
      </p:sp>
      <p:sp>
        <p:nvSpPr>
          <p:cNvPr id="21" name="flow_h0"/>
          <p:cNvSpPr txBox="1"/>
          <p:nvPr/>
        </p:nvSpPr>
        <p:spPr>
          <a:xfrm>
            <a:off x="457200" y="1481328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1100" dirty="0"/>
          </a:p>
        </p:txBody>
      </p:sp>
      <p:sp>
        <p:nvSpPr>
          <p:cNvPr id="22" name="ovl_fbox0_0"/>
          <p:cNvSpPr/>
          <p:nvPr/>
        </p:nvSpPr>
        <p:spPr>
          <a:xfrm>
            <a:off x="457200" y="1865376"/>
            <a:ext cx="2036003" cy="731520"/>
          </a:xfrm>
          <a:prstGeom prst="roundRect">
            <a:avLst>
              <a:gd name="adj" fmla="val 7500"/>
            </a:avLst>
          </a:prstGeom>
          <a:solidFill>
            <a:srgbClr val="86C99B"/>
          </a:solidFill>
          <a:ln w="9525">
            <a:solidFill>
              <a:srgbClr val="86C99B"/>
            </a:solidFill>
            <a:prstDash val="solid"/>
          </a:ln>
        </p:spPr>
      </p:sp>
      <p:sp>
        <p:nvSpPr>
          <p:cNvPr id="23" name="flow_t0_0"/>
          <p:cNvSpPr txBox="1"/>
          <p:nvPr/>
        </p:nvSpPr>
        <p:spPr>
          <a:xfrm>
            <a:off x="530352" y="1901952"/>
            <a:ext cx="18896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2800" dirty="0"/>
          </a:p>
        </p:txBody>
      </p:sp>
      <p:sp>
        <p:nvSpPr>
          <p:cNvPr id="24" name="ovl_fbox0_1"/>
          <p:cNvSpPr/>
          <p:nvPr/>
        </p:nvSpPr>
        <p:spPr>
          <a:xfrm>
            <a:off x="457200" y="2706624"/>
            <a:ext cx="2036003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5" name="flow_t0_1"/>
          <p:cNvSpPr txBox="1"/>
          <p:nvPr/>
        </p:nvSpPr>
        <p:spPr>
          <a:xfrm>
            <a:off x="530352" y="2743200"/>
            <a:ext cx="188969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出発 PEG 1.0〜1.3</a:t>
            </a:r>
            <a:endParaRPr lang="en-US" sz="1000" dirty="0"/>
          </a:p>
        </p:txBody>
      </p:sp>
      <p:sp>
        <p:nvSpPr>
          <p:cNvPr id="26" name="ovl_farrow0"/>
          <p:cNvSpPr/>
          <p:nvPr/>
        </p:nvSpPr>
        <p:spPr>
          <a:xfrm>
            <a:off x="2534351" y="2221992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7" name="flow_h1"/>
          <p:cNvSpPr txBox="1"/>
          <p:nvPr/>
        </p:nvSpPr>
        <p:spPr>
          <a:xfrm>
            <a:off x="2767523" y="1481328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許容 PEG</a:t>
            </a:r>
            <a:endParaRPr lang="en-US" sz="1100" dirty="0"/>
          </a:p>
        </p:txBody>
      </p:sp>
      <p:sp>
        <p:nvSpPr>
          <p:cNvPr id="28" name="ovl_fbox1_0"/>
          <p:cNvSpPr/>
          <p:nvPr/>
        </p:nvSpPr>
        <p:spPr>
          <a:xfrm>
            <a:off x="2767523" y="1865376"/>
            <a:ext cx="2036003" cy="731520"/>
          </a:xfrm>
          <a:prstGeom prst="roundRect">
            <a:avLst>
              <a:gd name="adj" fmla="val 75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29" name="flow_t1_0"/>
          <p:cNvSpPr txBox="1"/>
          <p:nvPr/>
        </p:nvSpPr>
        <p:spPr>
          <a:xfrm>
            <a:off x="2840675" y="1901952"/>
            <a:ext cx="18896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1.0〜1.15</a:t>
            </a:r>
            <a:endParaRPr lang="en-US" sz="2400" dirty="0"/>
          </a:p>
        </p:txBody>
      </p:sp>
      <p:sp>
        <p:nvSpPr>
          <p:cNvPr id="30" name="ovl_fbox1_1"/>
          <p:cNvSpPr/>
          <p:nvPr/>
        </p:nvSpPr>
        <p:spPr>
          <a:xfrm>
            <a:off x="2767523" y="2706624"/>
            <a:ext cx="2036003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1" name="flow_t1_1"/>
          <p:cNvSpPr txBox="1"/>
          <p:nvPr/>
        </p:nvSpPr>
        <p:spPr>
          <a:xfrm>
            <a:off x="2840675" y="2743200"/>
            <a:ext cx="188969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年度で下げる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(2026 末 1.15 → 2029 末 1.00)</a:t>
            </a:r>
            <a:endParaRPr lang="en-US" sz="900" dirty="0"/>
          </a:p>
        </p:txBody>
      </p:sp>
      <p:sp>
        <p:nvSpPr>
          <p:cNvPr id="32" name="ovl_farrow1"/>
          <p:cNvSpPr/>
          <p:nvPr/>
        </p:nvSpPr>
        <p:spPr>
          <a:xfrm>
            <a:off x="4844674" y="2221992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3" name="flow_h2"/>
          <p:cNvSpPr txBox="1"/>
          <p:nvPr/>
        </p:nvSpPr>
        <p:spPr>
          <a:xfrm>
            <a:off x="5077846" y="1481328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妥当 PER(3 経路の平均)</a:t>
            </a:r>
            <a:endParaRPr lang="en-US" sz="1100" dirty="0"/>
          </a:p>
        </p:txBody>
      </p:sp>
      <p:sp>
        <p:nvSpPr>
          <p:cNvPr id="34" name="ovl_fbox2_0"/>
          <p:cNvSpPr/>
          <p:nvPr/>
        </p:nvSpPr>
        <p:spPr>
          <a:xfrm>
            <a:off x="5077846" y="1865376"/>
            <a:ext cx="2036003" cy="1280160"/>
          </a:xfrm>
          <a:prstGeom prst="roundRect">
            <a:avLst>
              <a:gd name="adj" fmla="val 4286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5" name="flow_t2_0"/>
          <p:cNvSpPr txBox="1"/>
          <p:nvPr/>
        </p:nvSpPr>
        <p:spPr>
          <a:xfrm>
            <a:off x="5150998" y="1901952"/>
            <a:ext cx="188969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 同業 13.6 倍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 PEG × 3 年成長率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 事業エンジンの価値</a:t>
            </a:r>
            <a:endParaRPr lang="en-US" sz="1000" dirty="0"/>
          </a:p>
        </p:txBody>
      </p:sp>
      <p:sp>
        <p:nvSpPr>
          <p:cNvPr id="36" name="ovl_farrow2"/>
          <p:cNvSpPr/>
          <p:nvPr/>
        </p:nvSpPr>
        <p:spPr>
          <a:xfrm>
            <a:off x="7154997" y="2221992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37" name="flow_h3"/>
          <p:cNvSpPr txBox="1"/>
          <p:nvPr/>
        </p:nvSpPr>
        <p:spPr>
          <a:xfrm>
            <a:off x="7388169" y="1481328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年度末の目標</a:t>
            </a:r>
            <a:endParaRPr lang="en-US" sz="1100" dirty="0"/>
          </a:p>
        </p:txBody>
      </p:sp>
      <p:sp>
        <p:nvSpPr>
          <p:cNvPr id="38" name="ovl_fbox3_0"/>
          <p:cNvSpPr/>
          <p:nvPr/>
        </p:nvSpPr>
        <p:spPr>
          <a:xfrm>
            <a:off x="7388169" y="1865376"/>
            <a:ext cx="2036003" cy="1280160"/>
          </a:xfrm>
          <a:prstGeom prst="roundRect">
            <a:avLst>
              <a:gd name="adj" fmla="val 4286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9" name="flow_t3_0"/>
          <p:cNvSpPr txBox="1"/>
          <p:nvPr/>
        </p:nvSpPr>
        <p:spPr>
          <a:xfrm>
            <a:off x="7461321" y="1901952"/>
            <a:ext cx="188969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PER × 翌年度 EPS 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生存確率</a:t>
            </a:r>
            <a:endParaRPr lang="en-US" sz="1000" dirty="0"/>
          </a:p>
        </p:txBody>
      </p:sp>
      <p:sp>
        <p:nvSpPr>
          <p:cNvPr id="40" name="ovl_farrow3"/>
          <p:cNvSpPr/>
          <p:nvPr/>
        </p:nvSpPr>
        <p:spPr>
          <a:xfrm>
            <a:off x="9465320" y="2221992"/>
            <a:ext cx="192024" cy="365760"/>
          </a:xfrm>
          <a:prstGeom prst="rightArrow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41" name="flow_h4"/>
          <p:cNvSpPr txBox="1"/>
          <p:nvPr/>
        </p:nvSpPr>
        <p:spPr>
          <a:xfrm>
            <a:off x="9698492" y="1481328"/>
            <a:ext cx="20360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理論株価</a:t>
            </a:r>
            <a:endParaRPr lang="en-US" sz="1100" dirty="0"/>
          </a:p>
        </p:txBody>
      </p:sp>
      <p:sp>
        <p:nvSpPr>
          <p:cNvPr id="42" name="ovl_fbox4_0"/>
          <p:cNvSpPr/>
          <p:nvPr/>
        </p:nvSpPr>
        <p:spPr>
          <a:xfrm>
            <a:off x="9698492" y="1865376"/>
            <a:ext cx="2036003" cy="731520"/>
          </a:xfrm>
          <a:prstGeom prst="roundRect">
            <a:avLst>
              <a:gd name="adj" fmla="val 7500"/>
            </a:avLst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43" name="flow_t4_0"/>
          <p:cNvSpPr txBox="1"/>
          <p:nvPr/>
        </p:nvSpPr>
        <p:spPr>
          <a:xfrm>
            <a:off x="9771644" y="1901952"/>
            <a:ext cx="188969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14.9 ドル</a:t>
            </a:r>
            <a:endParaRPr lang="en-US" sz="2600" dirty="0"/>
          </a:p>
        </p:txBody>
      </p:sp>
      <p:sp>
        <p:nvSpPr>
          <p:cNvPr id="44" name="ovl_fbox4_1"/>
          <p:cNvSpPr/>
          <p:nvPr/>
        </p:nvSpPr>
        <p:spPr>
          <a:xfrm>
            <a:off x="9698492" y="2706624"/>
            <a:ext cx="2036003" cy="502920"/>
          </a:xfrm>
          <a:prstGeom prst="roundRect">
            <a:avLst>
              <a:gd name="adj" fmla="val 10909"/>
            </a:avLst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5" name="flow_t4_1"/>
          <p:cNvSpPr txBox="1"/>
          <p:nvPr/>
        </p:nvSpPr>
        <p:spPr>
          <a:xfrm>
            <a:off x="9771644" y="2743200"/>
            <a:ext cx="188969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期待値 14.7・株価 14.55</a:t>
            </a:r>
            <a:endParaRPr lang="en-US" sz="1000" dirty="0"/>
          </a:p>
        </p:txBody>
      </p:sp>
      <p:graphicFrame>
        <p:nvGraphicFramePr>
          <p:cNvPr id="41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1127455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280160"/>
                <a:gridCol w="1371600"/>
                <a:gridCol w="1371600"/>
                <a:gridCol w="1371600"/>
                <a:gridCol w="1463040"/>
                <a:gridCol w="158191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年度末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翌年度 EPS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3年成長率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 同業 13.6 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 PEG × 成長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 エンジン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目標(平均)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今日の価値(重み)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 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0.84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25.2%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11.5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24.5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10.8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15.6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14.9(40%)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2027 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1.10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21.6%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15.0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26.2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12.3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17.9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15.0(30%)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2028 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1.35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19.8%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18.4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28.0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20.1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14.9(20%)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2029 末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1.66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16.8%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22.5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27.8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16.0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22.1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14.4(10%)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ベース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note"/>
          <p:cNvSpPr txBox="1"/>
          <p:nvPr/>
        </p:nvSpPr>
        <p:spPr>
          <a:xfrm>
            <a:off x="457200" y="5230368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注: a・b・c の列は「倍率 × 翌年度 EPS」の価格(ドル)。</a:t>
            </a:r>
            <a:endParaRPr lang="en-US" sz="850" dirty="0"/>
          </a:p>
        </p:txBody>
      </p:sp>
      <p:sp>
        <p:nvSpPr>
          <p:cNvPr id="48" name="bullets"/>
          <p:cNvSpPr txBox="1"/>
          <p:nvPr/>
        </p:nvSpPr>
        <p:spPr>
          <a:xfrm>
            <a:off x="457200" y="5486400"/>
            <a:ext cx="1127455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 の PEG は 2026 末 1.15・2027 末 1.10・2028 末 1.05・2029 末 1.00(構造 B)。下限は無成長の PER(1/資本コスト = 7.2 倍)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 は事業エンジン(必要資本を引いた株主への配分可能額の DCF)の年度末の価値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株主資本コスト 13.9% = 米 10 年債 5.2% + β 1.93 × 4.5%(β は SOFI 2.2 と同業 NU・HOOD の中央 1.65 の平均)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構造評価が C なら(第1版)ベース 13.3 ドル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5-2 価値評価(3/4)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価値評価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うまくいった場合の価値と確率を、節点ごとの根拠から出し、市場と比べる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うまくいった場合(獲得効率と資本の転換がともに成功)は 18.2 ドルで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確率 22%。期待値は 14.7 ドルで株価とほぼ同じ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確率は「基準(事業エンジン)より良い側に振れる確率」。振れ幅は対称。N1・N2 は信用(N3)に条件付き。4 節点 × 良い/悪い = 16 通りを加重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calc/growth_v2.py・out/growth_v2.json、research_r3/R12(参照クラス)、research/R4(マクロ)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41</a:t>
            </a:r>
            <a:endParaRPr lang="en-US" sz="800" dirty="0"/>
          </a:p>
        </p:txBody>
      </p:sp>
      <p:sp>
        <p:nvSpPr>
          <p:cNvPr id="21" name="pane_l"/>
          <p:cNvSpPr txBox="1"/>
          <p:nvPr/>
        </p:nvSpPr>
        <p:spPr>
          <a:xfrm>
            <a:off x="457200" y="148132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つの節点(良い側に振れる確率と根拠)</a:t>
            </a:r>
            <a:endParaRPr lang="en-US" sz="1200" dirty="0"/>
          </a:p>
        </p:txBody>
      </p:sp>
      <p:sp>
        <p:nvSpPr>
          <p:cNvPr id="22" name="ovl_card_n1"/>
          <p:cNvSpPr/>
          <p:nvPr/>
        </p:nvSpPr>
        <p:spPr>
          <a:xfrm>
            <a:off x="457200" y="1828800"/>
            <a:ext cx="6126480" cy="85039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23" name="ovl_cardbar_n1"/>
          <p:cNvSpPr/>
          <p:nvPr/>
        </p:nvSpPr>
        <p:spPr>
          <a:xfrm>
            <a:off x="457200" y="1828800"/>
            <a:ext cx="64008" cy="850392"/>
          </a:xfrm>
          <a:prstGeom prst="rect">
            <a:avLst/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24" name="node_n_n1"/>
          <p:cNvSpPr txBox="1"/>
          <p:nvPr/>
        </p:nvSpPr>
        <p:spPr>
          <a:xfrm>
            <a:off x="612648" y="18928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N1 獲得効率</a:t>
            </a:r>
            <a:endParaRPr lang="en-US" sz="1100" dirty="0"/>
          </a:p>
        </p:txBody>
      </p:sp>
      <p:sp>
        <p:nvSpPr>
          <p:cNvPr id="25" name="node_g_n1"/>
          <p:cNvSpPr txBox="1"/>
          <p:nvPr/>
        </p:nvSpPr>
        <p:spPr>
          <a:xfrm>
            <a:off x="612648" y="21579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会員の伸び・販促費率・NIM が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基準より良い</a:t>
            </a:r>
            <a:endParaRPr lang="en-US" sz="850" dirty="0"/>
          </a:p>
        </p:txBody>
      </p:sp>
      <p:sp>
        <p:nvSpPr>
          <p:cNvPr id="26" name="node_p_n1"/>
          <p:cNvSpPr txBox="1"/>
          <p:nvPr/>
        </p:nvSpPr>
        <p:spPr>
          <a:xfrm>
            <a:off x="2697480" y="18745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52</a:t>
            </a:r>
            <a:r>
              <a:rPr lang="en-US" sz="1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%</a:t>
            </a:r>
            <a:endParaRPr lang="en-US" sz="1100" dirty="0"/>
          </a:p>
        </p:txBody>
      </p:sp>
      <p:sp>
        <p:nvSpPr>
          <p:cNvPr id="27" name="ovl_ptrack_n1"/>
          <p:cNvSpPr/>
          <p:nvPr/>
        </p:nvSpPr>
        <p:spPr>
          <a:xfrm>
            <a:off x="2697480" y="2286000"/>
            <a:ext cx="82296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ovl_pfill_n1"/>
          <p:cNvSpPr/>
          <p:nvPr/>
        </p:nvSpPr>
        <p:spPr>
          <a:xfrm>
            <a:off x="2697480" y="2286000"/>
            <a:ext cx="427939" cy="54864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9" name="node_c_n1"/>
          <p:cNvSpPr txBox="1"/>
          <p:nvPr/>
        </p:nvSpPr>
        <p:spPr>
          <a:xfrm>
            <a:off x="2697480" y="2377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信用が良いとき 62%、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悪いとき 45%</a:t>
            </a:r>
            <a:endParaRPr lang="en-US" sz="800" dirty="0"/>
          </a:p>
        </p:txBody>
      </p:sp>
      <p:sp>
        <p:nvSpPr>
          <p:cNvPr id="30" name="node_mp_n1"/>
          <p:cNvSpPr txBox="1"/>
          <p:nvPr/>
        </p:nvSpPr>
        <p:spPr>
          <a:xfrm>
            <a:off x="3931920" y="2098548"/>
            <a:ext cx="12801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</a:t>
            </a:r>
            <a:endParaRPr lang="en-US" sz="850" dirty="0"/>
          </a:p>
        </p:txBody>
      </p:sp>
      <p:sp>
        <p:nvSpPr>
          <p:cNvPr id="31" name="node_ep_n1"/>
          <p:cNvSpPr txBox="1"/>
          <p:nvPr/>
        </p:nvSpPr>
        <p:spPr>
          <a:xfrm>
            <a:off x="4069080" y="2098548"/>
            <a:ext cx="2423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クロスバイ 51%・製品当たり獲得費 −15%</a:t>
            </a:r>
            <a:endParaRPr lang="en-US" sz="850" dirty="0"/>
          </a:p>
        </p:txBody>
      </p:sp>
      <p:sp>
        <p:nvSpPr>
          <p:cNvPr id="32" name="node_mm_n1"/>
          <p:cNvSpPr txBox="1"/>
          <p:nvPr/>
        </p:nvSpPr>
        <p:spPr>
          <a:xfrm>
            <a:off x="3931920" y="2276856"/>
            <a:ext cx="12801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</a:t>
            </a:r>
            <a:endParaRPr lang="en-US" sz="850" dirty="0"/>
          </a:p>
        </p:txBody>
      </p:sp>
      <p:sp>
        <p:nvSpPr>
          <p:cNvPr id="33" name="node_em_n1"/>
          <p:cNvSpPr txBox="1"/>
          <p:nvPr/>
        </p:nvSpPr>
        <p:spPr>
          <a:xfrm>
            <a:off x="4069080" y="2276856"/>
            <a:ext cx="2423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会員当たり +17%・FS 貢献利益率 −6pt</a:t>
            </a:r>
            <a:endParaRPr lang="en-US" sz="850" dirty="0"/>
          </a:p>
        </p:txBody>
      </p:sp>
      <p:sp>
        <p:nvSpPr>
          <p:cNvPr id="34" name="ovl_card_n2"/>
          <p:cNvSpPr/>
          <p:nvPr/>
        </p:nvSpPr>
        <p:spPr>
          <a:xfrm>
            <a:off x="457200" y="2743200"/>
            <a:ext cx="6126480" cy="85039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35" name="ovl_cardbar_n2"/>
          <p:cNvSpPr/>
          <p:nvPr/>
        </p:nvSpPr>
        <p:spPr>
          <a:xfrm>
            <a:off x="457200" y="2743200"/>
            <a:ext cx="64008" cy="850392"/>
          </a:xfrm>
          <a:prstGeom prst="rect">
            <a:avLst/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36" name="node_n_n2"/>
          <p:cNvSpPr txBox="1"/>
          <p:nvPr/>
        </p:nvSpPr>
        <p:spPr>
          <a:xfrm>
            <a:off x="612648" y="28072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N2 資本の転換</a:t>
            </a:r>
            <a:endParaRPr lang="en-US" sz="1100" dirty="0"/>
          </a:p>
        </p:txBody>
      </p:sp>
      <p:sp>
        <p:nvSpPr>
          <p:cNvPr id="37" name="node_g_n2"/>
          <p:cNvSpPr txBox="1"/>
          <p:nvPr/>
        </p:nvSpPr>
        <p:spPr>
          <a:xfrm>
            <a:off x="612648" y="30723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が基準より伸び、資本の上限を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超えた分を受ける</a:t>
            </a:r>
            <a:endParaRPr lang="en-US" sz="850" dirty="0"/>
          </a:p>
        </p:txBody>
      </p:sp>
      <p:sp>
        <p:nvSpPr>
          <p:cNvPr id="38" name="node_p_n2"/>
          <p:cNvSpPr txBox="1"/>
          <p:nvPr/>
        </p:nvSpPr>
        <p:spPr>
          <a:xfrm>
            <a:off x="2697480" y="27889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40</a:t>
            </a:r>
            <a:r>
              <a:rPr lang="en-US" sz="1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%</a:t>
            </a:r>
            <a:endParaRPr lang="en-US" sz="1100" dirty="0"/>
          </a:p>
        </p:txBody>
      </p:sp>
      <p:sp>
        <p:nvSpPr>
          <p:cNvPr id="39" name="ovl_ptrack_n2"/>
          <p:cNvSpPr/>
          <p:nvPr/>
        </p:nvSpPr>
        <p:spPr>
          <a:xfrm>
            <a:off x="2697480" y="3200400"/>
            <a:ext cx="82296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ovl_pfill_n2"/>
          <p:cNvSpPr/>
          <p:nvPr/>
        </p:nvSpPr>
        <p:spPr>
          <a:xfrm>
            <a:off x="2697480" y="3200400"/>
            <a:ext cx="329184" cy="54864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41" name="node_c_n2"/>
          <p:cNvSpPr txBox="1"/>
          <p:nvPr/>
        </p:nvSpPr>
        <p:spPr>
          <a:xfrm>
            <a:off x="2697480" y="3291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信用が良いとき 55%、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悪いとき 30%</a:t>
            </a:r>
            <a:endParaRPr lang="en-US" sz="800" dirty="0"/>
          </a:p>
        </p:txBody>
      </p:sp>
      <p:sp>
        <p:nvSpPr>
          <p:cNvPr id="42" name="node_mp_n2"/>
          <p:cNvSpPr txBox="1"/>
          <p:nvPr/>
        </p:nvSpPr>
        <p:spPr>
          <a:xfrm>
            <a:off x="3931920" y="2946654"/>
            <a:ext cx="12801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</a:t>
            </a:r>
            <a:endParaRPr lang="en-US" sz="850" dirty="0"/>
          </a:p>
        </p:txBody>
      </p:sp>
      <p:sp>
        <p:nvSpPr>
          <p:cNvPr id="43" name="node_ep_n2"/>
          <p:cNvSpPr txBox="1"/>
          <p:nvPr/>
        </p:nvSpPr>
        <p:spPr>
          <a:xfrm>
            <a:off x="4069080" y="2946654"/>
            <a:ext cx="2423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契約 100 億ドル超</a:t>
            </a:r>
            <a:endParaRPr lang="en-US" sz="850" dirty="0"/>
          </a:p>
        </p:txBody>
      </p:sp>
      <p:sp>
        <p:nvSpPr>
          <p:cNvPr id="44" name="node_mm_n2"/>
          <p:cNvSpPr txBox="1"/>
          <p:nvPr/>
        </p:nvSpPr>
        <p:spPr>
          <a:xfrm>
            <a:off x="3931920" y="3124962"/>
            <a:ext cx="1280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</a:t>
            </a:r>
            <a:endParaRPr lang="en-US" sz="850" dirty="0"/>
          </a:p>
        </p:txBody>
      </p:sp>
      <p:sp>
        <p:nvSpPr>
          <p:cNvPr id="45" name="node_em_n2"/>
          <p:cNvSpPr txBox="1"/>
          <p:nvPr/>
        </p:nvSpPr>
        <p:spPr>
          <a:xfrm>
            <a:off x="4069080" y="3124962"/>
            <a:ext cx="2423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37→31 億ドル・金利上昇・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買い手は衝撃時に 3 回中 2 回引いた</a:t>
            </a:r>
            <a:endParaRPr lang="en-US" sz="850" dirty="0"/>
          </a:p>
        </p:txBody>
      </p:sp>
      <p:sp>
        <p:nvSpPr>
          <p:cNvPr id="46" name="ovl_card_n3"/>
          <p:cNvSpPr/>
          <p:nvPr/>
        </p:nvSpPr>
        <p:spPr>
          <a:xfrm>
            <a:off x="457200" y="3657600"/>
            <a:ext cx="6126480" cy="85039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47" name="ovl_cardbar_n3"/>
          <p:cNvSpPr/>
          <p:nvPr/>
        </p:nvSpPr>
        <p:spPr>
          <a:xfrm>
            <a:off x="457200" y="3657600"/>
            <a:ext cx="64008" cy="850392"/>
          </a:xfrm>
          <a:prstGeom prst="rect">
            <a:avLst/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48" name="node_n_n3"/>
          <p:cNvSpPr txBox="1"/>
          <p:nvPr/>
        </p:nvSpPr>
        <p:spPr>
          <a:xfrm>
            <a:off x="612648" y="37216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N3 信用</a:t>
            </a:r>
            <a:endParaRPr lang="en-US" sz="1100" dirty="0"/>
          </a:p>
        </p:txBody>
      </p:sp>
      <p:sp>
        <p:nvSpPr>
          <p:cNvPr id="49" name="node_g_n3"/>
          <p:cNvSpPr txBox="1"/>
          <p:nvPr/>
        </p:nvSpPr>
        <p:spPr>
          <a:xfrm>
            <a:off x="612648" y="39867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all-in 貸倒率が 3.7% より良い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(3.2%。悪い側は 4.2%)</a:t>
            </a:r>
            <a:endParaRPr lang="en-US" sz="850" dirty="0"/>
          </a:p>
        </p:txBody>
      </p:sp>
      <p:sp>
        <p:nvSpPr>
          <p:cNvPr id="50" name="node_p_n3"/>
          <p:cNvSpPr txBox="1"/>
          <p:nvPr/>
        </p:nvSpPr>
        <p:spPr>
          <a:xfrm>
            <a:off x="2697480" y="3703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40</a:t>
            </a:r>
            <a:r>
              <a:rPr lang="en-US" sz="1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%</a:t>
            </a:r>
            <a:endParaRPr lang="en-US" sz="1100" dirty="0"/>
          </a:p>
        </p:txBody>
      </p:sp>
      <p:sp>
        <p:nvSpPr>
          <p:cNvPr id="51" name="ovl_ptrack_n3"/>
          <p:cNvSpPr/>
          <p:nvPr/>
        </p:nvSpPr>
        <p:spPr>
          <a:xfrm>
            <a:off x="2697480" y="4114800"/>
            <a:ext cx="82296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ovl_pfill_n3"/>
          <p:cNvSpPr/>
          <p:nvPr/>
        </p:nvSpPr>
        <p:spPr>
          <a:xfrm>
            <a:off x="2697480" y="4114800"/>
            <a:ext cx="329184" cy="54864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53" name="node_c_n3"/>
          <p:cNvSpPr txBox="1"/>
          <p:nvPr/>
        </p:nvSpPr>
        <p:spPr>
          <a:xfrm>
            <a:off x="2697480" y="4206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N1・N2 の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確率の条件になる</a:t>
            </a:r>
            <a:endParaRPr lang="en-US" sz="800" dirty="0"/>
          </a:p>
        </p:txBody>
      </p:sp>
      <p:sp>
        <p:nvSpPr>
          <p:cNvPr id="54" name="node_mp_n3"/>
          <p:cNvSpPr txBox="1"/>
          <p:nvPr/>
        </p:nvSpPr>
        <p:spPr>
          <a:xfrm>
            <a:off x="3931920" y="3927348"/>
            <a:ext cx="12801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</a:t>
            </a:r>
            <a:endParaRPr lang="en-US" sz="850" dirty="0"/>
          </a:p>
        </p:txBody>
      </p:sp>
      <p:sp>
        <p:nvSpPr>
          <p:cNvPr id="55" name="node_ep_n3"/>
          <p:cNvSpPr txBox="1"/>
          <p:nvPr/>
        </p:nvSpPr>
        <p:spPr>
          <a:xfrm>
            <a:off x="4069080" y="3927348"/>
            <a:ext cx="2423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all-in は直近改善</a:t>
            </a:r>
            <a:endParaRPr lang="en-US" sz="850" dirty="0"/>
          </a:p>
        </p:txBody>
      </p:sp>
      <p:sp>
        <p:nvSpPr>
          <p:cNvPr id="56" name="node_mm_n3"/>
          <p:cNvSpPr txBox="1"/>
          <p:nvPr/>
        </p:nvSpPr>
        <p:spPr>
          <a:xfrm>
            <a:off x="3931920" y="4105656"/>
            <a:ext cx="12801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</a:t>
            </a:r>
            <a:endParaRPr lang="en-US" sz="850" dirty="0"/>
          </a:p>
        </p:txBody>
      </p:sp>
      <p:sp>
        <p:nvSpPr>
          <p:cNvPr id="57" name="node_em_n3"/>
          <p:cNvSpPr txBox="1"/>
          <p:nvPr/>
        </p:nvSpPr>
        <p:spPr>
          <a:xfrm>
            <a:off x="4069080" y="4105656"/>
            <a:ext cx="2423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失業率 4.2%・個人ローン延滞の上昇</a:t>
            </a:r>
            <a:endParaRPr lang="en-US" sz="850" dirty="0"/>
          </a:p>
        </p:txBody>
      </p:sp>
      <p:sp>
        <p:nvSpPr>
          <p:cNvPr id="58" name="ovl_card_n4"/>
          <p:cNvSpPr/>
          <p:nvPr/>
        </p:nvSpPr>
        <p:spPr>
          <a:xfrm>
            <a:off x="457200" y="4572000"/>
            <a:ext cx="6126480" cy="850392"/>
          </a:xfrm>
          <a:prstGeom prst="rect">
            <a:avLst/>
          </a:prstGeom>
          <a:solidFill>
            <a:srgbClr val="EAF4EE"/>
          </a:solidFill>
          <a:ln w="9525">
            <a:solidFill>
              <a:srgbClr val="EAF4EE"/>
            </a:solidFill>
            <a:prstDash val="solid"/>
          </a:ln>
        </p:spPr>
      </p:sp>
      <p:sp>
        <p:nvSpPr>
          <p:cNvPr id="59" name="ovl_cardbar_n4"/>
          <p:cNvSpPr/>
          <p:nvPr/>
        </p:nvSpPr>
        <p:spPr>
          <a:xfrm>
            <a:off x="457200" y="4572000"/>
            <a:ext cx="64008" cy="850392"/>
          </a:xfrm>
          <a:prstGeom prst="rect">
            <a:avLst/>
          </a:prstGeom>
          <a:solidFill>
            <a:srgbClr val="0E4D33"/>
          </a:solidFill>
          <a:ln w="9525">
            <a:solidFill>
              <a:srgbClr val="0E4D33"/>
            </a:solidFill>
            <a:prstDash val="solid"/>
          </a:ln>
        </p:spPr>
      </p:sp>
      <p:sp>
        <p:nvSpPr>
          <p:cNvPr id="60" name="node_n_n4"/>
          <p:cNvSpPr txBox="1"/>
          <p:nvPr/>
        </p:nvSpPr>
        <p:spPr>
          <a:xfrm>
            <a:off x="612648" y="46360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N4 新しい収益線</a:t>
            </a:r>
            <a:endParaRPr lang="en-US" sz="1100" dirty="0"/>
          </a:p>
        </p:txBody>
      </p:sp>
      <p:sp>
        <p:nvSpPr>
          <p:cNvPr id="61" name="node_g_n4"/>
          <p:cNvSpPr txBox="1"/>
          <p:nvPr/>
        </p:nvSpPr>
        <p:spPr>
          <a:xfrm>
            <a:off x="612648" y="49011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の伸びが 8〜10% を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上回る、SoFiUSD</a:t>
            </a:r>
            <a:endParaRPr lang="en-US" sz="850" dirty="0"/>
          </a:p>
        </p:txBody>
      </p:sp>
      <p:sp>
        <p:nvSpPr>
          <p:cNvPr id="62" name="node_p_n4"/>
          <p:cNvSpPr txBox="1"/>
          <p:nvPr/>
        </p:nvSpPr>
        <p:spPr>
          <a:xfrm>
            <a:off x="2697480" y="46177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50</a:t>
            </a:r>
            <a:r>
              <a:rPr lang="en-US" sz="12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%</a:t>
            </a:r>
            <a:endParaRPr lang="en-US" sz="1100" dirty="0"/>
          </a:p>
        </p:txBody>
      </p:sp>
      <p:sp>
        <p:nvSpPr>
          <p:cNvPr id="63" name="ovl_ptrack_n4"/>
          <p:cNvSpPr/>
          <p:nvPr/>
        </p:nvSpPr>
        <p:spPr>
          <a:xfrm>
            <a:off x="2697480" y="5029200"/>
            <a:ext cx="82296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ovl_pfill_n4"/>
          <p:cNvSpPr/>
          <p:nvPr/>
        </p:nvSpPr>
        <p:spPr>
          <a:xfrm>
            <a:off x="2697480" y="5029200"/>
            <a:ext cx="411480" cy="54864"/>
          </a:xfrm>
          <a:prstGeom prst="rect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65" name="node_mp_n4"/>
          <p:cNvSpPr txBox="1"/>
          <p:nvPr/>
        </p:nvSpPr>
        <p:spPr>
          <a:xfrm>
            <a:off x="3931920" y="4841748"/>
            <a:ext cx="12801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</a:t>
            </a:r>
            <a:endParaRPr lang="en-US" sz="850" dirty="0"/>
          </a:p>
        </p:txBody>
      </p:sp>
      <p:sp>
        <p:nvSpPr>
          <p:cNvPr id="66" name="node_ep_n4"/>
          <p:cNvSpPr txBox="1"/>
          <p:nvPr/>
        </p:nvSpPr>
        <p:spPr>
          <a:xfrm>
            <a:off x="4069080" y="4841748"/>
            <a:ext cx="2423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前期比 +12.5%・自社利用</a:t>
            </a:r>
            <a:endParaRPr lang="en-US" sz="850" dirty="0"/>
          </a:p>
        </p:txBody>
      </p:sp>
      <p:sp>
        <p:nvSpPr>
          <p:cNvPr id="67" name="node_mm_n4"/>
          <p:cNvSpPr txBox="1"/>
          <p:nvPr/>
        </p:nvSpPr>
        <p:spPr>
          <a:xfrm>
            <a:off x="3931920" y="5020056"/>
            <a:ext cx="128016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</a:t>
            </a:r>
            <a:endParaRPr lang="en-US" sz="850" dirty="0"/>
          </a:p>
        </p:txBody>
      </p:sp>
      <p:sp>
        <p:nvSpPr>
          <p:cNvPr id="68" name="node_em_n4"/>
          <p:cNvSpPr txBox="1"/>
          <p:nvPr/>
        </p:nvSpPr>
        <p:spPr>
          <a:xfrm>
            <a:off x="4069080" y="5020056"/>
            <a:ext cx="2423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貢献利益率の低下</a:t>
            </a:r>
            <a:endParaRPr lang="en-US" sz="850" dirty="0"/>
          </a:p>
        </p:txBody>
      </p:sp>
      <p:sp>
        <p:nvSpPr>
          <p:cNvPr id="69" name="pane_r"/>
          <p:cNvSpPr txBox="1"/>
          <p:nvPr/>
        </p:nvSpPr>
        <p:spPr>
          <a:xfrm>
            <a:off x="6812280" y="1481328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節点を束ねた結果(16 通りの加重)</a:t>
            </a:r>
            <a:endParaRPr lang="en-US" sz="1200" dirty="0"/>
          </a:p>
        </p:txBody>
      </p:sp>
      <p:graphicFrame>
        <p:nvGraphicFramePr>
          <p:cNvPr id="42" name="tbl_bund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828800"/>
          <a:ext cx="491947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097280"/>
                <a:gridCol w="621792"/>
                <a:gridCol w="1188720"/>
                <a:gridCol w="6858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定義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確率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2028 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強気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(うまくいった場合)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N1 と N2 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ともに良い側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21.7%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18.2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ベース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片方だけ良い側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48.3%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14.9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弱気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N1 と N2 が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ともに悪い側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29.9%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11.8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 節点すべて成功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6.8%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19.7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1.37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 節点すべて失敗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11.5%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10.8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0.85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期待値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(16 通りの加重)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4D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14.7(標準偏差 2.7)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1" name="pane_r2"/>
          <p:cNvSpPr txBox="1"/>
          <p:nvPr/>
        </p:nvSpPr>
        <p:spPr>
          <a:xfrm>
            <a:off x="6812280" y="425196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市場との比較</a:t>
            </a:r>
            <a:endParaRPr lang="en-US" sz="1200" dirty="0"/>
          </a:p>
        </p:txBody>
      </p:sp>
      <p:sp>
        <p:nvSpPr>
          <p:cNvPr id="72" name="bul_market"/>
          <p:cNvSpPr txBox="1"/>
          <p:nvPr/>
        </p:nvSpPr>
        <p:spPr>
          <a:xfrm>
            <a:off x="6812280" y="4562856"/>
            <a:ext cx="4919472" cy="10241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 14.55 ドルが示す強気の確率は 16.6%</a:t>
            </a:r>
            <a:br/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(弱気 29.9% を固定し、強気とベースの比を逆算)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本資料の 21.7% との差 5pt は、N1・N2 を ±10pt 動かした幅</a:t>
            </a:r>
            <a:br/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(強気 13.6〜31.9%、期待値 14.2〜15.3 ドル)の内側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アナリストの最高目標(Citi 30 ドル)は 2028 年 EPS の約 28 倍を要する。</a:t>
            </a:r>
            <a:br/>
            <a:r>
              <a:rPr lang="en-US" sz="9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本資料は資本コスト 13.9% と同業 PER 13.6 倍のため強気でも 18〜20 ドル</a:t>
            </a:r>
            <a:endParaRPr lang="en-US" sz="900" dirty="0"/>
          </a:p>
        </p:txBody>
      </p:sp>
      <p:sp>
        <p:nvSpPr>
          <p:cNvPr id="73" name="ovl_takeaway_bg"/>
          <p:cNvSpPr/>
          <p:nvPr/>
        </p:nvSpPr>
        <p:spPr>
          <a:xfrm>
            <a:off x="457200" y="5623560"/>
            <a:ext cx="11274552" cy="5486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74" name="takeaway"/>
          <p:cNvSpPr txBox="1"/>
          <p:nvPr/>
        </p:nvSpPr>
        <p:spPr>
          <a:xfrm>
            <a:off x="566928" y="5696712"/>
            <a:ext cx="11055096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うまくいった場合の価値は 18.2 ドル(確率 22%)。期待値 14.7 ドルは株価とほぼ同じで、確率の差は市場との差分にならない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5-2 価値評価(4/4)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価値評価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前提がずれたとき理論株価がどれだけ動くか(頑健さ)と、別の方法との差を確かめる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信用が 0.75pt 悪化すると 12.9 ドル、β が銀行並みの 1.0 なら 19.2 ドル。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DCF 10.6 ドルと TBV×ROTCE の照合は PER の方法より低い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芯の 2 変数(貸倒・販促費率)を動かしたときの理論株価。右: 金利と、別の評価方法との照合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calc/out/growth_v2.json(sens: 信用 × 販促費率・資本コスト・DCF、第2版)、calc/out/val.json(tbv_check・steady_state)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42</a:t>
            </a:r>
            <a:endParaRPr lang="en-US" sz="800" dirty="0"/>
          </a:p>
        </p:txBody>
      </p:sp>
      <p:sp>
        <p:nvSpPr>
          <p:cNvPr id="21" name="pane_head"/>
          <p:cNvSpPr txBox="1"/>
          <p:nvPr/>
        </p:nvSpPr>
        <p:spPr>
          <a:xfrm>
            <a:off x="45720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貸倒 × 販促費率の感応度(理論株価、ドル)</a:t>
            </a:r>
            <a:endParaRPr lang="en-US" sz="1200" dirty="0"/>
          </a:p>
        </p:txBody>
      </p:sp>
      <p:graphicFrame>
        <p:nvGraphicFramePr>
          <p:cNvPr id="43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28016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個人ローンの貸倒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(恒常的な変化)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販促費率 −2pt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計画どおり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+2pt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−0.75pt(改善)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18.2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17.1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16.1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0(ベース)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15.9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14.9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13.9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+0.75pt(景気減速)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13.8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12.9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11.9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+1.5pt(景気後退)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11.9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11.0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10.1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3" name="note"/>
          <p:cNvSpPr txBox="1"/>
          <p:nvPr/>
        </p:nvSpPr>
        <p:spPr>
          <a:xfrm>
            <a:off x="457200" y="4206240"/>
            <a:ext cx="57607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販促費率の計画: 32%(2026)→ 25.5%(2030)。貸倒 +1pt は税引前利益で約 5 億ドル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(2027 年の B/S 規模)</a:t>
            </a:r>
            <a:endParaRPr lang="en-US" sz="950" dirty="0"/>
          </a:p>
        </p:txBody>
      </p:sp>
      <p:sp>
        <p:nvSpPr>
          <p:cNvPr id="24" name="pane_head"/>
          <p:cNvSpPr txBox="1"/>
          <p:nvPr/>
        </p:nvSpPr>
        <p:spPr>
          <a:xfrm>
            <a:off x="6446520" y="148132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金利と別の方法との照合</a:t>
            </a:r>
            <a:endParaRPr lang="en-US" sz="1200" dirty="0"/>
          </a:p>
        </p:txBody>
      </p:sp>
      <p:graphicFrame>
        <p:nvGraphicFramePr>
          <p:cNvPr id="8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828800"/>
          <a:ext cx="528523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133856"/>
                <a:gridCol w="1133856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方法・前提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年度別 PER(ベース、資本コスト 13.9%、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β 1.93)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1.02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資本コスト +1pt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0.99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β が 1.3 に下がった場合(資本コスト 11.0%)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17.2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1.18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β が銀行並みの 1.0 の場合(9.7%)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19.2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1.32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DCF(必要資本控除後の配分可能額)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10.6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0.73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TBV × (ROTCE − g)/(r − g)、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 15% / 18%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8.4 / 10.9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0.57 / 0.75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定常状態価値(成長投資を止めた場合)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9.1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0.62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ovl_takeaway_bg"/>
          <p:cNvSpPr/>
          <p:nvPr/>
        </p:nvSpPr>
        <p:spPr>
          <a:xfrm>
            <a:off x="6446520" y="4663440"/>
            <a:ext cx="5285232" cy="100584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7" name="takeaway"/>
          <p:cNvSpPr txBox="1"/>
          <p:nvPr/>
        </p:nvSpPr>
        <p:spPr>
          <a:xfrm>
            <a:off x="6556248" y="4736592"/>
            <a:ext cx="5065776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PER の方法は成長を評価するが、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資本の重さを見る方法(DCF・TBV)はさらに低い。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β が銀行並みに下がる証拠はまだ無く、本体は β 1.93 のまま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5-3 最終判断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最終判断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構造評価と価格の乖離を合わせ、投資判断とエントリー価格帯を決める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経路の乖離は −7〜+15%(エンジン +2%)で、構造評価 B の表では「監視」。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株価 14.55 ドルは見送り圏で、分割の目安は 13.2 ドル以下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 × 価格乖離の 2 軸マトリクス(valuation-model §4-1)、3 経路の乖離、非対称性、エントリー価格帯(scenario-strategy §6)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calc/out/growth_v2.json(第2版)、calc/out/val.json、銘柄分析メソッド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43</a:t>
            </a:r>
            <a:endParaRPr lang="en-US" sz="800" dirty="0"/>
          </a:p>
        </p:txBody>
      </p:sp>
      <p:sp>
        <p:nvSpPr>
          <p:cNvPr id="21" name="mx_yt"/>
          <p:cNvSpPr txBox="1"/>
          <p:nvPr/>
        </p:nvSpPr>
        <p:spPr>
          <a:xfrm>
            <a:off x="457200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構造評価</a:t>
            </a:r>
            <a:endParaRPr lang="en-US" sz="900" dirty="0"/>
          </a:p>
        </p:txBody>
      </p:sp>
      <p:sp>
        <p:nvSpPr>
          <p:cNvPr id="22" name="mx_x0"/>
          <p:cNvSpPr txBox="1"/>
          <p:nvPr/>
        </p:nvSpPr>
        <p:spPr>
          <a:xfrm>
            <a:off x="1463040" y="1554480"/>
            <a:ext cx="1257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+30% 以上</a:t>
            </a:r>
            <a:endParaRPr lang="en-US" sz="950" dirty="0"/>
          </a:p>
        </p:txBody>
      </p:sp>
      <p:sp>
        <p:nvSpPr>
          <p:cNvPr id="23" name="mx_x1"/>
          <p:cNvSpPr txBox="1"/>
          <p:nvPr/>
        </p:nvSpPr>
        <p:spPr>
          <a:xfrm>
            <a:off x="2720340" y="1554480"/>
            <a:ext cx="1257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+10〜30%</a:t>
            </a:r>
            <a:endParaRPr lang="en-US" sz="950" dirty="0"/>
          </a:p>
        </p:txBody>
      </p:sp>
      <p:sp>
        <p:nvSpPr>
          <p:cNvPr id="24" name="mx_x2"/>
          <p:cNvSpPr txBox="1"/>
          <p:nvPr/>
        </p:nvSpPr>
        <p:spPr>
          <a:xfrm>
            <a:off x="3977640" y="1554480"/>
            <a:ext cx="1257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−10〜+10%</a:t>
            </a:r>
            <a:endParaRPr lang="en-US" sz="950" dirty="0"/>
          </a:p>
        </p:txBody>
      </p:sp>
      <p:sp>
        <p:nvSpPr>
          <p:cNvPr id="25" name="mx_x3"/>
          <p:cNvSpPr txBox="1"/>
          <p:nvPr/>
        </p:nvSpPr>
        <p:spPr>
          <a:xfrm>
            <a:off x="5234940" y="1554480"/>
            <a:ext cx="1257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−10% 未満</a:t>
            </a:r>
            <a:endParaRPr lang="en-US" sz="950" dirty="0"/>
          </a:p>
        </p:txBody>
      </p:sp>
      <p:sp>
        <p:nvSpPr>
          <p:cNvPr id="26" name="mx_y0"/>
          <p:cNvSpPr txBox="1"/>
          <p:nvPr/>
        </p:nvSpPr>
        <p:spPr>
          <a:xfrm>
            <a:off x="457200" y="192024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S・A</a:t>
            </a:r>
            <a:endParaRPr lang="en-US" sz="950" dirty="0"/>
          </a:p>
        </p:txBody>
      </p:sp>
      <p:sp>
        <p:nvSpPr>
          <p:cNvPr id="27" name="ovl_mx0_0"/>
          <p:cNvSpPr/>
          <p:nvPr/>
        </p:nvSpPr>
        <p:spPr>
          <a:xfrm>
            <a:off x="1463040" y="19202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8" name="mx_t0_0"/>
          <p:cNvSpPr txBox="1"/>
          <p:nvPr/>
        </p:nvSpPr>
        <p:spPr>
          <a:xfrm>
            <a:off x="1508760" y="19476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</a:t>
            </a:r>
            <a:endParaRPr lang="en-US" sz="950" dirty="0"/>
          </a:p>
        </p:txBody>
      </p:sp>
      <p:sp>
        <p:nvSpPr>
          <p:cNvPr id="29" name="ovl_mx1_0"/>
          <p:cNvSpPr/>
          <p:nvPr/>
        </p:nvSpPr>
        <p:spPr>
          <a:xfrm>
            <a:off x="2720340" y="19202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0" name="mx_t1_0"/>
          <p:cNvSpPr txBox="1"/>
          <p:nvPr/>
        </p:nvSpPr>
        <p:spPr>
          <a:xfrm>
            <a:off x="2766060" y="19476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</a:t>
            </a:r>
            <a:endParaRPr lang="en-US" sz="950" dirty="0"/>
          </a:p>
        </p:txBody>
      </p:sp>
      <p:sp>
        <p:nvSpPr>
          <p:cNvPr id="31" name="ovl_mx2_0"/>
          <p:cNvSpPr/>
          <p:nvPr/>
        </p:nvSpPr>
        <p:spPr>
          <a:xfrm>
            <a:off x="3977640" y="19202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2" name="mx_t2_0"/>
          <p:cNvSpPr txBox="1"/>
          <p:nvPr/>
        </p:nvSpPr>
        <p:spPr>
          <a:xfrm>
            <a:off x="4023360" y="19476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買い検討</a:t>
            </a:r>
            <a:endParaRPr lang="en-US" sz="950" dirty="0"/>
          </a:p>
        </p:txBody>
      </p:sp>
      <p:sp>
        <p:nvSpPr>
          <p:cNvPr id="33" name="ovl_mx3_0"/>
          <p:cNvSpPr/>
          <p:nvPr/>
        </p:nvSpPr>
        <p:spPr>
          <a:xfrm>
            <a:off x="5234940" y="19202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mx_t3_0"/>
          <p:cNvSpPr txBox="1"/>
          <p:nvPr/>
        </p:nvSpPr>
        <p:spPr>
          <a:xfrm>
            <a:off x="5280660" y="19476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</a:t>
            </a:r>
            <a:endParaRPr lang="en-US" sz="950" dirty="0"/>
          </a:p>
        </p:txBody>
      </p:sp>
      <p:sp>
        <p:nvSpPr>
          <p:cNvPr id="35" name="mx_y1"/>
          <p:cNvSpPr txBox="1"/>
          <p:nvPr/>
        </p:nvSpPr>
        <p:spPr>
          <a:xfrm>
            <a:off x="457200" y="260604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</a:t>
            </a:r>
            <a:endParaRPr lang="en-US" sz="950" dirty="0"/>
          </a:p>
        </p:txBody>
      </p:sp>
      <p:sp>
        <p:nvSpPr>
          <p:cNvPr id="36" name="ovl_mx0_1"/>
          <p:cNvSpPr/>
          <p:nvPr/>
        </p:nvSpPr>
        <p:spPr>
          <a:xfrm>
            <a:off x="1463040" y="26060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7" name="mx_t0_1"/>
          <p:cNvSpPr txBox="1"/>
          <p:nvPr/>
        </p:nvSpPr>
        <p:spPr>
          <a:xfrm>
            <a:off x="1508760" y="26334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</a:t>
            </a:r>
            <a:endParaRPr lang="en-US" sz="950" dirty="0"/>
          </a:p>
        </p:txBody>
      </p:sp>
      <p:sp>
        <p:nvSpPr>
          <p:cNvPr id="38" name="ovl_mx1_1"/>
          <p:cNvSpPr/>
          <p:nvPr/>
        </p:nvSpPr>
        <p:spPr>
          <a:xfrm>
            <a:off x="2720340" y="26060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9" name="mx_t1_1"/>
          <p:cNvSpPr txBox="1"/>
          <p:nvPr/>
        </p:nvSpPr>
        <p:spPr>
          <a:xfrm>
            <a:off x="2766060" y="26334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買い検討</a:t>
            </a:r>
            <a:endParaRPr lang="en-US" sz="950" dirty="0"/>
          </a:p>
        </p:txBody>
      </p:sp>
      <p:sp>
        <p:nvSpPr>
          <p:cNvPr id="40" name="ovl_mx2_1"/>
          <p:cNvSpPr/>
          <p:nvPr/>
        </p:nvSpPr>
        <p:spPr>
          <a:xfrm>
            <a:off x="3977640" y="2606040"/>
            <a:ext cx="1220724" cy="649224"/>
          </a:xfrm>
          <a:prstGeom prst="rect">
            <a:avLst/>
          </a:prstGeom>
          <a:solidFill>
            <a:srgbClr val="197A5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1" name="mx_t2_1"/>
          <p:cNvSpPr txBox="1"/>
          <p:nvPr/>
        </p:nvSpPr>
        <p:spPr>
          <a:xfrm>
            <a:off x="4023360" y="26334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</a:t>
            </a:r>
            <a:endParaRPr lang="en-US" sz="950" dirty="0"/>
          </a:p>
        </p:txBody>
      </p:sp>
      <p:sp>
        <p:nvSpPr>
          <p:cNvPr id="42" name="ovl_mx3_1"/>
          <p:cNvSpPr/>
          <p:nvPr/>
        </p:nvSpPr>
        <p:spPr>
          <a:xfrm>
            <a:off x="5234940" y="26060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3" name="mx_t3_1"/>
          <p:cNvSpPr txBox="1"/>
          <p:nvPr/>
        </p:nvSpPr>
        <p:spPr>
          <a:xfrm>
            <a:off x="5280660" y="26334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44" name="mx_y2"/>
          <p:cNvSpPr txBox="1"/>
          <p:nvPr/>
        </p:nvSpPr>
        <p:spPr>
          <a:xfrm>
            <a:off x="457200" y="329184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950" dirty="0"/>
          </a:p>
        </p:txBody>
      </p:sp>
      <p:sp>
        <p:nvSpPr>
          <p:cNvPr id="45" name="ovl_mx0_2"/>
          <p:cNvSpPr/>
          <p:nvPr/>
        </p:nvSpPr>
        <p:spPr>
          <a:xfrm>
            <a:off x="1463040" y="32918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6" name="mx_t0_2"/>
          <p:cNvSpPr txBox="1"/>
          <p:nvPr/>
        </p:nvSpPr>
        <p:spPr>
          <a:xfrm>
            <a:off x="1508760" y="33192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買い検討</a:t>
            </a:r>
            <a:endParaRPr lang="en-US" sz="950" dirty="0"/>
          </a:p>
        </p:txBody>
      </p:sp>
      <p:sp>
        <p:nvSpPr>
          <p:cNvPr id="47" name="ovl_mx1_2"/>
          <p:cNvSpPr/>
          <p:nvPr/>
        </p:nvSpPr>
        <p:spPr>
          <a:xfrm>
            <a:off x="2720340" y="32918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8" name="mx_t1_2"/>
          <p:cNvSpPr txBox="1"/>
          <p:nvPr/>
        </p:nvSpPr>
        <p:spPr>
          <a:xfrm>
            <a:off x="2766060" y="33192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</a:t>
            </a:r>
            <a:endParaRPr lang="en-US" sz="950" dirty="0"/>
          </a:p>
        </p:txBody>
      </p:sp>
      <p:sp>
        <p:nvSpPr>
          <p:cNvPr id="49" name="ovl_mx2_2"/>
          <p:cNvSpPr/>
          <p:nvPr/>
        </p:nvSpPr>
        <p:spPr>
          <a:xfrm>
            <a:off x="3977640" y="32918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0" name="mx_t2_2"/>
          <p:cNvSpPr txBox="1"/>
          <p:nvPr/>
        </p:nvSpPr>
        <p:spPr>
          <a:xfrm>
            <a:off x="4023360" y="33192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監視</a:t>
            </a:r>
            <a:endParaRPr lang="en-US" sz="950" dirty="0"/>
          </a:p>
        </p:txBody>
      </p:sp>
      <p:sp>
        <p:nvSpPr>
          <p:cNvPr id="51" name="ovl_mx3_2"/>
          <p:cNvSpPr/>
          <p:nvPr/>
        </p:nvSpPr>
        <p:spPr>
          <a:xfrm>
            <a:off x="5234940" y="32918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2" name="mx_t3_2"/>
          <p:cNvSpPr txBox="1"/>
          <p:nvPr/>
        </p:nvSpPr>
        <p:spPr>
          <a:xfrm>
            <a:off x="5280660" y="33192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53" name="mx_y3"/>
          <p:cNvSpPr txBox="1"/>
          <p:nvPr/>
        </p:nvSpPr>
        <p:spPr>
          <a:xfrm>
            <a:off x="457200" y="397764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 以下</a:t>
            </a:r>
            <a:endParaRPr lang="en-US" sz="950" dirty="0"/>
          </a:p>
        </p:txBody>
      </p:sp>
      <p:sp>
        <p:nvSpPr>
          <p:cNvPr id="54" name="ovl_mx0_3"/>
          <p:cNvSpPr/>
          <p:nvPr/>
        </p:nvSpPr>
        <p:spPr>
          <a:xfrm>
            <a:off x="1463040" y="39776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5" name="mx_t0_3"/>
          <p:cNvSpPr txBox="1"/>
          <p:nvPr/>
        </p:nvSpPr>
        <p:spPr>
          <a:xfrm>
            <a:off x="1508760" y="40050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56" name="ovl_mx1_3"/>
          <p:cNvSpPr/>
          <p:nvPr/>
        </p:nvSpPr>
        <p:spPr>
          <a:xfrm>
            <a:off x="2720340" y="39776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7" name="mx_t1_3"/>
          <p:cNvSpPr txBox="1"/>
          <p:nvPr/>
        </p:nvSpPr>
        <p:spPr>
          <a:xfrm>
            <a:off x="2766060" y="40050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58" name="ovl_mx2_3"/>
          <p:cNvSpPr/>
          <p:nvPr/>
        </p:nvSpPr>
        <p:spPr>
          <a:xfrm>
            <a:off x="3977640" y="39776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9" name="mx_t2_3"/>
          <p:cNvSpPr txBox="1"/>
          <p:nvPr/>
        </p:nvSpPr>
        <p:spPr>
          <a:xfrm>
            <a:off x="4023360" y="40050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60" name="ovl_mx3_3"/>
          <p:cNvSpPr/>
          <p:nvPr/>
        </p:nvSpPr>
        <p:spPr>
          <a:xfrm>
            <a:off x="5234940" y="3977640"/>
            <a:ext cx="1220724" cy="6492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1" name="mx_t3_3"/>
          <p:cNvSpPr txBox="1"/>
          <p:nvPr/>
        </p:nvSpPr>
        <p:spPr>
          <a:xfrm>
            <a:off x="5280660" y="4005072"/>
            <a:ext cx="11292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</a:t>
            </a:r>
            <a:endParaRPr lang="en-US" sz="950" dirty="0"/>
          </a:p>
        </p:txBody>
      </p:sp>
      <p:sp>
        <p:nvSpPr>
          <p:cNvPr id="62" name="mx_xt"/>
          <p:cNvSpPr txBox="1"/>
          <p:nvPr/>
        </p:nvSpPr>
        <p:spPr>
          <a:xfrm>
            <a:off x="1463040" y="468172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価格乖離(採用経路の理論株価 ÷ 株価 − 1)</a:t>
            </a:r>
            <a:endParaRPr lang="en-US" sz="900" dirty="0"/>
          </a:p>
        </p:txBody>
      </p:sp>
      <p:sp>
        <p:nvSpPr>
          <p:cNvPr id="63" name="ovl_takeaway_bg"/>
          <p:cNvSpPr/>
          <p:nvPr/>
        </p:nvSpPr>
        <p:spPr>
          <a:xfrm>
            <a:off x="457200" y="5010912"/>
            <a:ext cx="6035040" cy="73152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64" name="takeaway"/>
          <p:cNvSpPr txBox="1"/>
          <p:nvPr/>
        </p:nvSpPr>
        <p:spPr>
          <a:xfrm>
            <a:off x="566928" y="5084064"/>
            <a:ext cx="5815584" cy="585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 行 × 乖離 +2%(期待値でも +1%)で「監視」。市場との差分も無いため、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価格が下がるか判別 KPI に合格するまで建てない</a:t>
            </a:r>
            <a:endParaRPr lang="en-US" sz="1100" dirty="0"/>
          </a:p>
        </p:txBody>
      </p:sp>
      <p:graphicFrame>
        <p:nvGraphicFramePr>
          <p:cNvPr id="44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554480"/>
          <a:ext cx="501091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44475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乖離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事業エンジン(採用)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14.9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コンセンサス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−7%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会社シナリオ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16.7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期待値(節点ツリー)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14.7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+1%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3291840"/>
          <a:ext cx="501091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44475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非対称性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理論株価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下値(弱気)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11.8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−19%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上値(強気)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18.2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+25%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7" name="bullets"/>
          <p:cNvSpPr txBox="1"/>
          <p:nvPr/>
        </p:nvSpPr>
        <p:spPr>
          <a:xfrm>
            <a:off x="6720840" y="4343400"/>
            <a:ext cx="5010912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α 22.5%(構造 B の中央)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即エントリー上限 Z1 = min(14.9×0.775, 11.8×1.1125) = 11.6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分割エントリー上限 Z2 = 14.9×0.8875 = 13.2 → 株価 14.55 は見送り圏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上値 / 下値の比は 1.36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5-4 リスク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144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144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リスク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747774" y="356616"/>
            <a:ext cx="9986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判断を覆しうる事象と、その兆候を先に決めておく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最大のリスクは景気後退による信用コストの上昇と、金利による評価減。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会計疑義(空売り)は低確率の裾として分けて監視する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左: 発生確率 × 影響(本体評価に組み込んだリスクとテールリスク)。右: 兆候とトリガー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calc/out/val.json、research_r2/R5_credit_fv.md・R7_funding_rates_capital.md、本資料 第4章の監視 KPI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44</a:t>
            </a:r>
            <a:endParaRPr lang="en-US" sz="800" dirty="0"/>
          </a:p>
        </p:txBody>
      </p:sp>
      <p:sp>
        <p:nvSpPr>
          <p:cNvPr id="21" name="mx_yt"/>
          <p:cNvSpPr txBox="1"/>
          <p:nvPr/>
        </p:nvSpPr>
        <p:spPr>
          <a:xfrm>
            <a:off x="457200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発生確率</a:t>
            </a:r>
            <a:endParaRPr lang="en-US" sz="900" dirty="0"/>
          </a:p>
        </p:txBody>
      </p:sp>
      <p:sp>
        <p:nvSpPr>
          <p:cNvPr id="22" name="mx_x0"/>
          <p:cNvSpPr txBox="1"/>
          <p:nvPr/>
        </p:nvSpPr>
        <p:spPr>
          <a:xfrm>
            <a:off x="1463040" y="1554480"/>
            <a:ext cx="161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影響 中</a:t>
            </a:r>
            <a:endParaRPr lang="en-US" sz="950" dirty="0"/>
          </a:p>
        </p:txBody>
      </p:sp>
      <p:sp>
        <p:nvSpPr>
          <p:cNvPr id="23" name="mx_x1"/>
          <p:cNvSpPr txBox="1"/>
          <p:nvPr/>
        </p:nvSpPr>
        <p:spPr>
          <a:xfrm>
            <a:off x="3078480" y="1554480"/>
            <a:ext cx="161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影響 大</a:t>
            </a:r>
            <a:endParaRPr lang="en-US" sz="950" dirty="0"/>
          </a:p>
        </p:txBody>
      </p:sp>
      <p:sp>
        <p:nvSpPr>
          <p:cNvPr id="24" name="mx_x2"/>
          <p:cNvSpPr txBox="1"/>
          <p:nvPr/>
        </p:nvSpPr>
        <p:spPr>
          <a:xfrm>
            <a:off x="4693920" y="1554480"/>
            <a:ext cx="161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影響 極大</a:t>
            </a:r>
            <a:endParaRPr lang="en-US" sz="950" dirty="0"/>
          </a:p>
        </p:txBody>
      </p:sp>
      <p:sp>
        <p:nvSpPr>
          <p:cNvPr id="25" name="mx_y0"/>
          <p:cNvSpPr txBox="1"/>
          <p:nvPr/>
        </p:nvSpPr>
        <p:spPr>
          <a:xfrm>
            <a:off x="457200" y="1920240"/>
            <a:ext cx="960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確率 中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(本体に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組込み)</a:t>
            </a:r>
            <a:endParaRPr lang="en-US" sz="950" dirty="0"/>
          </a:p>
        </p:txBody>
      </p:sp>
      <p:sp>
        <p:nvSpPr>
          <p:cNvPr id="26" name="ovl_mx0_0"/>
          <p:cNvSpPr/>
          <p:nvPr/>
        </p:nvSpPr>
        <p:spPr>
          <a:xfrm>
            <a:off x="1463040" y="1920240"/>
            <a:ext cx="1578864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7" name="mx_t0_0"/>
          <p:cNvSpPr txBox="1"/>
          <p:nvPr/>
        </p:nvSpPr>
        <p:spPr>
          <a:xfrm>
            <a:off x="1508760" y="194767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Q3 の公正価値の評価減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(EPS −0.02〜−0.06)</a:t>
            </a:r>
            <a:endParaRPr lang="en-US" sz="950" dirty="0"/>
          </a:p>
        </p:txBody>
      </p:sp>
      <p:sp>
        <p:nvSpPr>
          <p:cNvPr id="28" name="ovl_mx1_0"/>
          <p:cNvSpPr/>
          <p:nvPr/>
        </p:nvSpPr>
        <p:spPr>
          <a:xfrm>
            <a:off x="3078480" y="1920240"/>
            <a:ext cx="1578864" cy="1426464"/>
          </a:xfrm>
          <a:prstGeom prst="rect">
            <a:avLst/>
          </a:prstGeom>
          <a:solidFill>
            <a:srgbClr val="197A5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9" name="mx_t1_0"/>
          <p:cNvSpPr txBox="1"/>
          <p:nvPr/>
        </p:nvSpPr>
        <p:spPr>
          <a:xfrm>
            <a:off x="3124200" y="194767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景気減速で貸倒 +0.75pt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(理論株価 −2.0)・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資本の上限で成長が鈍る</a:t>
            </a:r>
            <a:endParaRPr lang="en-US" sz="950" dirty="0"/>
          </a:p>
        </p:txBody>
      </p:sp>
      <p:sp>
        <p:nvSpPr>
          <p:cNvPr id="30" name="ovl_mx2_0"/>
          <p:cNvSpPr/>
          <p:nvPr/>
        </p:nvSpPr>
        <p:spPr>
          <a:xfrm>
            <a:off x="4693920" y="1920240"/>
            <a:ext cx="1578864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1" name="mx_t2_0"/>
          <p:cNvSpPr txBox="1"/>
          <p:nvPr/>
        </p:nvSpPr>
        <p:spPr>
          <a:xfrm>
            <a:off x="4739640" y="194767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—</a:t>
            </a:r>
            <a:endParaRPr lang="en-US" sz="950" dirty="0"/>
          </a:p>
        </p:txBody>
      </p:sp>
      <p:sp>
        <p:nvSpPr>
          <p:cNvPr id="32" name="mx_y1"/>
          <p:cNvSpPr txBox="1"/>
          <p:nvPr/>
        </p:nvSpPr>
        <p:spPr>
          <a:xfrm>
            <a:off x="457200" y="3383280"/>
            <a:ext cx="960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確率 低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(テール)</a:t>
            </a:r>
            <a:endParaRPr lang="en-US" sz="950" dirty="0"/>
          </a:p>
        </p:txBody>
      </p:sp>
      <p:sp>
        <p:nvSpPr>
          <p:cNvPr id="33" name="ovl_mx0_1"/>
          <p:cNvSpPr/>
          <p:nvPr/>
        </p:nvSpPr>
        <p:spPr>
          <a:xfrm>
            <a:off x="1463040" y="3383280"/>
            <a:ext cx="1578864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mx_t0_1"/>
          <p:cNvSpPr txBox="1"/>
          <p:nvPr/>
        </p:nvSpPr>
        <p:spPr>
          <a:xfrm>
            <a:off x="1508760" y="341071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Tech Platform の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追加流出・利上げで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預金コスト上昇</a:t>
            </a:r>
            <a:endParaRPr lang="en-US" sz="950" dirty="0"/>
          </a:p>
        </p:txBody>
      </p:sp>
      <p:sp>
        <p:nvSpPr>
          <p:cNvPr id="35" name="ovl_mx1_1"/>
          <p:cNvSpPr/>
          <p:nvPr/>
        </p:nvSpPr>
        <p:spPr>
          <a:xfrm>
            <a:off x="3078480" y="3383280"/>
            <a:ext cx="1578864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6" name="mx_t1_1"/>
          <p:cNvSpPr txBox="1"/>
          <p:nvPr/>
        </p:nvSpPr>
        <p:spPr>
          <a:xfrm>
            <a:off x="3124200" y="341071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LPB の買い手の撤退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(プライベート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クレジットの流動性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ストレス)</a:t>
            </a:r>
            <a:endParaRPr lang="en-US" sz="950" dirty="0"/>
          </a:p>
        </p:txBody>
      </p:sp>
      <p:sp>
        <p:nvSpPr>
          <p:cNvPr id="37" name="ovl_mx2_1"/>
          <p:cNvSpPr/>
          <p:nvPr/>
        </p:nvSpPr>
        <p:spPr>
          <a:xfrm>
            <a:off x="4693920" y="3383280"/>
            <a:ext cx="1578864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8" name="mx_t2_1"/>
          <p:cNvSpPr txBox="1"/>
          <p:nvPr/>
        </p:nvSpPr>
        <p:spPr>
          <a:xfrm>
            <a:off x="4739640" y="3410712"/>
            <a:ext cx="1487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会計の再表示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(空売りの主張、確率 5% 以下)</a:t>
            </a:r>
            <a:endParaRPr lang="en-US" sz="950" dirty="0"/>
          </a:p>
        </p:txBody>
      </p:sp>
      <p:sp>
        <p:nvSpPr>
          <p:cNvPr id="39" name="mx_xt"/>
          <p:cNvSpPr txBox="1"/>
          <p:nvPr/>
        </p:nvSpPr>
        <p:spPr>
          <a:xfrm>
            <a:off x="1463040" y="4864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株価値への影響</a:t>
            </a:r>
            <a:endParaRPr lang="en-US" sz="900" dirty="0"/>
          </a:p>
        </p:txBody>
      </p:sp>
      <p:sp>
        <p:nvSpPr>
          <p:cNvPr id="40" name="ovl_takeaway_bg"/>
          <p:cNvSpPr/>
          <p:nvPr/>
        </p:nvSpPr>
        <p:spPr>
          <a:xfrm>
            <a:off x="457200" y="5120640"/>
            <a:ext cx="5852160" cy="96012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41" name="takeaway"/>
          <p:cNvSpPr txBox="1"/>
          <p:nvPr/>
        </p:nvSpPr>
        <p:spPr>
          <a:xfrm>
            <a:off x="566928" y="5193792"/>
            <a:ext cx="5632704" cy="8138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会計疑義はテールとして本体評価から分けたが無視しない。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再表示なら理論株価は約 −3 ドル。兆候は監査人と SEC</a:t>
            </a:r>
            <a:endParaRPr lang="en-US" sz="1100" dirty="0"/>
          </a:p>
        </p:txBody>
      </p:sp>
      <p:graphicFrame>
        <p:nvGraphicFramePr>
          <p:cNvPr id="45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554480"/>
          <a:ext cx="5193792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2468880"/>
                <a:gridCol w="121615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リスク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兆候・トリガー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確認の時期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貸倒の上昇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all-in 貸倒率 4.5% 超、延滞 90 日超 0.6% 超、失業率 4.5% 超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毎四半期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公正価値の評価減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個人ローンのマーク 104% 未満、学生 103.5% 未満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毎四半期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資本の上限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総自己資本比率 15% 未満、増資の発表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毎四半期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の買い手の撤退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LPB の組成額 30 億ドル/四半期 未満が 2 期、手数料率 4% 未満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毎四半期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会計の再表示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監査人の限定意見・交代、10-K の遅延、SEC の照会、再表示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随時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5-5 投資行動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271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271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投資行動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1874774" y="356616"/>
            <a:ext cx="9859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判断を、いつ・何を確かめて・どの価格で建てるかの手順に落とす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今は建てず、Q3 決算から 4 四半期で会員当たり獲得費・LPB の配分・信用を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確かめる。合格するか 13.2 ドル以下で分割して建てる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時系列投資戦略(4 フェーズ)。判別 KPI は第3章(成長の尺度)・第4章の監視 KPI と共通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銘柄分析メソッド scenario-strategy §7、本資料 第3・4章・最終判断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</a:t>
            </a:r>
            <a:endParaRPr lang="en-US" sz="800" dirty="0"/>
          </a:p>
        </p:txBody>
      </p:sp>
      <p:sp>
        <p:nvSpPr>
          <p:cNvPr id="21" name="ovl_chev0"/>
          <p:cNvSpPr/>
          <p:nvPr/>
        </p:nvSpPr>
        <p:spPr>
          <a:xfrm>
            <a:off x="457200" y="1554480"/>
            <a:ext cx="2743200" cy="640080"/>
          </a:xfrm>
          <a:prstGeom prst="chevron">
            <a:avLst/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22" name="ovl_chev_t0"/>
          <p:cNvSpPr txBox="1"/>
          <p:nvPr/>
        </p:nvSpPr>
        <p:spPr>
          <a:xfrm>
            <a:off x="45720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待機・検証期</a:t>
            </a:r>
            <a:endParaRPr lang="en-US" sz="1200" dirty="0"/>
          </a:p>
        </p:txBody>
      </p:sp>
      <p:sp>
        <p:nvSpPr>
          <p:cNvPr id="23" name="ovl_chev1"/>
          <p:cNvSpPr/>
          <p:nvPr/>
        </p:nvSpPr>
        <p:spPr>
          <a:xfrm>
            <a:off x="3108960" y="1554480"/>
            <a:ext cx="2743200" cy="640080"/>
          </a:xfrm>
          <a:prstGeom prst="chevron">
            <a:avLst/>
          </a:prstGeom>
          <a:solidFill>
            <a:srgbClr val="197A56"/>
          </a:solidFill>
          <a:ln w="12700">
            <a:solidFill>
              <a:srgbClr val="197A56"/>
            </a:solidFill>
            <a:prstDash val="solid"/>
          </a:ln>
        </p:spPr>
      </p:sp>
      <p:sp>
        <p:nvSpPr>
          <p:cNvPr id="24" name="ovl_chev_t1"/>
          <p:cNvSpPr txBox="1"/>
          <p:nvPr/>
        </p:nvSpPr>
        <p:spPr>
          <a:xfrm>
            <a:off x="310896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エントリー期</a:t>
            </a:r>
            <a:endParaRPr lang="en-US" sz="1200" dirty="0"/>
          </a:p>
        </p:txBody>
      </p:sp>
      <p:sp>
        <p:nvSpPr>
          <p:cNvPr id="25" name="ovl_chev2"/>
          <p:cNvSpPr/>
          <p:nvPr/>
        </p:nvSpPr>
        <p:spPr>
          <a:xfrm>
            <a:off x="5760720" y="1554480"/>
            <a:ext cx="2743200" cy="640080"/>
          </a:xfrm>
          <a:prstGeom prst="chevron">
            <a:avLst/>
          </a:prstGeom>
          <a:solidFill>
            <a:srgbClr val="86C99B"/>
          </a:solidFill>
          <a:ln w="12700">
            <a:solidFill>
              <a:srgbClr val="86C99B"/>
            </a:solidFill>
            <a:prstDash val="solid"/>
          </a:ln>
        </p:spPr>
      </p:sp>
      <p:sp>
        <p:nvSpPr>
          <p:cNvPr id="26" name="ovl_chev_t2"/>
          <p:cNvSpPr txBox="1"/>
          <p:nvPr/>
        </p:nvSpPr>
        <p:spPr>
          <a:xfrm>
            <a:off x="576072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本格保有期</a:t>
            </a:r>
            <a:endParaRPr lang="en-US" sz="1200" dirty="0"/>
          </a:p>
        </p:txBody>
      </p:sp>
      <p:sp>
        <p:nvSpPr>
          <p:cNvPr id="27" name="ovl_chev3"/>
          <p:cNvSpPr/>
          <p:nvPr/>
        </p:nvSpPr>
        <p:spPr>
          <a:xfrm>
            <a:off x="8412480" y="1554480"/>
            <a:ext cx="2743200" cy="640080"/>
          </a:xfrm>
          <a:prstGeom prst="chevron">
            <a:avLst/>
          </a:prstGeom>
          <a:solidFill>
            <a:srgbClr val="1BA1A6"/>
          </a:solidFill>
          <a:ln w="12700">
            <a:solidFill>
              <a:srgbClr val="1BA1A6"/>
            </a:solidFill>
            <a:prstDash val="solid"/>
          </a:ln>
        </p:spPr>
      </p:sp>
      <p:sp>
        <p:nvSpPr>
          <p:cNvPr id="28" name="ovl_chev_t3"/>
          <p:cNvSpPr txBox="1"/>
          <p:nvPr/>
        </p:nvSpPr>
        <p:spPr>
          <a:xfrm>
            <a:off x="8412480" y="1554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再評価期</a:t>
            </a:r>
            <a:endParaRPr lang="en-US" sz="1200" dirty="0"/>
          </a:p>
        </p:txBody>
      </p:sp>
      <p:graphicFrame>
        <p:nvGraphicFramePr>
          <p:cNvPr id="46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27455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487168"/>
                <a:gridCol w="2487168"/>
                <a:gridCol w="2487168"/>
                <a:gridCol w="2487168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待機・検証期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エントリー期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本格保有期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再評価期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期間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今〜2027 年 Q3(4 四半期)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合格した後、または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 13.2 ドル以下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 12% 超かつ LPB の配分 40% 超が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 四半期続いた後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株価が理論株価に近づいた後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やること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建てずに判別 KPI を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四半期ごとに確かめる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13.2 ドル以下で 3 回に分けて建てる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(11.6 ドル以下なら即時)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確度に応じて増やす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新しい差分を探し、なければ縮小する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判別 KPI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Q3 の会員当たり販促費 330 ドル以下・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クロスバイ 50% 超・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all-in 貸倒率 4.2% 以下・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総自己資本比率 16% 以上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同左を 2 四半期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 12% 以上、自給率 0.5 以上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PEG 1.0 以上、コンセンサスとの差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撤退条件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—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all-in 貸倒率 4.8% 超、増資、再表示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ROTCE が 2 四半期続けて 9% 未満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差分の消失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0" name="ovl_takeaway_bg"/>
          <p:cNvSpPr/>
          <p:nvPr/>
        </p:nvSpPr>
        <p:spPr>
          <a:xfrm>
            <a:off x="457200" y="5440680"/>
            <a:ext cx="11274552" cy="6400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1" name="takeaway"/>
          <p:cNvSpPr txBox="1"/>
          <p:nvPr/>
        </p:nvSpPr>
        <p:spPr>
          <a:xfrm>
            <a:off x="566928" y="5513832"/>
            <a:ext cx="1105509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判別 KPI のうち 3 つ以上を 2 四半期続けて満たしたら、強気の確率を 30% 超に見直し、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分割エントリーの上限を引き上げる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hdr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" name="hdr_crumb"/>
          <p:cNvSpPr txBox="1"/>
          <p:nvPr/>
        </p:nvSpPr>
        <p:spPr>
          <a:xfrm>
            <a:off x="457200" y="54864"/>
            <a:ext cx="7071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第5章 バリュエーション・リスク・投資アクション</a:t>
            </a:r>
            <a:r>
              <a:rPr lang="en-US" sz="9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  ›   </a:t>
            </a:r>
            <a:r>
              <a:rPr lang="en-US" sz="9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付録 前提と制約</a:t>
            </a:r>
            <a:endParaRPr lang="en-US" sz="900" dirty="0"/>
          </a:p>
        </p:txBody>
      </p:sp>
      <p:sp>
        <p:nvSpPr>
          <p:cNvPr id="4" name="bg_hdr_pill0"/>
          <p:cNvSpPr/>
          <p:nvPr/>
        </p:nvSpPr>
        <p:spPr>
          <a:xfrm>
            <a:off x="765627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bg_hdr_pt0"/>
          <p:cNvSpPr txBox="1"/>
          <p:nvPr/>
        </p:nvSpPr>
        <p:spPr>
          <a:xfrm>
            <a:off x="765627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総括</a:t>
            </a:r>
            <a:endParaRPr lang="en-US" sz="800" dirty="0"/>
          </a:p>
        </p:txBody>
      </p:sp>
      <p:sp>
        <p:nvSpPr>
          <p:cNvPr id="6" name="bg_hdr_pill1"/>
          <p:cNvSpPr/>
          <p:nvPr/>
        </p:nvSpPr>
        <p:spPr>
          <a:xfrm>
            <a:off x="847923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bg_hdr_pt1"/>
          <p:cNvSpPr txBox="1"/>
          <p:nvPr/>
        </p:nvSpPr>
        <p:spPr>
          <a:xfrm>
            <a:off x="847923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事業・資金</a:t>
            </a:r>
            <a:endParaRPr lang="en-US" sz="800" dirty="0"/>
          </a:p>
        </p:txBody>
      </p:sp>
      <p:sp>
        <p:nvSpPr>
          <p:cNvPr id="8" name="bg_hdr_pill2"/>
          <p:cNvSpPr/>
          <p:nvPr/>
        </p:nvSpPr>
        <p:spPr>
          <a:xfrm>
            <a:off x="930219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bg_hdr_pt2"/>
          <p:cNvSpPr txBox="1"/>
          <p:nvPr/>
        </p:nvSpPr>
        <p:spPr>
          <a:xfrm>
            <a:off x="930219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成長尺度</a:t>
            </a:r>
            <a:endParaRPr lang="en-US" sz="800" dirty="0"/>
          </a:p>
        </p:txBody>
      </p:sp>
      <p:sp>
        <p:nvSpPr>
          <p:cNvPr id="10" name="bg_hdr_pill3"/>
          <p:cNvSpPr/>
          <p:nvPr/>
        </p:nvSpPr>
        <p:spPr>
          <a:xfrm>
            <a:off x="1012515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bg_hdr_pt3"/>
          <p:cNvSpPr txBox="1"/>
          <p:nvPr/>
        </p:nvSpPr>
        <p:spPr>
          <a:xfrm>
            <a:off x="1012515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13条件</a:t>
            </a:r>
            <a:endParaRPr lang="en-US" sz="800" dirty="0"/>
          </a:p>
        </p:txBody>
      </p:sp>
      <p:sp>
        <p:nvSpPr>
          <p:cNvPr id="12" name="bg_hdr_pill4"/>
          <p:cNvSpPr/>
          <p:nvPr/>
        </p:nvSpPr>
        <p:spPr>
          <a:xfrm>
            <a:off x="10948111" y="64008"/>
            <a:ext cx="786384" cy="182880"/>
          </a:xfrm>
          <a:prstGeom prst="roundRect">
            <a:avLst>
              <a:gd name="adj" fmla="val 20000"/>
            </a:avLst>
          </a:prstGeom>
          <a:solidFill>
            <a:srgbClr val="197A56"/>
          </a:solidFill>
          <a:ln w="9525">
            <a:solidFill>
              <a:srgbClr val="197A56"/>
            </a:solidFill>
            <a:prstDash val="solid"/>
          </a:ln>
        </p:spPr>
      </p:sp>
      <p:sp>
        <p:nvSpPr>
          <p:cNvPr id="13" name="bg_hdr_pt4"/>
          <p:cNvSpPr txBox="1"/>
          <p:nvPr/>
        </p:nvSpPr>
        <p:spPr>
          <a:xfrm>
            <a:off x="10948111" y="64008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価値・行動</a:t>
            </a:r>
            <a:endParaRPr lang="en-US" sz="800" dirty="0"/>
          </a:p>
        </p:txBody>
      </p:sp>
      <p:sp>
        <p:nvSpPr>
          <p:cNvPr id="14" name="ovl_theme_bg"/>
          <p:cNvSpPr/>
          <p:nvPr/>
        </p:nvSpPr>
        <p:spPr>
          <a:xfrm>
            <a:off x="457200" y="356616"/>
            <a:ext cx="1398270" cy="237744"/>
          </a:xfrm>
          <a:prstGeom prst="roundRect">
            <a:avLst>
              <a:gd name="adj" fmla="val 19231"/>
            </a:avLst>
          </a:prstGeom>
          <a:solidFill>
            <a:srgbClr val="0E4D33"/>
          </a:solidFill>
          <a:ln w="12700">
            <a:solidFill>
              <a:srgbClr val="0E4D33"/>
            </a:solidFill>
            <a:prstDash val="solid"/>
          </a:ln>
        </p:spPr>
      </p:sp>
      <p:sp>
        <p:nvSpPr>
          <p:cNvPr id="15" name="hdr_theme"/>
          <p:cNvSpPr txBox="1"/>
          <p:nvPr/>
        </p:nvSpPr>
        <p:spPr>
          <a:xfrm>
            <a:off x="457200" y="356616"/>
            <a:ext cx="13982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テーマ: 前提と制約</a:t>
            </a:r>
            <a:endParaRPr lang="en-US" sz="1000" dirty="0"/>
          </a:p>
        </p:txBody>
      </p:sp>
      <p:sp>
        <p:nvSpPr>
          <p:cNvPr id="16" name="hdr_why"/>
          <p:cNvSpPr txBox="1"/>
          <p:nvPr/>
        </p:nvSpPr>
        <p:spPr>
          <a:xfrm>
            <a:off x="2001774" y="356616"/>
            <a:ext cx="97327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1A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なぜ見るか   </a:t>
            </a: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計算の前提、数値の出所と限界、免責を明示し、後から検証できるようにする</a:t>
            </a:r>
            <a:endParaRPr lang="en-US" sz="1000" dirty="0"/>
          </a:p>
        </p:txBody>
      </p:sp>
      <p:sp>
        <p:nvSpPr>
          <p:cNvPr id="17" name="title"/>
          <p:cNvSpPr txBox="1"/>
          <p:nvPr/>
        </p:nvSpPr>
        <p:spPr>
          <a:xfrm>
            <a:off x="457200" y="649224"/>
            <a:ext cx="101800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計算の前提と既知の制約: 一次資料を直接読めず、数値は検索要約経由。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97A5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前提は事前登録し、第2版の変更は履歴に残した。本書は投資助言ではない</a:t>
            </a:r>
            <a:endParaRPr lang="en-US" sz="1900" dirty="0"/>
          </a:p>
        </p:txBody>
      </p:sp>
      <p:sp>
        <p:nvSpPr>
          <p:cNvPr id="18" name="kicker"/>
          <p:cNvSpPr txBox="1"/>
          <p:nvPr/>
        </p:nvSpPr>
        <p:spPr>
          <a:xfrm>
            <a:off x="457200" y="1280160"/>
            <a:ext cx="112772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Appendix: 計算の前提(事前登録)、既知の制約、免責</a:t>
            </a:r>
            <a:endParaRPr lang="en-US" sz="950" dirty="0"/>
          </a:p>
        </p:txBody>
      </p:sp>
      <p:sp>
        <p:nvSpPr>
          <p:cNvPr id="19" name="src"/>
          <p:cNvSpPr txBox="1"/>
          <p:nvPr/>
        </p:nvSpPr>
        <p:spPr>
          <a:xfrm>
            <a:off x="457200" y="62910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出所: calc/prereg.md、calc/val_model.py・growth_v2.py・A2_growth_memo.md、research/・research_r2/・research_r3/ の各ファイル</a:t>
            </a:r>
            <a:endParaRPr lang="en-US" sz="800" dirty="0"/>
          </a:p>
        </p:txBody>
      </p:sp>
      <p:sp>
        <p:nvSpPr>
          <p:cNvPr id="20" name="pg"/>
          <p:cNvSpPr txBox="1"/>
          <p:nvPr/>
        </p:nvSpPr>
        <p:spPr>
          <a:xfrm>
            <a:off x="11185855" y="6400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46</a:t>
            </a:r>
            <a:endParaRPr lang="en-US" sz="800" dirty="0"/>
          </a:p>
        </p:txBody>
      </p:sp>
      <p:graphicFrame>
        <p:nvGraphicFramePr>
          <p:cNvPr id="4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56692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20624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前提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D3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EPS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調整後 EPS(株式報酬を含む)。2026〜29 年はコンセンサス・会社目標・事業エンジン、2030 年は延長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妥当 PER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同業 13.6 倍(NU 16・LC 11.2)・PEG(構造 B: 1.15→1.00)× 3 年成長率・エンジンの価値の平均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重み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 末 40%・2027 末 30%・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2028 末 20%・2029 末 10%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株主資本コスト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13.9%(5.2% + 1.93 × 4.5%)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シナリオ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節点ツリー(4 節点、振れ幅は対称、確率は先行指標から)。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強気 21.7%・ベース 48.3%・弱気 29.9%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必要資本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総自己資本比率 14〜14.5%(会社の運用下限 low-to-mid teens)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希薄化後 13.75 億株(2026 年)、年 +1.5%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税率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22%(2026 年)、23%(2027 年以降)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生存確率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 98.5%(年度末の目標を今日へ割り引くときに掛ける)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長期成長率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5%(TBV × ROTCE の照合と定常状態の価値)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株価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14.55 ドル(2026-10-16 終値)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第2版の変更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PEG(構造 C→B)、確率(25/50/25 → 節点ツリー)、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α 30% → 22.5%。株価を見た後の変更として事前登録に記録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pane_head"/>
          <p:cNvSpPr txBox="1"/>
          <p:nvPr/>
        </p:nvSpPr>
        <p:spPr>
          <a:xfrm>
            <a:off x="6355080" y="1481328"/>
            <a:ext cx="5376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既知の制約と免責</a:t>
            </a:r>
            <a:endParaRPr lang="en-US" sz="1200" dirty="0"/>
          </a:p>
        </p:txBody>
      </p:sp>
      <p:sp>
        <p:nvSpPr>
          <p:cNvPr id="23" name="bullets"/>
          <p:cNvSpPr txBox="1"/>
          <p:nvPr/>
        </p:nvSpPr>
        <p:spPr>
          <a:xfrm>
            <a:off x="6355080" y="1828800"/>
            <a:ext cx="5376672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一次資料(SEC・IR)を環境の制約で直接開けず、全数値は検索の要約経由。原文で未照合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TradingView の年度別予想は取得できず、Yahoo・Chartmill・WallStreetZen・Tickflow で代えた。2029 年は 4 名のみ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公正価値の感応度表・倉庫ラインの残高・Q3 の金利ヘッジの規模は未取得。Q3 の評価減は会社開示のマーク変動からの推計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前提は事前登録したが、株価は登録前に見ている(規則で決まる値だけを使った)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販促費の内訳・解約率・給与振込の会員数・LTV/CAC は非開示で、単位経済は全社の概算</a:t>
            </a:r>
            <a:endParaRPr lang="en-US" sz="950" dirty="0"/>
          </a:p>
        </p:txBody>
      </p:sp>
      <p:sp>
        <p:nvSpPr>
          <p:cNvPr id="24" name="src_head"/>
          <p:cNvSpPr txBox="1"/>
          <p:nvPr/>
        </p:nvSpPr>
        <p:spPr>
          <a:xfrm>
            <a:off x="6355080" y="3840480"/>
            <a:ext cx="5376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主な出所(いずれも検索の要約経由)</a:t>
            </a:r>
            <a:endParaRPr lang="en-US" sz="1200" dirty="0"/>
          </a:p>
        </p:txBody>
      </p:sp>
      <p:sp>
        <p:nvSpPr>
          <p:cNvPr id="25" name="bullets_src"/>
          <p:cNvSpPr txBox="1"/>
          <p:nvPr/>
        </p:nvSpPr>
        <p:spPr>
          <a:xfrm>
            <a:off x="6355080" y="4187952"/>
            <a:ext cx="5376672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SoFi の決算発表・10-Q・決算説明会(Q4 2025〜Q2 2026)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Muddy Waters の空売り報告(2026-03)、KBW・Morgan Stanley・BofA の見解</a:t>
            </a:r>
            <a:endParaRPr lang="en-US" sz="9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競合の決算(Chime・Robinhood・LendingClub、2026 年 Q2)と各社の価格表</a:t>
            </a:r>
            <a:endParaRPr lang="en-US" sz="950" dirty="0"/>
          </a:p>
        </p:txBody>
      </p:sp>
      <p:sp>
        <p:nvSpPr>
          <p:cNvPr id="26" name="ovl_takeaway_bg"/>
          <p:cNvSpPr/>
          <p:nvPr/>
        </p:nvSpPr>
        <p:spPr>
          <a:xfrm>
            <a:off x="6355080" y="5257800"/>
            <a:ext cx="5376672" cy="640080"/>
          </a:xfrm>
          <a:prstGeom prst="rect">
            <a:avLst/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7" name="takeaway"/>
          <p:cNvSpPr txBox="1"/>
          <p:nvPr/>
        </p:nvSpPr>
        <p:spPr>
          <a:xfrm>
            <a:off x="6464808" y="5330952"/>
            <a:ext cx="5157216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本資料は情報の整理を目的とし、投資助言ではない。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4D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投資判断は自己の責任で行うこと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SoFi Technologies(SOFI)長期保有適格性審査 第2版</dc:title>
  <dc:subject>PptxGenJS Presentation</dc:subject>
  <dc:creator>SoFi 長期保有適格性審査</dc:creator>
  <cp:lastModifiedBy>SoFi 長期保有適格性審査</cp:lastModifiedBy>
  <cp:revision>1</cp:revision>
  <dcterms:created xsi:type="dcterms:W3CDTF">2026-10-18T12:43:39Z</dcterms:created>
  <dcterms:modified xsi:type="dcterms:W3CDTF">2026-10-18T12:43:39Z</dcterms:modified>
</cp:coreProperties>
</file>