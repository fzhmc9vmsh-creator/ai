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7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9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0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2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3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14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15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作動している +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両面・停滞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逆行 −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保留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[&gt;=4]0&quot;%&quot;;&quot;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前年比の増加(百万ドル)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+0;-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4D3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純金利収益(NII)</c:v>
                  </c:pt>
                  <c:pt idx="1">
                    <c:v>非金利収益</c:v>
                  </c:pt>
                  <c:pt idx="2">
                    <c:v>増収の合計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345</c:v>
                </c:pt>
                <c:pt idx="1">
                  <c:v>79</c:v>
                </c:pt>
                <c:pt idx="2">
                  <c:v>424</c:v>
                </c:pt>
              </c:numCache>
            </c:numRef>
          </c:val>
        </c:ser>
        <c:dLbls>
          <c:numFmt formatCode="+0;-0;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純利益の前期比の増分(百万ドル)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+0;-0;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4D3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NII</c:v>
                  </c:pt>
                  <c:pt idx="1">
                    <c:v>非金利収益</c:v>
                  </c:pt>
                  <c:pt idx="2">
                    <c:v>販促費</c:v>
                  </c:pt>
                  <c:pt idx="3">
                    <c:v>技術・製品開発</c:v>
                  </c:pt>
                  <c:pt idx="4">
                    <c:v>その他・税(推定)</c:v>
                  </c:pt>
                  <c:pt idx="5">
                    <c:v>純利益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141</c:v>
                </c:pt>
                <c:pt idx="1">
                  <c:v>25</c:v>
                </c:pt>
                <c:pt idx="2">
                  <c:v>-52</c:v>
                </c:pt>
                <c:pt idx="3">
                  <c:v>-6</c:v>
                </c:pt>
                <c:pt idx="4">
                  <c:v>-24</c:v>
                </c:pt>
                <c:pt idx="5">
                  <c:v>84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手数料型の収益(億ドル)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Q3 25</c:v>
                  </c:pt>
                  <c:pt idx="1">
                    <c:v>Q4 25</c:v>
                  </c:pt>
                  <c:pt idx="2">
                    <c:v>Q1 26</c:v>
                  </c:pt>
                  <c:pt idx="3">
                    <c:v>Q2 26</c:v>
                  </c:pt>
                  <c:pt idx="4">
                    <c:v>Q3 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4.09</c:v>
                </c:pt>
                <c:pt idx="1">
                  <c:v>4.43</c:v>
                </c:pt>
                <c:pt idx="2">
                  <c:v>3.87</c:v>
                </c:pt>
                <c:pt idx="3">
                  <c:v>4.72</c:v>
                </c:pt>
                <c:pt idx="4">
                  <c:v>5.71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比率(%)</c:v>
                </c:pt>
              </c:strCache>
            </c:strRef>
          </c:tx>
          <c:spPr>
            <a:solidFill>
              <a:srgbClr val="D68910"/>
            </a:solidFill>
            <a:ln w="25400" cap="flat">
              <a:solidFill>
                <a:srgbClr val="D68910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68910"/>
              </a:solidFill>
              <a:ln w="9525" cap="flat">
                <a:solidFill>
                  <a:srgbClr val="D689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Q3 25</c:v>
                  </c:pt>
                  <c:pt idx="1">
                    <c:v>Q4 25</c:v>
                  </c:pt>
                  <c:pt idx="2">
                    <c:v>Q1 26</c:v>
                  </c:pt>
                  <c:pt idx="3">
                    <c:v>Q2 26</c:v>
                  </c:pt>
                  <c:pt idx="4">
                    <c:v>Q3 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</c:v>
                </c:pt>
                <c:pt idx="1">
                  <c:v>44</c:v>
                </c:pt>
                <c:pt idx="2">
                  <c:v>36</c:v>
                </c:pt>
                <c:pt idx="3">
                  <c:v>39</c:v>
                </c:pt>
                <c:pt idx="4">
                  <c:v>42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50"/>
          <c:min val="0"/>
        </c:scaling>
        <c:delete val="0"/>
        <c:axPos val="r"/>
        <c:numFmt formatCode="General" sourceLinked="0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2026-09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22.9</c:v>
                </c:pt>
                <c:pt idx="1">
                  <c:v>21.3</c:v>
                </c:pt>
                <c:pt idx="2">
                  <c:v>18.8</c:v>
                </c:pt>
                <c:pt idx="3">
                  <c:v>17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予想</c:v>
                </c:pt>
              </c:strCache>
            </c:strRef>
          </c:tx>
          <c:spPr>
            <a:solidFill>
              <a:srgbClr val="86C99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2026-09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16.2</c:v>
                </c:pt>
                <c:pt idx="5">
                  <c:v>16.4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報告値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  <c:pt idx="9">
                    <c:v>Q3 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3.84</c:v>
                </c:pt>
                <c:pt idx="1">
                  <c:v>3.52</c:v>
                </c:pt>
                <c:pt idx="2">
                  <c:v>3.37</c:v>
                </c:pt>
                <c:pt idx="3">
                  <c:v>3.31</c:v>
                </c:pt>
                <c:pt idx="4">
                  <c:v>2.83</c:v>
                </c:pt>
                <c:pt idx="5">
                  <c:v>2.6</c:v>
                </c:pt>
                <c:pt idx="6">
                  <c:v>2.8</c:v>
                </c:pt>
                <c:pt idx="7">
                  <c:v>3.03</c:v>
                </c:pt>
                <c:pt idx="8">
                  <c:v>2.62</c:v>
                </c:pt>
                <c:pt idx="9">
                  <c:v>2.26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公正価値の損失前提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  <c:pt idx="9">
                    <c:v>Q3 26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4.8</c:v>
                </c:pt>
                <c:pt idx="1">
                  <c:v/>
                </c:pt>
                <c:pt idx="2">
                  <c:v>4.55</c:v>
                </c:pt>
                <c:pt idx="3">
                  <c:v>4.37</c:v>
                </c:pt>
                <c:pt idx="4">
                  <c:v>4.28</c:v>
                </c:pt>
                <c:pt idx="5">
                  <c:v>4.33</c:v>
                </c:pt>
                <c:pt idx="6">
                  <c:v>4.46</c:v>
                </c:pt>
                <c:pt idx="7">
                  <c:v>4.57</c:v>
                </c:pt>
                <c:pt idx="8">
                  <c:v>4.8</c:v>
                </c:pt>
                <c:pt idx="9">
                  <c:v>4.8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all-in(売却した延滞債権を足し戻し)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  <c:pt idx="9">
                    <c:v>Q3 26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5.4</c:v>
                </c:pt>
                <c:pt idx="1">
                  <c:v>5</c:v>
                </c:pt>
                <c:pt idx="2">
                  <c:v/>
                </c:pt>
                <c:pt idx="3">
                  <c:v>4.8</c:v>
                </c:pt>
                <c:pt idx="4">
                  <c:v>4.5</c:v>
                </c:pt>
                <c:pt idx="5">
                  <c:v/>
                </c:pt>
                <c:pt idx="6">
                  <c:v>4.4</c:v>
                </c:pt>
                <c:pt idx="7">
                  <c:v>4.4</c:v>
                </c:pt>
                <c:pt idx="8">
                  <c:v>3.7</c:v>
                </c:pt>
                <c:pt idx="9">
                  <c:v>3.4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株当たり(ドル)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4D3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NII</c:v>
                  </c:pt>
                  <c:pt idx="1">
                    <c:v>貸倒</c:v>
                  </c:pt>
                  <c:pt idx="2">
                    <c:v>評価減(一時)</c:v>
                  </c:pt>
                  <c:pt idx="3">
                    <c:v>資本コスト +1pt</c:v>
                  </c:pt>
                  <c:pt idx="4">
                    <c:v>合計(両面)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-0.07</c:v>
                </c:pt>
                <c:pt idx="1">
                  <c:v>-0.25</c:v>
                </c:pt>
                <c:pt idx="2">
                  <c:v>-0.08</c:v>
                </c:pt>
                <c:pt idx="3">
                  <c:v>-0.2</c:v>
                </c:pt>
                <c:pt idx="4">
                  <c:v>-0.6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会員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Q2 25</c:v>
                  </c:pt>
                  <c:pt idx="1">
                    <c:v>Q3 25</c:v>
                  </c:pt>
                  <c:pt idx="2">
                    <c:v>Q4 25</c:v>
                  </c:pt>
                  <c:pt idx="3">
                    <c:v>Q1 26</c:v>
                  </c:pt>
                  <c:pt idx="4">
                    <c:v>Q2 26</c:v>
                  </c:pt>
                  <c:pt idx="5">
                    <c:v>Q3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33.4</c:v>
                </c:pt>
                <c:pt idx="1">
                  <c:v>34.5</c:v>
                </c:pt>
                <c:pt idx="2">
                  <c:v>35.2</c:v>
                </c:pt>
                <c:pt idx="3">
                  <c:v>34.9</c:v>
                </c:pt>
                <c:pt idx="4">
                  <c:v>35</c:v>
                </c:pt>
                <c:pt idx="5">
                  <c:v>35.7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製品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Q2 25</c:v>
                  </c:pt>
                  <c:pt idx="1">
                    <c:v>Q3 25</c:v>
                  </c:pt>
                  <c:pt idx="2">
                    <c:v>Q4 25</c:v>
                  </c:pt>
                  <c:pt idx="3">
                    <c:v>Q1 26</c:v>
                  </c:pt>
                  <c:pt idx="4">
                    <c:v>Q2 26</c:v>
                  </c:pt>
                  <c:pt idx="5">
                    <c:v>Q3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33.6</c:v>
                </c:pt>
                <c:pt idx="1">
                  <c:v>35.8</c:v>
                </c:pt>
                <c:pt idx="2">
                  <c:v>37.4</c:v>
                </c:pt>
                <c:pt idx="3">
                  <c:v>39.2</c:v>
                </c:pt>
                <c:pt idx="4">
                  <c:v>42.7</c:v>
                </c:pt>
                <c:pt idx="5">
                  <c:v>43.5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3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会員当たり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269</c:v>
                </c:pt>
                <c:pt idx="1">
                  <c:v>287</c:v>
                </c:pt>
                <c:pt idx="2">
                  <c:v>284</c:v>
                </c:pt>
                <c:pt idx="3">
                  <c:v>292</c:v>
                </c:pt>
                <c:pt idx="4">
                  <c:v>298</c:v>
                </c:pt>
                <c:pt idx="5">
                  <c:v>311</c:v>
                </c:pt>
                <c:pt idx="6">
                  <c:v>317</c:v>
                </c:pt>
                <c:pt idx="7">
                  <c:v>306</c:v>
                </c:pt>
                <c:pt idx="8">
                  <c:v>305</c:v>
                </c:pt>
                <c:pt idx="9">
                  <c:v>357</c:v>
                </c:pt>
                <c:pt idx="10">
                  <c:v>370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製品当たり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169</c:v>
                </c:pt>
                <c:pt idx="1">
                  <c:v>195</c:v>
                </c:pt>
                <c:pt idx="2">
                  <c:v>195</c:v>
                </c:pt>
                <c:pt idx="3">
                  <c:v>208</c:v>
                </c:pt>
                <c:pt idx="4">
                  <c:v>198</c:v>
                </c:pt>
                <c:pt idx="5">
                  <c:v>210</c:v>
                </c:pt>
                <c:pt idx="6">
                  <c:v>205</c:v>
                </c:pt>
                <c:pt idx="7">
                  <c:v>191</c:v>
                </c:pt>
                <c:pt idx="8">
                  <c:v>186</c:v>
                </c:pt>
                <c:pt idx="9">
                  <c:v>178</c:v>
                </c:pt>
                <c:pt idx="10">
                  <c:v>202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新規会員の製品当たり</c:v>
                </c:pt>
              </c:strCache>
            </c:strRef>
          </c:tx>
          <c:spPr>
            <a:solidFill>
              <a:srgbClr val="D68910"/>
            </a:solidFill>
            <a:ln w="25400" cap="flat">
              <a:solidFill>
                <a:srgbClr val="D6891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8910"/>
              </a:solidFill>
              <a:ln w="9525" cap="flat">
                <a:solidFill>
                  <a:srgbClr val="D689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311</c:v>
                </c:pt>
                <c:pt idx="4">
                  <c:v>310</c:v>
                </c:pt>
                <c:pt idx="5">
                  <c:v>323</c:v>
                </c:pt>
                <c:pt idx="6">
                  <c:v>342</c:v>
                </c:pt>
                <c:pt idx="7">
                  <c:v>318</c:v>
                </c:pt>
                <c:pt idx="8">
                  <c:v>327</c:v>
                </c:pt>
                <c:pt idx="9">
                  <c:v>364</c:v>
                </c:pt>
                <c:pt idx="10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個人ローン組成のうち LPB に回した割合(%)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29.1</c:v>
                </c:pt>
                <c:pt idx="1">
                  <c:v>34.3</c:v>
                </c:pt>
                <c:pt idx="2">
                  <c:v>45.3</c:v>
                </c:pt>
                <c:pt idx="3">
                  <c:v>49.3</c:v>
                </c:pt>
                <c:pt idx="4">
                  <c:v>36.1</c:v>
                </c:pt>
                <c:pt idx="5">
                  <c:v>29</c:v>
                </c:pt>
                <c:pt idx="6">
                  <c:v>28.6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収益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94.4</c:v>
                </c:pt>
                <c:pt idx="1">
                  <c:v>95.4</c:v>
                </c:pt>
                <c:pt idx="2">
                  <c:v>102.5</c:v>
                </c:pt>
                <c:pt idx="3">
                  <c:v>102.8</c:v>
                </c:pt>
                <c:pt idx="4">
                  <c:v>103.4</c:v>
                </c:pt>
                <c:pt idx="5">
                  <c:v>109.8</c:v>
                </c:pt>
                <c:pt idx="6">
                  <c:v>114.6</c:v>
                </c:pt>
                <c:pt idx="7">
                  <c:v>122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大口離脱後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75.1</c:v>
                </c:pt>
                <c:pt idx="9">
                  <c:v>84.5</c:v>
                </c:pt>
                <c:pt idx="10">
                  <c:v>87.4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負債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SoFi(β 1.93)</c:v>
                  </c:pt>
                  <c:pt idx="1">
                    <c:v>免許なしの
フィンテック</c:v>
                  </c:pt>
                  <c:pt idx="2">
                    <c:v>SoFi(β 1.3 なら)</c:v>
                  </c:pt>
                  <c:pt idx="3">
                    <c:v>SoFi(β 1.0 なら)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2.62</c:v>
                </c:pt>
                <c:pt idx="1">
                  <c:v>3.96</c:v>
                </c:pt>
                <c:pt idx="2">
                  <c:v>2.62</c:v>
                </c:pt>
                <c:pt idx="3">
                  <c:v>2.62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株主資本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SoFi(β 1.93)</c:v>
                  </c:pt>
                  <c:pt idx="1">
                    <c:v>免許なしの
フィンテック</c:v>
                  </c:pt>
                  <c:pt idx="2">
                    <c:v>SoFi(β 1.3 なら)</c:v>
                  </c:pt>
                  <c:pt idx="3">
                    <c:v>SoFi(β 1.0 なら)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2.61</c:v>
                </c:pt>
                <c:pt idx="1">
                  <c:v>2.61</c:v>
                </c:pt>
                <c:pt idx="2">
                  <c:v>2.08</c:v>
                </c:pt>
                <c:pt idx="3">
                  <c:v>1.83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PEG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891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SOFI</c:v>
                  </c:pt>
                  <c:pt idx="1">
                    <c:v>NU</c:v>
                  </c:pt>
                  <c:pt idx="2">
                    <c:v>COF</c:v>
                  </c:pt>
                  <c:pt idx="3">
                    <c:v>LC</c:v>
                  </c:pt>
                  <c:pt idx="4">
                    <c:v>ALLY</c:v>
                  </c:pt>
                  <c:pt idx="5">
                    <c:v>HOOD</c:v>
                  </c:pt>
                  <c:pt idx="6">
                    <c:v>S&amp;P 500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0.51</c:v>
                </c:pt>
                <c:pt idx="1">
                  <c:v>0.52</c:v>
                </c:pt>
                <c:pt idx="2">
                  <c:v>0.51</c:v>
                </c:pt>
                <c:pt idx="3">
                  <c:v>0.33</c:v>
                </c:pt>
                <c:pt idx="4">
                  <c:v>0.33</c:v>
                </c:pt>
                <c:pt idx="5">
                  <c:v>1.62</c:v>
                </c:pt>
                <c:pt idx="6">
                  <c:v>1.27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株当たり価値(ドル)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891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891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弱気(24.1%)</c:v>
                  </c:pt>
                  <c:pt idx="1">
                    <c:v>ベース(49.3%)</c:v>
                  </c:pt>
                  <c:pt idx="2">
                    <c:v>強気(26.6%)</c:v>
                  </c:pt>
                  <c:pt idx="3">
                    <c:v>期待値</c:v>
                  </c:pt>
                  <c:pt idx="4">
                    <c:v>株価(10/16 終値)</c:v>
                  </c:pt>
                  <c:pt idx="5">
                    <c:v>決算後の目安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</c:v>
                </c:pt>
                <c:pt idx="1">
                  <c:v>24.2</c:v>
                </c:pt>
                <c:pt idx="2">
                  <c:v>33.5</c:v>
                </c:pt>
                <c:pt idx="3">
                  <c:v>24.2</c:v>
                </c:pt>
                <c:pt idx="4">
                  <c:v>14.55</c:v>
                </c:pt>
                <c:pt idx="5">
                  <c:v>16.5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会社の中期目標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0.9</c:v>
                </c:pt>
                <c:pt idx="2">
                  <c:v>1.117</c:v>
                </c:pt>
                <c:pt idx="3">
                  <c:v>1.396</c:v>
                </c:pt>
                <c:pt idx="4">
                  <c:v>1.703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見通し + コンセンサスの伸び</c:v>
                </c:pt>
              </c:strCache>
            </c:strRef>
          </c:tx>
          <c:spPr>
            <a:solidFill>
              <a:srgbClr val="86C99B"/>
            </a:solidFill>
            <a:ln w="25400" cap="flat">
              <a:solidFill>
                <a:srgbClr val="86C99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C99B"/>
              </a:solidFill>
              <a:ln w="9525" cap="flat">
                <a:solidFill>
                  <a:srgbClr val="86C9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0.61</c:v>
                </c:pt>
                <c:pt idx="1">
                  <c:v>0.9</c:v>
                </c:pt>
                <c:pt idx="2">
                  <c:v>1.171</c:v>
                </c:pt>
                <c:pt idx="3">
                  <c:v>1.431</c:v>
                </c:pt>
                <c:pt idx="4">
                  <c:v>1.689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節点すべて成功(確率 9.6%、2030 年 2.27)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0.6899</c:v>
                </c:pt>
                <c:pt idx="1">
                  <c:v>1.0718</c:v>
                </c:pt>
                <c:pt idx="2">
                  <c:v>1.4246</c:v>
                </c:pt>
                <c:pt idx="3">
                  <c:v>1.8048</c:v>
                </c:pt>
                <c:pt idx="4">
                  <c:v>2.273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 節点すべて失敗(確率 8.1%、2030 年 1.29)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0.5349</c:v>
                </c:pt>
                <c:pt idx="1">
                  <c:v>0.7238</c:v>
                </c:pt>
                <c:pt idx="2">
                  <c:v>0.8917</c:v>
                </c:pt>
                <c:pt idx="3">
                  <c:v>1.07</c:v>
                </c:pt>
                <c:pt idx="4">
                  <c:v>1.2897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エンジン(事業エンジン)</c:v>
                </c:pt>
              </c:strCache>
            </c:strRef>
          </c:tx>
          <c:spPr>
            <a:solidFill>
              <a:srgbClr val="0E4D33"/>
            </a:solidFill>
            <a:ln w="25400" cap="flat">
              <a:solidFill>
                <a:srgbClr val="0E4D33"/>
              </a:solidFill>
              <a:prstDash val="solid"/>
              <a:round/>
            </a:ln>
            <a:effectLst/>
          </c:spPr>
          <c:invertIfNegative val="0"/>
          <c:dLbls>
            <c:numFmt formatCode="[&lt;0.65]&quot;&quot;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33"/>
              </a:solidFill>
              <a:ln w="9525" cap="flat">
                <a:solidFill>
                  <a:srgbClr val="0E4D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0.612</c:v>
                </c:pt>
                <c:pt idx="1">
                  <c:v>0.898</c:v>
                </c:pt>
                <c:pt idx="2">
                  <c:v>1.153</c:v>
                </c:pt>
                <c:pt idx="3">
                  <c:v>1.423</c:v>
                </c:pt>
                <c:pt idx="4">
                  <c:v>1.753</c:v>
                </c:pt>
              </c:numCache>
            </c:numRef>
          </c:val>
          <c:smooth val="0"/>
        </c:ser>
        <c:dLbls>
          <c:numFmt formatCode="[&lt;0.65]&quot;&quot;;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valAx>
        <c:axId val="2094734553"/>
        <c:scaling>
          <c:orientation val="minMax"/>
          <c:max val="2.4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  <c:majorUnit val="0.4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cover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cover_title"/>
          <p:cNvSpPr txBox="1"/>
          <p:nvPr/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Technologies(SOFI)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長期保有適格性審査</a:t>
            </a:r>
            <a:endParaRPr lang="en-US" sz="3000" dirty="0"/>
          </a:p>
        </p:txBody>
      </p:sp>
      <p:sp>
        <p:nvSpPr>
          <p:cNvPr id="4" name="bg_cover_sub"/>
          <p:cNvSpPr txBox="1"/>
          <p:nvPr/>
        </p:nvSpPr>
        <p:spPr>
          <a:xfrm>
            <a:off x="731520" y="37490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銀行免許を持つフィンテック。会員の束で獲得費と資金を下げ、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自己資本が成長を律速する。Q3 2026 決算と 2027 年見通しを反映</a:t>
            </a:r>
            <a:endParaRPr lang="en-US" sz="1400" dirty="0"/>
          </a:p>
        </p:txBody>
      </p:sp>
      <p:sp>
        <p:nvSpPr>
          <p:cNvPr id="5" name="bg_cover_date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2026-10-28(Q3 2026 決算後)</a:t>
            </a:r>
            <a:endParaRPr lang="en-US" sz="1100" dirty="0"/>
          </a:p>
        </p:txBody>
      </p:sp>
      <p:sp>
        <p:nvSpPr>
          <p:cNvPr id="6" name="bg_cover_k1"/>
          <p:cNvSpPr txBox="1"/>
          <p:nvPr/>
        </p:nvSpPr>
        <p:spPr>
          <a:xfrm>
            <a:off x="8321040" y="182880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100" dirty="0"/>
          </a:p>
        </p:txBody>
      </p:sp>
      <p:sp>
        <p:nvSpPr>
          <p:cNvPr id="7" name="bg_cover_k1v"/>
          <p:cNvSpPr txBox="1"/>
          <p:nvPr/>
        </p:nvSpPr>
        <p:spPr>
          <a:xfrm>
            <a:off x="8321040" y="212140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買い(分割)</a:t>
            </a:r>
            <a:endParaRPr lang="en-US" sz="2600" dirty="0"/>
          </a:p>
        </p:txBody>
      </p:sp>
      <p:sp>
        <p:nvSpPr>
          <p:cNvPr id="8" name="bg_cover_k2"/>
          <p:cNvSpPr txBox="1"/>
          <p:nvPr/>
        </p:nvSpPr>
        <p:spPr>
          <a:xfrm>
            <a:off x="8321040" y="301752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理論株価(エンジン)</a:t>
            </a:r>
            <a:endParaRPr lang="en-US" sz="1100" dirty="0"/>
          </a:p>
        </p:txBody>
      </p:sp>
      <p:sp>
        <p:nvSpPr>
          <p:cNvPr id="9" name="bg_cover_k2v"/>
          <p:cNvSpPr txBox="1"/>
          <p:nvPr/>
        </p:nvSpPr>
        <p:spPr>
          <a:xfrm>
            <a:off x="8321040" y="331012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23.8 ドル</a:t>
            </a:r>
            <a:endParaRPr lang="en-US" sz="2600" dirty="0"/>
          </a:p>
        </p:txBody>
      </p:sp>
      <p:sp>
        <p:nvSpPr>
          <p:cNvPr id="10" name="bg_cover_k3"/>
          <p:cNvSpPr txBox="1"/>
          <p:nvPr/>
        </p:nvSpPr>
        <p:spPr>
          <a:xfrm>
            <a:off x="8321040" y="420624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11" name="bg_cover_k3v"/>
          <p:cNvSpPr txBox="1"/>
          <p:nvPr/>
        </p:nvSpPr>
        <p:spPr>
          <a:xfrm>
            <a:off x="8321040" y="449884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bg_cover_note"/>
          <p:cNvSpPr txBox="1"/>
          <p:nvPr/>
        </p:nvSpPr>
        <p:spPr>
          <a:xfrm>
            <a:off x="8321040" y="5303520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ドル(10/16 終値)は理論株価の 0.61 倍。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決算後の目安 16.5 ドルでは 0.69 倍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結論(1/2)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017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結論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620774" y="356616"/>
            <a:ext cx="10113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最初に判断と根拠の骨格を示す。詳しい根拠は各章で確かめる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B・理論株価 23.8 ドル(株価の +45〜64%)で「買い(分割で建てる)」。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は収益 +44% に加速し、2027 年の EPS 見通しは 0.90 ドル(2026 年比 +48%)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の 8-K・説明会の要約)、calc/out/growth_v4.json。株価は 2026-10-16 終値、決算後の目安は 10/27 の報道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ovl_tile0"/>
          <p:cNvSpPr/>
          <p:nvPr/>
        </p:nvSpPr>
        <p:spPr>
          <a:xfrm>
            <a:off x="457200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2" name="tile_v0"/>
          <p:cNvSpPr txBox="1"/>
          <p:nvPr/>
        </p:nvSpPr>
        <p:spPr>
          <a:xfrm>
            <a:off x="548640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23.8 ドル</a:t>
            </a:r>
            <a:endParaRPr lang="en-US" sz="3200" dirty="0"/>
          </a:p>
        </p:txBody>
      </p:sp>
      <p:sp>
        <p:nvSpPr>
          <p:cNvPr id="23" name="tile_l0"/>
          <p:cNvSpPr txBox="1"/>
          <p:nvPr/>
        </p:nvSpPr>
        <p:spPr>
          <a:xfrm>
            <a:off x="548640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理論株価(エンジン)</a:t>
            </a:r>
            <a:endParaRPr lang="en-US" sz="1050" dirty="0"/>
          </a:p>
        </p:txBody>
      </p:sp>
      <p:sp>
        <p:nvSpPr>
          <p:cNvPr id="24" name="tile_n0"/>
          <p:cNvSpPr txBox="1"/>
          <p:nvPr/>
        </p:nvSpPr>
        <p:spPr>
          <a:xfrm>
            <a:off x="548640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期待値 24.2・強気 33.5・弱気 13.9</a:t>
            </a:r>
            <a:endParaRPr lang="en-US" sz="850" dirty="0"/>
          </a:p>
        </p:txBody>
      </p:sp>
      <p:sp>
        <p:nvSpPr>
          <p:cNvPr id="25" name="ovl_tile1"/>
          <p:cNvSpPr/>
          <p:nvPr/>
        </p:nvSpPr>
        <p:spPr>
          <a:xfrm>
            <a:off x="3333674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6" name="tile_v1"/>
          <p:cNvSpPr txBox="1"/>
          <p:nvPr/>
        </p:nvSpPr>
        <p:spPr>
          <a:xfrm>
            <a:off x="3425114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14.55 ドル</a:t>
            </a:r>
            <a:endParaRPr lang="en-US" sz="3200" dirty="0"/>
          </a:p>
        </p:txBody>
      </p:sp>
      <p:sp>
        <p:nvSpPr>
          <p:cNvPr id="27" name="tile_l1"/>
          <p:cNvSpPr txBox="1"/>
          <p:nvPr/>
        </p:nvSpPr>
        <p:spPr>
          <a:xfrm>
            <a:off x="3425114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株価(10/16)</a:t>
            </a:r>
            <a:endParaRPr lang="en-US" sz="1050" dirty="0"/>
          </a:p>
        </p:txBody>
      </p:sp>
      <p:sp>
        <p:nvSpPr>
          <p:cNvPr id="28" name="tile_n1"/>
          <p:cNvSpPr txBox="1"/>
          <p:nvPr/>
        </p:nvSpPr>
        <p:spPr>
          <a:xfrm>
            <a:off x="3425114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決算後の目安 16.5 ドル</a:t>
            </a:r>
            <a:endParaRPr lang="en-US" sz="850" dirty="0"/>
          </a:p>
        </p:txBody>
      </p:sp>
      <p:sp>
        <p:nvSpPr>
          <p:cNvPr id="29" name="ovl_tile2"/>
          <p:cNvSpPr/>
          <p:nvPr/>
        </p:nvSpPr>
        <p:spPr>
          <a:xfrm>
            <a:off x="6210148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0" name="tile_v2"/>
          <p:cNvSpPr txBox="1"/>
          <p:nvPr/>
        </p:nvSpPr>
        <p:spPr>
          <a:xfrm>
            <a:off x="6301588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3200" dirty="0"/>
          </a:p>
        </p:txBody>
      </p:sp>
      <p:sp>
        <p:nvSpPr>
          <p:cNvPr id="31" name="tile_l2"/>
          <p:cNvSpPr txBox="1"/>
          <p:nvPr/>
        </p:nvSpPr>
        <p:spPr>
          <a:xfrm>
            <a:off x="6301588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050" dirty="0"/>
          </a:p>
        </p:txBody>
      </p:sp>
      <p:sp>
        <p:nvSpPr>
          <p:cNvPr id="32" name="tile_n2"/>
          <p:cNvSpPr txBox="1"/>
          <p:nvPr/>
        </p:nvSpPr>
        <p:spPr>
          <a:xfrm>
            <a:off x="6301588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S1・A3・B8(C は 0)</a:t>
            </a:r>
            <a:endParaRPr lang="en-US" sz="850" dirty="0"/>
          </a:p>
        </p:txBody>
      </p:sp>
      <p:sp>
        <p:nvSpPr>
          <p:cNvPr id="33" name="ovl_tile3"/>
          <p:cNvSpPr/>
          <p:nvPr/>
        </p:nvSpPr>
        <p:spPr>
          <a:xfrm>
            <a:off x="9086621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4" name="tile_v3"/>
          <p:cNvSpPr txBox="1"/>
          <p:nvPr/>
        </p:nvSpPr>
        <p:spPr>
          <a:xfrm>
            <a:off x="9178061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買い(分割)</a:t>
            </a:r>
            <a:endParaRPr lang="en-US" sz="3200" dirty="0"/>
          </a:p>
        </p:txBody>
      </p:sp>
      <p:sp>
        <p:nvSpPr>
          <p:cNvPr id="35" name="tile_l3"/>
          <p:cNvSpPr txBox="1"/>
          <p:nvPr/>
        </p:nvSpPr>
        <p:spPr>
          <a:xfrm>
            <a:off x="9178061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050" dirty="0"/>
          </a:p>
        </p:txBody>
      </p:sp>
      <p:sp>
        <p:nvSpPr>
          <p:cNvPr id="36" name="tile_n3"/>
          <p:cNvSpPr txBox="1"/>
          <p:nvPr/>
        </p:nvSpPr>
        <p:spPr>
          <a:xfrm>
            <a:off x="9178061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 15.3〜21.4 ドル、即時 15.3 以下</a:t>
            </a:r>
            <a:endParaRPr lang="en-US" sz="850" dirty="0"/>
          </a:p>
        </p:txBody>
      </p:sp>
      <p:sp>
        <p:nvSpPr>
          <p:cNvPr id="37" name="ovl_rail0"/>
          <p:cNvSpPr/>
          <p:nvPr/>
        </p:nvSpPr>
        <p:spPr>
          <a:xfrm>
            <a:off x="457200" y="2971800"/>
            <a:ext cx="2103120" cy="603504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8" name="rail0"/>
          <p:cNvSpPr txBox="1"/>
          <p:nvPr/>
        </p:nvSpPr>
        <p:spPr>
          <a:xfrm>
            <a:off x="566928" y="29718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</a:t>
            </a:r>
            <a:endParaRPr lang="en-US" sz="1200" dirty="0"/>
          </a:p>
        </p:txBody>
      </p:sp>
      <p:sp>
        <p:nvSpPr>
          <p:cNvPr id="39" name="body0"/>
          <p:cNvSpPr txBox="1"/>
          <p:nvPr/>
        </p:nvSpPr>
        <p:spPr>
          <a:xfrm>
            <a:off x="2743200" y="2971800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構造は B(上方の留保)、理論株価 23.8 ドルは株価の +45〜64%。B 行の「買い」で、分割で建てる。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次の確認は Q4 決算の総自己資本比率と LPB の割合</a:t>
            </a:r>
            <a:endParaRPr lang="en-US" sz="1100" dirty="0"/>
          </a:p>
        </p:txBody>
      </p:sp>
      <p:sp>
        <p:nvSpPr>
          <p:cNvPr id="40" name="ovl_rail1"/>
          <p:cNvSpPr/>
          <p:nvPr/>
        </p:nvSpPr>
        <p:spPr>
          <a:xfrm>
            <a:off x="457200" y="3630168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1" name="rail1"/>
          <p:cNvSpPr txBox="1"/>
          <p:nvPr/>
        </p:nvSpPr>
        <p:spPr>
          <a:xfrm>
            <a:off x="566928" y="363016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1200" dirty="0"/>
          </a:p>
        </p:txBody>
      </p:sp>
      <p:sp>
        <p:nvSpPr>
          <p:cNvPr id="42" name="body1"/>
          <p:cNvSpPr txBox="1"/>
          <p:nvPr/>
        </p:nvSpPr>
        <p:spPr>
          <a:xfrm>
            <a:off x="2743200" y="3630168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1,710 万人が 1 つのアプリで預金・ローン・投資・決済を使い、預金 513 億ドルでローンを抱えて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利ざやを稼ぐ。手数料型の収益は 42%。フェーズ ③(収益 +44%・黒字・販促費 32%)の上端で加速</a:t>
            </a:r>
            <a:endParaRPr lang="en-US" sz="1100" dirty="0"/>
          </a:p>
        </p:txBody>
      </p:sp>
      <p:sp>
        <p:nvSpPr>
          <p:cNvPr id="43" name="ovl_rail2"/>
          <p:cNvSpPr/>
          <p:nvPr/>
        </p:nvSpPr>
        <p:spPr>
          <a:xfrm>
            <a:off x="457200" y="4288536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4" name="rail2"/>
          <p:cNvSpPr txBox="1"/>
          <p:nvPr/>
        </p:nvSpPr>
        <p:spPr>
          <a:xfrm>
            <a:off x="566928" y="428853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成長の質</a:t>
            </a:r>
            <a:endParaRPr lang="en-US" sz="1200" dirty="0"/>
          </a:p>
        </p:txBody>
      </p:sp>
      <p:sp>
        <p:nvSpPr>
          <p:cNvPr id="45" name="body2"/>
          <p:cNvSpPr txBox="1"/>
          <p:nvPr/>
        </p:nvSpPr>
        <p:spPr>
          <a:xfrm>
            <a:off x="2743200" y="4288536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会員は前年比 36%・純増 120 万で過去最高、製品は +44%。会員 1 人の年間収益は 337 ドル(+5%)。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束では獲得費・貸倒が同業より低い。律速は自己資本(比率 17.0%)</a:t>
            </a:r>
            <a:endParaRPr lang="en-US" sz="1100" dirty="0"/>
          </a:p>
        </p:txBody>
      </p:sp>
      <p:sp>
        <p:nvSpPr>
          <p:cNvPr id="46" name="ovl_rail3"/>
          <p:cNvSpPr/>
          <p:nvPr/>
        </p:nvSpPr>
        <p:spPr>
          <a:xfrm>
            <a:off x="457200" y="4946904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rail3"/>
          <p:cNvSpPr txBox="1"/>
          <p:nvPr/>
        </p:nvSpPr>
        <p:spPr>
          <a:xfrm>
            <a:off x="566928" y="49469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</a:t>
            </a:r>
            <a:endParaRPr lang="en-US" sz="1200" dirty="0"/>
          </a:p>
        </p:txBody>
      </p:sp>
      <p:sp>
        <p:nvSpPr>
          <p:cNvPr id="48" name="body3"/>
          <p:cNvSpPr txBox="1"/>
          <p:nvPr/>
        </p:nvSpPr>
        <p:spPr>
          <a:xfrm>
            <a:off x="2743200" y="4946904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 = 許容 PEG 1.275 × 3 年の成長率 32.5%。年度別に当ててエンジン 23.8 ドル(PEG 1.0 でも 19.5)。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 EPS 0.90 は会社の見通し。強気 33.5 ドル・確率 27%、弱気 13.9 ドル・24%</a:t>
            </a:r>
            <a:endParaRPr lang="en-US" sz="1100" dirty="0"/>
          </a:p>
        </p:txBody>
      </p:sp>
      <p:sp>
        <p:nvSpPr>
          <p:cNvPr id="49" name="ovl_rail4"/>
          <p:cNvSpPr/>
          <p:nvPr/>
        </p:nvSpPr>
        <p:spPr>
          <a:xfrm>
            <a:off x="457200" y="5605272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50" name="rail4"/>
          <p:cNvSpPr txBox="1"/>
          <p:nvPr/>
        </p:nvSpPr>
        <p:spPr>
          <a:xfrm>
            <a:off x="566928" y="560527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市場との差分</a:t>
            </a:r>
            <a:endParaRPr lang="en-US" sz="1200" dirty="0"/>
          </a:p>
        </p:txBody>
      </p:sp>
      <p:sp>
        <p:nvSpPr>
          <p:cNvPr id="51" name="body4"/>
          <p:cNvSpPr txBox="1"/>
          <p:nvPr/>
        </p:nvSpPr>
        <p:spPr>
          <a:xfrm>
            <a:off x="2743200" y="5605272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株価は損失率 +2.1〜2.7pt の恒常化とPEG 0.80〜0.90(構造 C の 1.0 未満)を織り込む。実績の損失率は 3.4% に改善。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 +1pt・金利 +100bp・増資を同時に置いても 19.4 ドル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結論(2/2)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760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760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Q3 決算の要点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79574" y="356616"/>
            <a:ext cx="95549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最新の決算で何が起き、見通しがどう変わったかを先に押さえる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は収益 +44%・EPS 0.18 で上振れし、2027 年 EPS 0.90 を初めて示した。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上振れの源泉は NII で、自己資本比率は 1 四半期で 1.8pt 下がった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2026(2026-09-30 締め、10/27 発表)の実績とガイダンス。前年比は Q3 2025 比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の 8-K・説明会の要約)、calc/out/growth_v4.json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ovl_tile0"/>
          <p:cNvSpPr/>
          <p:nvPr/>
        </p:nvSpPr>
        <p:spPr>
          <a:xfrm>
            <a:off x="457200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2" name="tile_v0"/>
          <p:cNvSpPr txBox="1"/>
          <p:nvPr/>
        </p:nvSpPr>
        <p:spPr>
          <a:xfrm>
            <a:off x="548640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13.85 億ドル</a:t>
            </a:r>
            <a:endParaRPr lang="en-US" sz="2800" dirty="0"/>
          </a:p>
        </p:txBody>
      </p:sp>
      <p:sp>
        <p:nvSpPr>
          <p:cNvPr id="23" name="tile_l0"/>
          <p:cNvSpPr txBox="1"/>
          <p:nvPr/>
        </p:nvSpPr>
        <p:spPr>
          <a:xfrm>
            <a:off x="548640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総純収益</a:t>
            </a:r>
            <a:endParaRPr lang="en-US" sz="1050" dirty="0"/>
          </a:p>
        </p:txBody>
      </p:sp>
      <p:sp>
        <p:nvSpPr>
          <p:cNvPr id="24" name="tile_n0"/>
          <p:cNvSpPr txBox="1"/>
          <p:nvPr/>
        </p:nvSpPr>
        <p:spPr>
          <a:xfrm>
            <a:off x="548640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+44%(Q2 +42.5%)</a:t>
            </a:r>
            <a:endParaRPr lang="en-US" sz="850" dirty="0"/>
          </a:p>
        </p:txBody>
      </p:sp>
      <p:sp>
        <p:nvSpPr>
          <p:cNvPr id="25" name="ovl_tile1"/>
          <p:cNvSpPr/>
          <p:nvPr/>
        </p:nvSpPr>
        <p:spPr>
          <a:xfrm>
            <a:off x="3333674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6" name="tile_v1"/>
          <p:cNvSpPr txBox="1"/>
          <p:nvPr/>
        </p:nvSpPr>
        <p:spPr>
          <a:xfrm>
            <a:off x="3425114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0.18 ドル</a:t>
            </a:r>
            <a:endParaRPr lang="en-US" sz="2800" dirty="0"/>
          </a:p>
        </p:txBody>
      </p:sp>
      <p:sp>
        <p:nvSpPr>
          <p:cNvPr id="27" name="tile_l1"/>
          <p:cNvSpPr txBox="1"/>
          <p:nvPr/>
        </p:nvSpPr>
        <p:spPr>
          <a:xfrm>
            <a:off x="3425114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</a:t>
            </a:r>
            <a:endParaRPr lang="en-US" sz="1050" dirty="0"/>
          </a:p>
        </p:txBody>
      </p:sp>
      <p:sp>
        <p:nvSpPr>
          <p:cNvPr id="28" name="tile_n1"/>
          <p:cNvSpPr txBox="1"/>
          <p:nvPr/>
        </p:nvSpPr>
        <p:spPr>
          <a:xfrm>
            <a:off x="3425114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 0.17、前年比 +67%</a:t>
            </a:r>
            <a:endParaRPr lang="en-US" sz="850" dirty="0"/>
          </a:p>
        </p:txBody>
      </p:sp>
      <p:sp>
        <p:nvSpPr>
          <p:cNvPr id="29" name="ovl_tile2"/>
          <p:cNvSpPr/>
          <p:nvPr/>
        </p:nvSpPr>
        <p:spPr>
          <a:xfrm>
            <a:off x="6210148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0" name="tile_v2"/>
          <p:cNvSpPr txBox="1"/>
          <p:nvPr/>
        </p:nvSpPr>
        <p:spPr>
          <a:xfrm>
            <a:off x="6301588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120 万人</a:t>
            </a:r>
            <a:endParaRPr lang="en-US" sz="2800" dirty="0"/>
          </a:p>
        </p:txBody>
      </p:sp>
      <p:sp>
        <p:nvSpPr>
          <p:cNvPr id="31" name="tile_l2"/>
          <p:cNvSpPr txBox="1"/>
          <p:nvPr/>
        </p:nvSpPr>
        <p:spPr>
          <a:xfrm>
            <a:off x="6301588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会員純増</a:t>
            </a:r>
            <a:endParaRPr lang="en-US" sz="1050" dirty="0"/>
          </a:p>
        </p:txBody>
      </p:sp>
      <p:sp>
        <p:nvSpPr>
          <p:cNvPr id="32" name="tile_n2"/>
          <p:cNvSpPr txBox="1"/>
          <p:nvPr/>
        </p:nvSpPr>
        <p:spPr>
          <a:xfrm>
            <a:off x="6301588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過去最高、会員 1,710 万</a:t>
            </a:r>
            <a:endParaRPr lang="en-US" sz="850" dirty="0"/>
          </a:p>
        </p:txBody>
      </p:sp>
      <p:sp>
        <p:nvSpPr>
          <p:cNvPr id="33" name="ovl_tile3"/>
          <p:cNvSpPr/>
          <p:nvPr/>
        </p:nvSpPr>
        <p:spPr>
          <a:xfrm>
            <a:off x="9086621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4" name="tile_v3"/>
          <p:cNvSpPr txBox="1"/>
          <p:nvPr/>
        </p:nvSpPr>
        <p:spPr>
          <a:xfrm>
            <a:off x="9178061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17.0%</a:t>
            </a:r>
            <a:endParaRPr lang="en-US" sz="2800" dirty="0"/>
          </a:p>
        </p:txBody>
      </p:sp>
      <p:sp>
        <p:nvSpPr>
          <p:cNvPr id="35" name="tile_l3"/>
          <p:cNvSpPr txBox="1"/>
          <p:nvPr/>
        </p:nvSpPr>
        <p:spPr>
          <a:xfrm>
            <a:off x="9178061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</a:t>
            </a:r>
            <a:endParaRPr lang="en-US" sz="1050" dirty="0"/>
          </a:p>
        </p:txBody>
      </p:sp>
      <p:sp>
        <p:nvSpPr>
          <p:cNvPr id="36" name="tile_n3"/>
          <p:cNvSpPr txBox="1"/>
          <p:nvPr/>
        </p:nvSpPr>
        <p:spPr>
          <a:xfrm>
            <a:off x="9178061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−1.8pt、下限 14%</a:t>
            </a:r>
            <a:endParaRPr lang="en-US" sz="850" dirty="0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55321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78308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ガイダンス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7/29 時点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10/27 時点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 調整後純収益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47.5〜48.5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50.4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 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0.60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0.61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 調整後純収益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 億(+27%)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 EBITDA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22.4 億(率 35%)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 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(決算前コンセンサス 0.82)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(2026 年比 +48%)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2026(通期からの含意、推定)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前期比 +1%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約 0.19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2971800"/>
          <a:ext cx="5532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20440"/>
              </a:tblGrid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何が起きたか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増収の源泉は NII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NII +1.41 億ドル(前期比)、運用資産 +15%、NIM +16bp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販促費は増やした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3.92 → 4.44 億ドル(+13%)、収益比 32% で横ばい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手数料型は 42% 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5.71 億ドル(+40%)、交換手数料 +77%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信用は改善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純償却 2.26%、all-in 約 3.4%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資本を使った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 18.8 → 17.0%、RWA +15%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大口を除き +18%、貢献利益率 16%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9" name="ovl_takeaway_bg"/>
          <p:cNvSpPr/>
          <p:nvPr/>
        </p:nvSpPr>
        <p:spPr>
          <a:xfrm>
            <a:off x="457200" y="5577840"/>
            <a:ext cx="11274552" cy="60350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0" name="takeaway"/>
          <p:cNvSpPr txBox="1"/>
          <p:nvPr/>
        </p:nvSpPr>
        <p:spPr>
          <a:xfrm>
            <a:off x="566928" y="5650992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上振れは増収(NII)で作られ、販促費は削っていない。代わりに自己資本を 1 四半期で 1.8pt 使った。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年見通し(EPS 0.90)の達成は、資本の弁(LPB)と手数料が伸びを担えるかにかかる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why0"/>
          <p:cNvSpPr txBox="1"/>
          <p:nvPr/>
        </p:nvSpPr>
        <p:spPr>
          <a:xfrm>
            <a:off x="1417320" y="19202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結論と評価の全体像を先に示し、以降の章で根拠を確かめる</a:t>
            </a:r>
            <a:endParaRPr lang="en-US" sz="1000" dirty="0"/>
          </a:p>
        </p:txBody>
      </p:sp>
      <p:sp>
        <p:nvSpPr>
          <p:cNvPr id="8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 結論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p.2–3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 評価の全体像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p.5–7</a:t>
            </a:r>
            <a:endParaRPr lang="en-US" sz="1050" dirty="0"/>
          </a:p>
        </p:txBody>
      </p:sp>
      <p:sp>
        <p:nvSpPr>
          <p:cNvPr id="26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条件のどこが強く、どこが弱いかを一覧し、構造評価 B の内訳と将来の上振れの候補を示す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 条件は S1・A3・B8 で C は 0(条件9 は対象外)。条件3 は手数料と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の再成長で A、条件6・7 は市場比と織り込みの過大で A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条件の評価一覧(評価の色は全スライド共通: S 濃緑・A 緑・B 薄緑・C アンバー・対象外は灰)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第3章・第4章、research_r5/Q3_datasheet.md、calc/out/growth_v4.json、銘柄分析メソッド Phase 3・6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800" dirty="0"/>
          </a:p>
        </p:txBody>
      </p:sp>
      <p:graphicFrame>
        <p:nvGraphicFramePr>
          <p:cNvPr id="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926080"/>
                <a:gridCol w="685800"/>
                <a:gridCol w="5120640"/>
                <a:gridCol w="213055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根拠(一文)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将来(2028)と実現確率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 年の価格決定力・競争優位・成長性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主口座の関係が深まる(預金 +58 億ドル、交換手数料 +77%)。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預金の基本金利は同業の中位。単品の価格優位はない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A・59%(上方の留保)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コア事業の潤沢なキャッシュフロー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 ③。ROTCE 約 10% は成長投資の結果で、2027 年 12%・2028 年 13%。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保有の資本 ROE 約 26%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コア資産の新しい収益線への転用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 5.71 億ドル(+40%、42%)、Tech Platform は大口を除き +18%、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を住宅・中小企業へ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日本株か米国株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NASDAQ 上場の米国企業(前提条件)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経営陣の経歴と資本配分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公約の達成と上方修正の記録(2025 年 3 回、2026 年 2 回、Q3 も上振れ)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年 EPS 成長率 30% 以上で PEG&lt;1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0.49〜0.54 は S&amp;P 500 の 0.4 倍、成長は 2.4〜2.6 倍。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同業の中央値と並ぶ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 PEG の理由がリスクの過大評価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株価は損失率 +2.1〜2.7pt の恒常化を織り込むが実績は 3.4% に改善。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つの悪い前提の同時でも 19.4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コモディティでない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単品は商品だが、束では獲得費と貸倒が同業より低い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A・59%(上方の留保)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停めない運用に不可欠(AI 関連のみ)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N/A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の部品・サービスの供給者ではないため対象外(集計から除外)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無形資産の陳腐化リスク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ブランドと会員の関係は長寿命。技術基盤は Chime の内製化で代替されうる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模倣困難・代替不可能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銀行免許・会員・預金の組み合わせは再現に約 57 億ドルと数年。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部品ごとの再現例(LendingClub・Chime)はある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A・59%(上方の留保)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従量・継続型の収益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残高に乗る NII と利用に乗る手数料。手数料型の比率 42%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A・43%(上方の留保)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アーキタイプ照合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 71% は銀行の標準に近く売却の選択肢あり。MU 型ではない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A・43%(上方の留保)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note_kpi"/>
          <p:cNvSpPr txBox="1"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将来は 2028 年の事業エンジンの基準で判定し、実現確率は節点ツリーから。60% に届かないため等級は動かさず「上方の留保」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集計の規則と、等級の中の位置から許容 PEG と α を決める手順を示し、評価に恣意がないことを確かめる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平均点 3.42 で構造評価は B(A の境目 3.5 の手前)。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帯の中の位置 0.92 から許容 PEG 1.275・α 20.4%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構造評価の導出: 評価分布 → 適用ルール → 等級 → 等級の中の位置 → 許容 PEG・α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Phase 6・valuation-model §3-3、calc/out/growth_v4.json の grade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flow_h0"/>
          <p:cNvSpPr txBox="1"/>
          <p:nvPr/>
        </p:nvSpPr>
        <p:spPr>
          <a:xfrm>
            <a:off x="457200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入力: 13 条件の評価</a:t>
            </a:r>
            <a:endParaRPr lang="en-US" sz="1100" dirty="0"/>
          </a:p>
        </p:txBody>
      </p:sp>
      <p:sp>
        <p:nvSpPr>
          <p:cNvPr id="22" name="ovl_fbox0_0"/>
          <p:cNvSpPr/>
          <p:nvPr/>
        </p:nvSpPr>
        <p:spPr>
          <a:xfrm>
            <a:off x="457200" y="1938528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3" name="flow_t0_0"/>
          <p:cNvSpPr txBox="1"/>
          <p:nvPr/>
        </p:nvSpPr>
        <p:spPr>
          <a:xfrm>
            <a:off x="530352" y="1975104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 × 1(条件4)</a:t>
            </a:r>
            <a:endParaRPr lang="en-US" sz="1000" dirty="0"/>
          </a:p>
        </p:txBody>
      </p:sp>
      <p:sp>
        <p:nvSpPr>
          <p:cNvPr id="24" name="ovl_fbox0_1"/>
          <p:cNvSpPr/>
          <p:nvPr/>
        </p:nvSpPr>
        <p:spPr>
          <a:xfrm>
            <a:off x="457200" y="2688336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1"/>
          <p:cNvSpPr txBox="1"/>
          <p:nvPr/>
        </p:nvSpPr>
        <p:spPr>
          <a:xfrm>
            <a:off x="530352" y="2724912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× 3(条件3・6・7)</a:t>
            </a:r>
            <a:endParaRPr lang="en-US" sz="1000" dirty="0"/>
          </a:p>
        </p:txBody>
      </p:sp>
      <p:sp>
        <p:nvSpPr>
          <p:cNvPr id="26" name="ovl_fbox0_2"/>
          <p:cNvSpPr/>
          <p:nvPr/>
        </p:nvSpPr>
        <p:spPr>
          <a:xfrm>
            <a:off x="457200" y="3438144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7" name="flow_t0_2"/>
          <p:cNvSpPr txBox="1"/>
          <p:nvPr/>
        </p:nvSpPr>
        <p:spPr>
          <a:xfrm>
            <a:off x="530352" y="3474720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× 8(条件1・2・5・8・10・11・12・13)</a:t>
            </a:r>
            <a:endParaRPr lang="en-US" sz="1000" dirty="0"/>
          </a:p>
        </p:txBody>
      </p:sp>
      <p:sp>
        <p:nvSpPr>
          <p:cNvPr id="28" name="ovl_fbox0_3"/>
          <p:cNvSpPr/>
          <p:nvPr/>
        </p:nvSpPr>
        <p:spPr>
          <a:xfrm>
            <a:off x="457200" y="4187952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9" name="flow_t0_3"/>
          <p:cNvSpPr txBox="1"/>
          <p:nvPr/>
        </p:nvSpPr>
        <p:spPr>
          <a:xfrm>
            <a:off x="530352" y="4224528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0</a:t>
            </a:r>
            <a:endParaRPr lang="en-US" sz="1000" dirty="0"/>
          </a:p>
        </p:txBody>
      </p:sp>
      <p:sp>
        <p:nvSpPr>
          <p:cNvPr id="30" name="ovl_fbox0_4"/>
          <p:cNvSpPr/>
          <p:nvPr/>
        </p:nvSpPr>
        <p:spPr>
          <a:xfrm>
            <a:off x="457200" y="4937760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1" name="flow_t0_4"/>
          <p:cNvSpPr txBox="1"/>
          <p:nvPr/>
        </p:nvSpPr>
        <p:spPr>
          <a:xfrm>
            <a:off x="530352" y="4974336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対象外 × 1(条件9)</a:t>
            </a:r>
            <a:endParaRPr lang="en-US" sz="1000" dirty="0"/>
          </a:p>
        </p:txBody>
      </p:sp>
      <p:sp>
        <p:nvSpPr>
          <p:cNvPr id="32" name="ovl_farrow0"/>
          <p:cNvSpPr/>
          <p:nvPr/>
        </p:nvSpPr>
        <p:spPr>
          <a:xfrm>
            <a:off x="4003700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3" name="flow_h1"/>
          <p:cNvSpPr txBox="1"/>
          <p:nvPr/>
        </p:nvSpPr>
        <p:spPr>
          <a:xfrm>
            <a:off x="4353458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処理: 適用ルールと点数</a:t>
            </a:r>
            <a:endParaRPr lang="en-US" sz="1100" dirty="0"/>
          </a:p>
        </p:txBody>
      </p:sp>
      <p:sp>
        <p:nvSpPr>
          <p:cNvPr id="34" name="ovl_fbox1_0"/>
          <p:cNvSpPr/>
          <p:nvPr/>
        </p:nvSpPr>
        <p:spPr>
          <a:xfrm>
            <a:off x="4353458" y="194767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5" name="flow_t1_0"/>
          <p:cNvSpPr txBox="1"/>
          <p:nvPr/>
        </p:nvSpPr>
        <p:spPr>
          <a:xfrm>
            <a:off x="4426610" y="198424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拒否権(E 以下): 非発動</a:t>
            </a:r>
            <a:endParaRPr lang="en-US" sz="1000" dirty="0"/>
          </a:p>
        </p:txBody>
      </p:sp>
      <p:sp>
        <p:nvSpPr>
          <p:cNvPr id="36" name="ovl_fbox1_1"/>
          <p:cNvSpPr/>
          <p:nvPr/>
        </p:nvSpPr>
        <p:spPr>
          <a:xfrm>
            <a:off x="4353458" y="2880360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7" name="flow_t1_1"/>
          <p:cNvSpPr txBox="1"/>
          <p:nvPr/>
        </p:nvSpPr>
        <p:spPr>
          <a:xfrm>
            <a:off x="4426610" y="2916936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条件6・7 の対評価: S だけ無効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(条件6 は株価 15.9 ドル超では A)</a:t>
            </a:r>
            <a:endParaRPr lang="en-US" sz="1000" dirty="0"/>
          </a:p>
        </p:txBody>
      </p:sp>
      <p:sp>
        <p:nvSpPr>
          <p:cNvPr id="38" name="ovl_fbox1_2"/>
          <p:cNvSpPr/>
          <p:nvPr/>
        </p:nvSpPr>
        <p:spPr>
          <a:xfrm>
            <a:off x="4353458" y="3813048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9" name="flow_t1_2"/>
          <p:cNvSpPr txBox="1"/>
          <p:nvPr/>
        </p:nvSpPr>
        <p:spPr>
          <a:xfrm>
            <a:off x="4426610" y="3849624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4 以上で B 以上にしない: 非発動(C は 0)</a:t>
            </a:r>
            <a:endParaRPr lang="en-US" sz="1000" dirty="0"/>
          </a:p>
        </p:txBody>
      </p:sp>
      <p:sp>
        <p:nvSpPr>
          <p:cNvPr id="40" name="ovl_fbox1_3"/>
          <p:cNvSpPr/>
          <p:nvPr/>
        </p:nvSpPr>
        <p:spPr>
          <a:xfrm>
            <a:off x="4353458" y="4745736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41" name="flow_t1_3"/>
          <p:cNvSpPr txBox="1"/>
          <p:nvPr/>
        </p:nvSpPr>
        <p:spPr>
          <a:xfrm>
            <a:off x="4426610" y="4782312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平均点 = (5 + 4×3 + 3×8) ÷ 12 = 3.42</a:t>
            </a:r>
            <a:endParaRPr lang="en-US" sz="1000" dirty="0"/>
          </a:p>
        </p:txBody>
      </p:sp>
      <p:sp>
        <p:nvSpPr>
          <p:cNvPr id="42" name="ovl_farrow1"/>
          <p:cNvSpPr/>
          <p:nvPr/>
        </p:nvSpPr>
        <p:spPr>
          <a:xfrm>
            <a:off x="7899959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3" name="flow_h2"/>
          <p:cNvSpPr txBox="1"/>
          <p:nvPr/>
        </p:nvSpPr>
        <p:spPr>
          <a:xfrm>
            <a:off x="8249717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出力: 構造評価と倍率</a:t>
            </a:r>
            <a:endParaRPr lang="en-US" sz="1100" dirty="0"/>
          </a:p>
        </p:txBody>
      </p:sp>
      <p:sp>
        <p:nvSpPr>
          <p:cNvPr id="44" name="ovl_fbox2_0"/>
          <p:cNvSpPr/>
          <p:nvPr/>
        </p:nvSpPr>
        <p:spPr>
          <a:xfrm>
            <a:off x="8249717" y="2276856"/>
            <a:ext cx="3484778" cy="1097280"/>
          </a:xfrm>
          <a:prstGeom prst="roundRect">
            <a:avLst>
              <a:gd name="adj" fmla="val 50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5" name="flow_t2_0"/>
          <p:cNvSpPr txBox="1"/>
          <p:nvPr/>
        </p:nvSpPr>
        <p:spPr>
          <a:xfrm>
            <a:off x="8322869" y="2313432"/>
            <a:ext cx="333847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4000" dirty="0"/>
          </a:p>
        </p:txBody>
      </p:sp>
      <p:sp>
        <p:nvSpPr>
          <p:cNvPr id="46" name="ovl_fbox2_1"/>
          <p:cNvSpPr/>
          <p:nvPr/>
        </p:nvSpPr>
        <p:spPr>
          <a:xfrm>
            <a:off x="8249717" y="3483864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flow_t2_1"/>
          <p:cNvSpPr txBox="1"/>
          <p:nvPr/>
        </p:nvSpPr>
        <p:spPr>
          <a:xfrm>
            <a:off x="8322869" y="3520440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帯 2.5〜3.5 の中の位置 0.92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許容 PEG 1.275(2029 年 1.125)・α 20.4%</a:t>
            </a:r>
            <a:endParaRPr lang="en-US" sz="1000" dirty="0"/>
          </a:p>
        </p:txBody>
      </p:sp>
      <p:sp>
        <p:nvSpPr>
          <p:cNvPr id="48" name="ovl_fbox2_2"/>
          <p:cNvSpPr/>
          <p:nvPr/>
        </p:nvSpPr>
        <p:spPr>
          <a:xfrm>
            <a:off x="8249717" y="441655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9" name="flow_t2_2"/>
          <p:cNvSpPr txBox="1"/>
          <p:nvPr/>
        </p:nvSpPr>
        <p:spPr>
          <a:xfrm>
            <a:off x="8322869" y="445312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の境目 3.5 まで 0.08 点。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条件1・8・11 か 12・13 の 1 つが A で構造 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どの事業構造が評価を押し上げ、どれが押し下げたかを、原因から結果の順に示す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主口座化(預金 +58 億ドル・交換手数料 +77%)とクロスセル、会員の質が押し上げ、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自己資本の律速と、消費者金融の群として見られることが押し下げる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構造的要因サマリー: 構造(だから)→ 条件の評価(となり)→ 構造評価への効き(を動かした)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第3章・第4章、research_r5/Q3_datasheet.md、calc/out/growth_v4.json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800" dirty="0"/>
          </a:p>
        </p:txBody>
      </p:sp>
      <p:sp>
        <p:nvSpPr>
          <p:cNvPr id="21" name="head_up"/>
          <p:cNvSpPr txBox="1"/>
          <p:nvPr/>
        </p:nvSpPr>
        <p:spPr>
          <a:xfrm>
            <a:off x="457200" y="148132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押し上げ要因</a:t>
            </a:r>
            <a:endParaRPr lang="en-US" sz="1200" dirty="0"/>
          </a:p>
        </p:txBody>
      </p:sp>
      <p:sp>
        <p:nvSpPr>
          <p:cNvPr id="22" name="head_down"/>
          <p:cNvSpPr txBox="1"/>
          <p:nvPr/>
        </p:nvSpPr>
        <p:spPr>
          <a:xfrm>
            <a:off x="457200" y="363016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押し下げ要因</a:t>
            </a:r>
            <a:endParaRPr lang="en-US" sz="1200" dirty="0"/>
          </a:p>
        </p:txBody>
      </p:sp>
      <p:sp>
        <p:nvSpPr>
          <p:cNvPr id="23" name="ovl_card_up0"/>
          <p:cNvSpPr/>
          <p:nvPr/>
        </p:nvSpPr>
        <p:spPr>
          <a:xfrm>
            <a:off x="45720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4" name="cn_up0"/>
          <p:cNvSpPr txBox="1"/>
          <p:nvPr/>
        </p:nvSpPr>
        <p:spPr>
          <a:xfrm>
            <a:off x="54864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25" name="ovl_badge"/>
          <p:cNvSpPr/>
          <p:nvPr/>
        </p:nvSpPr>
        <p:spPr>
          <a:xfrm>
            <a:off x="93268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ovl_badge_t"/>
          <p:cNvSpPr txBox="1"/>
          <p:nvPr/>
        </p:nvSpPr>
        <p:spPr>
          <a:xfrm>
            <a:off x="9326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no_up0_0"/>
          <p:cNvSpPr txBox="1"/>
          <p:nvPr/>
        </p:nvSpPr>
        <p:spPr>
          <a:xfrm>
            <a:off x="134416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ovl_badge"/>
          <p:cNvSpPr/>
          <p:nvPr/>
        </p:nvSpPr>
        <p:spPr>
          <a:xfrm>
            <a:off x="159105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9" name="ovl_badge_t"/>
          <p:cNvSpPr txBox="1"/>
          <p:nvPr/>
        </p:nvSpPr>
        <p:spPr>
          <a:xfrm>
            <a:off x="15910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no_up0_1"/>
          <p:cNvSpPr txBox="1"/>
          <p:nvPr/>
        </p:nvSpPr>
        <p:spPr>
          <a:xfrm>
            <a:off x="200253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50" dirty="0"/>
          </a:p>
        </p:txBody>
      </p:sp>
      <p:sp>
        <p:nvSpPr>
          <p:cNvPr id="31" name="h_up0"/>
          <p:cNvSpPr txBox="1"/>
          <p:nvPr/>
        </p:nvSpPr>
        <p:spPr>
          <a:xfrm>
            <a:off x="54864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主口座化と安い預金</a:t>
            </a:r>
            <a:endParaRPr lang="en-US" sz="1100" dirty="0"/>
          </a:p>
        </p:txBody>
      </p:sp>
      <p:sp>
        <p:nvSpPr>
          <p:cNvPr id="32" name="b_up0"/>
          <p:cNvSpPr txBox="1"/>
          <p:nvPr/>
        </p:nvSpPr>
        <p:spPr>
          <a:xfrm>
            <a:off x="54864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+58 億ドル、交換手数料 +77%。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 1.45pt 安く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7.45 億ドルの節約</a:t>
            </a:r>
            <a:endParaRPr lang="en-US" sz="950" dirty="0"/>
          </a:p>
        </p:txBody>
      </p:sp>
      <p:sp>
        <p:nvSpPr>
          <p:cNvPr id="33" name="ovl_card_up1"/>
          <p:cNvSpPr/>
          <p:nvPr/>
        </p:nvSpPr>
        <p:spPr>
          <a:xfrm>
            <a:off x="352044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34" name="cn_up1"/>
          <p:cNvSpPr txBox="1"/>
          <p:nvPr/>
        </p:nvSpPr>
        <p:spPr>
          <a:xfrm>
            <a:off x="361188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35" name="ovl_badge"/>
          <p:cNvSpPr/>
          <p:nvPr/>
        </p:nvSpPr>
        <p:spPr>
          <a:xfrm>
            <a:off x="399592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36" name="ovl_badge_t"/>
          <p:cNvSpPr txBox="1"/>
          <p:nvPr/>
        </p:nvSpPr>
        <p:spPr>
          <a:xfrm>
            <a:off x="3995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300" dirty="0"/>
          </a:p>
        </p:txBody>
      </p:sp>
      <p:sp>
        <p:nvSpPr>
          <p:cNvPr id="37" name="no_up1_0"/>
          <p:cNvSpPr txBox="1"/>
          <p:nvPr/>
        </p:nvSpPr>
        <p:spPr>
          <a:xfrm>
            <a:off x="440740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ovl_badge"/>
          <p:cNvSpPr/>
          <p:nvPr/>
        </p:nvSpPr>
        <p:spPr>
          <a:xfrm>
            <a:off x="465429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9" name="ovl_badge_t"/>
          <p:cNvSpPr txBox="1"/>
          <p:nvPr/>
        </p:nvSpPr>
        <p:spPr>
          <a:xfrm>
            <a:off x="46542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40" name="no_up1_1"/>
          <p:cNvSpPr txBox="1"/>
          <p:nvPr/>
        </p:nvSpPr>
        <p:spPr>
          <a:xfrm>
            <a:off x="506577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50" dirty="0"/>
          </a:p>
        </p:txBody>
      </p:sp>
      <p:sp>
        <p:nvSpPr>
          <p:cNvPr id="41" name="h_up1"/>
          <p:cNvSpPr txBox="1"/>
          <p:nvPr/>
        </p:nvSpPr>
        <p:spPr>
          <a:xfrm>
            <a:off x="361188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クロスセルと手数料の多様化</a:t>
            </a:r>
            <a:endParaRPr lang="en-US" sz="1100" dirty="0"/>
          </a:p>
        </p:txBody>
      </p:sp>
      <p:sp>
        <p:nvSpPr>
          <p:cNvPr id="42" name="b_up1"/>
          <p:cNvSpPr txBox="1"/>
          <p:nvPr/>
        </p:nvSpPr>
        <p:spPr>
          <a:xfrm>
            <a:off x="361188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 +44%、手数料型 5.71 億ドル(42%)。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は大口を除き +18%</a:t>
            </a:r>
            <a:endParaRPr lang="en-US" sz="950" dirty="0"/>
          </a:p>
        </p:txBody>
      </p:sp>
      <p:sp>
        <p:nvSpPr>
          <p:cNvPr id="43" name="ovl_card_up2"/>
          <p:cNvSpPr/>
          <p:nvPr/>
        </p:nvSpPr>
        <p:spPr>
          <a:xfrm>
            <a:off x="658368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4" name="cn_up2"/>
          <p:cNvSpPr txBox="1"/>
          <p:nvPr/>
        </p:nvSpPr>
        <p:spPr>
          <a:xfrm>
            <a:off x="667512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45" name="ovl_badge"/>
          <p:cNvSpPr/>
          <p:nvPr/>
        </p:nvSpPr>
        <p:spPr>
          <a:xfrm>
            <a:off x="705916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46" name="ovl_badge_t"/>
          <p:cNvSpPr txBox="1"/>
          <p:nvPr/>
        </p:nvSpPr>
        <p:spPr>
          <a:xfrm>
            <a:off x="705916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300" dirty="0"/>
          </a:p>
        </p:txBody>
      </p:sp>
      <p:sp>
        <p:nvSpPr>
          <p:cNvPr id="47" name="no_up2_0"/>
          <p:cNvSpPr txBox="1"/>
          <p:nvPr/>
        </p:nvSpPr>
        <p:spPr>
          <a:xfrm>
            <a:off x="747064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50" dirty="0"/>
          </a:p>
        </p:txBody>
      </p:sp>
      <p:sp>
        <p:nvSpPr>
          <p:cNvPr id="48" name="ovl_badge"/>
          <p:cNvSpPr/>
          <p:nvPr/>
        </p:nvSpPr>
        <p:spPr>
          <a:xfrm>
            <a:off x="771753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9" name="ovl_badge_t"/>
          <p:cNvSpPr txBox="1"/>
          <p:nvPr/>
        </p:nvSpPr>
        <p:spPr>
          <a:xfrm>
            <a:off x="7717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50" name="no_up2_1"/>
          <p:cNvSpPr txBox="1"/>
          <p:nvPr/>
        </p:nvSpPr>
        <p:spPr>
          <a:xfrm>
            <a:off x="8129016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50" dirty="0"/>
          </a:p>
        </p:txBody>
      </p:sp>
      <p:sp>
        <p:nvSpPr>
          <p:cNvPr id="51" name="h_up2"/>
          <p:cNvSpPr txBox="1"/>
          <p:nvPr/>
        </p:nvSpPr>
        <p:spPr>
          <a:xfrm>
            <a:off x="667512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同業より良い会員の質</a:t>
            </a:r>
            <a:endParaRPr lang="en-US" sz="1100" dirty="0"/>
          </a:p>
        </p:txBody>
      </p:sp>
      <p:sp>
        <p:nvSpPr>
          <p:cNvPr id="52" name="b_up2"/>
          <p:cNvSpPr txBox="1"/>
          <p:nvPr/>
        </p:nvSpPr>
        <p:spPr>
          <a:xfrm>
            <a:off x="667512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 2.26%(all-in 3.4%)。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同業は 3.2〜4.2%</a:t>
            </a:r>
            <a:endParaRPr lang="en-US" sz="950" dirty="0"/>
          </a:p>
        </p:txBody>
      </p:sp>
      <p:sp>
        <p:nvSpPr>
          <p:cNvPr id="53" name="ovl_card_down0"/>
          <p:cNvSpPr/>
          <p:nvPr/>
        </p:nvSpPr>
        <p:spPr>
          <a:xfrm>
            <a:off x="457200" y="3977640"/>
            <a:ext cx="436626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4" name="cn_down0"/>
          <p:cNvSpPr txBox="1"/>
          <p:nvPr/>
        </p:nvSpPr>
        <p:spPr>
          <a:xfrm>
            <a:off x="54864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55" name="ovl_badge"/>
          <p:cNvSpPr/>
          <p:nvPr/>
        </p:nvSpPr>
        <p:spPr>
          <a:xfrm>
            <a:off x="93268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56" name="ovl_badge_t"/>
          <p:cNvSpPr txBox="1"/>
          <p:nvPr/>
        </p:nvSpPr>
        <p:spPr>
          <a:xfrm>
            <a:off x="93268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57" name="no_down0_0"/>
          <p:cNvSpPr txBox="1"/>
          <p:nvPr/>
        </p:nvSpPr>
        <p:spPr>
          <a:xfrm>
            <a:off x="134416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50" dirty="0"/>
          </a:p>
        </p:txBody>
      </p:sp>
      <p:sp>
        <p:nvSpPr>
          <p:cNvPr id="58" name="h_down0"/>
          <p:cNvSpPr txBox="1"/>
          <p:nvPr/>
        </p:nvSpPr>
        <p:spPr>
          <a:xfrm>
            <a:off x="548640" y="450799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自己資本の律速</a:t>
            </a:r>
            <a:endParaRPr lang="en-US" sz="1100" dirty="0"/>
          </a:p>
        </p:txBody>
      </p:sp>
      <p:sp>
        <p:nvSpPr>
          <p:cNvPr id="59" name="b_down0"/>
          <p:cNvSpPr txBox="1"/>
          <p:nvPr/>
        </p:nvSpPr>
        <p:spPr>
          <a:xfrm>
            <a:off x="548640" y="4818888"/>
            <a:ext cx="4183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17.0%(1 四半期で −1.8pt)。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下限 14% まで 17 億ドル</a:t>
            </a:r>
            <a:endParaRPr lang="en-US" sz="950" dirty="0"/>
          </a:p>
        </p:txBody>
      </p:sp>
      <p:sp>
        <p:nvSpPr>
          <p:cNvPr id="60" name="ovl_card_down1"/>
          <p:cNvSpPr/>
          <p:nvPr/>
        </p:nvSpPr>
        <p:spPr>
          <a:xfrm>
            <a:off x="5052060" y="3977640"/>
            <a:ext cx="436626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1" name="cn_down1"/>
          <p:cNvSpPr txBox="1"/>
          <p:nvPr/>
        </p:nvSpPr>
        <p:spPr>
          <a:xfrm>
            <a:off x="514350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62" name="ovl_badge"/>
          <p:cNvSpPr/>
          <p:nvPr/>
        </p:nvSpPr>
        <p:spPr>
          <a:xfrm>
            <a:off x="552754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63" name="ovl_badge_t"/>
          <p:cNvSpPr txBox="1"/>
          <p:nvPr/>
        </p:nvSpPr>
        <p:spPr>
          <a:xfrm>
            <a:off x="55275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64" name="no_down1_0"/>
          <p:cNvSpPr txBox="1"/>
          <p:nvPr/>
        </p:nvSpPr>
        <p:spPr>
          <a:xfrm>
            <a:off x="5939028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50" dirty="0"/>
          </a:p>
        </p:txBody>
      </p:sp>
      <p:sp>
        <p:nvSpPr>
          <p:cNvPr id="65" name="ovl_badge"/>
          <p:cNvSpPr/>
          <p:nvPr/>
        </p:nvSpPr>
        <p:spPr>
          <a:xfrm>
            <a:off x="6268212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66" name="ovl_badge_t"/>
          <p:cNvSpPr txBox="1"/>
          <p:nvPr/>
        </p:nvSpPr>
        <p:spPr>
          <a:xfrm>
            <a:off x="626821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67" name="no_down1_1"/>
          <p:cNvSpPr txBox="1"/>
          <p:nvPr/>
        </p:nvSpPr>
        <p:spPr>
          <a:xfrm>
            <a:off x="6679692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50" dirty="0"/>
          </a:p>
        </p:txBody>
      </p:sp>
      <p:sp>
        <p:nvSpPr>
          <p:cNvPr id="68" name="h_down1"/>
          <p:cNvSpPr txBox="1"/>
          <p:nvPr/>
        </p:nvSpPr>
        <p:spPr>
          <a:xfrm>
            <a:off x="5143500" y="450799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消費者金融の群として見られること</a:t>
            </a:r>
            <a:endParaRPr lang="en-US" sz="1100" dirty="0"/>
          </a:p>
        </p:txBody>
      </p:sp>
      <p:sp>
        <p:nvSpPr>
          <p:cNvPr id="69" name="b_down1"/>
          <p:cNvSpPr txBox="1"/>
          <p:nvPr/>
        </p:nvSpPr>
        <p:spPr>
          <a:xfrm>
            <a:off x="5143500" y="4818888"/>
            <a:ext cx="4183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67% が利ざや。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株価が示す PEG 0.80〜0.90 は、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 C の 1.0 も下回る</a:t>
            </a:r>
            <a:endParaRPr lang="en-US" sz="950" dirty="0"/>
          </a:p>
        </p:txBody>
      </p:sp>
      <p:sp>
        <p:nvSpPr>
          <p:cNvPr id="70" name="ovl_band"/>
          <p:cNvSpPr/>
          <p:nvPr/>
        </p:nvSpPr>
        <p:spPr>
          <a:xfrm>
            <a:off x="9829800" y="1828800"/>
            <a:ext cx="1901952" cy="3840480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71" name="ovl_badge"/>
          <p:cNvSpPr/>
          <p:nvPr/>
        </p:nvSpPr>
        <p:spPr>
          <a:xfrm>
            <a:off x="10140696" y="288036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72" name="ovl_badge_t"/>
          <p:cNvSpPr txBox="1"/>
          <p:nvPr/>
        </p:nvSpPr>
        <p:spPr>
          <a:xfrm>
            <a:off x="10140696" y="2880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4200" dirty="0"/>
          </a:p>
        </p:txBody>
      </p:sp>
      <p:sp>
        <p:nvSpPr>
          <p:cNvPr id="73" name="band_label"/>
          <p:cNvSpPr txBox="1"/>
          <p:nvPr/>
        </p:nvSpPr>
        <p:spPr>
          <a:xfrm>
            <a:off x="9829800" y="4297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400" dirty="0"/>
          </a:p>
        </p:txBody>
      </p:sp>
      <p:sp>
        <p:nvSpPr>
          <p:cNvPr id="74" name="ovl_arrow"/>
          <p:cNvSpPr/>
          <p:nvPr/>
        </p:nvSpPr>
        <p:spPr>
          <a:xfrm>
            <a:off x="9418320" y="2674620"/>
            <a:ext cx="411480" cy="914"/>
          </a:xfrm>
          <a:prstGeom prst="line">
            <a:avLst/>
          </a:prstGeom>
          <a:noFill/>
          <a:ln w="12700">
            <a:solidFill>
              <a:srgbClr val="197A56"/>
            </a:solidFill>
            <a:prstDash val="solid"/>
            <a:tailEnd type="triangle"/>
          </a:ln>
        </p:spPr>
      </p:sp>
      <p:sp>
        <p:nvSpPr>
          <p:cNvPr id="75" name="ovl_arrow"/>
          <p:cNvSpPr/>
          <p:nvPr/>
        </p:nvSpPr>
        <p:spPr>
          <a:xfrm>
            <a:off x="9418320" y="4823460"/>
            <a:ext cx="411480" cy="91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why1"/>
          <p:cNvSpPr txBox="1"/>
          <p:nvPr/>
        </p:nvSpPr>
        <p:spPr>
          <a:xfrm>
            <a:off x="1417320" y="285292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何で稼ぎ、会社がどんな筋書きを描き、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資金・資本・信用がそれを支えるかを確かめる。価値評価の前提になる</a:t>
            </a:r>
            <a:endParaRPr lang="en-US" sz="10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 事業理解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p.9–11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 会社のシナリオ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p.12–13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 収益構造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p.14–17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 競争優位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p.18–19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 資金・信用・資本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p.20–24</a:t>
            </a:r>
            <a:endParaRPr lang="en-US" sz="1050" dirty="0"/>
          </a:p>
        </p:txBody>
      </p:sp>
      <p:sp>
        <p:nvSpPr>
          <p:cNvPr id="32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 成長の前提</a:t>
            </a:r>
            <a:endParaRPr lang="en-US" sz="1250" dirty="0"/>
          </a:p>
        </p:txBody>
      </p:sp>
      <p:sp>
        <p:nvSpPr>
          <p:cNvPr id="33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p.25</a:t>
            </a:r>
            <a:endParaRPr lang="en-US" sz="1050" dirty="0"/>
          </a:p>
        </p:txBody>
      </p:sp>
      <p:sp>
        <p:nvSpPr>
          <p:cNvPr id="34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が何を誰にどう売るかを押さえる。以降の分析はすべてこの区分の上に立つ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は会員 1,710 万人に預金・投資・ローンを重ねて売る。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67% は、預金で安く集めた資金の貸出の利ざや(Q3 2026)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事業の積み木(何を、どの資金で売るか)。右: 8 群の 5W1H 台帳。下: この資料で使う用語の注釈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決算の 8-K・説明会の要約)、research_r5/Q3_datasheet.md、research_r2/R9_products_people.md(価格表の第三者集計)。残高は公正価値の額、(Q2)は前期の値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事業の積み木(層 × 資金の出どころ)</a:t>
            </a:r>
            <a:endParaRPr lang="en-US" sz="1200" dirty="0"/>
          </a:p>
        </p:txBody>
      </p:sp>
      <p:sp>
        <p:nvSpPr>
          <p:cNvPr id="22" name="blk_colh0"/>
          <p:cNvSpPr txBox="1"/>
          <p:nvPr/>
        </p:nvSpPr>
        <p:spPr>
          <a:xfrm>
            <a:off x="137160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(B/S)</a:t>
            </a:r>
            <a:endParaRPr lang="en-US" sz="900" dirty="0"/>
          </a:p>
        </p:txBody>
      </p:sp>
      <p:sp>
        <p:nvSpPr>
          <p:cNvPr id="23" name="blk_colh1"/>
          <p:cNvSpPr txBox="1"/>
          <p:nvPr/>
        </p:nvSpPr>
        <p:spPr>
          <a:xfrm>
            <a:off x="242316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(LPB)</a:t>
            </a:r>
            <a:endParaRPr lang="en-US" sz="900" dirty="0"/>
          </a:p>
        </p:txBody>
      </p:sp>
      <p:sp>
        <p:nvSpPr>
          <p:cNvPr id="24" name="blk_colh2"/>
          <p:cNvSpPr txBox="1"/>
          <p:nvPr/>
        </p:nvSpPr>
        <p:spPr>
          <a:xfrm>
            <a:off x="347472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他社へ提供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(B2B)</a:t>
            </a:r>
            <a:endParaRPr lang="en-US" sz="900" dirty="0"/>
          </a:p>
        </p:txBody>
      </p:sp>
      <p:sp>
        <p:nvSpPr>
          <p:cNvPr id="25" name="blk_rowh0"/>
          <p:cNvSpPr txBox="1"/>
          <p:nvPr/>
        </p:nvSpPr>
        <p:spPr>
          <a:xfrm>
            <a:off x="457200" y="2103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</a:t>
            </a:r>
            <a:endParaRPr lang="en-US" sz="900" dirty="0"/>
          </a:p>
        </p:txBody>
      </p:sp>
      <p:sp>
        <p:nvSpPr>
          <p:cNvPr id="26" name="blk_rowh1"/>
          <p:cNvSpPr txBox="1"/>
          <p:nvPr/>
        </p:nvSpPr>
        <p:spPr>
          <a:xfrm>
            <a:off x="457200" y="28346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預ける・使う</a:t>
            </a:r>
            <a:endParaRPr lang="en-US" sz="900" dirty="0"/>
          </a:p>
        </p:txBody>
      </p:sp>
      <p:sp>
        <p:nvSpPr>
          <p:cNvPr id="27" name="blk_rowh2"/>
          <p:cNvSpPr txBox="1"/>
          <p:nvPr/>
        </p:nvSpPr>
        <p:spPr>
          <a:xfrm>
            <a:off x="457200" y="35661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増やす</a:t>
            </a:r>
            <a:endParaRPr lang="en-US" sz="900" dirty="0"/>
          </a:p>
        </p:txBody>
      </p:sp>
      <p:sp>
        <p:nvSpPr>
          <p:cNvPr id="28" name="blk_rowh3"/>
          <p:cNvSpPr txBox="1"/>
          <p:nvPr/>
        </p:nvSpPr>
        <p:spPr>
          <a:xfrm>
            <a:off x="457200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</a:t>
            </a:r>
            <a:endParaRPr lang="en-US" sz="900" dirty="0"/>
          </a:p>
        </p:txBody>
      </p:sp>
      <p:sp>
        <p:nvSpPr>
          <p:cNvPr id="29" name="blk_c00"/>
          <p:cNvSpPr/>
          <p:nvPr/>
        </p:nvSpPr>
        <p:spPr>
          <a:xfrm>
            <a:off x="137160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850" dirty="0"/>
          </a:p>
        </p:txBody>
      </p:sp>
      <p:sp>
        <p:nvSpPr>
          <p:cNvPr id="30" name="blk_c01"/>
          <p:cNvSpPr/>
          <p:nvPr/>
        </p:nvSpPr>
        <p:spPr>
          <a:xfrm>
            <a:off x="242316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197A56"/>
          </a:solidFill>
          <a:ln w="9525">
            <a:solidFill>
              <a:srgbClr val="197A5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(個人・中小企業・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ホームエクイティ)</a:t>
            </a:r>
            <a:endParaRPr lang="en-US" sz="850" dirty="0"/>
          </a:p>
        </p:txBody>
      </p:sp>
      <p:sp>
        <p:nvSpPr>
          <p:cNvPr id="31" name="blk_c02"/>
          <p:cNvSpPr/>
          <p:nvPr/>
        </p:nvSpPr>
        <p:spPr>
          <a:xfrm>
            <a:off x="347472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2" name="blk_c10"/>
          <p:cNvSpPr/>
          <p:nvPr/>
        </p:nvSpPr>
        <p:spPr>
          <a:xfrm>
            <a:off x="137160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(預金・カード)</a:t>
            </a:r>
            <a:endParaRPr lang="en-US" sz="850" dirty="0"/>
          </a:p>
        </p:txBody>
      </p:sp>
      <p:sp>
        <p:nvSpPr>
          <p:cNvPr id="33" name="blk_c11"/>
          <p:cNvSpPr/>
          <p:nvPr/>
        </p:nvSpPr>
        <p:spPr>
          <a:xfrm>
            <a:off x="242316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</p:txBody>
      </p:sp>
      <p:sp>
        <p:nvSpPr>
          <p:cNvPr id="34" name="blk_c12"/>
          <p:cNvSpPr/>
          <p:nvPr/>
        </p:nvSpPr>
        <p:spPr>
          <a:xfrm>
            <a:off x="347472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法人銀行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(Big 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Banking)</a:t>
            </a:r>
            <a:endParaRPr lang="en-US" sz="850" dirty="0"/>
          </a:p>
        </p:txBody>
      </p:sp>
      <p:sp>
        <p:nvSpPr>
          <p:cNvPr id="35" name="blk_c20"/>
          <p:cNvSpPr/>
          <p:nvPr/>
        </p:nvSpPr>
        <p:spPr>
          <a:xfrm>
            <a:off x="137160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Plus(月 10 ドル)</a:t>
            </a:r>
            <a:endParaRPr lang="en-US" sz="850" dirty="0"/>
          </a:p>
        </p:txBody>
      </p:sp>
      <p:sp>
        <p:nvSpPr>
          <p:cNvPr id="36" name="blk_c21"/>
          <p:cNvSpPr/>
          <p:nvPr/>
        </p:nvSpPr>
        <p:spPr>
          <a:xfrm>
            <a:off x="242316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blk_c22"/>
          <p:cNvSpPr/>
          <p:nvPr/>
        </p:nvSpPr>
        <p:spPr>
          <a:xfrm>
            <a:off x="347472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(口座の基盤)</a:t>
            </a:r>
            <a:endParaRPr lang="en-US" sz="850" dirty="0"/>
          </a:p>
        </p:txBody>
      </p:sp>
      <p:sp>
        <p:nvSpPr>
          <p:cNvPr id="38" name="blk_base"/>
          <p:cNvSpPr/>
          <p:nvPr/>
        </p:nvSpPr>
        <p:spPr>
          <a:xfrm>
            <a:off x="1371600" y="429768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銀行免許(SoFi Bank, N.A.、2022 年)と自社の技術基盤</a:t>
            </a:r>
            <a:endParaRPr lang="en-US" sz="850" dirty="0"/>
          </a:p>
        </p:txBody>
      </p:sp>
      <p:sp>
        <p:nvSpPr>
          <p:cNvPr id="39" name="blk_legend"/>
          <p:cNvSpPr txBox="1"/>
          <p:nvPr/>
        </p:nvSpPr>
        <p:spPr>
          <a:xfrm>
            <a:off x="457200" y="4754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濃緑 = 利益の柱、緑 = 成長、薄緑 = 上積み</a:t>
            </a:r>
            <a:endParaRPr lang="en-US" sz="850" dirty="0"/>
          </a:p>
        </p:txBody>
      </p:sp>
      <p:sp>
        <p:nvSpPr>
          <p:cNvPr id="40" name="pane_head"/>
          <p:cNvSpPr txBox="1"/>
          <p:nvPr/>
        </p:nvSpPr>
        <p:spPr>
          <a:xfrm>
            <a:off x="4709160" y="1481328"/>
            <a:ext cx="7022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群の 5W1H 台帳(規模は Q3 2026。(Q2)は前期の値)</a:t>
            </a:r>
            <a:endParaRPr lang="en-US" sz="1200" dirty="0"/>
          </a:p>
        </p:txBody>
      </p:sp>
      <p:graphicFrame>
        <p:nvGraphicFramePr>
          <p:cNvPr id="10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810512"/>
          <a:ext cx="702259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011680"/>
                <a:gridCol w="1463040"/>
                <a:gridCol w="7132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誰が買う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何を・どう課金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規模(前年比)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(B/S で保有)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746・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年収 15.8 万ドル(Q4 2025)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 6.99〜35.49%・手数料 0〜7%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13.0%(Q2)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約 321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126 億(+69%)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(借換・大学院)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765 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大学院生(Grad PLUS 廃止)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 固定 2.45〜14.83%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5.9%(Q2)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約 185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29 億(+96%)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Blue Owl・Fortress など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投資家と銀行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組成して引き渡し、手数料 4.3%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サービシングは保持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36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1.53 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Money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(預金・カード)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(預金の約 9 割)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 3.30%(条件付き)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インターチェンジ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513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790 万(Q2)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Invest・Plus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個人投資家・会員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売買手数料 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は月 10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390 万(Q2)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は 4 月に有料化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住宅ローン・HE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住宅を持つ会員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固定金利。売却または 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約 18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14 億(+44%)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フィンテック・銀行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口座数・処理件数に課金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0.87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(−24%。大口除き +18%)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回復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中小企業・法人・会員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中小企業ローン・SoFiUSD・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暗号資産・法人銀行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の流通額は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2" name="pane_head"/>
          <p:cNvSpPr txBox="1"/>
          <p:nvPr/>
        </p:nvSpPr>
        <p:spPr>
          <a:xfrm>
            <a:off x="457200" y="51023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用語の注釈(この資料に出てくる順)</a:t>
            </a:r>
            <a:endParaRPr lang="en-US" sz="1200" dirty="0"/>
          </a:p>
        </p:txBody>
      </p:sp>
      <p:sp>
        <p:nvSpPr>
          <p:cNvPr id="43" name="note_0"/>
          <p:cNvSpPr txBox="1"/>
          <p:nvPr/>
        </p:nvSpPr>
        <p:spPr>
          <a:xfrm>
            <a:off x="45720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の製品を 1 つ以上持つ顧客。1,710 万人(+36%)</a:t>
            </a:r>
            <a:endParaRPr lang="en-US" sz="850" dirty="0"/>
          </a:p>
        </p:txBody>
      </p:sp>
      <p:sp>
        <p:nvSpPr>
          <p:cNvPr id="44" name="note_1"/>
          <p:cNvSpPr txBox="1"/>
          <p:nvPr/>
        </p:nvSpPr>
        <p:spPr>
          <a:xfrm>
            <a:off x="45720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会員が持つ口座・ローンの数。会員当たり 1.56</a:t>
            </a:r>
            <a:endParaRPr lang="en-US" sz="850" dirty="0"/>
          </a:p>
        </p:txBody>
      </p:sp>
      <p:sp>
        <p:nvSpPr>
          <p:cNvPr id="45" name="note_2"/>
          <p:cNvSpPr txBox="1"/>
          <p:nvPr/>
        </p:nvSpPr>
        <p:spPr>
          <a:xfrm>
            <a:off x="45720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新製品のうち既存会員が開いた比率。51%</a:t>
            </a:r>
            <a:endParaRPr lang="en-US" sz="850" dirty="0"/>
          </a:p>
        </p:txBody>
      </p:sp>
      <p:sp>
        <p:nvSpPr>
          <p:cNvPr id="46" name="note_3"/>
          <p:cNvSpPr txBox="1"/>
          <p:nvPr/>
        </p:nvSpPr>
        <p:spPr>
          <a:xfrm>
            <a:off x="45720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他社の資金でローンを組成し手数料を得る事業</a:t>
            </a:r>
            <a:endParaRPr lang="en-US" sz="850" dirty="0"/>
          </a:p>
        </p:txBody>
      </p:sp>
      <p:sp>
        <p:nvSpPr>
          <p:cNvPr id="47" name="note_4"/>
          <p:cNvSpPr txBox="1"/>
          <p:nvPr/>
        </p:nvSpPr>
        <p:spPr>
          <a:xfrm>
            <a:off x="425196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利付資産に対する純金利収益の比率。6.14%</a:t>
            </a:r>
            <a:endParaRPr lang="en-US" sz="850" dirty="0"/>
          </a:p>
        </p:txBody>
      </p:sp>
      <p:sp>
        <p:nvSpPr>
          <p:cNvPr id="48" name="note_5"/>
          <p:cNvSpPr txBox="1"/>
          <p:nvPr/>
        </p:nvSpPr>
        <p:spPr>
          <a:xfrm>
            <a:off x="425196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公正価値(マーク)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時価の額面比。個人 104.7%(Q2)</a:t>
            </a:r>
            <a:endParaRPr lang="en-US" sz="850" dirty="0"/>
          </a:p>
        </p:txBody>
      </p:sp>
      <p:sp>
        <p:nvSpPr>
          <p:cNvPr id="49" name="note_6"/>
          <p:cNvSpPr txBox="1"/>
          <p:nvPr/>
        </p:nvSpPr>
        <p:spPr>
          <a:xfrm>
            <a:off x="425196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貸倒率(all-in)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売却した延滞債権を足し戻した純償却率</a:t>
            </a:r>
            <a:endParaRPr lang="en-US" sz="850" dirty="0"/>
          </a:p>
        </p:txBody>
      </p:sp>
      <p:sp>
        <p:nvSpPr>
          <p:cNvPr id="50" name="note_7"/>
          <p:cNvSpPr txBox="1"/>
          <p:nvPr/>
        </p:nvSpPr>
        <p:spPr>
          <a:xfrm>
            <a:off x="425196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有形自己資本に対する利益率。約 10%(Q3 年率の概算)</a:t>
            </a:r>
            <a:endParaRPr lang="en-US" sz="850" dirty="0"/>
          </a:p>
        </p:txBody>
      </p:sp>
      <p:sp>
        <p:nvSpPr>
          <p:cNvPr id="51" name="note_8"/>
          <p:cNvSpPr txBox="1"/>
          <p:nvPr/>
        </p:nvSpPr>
        <p:spPr>
          <a:xfrm>
            <a:off x="804672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TBV(TBVPS)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有形自己資本(1 株当たり 7.48 ドル)</a:t>
            </a:r>
            <a:endParaRPr lang="en-US" sz="850" dirty="0"/>
          </a:p>
        </p:txBody>
      </p:sp>
      <p:sp>
        <p:nvSpPr>
          <p:cNvPr id="52" name="note_9"/>
          <p:cNvSpPr txBox="1"/>
          <p:nvPr/>
        </p:nvSpPr>
        <p:spPr>
          <a:xfrm>
            <a:off x="804672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自己資本 ÷ リスク資産(RWA)。17.0%</a:t>
            </a:r>
            <a:endParaRPr lang="en-US" sz="850" dirty="0"/>
          </a:p>
        </p:txBody>
      </p:sp>
      <p:sp>
        <p:nvSpPr>
          <p:cNvPr id="53" name="note_10"/>
          <p:cNvSpPr txBox="1"/>
          <p:nvPr/>
        </p:nvSpPr>
        <p:spPr>
          <a:xfrm>
            <a:off x="804672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銀行から借りる短期の資金枠。預金より高い</a:t>
            </a:r>
            <a:endParaRPr lang="en-US" sz="850" dirty="0"/>
          </a:p>
        </p:txBody>
      </p:sp>
      <p:sp>
        <p:nvSpPr>
          <p:cNvPr id="54" name="note_11"/>
          <p:cNvSpPr txBox="1"/>
          <p:nvPr/>
        </p:nvSpPr>
        <p:spPr>
          <a:xfrm>
            <a:off x="804672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Bank が発行するドル連動のステーブルコイン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会員が 1 つのアプリで何を得て、お金がどう流れるかを分けて見る。つながりが成長を生むため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会員の主口座(預金 513 億ドル)を中心に貸出・投資・カードが重なり、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預金は貸出を支え、抱えきれないローンは手数料で外へ流す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上: 会員が 1 つのアプリで受け取るもの(体験の束)。下: お金の流れ(預金 → 貸出 → 売却)。①〜⑥ は右と対応。数値は Q3 2026(有料会員のみ Q2)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決算の 8-K・説明会の要約)、research_r5/Q3_datasheet.md、research_r4/R16_flywheel_quality_holding.md(構造)。残高は公正価値の額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800" dirty="0"/>
          </a:p>
        </p:txBody>
      </p:sp>
      <p:sp>
        <p:nvSpPr>
          <p:cNvPr id="21" name="ovl_s08b_rule_top"/>
          <p:cNvSpPr/>
          <p:nvPr/>
        </p:nvSpPr>
        <p:spPr>
          <a:xfrm>
            <a:off x="457200" y="1572768"/>
            <a:ext cx="7635240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ovl_s08b_head_top"/>
          <p:cNvSpPr txBox="1"/>
          <p:nvPr/>
        </p:nvSpPr>
        <p:spPr>
          <a:xfrm>
            <a:off x="2903220" y="1472184"/>
            <a:ext cx="2743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体験の束(会員が受け取るもの)</a:t>
            </a:r>
            <a:endParaRPr lang="en-US" sz="950" dirty="0"/>
          </a:p>
        </p:txBody>
      </p:sp>
      <p:sp>
        <p:nvSpPr>
          <p:cNvPr id="23" name="ovl_s08b_n_hub"/>
          <p:cNvSpPr/>
          <p:nvPr/>
        </p:nvSpPr>
        <p:spPr>
          <a:xfrm>
            <a:off x="3246120" y="26974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4" name="ovl_s08b_nt_hub"/>
          <p:cNvSpPr txBox="1"/>
          <p:nvPr/>
        </p:nvSpPr>
        <p:spPr>
          <a:xfrm>
            <a:off x="3282696" y="272491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1,710 万人</a:t>
            </a:r>
            <a:endParaRPr lang="en-US" sz="1200" dirty="0"/>
          </a:p>
        </p:txBody>
      </p:sp>
      <p:sp>
        <p:nvSpPr>
          <p:cNvPr id="25" name="ovl_s08b_ns_hub"/>
          <p:cNvSpPr txBox="1"/>
          <p:nvPr/>
        </p:nvSpPr>
        <p:spPr>
          <a:xfrm>
            <a:off x="3291840" y="2980944"/>
            <a:ext cx="1965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+36%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900" dirty="0"/>
          </a:p>
        </p:txBody>
      </p:sp>
      <p:sp>
        <p:nvSpPr>
          <p:cNvPr id="26" name="ovl_s08b_n_exp"/>
          <p:cNvSpPr/>
          <p:nvPr/>
        </p:nvSpPr>
        <p:spPr>
          <a:xfrm>
            <a:off x="457200" y="1737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27" name="ovl_s08b_nt_exp"/>
          <p:cNvSpPr txBox="1"/>
          <p:nvPr/>
        </p:nvSpPr>
        <p:spPr>
          <a:xfrm>
            <a:off x="493776" y="1764792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毎日の体験</a:t>
            </a:r>
            <a:endParaRPr lang="en-US" sz="1000" dirty="0"/>
          </a:p>
        </p:txBody>
      </p:sp>
      <p:sp>
        <p:nvSpPr>
          <p:cNvPr id="28" name="ovl_s08b_ns_exp"/>
          <p:cNvSpPr txBox="1"/>
          <p:nvPr/>
        </p:nvSpPr>
        <p:spPr>
          <a:xfrm>
            <a:off x="502920" y="1970532"/>
            <a:ext cx="19202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給与を最大 2 日早く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ATM 5.5 万台・補償 300 万ドル</a:t>
            </a:r>
            <a:endParaRPr lang="en-US" sz="900" dirty="0"/>
          </a:p>
        </p:txBody>
      </p:sp>
      <p:sp>
        <p:nvSpPr>
          <p:cNvPr id="29" name="ovl_s08b_n_money"/>
          <p:cNvSpPr/>
          <p:nvPr/>
        </p:nvSpPr>
        <p:spPr>
          <a:xfrm>
            <a:off x="457200" y="3072384"/>
            <a:ext cx="20116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0" name="ovl_s08b_nt_money"/>
          <p:cNvSpPr txBox="1"/>
          <p:nvPr/>
        </p:nvSpPr>
        <p:spPr>
          <a:xfrm>
            <a:off x="493776" y="3099816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Money(主口座)</a:t>
            </a:r>
            <a:endParaRPr lang="en-US" sz="1000" dirty="0"/>
          </a:p>
        </p:txBody>
      </p:sp>
      <p:sp>
        <p:nvSpPr>
          <p:cNvPr id="31" name="ovl_s08b_ns_money"/>
          <p:cNvSpPr txBox="1"/>
          <p:nvPr/>
        </p:nvSpPr>
        <p:spPr>
          <a:xfrm>
            <a:off x="502920" y="3305556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513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 9 割超</a:t>
            </a:r>
            <a:endParaRPr lang="en-US" sz="900" dirty="0"/>
          </a:p>
        </p:txBody>
      </p:sp>
      <p:sp>
        <p:nvSpPr>
          <p:cNvPr id="32" name="ovl_s08b_n_loan"/>
          <p:cNvSpPr/>
          <p:nvPr/>
        </p:nvSpPr>
        <p:spPr>
          <a:xfrm>
            <a:off x="2788920" y="17373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3" name="ovl_s08b_nt_loan"/>
          <p:cNvSpPr txBox="1"/>
          <p:nvPr/>
        </p:nvSpPr>
        <p:spPr>
          <a:xfrm>
            <a:off x="2825496" y="1764792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</a:t>
            </a:r>
            <a:endParaRPr lang="en-US" sz="1000" dirty="0"/>
          </a:p>
        </p:txBody>
      </p:sp>
      <p:sp>
        <p:nvSpPr>
          <p:cNvPr id="34" name="ovl_s08b_ns_loan"/>
          <p:cNvSpPr txBox="1"/>
          <p:nvPr/>
        </p:nvSpPr>
        <p:spPr>
          <a:xfrm>
            <a:off x="2834640" y="1970532"/>
            <a:ext cx="1325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個人・学生・住宅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会員割引 各 0.25%</a:t>
            </a:r>
            <a:endParaRPr lang="en-US" sz="900" dirty="0"/>
          </a:p>
        </p:txBody>
      </p:sp>
      <p:sp>
        <p:nvSpPr>
          <p:cNvPr id="35" name="ovl_s08b_n_ins"/>
          <p:cNvSpPr/>
          <p:nvPr/>
        </p:nvSpPr>
        <p:spPr>
          <a:xfrm>
            <a:off x="4343400" y="17373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36" name="ovl_s08b_nt_ins"/>
          <p:cNvSpPr txBox="1"/>
          <p:nvPr/>
        </p:nvSpPr>
        <p:spPr>
          <a:xfrm>
            <a:off x="4379976" y="1764792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保険(提携)</a:t>
            </a:r>
            <a:endParaRPr lang="en-US" sz="1000" dirty="0"/>
          </a:p>
        </p:txBody>
      </p:sp>
      <p:sp>
        <p:nvSpPr>
          <p:cNvPr id="37" name="ovl_s08b_ns_ins"/>
          <p:cNvSpPr txBox="1"/>
          <p:nvPr/>
        </p:nvSpPr>
        <p:spPr>
          <a:xfrm>
            <a:off x="4389120" y="1970532"/>
            <a:ext cx="1325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アプリから加入</a:t>
            </a:r>
            <a:endParaRPr lang="en-US" sz="900" dirty="0"/>
          </a:p>
        </p:txBody>
      </p:sp>
      <p:sp>
        <p:nvSpPr>
          <p:cNvPr id="38" name="ovl_s08b_n_inv"/>
          <p:cNvSpPr/>
          <p:nvPr/>
        </p:nvSpPr>
        <p:spPr>
          <a:xfrm>
            <a:off x="6080760" y="1737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9" name="ovl_s08b_nt_inv"/>
          <p:cNvSpPr txBox="1"/>
          <p:nvPr/>
        </p:nvSpPr>
        <p:spPr>
          <a:xfrm>
            <a:off x="6117336" y="1764792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投資・暗号資産</a:t>
            </a:r>
            <a:endParaRPr lang="en-US" sz="1000" dirty="0"/>
          </a:p>
        </p:txBody>
      </p:sp>
      <p:sp>
        <p:nvSpPr>
          <p:cNvPr id="40" name="ovl_s08b_ns_inv"/>
          <p:cNvSpPr txBox="1"/>
          <p:nvPr/>
        </p:nvSpPr>
        <p:spPr>
          <a:xfrm>
            <a:off x="6126480" y="1970532"/>
            <a:ext cx="19202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Invest・暗号資産 25 銘柄超</a:t>
            </a:r>
            <a:endParaRPr lang="en-US" sz="900" dirty="0"/>
          </a:p>
        </p:txBody>
      </p:sp>
      <p:sp>
        <p:nvSpPr>
          <p:cNvPr id="41" name="ovl_s08b_n_card"/>
          <p:cNvSpPr/>
          <p:nvPr/>
        </p:nvSpPr>
        <p:spPr>
          <a:xfrm>
            <a:off x="6080760" y="3072384"/>
            <a:ext cx="20116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2" name="ovl_s08b_nt_card"/>
          <p:cNvSpPr txBox="1"/>
          <p:nvPr/>
        </p:nvSpPr>
        <p:spPr>
          <a:xfrm>
            <a:off x="6117336" y="3099816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カード・Plus</a:t>
            </a:r>
            <a:endParaRPr lang="en-US" sz="1000" dirty="0"/>
          </a:p>
        </p:txBody>
      </p:sp>
      <p:sp>
        <p:nvSpPr>
          <p:cNvPr id="43" name="ovl_s08b_ns_card"/>
          <p:cNvSpPr txBox="1"/>
          <p:nvPr/>
        </p:nvSpPr>
        <p:spPr>
          <a:xfrm>
            <a:off x="6126480" y="3305556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交換手数料 +77%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は 2026-04 に有料化</a:t>
            </a:r>
            <a:endParaRPr lang="en-US" sz="900" dirty="0"/>
          </a:p>
        </p:txBody>
      </p:sp>
      <p:sp>
        <p:nvSpPr>
          <p:cNvPr id="44" name="ovl_s08b_l_hub-money"/>
          <p:cNvSpPr/>
          <p:nvPr/>
        </p:nvSpPr>
        <p:spPr>
          <a:xfrm flipH="1">
            <a:off x="2468880" y="3364992"/>
            <a:ext cx="777240" cy="914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5" name="ovl_s08b_l_hub-exp"/>
          <p:cNvSpPr/>
          <p:nvPr/>
        </p:nvSpPr>
        <p:spPr>
          <a:xfrm flipH="1" flipV="1">
            <a:off x="2468880" y="2148840"/>
            <a:ext cx="777240" cy="77724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6" name="ovl_s08b_l_hub-loan"/>
          <p:cNvSpPr/>
          <p:nvPr/>
        </p:nvSpPr>
        <p:spPr>
          <a:xfrm flipV="1">
            <a:off x="3497580" y="2286000"/>
            <a:ext cx="914" cy="41148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7" name="ovl_s08b_l_hub-ins"/>
          <p:cNvSpPr/>
          <p:nvPr/>
        </p:nvSpPr>
        <p:spPr>
          <a:xfrm flipV="1">
            <a:off x="5052060" y="2286000"/>
            <a:ext cx="914" cy="41148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8" name="ovl_s08b_l_hub-inv"/>
          <p:cNvSpPr/>
          <p:nvPr/>
        </p:nvSpPr>
        <p:spPr>
          <a:xfrm flipV="1">
            <a:off x="5303520" y="2148840"/>
            <a:ext cx="777240" cy="77724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9" name="ovl_s08b_l_hub-card"/>
          <p:cNvSpPr/>
          <p:nvPr/>
        </p:nvSpPr>
        <p:spPr>
          <a:xfrm>
            <a:off x="5303520" y="3364992"/>
            <a:ext cx="777240" cy="914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50" name="ovl_s08b_num1hub-money"/>
          <p:cNvSpPr/>
          <p:nvPr/>
        </p:nvSpPr>
        <p:spPr>
          <a:xfrm>
            <a:off x="2738628" y="3246120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ovl_s08b_numt1hub-money"/>
          <p:cNvSpPr txBox="1"/>
          <p:nvPr/>
        </p:nvSpPr>
        <p:spPr>
          <a:xfrm>
            <a:off x="2738628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ovl_s08b_num2hub-loan"/>
          <p:cNvSpPr/>
          <p:nvPr/>
        </p:nvSpPr>
        <p:spPr>
          <a:xfrm>
            <a:off x="3378708" y="2372868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ovl_s08b_numt2hub-loan"/>
          <p:cNvSpPr txBox="1"/>
          <p:nvPr/>
        </p:nvSpPr>
        <p:spPr>
          <a:xfrm>
            <a:off x="3378708" y="23728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ovl_s08b_num3hub-card"/>
          <p:cNvSpPr/>
          <p:nvPr/>
        </p:nvSpPr>
        <p:spPr>
          <a:xfrm>
            <a:off x="5573268" y="3246120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ovl_s08b_numt3hub-card"/>
          <p:cNvSpPr txBox="1"/>
          <p:nvPr/>
        </p:nvSpPr>
        <p:spPr>
          <a:xfrm>
            <a:off x="5573268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ovl_s08b_num3hub-inv"/>
          <p:cNvSpPr/>
          <p:nvPr/>
        </p:nvSpPr>
        <p:spPr>
          <a:xfrm>
            <a:off x="5573268" y="2418588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ovl_s08b_numt3hub-inv"/>
          <p:cNvSpPr txBox="1"/>
          <p:nvPr/>
        </p:nvSpPr>
        <p:spPr>
          <a:xfrm>
            <a:off x="5573268" y="2418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ovl_s08b_rule_bot"/>
          <p:cNvSpPr/>
          <p:nvPr/>
        </p:nvSpPr>
        <p:spPr>
          <a:xfrm>
            <a:off x="457200" y="3794760"/>
            <a:ext cx="7635240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9" name="ovl_s08b_head_bot"/>
          <p:cNvSpPr txBox="1"/>
          <p:nvPr/>
        </p:nvSpPr>
        <p:spPr>
          <a:xfrm>
            <a:off x="3680460" y="3694176"/>
            <a:ext cx="11887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お金の流れ</a:t>
            </a:r>
            <a:endParaRPr lang="en-US" sz="950" dirty="0"/>
          </a:p>
        </p:txBody>
      </p:sp>
      <p:sp>
        <p:nvSpPr>
          <p:cNvPr id="60" name="ovl_s08b_n_dep"/>
          <p:cNvSpPr/>
          <p:nvPr/>
        </p:nvSpPr>
        <p:spPr>
          <a:xfrm>
            <a:off x="45720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08b_nt_dep"/>
          <p:cNvSpPr txBox="1"/>
          <p:nvPr/>
        </p:nvSpPr>
        <p:spPr>
          <a:xfrm>
            <a:off x="493776" y="4160520"/>
            <a:ext cx="8869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</a:t>
            </a:r>
            <a:endParaRPr lang="en-US" sz="1000" dirty="0"/>
          </a:p>
        </p:txBody>
      </p:sp>
      <p:sp>
        <p:nvSpPr>
          <p:cNvPr id="62" name="ovl_s08b_ns_dep"/>
          <p:cNvSpPr txBox="1"/>
          <p:nvPr/>
        </p:nvSpPr>
        <p:spPr>
          <a:xfrm>
            <a:off x="502920" y="4366260"/>
            <a:ext cx="8686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513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+58 億</a:t>
            </a:r>
            <a:endParaRPr lang="en-US" sz="900" dirty="0"/>
          </a:p>
        </p:txBody>
      </p:sp>
      <p:sp>
        <p:nvSpPr>
          <p:cNvPr id="63" name="ovl_s08b_n_bs"/>
          <p:cNvSpPr/>
          <p:nvPr/>
        </p:nvSpPr>
        <p:spPr>
          <a:xfrm>
            <a:off x="2651760" y="413308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4" name="ovl_s08b_nt_bs"/>
          <p:cNvSpPr txBox="1"/>
          <p:nvPr/>
        </p:nvSpPr>
        <p:spPr>
          <a:xfrm>
            <a:off x="2688336" y="416052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65" name="ovl_s08b_ns_bs"/>
          <p:cNvSpPr txBox="1"/>
          <p:nvPr/>
        </p:nvSpPr>
        <p:spPr>
          <a:xfrm>
            <a:off x="2697480" y="4366260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6.14%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321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 185 億ドル</a:t>
            </a:r>
            <a:endParaRPr lang="en-US" sz="900" dirty="0"/>
          </a:p>
        </p:txBody>
      </p:sp>
      <p:sp>
        <p:nvSpPr>
          <p:cNvPr id="66" name="ovl_s08b_n_lpb"/>
          <p:cNvSpPr/>
          <p:nvPr/>
        </p:nvSpPr>
        <p:spPr>
          <a:xfrm>
            <a:off x="4892040" y="413308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08b_nt_lpb"/>
          <p:cNvSpPr txBox="1"/>
          <p:nvPr/>
        </p:nvSpPr>
        <p:spPr>
          <a:xfrm>
            <a:off x="4928616" y="416052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LPB・売却</a:t>
            </a:r>
            <a:endParaRPr lang="en-US" sz="1000" dirty="0"/>
          </a:p>
        </p:txBody>
      </p:sp>
      <p:sp>
        <p:nvSpPr>
          <p:cNvPr id="68" name="ovl_s08b_ns_lpb"/>
          <p:cNvSpPr txBox="1"/>
          <p:nvPr/>
        </p:nvSpPr>
        <p:spPr>
          <a:xfrm>
            <a:off x="4937760" y="4366260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36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4.3%</a:t>
            </a:r>
            <a:endParaRPr lang="en-US" sz="900" dirty="0"/>
          </a:p>
        </p:txBody>
      </p:sp>
      <p:sp>
        <p:nvSpPr>
          <p:cNvPr id="69" name="ovl_s08b_n_buy"/>
          <p:cNvSpPr/>
          <p:nvPr/>
        </p:nvSpPr>
        <p:spPr>
          <a:xfrm>
            <a:off x="6766560" y="4133088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0" name="ovl_s08b_nt_buy"/>
          <p:cNvSpPr txBox="1"/>
          <p:nvPr/>
        </p:nvSpPr>
        <p:spPr>
          <a:xfrm>
            <a:off x="6803136" y="416052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71" name="ovl_s08b_ns_buy"/>
          <p:cNvSpPr txBox="1"/>
          <p:nvPr/>
        </p:nvSpPr>
        <p:spPr>
          <a:xfrm>
            <a:off x="6812280" y="4366260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900" dirty="0"/>
          </a:p>
        </p:txBody>
      </p:sp>
      <p:sp>
        <p:nvSpPr>
          <p:cNvPr id="72" name="ovl_s08b_n_cap"/>
          <p:cNvSpPr/>
          <p:nvPr/>
        </p:nvSpPr>
        <p:spPr>
          <a:xfrm>
            <a:off x="2240280" y="5184648"/>
            <a:ext cx="182880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08b_nt_cap"/>
          <p:cNvSpPr txBox="1"/>
          <p:nvPr/>
        </p:nvSpPr>
        <p:spPr>
          <a:xfrm>
            <a:off x="2276856" y="5212080"/>
            <a:ext cx="1755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4" name="ovl_s08b_ns_cap"/>
          <p:cNvSpPr txBox="1"/>
          <p:nvPr/>
        </p:nvSpPr>
        <p:spPr>
          <a:xfrm>
            <a:off x="2286000" y="5417820"/>
            <a:ext cx="1737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17.0%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下限まで 17 億ドル</a:t>
            </a:r>
            <a:endParaRPr lang="en-US" sz="900" dirty="0"/>
          </a:p>
        </p:txBody>
      </p:sp>
      <p:sp>
        <p:nvSpPr>
          <p:cNvPr id="75" name="ovl_arrow"/>
          <p:cNvSpPr/>
          <p:nvPr/>
        </p:nvSpPr>
        <p:spPr>
          <a:xfrm>
            <a:off x="1417320" y="4498848"/>
            <a:ext cx="1234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6" name="ovl_arrow"/>
          <p:cNvSpPr/>
          <p:nvPr/>
        </p:nvSpPr>
        <p:spPr>
          <a:xfrm>
            <a:off x="3794760" y="4498848"/>
            <a:ext cx="10972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7" name="ovl_arrow"/>
          <p:cNvSpPr/>
          <p:nvPr/>
        </p:nvSpPr>
        <p:spPr>
          <a:xfrm>
            <a:off x="6035040" y="4498848"/>
            <a:ext cx="7315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8" name="ovl_s08b_lab_dep-bs"/>
          <p:cNvSpPr txBox="1"/>
          <p:nvPr/>
        </p:nvSpPr>
        <p:spPr>
          <a:xfrm>
            <a:off x="1444752" y="4105656"/>
            <a:ext cx="117957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1.45pt 安い</a:t>
            </a:r>
            <a:endParaRPr lang="en-US" sz="900" dirty="0"/>
          </a:p>
        </p:txBody>
      </p:sp>
      <p:sp>
        <p:nvSpPr>
          <p:cNvPr id="79" name="ovl_s08b_lab_bs-lpb"/>
          <p:cNvSpPr txBox="1"/>
          <p:nvPr/>
        </p:nvSpPr>
        <p:spPr>
          <a:xfrm>
            <a:off x="3822192" y="4105656"/>
            <a:ext cx="104241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900" dirty="0"/>
          </a:p>
        </p:txBody>
      </p:sp>
      <p:sp>
        <p:nvSpPr>
          <p:cNvPr id="80" name="ovl_s08b_lab_lpb-buy"/>
          <p:cNvSpPr txBox="1"/>
          <p:nvPr/>
        </p:nvSpPr>
        <p:spPr>
          <a:xfrm>
            <a:off x="6062472" y="4105656"/>
            <a:ext cx="67665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900" dirty="0"/>
          </a:p>
        </p:txBody>
      </p:sp>
      <p:sp>
        <p:nvSpPr>
          <p:cNvPr id="81" name="ovl_arrow"/>
          <p:cNvSpPr/>
          <p:nvPr/>
        </p:nvSpPr>
        <p:spPr>
          <a:xfrm>
            <a:off x="3223260" y="4864608"/>
            <a:ext cx="914" cy="3200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82" name="ovl_s08b_lab_bs-cap"/>
          <p:cNvSpPr txBox="1"/>
          <p:nvPr/>
        </p:nvSpPr>
        <p:spPr>
          <a:xfrm>
            <a:off x="3291840" y="4946904"/>
            <a:ext cx="91440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0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900" dirty="0"/>
          </a:p>
        </p:txBody>
      </p:sp>
      <p:sp>
        <p:nvSpPr>
          <p:cNvPr id="83" name="ovl_arrow"/>
          <p:cNvSpPr/>
          <p:nvPr/>
        </p:nvSpPr>
        <p:spPr>
          <a:xfrm>
            <a:off x="960120" y="3657600"/>
            <a:ext cx="914" cy="4754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84" name="ovl_s08b_lab_money-dep"/>
          <p:cNvSpPr txBox="1"/>
          <p:nvPr/>
        </p:nvSpPr>
        <p:spPr>
          <a:xfrm>
            <a:off x="1024128" y="3858768"/>
            <a:ext cx="8686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主口座の預金</a:t>
            </a:r>
            <a:endParaRPr lang="en-US" sz="900" dirty="0"/>
          </a:p>
        </p:txBody>
      </p:sp>
      <p:sp>
        <p:nvSpPr>
          <p:cNvPr id="85" name="ovl_s08b_leg0"/>
          <p:cNvSpPr/>
          <p:nvPr/>
        </p:nvSpPr>
        <p:spPr>
          <a:xfrm>
            <a:off x="4754880" y="5577840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86" name="ovl_s08b_legt0"/>
          <p:cNvSpPr txBox="1"/>
          <p:nvPr/>
        </p:nvSpPr>
        <p:spPr>
          <a:xfrm>
            <a:off x="5175504" y="54772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お金・貸出の流れ</a:t>
            </a:r>
            <a:endParaRPr lang="en-US" sz="900" dirty="0"/>
          </a:p>
        </p:txBody>
      </p:sp>
      <p:sp>
        <p:nvSpPr>
          <p:cNvPr id="87" name="ovl_s08b_leg1"/>
          <p:cNvSpPr/>
          <p:nvPr/>
        </p:nvSpPr>
        <p:spPr>
          <a:xfrm>
            <a:off x="6400800" y="5577840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88" name="ovl_s08b_legt1"/>
          <p:cNvSpPr txBox="1"/>
          <p:nvPr/>
        </p:nvSpPr>
        <p:spPr>
          <a:xfrm>
            <a:off x="6821424" y="5477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900" dirty="0"/>
          </a:p>
        </p:txBody>
      </p:sp>
      <p:sp>
        <p:nvSpPr>
          <p:cNvPr id="8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90" name="mech"/>
          <p:cNvSpPr txBox="1"/>
          <p:nvPr/>
        </p:nvSpPr>
        <p:spPr>
          <a:xfrm>
            <a:off x="8458200" y="1810512"/>
            <a:ext cx="3276295" cy="26258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会員は 1 つのアプリで預金・ローン・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投資・カード・保険を使う。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製品、新製品の 51% は既存会員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給与振込が主口座を作る。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給与の早期受け取り・ATM・預金の補償・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ローンの会員割引が乗り換えを難しくする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製品を重ねるほど獲得費は下がる。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 202 ドルは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 370 ドルの半分強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主口座の預金は倉庫ラインより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1.45pt 安く、年 7.45 億ドルの節約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資本で抱えきれないローンは LPB 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4.3% を取って買い手へ渡す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ただし貸出は自己資本を使う。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17.0%、下限 14% まで 17 億ドル</a:t>
            </a:r>
            <a:endParaRPr lang="en-US" sz="950" dirty="0"/>
          </a:p>
        </p:txBody>
      </p:sp>
      <p:sp>
        <p:nvSpPr>
          <p:cNvPr id="91" name="ovl_takeaway_bg"/>
          <p:cNvSpPr/>
          <p:nvPr/>
        </p:nvSpPr>
        <p:spPr>
          <a:xfrm>
            <a:off x="8458200" y="4509516"/>
            <a:ext cx="3276295" cy="60502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2" name="takeaway"/>
          <p:cNvSpPr txBox="1"/>
          <p:nvPr/>
        </p:nvSpPr>
        <p:spPr>
          <a:xfrm>
            <a:off x="8567928" y="4582668"/>
            <a:ext cx="3056839" cy="4587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会員の束が獲得費と資金コストを下げ、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預金が貸出を支える。律速は自己資本</a:t>
            </a:r>
            <a:endParaRPr lang="en-US" sz="1000" dirty="0"/>
          </a:p>
        </p:txBody>
      </p:sp>
      <p:sp>
        <p:nvSpPr>
          <p:cNvPr id="93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50% 超と預金の伸びが続けば、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束の価値が上がる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会員当たり販促費の上昇が続き、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自己資本が下限に近づけば伸びが止まる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成長分野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今後の価値を左右する分野を、規模・伸び・確度で比べ、注目すべき順に絞り込む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注目度が最も高いのは B/S 貸出と LPB。前者は規模で、後者は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資本の上限の先を担えるかで 1 株価値を動かす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成長分野の比較(注目度の高い順)。右: 1 株価値 × 伸びで見た位置。注目度 = 価値への効きが大きいか、伸びが速く結果がまだ決まっていない分野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決算の 8-K・説明会の要約)、research_r5/Q3_datasheet.md、calc/out/growth_v4.json(感応度)、research_r2/R9_products_people.md(NBER・各社発表)。(Q2)は前期の値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498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80160"/>
                <a:gridCol w="1234440"/>
                <a:gridCol w="1417320"/>
                <a:gridCol w="16002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規模(Q3 2026)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伸び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株価値への効き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見るべき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注目度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(個人・学生)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個人 321 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 185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NII +59%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理論株価の土台。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 +0.5pt 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−1.9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貸倒率・NIM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36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1.53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 +16%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(Q2 は 31 億ドル)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資本を使わずに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を上げる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組成額・手数料率・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買い手の契約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(Grad PLUS 廃止)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29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 +96%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民間市場に年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 億ドルの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すき間(NBER)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在学中・大学院の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手数料・Plus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交換の決済額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年換算 310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交換手数料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小さいが資本不要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会員(会社は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年で 100 万人)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SoFiUSD・暗号資産・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法人銀行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流通額は未開示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会員向けは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5/27 開始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オプション(未計上)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流通残高・取扱額の開示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 開始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BasePoint 3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に開始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(Q3 は未開示)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経由で資本不要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074920"/>
            <a:ext cx="749808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148072"/>
            <a:ext cx="727862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貸出は規模で、LPB は資本の上限(2027 年)の先を担えるかで注目度が最も高い。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は足元で横ばい(個人ローンの 29%)。新領域は数字が出るまでオプションとして扱う</a:t>
            </a:r>
            <a:endParaRPr lang="en-US" sz="1100" dirty="0"/>
          </a:p>
        </p:txBody>
      </p:sp>
      <p:sp>
        <p:nvSpPr>
          <p:cNvPr id="24" name="pane_head"/>
          <p:cNvSpPr txBox="1"/>
          <p:nvPr/>
        </p:nvSpPr>
        <p:spPr>
          <a:xfrm>
            <a:off x="8183880" y="14813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× 伸びで見た位置</a:t>
            </a:r>
            <a:endParaRPr lang="en-US" sz="1200" dirty="0"/>
          </a:p>
        </p:txBody>
      </p:sp>
      <p:sp>
        <p:nvSpPr>
          <p:cNvPr id="25" name="mx_yt"/>
          <p:cNvSpPr txBox="1"/>
          <p:nvPr/>
        </p:nvSpPr>
        <p:spPr>
          <a:xfrm>
            <a:off x="8183880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mx_x0"/>
          <p:cNvSpPr txBox="1"/>
          <p:nvPr/>
        </p:nvSpPr>
        <p:spPr>
          <a:xfrm>
            <a:off x="9189720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穏やか</a:t>
            </a:r>
            <a:endParaRPr lang="en-US" sz="950" dirty="0"/>
          </a:p>
        </p:txBody>
      </p:sp>
      <p:sp>
        <p:nvSpPr>
          <p:cNvPr id="27" name="mx_x1"/>
          <p:cNvSpPr txBox="1"/>
          <p:nvPr/>
        </p:nvSpPr>
        <p:spPr>
          <a:xfrm>
            <a:off x="10460736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速い</a:t>
            </a:r>
            <a:endParaRPr lang="en-US" sz="950" dirty="0"/>
          </a:p>
        </p:txBody>
      </p:sp>
      <p:sp>
        <p:nvSpPr>
          <p:cNvPr id="28" name="mx_y0"/>
          <p:cNvSpPr txBox="1"/>
          <p:nvPr/>
        </p:nvSpPr>
        <p:spPr>
          <a:xfrm>
            <a:off x="8183880" y="217627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大</a:t>
            </a:r>
            <a:endParaRPr lang="en-US" sz="950" dirty="0"/>
          </a:p>
        </p:txBody>
      </p:sp>
      <p:sp>
        <p:nvSpPr>
          <p:cNvPr id="29" name="ovl_mx0_0"/>
          <p:cNvSpPr/>
          <p:nvPr/>
        </p:nvSpPr>
        <p:spPr>
          <a:xfrm>
            <a:off x="9189720" y="217627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0_0"/>
          <p:cNvSpPr txBox="1"/>
          <p:nvPr/>
        </p:nvSpPr>
        <p:spPr>
          <a:xfrm>
            <a:off x="9235440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LPB(横ばい)</a:t>
            </a:r>
            <a:endParaRPr lang="en-US" sz="950" dirty="0"/>
          </a:p>
        </p:txBody>
      </p:sp>
      <p:sp>
        <p:nvSpPr>
          <p:cNvPr id="31" name="ovl_mx1_0"/>
          <p:cNvSpPr/>
          <p:nvPr/>
        </p:nvSpPr>
        <p:spPr>
          <a:xfrm>
            <a:off x="10460736" y="2176272"/>
            <a:ext cx="1234440" cy="128930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1_0"/>
          <p:cNvSpPr txBox="1"/>
          <p:nvPr/>
        </p:nvSpPr>
        <p:spPr>
          <a:xfrm>
            <a:off x="10506456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950" dirty="0"/>
          </a:p>
        </p:txBody>
      </p:sp>
      <p:sp>
        <p:nvSpPr>
          <p:cNvPr id="33" name="mx_y1"/>
          <p:cNvSpPr txBox="1"/>
          <p:nvPr/>
        </p:nvSpPr>
        <p:spPr>
          <a:xfrm>
            <a:off x="8183880" y="350215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小</a:t>
            </a:r>
            <a:endParaRPr lang="en-US" sz="950" dirty="0"/>
          </a:p>
        </p:txBody>
      </p:sp>
      <p:sp>
        <p:nvSpPr>
          <p:cNvPr id="34" name="ovl_mx0_1"/>
          <p:cNvSpPr/>
          <p:nvPr/>
        </p:nvSpPr>
        <p:spPr>
          <a:xfrm>
            <a:off x="9189720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mx_t0_1"/>
          <p:cNvSpPr txBox="1"/>
          <p:nvPr/>
        </p:nvSpPr>
        <p:spPr>
          <a:xfrm>
            <a:off x="9235440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950" dirty="0"/>
          </a:p>
        </p:txBody>
      </p:sp>
      <p:sp>
        <p:nvSpPr>
          <p:cNvPr id="36" name="ovl_mx1_1"/>
          <p:cNvSpPr/>
          <p:nvPr/>
        </p:nvSpPr>
        <p:spPr>
          <a:xfrm>
            <a:off x="10460736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1_1"/>
          <p:cNvSpPr txBox="1"/>
          <p:nvPr/>
        </p:nvSpPr>
        <p:spPr>
          <a:xfrm>
            <a:off x="10506456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手数料・Plus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SoFiUSD・中小企業</a:t>
            </a:r>
            <a:endParaRPr lang="en-US" sz="950" dirty="0"/>
          </a:p>
        </p:txBody>
      </p:sp>
      <p:sp>
        <p:nvSpPr>
          <p:cNvPr id="38" name="mx_xt"/>
          <p:cNvSpPr txBox="1"/>
          <p:nvPr/>
        </p:nvSpPr>
        <p:spPr>
          <a:xfrm>
            <a:off x="9189720" y="48463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伸びは前年同期比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5074920"/>
            <a:ext cx="354787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 = 1 株価値への効きが大きいか、伸びが速く結果が未確定の分野。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= 規模が小さく前提の幅が大きい分野。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右下は「次の柱」の候補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会社が描く成長の筋書きを 1 枚の図にし、以降の検証の地図にする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会社の筋書きは「会員を年 30% 以上増やし、預金で貸出を伸ばし、手数料を重ねて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 EPS 0.90 ドル」。進み方を決めるのは資本と信用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経営陣の発言と目標を、会員の獲得 → 調達 → 貸出・組成 → 収益化 → 成果の順に並べた。赤は筋書きの進み方を決める制約。下は会員数の道筋と節目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2025・Q3 2026 決算の 8-K・説明会の要約、2025 年の株主への手紙)、research_r5/Q3_datasheet.md、research/R3b_management.md、calc/out/growth_v4.json(会員数の道筋と EPS の経路は事業エンジン)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800" dirty="0"/>
          </a:p>
        </p:txBody>
      </p:sp>
      <p:sp>
        <p:nvSpPr>
          <p:cNvPr id="21" name="goal_0"/>
          <p:cNvSpPr/>
          <p:nvPr/>
        </p:nvSpPr>
        <p:spPr>
          <a:xfrm>
            <a:off x="457200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CAGR 30% 以上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2025→2028 年(再確認は未取得)</a:t>
            </a:r>
            <a:endParaRPr lang="en-US" sz="1600" dirty="0"/>
          </a:p>
        </p:txBody>
      </p:sp>
      <p:sp>
        <p:nvSpPr>
          <p:cNvPr id="22" name="goal_1"/>
          <p:cNvSpPr/>
          <p:nvPr/>
        </p:nvSpPr>
        <p:spPr>
          <a:xfrm>
            <a:off x="3319272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 EPS 0.90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会社の見通し。収益 64 億ドル</a:t>
            </a:r>
            <a:endParaRPr lang="en-US" sz="1600" dirty="0"/>
          </a:p>
        </p:txBody>
      </p:sp>
      <p:sp>
        <p:nvSpPr>
          <p:cNvPr id="23" name="goal_2"/>
          <p:cNvSpPr/>
          <p:nvPr/>
        </p:nvSpPr>
        <p:spPr>
          <a:xfrm>
            <a:off x="6181344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+30% 以上/年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年の目標(Q3 は +36%)</a:t>
            </a:r>
            <a:endParaRPr lang="en-US" sz="1600" dirty="0"/>
          </a:p>
        </p:txBody>
      </p:sp>
      <p:sp>
        <p:nvSpPr>
          <p:cNvPr id="24" name="goal_3"/>
          <p:cNvSpPr/>
          <p:nvPr/>
        </p:nvSpPr>
        <p:spPr>
          <a:xfrm>
            <a:off x="9043416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長期の目標(時期は示していない)</a:t>
            </a:r>
            <a:endParaRPr lang="en-US" sz="1600" dirty="0"/>
          </a:p>
        </p:txBody>
      </p:sp>
      <p:sp>
        <p:nvSpPr>
          <p:cNvPr id="25" name="ovl_s08d_e0_0"/>
          <p:cNvSpPr/>
          <p:nvPr/>
        </p:nvSpPr>
        <p:spPr>
          <a:xfrm>
            <a:off x="2148840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6" name="ovl_s08d_e1_0"/>
          <p:cNvSpPr/>
          <p:nvPr/>
        </p:nvSpPr>
        <p:spPr>
          <a:xfrm>
            <a:off x="4544568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7" name="ovl_s08d_e2_0"/>
          <p:cNvSpPr/>
          <p:nvPr/>
        </p:nvSpPr>
        <p:spPr>
          <a:xfrm>
            <a:off x="6940296" y="2923794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8" name="ovl_s08d_e3_0"/>
          <p:cNvSpPr/>
          <p:nvPr/>
        </p:nvSpPr>
        <p:spPr>
          <a:xfrm>
            <a:off x="9336024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9" name="ovl_s08d_e4_0"/>
          <p:cNvSpPr/>
          <p:nvPr/>
        </p:nvSpPr>
        <p:spPr>
          <a:xfrm flipH="1">
            <a:off x="6940296" y="3088386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0" name="ovl_s08d_e5_0"/>
          <p:cNvSpPr/>
          <p:nvPr/>
        </p:nvSpPr>
        <p:spPr>
          <a:xfrm flipV="1">
            <a:off x="10885932" y="3380994"/>
            <a:ext cx="914" cy="324612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1" name="ovl_s08d_e6_0"/>
          <p:cNvSpPr/>
          <p:nvPr/>
        </p:nvSpPr>
        <p:spPr>
          <a:xfrm flipV="1">
            <a:off x="6094476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2" name="ovl_s08d_e7_0"/>
          <p:cNvSpPr/>
          <p:nvPr/>
        </p:nvSpPr>
        <p:spPr>
          <a:xfrm flipV="1">
            <a:off x="8490204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3" name="ovl_s08d_e8_0"/>
          <p:cNvSpPr/>
          <p:nvPr/>
        </p:nvSpPr>
        <p:spPr>
          <a:xfrm flipV="1">
            <a:off x="3698748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4" name="ovl_s08d_n_dem"/>
          <p:cNvSpPr/>
          <p:nvPr/>
        </p:nvSpPr>
        <p:spPr>
          <a:xfrm>
            <a:off x="457200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5" name="ovl_s08d_nt_dem"/>
          <p:cNvSpPr txBox="1"/>
          <p:nvPr/>
        </p:nvSpPr>
        <p:spPr>
          <a:xfrm>
            <a:off x="493776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会員の獲得</a:t>
            </a:r>
            <a:endParaRPr lang="en-US" sz="1000" dirty="0"/>
          </a:p>
        </p:txBody>
      </p:sp>
      <p:sp>
        <p:nvSpPr>
          <p:cNvPr id="36" name="ovl_s08d_ns_dem"/>
          <p:cNvSpPr txBox="1"/>
          <p:nvPr/>
        </p:nvSpPr>
        <p:spPr>
          <a:xfrm>
            <a:off x="502920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ブランドと販促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120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4.4 億ドル</a:t>
            </a:r>
            <a:endParaRPr lang="en-US" sz="850" dirty="0"/>
          </a:p>
        </p:txBody>
      </p:sp>
      <p:sp>
        <p:nvSpPr>
          <p:cNvPr id="37" name="ovl_s08d_n_fund"/>
          <p:cNvSpPr/>
          <p:nvPr/>
        </p:nvSpPr>
        <p:spPr>
          <a:xfrm>
            <a:off x="2852928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8" name="ovl_s08d_nt_fund"/>
          <p:cNvSpPr txBox="1"/>
          <p:nvPr/>
        </p:nvSpPr>
        <p:spPr>
          <a:xfrm>
            <a:off x="2889504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預金で調達</a:t>
            </a:r>
            <a:endParaRPr lang="en-US" sz="1000" dirty="0"/>
          </a:p>
        </p:txBody>
      </p:sp>
      <p:sp>
        <p:nvSpPr>
          <p:cNvPr id="39" name="ovl_s08d_ns_fund"/>
          <p:cNvSpPr txBox="1"/>
          <p:nvPr/>
        </p:nvSpPr>
        <p:spPr>
          <a:xfrm>
            <a:off x="2898648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513 億ドル(+58 億)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 33 億ドル増資</a:t>
            </a:r>
            <a:endParaRPr lang="en-US" sz="850" dirty="0"/>
          </a:p>
        </p:txBody>
      </p:sp>
      <p:sp>
        <p:nvSpPr>
          <p:cNvPr id="40" name="ovl_s08d_n_lend"/>
          <p:cNvSpPr/>
          <p:nvPr/>
        </p:nvSpPr>
        <p:spPr>
          <a:xfrm>
            <a:off x="5248656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1" name="ovl_s08d_nt_lend"/>
          <p:cNvSpPr txBox="1"/>
          <p:nvPr/>
        </p:nvSpPr>
        <p:spPr>
          <a:xfrm>
            <a:off x="5285232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貸出と組成</a:t>
            </a:r>
            <a:endParaRPr lang="en-US" sz="1000" dirty="0"/>
          </a:p>
        </p:txBody>
      </p:sp>
      <p:sp>
        <p:nvSpPr>
          <p:cNvPr id="42" name="ovl_s08d_ns_lend"/>
          <p:cNvSpPr txBox="1"/>
          <p:nvPr/>
        </p:nvSpPr>
        <p:spPr>
          <a:xfrm>
            <a:off x="5294376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169 億ドル/四半期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71% は保有</a:t>
            </a:r>
            <a:endParaRPr lang="en-US" sz="850" dirty="0"/>
          </a:p>
        </p:txBody>
      </p:sp>
      <p:sp>
        <p:nvSpPr>
          <p:cNvPr id="43" name="ovl_s08d_n_mon"/>
          <p:cNvSpPr/>
          <p:nvPr/>
        </p:nvSpPr>
        <p:spPr>
          <a:xfrm>
            <a:off x="7644384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4" name="ovl_s08d_nt_mon"/>
          <p:cNvSpPr txBox="1"/>
          <p:nvPr/>
        </p:nvSpPr>
        <p:spPr>
          <a:xfrm>
            <a:off x="7680960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収益化</a:t>
            </a:r>
            <a:endParaRPr lang="en-US" sz="1000" dirty="0"/>
          </a:p>
        </p:txBody>
      </p:sp>
      <p:sp>
        <p:nvSpPr>
          <p:cNvPr id="45" name="ovl_s08d_ns_mon"/>
          <p:cNvSpPr txBox="1"/>
          <p:nvPr/>
        </p:nvSpPr>
        <p:spPr>
          <a:xfrm>
            <a:off x="7690104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 NIM 6.14%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組成 36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46" name="ovl_s08d_n_out"/>
          <p:cNvSpPr/>
          <p:nvPr/>
        </p:nvSpPr>
        <p:spPr>
          <a:xfrm>
            <a:off x="10040112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7" name="ovl_s08d_nt_out"/>
          <p:cNvSpPr txBox="1"/>
          <p:nvPr/>
        </p:nvSpPr>
        <p:spPr>
          <a:xfrm>
            <a:off x="10076688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成果</a:t>
            </a:r>
            <a:endParaRPr lang="en-US" sz="1000" dirty="0"/>
          </a:p>
        </p:txBody>
      </p:sp>
      <p:sp>
        <p:nvSpPr>
          <p:cNvPr id="48" name="ovl_s08d_ns_out"/>
          <p:cNvSpPr txBox="1"/>
          <p:nvPr/>
        </p:nvSpPr>
        <p:spPr>
          <a:xfrm>
            <a:off x="10085832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 EPS 1.02〜1.12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20〜30%(長期)</a:t>
            </a:r>
            <a:endParaRPr lang="en-US" sz="850" dirty="0"/>
          </a:p>
        </p:txBody>
      </p:sp>
      <p:sp>
        <p:nvSpPr>
          <p:cNvPr id="49" name="ovl_s08d_n_quote"/>
          <p:cNvSpPr/>
          <p:nvPr/>
        </p:nvSpPr>
        <p:spPr>
          <a:xfrm>
            <a:off x="457200" y="3705606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08d_nt_quote"/>
          <p:cNvSpPr txBox="1"/>
          <p:nvPr/>
        </p:nvSpPr>
        <p:spPr>
          <a:xfrm>
            <a:off x="493776" y="3733038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会社の言葉</a:t>
            </a:r>
            <a:endParaRPr lang="en-US" sz="1000" dirty="0"/>
          </a:p>
        </p:txBody>
      </p:sp>
      <p:sp>
        <p:nvSpPr>
          <p:cNvPr id="51" name="ovl_s08d_ns_quote"/>
          <p:cNvSpPr txBox="1"/>
          <p:nvPr/>
        </p:nvSpPr>
        <p:spPr>
          <a:xfrm>
            <a:off x="502920" y="3938778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「会員数・会員当たり製品数・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製品当たり収益の 3 つで伸びる」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「利益の上積みより投資を選ぶ」</a:t>
            </a:r>
            <a:endParaRPr lang="en-US" sz="800" dirty="0"/>
          </a:p>
        </p:txBody>
      </p:sp>
      <p:sp>
        <p:nvSpPr>
          <p:cNvPr id="52" name="ovl_s08d_n_rate"/>
          <p:cNvSpPr/>
          <p:nvPr/>
        </p:nvSpPr>
        <p:spPr>
          <a:xfrm>
            <a:off x="2852928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3" name="ovl_s08d_nt_rate"/>
          <p:cNvSpPr txBox="1"/>
          <p:nvPr/>
        </p:nvSpPr>
        <p:spPr>
          <a:xfrm>
            <a:off x="2889504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</a:t>
            </a:r>
            <a:endParaRPr lang="en-US" sz="1000" dirty="0"/>
          </a:p>
        </p:txBody>
      </p:sp>
      <p:sp>
        <p:nvSpPr>
          <p:cNvPr id="54" name="ovl_s08d_ns_rate"/>
          <p:cNvSpPr txBox="1"/>
          <p:nvPr/>
        </p:nvSpPr>
        <p:spPr>
          <a:xfrm>
            <a:off x="2898648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年債 約 5.1%(10/15)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公正価値と預金コスト</a:t>
            </a:r>
            <a:endParaRPr lang="en-US" sz="850" dirty="0"/>
          </a:p>
        </p:txBody>
      </p:sp>
      <p:sp>
        <p:nvSpPr>
          <p:cNvPr id="55" name="ovl_s08d_n_cap"/>
          <p:cNvSpPr/>
          <p:nvPr/>
        </p:nvSpPr>
        <p:spPr>
          <a:xfrm>
            <a:off x="5248656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6" name="ovl_s08d_nt_cap"/>
          <p:cNvSpPr txBox="1"/>
          <p:nvPr/>
        </p:nvSpPr>
        <p:spPr>
          <a:xfrm>
            <a:off x="5285232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57" name="ovl_s08d_ns_cap"/>
          <p:cNvSpPr txBox="1"/>
          <p:nvPr/>
        </p:nvSpPr>
        <p:spPr>
          <a:xfrm>
            <a:off x="5294376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17.0%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</a:t>
            </a:r>
            <a:endParaRPr lang="en-US" sz="850" dirty="0"/>
          </a:p>
        </p:txBody>
      </p:sp>
      <p:sp>
        <p:nvSpPr>
          <p:cNvPr id="58" name="ovl_s08d_n_credit"/>
          <p:cNvSpPr/>
          <p:nvPr/>
        </p:nvSpPr>
        <p:spPr>
          <a:xfrm>
            <a:off x="7644384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9" name="ovl_s08d_nt_credit"/>
          <p:cNvSpPr txBox="1"/>
          <p:nvPr/>
        </p:nvSpPr>
        <p:spPr>
          <a:xfrm>
            <a:off x="7680960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信用サイクル</a:t>
            </a:r>
            <a:endParaRPr lang="en-US" sz="1000" dirty="0"/>
          </a:p>
        </p:txBody>
      </p:sp>
      <p:sp>
        <p:nvSpPr>
          <p:cNvPr id="60" name="ovl_s08d_ns_credit"/>
          <p:cNvSpPr txBox="1"/>
          <p:nvPr/>
        </p:nvSpPr>
        <p:spPr>
          <a:xfrm>
            <a:off x="7690104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約 3.4%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</a:t>
            </a:r>
            <a:endParaRPr lang="en-US" sz="850" dirty="0"/>
          </a:p>
        </p:txBody>
      </p:sp>
      <p:sp>
        <p:nvSpPr>
          <p:cNvPr id="61" name="ovl_s08d_n_add"/>
          <p:cNvSpPr/>
          <p:nvPr/>
        </p:nvSpPr>
        <p:spPr>
          <a:xfrm>
            <a:off x="10040112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2" name="ovl_s08d_nt_add"/>
          <p:cNvSpPr txBox="1"/>
          <p:nvPr/>
        </p:nvSpPr>
        <p:spPr>
          <a:xfrm>
            <a:off x="10076688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上積み</a:t>
            </a:r>
            <a:endParaRPr lang="en-US" sz="1000" dirty="0"/>
          </a:p>
        </p:txBody>
      </p:sp>
      <p:sp>
        <p:nvSpPr>
          <p:cNvPr id="63" name="ovl_s08d_ns_add"/>
          <p:cNvSpPr txBox="1"/>
          <p:nvPr/>
        </p:nvSpPr>
        <p:spPr>
          <a:xfrm>
            <a:off x="10085832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Plus・SoFiUSD・暗号資産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中小企業・法人銀行</a:t>
            </a:r>
            <a:endParaRPr lang="en-US" sz="850" dirty="0"/>
          </a:p>
        </p:txBody>
      </p:sp>
      <p:sp>
        <p:nvSpPr>
          <p:cNvPr id="64" name="ovl_s08d_lab0"/>
          <p:cNvSpPr txBox="1"/>
          <p:nvPr/>
        </p:nvSpPr>
        <p:spPr>
          <a:xfrm>
            <a:off x="2180844" y="2631186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預金を運ぶ</a:t>
            </a:r>
            <a:endParaRPr lang="en-US" sz="850" dirty="0"/>
          </a:p>
        </p:txBody>
      </p:sp>
      <p:sp>
        <p:nvSpPr>
          <p:cNvPr id="65" name="ovl_s08d_lab1"/>
          <p:cNvSpPr txBox="1"/>
          <p:nvPr/>
        </p:nvSpPr>
        <p:spPr>
          <a:xfrm>
            <a:off x="4608576" y="277291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66" name="ovl_s08d_lab2"/>
          <p:cNvSpPr txBox="1"/>
          <p:nvPr/>
        </p:nvSpPr>
        <p:spPr>
          <a:xfrm>
            <a:off x="6972300" y="2548890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67" name="ovl_s08d_lab3"/>
          <p:cNvSpPr txBox="1"/>
          <p:nvPr/>
        </p:nvSpPr>
        <p:spPr>
          <a:xfrm>
            <a:off x="9516618" y="277291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850" dirty="0"/>
          </a:p>
        </p:txBody>
      </p:sp>
      <p:sp>
        <p:nvSpPr>
          <p:cNvPr id="68" name="ovl_s08d_lab4"/>
          <p:cNvSpPr txBox="1"/>
          <p:nvPr/>
        </p:nvSpPr>
        <p:spPr>
          <a:xfrm>
            <a:off x="6972300" y="3115818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利益が次の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貸出へ</a:t>
            </a:r>
            <a:endParaRPr lang="en-US" sz="850" dirty="0"/>
          </a:p>
        </p:txBody>
      </p:sp>
      <p:sp>
        <p:nvSpPr>
          <p:cNvPr id="69" name="ovl_s08d_lab5"/>
          <p:cNvSpPr txBox="1"/>
          <p:nvPr/>
        </p:nvSpPr>
        <p:spPr>
          <a:xfrm>
            <a:off x="10931652" y="344043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上積み</a:t>
            </a:r>
            <a:endParaRPr lang="en-US" sz="850" dirty="0"/>
          </a:p>
        </p:txBody>
      </p:sp>
      <p:sp>
        <p:nvSpPr>
          <p:cNvPr id="70" name="ovl_s08d_lab6"/>
          <p:cNvSpPr txBox="1"/>
          <p:nvPr/>
        </p:nvSpPr>
        <p:spPr>
          <a:xfrm>
            <a:off x="6140196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上限</a:t>
            </a:r>
            <a:endParaRPr lang="en-US" sz="850" dirty="0"/>
          </a:p>
        </p:txBody>
      </p:sp>
      <p:sp>
        <p:nvSpPr>
          <p:cNvPr id="71" name="ovl_s08d_lab7"/>
          <p:cNvSpPr txBox="1"/>
          <p:nvPr/>
        </p:nvSpPr>
        <p:spPr>
          <a:xfrm>
            <a:off x="8535924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</a:t>
            </a:r>
            <a:endParaRPr lang="en-US" sz="850" dirty="0"/>
          </a:p>
        </p:txBody>
      </p:sp>
      <p:sp>
        <p:nvSpPr>
          <p:cNvPr id="72" name="ovl_s08d_lab8"/>
          <p:cNvSpPr txBox="1"/>
          <p:nvPr/>
        </p:nvSpPr>
        <p:spPr>
          <a:xfrm>
            <a:off x="3744468" y="344043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評価・コスト</a:t>
            </a:r>
            <a:endParaRPr lang="en-US" sz="850" dirty="0"/>
          </a:p>
        </p:txBody>
      </p:sp>
      <p:sp>
        <p:nvSpPr>
          <p:cNvPr id="73" name="ovl_s08d_leg0"/>
          <p:cNvSpPr/>
          <p:nvPr/>
        </p:nvSpPr>
        <p:spPr>
          <a:xfrm>
            <a:off x="457200" y="4773168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4" name="ovl_s08d_legt0"/>
          <p:cNvSpPr txBox="1"/>
          <p:nvPr/>
        </p:nvSpPr>
        <p:spPr>
          <a:xfrm>
            <a:off x="87782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75" name="ovl_s08d_leg1"/>
          <p:cNvSpPr/>
          <p:nvPr/>
        </p:nvSpPr>
        <p:spPr>
          <a:xfrm>
            <a:off x="1874520" y="4773168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76" name="ovl_s08d_legt1"/>
          <p:cNvSpPr txBox="1"/>
          <p:nvPr/>
        </p:nvSpPr>
        <p:spPr>
          <a:xfrm>
            <a:off x="229514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77" name="ovl_s08d_leg2"/>
          <p:cNvSpPr/>
          <p:nvPr/>
        </p:nvSpPr>
        <p:spPr>
          <a:xfrm>
            <a:off x="3291840" y="4773168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78" name="ovl_s08d_legt2"/>
          <p:cNvSpPr txBox="1"/>
          <p:nvPr/>
        </p:nvSpPr>
        <p:spPr>
          <a:xfrm>
            <a:off x="371246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79" name="ovl_tl_head"/>
          <p:cNvSpPr txBox="1"/>
          <p:nvPr/>
        </p:nvSpPr>
        <p:spPr>
          <a:xfrm>
            <a:off x="457200" y="5029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会員数(年末)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年以降は事業エンジン</a:t>
            </a:r>
            <a:endParaRPr lang="en-US" sz="900" dirty="0"/>
          </a:p>
        </p:txBody>
      </p:sp>
      <p:sp>
        <p:nvSpPr>
          <p:cNvPr id="80" name="ovl_tl_axis"/>
          <p:cNvSpPr/>
          <p:nvPr/>
        </p:nvSpPr>
        <p:spPr>
          <a:xfrm>
            <a:off x="731520" y="5605272"/>
            <a:ext cx="10698480" cy="914"/>
          </a:xfrm>
          <a:prstGeom prst="line">
            <a:avLst/>
          </a:prstGeom>
          <a:noFill/>
          <a:ln w="15875">
            <a:solidFill>
              <a:srgbClr val="767676"/>
            </a:solidFill>
            <a:prstDash val="solid"/>
          </a:ln>
        </p:spPr>
      </p:sp>
      <p:sp>
        <p:nvSpPr>
          <p:cNvPr id="81" name="ovl_tl_dot_2025"/>
          <p:cNvSpPr/>
          <p:nvPr/>
        </p:nvSpPr>
        <p:spPr>
          <a:xfrm>
            <a:off x="26700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2" name="ovl_tl_tick_2025"/>
          <p:cNvSpPr txBox="1"/>
          <p:nvPr/>
        </p:nvSpPr>
        <p:spPr>
          <a:xfrm>
            <a:off x="23774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</a:t>
            </a:r>
            <a:endParaRPr lang="en-US" sz="850" dirty="0"/>
          </a:p>
        </p:txBody>
      </p:sp>
      <p:sp>
        <p:nvSpPr>
          <p:cNvPr id="83" name="ovl_tl_val_2025"/>
          <p:cNvSpPr txBox="1"/>
          <p:nvPr/>
        </p:nvSpPr>
        <p:spPr>
          <a:xfrm>
            <a:off x="22860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1,370 万</a:t>
            </a:r>
            <a:endParaRPr lang="en-US" sz="1000" dirty="0"/>
          </a:p>
        </p:txBody>
      </p:sp>
      <p:sp>
        <p:nvSpPr>
          <p:cNvPr id="84" name="ovl_tl_dot_2026"/>
          <p:cNvSpPr/>
          <p:nvPr/>
        </p:nvSpPr>
        <p:spPr>
          <a:xfrm>
            <a:off x="54132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5" name="ovl_tl_tick_2026"/>
          <p:cNvSpPr txBox="1"/>
          <p:nvPr/>
        </p:nvSpPr>
        <p:spPr>
          <a:xfrm>
            <a:off x="51206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50" dirty="0"/>
          </a:p>
        </p:txBody>
      </p:sp>
      <p:sp>
        <p:nvSpPr>
          <p:cNvPr id="86" name="ovl_tl_val_2026"/>
          <p:cNvSpPr txBox="1"/>
          <p:nvPr/>
        </p:nvSpPr>
        <p:spPr>
          <a:xfrm>
            <a:off x="50292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1,830 万</a:t>
            </a:r>
            <a:endParaRPr lang="en-US" sz="1000" dirty="0"/>
          </a:p>
        </p:txBody>
      </p:sp>
      <p:sp>
        <p:nvSpPr>
          <p:cNvPr id="87" name="ovl_tl_dot_2027"/>
          <p:cNvSpPr/>
          <p:nvPr/>
        </p:nvSpPr>
        <p:spPr>
          <a:xfrm>
            <a:off x="81564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8" name="ovl_tl_tick_2027"/>
          <p:cNvSpPr txBox="1"/>
          <p:nvPr/>
        </p:nvSpPr>
        <p:spPr>
          <a:xfrm>
            <a:off x="78638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</a:t>
            </a:r>
            <a:endParaRPr lang="en-US" sz="850" dirty="0"/>
          </a:p>
        </p:txBody>
      </p:sp>
      <p:sp>
        <p:nvSpPr>
          <p:cNvPr id="89" name="ovl_tl_val_2027"/>
          <p:cNvSpPr txBox="1"/>
          <p:nvPr/>
        </p:nvSpPr>
        <p:spPr>
          <a:xfrm>
            <a:off x="77724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2,290 万</a:t>
            </a:r>
            <a:endParaRPr lang="en-US" sz="1000" dirty="0"/>
          </a:p>
        </p:txBody>
      </p:sp>
      <p:sp>
        <p:nvSpPr>
          <p:cNvPr id="90" name="ovl_tl_dot_2028"/>
          <p:cNvSpPr/>
          <p:nvPr/>
        </p:nvSpPr>
        <p:spPr>
          <a:xfrm>
            <a:off x="108996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1" name="ovl_tl_tick_2028"/>
          <p:cNvSpPr txBox="1"/>
          <p:nvPr/>
        </p:nvSpPr>
        <p:spPr>
          <a:xfrm>
            <a:off x="106070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50" dirty="0"/>
          </a:p>
        </p:txBody>
      </p:sp>
      <p:sp>
        <p:nvSpPr>
          <p:cNvPr id="92" name="ovl_tl_val_2028"/>
          <p:cNvSpPr txBox="1"/>
          <p:nvPr/>
        </p:nvSpPr>
        <p:spPr>
          <a:xfrm>
            <a:off x="105156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2,730 万</a:t>
            </a:r>
            <a:endParaRPr lang="en-US" sz="1000" dirty="0"/>
          </a:p>
        </p:txBody>
      </p:sp>
      <p:sp>
        <p:nvSpPr>
          <p:cNvPr id="93" name="ovl_tl_note0"/>
          <p:cNvSpPr txBox="1"/>
          <p:nvPr/>
        </p:nvSpPr>
        <p:spPr>
          <a:xfrm>
            <a:off x="3017520" y="5047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2026-04: Plus を有料で再開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2026-07: Grad PLUS の新規廃止</a:t>
            </a:r>
            <a:endParaRPr lang="en-US" sz="850" dirty="0"/>
          </a:p>
        </p:txBody>
      </p:sp>
      <p:sp>
        <p:nvSpPr>
          <p:cNvPr id="94" name="ovl_tl_lead0"/>
          <p:cNvSpPr/>
          <p:nvPr/>
        </p:nvSpPr>
        <p:spPr>
          <a:xfrm>
            <a:off x="41148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5" name="ovl_tl_mark0"/>
          <p:cNvSpPr/>
          <p:nvPr/>
        </p:nvSpPr>
        <p:spPr>
          <a:xfrm>
            <a:off x="40599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6" name="ovl_tl_note1"/>
          <p:cNvSpPr txBox="1"/>
          <p:nvPr/>
        </p:nvSpPr>
        <p:spPr>
          <a:xfrm>
            <a:off x="585216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年: 自己資本比率が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運用下限に近づく(エンジン)</a:t>
            </a:r>
            <a:endParaRPr lang="en-US" sz="850" dirty="0"/>
          </a:p>
        </p:txBody>
      </p:sp>
      <p:sp>
        <p:nvSpPr>
          <p:cNvPr id="97" name="ovl_tl_lead1"/>
          <p:cNvSpPr/>
          <p:nvPr/>
        </p:nvSpPr>
        <p:spPr>
          <a:xfrm>
            <a:off x="68580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8" name="ovl_tl_mark1"/>
          <p:cNvSpPr/>
          <p:nvPr/>
        </p:nvSpPr>
        <p:spPr>
          <a:xfrm>
            <a:off x="68031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9" name="ovl_tl_note2"/>
          <p:cNvSpPr txBox="1"/>
          <p:nvPr/>
        </p:nvSpPr>
        <p:spPr>
          <a:xfrm>
            <a:off x="10332720" y="5047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会社目標の年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筋書きの部品ごとに、数字で作動しているかを採点し、会社の目標をどこまで信じるかを決める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会員獲得・預金・B/S 貸出・手数料の 4 部品は数字で作動し、Tech Platform 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再成長の入口。LPB は横ばいで、判定は「プラス(資本の弁が条件)」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筋書きの部品(P1〜P10)を、数字で作動しているかで採点。右: 規模で重みづけした判定と、会社目標・コンセンサス・事業エンジンの差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2025〜Q3 2026 決算の 8-K・説明会の要約)、research_r5/Q3_datasheet.md、research/R3b_management.md、calc/out/growth_v4.json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731520"/>
                <a:gridCol w="374904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進捗(数字で作動しているか)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会員の獲得(ブランド・販促)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作動。純増 120 万/四半期(過去最高)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作動(51%)。新製品の過半は既存会員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P3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預金による調達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作動。513 億ドル、倉庫ライン比 −1.45pt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P4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貸出の拡大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作動。NII +59%、NIM 6.14%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P5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横ばい。36 億ドル、割合 29%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P6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学生ローン(Grad PLUS)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作動。組成 +96%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P7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手数料型(交換・組成・Plus)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作動。手数料型 +40%(42%)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底打ち → 再成長の入口。大口を除き +18%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P9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新領域(SoFiUSD ほか)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数字なし(流通額は未開示)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販促費の効率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一部。会員当たり 370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規模で重みづけした判定</a:t>
            </a:r>
            <a:endParaRPr lang="en-US" sz="1200" dirty="0"/>
          </a:p>
        </p:txBody>
      </p:sp>
      <p:graphicFrame>
        <p:nvGraphicFramePr>
          <p:cNvPr id="23" name="chart_weight" descr=""/>
          <p:cNvGraphicFramePr/>
          <p:nvPr/>
        </p:nvGraphicFramePr>
        <p:xfrm>
          <a:off x="8275320" y="1783080"/>
          <a:ext cx="3456432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ovl_takeaway_bg"/>
          <p:cNvSpPr/>
          <p:nvPr/>
        </p:nvSpPr>
        <p:spPr>
          <a:xfrm>
            <a:off x="8275320" y="2926080"/>
            <a:ext cx="3456432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8385048" y="2999232"/>
            <a:ext cx="3236976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判定は「プラス(資本の弁が条件)」。作動している部品の多くが資本を使い、資本の上限が筋書きの速さを決める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8275320" y="39319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会社の目標をどこまで信じるか</a:t>
            </a:r>
            <a:endParaRPr lang="en-US" sz="1200" dirty="0"/>
          </a:p>
        </p:txBody>
      </p:sp>
      <p:graphicFrame>
        <p:nvGraphicFramePr>
          <p:cNvPr id="2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51960"/>
          <a:ext cx="3456432" cy="914400"/>
        </p:xfrm>
        <a:graphic>
          <a:graphicData uri="http://schemas.openxmlformats.org/drawingml/2006/table">
            <a:tbl>
              <a:tblPr/>
              <a:tblGrid>
                <a:gridCol w="969264"/>
                <a:gridCol w="822960"/>
                <a:gridCol w="832104"/>
                <a:gridCol w="832104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2027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0.82(決算前)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2028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1.02〜1.12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1.06(決算前)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1.15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2028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(長期)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13.1%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 txBox="1"/>
          <p:nvPr/>
        </p:nvSpPr>
        <p:spPr>
          <a:xfrm>
            <a:off x="8275320" y="5669280"/>
            <a:ext cx="3456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の目標はエンジンでも届く。ROTCE の目標には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届かず、成長が生む価値は小さい。理論株価は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エンジンの EPS を土台にした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収益構造(1/4)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売上から利益が残る経路と、売上より速く伸びている費用を確かめる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2026 の総純収益 13.9 億ドルの 67% は利ざや。販促費(+55%)は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売上(+44%)より速く伸びたが、純利益は 2.41 億ドル(+73%)に増えた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損益フロー(サンキー)、Q3 2026(2026 年 7〜9 月)、百万ドル。( )は前年同期比。GAAP 基準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会社の Q3 2026 決算(8-K・説明会)の要約、research_r5/Q3_datasheet.md §1。税引前・税・運営一般管理・その他は推定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800" dirty="0"/>
          </a:p>
        </p:txBody>
      </p:sp>
      <p:pic>
        <p:nvPicPr>
          <p:cNvPr id="21" name="Image 0" descr="assets/sankey_q3_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680960" cy="4572000"/>
          </a:xfrm>
          <a:prstGeom prst="rect">
            <a:avLst/>
          </a:prstGeom>
        </p:spPr>
      </p:pic>
      <p:sp>
        <p:nvSpPr>
          <p:cNvPr id="22" name="note"/>
          <p:cNvSpPr txBox="1"/>
          <p:nvPr/>
        </p:nvSpPr>
        <p:spPr>
          <a:xfrm>
            <a:off x="457200" y="6053328"/>
            <a:ext cx="7680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税引前・税・運営一般管理は、純利益と税率 22% から逆算した推定(8-K の内訳は未取得)</a:t>
            </a:r>
            <a:endParaRPr lang="en-US" sz="800" dirty="0"/>
          </a:p>
        </p:txBody>
      </p:sp>
      <p:sp>
        <p:nvSpPr>
          <p:cNvPr id="23" name="ovl_takeaway_bg"/>
          <p:cNvSpPr/>
          <p:nvPr/>
        </p:nvSpPr>
        <p:spPr>
          <a:xfrm>
            <a:off x="8275320" y="1554480"/>
            <a:ext cx="34564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takeaway"/>
          <p:cNvSpPr txBox="1"/>
          <p:nvPr/>
        </p:nvSpPr>
        <p:spPr>
          <a:xfrm>
            <a:off x="8385048" y="1627632"/>
            <a:ext cx="32369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+55% は売上 +44% より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速く伸びたが、純利益は +73%。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増収の源泉は NII(+59%)</a:t>
            </a:r>
            <a:endParaRPr lang="en-US" sz="1100" dirty="0"/>
          </a:p>
        </p:txBody>
      </p:sp>
      <p:sp>
        <p:nvSpPr>
          <p:cNvPr id="25" name="bullets"/>
          <p:cNvSpPr txBox="1"/>
          <p:nvPr/>
        </p:nvSpPr>
        <p:spPr>
          <a:xfrm>
            <a:off x="8275320" y="3017520"/>
            <a:ext cx="3456432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総純収益の 67% は NII(利ざや)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手数料型の収益 5.71 億ドル(42%)は非 GAAP で、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非金利収益(4.56 億)と定義が違う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調整後 EBITDA 4.70 億ドル(率 34%)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収益構造(2/4)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増収がどこから来て、利益率がいつ・なぜ改善するかを確かめ、EPS の伸びの質を見る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前年比の増収 4.24 億ドルの 81% は利ざや。2027 年の見通しは販促費を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攻めたまま EBITDA 率 35% へ。利益率は規模で上がる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前年比の増収の内訳(Q3 2025 → Q3 2026、百万ドル)。右: 利益率の経路(事業エンジン)と、2027 年の見通しが求めるもの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会社の Q3 2026 決算・2027 年見通し(8-K・説明会の要約)、research_r5/Q3_datasheet.md §1、calc/out/growth_v4.json(エンジン)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増収の内訳(前年比、百万ドル)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note"/>
          <p:cNvSpPr txBox="1"/>
          <p:nvPr/>
        </p:nvSpPr>
        <p:spPr>
          <a:xfrm>
            <a:off x="457200" y="4526280"/>
            <a:ext cx="5760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前年比の増収 4.24 億ドルの 81% は NII(利ざや)。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非金利収益は、手数料・売却益・評価の純額</a:t>
            </a:r>
            <a:endParaRPr lang="en-US" sz="950" dirty="0"/>
          </a:p>
        </p:txBody>
      </p:sp>
      <p:sp>
        <p:nvSpPr>
          <p:cNvPr id="24" name="ovl_takeaway_bg"/>
          <p:cNvSpPr/>
          <p:nvPr/>
        </p:nvSpPr>
        <p:spPr>
          <a:xfrm>
            <a:off x="457200" y="5120640"/>
            <a:ext cx="5760720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566928" y="5193792"/>
            <a:ext cx="5541264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年は収益 +27% に対し純利益 +52%。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販促費率を大きく下げずに、規模で利益率を上げる計画。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 B/S の伸びは資本が律速する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利益率の経路(事業エンジン)</a:t>
            </a:r>
            <a:endParaRPr lang="en-US" sz="1200" dirty="0"/>
          </a:p>
        </p:txBody>
      </p:sp>
      <p:graphicFrame>
        <p:nvGraphicFramePr>
          <p:cNvPr id="1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  <a:gridCol w="13533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33.9%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pane_head"/>
          <p:cNvSpPr txBox="1"/>
          <p:nvPr/>
        </p:nvSpPr>
        <p:spPr>
          <a:xfrm>
            <a:off x="6446520" y="3639312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年の見通しが求めるもの</a:t>
            </a:r>
            <a:endParaRPr lang="en-US" sz="1200" dirty="0"/>
          </a:p>
        </p:txBody>
      </p:sp>
      <p:graphicFrame>
        <p:nvGraphicFramePr>
          <p:cNvPr id="3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31920"/>
          <a:ext cx="52852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8105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調整後純収益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50.4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 億(+27%)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EBITDA(率)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16.6 億(33%)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22.4 億(35%)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純利益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8.4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12.8 億(+52%)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0.90(+48%)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暗黙の株数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13.8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14.2 億(+3%)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収益構造(3/4)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29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EPS の四半期分解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76424" y="356616"/>
            <a:ext cx="9358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の伸びを収益・利益率・税・株数に分け、事業の伸びと一時的な段差を見分ける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 0.12 → 0.18(前期比 +50%)。純利益の増分 0.84 億ドルの源泉は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NII の +1.41 億ドルで、販促費は削らず +0.52 億ドル増やした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四半期の収益・税引前利益・税率・株数・EPS(GAAP、百万ドル・百万株・ドル)。右: 純利益の前期比の増分の源泉(Q2 26 → Q3 26、百万ドル。その他・税は残差で推定)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会社の 10-Q・8-K の要約(research_r5/Q3_datasheet.md §1、research_r4/R14_quarterly_eps_drivers.md)、calc/A4_q3_memo.md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77240"/>
                <a:gridCol w="777240"/>
                <a:gridCol w="1005840"/>
                <a:gridCol w="914400"/>
                <a:gridCol w="1463040"/>
                <a:gridCol w="73152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実効税率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希薄化後株数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 ÷ 株数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1,183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0.082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0.095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962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1,291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0.108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1,027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1,346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0.129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0.138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1,378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0.121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0.145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1,219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1,352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0.116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0.151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推定 13.4〜13.8 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bullets"/>
          <p:cNvSpPr txBox="1"/>
          <p:nvPr/>
        </p:nvSpPr>
        <p:spPr>
          <a:xfrm>
            <a:off x="457200" y="4023360"/>
            <a:ext cx="75895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税と株数: Q3 は未開示(逆算で税率 20〜25%、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株数 13.4〜13.8 億株)。通期の税率の前提は 22%(7/29 時点)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0.18 は前期比 +50%(丸めた 0.12 基準)、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+67%(Q3 25 は 0.108)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年見通しの EPS 0.90 は純利益 12.8 億 ÷ 14.2 億株</a:t>
            </a:r>
            <a:endParaRPr lang="en-US" sz="1050" dirty="0"/>
          </a:p>
        </p:txBody>
      </p:sp>
      <p:sp>
        <p:nvSpPr>
          <p:cNvPr id="23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純利益の前期比の増分(百万ドル)</a:t>
            </a:r>
            <a:endParaRPr lang="en-US" sz="1200" dirty="0"/>
          </a:p>
        </p:txBody>
      </p:sp>
      <p:graphicFrame>
        <p:nvGraphicFramePr>
          <p:cNvPr id="24" name="chart" descr=""/>
          <p:cNvGraphicFramePr/>
          <p:nvPr/>
        </p:nvGraphicFramePr>
        <p:xfrm>
          <a:off x="8275320" y="1810512"/>
          <a:ext cx="34564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ovl_takeaway_bg"/>
          <p:cNvSpPr/>
          <p:nvPr/>
        </p:nvSpPr>
        <p:spPr>
          <a:xfrm>
            <a:off x="8275320" y="4663440"/>
            <a:ext cx="3456432" cy="14173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8385048" y="4736592"/>
            <a:ext cx="323697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は販促費を削らず、増収(NII)で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作られた。調整弁は販促費ではなく、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の伸び(資本)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収益構造(4/4)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手数料型の収益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資本を使わない収益がどれだけ伸び、何が担っているかを確かめる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手数料型の収益は 5.71 億ドル(前年比 +40%)で、比率は Q1 の 36% から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42% に戻った。組成手数料・交換手数料・LPB が担い、資本を使わない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手数料型の収益(会社定義、非 GAAP): 組成手数料・LPB・交換手数料・証券・紹介・Plus・Tech Platform の手数料。比率は調整後純収益に対する割合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 §1-2(R19)、Q3 の 8-K・説明会の要約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手数料型の収益と比率(四半期)</a:t>
            </a:r>
            <a:endParaRPr lang="en-US" sz="1200" dirty="0"/>
          </a:p>
        </p:txBody>
      </p:sp>
      <p:graphicFrame>
        <p:nvGraphicFramePr>
          <p:cNvPr id="1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33272"/>
                <a:gridCol w="1033272"/>
                <a:gridCol w="104241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4.09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4.43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3.87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4.72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5.71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457200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26 の担い手</a:t>
            </a:r>
            <a:endParaRPr lang="en-US" sz="1200" dirty="0"/>
          </a:p>
        </p:txBody>
      </p:sp>
      <p:graphicFrame>
        <p:nvGraphicFramePr>
          <p:cNvPr id="3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担い手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組成手数料(Lending)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+158%(前年比)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1.53 億ドル(組成 36 億、手数料率 4.3%)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交換手数料(FS)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+77%(年換算の決済額 310 億ドル)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0.87 億ドル(大口を除き +18%)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証券・Plus・紹介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手数料型の収益(億ドル、棒)と比率(%、線)</a:t>
            </a:r>
            <a:endParaRPr lang="en-US" sz="1200" dirty="0"/>
          </a:p>
        </p:txBody>
      </p:sp>
      <p:graphicFrame>
        <p:nvGraphicFramePr>
          <p:cNvPr id="26" name="chart" descr=""/>
          <p:cNvGraphicFramePr/>
          <p:nvPr/>
        </p:nvGraphicFramePr>
        <p:xfrm>
          <a:off x="6446520" y="1810512"/>
          <a:ext cx="528523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ovl_takeaway_bg"/>
          <p:cNvSpPr/>
          <p:nvPr/>
        </p:nvSpPr>
        <p:spPr>
          <a:xfrm>
            <a:off x="6446520" y="5166360"/>
            <a:ext cx="5285232" cy="9144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6556248" y="5239512"/>
            <a:ext cx="506577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比率は Q1 の 36% を底に 42% へ。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の配分(29%)ではなく、組成手数料と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交換手数料の多様化で上がった。資本を使わない収益が伸びる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競争優位(1/2)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189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18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競争優位(体験の束)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22474" y="356616"/>
            <a:ext cx="92120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単品ではなく顧客が受け取る束で競合と比べ、差が数字に出ているかを確かめる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単品のローンや預金は市場の商品だが、給与の早期受け取り・ATM・投資・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ローンの割引を 1 つのアプリで束ね、獲得費と貸倒で同業より低い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体験の束を同業と比べる(○ あり / × なし / — 未確認。各社の公開情報の理解で原文とは未照合)。右: 束の差が数字に出ているか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research_r5/Q3_datasheet.md、research_r4/R16_flywheel_quality_holding.md、research_r4/R17_credit_capital_peers.md、research/R1b_kpi.md、各社の公開情報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体験の束の要素(同業との比較)</a:t>
            </a:r>
            <a:endParaRPr lang="en-US" sz="1200" dirty="0"/>
          </a:p>
        </p:txBody>
      </p:sp>
      <p:graphicFrame>
        <p:nvGraphicFramePr>
          <p:cNvPr id="19" name="tbl_bund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18872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要素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Ally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銀行免許(自前の預金)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×(提携銀行)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給与の早期受け取り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○(最大 2 日)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証券・暗号資産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○(証券)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有料会員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○(Plus)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○(Gold)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会員向けのローン金利割引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○(各 0.25%)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pane_r"/>
          <p:cNvSpPr txBox="1"/>
          <p:nvPr/>
        </p:nvSpPr>
        <p:spPr>
          <a:xfrm>
            <a:off x="7635240" y="148132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束の差が数字に出ているか(Q3 2026)</a:t>
            </a:r>
            <a:endParaRPr lang="en-US" sz="1200" dirty="0"/>
          </a:p>
        </p:txBody>
      </p:sp>
      <p:graphicFrame>
        <p:nvGraphicFramePr>
          <p:cNvPr id="37" name="tbl_nu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828800"/>
          <a:ext cx="40965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199339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獲得費(製品当たり)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 370 ドルの約半分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個人ローンの純償却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 3.2%・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Discover 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預金の基本金利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Ally・Amex 3.10%、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Marcus 3.50%、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 最大 4.00%(同業の中位)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預金の伸び(前年比)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新規は上乗せ +1.10% で集める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資金(倉庫ライン比)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−1.45pt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 7.45 億ドルの節約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単品(ローン・預金)は市場の商品。だが束では獲得費と貸倒が同業より低い。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全部の要素を持つのは SoFi だけで、預金の基本金利は同業の中位でも預金は前期比 +58 億ドル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競争優位(2/2)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60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60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バリューチェーンの深化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63774" y="356616"/>
            <a:ext cx="8970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人の経済性と収益化の段の変化から、連鎖がどこまで深まったかを見る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バリューチェーンは貸出の利ざやから日々の決済と手数料へ深まった。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人の年間収益は 337 ドル(前期比 +5%)、預金は 3,000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人の経済性(年換算、Q3 2026)と、収益化の段の変化。獲得 → 主口座 → 毎日の利用 → 製品を重ねる → 資金 → 資本と分配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research_r5/Q3_datasheet.md、calc/out/growth_v4.json の unit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800" dirty="0"/>
          </a:p>
        </p:txBody>
      </p:sp>
      <p:sp>
        <p:nvSpPr>
          <p:cNvPr id="21" name="ovl_tile0"/>
          <p:cNvSpPr/>
          <p:nvPr/>
        </p:nvSpPr>
        <p:spPr>
          <a:xfrm>
            <a:off x="457200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2" name="tile_v0"/>
          <p:cNvSpPr txBox="1"/>
          <p:nvPr/>
        </p:nvSpPr>
        <p:spPr>
          <a:xfrm>
            <a:off x="548640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337 ドル</a:t>
            </a:r>
            <a:endParaRPr lang="en-US" sz="3200" dirty="0"/>
          </a:p>
        </p:txBody>
      </p:sp>
      <p:sp>
        <p:nvSpPr>
          <p:cNvPr id="23" name="tile_l0"/>
          <p:cNvSpPr txBox="1"/>
          <p:nvPr/>
        </p:nvSpPr>
        <p:spPr>
          <a:xfrm>
            <a:off x="548640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人の年間収益</a:t>
            </a:r>
            <a:endParaRPr lang="en-US" sz="1050" dirty="0"/>
          </a:p>
        </p:txBody>
      </p:sp>
      <p:sp>
        <p:nvSpPr>
          <p:cNvPr id="24" name="tile_n0"/>
          <p:cNvSpPr txBox="1"/>
          <p:nvPr/>
        </p:nvSpPr>
        <p:spPr>
          <a:xfrm>
            <a:off x="548640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Q2 320 ドル(+5%)</a:t>
            </a:r>
            <a:endParaRPr lang="en-US" sz="850" dirty="0"/>
          </a:p>
        </p:txBody>
      </p:sp>
      <p:sp>
        <p:nvSpPr>
          <p:cNvPr id="25" name="ovl_tile1"/>
          <p:cNvSpPr/>
          <p:nvPr/>
        </p:nvSpPr>
        <p:spPr>
          <a:xfrm>
            <a:off x="3333674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6" name="tile_v1"/>
          <p:cNvSpPr txBox="1"/>
          <p:nvPr/>
        </p:nvSpPr>
        <p:spPr>
          <a:xfrm>
            <a:off x="3425114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3,000 ドル</a:t>
            </a:r>
            <a:endParaRPr lang="en-US" sz="3200" dirty="0"/>
          </a:p>
        </p:txBody>
      </p:sp>
      <p:sp>
        <p:nvSpPr>
          <p:cNvPr id="27" name="tile_l1"/>
          <p:cNvSpPr txBox="1"/>
          <p:nvPr/>
        </p:nvSpPr>
        <p:spPr>
          <a:xfrm>
            <a:off x="3425114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人の預金</a:t>
            </a:r>
            <a:endParaRPr lang="en-US" sz="1050" dirty="0"/>
          </a:p>
        </p:txBody>
      </p:sp>
      <p:sp>
        <p:nvSpPr>
          <p:cNvPr id="28" name="tile_n1"/>
          <p:cNvSpPr txBox="1"/>
          <p:nvPr/>
        </p:nvSpPr>
        <p:spPr>
          <a:xfrm>
            <a:off x="3425114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2,880 ドル</a:t>
            </a:r>
            <a:endParaRPr lang="en-US" sz="850" dirty="0"/>
          </a:p>
        </p:txBody>
      </p:sp>
      <p:sp>
        <p:nvSpPr>
          <p:cNvPr id="29" name="ovl_tile2"/>
          <p:cNvSpPr/>
          <p:nvPr/>
        </p:nvSpPr>
        <p:spPr>
          <a:xfrm>
            <a:off x="6210148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0" name="tile_v2"/>
          <p:cNvSpPr txBox="1"/>
          <p:nvPr/>
        </p:nvSpPr>
        <p:spPr>
          <a:xfrm>
            <a:off x="6301588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</a:t>
            </a:r>
            <a:endParaRPr lang="en-US" sz="3200" dirty="0"/>
          </a:p>
        </p:txBody>
      </p:sp>
      <p:sp>
        <p:nvSpPr>
          <p:cNvPr id="31" name="tile_l2"/>
          <p:cNvSpPr txBox="1"/>
          <p:nvPr/>
        </p:nvSpPr>
        <p:spPr>
          <a:xfrm>
            <a:off x="6301588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人の製品</a:t>
            </a:r>
            <a:endParaRPr lang="en-US" sz="1050" dirty="0"/>
          </a:p>
        </p:txBody>
      </p:sp>
      <p:sp>
        <p:nvSpPr>
          <p:cNvPr id="32" name="tile_n2"/>
          <p:cNvSpPr txBox="1"/>
          <p:nvPr/>
        </p:nvSpPr>
        <p:spPr>
          <a:xfrm>
            <a:off x="6301588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33" name="ovl_tile3"/>
          <p:cNvSpPr/>
          <p:nvPr/>
        </p:nvSpPr>
        <p:spPr>
          <a:xfrm>
            <a:off x="9086621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4" name="tile_v3"/>
          <p:cNvSpPr txBox="1"/>
          <p:nvPr/>
        </p:nvSpPr>
        <p:spPr>
          <a:xfrm>
            <a:off x="9178061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370 ドル</a:t>
            </a:r>
            <a:endParaRPr lang="en-US" sz="3200" dirty="0"/>
          </a:p>
        </p:txBody>
      </p:sp>
      <p:sp>
        <p:nvSpPr>
          <p:cNvPr id="35" name="tile_l3"/>
          <p:cNvSpPr txBox="1"/>
          <p:nvPr/>
        </p:nvSpPr>
        <p:spPr>
          <a:xfrm>
            <a:off x="9178061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人の獲得費</a:t>
            </a:r>
            <a:endParaRPr lang="en-US" sz="1050" dirty="0"/>
          </a:p>
        </p:txBody>
      </p:sp>
      <p:sp>
        <p:nvSpPr>
          <p:cNvPr id="36" name="tile_n3"/>
          <p:cNvSpPr txBox="1"/>
          <p:nvPr/>
        </p:nvSpPr>
        <p:spPr>
          <a:xfrm>
            <a:off x="9178061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 202 ドル</a:t>
            </a:r>
            <a:endParaRPr lang="en-US" sz="850" dirty="0"/>
          </a:p>
        </p:txBody>
      </p:sp>
      <p:graphicFrame>
        <p:nvGraphicFramePr>
          <p:cNvPr id="20" name="tbl_chai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4206240"/>
                <a:gridCol w="27706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段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何が起きているか(Q3)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深まり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販促費を増やし、量は過去最高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4.44 億(+55%)、会員純増 120 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量は伸び、単価は少し悪化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給与振込の預金が積み上がる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513 億(+58 億)、平均負債の約 9 割が預金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深まる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毎日の利用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カードの決済が増える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交換手数料 +77%、決済額 年 310 億ドル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深まる(主口座化が数字に)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製品を重ねる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新製品の半分は既存会員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 +44%、1 会員 1.56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深まる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預金が貸出の資金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倉庫ライン比 −1.45pt、年 7.45 億ドルの節約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差は縮小(Q2 1.56 → 1.45pt)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資本と分配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 71%・LPB 29%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 17.0%、下限まで 17 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律速(2027 年に LPB を増やす局面)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新しいレール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SoFiUSD・AI(Coach)・HELOC・中小企業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Coach の会話 50 万件超、SoFiUSD は会員向け 5/27 開始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収益は未開示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ovl_takeaway_bg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9" name="takeaway"/>
          <p:cNvSpPr txBox="1"/>
          <p:nvPr/>
        </p:nvSpPr>
        <p:spPr>
          <a:xfrm>
            <a:off x="566928" y="5788152"/>
            <a:ext cx="110550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収益化の段は貸出の利ざやから、日々の決済(交換手数料)と手数料へ深まった。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連鎖の律速は 2026 年までの「獲得」から、2027 年は「資本」に移る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資金・信用・資本(1/5)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安い資金がいつまで続き、資本がいつ成長を律速するかを確かめる(芯の 1 つ: 資金コスト)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預金は倉庫ラインより 1.45pt 安いが差は縮小。総自己資本比率は 9 か月で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22.9% → 17.0% に下がり、2027 年前半に貸出の伸びを律速する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総自己資本比率の経路(%。2026-09 は実績、2027 年以降は事業エンジン)。右: 預金の調達コストと構成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2026 の 8-K 要約)、10-Q(2025-12〜2026-06)、research_r2/R7_funding_rates_capital.md、calc/out/growth_v4.json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総自己資本比率(%)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2025-12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リスク資産(RWA)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562 億ドル(+51%)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85.2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95.8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57200" y="5486400"/>
            <a:ext cx="5760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運用の下限は 14%(low-to-mid teens)。Q3 の速さ(−1.8pt/四半期)なら約 1.7 四半期で下限</a:t>
            </a:r>
            <a:endParaRPr lang="en-US" sz="950" dirty="0"/>
          </a:p>
        </p:txBody>
      </p:sp>
      <p:sp>
        <p:nvSpPr>
          <p:cNvPr id="25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預金の調達コスト</a:t>
            </a:r>
            <a:endParaRPr lang="en-US" sz="1200" dirty="0"/>
          </a:p>
        </p:txBody>
      </p:sp>
      <p:graphicFrame>
        <p:nvGraphicFramePr>
          <p:cNvPr id="4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163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預金の平均金利(2026 年上期)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(普通 3.24%・当座 1.07%・定期 3.95%)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倉庫ラインとの差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1.93pt(2024-12)→ 1.56pt(2026-06)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→ 1.45pt(2026-09)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年間の金利の節約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7.45 億ドル(年換算、2026-09)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普通預金の金利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3.30%(9 月の利上げ後も据え置き)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新規の上乗せ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+1.10%(10/20、最大 4.40%)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ブローカー預金の比率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3.7% → 10.0%(2025-12 → 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7" name="bullets"/>
          <p:cNvSpPr txBox="1"/>
          <p:nvPr/>
        </p:nvSpPr>
        <p:spPr>
          <a:xfrm>
            <a:off x="6446520" y="4389120"/>
            <a:ext cx="528523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利上げ(9/16、FF 3.75〜4.00%)の後も普通預金の金利を据え置き、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利ざやは守られている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の預金増は 58 億ドル(Q2 は 53 億ドル、約 6 割がブローカー預金)。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給与振込の預金の伸びが貸出に追いついていない</a:t>
            </a:r>
            <a:endParaRPr lang="en-US" sz="1000" dirty="0"/>
          </a:p>
        </p:txBody>
      </p:sp>
      <p:sp>
        <p:nvSpPr>
          <p:cNvPr id="28" name="ovl_takeaway_bg"/>
          <p:cNvSpPr/>
          <p:nvPr/>
        </p:nvSpPr>
        <p:spPr>
          <a:xfrm>
            <a:off x="6446520" y="5349240"/>
            <a:ext cx="5285232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6556248" y="5422392"/>
            <a:ext cx="50657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安い資金は続くが差は縮小。成長の上限を決めるのは預金ではなく自己資本で、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年前半に LPB への配分を上げる局面が来る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資金・信用・資本(2/5)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33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33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資本モデルの業界比較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36774" y="356616"/>
            <a:ext cx="9097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自社保有の多さを景気循環型と決めつけず、業界の標準と利点・欠点で評価する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71% 保有は、銀行の標準(ほぼ全額)とマーケットプレイスの間。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保有の資本 ROE 約 26% は資本コストを上回り、買い手が引いても組成を続けられる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保有と売却の比率を業界の標準と比べ、利点と欠点を数えてから評価する(growth-stage-evaluation §6)。保有は Q3 2026、保有 1 件の経済性は Q2 2026 の経営陣の数字(損失は Q3)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の保有・LPB・預金)、research_r4/R16・R17(業界比較)、会社開示(Q2 2026 の経営陣の数字)、calc/A4_q3_memo.md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22" name="tbl_mod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  <a:gridCol w="2194560"/>
                <a:gridCol w="21305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貸し手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買い手が引いたとき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銀行(Discover の個人ローン・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One・Ally)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ほぼ全額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 0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SoFi(個人ローン)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71%(Q3、4 期で 51〜71%)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29%(Q3 は LPB 36 億ドル)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513 億ドル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配分を四半期で変えられる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21〜36%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64〜79%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預金(2021 年に銀行化)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2016 年 銀行の投資家 43 → 12%、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 年 組成 −43%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Upstart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未償還の約 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提携先・機関投資家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2022 年 Q2 機関の資金 −40% 超、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組成が急減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pane_l"/>
          <p:cNvSpPr txBox="1"/>
          <p:nvPr/>
        </p:nvSpPr>
        <p:spPr>
          <a:xfrm>
            <a:off x="457200" y="33101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 1 件の経済性(個人ローン、年率。損失は Q3、他は Q2)</a:t>
            </a:r>
            <a:endParaRPr lang="en-US" sz="1200" dirty="0"/>
          </a:p>
        </p:txBody>
      </p:sp>
      <p:graphicFrame>
        <p:nvGraphicFramePr>
          <p:cNvPr id="43" name="tbl_ec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21024"/>
          <a:ext cx="5532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8892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クーポン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損失(all-in)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運営・回収(推定)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残る利ざや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配分した資本(14.5%)の ROE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26%(資本コスト 13.9%)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損益分岐の年率損失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5.7%(実績 3.4%・Q3)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売却(LPB)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4.3%・資本ゼロ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pane_good"/>
          <p:cNvSpPr txBox="1"/>
          <p:nvPr/>
        </p:nvSpPr>
        <p:spPr>
          <a:xfrm>
            <a:off x="6199632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利点</a:t>
            </a:r>
            <a:endParaRPr lang="en-US" sz="1200" dirty="0"/>
          </a:p>
        </p:txBody>
      </p:sp>
      <p:sp>
        <p:nvSpPr>
          <p:cNvPr id="25" name="bul_good"/>
          <p:cNvSpPr txBox="1"/>
          <p:nvPr/>
        </p:nvSpPr>
        <p:spPr>
          <a:xfrm>
            <a:off x="6199632" y="3639312"/>
            <a:ext cx="26517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買い手が引いても組成を続けられる(LendingClub・Upstart の弱点がない)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保有の ROE が資本コストを上回る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配分を四半期で変えられる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(LPB 29〜49%)</a:t>
            </a:r>
            <a:endParaRPr lang="en-US" sz="1050" dirty="0"/>
          </a:p>
        </p:txBody>
      </p:sp>
      <p:sp>
        <p:nvSpPr>
          <p:cNvPr id="26" name="pane_bad"/>
          <p:cNvSpPr txBox="1"/>
          <p:nvPr/>
        </p:nvSpPr>
        <p:spPr>
          <a:xfrm>
            <a:off x="9079992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欠点</a:t>
            </a:r>
            <a:endParaRPr lang="en-US" sz="1200" dirty="0"/>
          </a:p>
        </p:txBody>
      </p:sp>
      <p:sp>
        <p:nvSpPr>
          <p:cNvPr id="27" name="bul_bad"/>
          <p:cNvSpPr txBox="1"/>
          <p:nvPr/>
        </p:nvSpPr>
        <p:spPr>
          <a:xfrm>
            <a:off x="9079992" y="3639312"/>
            <a:ext cx="26517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信用の損失を負う(景気で振れる)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自己資本を使う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(自給率 0.34、2026 年上期)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金利で評価が振れる(ヘッジで相殺)</a:t>
            </a:r>
            <a:endParaRPr lang="en-US" sz="1050" dirty="0"/>
          </a:p>
        </p:txBody>
      </p:sp>
      <p:sp>
        <p:nvSpPr>
          <p:cNvPr id="28" name="ovl_takeaway_bg"/>
          <p:cNvSpPr/>
          <p:nvPr/>
        </p:nvSpPr>
        <p:spPr>
          <a:xfrm>
            <a:off x="457200" y="5504688"/>
            <a:ext cx="11274552" cy="60350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71% の保有は銀行の標準に近く、売却の選択肢も持つ。手数料型の比率は Q1 2026 の 36% を底に Q3 は 42% に戻った。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下がった時期は ROE 26% の保有を選んだ結果で、事業の悪化ではない。信用の保有は MU 型(陳腐化する設備への投資)ではない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資金・信用・資本(3/5)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利益の質を左右する貸倒と公正価値の前提を、実績と並べて確かめる(芯の 1 つ: 信用コスト)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公正価値の損失前提(年 4.8%)は実績の貸倒(all-in 3.4%)より保守的。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は割引率が +59〜82bp 上がったが、EPS は上振れした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個人ローンの貸倒率(報告値・all-in)と公正価値の損失前提(年率、%)。右: 公正価値のマークと金利への感応度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8-K・10-Q(Q2 2024〜Q2 2026)、research_r5/Q3_datasheet.md(Q3 2026 の 8-K 要約)、research_r2/R5_credit_fv.md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個人ローンの貸倒率と損失前提(%)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846320"/>
            <a:ext cx="5760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損失前提の Q3 は未開示(Q2 の 4.8% を延ばして表示)。all-in は会社の推計(Q3 2024 から開示)。空売り(Muddy Waters)の主張は約 6.1%。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 Q4〜2025 年 Q3 組成の累積損失は 4.68%(残存元本 35%)で、2017 年組成の同時点 6.43% を下回る。借り手は FICO 746・年収 15.8 万ドル(Q4 2025。Q3 は未取得)</a:t>
            </a:r>
            <a:endParaRPr lang="en-US" sz="950" dirty="0"/>
          </a:p>
        </p:txBody>
      </p:sp>
      <p:sp>
        <p:nvSpPr>
          <p:cNvPr id="24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公正価値のマークと金利</a:t>
            </a:r>
            <a:endParaRPr lang="en-US" sz="1200" dirty="0"/>
          </a:p>
        </p:txBody>
      </p:sp>
      <p:graphicFrame>
        <p:nvGraphicFramePr>
          <p:cNvPr id="2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45336"/>
                <a:gridCol w="15453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残高(公正価値・Q3)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321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185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マーク(Q3)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割引率(2026-06 → 09)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4.97 → 5.56%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4.29 → 5.11%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 1bp あたりのマーク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1.4〜2.0bp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2.4〜3.3bp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の評価損益・スワップ損益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6446520" y="4206240"/>
            <a:ext cx="52852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割引率は Q3 に +59〜82bp 上がったが、EPS は上振れし通期見通しを引き上げた</a:t>
            </a:r>
            <a:endParaRPr lang="en-US" sz="900" dirty="0"/>
          </a:p>
        </p:txBody>
      </p:sp>
      <p:sp>
        <p:nvSpPr>
          <p:cNvPr id="27" name="ovl_takeaway_bg"/>
          <p:cNvSpPr/>
          <p:nvPr/>
        </p:nvSpPr>
        <p:spPr>
          <a:xfrm>
            <a:off x="6446520" y="4754880"/>
            <a:ext cx="52852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6556248" y="4828032"/>
            <a:ext cx="50657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損失の前提は実績より保守的。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の金利上昇で割引率は大きく上がったが、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利益の見通しは上がった。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評価減とヘッジの額は Q3 の 8-K・10-Q で確かめる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資金・信用・資本(4/5)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9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9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信用と資本の制約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82774" y="356616"/>
            <a:ext cx="9351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実在のリスクを同業と比べて数量化し、株価の織り込みが見合うかを確かめる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貸倒は同業より低く(2.26% 対 3.2〜4.2%)、資本は下限まで 17 億ドル。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株価は損失率 +2.1〜2.7pt が毎年続く前提で、同業の最悪期を上回る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上: 個人ローンの純償却率(年率)と借り手の質。下: 自己資本と還元・増資。右: 価値への効きと株価が示す前提(倍率では割り引かず、EPS 経路と株数で数える)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research_r5/Q3_datasheet.md(SoFi の Q3 2026)、research_r4/R16・R17(同業。検索要約。SoFi の CET1 は要検証)、calc/out/growth_v4.json の credit_capital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</a:t>
            </a:r>
            <a:endParaRPr lang="en-US" sz="800" dirty="0"/>
          </a:p>
        </p:txBody>
      </p:sp>
      <p:sp>
        <p:nvSpPr>
          <p:cNvPr id="21" name="pane_credit"/>
          <p:cNvSpPr txBox="1"/>
          <p:nvPr/>
        </p:nvSpPr>
        <p:spPr>
          <a:xfrm>
            <a:off x="457200" y="1481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信用(個人ローンの純償却率)</a:t>
            </a:r>
            <a:endParaRPr lang="en-US" sz="1200" dirty="0"/>
          </a:p>
        </p:txBody>
      </p:sp>
      <p:graphicFrame>
        <p:nvGraphicFramePr>
          <p:cNvPr id="24" name="tbl_credi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7223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4630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貸し手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2023〜24 年のピーク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借り手の質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報告 2.26%・all-in 約 3.4%(Q3)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3.98%(2023Q4)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746・年収 15.8 万ドル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(Q4 2025)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LendingClub(保有分)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5.0%(2023 年通期)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未取得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Discover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4.21%(2025Q1)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4.24%(2024Q4)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未取得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 国内カード(参考)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4.71%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capital"/>
          <p:cNvSpPr txBox="1"/>
          <p:nvPr/>
        </p:nvSpPr>
        <p:spPr>
          <a:xfrm>
            <a:off x="457200" y="3657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</a:t>
            </a:r>
            <a:endParaRPr lang="en-US" sz="1200" dirty="0"/>
          </a:p>
        </p:txBody>
      </p:sp>
      <p:graphicFrame>
        <p:nvGraphicFramePr>
          <p:cNvPr id="47" name="tbl_capit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05072"/>
          <a:ext cx="72237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77724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CET1・総自己資本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還元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 17.0%・CET1 16.9%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(下限 14%、余裕 17 億ドル)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 年に約 33 億ドル。Q3 は増資を確認できず。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経営陣は 2027 年も不要と発言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 17.0%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未取得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見つからず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 13.7%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107%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Ally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 10.1%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自社株買い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pane_value"/>
          <p:cNvSpPr txBox="1"/>
          <p:nvPr/>
        </p:nvSpPr>
        <p:spPr>
          <a:xfrm>
            <a:off x="7909560" y="148132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価値への効き(エンジン 23.8 ドル)</a:t>
            </a:r>
            <a:endParaRPr lang="en-US" sz="1200" dirty="0"/>
          </a:p>
        </p:txBody>
      </p:sp>
      <p:graphicFrame>
        <p:nvGraphicFramePr>
          <p:cNvPr id="70" name="tbl_valu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828800"/>
          <a:ext cx="38221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618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+0.5pt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+1.0pt(2023 年並み)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+2.0pt(all-in 約 5.4%)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 10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(株数 +5%)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総自己資本比率(信用 +1.0pt)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15.8%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ovl_takeaway_bg"/>
          <p:cNvSpPr/>
          <p:nvPr/>
        </p:nvSpPr>
        <p:spPr>
          <a:xfrm>
            <a:off x="7909560" y="4206240"/>
            <a:ext cx="3822192" cy="14630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8019288" y="4279392"/>
            <a:ext cx="3602736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14.55〜16.5 ドルは、損失率が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 +2.1〜2.7pt 続く前提。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同業の最悪期(5.0%)を上回る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資金・信用・資本(5/5)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金利の両面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金利は売上を増やす面とコストを増やす面を持つ。両面を合計し、市場の反応と比べる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 +100bp の両面の合計は 1 株 約 −0.6 ドルで、NII の減少は 1 年目だけ。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は割引率が大きく上がっても NIM は +16bp で、EPS は上振れした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 +100bp の経路ごとの効果(税引前、億ドル。1 年目と 3 年目)と 1 株当たりの価値への効果、市場の反応との比較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research_r4/R15_rate_two_sided.md(10-Q の NII 感応度・ヘッジ・預金ベータ)、calc/A4_q3_memo.md(金利の両面)、research/R3a_market_hypothesis.md(KBW)、research_r5/Q3_datasheet.md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経路ごとの効果(+100bp、税引前・億ドル)</a:t>
            </a:r>
            <a:endParaRPr lang="en-US" sz="1200" dirty="0"/>
          </a:p>
        </p:txBody>
      </p:sp>
      <p:graphicFrame>
        <p:nvGraphicFramePr>
          <p:cNvPr id="25" name="tbl_path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7040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005840"/>
                <a:gridCol w="3200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貸出の再価格(+)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+2.0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+4.0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 321 億ドルは 1 年で 55%(3 年で 100%)、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 185 億ドルは 15%(3 年で 45%)が入れ替え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現金・有価証券(+)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76 億ドル(全額変動の上限、推定)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預金のコスト(−)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−3.1〜−4.4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513 億ドル × ベータ 0.60〜0.85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NII の合計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−0.3〜−1.6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(会社の表 −1.0)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+0.4〜+1.7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負債感応型は 1 年目だけ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貸倒(−)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0〜−0.8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固定金利で返済額は不変。景気の経路のみ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(個人 321 億ドル × 0〜0.25pt)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評価減(一時)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 −9.0〜−12.6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ヘッジ後 0〜−3.8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保有分は戻る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総額は Q3 の個人・学生の残高 506 億ドルで比例。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スワップ 287 億ドル。上期は益 &gt; 評価減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7726680" y="148132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株当たり(ドル)</a:t>
            </a:r>
            <a:endParaRPr lang="en-US" sz="1200" dirty="0"/>
          </a:p>
        </p:txBody>
      </p:sp>
      <p:graphicFrame>
        <p:nvGraphicFramePr>
          <p:cNvPr id="24" name="chart" descr=""/>
          <p:cNvGraphicFramePr/>
          <p:nvPr/>
        </p:nvGraphicFramePr>
        <p:xfrm>
          <a:off x="7726680" y="1810512"/>
          <a:ext cx="4005072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note_chart"/>
          <p:cNvSpPr txBox="1"/>
          <p:nvPr/>
        </p:nvSpPr>
        <p:spPr>
          <a:xfrm>
            <a:off x="7726680" y="3474720"/>
            <a:ext cx="40050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エンジンのシナリオ(+100bp)では 23.8 → 23.2 ドル</a:t>
            </a:r>
            <a:endParaRPr lang="en-US" sz="850" dirty="0"/>
          </a:p>
        </p:txBody>
      </p:sp>
      <p:sp>
        <p:nvSpPr>
          <p:cNvPr id="26" name="pane_head"/>
          <p:cNvSpPr txBox="1"/>
          <p:nvPr/>
        </p:nvSpPr>
        <p:spPr>
          <a:xfrm>
            <a:off x="457200" y="385876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市場の反応との比較(1 株当たり、ドル)</a:t>
            </a:r>
            <a:endParaRPr lang="en-US" sz="1200" dirty="0"/>
          </a:p>
        </p:txBody>
      </p:sp>
      <p:graphicFrame>
        <p:nvGraphicFramePr>
          <p:cNvPr id="49" name="tbl_mark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9664"/>
          <a:ext cx="7040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経済的な影響(+100bp、両面の合計)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−0.6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KBW の報道の日の下落(10/14)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−1.05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KBW の「ヘッジ前 10 億ドル超」を税引後に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−0.58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ヘッジ後の評価減の推計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0〜−0.21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年初来の下落(25.1 → 14.55)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−10.55(金利で説明できるのは 約 6%)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の結果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 +59〜82bp でも EPS 0.18 で上振れ、NIM +16bp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pane_head"/>
          <p:cNvSpPr txBox="1"/>
          <p:nvPr/>
        </p:nvSpPr>
        <p:spPr>
          <a:xfrm>
            <a:off x="7726680" y="385876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預金の価格</a:t>
            </a:r>
            <a:endParaRPr lang="en-US" sz="1200" dirty="0"/>
          </a:p>
        </p:txBody>
      </p:sp>
      <p:graphicFrame>
        <p:nvGraphicFramePr>
          <p:cNvPr id="73" name="tbl_deposi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4169664"/>
          <a:ext cx="40050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6771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9/16 の利上げ後の基本 APY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3.30%(据え置き)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新規の上乗せ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+1.10%(10/20、最大 4.40%)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Ally・Amex 3.10%、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Marcus 3.50%、Chime 最大 4.00%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預金の前期比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+58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566928" y="574243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金利の痛みは「評価減の総額」で語られるが、両面の合計は小さく、評価減はヘッジで相殺され保有分は戻る。市場の反応は経済的な影響を上回る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成長の前提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570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57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根幹 KPI の率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60524" y="356616"/>
            <a:ext cx="95739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伸びを前期比・前年比・率の推移で読み、減速か母数の効果かを見分ける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の会員は前年比 36%・純増 120 万(過去最高)、製品は 44% と加速が続く。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 +56%、収益は +44% で、伸びは高水準の維持から加速へ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伸びを率で読む: 前期比(年率換算)・前年比・率の推移・純増の前年比。判定の言葉は前年比の率の推移で決める(3 期 ±2pt 以内 = 維持)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2025〜Q3 2026)、research_r5/Q3_datasheet.md、calc/out/growth_v4.json の q2・q3。収益の前年比は調整後ベース(Q2 26 は GAAP で +43%)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868680"/>
                <a:gridCol w="777240"/>
                <a:gridCol w="731520"/>
                <a:gridCol w="777240"/>
                <a:gridCol w="822960"/>
                <a:gridCol w="73152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前期比(年率)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会員純増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製品純増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+7.7%(34.5%)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+34.5%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+39.5%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+8.7%(39.8%)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+37.4%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+37.1%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+7.3%(32.6%)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+34.9%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+39.2%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+47.3%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+41.1%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+7.5%(33.5%)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+42.7%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+8.2%(37%)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+43.5%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+55.9%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+44.0%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高水準で維持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sub_head"/>
          <p:cNvSpPr txBox="1"/>
          <p:nvPr/>
        </p:nvSpPr>
        <p:spPr>
          <a:xfrm>
            <a:off x="457200" y="406908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の前年比の分解(Q3 2026)</a:t>
            </a:r>
            <a:endParaRPr lang="en-US" sz="950" dirty="0"/>
          </a:p>
        </p:txBody>
      </p:sp>
      <p:graphicFrame>
        <p:nvGraphicFramePr>
          <p:cNvPr id="5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51206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の内訳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合計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 NII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 非金利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交換手数料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Lending(貸出)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+66%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手数料型の収益(会社全体)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前年比の推移(%)</a:t>
            </a:r>
            <a:endParaRPr lang="en-US" sz="1200" dirty="0"/>
          </a:p>
        </p:txBody>
      </p:sp>
      <p:graphicFrame>
        <p:nvGraphicFramePr>
          <p:cNvPr id="25" name="chart" descr=""/>
          <p:cNvGraphicFramePr/>
          <p:nvPr/>
        </p:nvGraphicFramePr>
        <p:xfrm>
          <a:off x="8275320" y="1810512"/>
          <a:ext cx="34564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ovl_takeaway_bg"/>
          <p:cNvSpPr/>
          <p:nvPr/>
        </p:nvSpPr>
        <p:spPr>
          <a:xfrm>
            <a:off x="8275320" y="4663440"/>
            <a:ext cx="3456432" cy="14173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8385048" y="4736592"/>
            <a:ext cx="323697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会員は前年比 36% を維持し、純増は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過去最高の 120 万。製品は 44% へ加速。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収益の伸びも 44% に上がった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why2"/>
          <p:cNvSpPr txBox="1"/>
          <p:nvPr/>
        </p:nvSpPr>
        <p:spPr>
          <a:xfrm>
            <a:off x="1417320" y="378561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フェーズを決め、現在と将来の二層で構造を評価し、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成長段階の尺度で強さと弱さを仕分ける</a:t>
            </a:r>
            <a:endParaRPr lang="en-US" sz="10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 フェーズと二層の構造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p.27–28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 成長エンジン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p.29–30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 獲得投資と資本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p.31–32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 段階とオプション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p.33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  組み合わせと資本コスト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p.34</a:t>
            </a:r>
            <a:endParaRPr lang="en-US" sz="1050" dirty="0"/>
          </a:p>
        </p:txBody>
      </p:sp>
      <p:sp>
        <p:nvSpPr>
          <p:cNvPr id="32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フェーズと二層の構造(1/2)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フェーズの診断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利益率や ROE を水準で読む前に、会社と事業がどの成長段階にいるかを数字で決める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会社全体はフェーズ ③ スケールの上端で加速(収益 +44%・黒字・販促費 32%)。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貸出は資本が律速、FS は貢献利益率が底打ち、Tech Platform は再成長の入口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フェーズは構造で決め、増収率は目安: ① 立ち上げ / ② 急成長(+40% 超、赤字〜損益分岐) / ③ スケール(黒字・投資回収中・律速が資本。+20〜40% 前後) / ④ 移行(+10〜20%) / ⑤ 成熟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2026)、research_r5/Q3_datasheet.md、calc/A4_q3_memo.md の §1 フェーズ、銘柄分析メソッド growth-stage-evaluation §1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</a:t>
            </a:r>
            <a:endParaRPr lang="en-US" sz="800" dirty="0"/>
          </a:p>
        </p:txBody>
      </p:sp>
      <p:graphicFrame>
        <p:nvGraphicFramePr>
          <p:cNvPr id="2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1463040"/>
                <a:gridCol w="1828800"/>
                <a:gridCol w="2587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数字(Q3 2026、前年比)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経営の重心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次の段階に移る条件と時期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会社全体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+44%・会員 +36%・製品 +44%、黒字、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32%・技術 14%、EBITDA 率 34%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スケール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(上端、加速)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 + クロスセル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+20% 未満・販促費率 28% 以下: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エンジンで 2028 年(収益 +18%)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Lending(貸出)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8.21 億ドル(+66%)、貢献利益率 55%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スケール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保有して NII を積む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自給率 1 以上: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エンジンで 2028 年(1.04)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Financial Services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5.25 億ドル(+25%)、NII +38%・非金利 +13%、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交換手数料 +77%、貢献利益率 46 → 50%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→ ③(底打ち)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投資(Plus・暗号資産・販促)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貢献利益率 50% 超の定着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Technology Platform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0.87 億ドル(前年比 −24%、大口を除き +18%)、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貢献利益率 16%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回復期 → 再成長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自社の預金基盤を移行、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 13 社(Q2)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前年比のプラス転換(Q1 2027)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note_phase"/>
          <p:cNvSpPr txBox="1"/>
          <p:nvPr/>
        </p:nvSpPr>
        <p:spPr>
          <a:xfrm>
            <a:off x="457200" y="5074920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会社全体の収益 +44% は ③ の目安(+20〜40%)を上回るが、判定を決めるのは構造(黒字化済み・獲得投資を回収中・律速が資本)。増収率は目安で、上端は加速中と読む</a:t>
            </a:r>
            <a:endParaRPr lang="en-US" sz="900" dirty="0"/>
          </a:p>
        </p:txBody>
      </p:sp>
      <p:sp>
        <p:nvSpPr>
          <p:cNvPr id="23" name="ovl_takeaway_bg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takeaway"/>
          <p:cNvSpPr txBox="1"/>
          <p:nvPr/>
        </p:nvSpPr>
        <p:spPr>
          <a:xfrm>
            <a:off x="566928" y="5468112"/>
            <a:ext cx="1105509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 ③ の ROTCE 約 10%(推定)は、販促費 32% と成長のための資本の使い方の結果。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水準ではなく傾き(EBITDA +70%、純利益 +73%)で読み、将来の構造と実現確率で補う(次ページ)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フェーズと二層の構造(2/2)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二層の構造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今の構造と、実現性を加味した将来の構造を並べ、実現確率で結ぶ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年の将来構造では 5 条件が A に上がるが、実現確率は 43〜59% 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60% に届かない。等級は B に上方の留保を付け、上振れは確率ツリーで数える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現在(2026 年)と、実現性を加味した将来(2028 年、事業エンジンの基準)。実現確率は節点ツリー(5-2)の同じ節点から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calc/A4_q3_memo.md の §2 二層の構造、calc/out/growth_v4.json の engine・tree・grade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構造の数字(エンジンの基準)</a:t>
            </a:r>
            <a:endParaRPr lang="en-US" sz="1200" dirty="0"/>
          </a:p>
        </p:txBody>
      </p:sp>
      <p:graphicFrame>
        <p:nvGraphicFramePr>
          <p:cNvPr id="29" name="tbl_nu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4572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収益の伸び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1,830 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2,730 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手数料型の比率(会社定義)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42%(Q3)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0.89(2027)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17.0%(Q3)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ovl_rulebox"/>
          <p:cNvSpPr/>
          <p:nvPr/>
        </p:nvSpPr>
        <p:spPr>
          <a:xfrm>
            <a:off x="457200" y="4572000"/>
            <a:ext cx="457200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4" name="note_rule"/>
          <p:cNvSpPr txBox="1"/>
          <p:nvPr/>
        </p:nvSpPr>
        <p:spPr>
          <a:xfrm>
            <a:off x="530352" y="4590288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統合の規則 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60% 以上かつ先行指標が 2 期 → 中間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40〜60% → 上方の留保 / 40% 未満 → 現在</a:t>
            </a:r>
            <a:endParaRPr lang="en-US" sz="900" dirty="0"/>
          </a:p>
        </p:txBody>
      </p:sp>
      <p:sp>
        <p:nvSpPr>
          <p:cNvPr id="25" name="pane_head"/>
          <p:cNvSpPr txBox="1"/>
          <p:nvPr/>
        </p:nvSpPr>
        <p:spPr>
          <a:xfrm>
            <a:off x="5257800" y="1481328"/>
            <a:ext cx="647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 × 現在 × 将来 × 実現確率 × 統合</a:t>
            </a:r>
            <a:endParaRPr lang="en-US" sz="1200" dirty="0"/>
          </a:p>
        </p:txBody>
      </p:sp>
      <p:graphicFrame>
        <p:nvGraphicFramePr>
          <p:cNvPr id="57" name="tbl_lay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810512"/>
          <a:ext cx="64739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02920"/>
                <a:gridCol w="502920"/>
                <a:gridCol w="777240"/>
                <a:gridCol w="685800"/>
                <a:gridCol w="1600200"/>
                <a:gridCol w="9875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決める節点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実現確率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先行指標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競争優位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純増の過去最高・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上方修正の記録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コア事業の CF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N1・N2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推定 10% → 13%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資産の転用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大口を除き +18%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 コモディティでない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 模倣困難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 収益の性格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N2・N4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 42%(1 四半期)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 アーキタイプ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の割合 29% のまま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ovl_takeaway_bg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566928" y="5422392"/>
            <a:ext cx="1105509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から将来 A に上がる条件は 5 つあるが、実現確率は 43〜59% で 60% に届かない。等級は B に上方の留保を付け、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上振れは確率ツリーの組み合わせごとに構造を判定して価値に入れる(強気は構造 A・PEG 1.4、弱気は構造 C・PEG 1.0)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成長エンジン(1/2)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成長エンジン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→ 主口座化 → クロスセルの連鎖が回っているかで、成長投資の価値が決まる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販促費で会員を取り、主口座にし、クロスセルで製品を重ねる連鎖が回る。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製品当たり獲得費は 202 ドルに上がったが量は過去最高。律速は自己資本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の獲得と関係 → 収益化 → 資金と資本。①〜⑥ は右と対応。数値は Q3 2026(販促費は年換算)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research_r5/Q3_datasheet.md、会社開示(Q3 2026)、calc/out/growth_v4.json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29</a:t>
            </a:r>
            <a:endParaRPr lang="en-US" sz="800" dirty="0"/>
          </a:p>
        </p:txBody>
      </p:sp>
      <p:sp>
        <p:nvSpPr>
          <p:cNvPr id="21" name="bg_lane0"/>
          <p:cNvSpPr/>
          <p:nvPr/>
        </p:nvSpPr>
        <p:spPr>
          <a:xfrm>
            <a:off x="347472" y="1517904"/>
            <a:ext cx="149961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bg_laneh0"/>
          <p:cNvSpPr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bg_lanet0"/>
          <p:cNvSpPr txBox="1"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4" name="bg_lane1"/>
          <p:cNvSpPr/>
          <p:nvPr/>
        </p:nvSpPr>
        <p:spPr>
          <a:xfrm>
            <a:off x="2481072" y="1517904"/>
            <a:ext cx="386181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bg_laneh1"/>
          <p:cNvSpPr/>
          <p:nvPr/>
        </p:nvSpPr>
        <p:spPr>
          <a:xfrm>
            <a:off x="2481072" y="1517904"/>
            <a:ext cx="386181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6" name="bg_lanet1"/>
          <p:cNvSpPr txBox="1"/>
          <p:nvPr/>
        </p:nvSpPr>
        <p:spPr>
          <a:xfrm>
            <a:off x="2481072" y="1517904"/>
            <a:ext cx="3861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の成長エンジン</a:t>
            </a:r>
            <a:endParaRPr lang="en-US" sz="950" dirty="0"/>
          </a:p>
        </p:txBody>
      </p:sp>
      <p:sp>
        <p:nvSpPr>
          <p:cNvPr id="27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資金と資本</a:t>
            </a:r>
            <a:endParaRPr lang="en-US" sz="950" dirty="0"/>
          </a:p>
        </p:txBody>
      </p:sp>
      <p:sp>
        <p:nvSpPr>
          <p:cNvPr id="30" name="ovl_grp0"/>
          <p:cNvSpPr/>
          <p:nvPr/>
        </p:nvSpPr>
        <p:spPr>
          <a:xfrm>
            <a:off x="2526792" y="1911096"/>
            <a:ext cx="1499616" cy="3783439"/>
          </a:xfrm>
          <a:prstGeom prst="roundRect">
            <a:avLst>
              <a:gd name="adj" fmla="val 36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1" name="ovl_grp1"/>
          <p:cNvSpPr/>
          <p:nvPr/>
        </p:nvSpPr>
        <p:spPr>
          <a:xfrm>
            <a:off x="4751832" y="1911096"/>
            <a:ext cx="1545336" cy="3783439"/>
          </a:xfrm>
          <a:prstGeom prst="roundRect">
            <a:avLst>
              <a:gd name="adj" fmla="val 35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s15a_e0_0"/>
          <p:cNvSpPr/>
          <p:nvPr/>
        </p:nvSpPr>
        <p:spPr>
          <a:xfrm flipH="1">
            <a:off x="1737360" y="3802815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3" name="ovl_s15a_e1_0"/>
          <p:cNvSpPr/>
          <p:nvPr/>
        </p:nvSpPr>
        <p:spPr>
          <a:xfrm flipV="1">
            <a:off x="731520" y="2680934"/>
            <a:ext cx="914" cy="73783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15a_e2_0"/>
          <p:cNvSpPr/>
          <p:nvPr/>
        </p:nvSpPr>
        <p:spPr>
          <a:xfrm>
            <a:off x="1737360" y="2351750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15a_e3_0"/>
          <p:cNvSpPr/>
          <p:nvPr/>
        </p:nvSpPr>
        <p:spPr>
          <a:xfrm>
            <a:off x="3962400" y="2351750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5a_e4_0"/>
          <p:cNvSpPr/>
          <p:nvPr/>
        </p:nvSpPr>
        <p:spPr>
          <a:xfrm>
            <a:off x="1737360" y="5253881"/>
            <a:ext cx="8534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7" name="ovl_s15a_e5_0"/>
          <p:cNvSpPr/>
          <p:nvPr/>
        </p:nvSpPr>
        <p:spPr>
          <a:xfrm>
            <a:off x="3962400" y="5253881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5a_e6_0"/>
          <p:cNvSpPr/>
          <p:nvPr/>
        </p:nvSpPr>
        <p:spPr>
          <a:xfrm flipV="1">
            <a:off x="3002280" y="4186863"/>
            <a:ext cx="914" cy="73783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15a_e7_0"/>
          <p:cNvSpPr/>
          <p:nvPr/>
        </p:nvSpPr>
        <p:spPr>
          <a:xfrm>
            <a:off x="6233160" y="2351750"/>
            <a:ext cx="8534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15a_e8_0"/>
          <p:cNvSpPr/>
          <p:nvPr/>
        </p:nvSpPr>
        <p:spPr>
          <a:xfrm>
            <a:off x="5524500" y="2680934"/>
            <a:ext cx="914" cy="371421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15a_e9_0"/>
          <p:cNvSpPr/>
          <p:nvPr/>
        </p:nvSpPr>
        <p:spPr>
          <a:xfrm>
            <a:off x="6233160" y="3381538"/>
            <a:ext cx="8534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2" name="ovl_s15a_n_dd"/>
          <p:cNvSpPr/>
          <p:nvPr/>
        </p:nvSpPr>
        <p:spPr>
          <a:xfrm>
            <a:off x="457200" y="2022566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3" name="ovl_s15a_nt_dd"/>
          <p:cNvSpPr txBox="1"/>
          <p:nvPr/>
        </p:nvSpPr>
        <p:spPr>
          <a:xfrm>
            <a:off x="493776" y="204999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4" name="ovl_s15a_ns_dd"/>
          <p:cNvSpPr txBox="1"/>
          <p:nvPr/>
        </p:nvSpPr>
        <p:spPr>
          <a:xfrm>
            <a:off x="502920" y="2255738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給与振込の比率は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未開示(主口座)</a:t>
            </a:r>
            <a:endParaRPr lang="en-US" sz="850" dirty="0"/>
          </a:p>
        </p:txBody>
      </p:sp>
      <p:sp>
        <p:nvSpPr>
          <p:cNvPr id="45" name="ovl_s15a_n_newm"/>
          <p:cNvSpPr/>
          <p:nvPr/>
        </p:nvSpPr>
        <p:spPr>
          <a:xfrm>
            <a:off x="457200" y="3418767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15a_nt_newm"/>
          <p:cNvSpPr txBox="1"/>
          <p:nvPr/>
        </p:nvSpPr>
        <p:spPr>
          <a:xfrm>
            <a:off x="493776" y="3446199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新しい会員</a:t>
            </a:r>
            <a:endParaRPr lang="en-US" sz="1000" dirty="0"/>
          </a:p>
        </p:txBody>
      </p:sp>
      <p:sp>
        <p:nvSpPr>
          <p:cNvPr id="47" name="ovl_s15a_ns_newm"/>
          <p:cNvSpPr txBox="1"/>
          <p:nvPr/>
        </p:nvSpPr>
        <p:spPr>
          <a:xfrm>
            <a:off x="502920" y="3651939"/>
            <a:ext cx="118872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120 万人/四半期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370 ドル</a:t>
            </a:r>
            <a:endParaRPr lang="en-US" sz="850" dirty="0"/>
          </a:p>
        </p:txBody>
      </p:sp>
      <p:sp>
        <p:nvSpPr>
          <p:cNvPr id="48" name="ovl_s15a_n_ex"/>
          <p:cNvSpPr/>
          <p:nvPr/>
        </p:nvSpPr>
        <p:spPr>
          <a:xfrm>
            <a:off x="457200" y="4924697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15a_nt_ex"/>
          <p:cNvSpPr txBox="1"/>
          <p:nvPr/>
        </p:nvSpPr>
        <p:spPr>
          <a:xfrm>
            <a:off x="493776" y="4952129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1000" dirty="0"/>
          </a:p>
        </p:txBody>
      </p:sp>
      <p:sp>
        <p:nvSpPr>
          <p:cNvPr id="50" name="ovl_s15a_ns_ex"/>
          <p:cNvSpPr txBox="1"/>
          <p:nvPr/>
        </p:nvSpPr>
        <p:spPr>
          <a:xfrm>
            <a:off x="502920" y="5157869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1,710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</a:t>
            </a:r>
            <a:endParaRPr lang="en-US" sz="850" dirty="0"/>
          </a:p>
        </p:txBody>
      </p:sp>
      <p:sp>
        <p:nvSpPr>
          <p:cNvPr id="51" name="ovl_s15a_n_money"/>
          <p:cNvSpPr/>
          <p:nvPr/>
        </p:nvSpPr>
        <p:spPr>
          <a:xfrm>
            <a:off x="2590800" y="202256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2" name="ovl_s15a_nt_money"/>
          <p:cNvSpPr txBox="1"/>
          <p:nvPr/>
        </p:nvSpPr>
        <p:spPr>
          <a:xfrm>
            <a:off x="2627376" y="2049998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3" name="ovl_s15a_ns_money"/>
          <p:cNvSpPr txBox="1"/>
          <p:nvPr/>
        </p:nvSpPr>
        <p:spPr>
          <a:xfrm>
            <a:off x="2636520" y="2255738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平均金利は未開示</a:t>
            </a:r>
            <a:endParaRPr lang="en-US" sz="850" dirty="0"/>
          </a:p>
        </p:txBody>
      </p:sp>
      <p:sp>
        <p:nvSpPr>
          <p:cNvPr id="54" name="ovl_s15a_n_sm"/>
          <p:cNvSpPr/>
          <p:nvPr/>
        </p:nvSpPr>
        <p:spPr>
          <a:xfrm>
            <a:off x="2590800" y="3418767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5" name="ovl_s15a_nt_sm"/>
          <p:cNvSpPr txBox="1"/>
          <p:nvPr/>
        </p:nvSpPr>
        <p:spPr>
          <a:xfrm>
            <a:off x="2627376" y="3446199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販促・ブランド</a:t>
            </a:r>
            <a:endParaRPr lang="en-US" sz="1000" dirty="0"/>
          </a:p>
        </p:txBody>
      </p:sp>
      <p:sp>
        <p:nvSpPr>
          <p:cNvPr id="56" name="ovl_s15a_ns_sm"/>
          <p:cNvSpPr txBox="1"/>
          <p:nvPr/>
        </p:nvSpPr>
        <p:spPr>
          <a:xfrm>
            <a:off x="2636520" y="3651939"/>
            <a:ext cx="128016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17.8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(収益の 32%)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認知度 10.4%(Q2)</a:t>
            </a:r>
            <a:endParaRPr lang="en-US" sz="850" dirty="0"/>
          </a:p>
        </p:txBody>
      </p:sp>
      <p:sp>
        <p:nvSpPr>
          <p:cNvPr id="57" name="ovl_s15a_n_cross"/>
          <p:cNvSpPr/>
          <p:nvPr/>
        </p:nvSpPr>
        <p:spPr>
          <a:xfrm>
            <a:off x="2590800" y="4924697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5a_nt_cross"/>
          <p:cNvSpPr txBox="1"/>
          <p:nvPr/>
        </p:nvSpPr>
        <p:spPr>
          <a:xfrm>
            <a:off x="2627376" y="4952129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9" name="ovl_s15a_ns_cross"/>
          <p:cNvSpPr txBox="1"/>
          <p:nvPr/>
        </p:nvSpPr>
        <p:spPr>
          <a:xfrm>
            <a:off x="2636520" y="5157869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 年前 40%)</a:t>
            </a:r>
            <a:endParaRPr lang="en-US" sz="850" dirty="0"/>
          </a:p>
        </p:txBody>
      </p:sp>
      <p:sp>
        <p:nvSpPr>
          <p:cNvPr id="60" name="ovl_s15a_n_bs"/>
          <p:cNvSpPr/>
          <p:nvPr/>
        </p:nvSpPr>
        <p:spPr>
          <a:xfrm>
            <a:off x="4815840" y="202256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1" name="ovl_s15a_nt_bs"/>
          <p:cNvSpPr txBox="1"/>
          <p:nvPr/>
        </p:nvSpPr>
        <p:spPr>
          <a:xfrm>
            <a:off x="4852416" y="204999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62" name="ovl_s15a_ns_bs"/>
          <p:cNvSpPr txBox="1"/>
          <p:nvPr/>
        </p:nvSpPr>
        <p:spPr>
          <a:xfrm>
            <a:off x="4861560" y="2255738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6.14%</a:t>
            </a:r>
            <a:endParaRPr lang="en-US" sz="850" dirty="0"/>
          </a:p>
        </p:txBody>
      </p:sp>
      <p:sp>
        <p:nvSpPr>
          <p:cNvPr id="63" name="ovl_s15a_n_lpb"/>
          <p:cNvSpPr/>
          <p:nvPr/>
        </p:nvSpPr>
        <p:spPr>
          <a:xfrm>
            <a:off x="4815840" y="3052354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15a_nt_lpb"/>
          <p:cNvSpPr txBox="1"/>
          <p:nvPr/>
        </p:nvSpPr>
        <p:spPr>
          <a:xfrm>
            <a:off x="4852416" y="3079786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65" name="ovl_s15a_ns_lpb"/>
          <p:cNvSpPr txBox="1"/>
          <p:nvPr/>
        </p:nvSpPr>
        <p:spPr>
          <a:xfrm>
            <a:off x="4861560" y="3285526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配分 49% → 29%</a:t>
            </a:r>
            <a:endParaRPr lang="en-US" sz="850" dirty="0"/>
          </a:p>
        </p:txBody>
      </p:sp>
      <p:sp>
        <p:nvSpPr>
          <p:cNvPr id="66" name="ovl_s15a_n_tp"/>
          <p:cNvSpPr/>
          <p:nvPr/>
        </p:nvSpPr>
        <p:spPr>
          <a:xfrm>
            <a:off x="4815840" y="3942806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15a_nt_tp"/>
          <p:cNvSpPr txBox="1"/>
          <p:nvPr/>
        </p:nvSpPr>
        <p:spPr>
          <a:xfrm>
            <a:off x="4852416" y="3970238"/>
            <a:ext cx="1344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endParaRPr lang="en-US" sz="900" dirty="0"/>
          </a:p>
        </p:txBody>
      </p:sp>
      <p:sp>
        <p:nvSpPr>
          <p:cNvPr id="68" name="ovl_s15a_ns_tp"/>
          <p:cNvSpPr txBox="1"/>
          <p:nvPr/>
        </p:nvSpPr>
        <p:spPr>
          <a:xfrm>
            <a:off x="4861560" y="4326854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大口を除き +18%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自社コアへ移行</a:t>
            </a:r>
            <a:endParaRPr lang="en-US" sz="850" dirty="0"/>
          </a:p>
        </p:txBody>
      </p:sp>
      <p:sp>
        <p:nvSpPr>
          <p:cNvPr id="69" name="ovl_s15a_n_fees"/>
          <p:cNvSpPr/>
          <p:nvPr/>
        </p:nvSpPr>
        <p:spPr>
          <a:xfrm>
            <a:off x="4815840" y="4924697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15a_nt_fees"/>
          <p:cNvSpPr txBox="1"/>
          <p:nvPr/>
        </p:nvSpPr>
        <p:spPr>
          <a:xfrm>
            <a:off x="4852416" y="4952129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1" name="ovl_s15a_ns_fees"/>
          <p:cNvSpPr txBox="1"/>
          <p:nvPr/>
        </p:nvSpPr>
        <p:spPr>
          <a:xfrm>
            <a:off x="4861560" y="5157869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 +40%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42%</a:t>
            </a:r>
            <a:endParaRPr lang="en-US" sz="850" dirty="0"/>
          </a:p>
        </p:txBody>
      </p:sp>
      <p:sp>
        <p:nvSpPr>
          <p:cNvPr id="72" name="ovl_s15a_n_cap"/>
          <p:cNvSpPr/>
          <p:nvPr/>
        </p:nvSpPr>
        <p:spPr>
          <a:xfrm>
            <a:off x="7086600" y="202256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15a_nt_cap"/>
          <p:cNvSpPr txBox="1"/>
          <p:nvPr/>
        </p:nvSpPr>
        <p:spPr>
          <a:xfrm>
            <a:off x="7123176" y="2049998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4" name="ovl_s15a_ns_cap"/>
          <p:cNvSpPr txBox="1"/>
          <p:nvPr/>
        </p:nvSpPr>
        <p:spPr>
          <a:xfrm>
            <a:off x="7132320" y="2255738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17.0%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 0.89(2027)</a:t>
            </a:r>
            <a:endParaRPr lang="en-US" sz="850" dirty="0"/>
          </a:p>
        </p:txBody>
      </p:sp>
      <p:sp>
        <p:nvSpPr>
          <p:cNvPr id="75" name="ovl_s15a_n_buyers"/>
          <p:cNvSpPr/>
          <p:nvPr/>
        </p:nvSpPr>
        <p:spPr>
          <a:xfrm>
            <a:off x="7086600" y="3052354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6" name="ovl_s15a_nt_buyers"/>
          <p:cNvSpPr txBox="1"/>
          <p:nvPr/>
        </p:nvSpPr>
        <p:spPr>
          <a:xfrm>
            <a:off x="7123176" y="3079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77" name="ovl_s15a_ns_buyers"/>
          <p:cNvSpPr txBox="1"/>
          <p:nvPr/>
        </p:nvSpPr>
        <p:spPr>
          <a:xfrm>
            <a:off x="7132320" y="3285526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78" name="ovl_s15a_lab0"/>
          <p:cNvSpPr txBox="1"/>
          <p:nvPr/>
        </p:nvSpPr>
        <p:spPr>
          <a:xfrm>
            <a:off x="1916849" y="3569643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</a:t>
            </a:r>
            <a:endParaRPr lang="en-US" sz="850" dirty="0"/>
          </a:p>
        </p:txBody>
      </p:sp>
      <p:sp>
        <p:nvSpPr>
          <p:cNvPr id="79" name="ovl_s15a_lab1"/>
          <p:cNvSpPr txBox="1"/>
          <p:nvPr/>
        </p:nvSpPr>
        <p:spPr>
          <a:xfrm>
            <a:off x="777240" y="2946981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0" name="ovl_s15a_lab2"/>
          <p:cNvSpPr txBox="1"/>
          <p:nvPr/>
        </p:nvSpPr>
        <p:spPr>
          <a:xfrm>
            <a:off x="1876044" y="211857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</a:t>
            </a:r>
            <a:endParaRPr lang="en-US" sz="850" dirty="0"/>
          </a:p>
        </p:txBody>
      </p:sp>
      <p:sp>
        <p:nvSpPr>
          <p:cNvPr id="81" name="ovl_s15a_lab3"/>
          <p:cNvSpPr txBox="1"/>
          <p:nvPr/>
        </p:nvSpPr>
        <p:spPr>
          <a:xfrm>
            <a:off x="4141889" y="2118578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</a:t>
            </a:r>
            <a:endParaRPr lang="en-US" sz="850" dirty="0"/>
          </a:p>
        </p:txBody>
      </p:sp>
      <p:sp>
        <p:nvSpPr>
          <p:cNvPr id="82" name="ovl_s15a_lab4"/>
          <p:cNvSpPr txBox="1"/>
          <p:nvPr/>
        </p:nvSpPr>
        <p:spPr>
          <a:xfrm>
            <a:off x="1741970" y="5020709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83" name="ovl_s15a_lab5"/>
          <p:cNvSpPr txBox="1"/>
          <p:nvPr/>
        </p:nvSpPr>
        <p:spPr>
          <a:xfrm>
            <a:off x="4159377" y="5020709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4" name="ovl_s15a_lab6"/>
          <p:cNvSpPr txBox="1"/>
          <p:nvPr/>
        </p:nvSpPr>
        <p:spPr>
          <a:xfrm>
            <a:off x="3048000" y="4382044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獲得費 202 ドル</a:t>
            </a:r>
            <a:endParaRPr lang="en-US" sz="850" dirty="0"/>
          </a:p>
        </p:txBody>
      </p:sp>
      <p:sp>
        <p:nvSpPr>
          <p:cNvPr id="85" name="ovl_s15a_lab7"/>
          <p:cNvSpPr txBox="1"/>
          <p:nvPr/>
        </p:nvSpPr>
        <p:spPr>
          <a:xfrm>
            <a:off x="6266688" y="1976846"/>
            <a:ext cx="786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850" dirty="0"/>
          </a:p>
        </p:txBody>
      </p:sp>
      <p:sp>
        <p:nvSpPr>
          <p:cNvPr id="86" name="ovl_s15a_lab8"/>
          <p:cNvSpPr txBox="1"/>
          <p:nvPr/>
        </p:nvSpPr>
        <p:spPr>
          <a:xfrm>
            <a:off x="5570220" y="2763774"/>
            <a:ext cx="92583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87" name="ovl_s15a_lab9"/>
          <p:cNvSpPr txBox="1"/>
          <p:nvPr/>
        </p:nvSpPr>
        <p:spPr>
          <a:xfrm>
            <a:off x="6371844" y="3148366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88" name="ovl_s15a_glab0"/>
          <p:cNvSpPr txBox="1"/>
          <p:nvPr/>
        </p:nvSpPr>
        <p:spPr>
          <a:xfrm>
            <a:off x="261823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獲得と関係</a:t>
            </a:r>
            <a:endParaRPr lang="en-US" sz="800" dirty="0"/>
          </a:p>
        </p:txBody>
      </p:sp>
      <p:sp>
        <p:nvSpPr>
          <p:cNvPr id="89" name="ovl_s15a_glab1"/>
          <p:cNvSpPr txBox="1"/>
          <p:nvPr/>
        </p:nvSpPr>
        <p:spPr>
          <a:xfrm>
            <a:off x="4843272" y="1828800"/>
            <a:ext cx="4511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収益化</a:t>
            </a:r>
            <a:endParaRPr lang="en-US" sz="800" dirty="0"/>
          </a:p>
        </p:txBody>
      </p:sp>
      <p:sp>
        <p:nvSpPr>
          <p:cNvPr id="90" name="ovl_s15a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1" name="ovl_s15a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2" name="ovl_s15a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3" name="ovl_s15a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94" name="ovl_s15a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15a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15a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15a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15a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0" name="mech"/>
          <p:cNvSpPr txBox="1"/>
          <p:nvPr/>
        </p:nvSpPr>
        <p:spPr>
          <a:xfrm>
            <a:off x="8458200" y="1810512"/>
            <a:ext cx="3276295" cy="2694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販促費で会員を取る(年 17.8 億、収益比 32%)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120 万人、会員当たり 370 ドル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新しい会員が給与振込を設定して主口座になる。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給与振込の比率は Q3 では未開示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安い預金(倉庫ラインより 1.45pt 安い)が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貸出を支え、NIM 6.14%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既存会員が製品を足す。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クロスバイは 1 年で 40% → 51%。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製品純増 220 万件の過半が既存会員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 で製品当たり獲得費は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 ドル(会員当たり 370 ドルの約半分)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ただし貸出は自己資本を使う。自給率は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0.89(2027)、LPB 配分は 49% → 29%</a:t>
            </a:r>
            <a:endParaRPr lang="en-US" sz="1050" dirty="0"/>
          </a:p>
        </p:txBody>
      </p:sp>
      <p:sp>
        <p:nvSpPr>
          <p:cNvPr id="101" name="ovl_takeaway_bg"/>
          <p:cNvSpPr/>
          <p:nvPr/>
        </p:nvSpPr>
        <p:spPr>
          <a:xfrm>
            <a:off x="8458200" y="4578096"/>
            <a:ext cx="3276295" cy="84734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2" name="takeaway"/>
          <p:cNvSpPr txBox="1"/>
          <p:nvPr/>
        </p:nvSpPr>
        <p:spPr>
          <a:xfrm>
            <a:off x="8567928" y="4651248"/>
            <a:ext cx="3056839" cy="701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連鎖は回っている(純増の過去最高、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51%)。律速は預金ではなく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103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 330 ドル以下と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50% 超が続けば成長の価値が上がる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会員当たり販促費の上昇が続き、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の配分が戻らなければ成長は資本で止まる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成長エンジン(2/2)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成長段階の尺度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現在の利益率ではなく、成長段階の尺度で構造の強さと弱さを仕分ける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つの尺度ではクロスセルと B2B 基盤の再成長(A)が強く、資本の転換と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新技術の効果(C)が弱い。段階の弱さは監視に回す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成長段階の尺度 G1〜G8。判定は S〜F(G2 は攻め/混合/必要)。段階: 預金・FS は獲得期、貸出は転換期の手前、Tech Platform は失注後の回復期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research_r5/Q3_datasheet.md、calc/out/growth_v4.json、calc/A4_q3_memo.md、銘柄分析メソッド growth-stage-evaluation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</a:t>
            </a:r>
            <a:endParaRPr lang="en-US" sz="800" dirty="0"/>
          </a:p>
        </p:txBody>
      </p:sp>
      <p:graphicFrame>
        <p:nvGraphicFramePr>
          <p:cNvPr id="3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840480"/>
                <a:gridCol w="914400"/>
                <a:gridCol w="20391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尺度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何を見るか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 条件への効き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G1 単位経済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 1 単位の採算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 人の年間収益 337 ドル・獲得費 370 ドル、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 約 2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G2 獲得投資の裁量性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攻めか、必要に迫られた支出か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+55%、収益比 32% で横ばい。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は増収で作った(削っていない)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条件2・6・7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G3 切替コスト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+58 億ドル、交換手数料 +77%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G4 クロスセル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獲得済みの会員が生む将来の収益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 51%、製品 +44%、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会員 1.56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G5 資本の転換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自給率 0.89(2027)、LPB 29%、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 42%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条件2・13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G6 B2B 基盤の段階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失注 → 底打ち → 信頼獲得 → 再成長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大口を除き +18%、貢献利益率 14 → 16%、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1.40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条件3・10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G7 コスト構造の変化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新技術の費用効果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は会員向け 5/27 開始、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収益は未開示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G8 組み合わせと資本コスト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 × フィンテック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倉庫ライン比 −1.45pt、節約 年 7.45 億、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β 1.93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条件1・2・11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強いのはクロスセルと B2B 基盤の再成長(A)。弱いのは資本の転換と新技術の効果(C)で、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どちらも成長段階の弱さとして監視 KPI に置く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獲得投資と資本(1/2)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9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9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獲得投資の裁量性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82774" y="356616"/>
            <a:ext cx="9351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は販促費の出し入れで調整できる。攻めの投資か、必要に迫られた支出かを見分ける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+55% は「攻め」のまま。Q3 は販促費を増やしても増収で EPS 0.18 を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達成し、EPS の調整弁は販促費より資本(B/S の伸び)だと分かった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純増 1 件当たりの販促費(ドル、販促費 ÷ 純増。ローンのリード費・既存会員向けの特典を含むため上限寄り)。右: 6 つの検査と EPS への効き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の 8-K・説明会の要約)、research_r3/R10_growth_engine_cac.md(Q1 2024〜Q2 2026 の系列)、calc/out/growth_v4.json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31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 件当たりの販促費(ドル)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note_q2"/>
          <p:cNvSpPr txBox="1"/>
          <p:nvPr/>
        </p:nvSpPr>
        <p:spPr>
          <a:xfrm>
            <a:off x="457200" y="4846320"/>
            <a:ext cx="5760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2026: 会員当たり 370 ドル(前期比 +4%)、製品当たり 202 ドル(前期比 +13%)。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新規会員の製品当たりは Q3 未開示。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製品の純増 220 万件の 51% は既存会員が開いた(獲得費がほぼかからない)</a:t>
            </a:r>
            <a:endParaRPr lang="en-US" sz="900" dirty="0"/>
          </a:p>
        </p:txBody>
      </p:sp>
      <p:sp>
        <p:nvSpPr>
          <p:cNvPr id="24" name="ovl_takeaway_bg"/>
          <p:cNvSpPr/>
          <p:nvPr/>
        </p:nvSpPr>
        <p:spPr>
          <a:xfrm>
            <a:off x="457200" y="5394960"/>
            <a:ext cx="5760720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566928" y="5468112"/>
            <a:ext cx="5541264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販促費は攻めのまま増やし、増収で EPS を作った。EPS の調整弁は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販促費ではなく B/S の伸び(資本)。2027 年は資本の上限が効く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つの検査(攻めか、必要に迫られた支出か)</a:t>
            </a:r>
            <a:endParaRPr lang="en-US" sz="1200" dirty="0"/>
          </a:p>
        </p:txBody>
      </p:sp>
      <p:graphicFrame>
        <p:nvGraphicFramePr>
          <p:cNvPr id="3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の材料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限界 CAC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 +4%(357 → 370)、製品当たり +13%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混合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解約・休眠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基本金利 3.30% 据え置き、新規は上乗せ +1.10%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(新規の獲得に金利を使い始めた)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+55%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(Chime +25%、Robinhood の営業費用 +33%)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経営の運用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売上計画を上げ、EBITDA 率は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33〜34% → 32.9%(再投資)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有機的な獲得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認知度 10.4%(Q2)、クロスバイ 51%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</a:tbl>
          </a:graphicData>
        </a:graphic>
      </p:graphicFrame>
      <p:sp>
        <p:nvSpPr>
          <p:cNvPr id="28" name="pane_head"/>
          <p:cNvSpPr txBox="1"/>
          <p:nvPr/>
        </p:nvSpPr>
        <p:spPr>
          <a:xfrm>
            <a:off x="6446520" y="431596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への効き(経営が出し入れできる部分)</a:t>
            </a:r>
            <a:endParaRPr lang="en-US" sz="1200" dirty="0"/>
          </a:p>
        </p:txBody>
      </p:sp>
      <p:graphicFrame>
        <p:nvGraphicFramePr>
          <p:cNvPr id="6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4645152"/>
          <a:ext cx="52852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33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1pt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約 0.028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(2026 年の収益 50.4 億)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の実績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+0.52 億ドルでも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+0.06(増収で)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年見通し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販促費率を大きく下げずに EPS 0.90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獲得投資と資本(2/2)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33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33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単位経済と資本の転換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36774" y="356616"/>
            <a:ext cx="9097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1 単位の採算と、成長を自前の資本で賄えるかを確かめる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 人の年間収益 337 ドルに対し獲得費は 370 ドルで、回収は約 2 年。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自己資本の自給率は 2027 年 0.89 で、LPB への配分は 29% のまま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獲得 1 単位の採算(G1。資本コストと税を引き、株主資本コスト 13.9% で割り引いた経済的 LTV)。右: 自己資本の自給率と LPB への配分(G5)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calc/out/growth_v4.json(unit・self_suff)、research_r3/R10・R12(LTV/CAC の基準)、research_r5/Q3_datasheet.md(Q3 の 8-K・説明会の要約)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32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単位経済(G1)</a:t>
            </a:r>
            <a:endParaRPr lang="en-US" sz="1200" dirty="0"/>
          </a:p>
        </p:txBody>
      </p:sp>
      <p:graphicFrame>
        <p:nvGraphicFramePr>
          <p:cNvPr id="3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計算の流れ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 人の年間収益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337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販促費控除前の税引前利益率(推定)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54%(利益 約 183 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 人の獲得費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370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回収(獲得費 ÷ 年の利益)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2.0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457200" y="3611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LTV/CAC(計算の基準は Q2 時点)</a:t>
            </a:r>
            <a:endParaRPr lang="en-US" sz="1200" dirty="0"/>
          </a:p>
        </p:txBody>
      </p:sp>
      <p:graphicFrame>
        <p:nvGraphicFramePr>
          <p:cNvPr id="6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59352"/>
          <a:ext cx="5760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"/>
                <a:gridCol w="86868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CAC の基準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85%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90%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95%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成長分の販促費(6.4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販促費の全額(13.2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製品単位の検算(Q2 の 178 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3.1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457200" y="5440680"/>
            <a:ext cx="5760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注: 1 倍を超えれば資本コスト以上の価値を生む。維持水準の販促費は売上の 16% と置いた。Q3 の獲得費で回収は約 2 年</a:t>
            </a:r>
            <a:endParaRPr lang="en-US" sz="9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資本の転換(G5)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1810512"/>
            <a:ext cx="52852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個人ローン組成のうち LPB に回した割合(%)</a:t>
            </a:r>
            <a:endParaRPr lang="en-US" sz="950" dirty="0"/>
          </a:p>
        </p:txBody>
      </p:sp>
      <p:graphicFrame>
        <p:nvGraphicFramePr>
          <p:cNvPr id="28" name="chart" descr=""/>
          <p:cNvGraphicFramePr/>
          <p:nvPr/>
        </p:nvGraphicFramePr>
        <p:xfrm>
          <a:off x="6446520" y="2057400"/>
          <a:ext cx="5285232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77640"/>
          <a:ext cx="52852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992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自己資本の自給率(エンジン)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 0.89・2028 年 1.04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手数料型収益の比率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36%(Q1)→ 42%(Q3)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年の成長は余剰資本と内部留保で賄い、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増資は不要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6446520" y="5440680"/>
            <a:ext cx="528523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6556248" y="5513832"/>
            <a:ext cx="50657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1 単位は約 2 年で回収し、価値を生む。資本の転換は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配分(LPB 29%)ではなく手数料の多様化で先に進んだ。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資本の下限が 2027 年前半の試験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段階とオプション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29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B2B 基盤と新技術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76424" y="356616"/>
            <a:ext cx="9358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前年比では見えない回復の段階と、新しい決済網のコスト効果を確かめる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は大口顧客を除き前年比 +18%、貢献利益率は 14 → 16%。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底打ちから再成長の入口へ。SoFiUSD は会員向けに始まり収益は未開示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Tech Platform の四半期収益(百万ドル)と段階(G6)。右: SoFiUSD の稼働状況と費用効果の感応度(G7、算術のみ)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の 8-K・説明会の要約)、research_r3/R11_techplatform_sofiusd.md(SoFiUSD の発行・会員向け提供)、calc/out/growth_v4.json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の収益(百万ドル)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flow_h0"/>
          <p:cNvSpPr txBox="1"/>
          <p:nvPr/>
        </p:nvSpPr>
        <p:spPr>
          <a:xfrm>
            <a:off x="45720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失注</a:t>
            </a:r>
            <a:endParaRPr lang="en-US" sz="1100" dirty="0"/>
          </a:p>
        </p:txBody>
      </p:sp>
      <p:sp>
        <p:nvSpPr>
          <p:cNvPr id="24" name="ovl_fbox0_0"/>
          <p:cNvSpPr/>
          <p:nvPr/>
        </p:nvSpPr>
        <p:spPr>
          <a:xfrm>
            <a:off x="45720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0"/>
          <p:cNvSpPr txBox="1"/>
          <p:nvPr/>
        </p:nvSpPr>
        <p:spPr>
          <a:xfrm>
            <a:off x="53035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大口顧客が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年末に離脱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(Q1 前年比 −27%)</a:t>
            </a:r>
            <a:endParaRPr lang="en-US" sz="950" dirty="0"/>
          </a:p>
        </p:txBody>
      </p:sp>
      <p:sp>
        <p:nvSpPr>
          <p:cNvPr id="26" name="ovl_farrow0"/>
          <p:cNvSpPr/>
          <p:nvPr/>
        </p:nvSpPr>
        <p:spPr>
          <a:xfrm>
            <a:off x="173278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flow_h1"/>
          <p:cNvSpPr txBox="1"/>
          <p:nvPr/>
        </p:nvSpPr>
        <p:spPr>
          <a:xfrm>
            <a:off x="196596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底打ち(Q1・Q2)</a:t>
            </a:r>
            <a:endParaRPr lang="en-US" sz="1100" dirty="0"/>
          </a:p>
        </p:txBody>
      </p:sp>
      <p:sp>
        <p:nvSpPr>
          <p:cNvPr id="28" name="ovl_fbox1_0"/>
          <p:cNvSpPr/>
          <p:nvPr/>
        </p:nvSpPr>
        <p:spPr>
          <a:xfrm>
            <a:off x="196596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9" name="flow_t1_0"/>
          <p:cNvSpPr txBox="1"/>
          <p:nvPr/>
        </p:nvSpPr>
        <p:spPr>
          <a:xfrm>
            <a:off x="203911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+12.5%(Q2)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大口離脱後の底</a:t>
            </a:r>
            <a:endParaRPr lang="en-US" sz="950" dirty="0"/>
          </a:p>
        </p:txBody>
      </p:sp>
      <p:sp>
        <p:nvSpPr>
          <p:cNvPr id="30" name="ovl_farrow1"/>
          <p:cNvSpPr/>
          <p:nvPr/>
        </p:nvSpPr>
        <p:spPr>
          <a:xfrm>
            <a:off x="324154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1" name="flow_h2"/>
          <p:cNvSpPr txBox="1"/>
          <p:nvPr/>
        </p:nvSpPr>
        <p:spPr>
          <a:xfrm>
            <a:off x="347472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再成長の入口</a:t>
            </a:r>
            <a:endParaRPr lang="en-US" sz="1100" dirty="0"/>
          </a:p>
        </p:txBody>
      </p:sp>
      <p:sp>
        <p:nvSpPr>
          <p:cNvPr id="32" name="ovl_fbox2_0"/>
          <p:cNvSpPr/>
          <p:nvPr/>
        </p:nvSpPr>
        <p:spPr>
          <a:xfrm>
            <a:off x="347472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3" name="flow_t2_0"/>
          <p:cNvSpPr txBox="1"/>
          <p:nvPr/>
        </p:nvSpPr>
        <p:spPr>
          <a:xfrm>
            <a:off x="354787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大口を除き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+18%(Q3)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貢献利益率 16%</a:t>
            </a:r>
            <a:endParaRPr lang="en-US" sz="950" dirty="0"/>
          </a:p>
        </p:txBody>
      </p:sp>
      <p:sp>
        <p:nvSpPr>
          <p:cNvPr id="34" name="ovl_farrow2"/>
          <p:cNvSpPr/>
          <p:nvPr/>
        </p:nvSpPr>
        <p:spPr>
          <a:xfrm>
            <a:off x="475030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5" name="flow_h3"/>
          <p:cNvSpPr txBox="1"/>
          <p:nvPr/>
        </p:nvSpPr>
        <p:spPr>
          <a:xfrm>
            <a:off x="498348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再成長</a:t>
            </a:r>
            <a:endParaRPr lang="en-US" sz="1100" dirty="0"/>
          </a:p>
        </p:txBody>
      </p:sp>
      <p:sp>
        <p:nvSpPr>
          <p:cNvPr id="36" name="ovl_fbox3_0"/>
          <p:cNvSpPr/>
          <p:nvPr/>
        </p:nvSpPr>
        <p:spPr>
          <a:xfrm>
            <a:off x="498348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7" name="flow_t3_0"/>
          <p:cNvSpPr txBox="1"/>
          <p:nvPr/>
        </p:nvSpPr>
        <p:spPr>
          <a:xfrm>
            <a:off x="505663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前年比のプラスは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 2027 の見通し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576072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貢献利益は Q2 1,180 万 → Q3 1,420 万ドル(率 14% → 16%)。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大口を除く前年比は Q3 +18%(Q1 は +12%)</a:t>
            </a:r>
            <a:endParaRPr lang="en-US" sz="950" dirty="0"/>
          </a:p>
        </p:txBody>
      </p:sp>
      <p:sp>
        <p:nvSpPr>
          <p:cNvPr id="39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SoFiUSD(G7)</a:t>
            </a:r>
            <a:endParaRPr lang="en-US" sz="1200" dirty="0"/>
          </a:p>
        </p:txBody>
      </p:sp>
      <p:graphicFrame>
        <p:nvGraphicFramePr>
          <p:cNvPr id="3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735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会員向けの提供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2026-05-27(対象 1,470 万人)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出所でばらばら(未確定)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pane_head"/>
          <p:cNvSpPr txBox="1"/>
          <p:nvPr/>
        </p:nvSpPr>
        <p:spPr>
          <a:xfrm>
            <a:off x="6446520" y="347472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費用効果の感応度(算術のみ)</a:t>
            </a:r>
            <a:endParaRPr lang="en-US" sz="1200" dirty="0"/>
          </a:p>
        </p:txBody>
      </p:sp>
      <p:graphicFrame>
        <p:nvGraphicFramePr>
          <p:cNvPr id="6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840480"/>
          <a:ext cx="5285232" cy="914400"/>
        </p:xfrm>
        <a:graphic>
          <a:graphicData uri="http://schemas.openxmlformats.org/drawingml/2006/table">
            <a:tbl>
              <a:tblPr/>
              <a:tblGrid>
                <a:gridCol w="2542032"/>
                <a:gridCol w="1463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決済の削減 1bp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0.0014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決済の削減 5bp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0.007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 30 億ドル × 利ざや 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3,000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 100 億ドル × 利ざや 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0.056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3" name="ovl_takeaway_bg"/>
          <p:cNvSpPr/>
          <p:nvPr/>
        </p:nvSpPr>
        <p:spPr>
          <a:xfrm>
            <a:off x="6446520" y="5440680"/>
            <a:ext cx="528523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4" name="takeaway"/>
          <p:cNvSpPr txBox="1"/>
          <p:nvPr/>
        </p:nvSpPr>
        <p:spPr>
          <a:xfrm>
            <a:off x="6556248" y="5513832"/>
            <a:ext cx="50657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は再成長の入口に立ち、大口を除き +18%。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は仕組みとして正しいが、収益は未開示で、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効果は EPS の 1% 未満(推計)。オプションとして扱う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 組み合わせと資本コスト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2364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236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銀行免許 × フィンテック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839974" y="356616"/>
            <a:ext cx="88945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他にない組み合わせが、資本コストの面でどれだけ得か(損か)を楽観も悲観もせずに測る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銀行免許で負債は安い(倉庫ライン比 −1.45pt)が、株主資本はテック並みに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高い(β 1.93)。預金の節約 年 7.45 億ドルは販促費の 42%。律速は自己資本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組み合わせの希少さと再現コスト。右: 貸出 100 ドル当たりの税引前の必要利回り(負債 85.5% + 株主資本 14.5%、費用と信用損失の前)と、預金の節約の使い道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research_r5/Q3_datasheet.md(Q3 の 8-K・説明会の要約)、calc/out/growth_v4.json、calc/A4_q3_memo.md、research_r2/R7(預金と倉庫ラインの差)、research/R4・research_r3/R12(競合)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希少さ(片方だけを持つ相手と比べる)</a:t>
            </a:r>
            <a:endParaRPr lang="en-US" sz="1200" dirty="0"/>
          </a:p>
        </p:txBody>
      </p:sp>
      <p:graphicFrame>
        <p:nvGraphicFramePr>
          <p:cNvPr id="35" name="tbl_r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32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40280"/>
                <a:gridCol w="2286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フィンテックの製品・技術基盤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国法銀行(2022)、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513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1,710 万人、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Galileo・Technisys(外販)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銀行(2021 年に買収)、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102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個人ローン中心、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外販の基盤なし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なし(提携銀行)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1,040 万人、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自社基盤 ChimeCore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なし(銀行業務は提携)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資金入り顧客 2,840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Upstart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なし(買い手・資本市場で資金)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審査の貸出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伝統的な銀行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あり(無利息預金が厚く、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預金コストは低い)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製品の速さ・会員の伸びで劣る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l2"/>
          <p:cNvSpPr txBox="1"/>
          <p:nvPr/>
        </p:nvSpPr>
        <p:spPr>
          <a:xfrm>
            <a:off x="457200" y="43708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再現コスト</a:t>
            </a:r>
            <a:endParaRPr lang="en-US" sz="1200" dirty="0"/>
          </a:p>
        </p:txBody>
      </p:sp>
      <p:sp>
        <p:nvSpPr>
          <p:cNvPr id="24" name="bul_repro"/>
          <p:cNvSpPr txBox="1"/>
          <p:nvPr/>
        </p:nvSpPr>
        <p:spPr>
          <a:xfrm>
            <a:off x="457200" y="4681728"/>
            <a:ext cx="5532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26.2 億(2024〜26 年上期)+ 技術の買収 約 23 億 + 払込資本 7.5 億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= 約 57 億ドルと数年(時価総額 約 188 億ドルの約 3 割)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部品ごとの再現例はある: LendingClub は買収で約 1 年で免許、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は基盤を自前で、Robinhood は提携で銀行業務</a:t>
            </a:r>
            <a:endParaRPr lang="en-US" sz="1000" dirty="0"/>
          </a:p>
        </p:txBody>
      </p:sp>
      <p:sp>
        <p:nvSpPr>
          <p:cNvPr id="25" name="pane_r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必要利回り(%、税引前)</a:t>
            </a:r>
            <a:endParaRPr lang="en-US" sz="1200" dirty="0"/>
          </a:p>
        </p:txBody>
      </p:sp>
      <p:graphicFrame>
        <p:nvGraphicFramePr>
          <p:cNvPr id="26" name="chart" descr=""/>
          <p:cNvGraphicFramePr/>
          <p:nvPr/>
        </p:nvGraphicFramePr>
        <p:xfrm>
          <a:off x="6199632" y="2103120"/>
          <a:ext cx="5532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otal_0"/>
          <p:cNvSpPr txBox="1"/>
          <p:nvPr/>
        </p:nvSpPr>
        <p:spPr>
          <a:xfrm>
            <a:off x="6455664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5.24</a:t>
            </a:r>
            <a:endParaRPr lang="en-US" sz="1100" dirty="0"/>
          </a:p>
        </p:txBody>
      </p:sp>
      <p:sp>
        <p:nvSpPr>
          <p:cNvPr id="28" name="total_1"/>
          <p:cNvSpPr txBox="1"/>
          <p:nvPr/>
        </p:nvSpPr>
        <p:spPr>
          <a:xfrm>
            <a:off x="7566660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6.57</a:t>
            </a:r>
            <a:endParaRPr lang="en-US" sz="1100" dirty="0"/>
          </a:p>
        </p:txBody>
      </p:sp>
      <p:sp>
        <p:nvSpPr>
          <p:cNvPr id="29" name="total_2"/>
          <p:cNvSpPr txBox="1"/>
          <p:nvPr/>
        </p:nvSpPr>
        <p:spPr>
          <a:xfrm>
            <a:off x="8677656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4.71</a:t>
            </a:r>
            <a:endParaRPr lang="en-US" sz="1100" dirty="0"/>
          </a:p>
        </p:txBody>
      </p:sp>
      <p:sp>
        <p:nvSpPr>
          <p:cNvPr id="30" name="total_3"/>
          <p:cNvSpPr txBox="1"/>
          <p:nvPr/>
        </p:nvSpPr>
        <p:spPr>
          <a:xfrm>
            <a:off x="9788652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4.45</a:t>
            </a:r>
            <a:endParaRPr lang="en-US" sz="1100" dirty="0"/>
          </a:p>
        </p:txBody>
      </p:sp>
      <p:sp>
        <p:nvSpPr>
          <p:cNvPr id="31" name="bul_read"/>
          <p:cNvSpPr txBox="1"/>
          <p:nvPr/>
        </p:nvSpPr>
        <p:spPr>
          <a:xfrm>
            <a:off x="6199632" y="4279392"/>
            <a:ext cx="55321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負債は銀行並みに安い: 預金で 1.33pt 得(免許なし比)。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株主資本はテック並みに高い: β 1.93 の負担は銀行並みの β 比 0.79pt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預金は貸出の資金で、広告・開発の直接の原資ではない。原資は厚くなった利ざや: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節約 年 7.45 億ドル = 販促費(年換算 17.8 億)の 42%(Q2 は 45%)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広告・開発は自己資本(コスト 13.9%)を減らす費用。律速は自己資本(2027 年の自給率 0.89)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差は縮小中: 1.93pt(Q4 2024)→ 1.56pt(Q2)→ 1.45pt(Q3 2026)。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 APY 3.30% は政策金利(3.75〜4.00%)より 0.45〜0.70pt 低いだけ</a:t>
            </a:r>
            <a:endParaRPr lang="en-US" sz="950" dirty="0"/>
          </a:p>
        </p:txBody>
      </p:sp>
      <p:sp>
        <p:nvSpPr>
          <p:cNvPr id="32" name="ovl_takeaway_bg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3" name="takeaway"/>
          <p:cNvSpPr txBox="1"/>
          <p:nvPr/>
        </p:nvSpPr>
        <p:spPr>
          <a:xfrm>
            <a:off x="566928" y="569671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組み合わせは希少で、負債の安さは本物。ただし株主資本はテック並みに高く、差は縮小中で、部品は買える →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G8 は B、条件11 は B(A との境界)。資金の優位は NIM に既に入っており、理論株価に別建てで足さない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6" name="bg_agenda_why3"/>
          <p:cNvSpPr txBox="1"/>
          <p:nvPr/>
        </p:nvSpPr>
        <p:spPr>
          <a:xfrm>
            <a:off x="1417320" y="471830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長期保有に耐える構造かを 13 の条件で確かめ、構造評価を決める。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構造評価は許容する倍率(PEG)に直結する</a:t>
            </a:r>
            <a:endParaRPr lang="en-US" sz="10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 稼ぐ力(条件1〜3)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p.36–38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 経営(条件5)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p.39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 成長と割安度(条件6・7)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p.40–41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 商品と資産(条件8・10〜12)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p.42–44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 総合(条件13)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p.45</a:t>
            </a:r>
            <a:endParaRPr lang="en-US" sz="1050" dirty="0"/>
          </a:p>
        </p:txBody>
      </p:sp>
      <p:sp>
        <p:nvSpPr>
          <p:cNvPr id="32" name="bg_agenda_note"/>
          <p:cNvSpPr txBox="1"/>
          <p:nvPr/>
        </p:nvSpPr>
        <p:spPr>
          <a:xfrm>
            <a:off x="7818120" y="434340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条件4(上場市場)は審査の前提条件、条件9(AI 運用への不可欠性)は AI 関連企業でないため対象外。どちらも 1-2 の評価一覧で扱う</a:t>
            </a:r>
            <a:endParaRPr lang="en-US" sz="950" dirty="0"/>
          </a:p>
        </p:txBody>
      </p:sp>
      <p:sp>
        <p:nvSpPr>
          <p:cNvPr id="33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競争優位の持続(条件1)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年保有の前提は、利益を守る優位が続くこと。どの優位が何年続くかを見る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主口座の関係で預金 +58 億ドル・交換手数料 +77% と深まったが、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ローンは市場並みの価格で、10 年の圧倒的な価格決定力とは言えない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の事業 → 優位の源泉 ← 競合の圧力。下: 優位が続く期間。①〜⑥ は右と対応。数値は Q3 2026(一部は Q2 2026)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の 8-K・説明会の要約、research_r5/Q3_datasheet.md。(Q2) と付した値は Q2 2026)、calc/out/growth_v4.json、research_r2/R7_funding_rates_capital.md・R9_products_people.md、research/R4_scuttlebutt.md(各社 APY・価格表の第三者集計)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36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72512" y="1517904"/>
            <a:ext cx="372465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の事業と優位の源泉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76872" y="1517904"/>
            <a:ext cx="140817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618232" y="1911096"/>
            <a:ext cx="1408176" cy="2734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797552" y="1911096"/>
            <a:ext cx="1453896" cy="2734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7_e0_0"/>
          <p:cNvSpPr/>
          <p:nvPr/>
        </p:nvSpPr>
        <p:spPr>
          <a:xfrm>
            <a:off x="1783080" y="234848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7_e1_0"/>
          <p:cNvSpPr/>
          <p:nvPr/>
        </p:nvSpPr>
        <p:spPr>
          <a:xfrm flipH="1">
            <a:off x="3962400" y="234848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17_e2_0"/>
          <p:cNvSpPr/>
          <p:nvPr/>
        </p:nvSpPr>
        <p:spPr>
          <a:xfrm>
            <a:off x="3322320" y="2677668"/>
            <a:ext cx="914" cy="27127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7_e3_0"/>
          <p:cNvSpPr/>
          <p:nvPr/>
        </p:nvSpPr>
        <p:spPr>
          <a:xfrm>
            <a:off x="1783080" y="327812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7_e4_0"/>
          <p:cNvSpPr/>
          <p:nvPr/>
        </p:nvSpPr>
        <p:spPr>
          <a:xfrm flipH="1">
            <a:off x="6187440" y="327812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17_e5_0"/>
          <p:cNvSpPr/>
          <p:nvPr/>
        </p:nvSpPr>
        <p:spPr>
          <a:xfrm flipH="1">
            <a:off x="3962400" y="327812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7_e6_0"/>
          <p:cNvSpPr/>
          <p:nvPr/>
        </p:nvSpPr>
        <p:spPr>
          <a:xfrm>
            <a:off x="1783080" y="420776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7_e7_0"/>
          <p:cNvSpPr/>
          <p:nvPr/>
        </p:nvSpPr>
        <p:spPr>
          <a:xfrm flipH="1">
            <a:off x="3962400" y="420776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17_e8_0"/>
          <p:cNvSpPr/>
          <p:nvPr/>
        </p:nvSpPr>
        <p:spPr>
          <a:xfrm flipH="1">
            <a:off x="6187440" y="234848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4" name="ovl_s17_e9_0"/>
          <p:cNvSpPr/>
          <p:nvPr/>
        </p:nvSpPr>
        <p:spPr>
          <a:xfrm flipH="1">
            <a:off x="6187440" y="420776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17_n_dd"/>
          <p:cNvSpPr/>
          <p:nvPr/>
        </p:nvSpPr>
        <p:spPr>
          <a:xfrm>
            <a:off x="45720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17_nt_dd"/>
          <p:cNvSpPr txBox="1"/>
          <p:nvPr/>
        </p:nvSpPr>
        <p:spPr>
          <a:xfrm>
            <a:off x="49377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7" name="ovl_s17_ns_dd"/>
          <p:cNvSpPr txBox="1"/>
          <p:nvPr/>
        </p:nvSpPr>
        <p:spPr>
          <a:xfrm>
            <a:off x="50292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 9 割超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普通預金 3.30%</a:t>
            </a:r>
            <a:endParaRPr lang="en-US" sz="850" dirty="0"/>
          </a:p>
        </p:txBody>
      </p:sp>
      <p:sp>
        <p:nvSpPr>
          <p:cNvPr id="48" name="ovl_s17_n_borrow"/>
          <p:cNvSpPr/>
          <p:nvPr/>
        </p:nvSpPr>
        <p:spPr>
          <a:xfrm>
            <a:off x="45720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17_nt_borrow"/>
          <p:cNvSpPr txBox="1"/>
          <p:nvPr/>
        </p:nvSpPr>
        <p:spPr>
          <a:xfrm>
            <a:off x="49377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0" name="ovl_s17_ns_borrow"/>
          <p:cNvSpPr txBox="1"/>
          <p:nvPr/>
        </p:nvSpPr>
        <p:spPr>
          <a:xfrm>
            <a:off x="50292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746(Q4 2025)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</a:t>
            </a:r>
            <a:endParaRPr lang="en-US" sz="850" dirty="0"/>
          </a:p>
        </p:txBody>
      </p:sp>
      <p:sp>
        <p:nvSpPr>
          <p:cNvPr id="51" name="ovl_s17_n_inv"/>
          <p:cNvSpPr/>
          <p:nvPr/>
        </p:nvSpPr>
        <p:spPr>
          <a:xfrm>
            <a:off x="45720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2" name="ovl_s17_nt_inv"/>
          <p:cNvSpPr txBox="1"/>
          <p:nvPr/>
        </p:nvSpPr>
        <p:spPr>
          <a:xfrm>
            <a:off x="49377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投資・カードの会員</a:t>
            </a:r>
            <a:endParaRPr lang="en-US" sz="900" dirty="0"/>
          </a:p>
        </p:txBody>
      </p:sp>
      <p:sp>
        <p:nvSpPr>
          <p:cNvPr id="53" name="ovl_s17_ns_inv"/>
          <p:cNvSpPr txBox="1"/>
          <p:nvPr/>
        </p:nvSpPr>
        <p:spPr>
          <a:xfrm>
            <a:off x="50292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万(Q2)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は 4 月に有料化</a:t>
            </a:r>
            <a:endParaRPr lang="en-US" sz="850" dirty="0"/>
          </a:p>
        </p:txBody>
      </p:sp>
      <p:sp>
        <p:nvSpPr>
          <p:cNvPr id="54" name="ovl_s17_n_dep"/>
          <p:cNvSpPr/>
          <p:nvPr/>
        </p:nvSpPr>
        <p:spPr>
          <a:xfrm>
            <a:off x="2682240" y="201930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5" name="ovl_s17_nt_dep"/>
          <p:cNvSpPr txBox="1"/>
          <p:nvPr/>
        </p:nvSpPr>
        <p:spPr>
          <a:xfrm>
            <a:off x="2718816" y="204673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6" name="ovl_s17_ns_dep"/>
          <p:cNvSpPr txBox="1"/>
          <p:nvPr/>
        </p:nvSpPr>
        <p:spPr>
          <a:xfrm>
            <a:off x="2727960" y="225247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3.07%(Q2)</a:t>
            </a:r>
            <a:endParaRPr lang="en-US" sz="850" dirty="0"/>
          </a:p>
        </p:txBody>
      </p:sp>
      <p:sp>
        <p:nvSpPr>
          <p:cNvPr id="57" name="ovl_s17_n_bs"/>
          <p:cNvSpPr/>
          <p:nvPr/>
        </p:nvSpPr>
        <p:spPr>
          <a:xfrm>
            <a:off x="2682240" y="294894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7_nt_bs"/>
          <p:cNvSpPr txBox="1"/>
          <p:nvPr/>
        </p:nvSpPr>
        <p:spPr>
          <a:xfrm>
            <a:off x="2718816" y="297637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59" name="ovl_s17_ns_bs"/>
          <p:cNvSpPr txBox="1"/>
          <p:nvPr/>
        </p:nvSpPr>
        <p:spPr>
          <a:xfrm>
            <a:off x="2727960" y="318211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6.99〜35.49%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6.14%</a:t>
            </a:r>
            <a:endParaRPr lang="en-US" sz="850" dirty="0"/>
          </a:p>
        </p:txBody>
      </p:sp>
      <p:sp>
        <p:nvSpPr>
          <p:cNvPr id="60" name="ovl_s17_n_cross"/>
          <p:cNvSpPr/>
          <p:nvPr/>
        </p:nvSpPr>
        <p:spPr>
          <a:xfrm>
            <a:off x="2682240" y="387858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17_nt_cross"/>
          <p:cNvSpPr txBox="1"/>
          <p:nvPr/>
        </p:nvSpPr>
        <p:spPr>
          <a:xfrm>
            <a:off x="2718816" y="39060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62" name="ovl_s17_ns_cross"/>
          <p:cNvSpPr txBox="1"/>
          <p:nvPr/>
        </p:nvSpPr>
        <p:spPr>
          <a:xfrm>
            <a:off x="2727960" y="411175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</a:t>
            </a:r>
            <a:endParaRPr lang="en-US" sz="850" dirty="0"/>
          </a:p>
        </p:txBody>
      </p:sp>
      <p:sp>
        <p:nvSpPr>
          <p:cNvPr id="63" name="ovl_s17_n_fund"/>
          <p:cNvSpPr/>
          <p:nvPr/>
        </p:nvSpPr>
        <p:spPr>
          <a:xfrm>
            <a:off x="486156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4" name="ovl_s17_nt_fund"/>
          <p:cNvSpPr txBox="1"/>
          <p:nvPr/>
        </p:nvSpPr>
        <p:spPr>
          <a:xfrm>
            <a:off x="489813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銀行免許と安い資金</a:t>
            </a:r>
            <a:endParaRPr lang="en-US" sz="900" dirty="0"/>
          </a:p>
        </p:txBody>
      </p:sp>
      <p:sp>
        <p:nvSpPr>
          <p:cNvPr id="65" name="ovl_s17_ns_fund"/>
          <p:cNvSpPr txBox="1"/>
          <p:nvPr/>
        </p:nvSpPr>
        <p:spPr>
          <a:xfrm>
            <a:off x="490728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1.45pt 安い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(前期 1.56pt)</a:t>
            </a:r>
            <a:endParaRPr lang="en-US" sz="850" dirty="0"/>
          </a:p>
        </p:txBody>
      </p:sp>
      <p:sp>
        <p:nvSpPr>
          <p:cNvPr id="66" name="ovl_s17_n_price"/>
          <p:cNvSpPr/>
          <p:nvPr/>
        </p:nvSpPr>
        <p:spPr>
          <a:xfrm>
            <a:off x="486156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7" name="ovl_s17_nt_price"/>
          <p:cNvSpPr txBox="1"/>
          <p:nvPr/>
        </p:nvSpPr>
        <p:spPr>
          <a:xfrm>
            <a:off x="489813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価格の優位</a:t>
            </a:r>
            <a:endParaRPr lang="en-US" sz="1000" dirty="0"/>
          </a:p>
        </p:txBody>
      </p:sp>
      <p:sp>
        <p:nvSpPr>
          <p:cNvPr id="68" name="ovl_s17_ns_price"/>
          <p:cNvSpPr txBox="1"/>
          <p:nvPr/>
        </p:nvSpPr>
        <p:spPr>
          <a:xfrm>
            <a:off x="490728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帯は競合と重なる</a:t>
            </a:r>
            <a:endParaRPr lang="en-US" sz="850" dirty="0"/>
          </a:p>
        </p:txBody>
      </p:sp>
      <p:sp>
        <p:nvSpPr>
          <p:cNvPr id="69" name="ovl_s17_n_brand"/>
          <p:cNvSpPr/>
          <p:nvPr/>
        </p:nvSpPr>
        <p:spPr>
          <a:xfrm>
            <a:off x="486156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0" name="ovl_s17_nt_brand"/>
          <p:cNvSpPr txBox="1"/>
          <p:nvPr/>
        </p:nvSpPr>
        <p:spPr>
          <a:xfrm>
            <a:off x="489813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ブランドと関係</a:t>
            </a:r>
            <a:endParaRPr lang="en-US" sz="1000" dirty="0"/>
          </a:p>
        </p:txBody>
      </p:sp>
      <p:sp>
        <p:nvSpPr>
          <p:cNvPr id="71" name="ovl_s17_ns_brand"/>
          <p:cNvSpPr txBox="1"/>
          <p:nvPr/>
        </p:nvSpPr>
        <p:spPr>
          <a:xfrm>
            <a:off x="490728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10.4%(Q2)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4.44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(四半期、+55%)</a:t>
            </a:r>
            <a:endParaRPr lang="en-US" sz="850" dirty="0"/>
          </a:p>
        </p:txBody>
      </p:sp>
      <p:sp>
        <p:nvSpPr>
          <p:cNvPr id="72" name="ovl_s17_n_banks"/>
          <p:cNvSpPr/>
          <p:nvPr/>
        </p:nvSpPr>
        <p:spPr>
          <a:xfrm>
            <a:off x="7086600" y="201930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17_nt_banks"/>
          <p:cNvSpPr txBox="1"/>
          <p:nvPr/>
        </p:nvSpPr>
        <p:spPr>
          <a:xfrm>
            <a:off x="7123176" y="20467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オンライン銀行</a:t>
            </a:r>
            <a:endParaRPr lang="en-US" sz="1000" dirty="0"/>
          </a:p>
        </p:txBody>
      </p:sp>
      <p:sp>
        <p:nvSpPr>
          <p:cNvPr id="74" name="ovl_s17_ns_banks"/>
          <p:cNvSpPr txBox="1"/>
          <p:nvPr/>
        </p:nvSpPr>
        <p:spPr>
          <a:xfrm>
            <a:off x="7132320" y="225247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Ally・Amex 3.10%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Marcus 3.50%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最大 4.00%</a:t>
            </a:r>
            <a:endParaRPr lang="en-US" sz="850" dirty="0"/>
          </a:p>
        </p:txBody>
      </p:sp>
      <p:sp>
        <p:nvSpPr>
          <p:cNvPr id="75" name="ovl_s17_n_lenders"/>
          <p:cNvSpPr/>
          <p:nvPr/>
        </p:nvSpPr>
        <p:spPr>
          <a:xfrm>
            <a:off x="7086600" y="2857500"/>
            <a:ext cx="1188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6" name="ovl_s17_nt_lenders"/>
          <p:cNvSpPr txBox="1"/>
          <p:nvPr/>
        </p:nvSpPr>
        <p:spPr>
          <a:xfrm>
            <a:off x="7123176" y="28849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ローン専業</a:t>
            </a:r>
            <a:endParaRPr lang="en-US" sz="1000" dirty="0"/>
          </a:p>
        </p:txBody>
      </p:sp>
      <p:sp>
        <p:nvSpPr>
          <p:cNvPr id="77" name="ovl_s17_ns_lenders"/>
          <p:cNvSpPr txBox="1"/>
          <p:nvPr/>
        </p:nvSpPr>
        <p:spPr>
          <a:xfrm>
            <a:off x="7132320" y="3090672"/>
            <a:ext cx="109728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</p:txBody>
      </p:sp>
      <p:sp>
        <p:nvSpPr>
          <p:cNvPr id="78" name="ovl_s17_n_neo"/>
          <p:cNvSpPr/>
          <p:nvPr/>
        </p:nvSpPr>
        <p:spPr>
          <a:xfrm>
            <a:off x="7086600" y="387858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17_nt_neo"/>
          <p:cNvSpPr txBox="1"/>
          <p:nvPr/>
        </p:nvSpPr>
        <p:spPr>
          <a:xfrm>
            <a:off x="7123176" y="390601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</a:t>
            </a:r>
            <a:endParaRPr lang="en-US" sz="900" dirty="0"/>
          </a:p>
        </p:txBody>
      </p:sp>
      <p:sp>
        <p:nvSpPr>
          <p:cNvPr id="80" name="ovl_s17_ns_neo"/>
          <p:cNvSpPr txBox="1"/>
          <p:nvPr/>
        </p:nvSpPr>
        <p:spPr>
          <a:xfrm>
            <a:off x="7132320" y="411175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給与振込と会員を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取りに来る</a:t>
            </a:r>
            <a:endParaRPr lang="en-US" sz="850" dirty="0"/>
          </a:p>
        </p:txBody>
      </p:sp>
      <p:sp>
        <p:nvSpPr>
          <p:cNvPr id="81" name="ovl_s17_tag_fund"/>
          <p:cNvSpPr/>
          <p:nvPr/>
        </p:nvSpPr>
        <p:spPr>
          <a:xfrm>
            <a:off x="5280660" y="2705100"/>
            <a:ext cx="4876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2" name="ovl_s17_tagt_fund"/>
          <p:cNvSpPr txBox="1"/>
          <p:nvPr/>
        </p:nvSpPr>
        <p:spPr>
          <a:xfrm>
            <a:off x="5280660" y="2705100"/>
            <a:ext cx="48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縮小中</a:t>
            </a:r>
            <a:endParaRPr lang="en-US" sz="800" dirty="0"/>
          </a:p>
        </p:txBody>
      </p:sp>
      <p:sp>
        <p:nvSpPr>
          <p:cNvPr id="83" name="ovl_s17_tag_price"/>
          <p:cNvSpPr/>
          <p:nvPr/>
        </p:nvSpPr>
        <p:spPr>
          <a:xfrm>
            <a:off x="5331460" y="363474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ovl_s17_tagt_price"/>
          <p:cNvSpPr txBox="1"/>
          <p:nvPr/>
        </p:nvSpPr>
        <p:spPr>
          <a:xfrm>
            <a:off x="5331460" y="363474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なし</a:t>
            </a:r>
            <a:endParaRPr lang="en-US" sz="800" dirty="0"/>
          </a:p>
        </p:txBody>
      </p:sp>
      <p:sp>
        <p:nvSpPr>
          <p:cNvPr id="85" name="ovl_s17_tag_brand"/>
          <p:cNvSpPr/>
          <p:nvPr/>
        </p:nvSpPr>
        <p:spPr>
          <a:xfrm>
            <a:off x="5229860" y="4564380"/>
            <a:ext cx="5892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6" name="ovl_s17_tagt_brand"/>
          <p:cNvSpPr txBox="1"/>
          <p:nvPr/>
        </p:nvSpPr>
        <p:spPr>
          <a:xfrm>
            <a:off x="5229860" y="4564380"/>
            <a:ext cx="58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販促次第</a:t>
            </a:r>
            <a:endParaRPr lang="en-US" sz="800" dirty="0"/>
          </a:p>
        </p:txBody>
      </p:sp>
      <p:sp>
        <p:nvSpPr>
          <p:cNvPr id="87" name="ovl_s17_lab0"/>
          <p:cNvSpPr txBox="1"/>
          <p:nvPr/>
        </p:nvSpPr>
        <p:spPr>
          <a:xfrm>
            <a:off x="1868843" y="211531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8" name="ovl_s17_lab1"/>
          <p:cNvSpPr txBox="1"/>
          <p:nvPr/>
        </p:nvSpPr>
        <p:spPr>
          <a:xfrm>
            <a:off x="3989870" y="211531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安く集める</a:t>
            </a:r>
            <a:endParaRPr lang="en-US" sz="850" dirty="0"/>
          </a:p>
        </p:txBody>
      </p:sp>
      <p:sp>
        <p:nvSpPr>
          <p:cNvPr id="89" name="ovl_s17_lab2"/>
          <p:cNvSpPr txBox="1"/>
          <p:nvPr/>
        </p:nvSpPr>
        <p:spPr>
          <a:xfrm>
            <a:off x="3368040" y="2710434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90" name="ovl_s17_lab3"/>
          <p:cNvSpPr txBox="1"/>
          <p:nvPr/>
        </p:nvSpPr>
        <p:spPr>
          <a:xfrm>
            <a:off x="1819294" y="3044952"/>
            <a:ext cx="82673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13%(Q2)</a:t>
            </a:r>
            <a:endParaRPr lang="en-US" sz="850" dirty="0"/>
          </a:p>
        </p:txBody>
      </p:sp>
      <p:sp>
        <p:nvSpPr>
          <p:cNvPr id="91" name="ovl_s17_lab4"/>
          <p:cNvSpPr txBox="1"/>
          <p:nvPr/>
        </p:nvSpPr>
        <p:spPr>
          <a:xfrm>
            <a:off x="6214910" y="304495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同じ価格帯</a:t>
            </a:r>
            <a:endParaRPr lang="en-US" sz="850" dirty="0"/>
          </a:p>
        </p:txBody>
      </p:sp>
      <p:sp>
        <p:nvSpPr>
          <p:cNvPr id="92" name="ovl_s17_lab5"/>
          <p:cNvSpPr txBox="1"/>
          <p:nvPr/>
        </p:nvSpPr>
        <p:spPr>
          <a:xfrm>
            <a:off x="3998976" y="290322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市場並みの価格</a:t>
            </a:r>
            <a:endParaRPr lang="en-US" sz="850" dirty="0"/>
          </a:p>
        </p:txBody>
      </p:sp>
      <p:sp>
        <p:nvSpPr>
          <p:cNvPr id="93" name="ovl_s17_lab6"/>
          <p:cNvSpPr txBox="1"/>
          <p:nvPr/>
        </p:nvSpPr>
        <p:spPr>
          <a:xfrm>
            <a:off x="1886331" y="397459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94" name="ovl_s17_lab7"/>
          <p:cNvSpPr txBox="1"/>
          <p:nvPr/>
        </p:nvSpPr>
        <p:spPr>
          <a:xfrm>
            <a:off x="3989870" y="397459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850" dirty="0"/>
          </a:p>
        </p:txBody>
      </p:sp>
      <p:sp>
        <p:nvSpPr>
          <p:cNvPr id="95" name="ovl_s17_lab8"/>
          <p:cNvSpPr txBox="1"/>
          <p:nvPr/>
        </p:nvSpPr>
        <p:spPr>
          <a:xfrm>
            <a:off x="6224016" y="197358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高い金利で引き抜く</a:t>
            </a:r>
            <a:endParaRPr lang="en-US" sz="850" dirty="0"/>
          </a:p>
        </p:txBody>
      </p:sp>
      <p:sp>
        <p:nvSpPr>
          <p:cNvPr id="96" name="ovl_s17_lab9"/>
          <p:cNvSpPr txBox="1"/>
          <p:nvPr/>
        </p:nvSpPr>
        <p:spPr>
          <a:xfrm>
            <a:off x="6224016" y="383286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会員の奪い合い</a:t>
            </a:r>
            <a:endParaRPr lang="en-US" sz="850" dirty="0"/>
          </a:p>
        </p:txBody>
      </p:sp>
      <p:sp>
        <p:nvSpPr>
          <p:cNvPr id="97" name="ovl_s17_glab0"/>
          <p:cNvSpPr txBox="1"/>
          <p:nvPr/>
        </p:nvSpPr>
        <p:spPr>
          <a:xfrm>
            <a:off x="270967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800" dirty="0"/>
          </a:p>
        </p:txBody>
      </p:sp>
      <p:sp>
        <p:nvSpPr>
          <p:cNvPr id="98" name="ovl_s17_glab1"/>
          <p:cNvSpPr txBox="1"/>
          <p:nvPr/>
        </p:nvSpPr>
        <p:spPr>
          <a:xfrm>
            <a:off x="48889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優位の源泉</a:t>
            </a:r>
            <a:endParaRPr lang="en-US" sz="800" dirty="0"/>
          </a:p>
        </p:txBody>
      </p:sp>
      <p:sp>
        <p:nvSpPr>
          <p:cNvPr id="99" name="ovl_s17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0" name="ovl_s17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1" name="ovl_s17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2" name="ovl_s17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3" name="ovl_s17_leg2"/>
          <p:cNvSpPr/>
          <p:nvPr/>
        </p:nvSpPr>
        <p:spPr>
          <a:xfrm>
            <a:off x="329184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4" name="ovl_s17_legt2"/>
          <p:cNvSpPr txBox="1"/>
          <p:nvPr/>
        </p:nvSpPr>
        <p:spPr>
          <a:xfrm>
            <a:off x="371246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5" name="ovl_s17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6" name="ovl_s17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優位が続く期間</a:t>
            </a:r>
            <a:endParaRPr lang="en-US" sz="850" dirty="0"/>
          </a:p>
        </p:txBody>
      </p:sp>
      <p:sp>
        <p:nvSpPr>
          <p:cNvPr id="107" name="ovl_s17tb_tk2026"/>
          <p:cNvSpPr txBox="1"/>
          <p:nvPr/>
        </p:nvSpPr>
        <p:spPr>
          <a:xfrm>
            <a:off x="17830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8" name="ovl_s17tb_gl2026"/>
          <p:cNvSpPr/>
          <p:nvPr/>
        </p:nvSpPr>
        <p:spPr>
          <a:xfrm>
            <a:off x="20574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9" name="ovl_s17tb_tk2028"/>
          <p:cNvSpPr txBox="1"/>
          <p:nvPr/>
        </p:nvSpPr>
        <p:spPr>
          <a:xfrm>
            <a:off x="3026664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10" name="ovl_s17tb_gl2028"/>
          <p:cNvSpPr/>
          <p:nvPr/>
        </p:nvSpPr>
        <p:spPr>
          <a:xfrm>
            <a:off x="3300984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1" name="ovl_s17tb_tk2030"/>
          <p:cNvSpPr txBox="1"/>
          <p:nvPr/>
        </p:nvSpPr>
        <p:spPr>
          <a:xfrm>
            <a:off x="4270248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12" name="ovl_s17tb_gl2030"/>
          <p:cNvSpPr/>
          <p:nvPr/>
        </p:nvSpPr>
        <p:spPr>
          <a:xfrm>
            <a:off x="4544568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3" name="ovl_s17tb_tk2032"/>
          <p:cNvSpPr txBox="1"/>
          <p:nvPr/>
        </p:nvSpPr>
        <p:spPr>
          <a:xfrm>
            <a:off x="5513832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14" name="ovl_s17tb_gl2032"/>
          <p:cNvSpPr/>
          <p:nvPr/>
        </p:nvSpPr>
        <p:spPr>
          <a:xfrm>
            <a:off x="5788152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5" name="ovl_s17tb_tk2034"/>
          <p:cNvSpPr txBox="1"/>
          <p:nvPr/>
        </p:nvSpPr>
        <p:spPr>
          <a:xfrm>
            <a:off x="6757416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16" name="ovl_s17tb_gl2034"/>
          <p:cNvSpPr/>
          <p:nvPr/>
        </p:nvSpPr>
        <p:spPr>
          <a:xfrm>
            <a:off x="7031736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7" name="ovl_s17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8" name="ovl_s17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9" name="ovl_s17tb_l0"/>
          <p:cNvSpPr txBox="1"/>
          <p:nvPr/>
        </p:nvSpPr>
        <p:spPr>
          <a:xfrm>
            <a:off x="457200" y="5248656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20" name="ovl_s17tb_b0"/>
          <p:cNvSpPr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21" name="ovl_s17tb_t0"/>
          <p:cNvSpPr txBox="1"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22" name="ovl_s17tb_l1"/>
          <p:cNvSpPr txBox="1"/>
          <p:nvPr/>
        </p:nvSpPr>
        <p:spPr>
          <a:xfrm>
            <a:off x="457200" y="5510784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給与振込の関係(安い資金)</a:t>
            </a:r>
            <a:endParaRPr lang="en-US" sz="850" dirty="0"/>
          </a:p>
        </p:txBody>
      </p:sp>
      <p:sp>
        <p:nvSpPr>
          <p:cNvPr id="123" name="ovl_s17tb_b1"/>
          <p:cNvSpPr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24" name="ovl_s17tb_t1"/>
          <p:cNvSpPr txBox="1"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年(差は縮小中)</a:t>
            </a:r>
            <a:endParaRPr lang="en-US" sz="800" dirty="0"/>
          </a:p>
        </p:txBody>
      </p:sp>
      <p:sp>
        <p:nvSpPr>
          <p:cNvPr id="125" name="ovl_s17tb_l2"/>
          <p:cNvSpPr txBox="1"/>
          <p:nvPr/>
        </p:nvSpPr>
        <p:spPr>
          <a:xfrm>
            <a:off x="457200" y="5772912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26" name="ovl_s17tb_b2"/>
          <p:cNvSpPr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7" name="ovl_s17tb_t2"/>
          <p:cNvSpPr txBox="1"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</a:t>
            </a:r>
            <a:endParaRPr lang="en-US" sz="800" dirty="0"/>
          </a:p>
        </p:txBody>
      </p:sp>
      <p:sp>
        <p:nvSpPr>
          <p:cNvPr id="128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9" name="mech"/>
          <p:cNvSpPr txBox="1"/>
          <p:nvPr/>
        </p:nvSpPr>
        <p:spPr>
          <a:xfrm>
            <a:off x="8458200" y="1810512"/>
            <a:ext cx="3276295" cy="28544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 9 割超。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普通預金 3.30% は同業の中位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(Ally・Amex 3.10%、Marcus 3.50%、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最大 4.00%)。預金は +58 億ドル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銀行免許で集めた預金は倉庫ラインより 1.45pt 安い。ただし前期の 1.56pt から縮んだ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安い預金が貸出を支え、NIM は 6.14%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APR 6.99〜35.49% 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LightStream・LendingClub と重なり、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価格では勝っていない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ブランド(非助成想起 10.4%、Q2)と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 で会員当たり 1.56 製品。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販促費は四半期 4.44 億ドル(+55%)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 も給与振込と会員を取りに来ており、資金の差を縮める圧力が続く</a:t>
            </a:r>
            <a:endParaRPr lang="en-US" sz="1050" dirty="0"/>
          </a:p>
        </p:txBody>
      </p:sp>
      <p:sp>
        <p:nvSpPr>
          <p:cNvPr id="130" name="ovl_takeaway_bg"/>
          <p:cNvSpPr/>
          <p:nvPr/>
        </p:nvSpPr>
        <p:spPr>
          <a:xfrm>
            <a:off x="8458200" y="4738116"/>
            <a:ext cx="3276295" cy="81686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31" name="takeaway"/>
          <p:cNvSpPr txBox="1"/>
          <p:nvPr/>
        </p:nvSpPr>
        <p:spPr>
          <a:xfrm>
            <a:off x="8567928" y="4811268"/>
            <a:ext cx="3056839" cy="67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優位は価格ではなく、給与振込の関係が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生む安い資金。7〜10 年続くと見るが、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差は縮小中で圧倒的ではないため B</a:t>
            </a:r>
            <a:endParaRPr lang="en-US" sz="1000" dirty="0"/>
          </a:p>
        </p:txBody>
      </p:sp>
      <p:sp>
        <p:nvSpPr>
          <p:cNvPr id="132" name="updown"/>
          <p:cNvSpPr txBox="1"/>
          <p:nvPr/>
        </p:nvSpPr>
        <p:spPr>
          <a:xfrm>
            <a:off x="8458200" y="5628132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倉庫ライン比の差が 1.5pt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給与振込の預金が貸出と同じ速さで伸びれば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623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623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コア事業の稼ぐ力と資本(条件2)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3227324" y="356616"/>
            <a:ext cx="8507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成長を自前の利益で賄えるかが、増資なしに伸びられるかを決める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 ROTCE 約 10% はフェーズ ③ の成長投資の結果で、2027 年 12%・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 13% へ。保有ローンの資本 ROE は約 26% で資本コストを上回る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資金の出し手 → SoFi の資本の源 → 使い道と結果 → 評価。①〜⑥ は右と対応。数値は Q3 2026(2026-09-30)と事業エンジン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の 8-K・自己資本比率の要約、research_r5/Q3_datasheet.md)、research_r2/R7_funding_rates_capital.md、calc/out/growth_v4.json(定常の ROTCE・エンジン)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条件2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481072" y="1517904"/>
            <a:ext cx="377037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2679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75183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8_e0_0"/>
          <p:cNvSpPr/>
          <p:nvPr/>
        </p:nvSpPr>
        <p:spPr>
          <a:xfrm>
            <a:off x="1691640" y="2336292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8_e1_0"/>
          <p:cNvSpPr/>
          <p:nvPr/>
        </p:nvSpPr>
        <p:spPr>
          <a:xfrm flipV="1">
            <a:off x="3253740" y="2665476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8_e2_0"/>
          <p:cNvSpPr/>
          <p:nvPr/>
        </p:nvSpPr>
        <p:spPr>
          <a:xfrm flipV="1">
            <a:off x="3253740" y="3570732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8_e3_0"/>
          <p:cNvSpPr/>
          <p:nvPr/>
        </p:nvSpPr>
        <p:spPr>
          <a:xfrm>
            <a:off x="107442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9" name="ovl_s18_e3_1"/>
          <p:cNvSpPr/>
          <p:nvPr/>
        </p:nvSpPr>
        <p:spPr>
          <a:xfrm>
            <a:off x="1074420" y="3703320"/>
            <a:ext cx="3947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0" name="ovl_s18_e3_2"/>
          <p:cNvSpPr/>
          <p:nvPr/>
        </p:nvSpPr>
        <p:spPr>
          <a:xfrm flipV="1">
            <a:off x="502158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1" name="ovl_s18_e4_0"/>
          <p:cNvSpPr/>
          <p:nvPr/>
        </p:nvSpPr>
        <p:spPr>
          <a:xfrm flipV="1">
            <a:off x="1074420" y="3767328"/>
            <a:ext cx="914" cy="5029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2" name="ovl_s18_e4_1"/>
          <p:cNvSpPr/>
          <p:nvPr/>
        </p:nvSpPr>
        <p:spPr>
          <a:xfrm>
            <a:off x="1074420" y="3767328"/>
            <a:ext cx="417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3" name="ovl_s18_e4_2"/>
          <p:cNvSpPr/>
          <p:nvPr/>
        </p:nvSpPr>
        <p:spPr>
          <a:xfrm flipV="1">
            <a:off x="5250180" y="3570732"/>
            <a:ext cx="914" cy="196596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18_e5_0"/>
          <p:cNvSpPr/>
          <p:nvPr/>
        </p:nvSpPr>
        <p:spPr>
          <a:xfrm flipV="1">
            <a:off x="5478780" y="2665476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5" name="ovl_s18_e6_0"/>
          <p:cNvSpPr/>
          <p:nvPr/>
        </p:nvSpPr>
        <p:spPr>
          <a:xfrm flipH="1">
            <a:off x="3916680" y="2336292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18_e7_0"/>
          <p:cNvSpPr/>
          <p:nvPr/>
        </p:nvSpPr>
        <p:spPr>
          <a:xfrm>
            <a:off x="3916680" y="2564892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7" name="ovl_s18_e7_1"/>
          <p:cNvSpPr/>
          <p:nvPr/>
        </p:nvSpPr>
        <p:spPr>
          <a:xfrm>
            <a:off x="4069080" y="2564892"/>
            <a:ext cx="914" cy="2487168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8" name="ovl_s18_e7_2"/>
          <p:cNvSpPr/>
          <p:nvPr/>
        </p:nvSpPr>
        <p:spPr>
          <a:xfrm flipH="1">
            <a:off x="3916680" y="5052060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9" name="ovl_s18_e8_0"/>
          <p:cNvSpPr/>
          <p:nvPr/>
        </p:nvSpPr>
        <p:spPr>
          <a:xfrm>
            <a:off x="5615940" y="3570732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0" name="ovl_s18_e9_0"/>
          <p:cNvSpPr/>
          <p:nvPr/>
        </p:nvSpPr>
        <p:spPr>
          <a:xfrm>
            <a:off x="5478780" y="4475988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1" name="ovl_s18_e9_1"/>
          <p:cNvSpPr/>
          <p:nvPr/>
        </p:nvSpPr>
        <p:spPr>
          <a:xfrm flipH="1">
            <a:off x="1074420" y="4599432"/>
            <a:ext cx="44043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2" name="ovl_s18_e9_2"/>
          <p:cNvSpPr/>
          <p:nvPr/>
        </p:nvSpPr>
        <p:spPr>
          <a:xfrm>
            <a:off x="1074420" y="4599432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3" name="ovl_s18_e10_0"/>
          <p:cNvSpPr/>
          <p:nvPr/>
        </p:nvSpPr>
        <p:spPr>
          <a:xfrm>
            <a:off x="6141720" y="5052060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4" name="ovl_s18_e10_1"/>
          <p:cNvSpPr/>
          <p:nvPr/>
        </p:nvSpPr>
        <p:spPr>
          <a:xfrm flipV="1">
            <a:off x="6812280" y="2336292"/>
            <a:ext cx="914" cy="27157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5" name="ovl_s18_e10_2"/>
          <p:cNvSpPr/>
          <p:nvPr/>
        </p:nvSpPr>
        <p:spPr>
          <a:xfrm>
            <a:off x="6812280" y="2336292"/>
            <a:ext cx="2286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6" name="ovl_s18_n_eq"/>
          <p:cNvSpPr/>
          <p:nvPr/>
        </p:nvSpPr>
        <p:spPr>
          <a:xfrm>
            <a:off x="45720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18_nt_eq"/>
          <p:cNvSpPr txBox="1"/>
          <p:nvPr/>
        </p:nvSpPr>
        <p:spPr>
          <a:xfrm>
            <a:off x="49377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</a:t>
            </a:r>
            <a:endParaRPr lang="en-US" sz="1000" dirty="0"/>
          </a:p>
        </p:txBody>
      </p:sp>
      <p:sp>
        <p:nvSpPr>
          <p:cNvPr id="58" name="ovl_s18_ns_eq"/>
          <p:cNvSpPr txBox="1"/>
          <p:nvPr/>
        </p:nvSpPr>
        <p:spPr>
          <a:xfrm>
            <a:off x="50292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 億ドル増資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(20.85・27.50 ドル)</a:t>
            </a:r>
            <a:endParaRPr lang="en-US" sz="850" dirty="0"/>
          </a:p>
        </p:txBody>
      </p:sp>
      <p:sp>
        <p:nvSpPr>
          <p:cNvPr id="59" name="ovl_s18_n_dep"/>
          <p:cNvSpPr/>
          <p:nvPr/>
        </p:nvSpPr>
        <p:spPr>
          <a:xfrm>
            <a:off x="457200" y="2912364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18_nt_dep"/>
          <p:cNvSpPr txBox="1"/>
          <p:nvPr/>
        </p:nvSpPr>
        <p:spPr>
          <a:xfrm>
            <a:off x="493776" y="293979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預金者</a:t>
            </a:r>
            <a:endParaRPr lang="en-US" sz="1000" dirty="0"/>
          </a:p>
        </p:txBody>
      </p:sp>
      <p:sp>
        <p:nvSpPr>
          <p:cNvPr id="61" name="ovl_s18_ns_dep"/>
          <p:cNvSpPr txBox="1"/>
          <p:nvPr/>
        </p:nvSpPr>
        <p:spPr>
          <a:xfrm>
            <a:off x="502920" y="3145536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513 億ドル</a:t>
            </a:r>
            <a:endParaRPr lang="en-US" sz="850" dirty="0"/>
          </a:p>
        </p:txBody>
      </p:sp>
      <p:sp>
        <p:nvSpPr>
          <p:cNvPr id="62" name="ovl_s18_n_mem"/>
          <p:cNvSpPr/>
          <p:nvPr/>
        </p:nvSpPr>
        <p:spPr>
          <a:xfrm>
            <a:off x="45720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3" name="ovl_s18_nt_mem"/>
          <p:cNvSpPr txBox="1"/>
          <p:nvPr/>
        </p:nvSpPr>
        <p:spPr>
          <a:xfrm>
            <a:off x="49377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64" name="ovl_s18_ns_mem"/>
          <p:cNvSpPr txBox="1"/>
          <p:nvPr/>
        </p:nvSpPr>
        <p:spPr>
          <a:xfrm>
            <a:off x="50292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169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(四半期、+71%)</a:t>
            </a:r>
            <a:endParaRPr lang="en-US" sz="850" dirty="0"/>
          </a:p>
        </p:txBody>
      </p:sp>
      <p:sp>
        <p:nvSpPr>
          <p:cNvPr id="65" name="ovl_s18_n_buyers"/>
          <p:cNvSpPr/>
          <p:nvPr/>
        </p:nvSpPr>
        <p:spPr>
          <a:xfrm>
            <a:off x="457200" y="4722876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6" name="ovl_s18_nt_buyers"/>
          <p:cNvSpPr txBox="1"/>
          <p:nvPr/>
        </p:nvSpPr>
        <p:spPr>
          <a:xfrm>
            <a:off x="493776" y="475030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67" name="ovl_s18_ns_buyers"/>
          <p:cNvSpPr txBox="1"/>
          <p:nvPr/>
        </p:nvSpPr>
        <p:spPr>
          <a:xfrm>
            <a:off x="502920" y="4956048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68" name="ovl_s18_n_cap"/>
          <p:cNvSpPr/>
          <p:nvPr/>
        </p:nvSpPr>
        <p:spPr>
          <a:xfrm>
            <a:off x="259080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9" name="ovl_s18_nt_cap"/>
          <p:cNvSpPr txBox="1"/>
          <p:nvPr/>
        </p:nvSpPr>
        <p:spPr>
          <a:xfrm>
            <a:off x="262737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0" name="ovl_s18_ns_cap"/>
          <p:cNvSpPr txBox="1"/>
          <p:nvPr/>
        </p:nvSpPr>
        <p:spPr>
          <a:xfrm>
            <a:off x="263652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95.8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17.0%</a:t>
            </a:r>
            <a:endParaRPr lang="en-US" sz="850" dirty="0"/>
          </a:p>
        </p:txBody>
      </p:sp>
      <p:sp>
        <p:nvSpPr>
          <p:cNvPr id="71" name="ovl_s18_n_ni"/>
          <p:cNvSpPr/>
          <p:nvPr/>
        </p:nvSpPr>
        <p:spPr>
          <a:xfrm>
            <a:off x="259080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18_nt_ni"/>
          <p:cNvSpPr txBox="1"/>
          <p:nvPr/>
        </p:nvSpPr>
        <p:spPr>
          <a:xfrm>
            <a:off x="262737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1000" dirty="0"/>
          </a:p>
        </p:txBody>
      </p:sp>
      <p:sp>
        <p:nvSpPr>
          <p:cNvPr id="73" name="ovl_s18_ns_ni"/>
          <p:cNvSpPr txBox="1"/>
          <p:nvPr/>
        </p:nvSpPr>
        <p:spPr>
          <a:xfrm>
            <a:off x="263652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8.4 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(エンジン)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純利益 2.41 億</a:t>
            </a:r>
            <a:endParaRPr lang="en-US" sz="850" dirty="0"/>
          </a:p>
        </p:txBody>
      </p:sp>
      <p:sp>
        <p:nvSpPr>
          <p:cNvPr id="74" name="ovl_s18_n_sbc"/>
          <p:cNvSpPr/>
          <p:nvPr/>
        </p:nvSpPr>
        <p:spPr>
          <a:xfrm>
            <a:off x="259080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5" name="ovl_s18_nt_sbc"/>
          <p:cNvSpPr txBox="1"/>
          <p:nvPr/>
        </p:nvSpPr>
        <p:spPr>
          <a:xfrm>
            <a:off x="262737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株式報酬</a:t>
            </a:r>
            <a:endParaRPr lang="en-US" sz="1000" dirty="0"/>
          </a:p>
        </p:txBody>
      </p:sp>
      <p:sp>
        <p:nvSpPr>
          <p:cNvPr id="76" name="ovl_s18_ns_sbc"/>
          <p:cNvSpPr txBox="1"/>
          <p:nvPr/>
        </p:nvSpPr>
        <p:spPr>
          <a:xfrm>
            <a:off x="263652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(資本に加わる)</a:t>
            </a:r>
            <a:endParaRPr lang="en-US" sz="850" dirty="0"/>
          </a:p>
        </p:txBody>
      </p:sp>
      <p:sp>
        <p:nvSpPr>
          <p:cNvPr id="77" name="ovl_s18_n_floor"/>
          <p:cNvSpPr/>
          <p:nvPr/>
        </p:nvSpPr>
        <p:spPr>
          <a:xfrm>
            <a:off x="259080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18_nt_floor"/>
          <p:cNvSpPr txBox="1"/>
          <p:nvPr/>
        </p:nvSpPr>
        <p:spPr>
          <a:xfrm>
            <a:off x="262737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</a:t>
            </a:r>
            <a:endParaRPr lang="en-US" sz="1000" dirty="0"/>
          </a:p>
        </p:txBody>
      </p:sp>
      <p:sp>
        <p:nvSpPr>
          <p:cNvPr id="79" name="ovl_s18_ns_floor"/>
          <p:cNvSpPr txBox="1"/>
          <p:nvPr/>
        </p:nvSpPr>
        <p:spPr>
          <a:xfrm>
            <a:off x="263652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(会社の目標は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10% 台前半〜半ば)</a:t>
            </a:r>
            <a:endParaRPr lang="en-US" sz="850" dirty="0"/>
          </a:p>
        </p:txBody>
      </p:sp>
      <p:sp>
        <p:nvSpPr>
          <p:cNvPr id="80" name="ovl_s18_n_rwa"/>
          <p:cNvSpPr/>
          <p:nvPr/>
        </p:nvSpPr>
        <p:spPr>
          <a:xfrm>
            <a:off x="481584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18_nt_rwa"/>
          <p:cNvSpPr txBox="1"/>
          <p:nvPr/>
        </p:nvSpPr>
        <p:spPr>
          <a:xfrm>
            <a:off x="485241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リスク資産(RWA)</a:t>
            </a:r>
            <a:endParaRPr lang="en-US" sz="1000" dirty="0"/>
          </a:p>
        </p:txBody>
      </p:sp>
      <p:sp>
        <p:nvSpPr>
          <p:cNvPr id="82" name="ovl_s18_ns_rwa"/>
          <p:cNvSpPr txBox="1"/>
          <p:nvPr/>
        </p:nvSpPr>
        <p:spPr>
          <a:xfrm>
            <a:off x="486156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487 → 562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(前期比 +15%)</a:t>
            </a:r>
            <a:endParaRPr lang="en-US" sz="850" dirty="0"/>
          </a:p>
        </p:txBody>
      </p:sp>
      <p:sp>
        <p:nvSpPr>
          <p:cNvPr id="83" name="ovl_s18_n_bs"/>
          <p:cNvSpPr/>
          <p:nvPr/>
        </p:nvSpPr>
        <p:spPr>
          <a:xfrm>
            <a:off x="481584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4" name="ovl_s18_nt_bs"/>
          <p:cNvSpPr txBox="1"/>
          <p:nvPr/>
        </p:nvSpPr>
        <p:spPr>
          <a:xfrm>
            <a:off x="485241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85" name="ovl_s18_ns_bs"/>
          <p:cNvSpPr txBox="1"/>
          <p:nvPr/>
        </p:nvSpPr>
        <p:spPr>
          <a:xfrm>
            <a:off x="486156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6.14%</a:t>
            </a:r>
            <a:endParaRPr lang="en-US" sz="850" dirty="0"/>
          </a:p>
        </p:txBody>
      </p:sp>
      <p:sp>
        <p:nvSpPr>
          <p:cNvPr id="86" name="ovl_s18_n_lpb"/>
          <p:cNvSpPr/>
          <p:nvPr/>
        </p:nvSpPr>
        <p:spPr>
          <a:xfrm>
            <a:off x="481584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7" name="ovl_s18_nt_lpb"/>
          <p:cNvSpPr txBox="1"/>
          <p:nvPr/>
        </p:nvSpPr>
        <p:spPr>
          <a:xfrm>
            <a:off x="485241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88" name="ovl_s18_ns_lpb"/>
          <p:cNvSpPr txBox="1"/>
          <p:nvPr/>
        </p:nvSpPr>
        <p:spPr>
          <a:xfrm>
            <a:off x="486156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資本を使わない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4.3%</a:t>
            </a:r>
            <a:endParaRPr lang="en-US" sz="850" dirty="0"/>
          </a:p>
        </p:txBody>
      </p:sp>
      <p:sp>
        <p:nvSpPr>
          <p:cNvPr id="89" name="ovl_s18_n_steady"/>
          <p:cNvSpPr/>
          <p:nvPr/>
        </p:nvSpPr>
        <p:spPr>
          <a:xfrm>
            <a:off x="481584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90" name="ovl_s18_nt_steady"/>
          <p:cNvSpPr txBox="1"/>
          <p:nvPr/>
        </p:nvSpPr>
        <p:spPr>
          <a:xfrm>
            <a:off x="485241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定常の稼ぐ力</a:t>
            </a:r>
            <a:endParaRPr lang="en-US" sz="1000" dirty="0"/>
          </a:p>
        </p:txBody>
      </p:sp>
      <p:sp>
        <p:nvSpPr>
          <p:cNvPr id="91" name="ovl_s18_ns_steady"/>
          <p:cNvSpPr txBox="1"/>
          <p:nvPr/>
        </p:nvSpPr>
        <p:spPr>
          <a:xfrm>
            <a:off x="486156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成長を止めれば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 約 15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(ROTCE 約 15%)</a:t>
            </a:r>
            <a:endParaRPr lang="en-US" sz="850" dirty="0"/>
          </a:p>
        </p:txBody>
      </p:sp>
      <p:sp>
        <p:nvSpPr>
          <p:cNvPr id="92" name="ovl_s18_n_rotce"/>
          <p:cNvSpPr/>
          <p:nvPr/>
        </p:nvSpPr>
        <p:spPr>
          <a:xfrm>
            <a:off x="704088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3" name="ovl_s18_nt_rotce"/>
          <p:cNvSpPr txBox="1"/>
          <p:nvPr/>
        </p:nvSpPr>
        <p:spPr>
          <a:xfrm>
            <a:off x="707745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endParaRPr lang="en-US" sz="1000" dirty="0"/>
          </a:p>
        </p:txBody>
      </p:sp>
      <p:sp>
        <p:nvSpPr>
          <p:cNvPr id="94" name="ovl_s18_ns_rotce"/>
          <p:cNvSpPr txBox="1"/>
          <p:nvPr/>
        </p:nvSpPr>
        <p:spPr>
          <a:xfrm>
            <a:off x="708660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10%(Q3 年率)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 12%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 13%</a:t>
            </a:r>
            <a:endParaRPr lang="en-US" sz="850" dirty="0"/>
          </a:p>
        </p:txBody>
      </p:sp>
      <p:sp>
        <p:nvSpPr>
          <p:cNvPr id="95" name="ovl_s18_n_tbv"/>
          <p:cNvSpPr/>
          <p:nvPr/>
        </p:nvSpPr>
        <p:spPr>
          <a:xfrm>
            <a:off x="704088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96" name="ovl_s18_nt_tbv"/>
          <p:cNvSpPr txBox="1"/>
          <p:nvPr/>
        </p:nvSpPr>
        <p:spPr>
          <a:xfrm>
            <a:off x="707745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TBVPS</a:t>
            </a:r>
            <a:endParaRPr lang="en-US" sz="1000" dirty="0"/>
          </a:p>
        </p:txBody>
      </p:sp>
      <p:sp>
        <p:nvSpPr>
          <p:cNvPr id="97" name="ovl_s18_ns_tbv"/>
          <p:cNvSpPr txBox="1"/>
          <p:nvPr/>
        </p:nvSpPr>
        <p:spPr>
          <a:xfrm>
            <a:off x="708660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7.48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(前期 7.34 ドル)</a:t>
            </a:r>
            <a:endParaRPr lang="en-US" sz="850" dirty="0"/>
          </a:p>
        </p:txBody>
      </p:sp>
      <p:sp>
        <p:nvSpPr>
          <p:cNvPr id="98" name="ovl_s18_lab0"/>
          <p:cNvSpPr txBox="1"/>
          <p:nvPr/>
        </p:nvSpPr>
        <p:spPr>
          <a:xfrm>
            <a:off x="1736598" y="210312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 33 億</a:t>
            </a:r>
            <a:endParaRPr lang="en-US" sz="850" dirty="0"/>
          </a:p>
        </p:txBody>
      </p:sp>
      <p:sp>
        <p:nvSpPr>
          <p:cNvPr id="99" name="ovl_s18_lab1"/>
          <p:cNvSpPr txBox="1"/>
          <p:nvPr/>
        </p:nvSpPr>
        <p:spPr>
          <a:xfrm>
            <a:off x="2398776" y="268605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年約 11 億</a:t>
            </a:r>
            <a:endParaRPr lang="en-US" sz="850" dirty="0"/>
          </a:p>
        </p:txBody>
      </p:sp>
      <p:sp>
        <p:nvSpPr>
          <p:cNvPr id="100" name="ovl_s18_lab3"/>
          <p:cNvSpPr txBox="1"/>
          <p:nvPr/>
        </p:nvSpPr>
        <p:spPr>
          <a:xfrm>
            <a:off x="1916430" y="347014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</a:t>
            </a:r>
            <a:endParaRPr lang="en-US" sz="850" dirty="0"/>
          </a:p>
        </p:txBody>
      </p:sp>
      <p:sp>
        <p:nvSpPr>
          <p:cNvPr id="101" name="ovl_s18_lab4"/>
          <p:cNvSpPr txBox="1"/>
          <p:nvPr/>
        </p:nvSpPr>
        <p:spPr>
          <a:xfrm>
            <a:off x="1856994" y="379476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102" name="ovl_s18_lab5"/>
          <p:cNvSpPr txBox="1"/>
          <p:nvPr/>
        </p:nvSpPr>
        <p:spPr>
          <a:xfrm>
            <a:off x="5524500" y="268605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貸出が増える</a:t>
            </a:r>
            <a:endParaRPr lang="en-US" sz="850" dirty="0"/>
          </a:p>
        </p:txBody>
      </p:sp>
      <p:sp>
        <p:nvSpPr>
          <p:cNvPr id="103" name="ovl_s18_lab6"/>
          <p:cNvSpPr txBox="1"/>
          <p:nvPr/>
        </p:nvSpPr>
        <p:spPr>
          <a:xfrm>
            <a:off x="3953256" y="1961388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必要資本 年約 30 億</a:t>
            </a:r>
            <a:endParaRPr lang="en-US" sz="850" dirty="0"/>
          </a:p>
        </p:txBody>
      </p:sp>
      <p:sp>
        <p:nvSpPr>
          <p:cNvPr id="104" name="ovl_s18_lab7"/>
          <p:cNvSpPr txBox="1"/>
          <p:nvPr/>
        </p:nvSpPr>
        <p:spPr>
          <a:xfrm>
            <a:off x="4114800" y="4098798"/>
            <a:ext cx="66934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</a:t>
            </a:r>
            <a:endParaRPr lang="en-US" sz="850" dirty="0"/>
          </a:p>
        </p:txBody>
      </p:sp>
      <p:sp>
        <p:nvSpPr>
          <p:cNvPr id="105" name="ovl_s18_lab8"/>
          <p:cNvSpPr txBox="1"/>
          <p:nvPr/>
        </p:nvSpPr>
        <p:spPr>
          <a:xfrm>
            <a:off x="5661660" y="359130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6" name="ovl_s18_lab9"/>
          <p:cNvSpPr txBox="1"/>
          <p:nvPr/>
        </p:nvSpPr>
        <p:spPr>
          <a:xfrm>
            <a:off x="1854708" y="436626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7" name="ovl_s18_lab10"/>
          <p:cNvSpPr txBox="1"/>
          <p:nvPr/>
        </p:nvSpPr>
        <p:spPr>
          <a:xfrm>
            <a:off x="6858000" y="304266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成長の先行費用</a:t>
            </a:r>
            <a:endParaRPr lang="en-US" sz="850" dirty="0"/>
          </a:p>
        </p:txBody>
      </p:sp>
      <p:sp>
        <p:nvSpPr>
          <p:cNvPr id="108" name="ovl_s18_glab0"/>
          <p:cNvSpPr txBox="1"/>
          <p:nvPr/>
        </p:nvSpPr>
        <p:spPr>
          <a:xfrm>
            <a:off x="2618232" y="1828800"/>
            <a:ext cx="5527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資本の源</a:t>
            </a:r>
            <a:endParaRPr lang="en-US" sz="800" dirty="0"/>
          </a:p>
        </p:txBody>
      </p:sp>
      <p:sp>
        <p:nvSpPr>
          <p:cNvPr id="109" name="ovl_s18_glab1"/>
          <p:cNvSpPr txBox="1"/>
          <p:nvPr/>
        </p:nvSpPr>
        <p:spPr>
          <a:xfrm>
            <a:off x="4843272" y="1828800"/>
            <a:ext cx="7559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使い道と結果</a:t>
            </a:r>
            <a:endParaRPr lang="en-US" sz="800" dirty="0"/>
          </a:p>
        </p:txBody>
      </p:sp>
      <p:sp>
        <p:nvSpPr>
          <p:cNvPr id="110" name="ovl_s18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11" name="ovl_s18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2" name="ovl_s18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3" name="ovl_s18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4" name="ovl_s18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5" name="ovl_s18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6" name="ovl_s18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7" name="ovl_s18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8" name="ovl_s18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0" name="mech"/>
          <p:cNvSpPr txBox="1"/>
          <p:nvPr/>
        </p:nvSpPr>
        <p:spPr>
          <a:xfrm>
            <a:off x="8458200" y="1810512"/>
            <a:ext cx="3276295" cy="2511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年の増資 33 億ドルで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総自己資本比率は 22.9%(2025 年末)に。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TBVPS は 7.48 ドル(Q3)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自前の資本生成は、利益と株式報酬で年約 11 億ドル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貸出が伸びると、必要資本は年約 30 億ドルで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自前の約 3 倍。比率は 22.9% →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18.8%(Q2)→ 17.0%(Q3)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このままでは 2027 年に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運用の下限(14%)に当たる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その先は資本を使わない LPB に回すか増資。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CFO は「現行計画では増資は不要」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今の規模で成長を止めれば純利益は約 15 億ドル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(ROTCE 約 15%、必要資本ベース 18%)で、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資本コストを上回る。今の約 10%(Q3 年率)は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成長投資の結果</a:t>
            </a:r>
            <a:endParaRPr lang="en-US" sz="900" dirty="0"/>
          </a:p>
        </p:txBody>
      </p:sp>
      <p:sp>
        <p:nvSpPr>
          <p:cNvPr id="121" name="ovl_takeaway_bg"/>
          <p:cNvSpPr/>
          <p:nvPr/>
        </p:nvSpPr>
        <p:spPr>
          <a:xfrm>
            <a:off x="8458200" y="4383024"/>
            <a:ext cx="3276295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2" name="takeaway"/>
          <p:cNvSpPr txBox="1"/>
          <p:nvPr/>
        </p:nvSpPr>
        <p:spPr>
          <a:xfrm>
            <a:off x="8567928" y="4456176"/>
            <a:ext cx="3056839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 ③ の成長投資の結果で、定常の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稼ぐ力は資本コストを上回る。保有の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 ROE 約 26%(Q3)。自給率は監視</a:t>
            </a:r>
            <a:endParaRPr lang="en-US" sz="1000" dirty="0"/>
          </a:p>
        </p:txBody>
      </p:sp>
      <p:sp>
        <p:nvSpPr>
          <p:cNvPr id="123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12% 以上と比率 16%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の配分が 40% 超に戻れば A 寄り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自給率が上がらないまま比率 15% 未満、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または増資なら C</a:t>
            </a:r>
            <a:endParaRPr lang="en-US" sz="850" dirty="0"/>
          </a:p>
        </p:txBody>
      </p:sp>
      <p:sp>
        <p:nvSpPr>
          <p:cNvPr id="124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5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総自己資本比率 16% 未満で LPB の割合 40% 超なら確度を上げ・増資なら C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861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861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資産の転用(条件3)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465324" y="356616"/>
            <a:ext cx="9269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既存の会員と組成の基盤が新しい収益線を生めば、少ない追加投資で伸びる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会員と組成の基盤を手数料(5.71 億ドル、+40%)・LPB・SoFiUSD に転用。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は大口を除き +18% で再成長に入り、評価は A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既存の資産 → 転用の経路 → 新しい収益 ← 外部。①〜④ は右と対応。数値は Q3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の 8-K・説明会の要約)、research_r5/Q3_datasheet.md、calc/out/growth_v4.json、research_r2/R9_products_people.md、research/R1b_kpi.md・R4_scuttlebutt.md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38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条件3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既存の資産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42032" y="1517904"/>
            <a:ext cx="37398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の転用と成果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7022592" y="1517904"/>
            <a:ext cx="13624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8775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82803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9_e0_0"/>
          <p:cNvSpPr/>
          <p:nvPr/>
        </p:nvSpPr>
        <p:spPr>
          <a:xfrm>
            <a:off x="1691640" y="237515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19_e1_0"/>
          <p:cNvSpPr/>
          <p:nvPr/>
        </p:nvSpPr>
        <p:spPr>
          <a:xfrm>
            <a:off x="3931920" y="237515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9_e2_0"/>
          <p:cNvSpPr/>
          <p:nvPr/>
        </p:nvSpPr>
        <p:spPr>
          <a:xfrm>
            <a:off x="1691640" y="3358134"/>
            <a:ext cx="96012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19_e3_0"/>
          <p:cNvSpPr/>
          <p:nvPr/>
        </p:nvSpPr>
        <p:spPr>
          <a:xfrm>
            <a:off x="393192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9_e4_0"/>
          <p:cNvSpPr/>
          <p:nvPr/>
        </p:nvSpPr>
        <p:spPr>
          <a:xfrm flipH="1">
            <a:off x="617220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0" name="ovl_s19_e5_0"/>
          <p:cNvSpPr/>
          <p:nvPr/>
        </p:nvSpPr>
        <p:spPr>
          <a:xfrm>
            <a:off x="1691640" y="434111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9_e6_0"/>
          <p:cNvSpPr/>
          <p:nvPr/>
        </p:nvSpPr>
        <p:spPr>
          <a:xfrm>
            <a:off x="3931920" y="434111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9_e7_0"/>
          <p:cNvSpPr/>
          <p:nvPr/>
        </p:nvSpPr>
        <p:spPr>
          <a:xfrm>
            <a:off x="1691640" y="532409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19_e8_0"/>
          <p:cNvSpPr/>
          <p:nvPr/>
        </p:nvSpPr>
        <p:spPr>
          <a:xfrm>
            <a:off x="3931920" y="532409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19_e9_0"/>
          <p:cNvSpPr/>
          <p:nvPr/>
        </p:nvSpPr>
        <p:spPr>
          <a:xfrm flipH="1">
            <a:off x="6172200" y="5324094"/>
            <a:ext cx="96012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19_n_mem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6" name="ovl_s19_nt_mem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1,710 万人</a:t>
            </a:r>
            <a:endParaRPr lang="en-US" sz="1000" dirty="0"/>
          </a:p>
        </p:txBody>
      </p:sp>
      <p:sp>
        <p:nvSpPr>
          <p:cNvPr id="47" name="ovl_s19_ns_mem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</a:t>
            </a:r>
            <a:endParaRPr lang="en-US" sz="850" dirty="0"/>
          </a:p>
        </p:txBody>
      </p:sp>
      <p:sp>
        <p:nvSpPr>
          <p:cNvPr id="48" name="ovl_s19_n_orig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9" name="ovl_s19_nt_orig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</a:t>
            </a:r>
            <a:endParaRPr lang="en-US" sz="1000" dirty="0"/>
          </a:p>
        </p:txBody>
      </p:sp>
      <p:sp>
        <p:nvSpPr>
          <p:cNvPr id="50" name="ovl_s19_ns_orig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126 億ドル/四半期</a:t>
            </a:r>
            <a:endParaRPr lang="en-US" sz="850" dirty="0"/>
          </a:p>
        </p:txBody>
      </p:sp>
      <p:sp>
        <p:nvSpPr>
          <p:cNvPr id="51" name="ovl_s19_n_charter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2" name="ovl_s19_nt_charter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銀行免許と預金</a:t>
            </a:r>
            <a:endParaRPr lang="en-US" sz="1000" dirty="0"/>
          </a:p>
        </p:txBody>
      </p:sp>
      <p:sp>
        <p:nvSpPr>
          <p:cNvPr id="53" name="ovl_s19_ns_charter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513 億ドル</a:t>
            </a:r>
            <a:endParaRPr lang="en-US" sz="850" dirty="0"/>
          </a:p>
        </p:txBody>
      </p:sp>
      <p:sp>
        <p:nvSpPr>
          <p:cNvPr id="54" name="ovl_s19_n_tech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19_nt_tech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56" name="ovl_s19_ns_tech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</p:txBody>
      </p:sp>
      <p:sp>
        <p:nvSpPr>
          <p:cNvPr id="57" name="ovl_s19_n_cross"/>
          <p:cNvSpPr/>
          <p:nvPr/>
        </p:nvSpPr>
        <p:spPr>
          <a:xfrm>
            <a:off x="265176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9_nt_cross"/>
          <p:cNvSpPr txBox="1"/>
          <p:nvPr/>
        </p:nvSpPr>
        <p:spPr>
          <a:xfrm>
            <a:off x="268833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9" name="ovl_s19_ns_cross"/>
          <p:cNvSpPr txBox="1"/>
          <p:nvPr/>
        </p:nvSpPr>
        <p:spPr>
          <a:xfrm>
            <a:off x="269748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60" name="ovl_s19_n_lpbc"/>
          <p:cNvSpPr/>
          <p:nvPr/>
        </p:nvSpPr>
        <p:spPr>
          <a:xfrm>
            <a:off x="265176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19_nt_lpbc"/>
          <p:cNvSpPr txBox="1"/>
          <p:nvPr/>
        </p:nvSpPr>
        <p:spPr>
          <a:xfrm>
            <a:off x="268833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1000" dirty="0"/>
          </a:p>
        </p:txBody>
      </p:sp>
      <p:sp>
        <p:nvSpPr>
          <p:cNvPr id="62" name="ovl_s19_ns_lpbc"/>
          <p:cNvSpPr txBox="1"/>
          <p:nvPr/>
        </p:nvSpPr>
        <p:spPr>
          <a:xfrm>
            <a:off x="269748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 最大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ほか 100 億ドル超</a:t>
            </a:r>
            <a:endParaRPr lang="en-US" sz="850" dirty="0"/>
          </a:p>
        </p:txBody>
      </p:sp>
      <p:sp>
        <p:nvSpPr>
          <p:cNvPr id="63" name="ovl_s19_n_chain"/>
          <p:cNvSpPr/>
          <p:nvPr/>
        </p:nvSpPr>
        <p:spPr>
          <a:xfrm>
            <a:off x="265176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19_nt_chain"/>
          <p:cNvSpPr txBox="1"/>
          <p:nvPr/>
        </p:nvSpPr>
        <p:spPr>
          <a:xfrm>
            <a:off x="268833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銀行の新商品</a:t>
            </a:r>
            <a:endParaRPr lang="en-US" sz="1000" dirty="0"/>
          </a:p>
        </p:txBody>
      </p:sp>
      <p:sp>
        <p:nvSpPr>
          <p:cNvPr id="65" name="ovl_s19_ns_chain"/>
          <p:cNvSpPr txBox="1"/>
          <p:nvPr/>
        </p:nvSpPr>
        <p:spPr>
          <a:xfrm>
            <a:off x="269748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2025-11 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2026-05</a:t>
            </a:r>
            <a:endParaRPr lang="en-US" sz="850" dirty="0"/>
          </a:p>
        </p:txBody>
      </p:sp>
      <p:sp>
        <p:nvSpPr>
          <p:cNvPr id="66" name="ovl_s19_n_ext"/>
          <p:cNvSpPr/>
          <p:nvPr/>
        </p:nvSpPr>
        <p:spPr>
          <a:xfrm>
            <a:off x="265176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19_nt_ext"/>
          <p:cNvSpPr txBox="1"/>
          <p:nvPr/>
        </p:nvSpPr>
        <p:spPr>
          <a:xfrm>
            <a:off x="268833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</a:t>
            </a:r>
            <a:endParaRPr lang="en-US" sz="1000" dirty="0"/>
          </a:p>
        </p:txBody>
      </p:sp>
      <p:sp>
        <p:nvSpPr>
          <p:cNvPr id="68" name="ovl_s19_ns_ext"/>
          <p:cNvSpPr txBox="1"/>
          <p:nvPr/>
        </p:nvSpPr>
        <p:spPr>
          <a:xfrm>
            <a:off x="269748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口座基盤を提供</a:t>
            </a:r>
            <a:endParaRPr lang="en-US" sz="850" dirty="0"/>
          </a:p>
        </p:txBody>
      </p:sp>
      <p:sp>
        <p:nvSpPr>
          <p:cNvPr id="69" name="ovl_s19_n_fs"/>
          <p:cNvSpPr/>
          <p:nvPr/>
        </p:nvSpPr>
        <p:spPr>
          <a:xfrm>
            <a:off x="489204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0" name="ovl_s19_nt_fs"/>
          <p:cNvSpPr txBox="1"/>
          <p:nvPr/>
        </p:nvSpPr>
        <p:spPr>
          <a:xfrm>
            <a:off x="492861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</a:t>
            </a:r>
            <a:endParaRPr lang="en-US" sz="1000" dirty="0"/>
          </a:p>
        </p:txBody>
      </p:sp>
      <p:sp>
        <p:nvSpPr>
          <p:cNvPr id="71" name="ovl_s19_ns_fs"/>
          <p:cNvSpPr txBox="1"/>
          <p:nvPr/>
        </p:nvSpPr>
        <p:spPr>
          <a:xfrm>
            <a:off x="493776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交換手数料 +77%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決済額 年 310 億ドル</a:t>
            </a:r>
            <a:endParaRPr lang="en-US" sz="850" dirty="0"/>
          </a:p>
        </p:txBody>
      </p:sp>
      <p:sp>
        <p:nvSpPr>
          <p:cNvPr id="72" name="ovl_s19_n_lpb"/>
          <p:cNvSpPr/>
          <p:nvPr/>
        </p:nvSpPr>
        <p:spPr>
          <a:xfrm>
            <a:off x="489204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3" name="ovl_s19_nt_lpb"/>
          <p:cNvSpPr txBox="1"/>
          <p:nvPr/>
        </p:nvSpPr>
        <p:spPr>
          <a:xfrm>
            <a:off x="492861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74" name="ovl_s19_ns_lpb"/>
          <p:cNvSpPr txBox="1"/>
          <p:nvPr/>
        </p:nvSpPr>
        <p:spPr>
          <a:xfrm>
            <a:off x="493776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1.53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(組成 36 億ドル)</a:t>
            </a:r>
            <a:endParaRPr lang="en-US" sz="850" dirty="0"/>
          </a:p>
        </p:txBody>
      </p:sp>
      <p:sp>
        <p:nvSpPr>
          <p:cNvPr id="75" name="ovl_s19_n_newb"/>
          <p:cNvSpPr/>
          <p:nvPr/>
        </p:nvSpPr>
        <p:spPr>
          <a:xfrm>
            <a:off x="4892040" y="3911346"/>
            <a:ext cx="1280160" cy="859536"/>
          </a:xfrm>
          <a:prstGeom prst="roundRect">
            <a:avLst>
              <a:gd name="adj" fmla="val 6383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6" name="ovl_s19_nt_newb"/>
          <p:cNvSpPr txBox="1"/>
          <p:nvPr/>
        </p:nvSpPr>
        <p:spPr>
          <a:xfrm>
            <a:off x="4928616" y="393877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</a:t>
            </a:r>
            <a:endParaRPr lang="en-US" sz="1000" dirty="0"/>
          </a:p>
        </p:txBody>
      </p:sp>
      <p:sp>
        <p:nvSpPr>
          <p:cNvPr id="77" name="ovl_s19_ns_newb"/>
          <p:cNvSpPr txBox="1"/>
          <p:nvPr/>
        </p:nvSpPr>
        <p:spPr>
          <a:xfrm>
            <a:off x="4937760" y="4144518"/>
            <a:ext cx="118872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会員向け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2026-05-27 開始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HELOC・中小企業向け</a:t>
            </a:r>
            <a:endParaRPr lang="en-US" sz="850" dirty="0"/>
          </a:p>
        </p:txBody>
      </p:sp>
      <p:sp>
        <p:nvSpPr>
          <p:cNvPr id="78" name="ovl_s19_n_gal"/>
          <p:cNvSpPr/>
          <p:nvPr/>
        </p:nvSpPr>
        <p:spPr>
          <a:xfrm>
            <a:off x="489204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9" name="ovl_s19_nt_gal"/>
          <p:cNvSpPr txBox="1"/>
          <p:nvPr/>
        </p:nvSpPr>
        <p:spPr>
          <a:xfrm>
            <a:off x="492861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80" name="ovl_s19_ns_gal"/>
          <p:cNvSpPr txBox="1"/>
          <p:nvPr/>
        </p:nvSpPr>
        <p:spPr>
          <a:xfrm>
            <a:off x="493776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大口を除き +18%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(前年比 −24%)</a:t>
            </a:r>
            <a:endParaRPr lang="en-US" sz="850" dirty="0"/>
          </a:p>
        </p:txBody>
      </p:sp>
      <p:sp>
        <p:nvSpPr>
          <p:cNvPr id="81" name="ovl_s19_n_buyers"/>
          <p:cNvSpPr/>
          <p:nvPr/>
        </p:nvSpPr>
        <p:spPr>
          <a:xfrm>
            <a:off x="7132320" y="2910078"/>
            <a:ext cx="11430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2" name="ovl_s19_nt_buyers"/>
          <p:cNvSpPr txBox="1"/>
          <p:nvPr/>
        </p:nvSpPr>
        <p:spPr>
          <a:xfrm>
            <a:off x="7168896" y="293751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83" name="ovl_s19_ns_buyers"/>
          <p:cNvSpPr txBox="1"/>
          <p:nvPr/>
        </p:nvSpPr>
        <p:spPr>
          <a:xfrm>
            <a:off x="7178040" y="3143250"/>
            <a:ext cx="105156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Fortress・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BasePoint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 年 30 億ドル)</a:t>
            </a:r>
            <a:endParaRPr lang="en-US" sz="850" dirty="0"/>
          </a:p>
        </p:txBody>
      </p:sp>
      <p:sp>
        <p:nvSpPr>
          <p:cNvPr id="84" name="ovl_s19_n_chime"/>
          <p:cNvSpPr/>
          <p:nvPr/>
        </p:nvSpPr>
        <p:spPr>
          <a:xfrm>
            <a:off x="7132320" y="4958334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19_nt_chime"/>
          <p:cNvSpPr txBox="1"/>
          <p:nvPr/>
        </p:nvSpPr>
        <p:spPr>
          <a:xfrm>
            <a:off x="7168896" y="4985766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86" name="ovl_s19_ns_chime"/>
          <p:cNvSpPr txBox="1"/>
          <p:nvPr/>
        </p:nvSpPr>
        <p:spPr>
          <a:xfrm>
            <a:off x="7178040" y="5191506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自社基盤へ移行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万ドル</a:t>
            </a:r>
            <a:endParaRPr lang="en-US" sz="850" dirty="0"/>
          </a:p>
        </p:txBody>
      </p:sp>
      <p:sp>
        <p:nvSpPr>
          <p:cNvPr id="87" name="ovl_s19_lab0"/>
          <p:cNvSpPr txBox="1"/>
          <p:nvPr/>
        </p:nvSpPr>
        <p:spPr>
          <a:xfrm>
            <a:off x="1807883" y="214198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88" name="ovl_s19_lab1"/>
          <p:cNvSpPr txBox="1"/>
          <p:nvPr/>
        </p:nvSpPr>
        <p:spPr>
          <a:xfrm>
            <a:off x="4182237" y="214198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9" name="ovl_s19_lab2"/>
          <p:cNvSpPr txBox="1"/>
          <p:nvPr/>
        </p:nvSpPr>
        <p:spPr>
          <a:xfrm>
            <a:off x="1728216" y="2983230"/>
            <a:ext cx="88696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組成して渡す</a:t>
            </a:r>
            <a:endParaRPr lang="en-US" sz="850" dirty="0"/>
          </a:p>
        </p:txBody>
      </p:sp>
      <p:sp>
        <p:nvSpPr>
          <p:cNvPr id="90" name="ovl_s19_lab3"/>
          <p:cNvSpPr txBox="1"/>
          <p:nvPr/>
        </p:nvSpPr>
        <p:spPr>
          <a:xfrm>
            <a:off x="4036505" y="3124962"/>
            <a:ext cx="75095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4.3%</a:t>
            </a:r>
            <a:endParaRPr lang="en-US" sz="850" dirty="0"/>
          </a:p>
        </p:txBody>
      </p:sp>
      <p:sp>
        <p:nvSpPr>
          <p:cNvPr id="91" name="ovl_s19_lab4"/>
          <p:cNvSpPr txBox="1"/>
          <p:nvPr/>
        </p:nvSpPr>
        <p:spPr>
          <a:xfrm>
            <a:off x="6273870" y="3124962"/>
            <a:ext cx="75678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額面+手数料</a:t>
            </a:r>
            <a:endParaRPr lang="en-US" sz="850" dirty="0"/>
          </a:p>
        </p:txBody>
      </p:sp>
      <p:sp>
        <p:nvSpPr>
          <p:cNvPr id="92" name="ovl_s19_lab5"/>
          <p:cNvSpPr txBox="1"/>
          <p:nvPr/>
        </p:nvSpPr>
        <p:spPr>
          <a:xfrm>
            <a:off x="174959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銀行が発行</a:t>
            </a:r>
            <a:endParaRPr lang="en-US" sz="850" dirty="0"/>
          </a:p>
        </p:txBody>
      </p:sp>
      <p:sp>
        <p:nvSpPr>
          <p:cNvPr id="93" name="ovl_s19_lab6"/>
          <p:cNvSpPr txBox="1"/>
          <p:nvPr/>
        </p:nvSpPr>
        <p:spPr>
          <a:xfrm>
            <a:off x="4240530" y="410794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流通</a:t>
            </a:r>
            <a:endParaRPr lang="en-US" sz="850" dirty="0"/>
          </a:p>
        </p:txBody>
      </p:sp>
      <p:sp>
        <p:nvSpPr>
          <p:cNvPr id="94" name="ovl_s19_lab8"/>
          <p:cNvSpPr txBox="1"/>
          <p:nvPr/>
        </p:nvSpPr>
        <p:spPr>
          <a:xfrm>
            <a:off x="4106456" y="509092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5" name="ovl_s19_lab9"/>
          <p:cNvSpPr txBox="1"/>
          <p:nvPr/>
        </p:nvSpPr>
        <p:spPr>
          <a:xfrm>
            <a:off x="6480810" y="509092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離脱</a:t>
            </a:r>
            <a:endParaRPr lang="en-US" sz="850" dirty="0"/>
          </a:p>
        </p:txBody>
      </p:sp>
      <p:sp>
        <p:nvSpPr>
          <p:cNvPr id="96" name="ovl_s19_glab0"/>
          <p:cNvSpPr txBox="1"/>
          <p:nvPr/>
        </p:nvSpPr>
        <p:spPr>
          <a:xfrm>
            <a:off x="26791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転用の経路</a:t>
            </a:r>
            <a:endParaRPr lang="en-US" sz="800" dirty="0"/>
          </a:p>
        </p:txBody>
      </p:sp>
      <p:sp>
        <p:nvSpPr>
          <p:cNvPr id="97" name="ovl_s19_glab1"/>
          <p:cNvSpPr txBox="1"/>
          <p:nvPr/>
        </p:nvSpPr>
        <p:spPr>
          <a:xfrm>
            <a:off x="491947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新しい収益</a:t>
            </a:r>
            <a:endParaRPr lang="en-US" sz="800" dirty="0"/>
          </a:p>
        </p:txBody>
      </p:sp>
      <p:sp>
        <p:nvSpPr>
          <p:cNvPr id="98" name="ovl_s19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9" name="ovl_s19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0" name="ovl_s19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01" name="ovl_s19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2" name="ovl_s19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3" name="ovl_s19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4" name="ovl_s19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5" name="ovl_s19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6" name="ovl_s19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7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8" name="mech"/>
          <p:cNvSpPr txBox="1"/>
          <p:nvPr/>
        </p:nvSpPr>
        <p:spPr>
          <a:xfrm>
            <a:off x="8458200" y="1810512"/>
            <a:ext cx="3276295" cy="2674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1,710 万人に製品を足す。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は既存会員が開き、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交換手数料は +77%(決済額 年 310 億ドル)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組成の能力を他社の資金に貸す。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組成は四半期 36 億ドル、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手数料は 1.53 億ドル(四半期)。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手数料型の収益は 5.71 億ドル(+40%)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銀行免許の上に暗号資産(2025-11 再開)と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SoFiUSD(会員向け 2026-05-27)を載せた。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流通額と収益は未開示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技術基盤の外販は大口顧客(Chime)の離脱で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−24%。大口を除けば +18%(Q3)。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 を自社の新コアへ移して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外販の信頼を得る段階</a:t>
            </a:r>
            <a:endParaRPr lang="en-US" sz="1100" dirty="0"/>
          </a:p>
        </p:txBody>
      </p:sp>
      <p:sp>
        <p:nvSpPr>
          <p:cNvPr id="109" name="ovl_takeaway_bg"/>
          <p:cNvSpPr/>
          <p:nvPr/>
        </p:nvSpPr>
        <p:spPr>
          <a:xfrm>
            <a:off x="8458200" y="4701540"/>
            <a:ext cx="3276295" cy="8534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0" name="takeaway"/>
          <p:cNvSpPr txBox="1"/>
          <p:nvPr/>
        </p:nvSpPr>
        <p:spPr>
          <a:xfrm>
            <a:off x="8567928" y="4774692"/>
            <a:ext cx="3056839" cy="707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会員と組成の基盤の転用が手数料型 +40% 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数字に出た。Tech Platform も再成長に入り A</a:t>
            </a:r>
            <a:endParaRPr lang="en-US" sz="1000" dirty="0"/>
          </a:p>
        </p:txBody>
      </p:sp>
      <p:sp>
        <p:nvSpPr>
          <p:cNvPr id="111" name="updown"/>
          <p:cNvSpPr txBox="1"/>
          <p:nvPr/>
        </p:nvSpPr>
        <p:spPr>
          <a:xfrm>
            <a:off x="8458200" y="5628132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手数料型の比率 45% 超が 2 四半期で S 候補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の前期比がマイナスに戻るか、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手数料型の比率が 38% を割れば B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経営(条件5)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経営者の能力(条件5)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成長と信用の判断を任せる経営陣が、その事業を築いた経験と資本配分の規律を持つかを確かめる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は資本市場と財務の経歴で銀行化と黒字化を果たし、貸出は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消費者金融の経験者が率いる。報酬は 1 株当たりでなく TBV の総額に連動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経歴(どこで何を築いたか)→ 現職 → 担う事業 → 結果(Q3 2026 まで)。①〜⑤ は右と対応。経歴は会社発表・報道の要約に基づく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research/R3b_management.md、research_r2/R9_products_people.md(会社発表・DEF 14A・Form 4 の要約)、research_r5/Q3_datasheet.md(Q3 の 8-K・説明会の要約)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39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条件5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910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57272" y="1517904"/>
            <a:ext cx="36636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経営陣と担う事業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839712" y="1517904"/>
            <a:ext cx="154533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</a:t>
            </a:r>
            <a:endParaRPr lang="en-US" sz="950" dirty="0"/>
          </a:p>
        </p:txBody>
      </p:sp>
      <p:sp>
        <p:nvSpPr>
          <p:cNvPr id="33" name="ovl_s21_e0_0"/>
          <p:cNvSpPr/>
          <p:nvPr/>
        </p:nvSpPr>
        <p:spPr>
          <a:xfrm>
            <a:off x="182880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4" name="ovl_s21_e1_0"/>
          <p:cNvSpPr/>
          <p:nvPr/>
        </p:nvSpPr>
        <p:spPr>
          <a:xfrm>
            <a:off x="182880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5" name="ovl_s21_e2_0"/>
          <p:cNvSpPr/>
          <p:nvPr/>
        </p:nvSpPr>
        <p:spPr>
          <a:xfrm>
            <a:off x="182880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21_e3_0"/>
          <p:cNvSpPr/>
          <p:nvPr/>
        </p:nvSpPr>
        <p:spPr>
          <a:xfrm>
            <a:off x="182880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21_e4_0"/>
          <p:cNvSpPr/>
          <p:nvPr/>
        </p:nvSpPr>
        <p:spPr>
          <a:xfrm>
            <a:off x="399288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1_e5_0"/>
          <p:cNvSpPr/>
          <p:nvPr/>
        </p:nvSpPr>
        <p:spPr>
          <a:xfrm>
            <a:off x="399288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1_e6_0"/>
          <p:cNvSpPr/>
          <p:nvPr/>
        </p:nvSpPr>
        <p:spPr>
          <a:xfrm>
            <a:off x="399288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1_e7_0"/>
          <p:cNvSpPr/>
          <p:nvPr/>
        </p:nvSpPr>
        <p:spPr>
          <a:xfrm>
            <a:off x="399288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1_e8_0"/>
          <p:cNvSpPr/>
          <p:nvPr/>
        </p:nvSpPr>
        <p:spPr>
          <a:xfrm>
            <a:off x="611124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1_e9_0"/>
          <p:cNvSpPr/>
          <p:nvPr/>
        </p:nvSpPr>
        <p:spPr>
          <a:xfrm>
            <a:off x="611124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21_e10_0"/>
          <p:cNvSpPr/>
          <p:nvPr/>
        </p:nvSpPr>
        <p:spPr>
          <a:xfrm>
            <a:off x="611124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1_n_gt"/>
          <p:cNvSpPr/>
          <p:nvPr/>
        </p:nvSpPr>
        <p:spPr>
          <a:xfrm>
            <a:off x="457200" y="1904238"/>
            <a:ext cx="1371600" cy="941832"/>
          </a:xfrm>
          <a:prstGeom prst="roundRect">
            <a:avLst>
              <a:gd name="adj" fmla="val 5825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5" name="ovl_s21_nt_gt"/>
          <p:cNvSpPr txBox="1"/>
          <p:nvPr/>
        </p:nvSpPr>
        <p:spPr>
          <a:xfrm>
            <a:off x="493776" y="193167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NFL・Twitter</a:t>
            </a:r>
            <a:endParaRPr lang="en-US" sz="900" dirty="0"/>
          </a:p>
        </p:txBody>
      </p:sp>
      <p:sp>
        <p:nvSpPr>
          <p:cNvPr id="46" name="ovl_s21_ns_gt"/>
          <p:cNvSpPr txBox="1"/>
          <p:nvPr/>
        </p:nvSpPr>
        <p:spPr>
          <a:xfrm>
            <a:off x="502920" y="228828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Noto: GS 1999〜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2004 パートナー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 2008〜10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CFO 2014〜17</a:t>
            </a:r>
            <a:endParaRPr lang="en-US" sz="850" dirty="0"/>
          </a:p>
        </p:txBody>
      </p:sp>
      <p:sp>
        <p:nvSpPr>
          <p:cNvPr id="47" name="ovl_s21_n_uber"/>
          <p:cNvSpPr/>
          <p:nvPr/>
        </p:nvSpPr>
        <p:spPr>
          <a:xfrm>
            <a:off x="457200" y="298323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8" name="ovl_s21_nt_uber"/>
          <p:cNvSpPr txBox="1"/>
          <p:nvPr/>
        </p:nvSpPr>
        <p:spPr>
          <a:xfrm>
            <a:off x="493776" y="3010662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Goldman・Uber</a:t>
            </a:r>
            <a:endParaRPr lang="en-US" sz="1000" dirty="0"/>
          </a:p>
        </p:txBody>
      </p:sp>
      <p:sp>
        <p:nvSpPr>
          <p:cNvPr id="49" name="ovl_s21_ns_uber"/>
          <p:cNvSpPr txBox="1"/>
          <p:nvPr/>
        </p:nvSpPr>
        <p:spPr>
          <a:xfrm>
            <a:off x="502920" y="3216402"/>
            <a:ext cx="12801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Lapointe: GS 2012〜15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Uber 2015〜18</a:t>
            </a:r>
            <a:endParaRPr lang="en-US" sz="850" dirty="0"/>
          </a:p>
        </p:txBody>
      </p:sp>
      <p:sp>
        <p:nvSpPr>
          <p:cNvPr id="50" name="ovl_s21_n_cons"/>
          <p:cNvSpPr/>
          <p:nvPr/>
        </p:nvSpPr>
        <p:spPr>
          <a:xfrm>
            <a:off x="457200" y="3950208"/>
            <a:ext cx="1371600" cy="1764792"/>
          </a:xfrm>
          <a:prstGeom prst="roundRect">
            <a:avLst>
              <a:gd name="adj" fmla="val 40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1" name="ovl_s21_nt_cons"/>
          <p:cNvSpPr txBox="1"/>
          <p:nvPr/>
        </p:nvSpPr>
        <p:spPr>
          <a:xfrm>
            <a:off x="493776" y="397764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900" dirty="0"/>
          </a:p>
        </p:txBody>
      </p:sp>
      <p:sp>
        <p:nvSpPr>
          <p:cNvPr id="52" name="ovl_s21_ns_cons"/>
          <p:cNvSpPr txBox="1"/>
          <p:nvPr/>
        </p:nvSpPr>
        <p:spPr>
          <a:xfrm>
            <a:off x="502920" y="4334256"/>
            <a:ext cx="1280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JPM 住宅ローン CFO・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Citizens/Schwab・JPM</a:t>
            </a:r>
            <a:endParaRPr lang="en-US" sz="850" dirty="0"/>
          </a:p>
        </p:txBody>
      </p:sp>
      <p:sp>
        <p:nvSpPr>
          <p:cNvPr id="53" name="ovl_s21_n_noto"/>
          <p:cNvSpPr/>
          <p:nvPr/>
        </p:nvSpPr>
        <p:spPr>
          <a:xfrm>
            <a:off x="266700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4" name="ovl_s21_nt_noto"/>
          <p:cNvSpPr txBox="1"/>
          <p:nvPr/>
        </p:nvSpPr>
        <p:spPr>
          <a:xfrm>
            <a:off x="270357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(CEO)</a:t>
            </a:r>
            <a:endParaRPr lang="en-US" sz="900" dirty="0"/>
          </a:p>
        </p:txBody>
      </p:sp>
      <p:sp>
        <p:nvSpPr>
          <p:cNvPr id="55" name="ovl_s21_ns_noto"/>
          <p:cNvSpPr txBox="1"/>
          <p:nvPr/>
        </p:nvSpPr>
        <p:spPr>
          <a:xfrm>
            <a:off x="271272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2018-02 就任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West Point・Wharton</a:t>
            </a:r>
            <a:endParaRPr lang="en-US" sz="850" dirty="0"/>
          </a:p>
        </p:txBody>
      </p:sp>
      <p:sp>
        <p:nvSpPr>
          <p:cNvPr id="56" name="ovl_s21_n_lap"/>
          <p:cNvSpPr/>
          <p:nvPr/>
        </p:nvSpPr>
        <p:spPr>
          <a:xfrm>
            <a:off x="266700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7" name="ovl_s21_nt_lap"/>
          <p:cNvSpPr txBox="1"/>
          <p:nvPr/>
        </p:nvSpPr>
        <p:spPr>
          <a:xfrm>
            <a:off x="2703576" y="301066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(CFO)</a:t>
            </a:r>
            <a:endParaRPr lang="en-US" sz="900" dirty="0"/>
          </a:p>
        </p:txBody>
      </p:sp>
      <p:sp>
        <p:nvSpPr>
          <p:cNvPr id="58" name="ovl_s21_ns_lap"/>
          <p:cNvSpPr txBox="1"/>
          <p:nvPr/>
        </p:nvSpPr>
        <p:spPr>
          <a:xfrm>
            <a:off x="2712720" y="336727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 入社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2020-09 CFO</a:t>
            </a:r>
            <a:endParaRPr lang="en-US" sz="850" dirty="0"/>
          </a:p>
        </p:txBody>
      </p:sp>
      <p:sp>
        <p:nvSpPr>
          <p:cNvPr id="59" name="ovl_s21_n_sch"/>
          <p:cNvSpPr/>
          <p:nvPr/>
        </p:nvSpPr>
        <p:spPr>
          <a:xfrm>
            <a:off x="2667000" y="396621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0" name="ovl_s21_nt_sch"/>
          <p:cNvSpPr txBox="1"/>
          <p:nvPr/>
        </p:nvSpPr>
        <p:spPr>
          <a:xfrm>
            <a:off x="2703576" y="399364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(貸出の責任者)</a:t>
            </a:r>
            <a:endParaRPr lang="en-US" sz="900" dirty="0"/>
          </a:p>
        </p:txBody>
      </p:sp>
      <p:sp>
        <p:nvSpPr>
          <p:cNvPr id="61" name="ovl_s21_ns_sch"/>
          <p:cNvSpPr txBox="1"/>
          <p:nvPr/>
        </p:nvSpPr>
        <p:spPr>
          <a:xfrm>
            <a:off x="2712720" y="435025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2024-08 入社</a:t>
            </a:r>
            <a:endParaRPr lang="en-US" sz="850" dirty="0"/>
          </a:p>
        </p:txBody>
      </p:sp>
      <p:sp>
        <p:nvSpPr>
          <p:cNvPr id="62" name="ovl_s21_n_keo"/>
          <p:cNvSpPr/>
          <p:nvPr/>
        </p:nvSpPr>
        <p:spPr>
          <a:xfrm>
            <a:off x="2667000" y="494919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3" name="ovl_s21_nt_keo"/>
          <p:cNvSpPr txBox="1"/>
          <p:nvPr/>
        </p:nvSpPr>
        <p:spPr>
          <a:xfrm>
            <a:off x="2703576" y="497662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Keough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(FS の責任者)</a:t>
            </a:r>
            <a:endParaRPr lang="en-US" sz="900" dirty="0"/>
          </a:p>
        </p:txBody>
      </p:sp>
      <p:sp>
        <p:nvSpPr>
          <p:cNvPr id="64" name="ovl_s21_ns_keo"/>
          <p:cNvSpPr txBox="1"/>
          <p:nvPr/>
        </p:nvSpPr>
        <p:spPr>
          <a:xfrm>
            <a:off x="2712720" y="533323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2023-03 入社</a:t>
            </a:r>
            <a:endParaRPr lang="en-US" sz="850" dirty="0"/>
          </a:p>
        </p:txBody>
      </p:sp>
      <p:sp>
        <p:nvSpPr>
          <p:cNvPr id="65" name="ovl_s21_n_bank"/>
          <p:cNvSpPr/>
          <p:nvPr/>
        </p:nvSpPr>
        <p:spPr>
          <a:xfrm>
            <a:off x="4831080" y="200025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1_nt_bank"/>
          <p:cNvSpPr txBox="1"/>
          <p:nvPr/>
        </p:nvSpPr>
        <p:spPr>
          <a:xfrm>
            <a:off x="4867656" y="202768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銀行化と資本</a:t>
            </a:r>
            <a:endParaRPr lang="en-US" sz="1000" dirty="0"/>
          </a:p>
        </p:txBody>
      </p:sp>
      <p:sp>
        <p:nvSpPr>
          <p:cNvPr id="67" name="ovl_s21_ns_bank"/>
          <p:cNvSpPr txBox="1"/>
          <p:nvPr/>
        </p:nvSpPr>
        <p:spPr>
          <a:xfrm>
            <a:off x="4876800" y="223342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免許・増資・資本配分</a:t>
            </a:r>
            <a:endParaRPr lang="en-US" sz="850" dirty="0"/>
          </a:p>
        </p:txBody>
      </p:sp>
      <p:sp>
        <p:nvSpPr>
          <p:cNvPr id="68" name="ovl_s21_n_fin"/>
          <p:cNvSpPr/>
          <p:nvPr/>
        </p:nvSpPr>
        <p:spPr>
          <a:xfrm>
            <a:off x="4831080" y="298323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1_nt_fin"/>
          <p:cNvSpPr txBox="1"/>
          <p:nvPr/>
        </p:nvSpPr>
        <p:spPr>
          <a:xfrm>
            <a:off x="4867656" y="301066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財務とガイダンス</a:t>
            </a:r>
            <a:endParaRPr lang="en-US" sz="1000" dirty="0"/>
          </a:p>
        </p:txBody>
      </p:sp>
      <p:sp>
        <p:nvSpPr>
          <p:cNvPr id="70" name="ovl_s21_ns_fin"/>
          <p:cNvSpPr txBox="1"/>
          <p:nvPr/>
        </p:nvSpPr>
        <p:spPr>
          <a:xfrm>
            <a:off x="4876800" y="321640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利益計画・開示</a:t>
            </a:r>
            <a:endParaRPr lang="en-US" sz="850" dirty="0"/>
          </a:p>
        </p:txBody>
      </p:sp>
      <p:sp>
        <p:nvSpPr>
          <p:cNvPr id="71" name="ovl_s21_n_lend"/>
          <p:cNvSpPr/>
          <p:nvPr/>
        </p:nvSpPr>
        <p:spPr>
          <a:xfrm>
            <a:off x="4831080" y="396621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1_nt_lend"/>
          <p:cNvSpPr txBox="1"/>
          <p:nvPr/>
        </p:nvSpPr>
        <p:spPr>
          <a:xfrm>
            <a:off x="4867656" y="399364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個人・学生・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900" dirty="0"/>
          </a:p>
        </p:txBody>
      </p:sp>
      <p:sp>
        <p:nvSpPr>
          <p:cNvPr id="73" name="ovl_s21_ns_lend"/>
          <p:cNvSpPr txBox="1"/>
          <p:nvPr/>
        </p:nvSpPr>
        <p:spPr>
          <a:xfrm>
            <a:off x="4876800" y="435025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与信と SoFi Bank</a:t>
            </a:r>
            <a:endParaRPr lang="en-US" sz="850" dirty="0"/>
          </a:p>
        </p:txBody>
      </p:sp>
      <p:sp>
        <p:nvSpPr>
          <p:cNvPr id="74" name="ovl_s21_n_fsb"/>
          <p:cNvSpPr/>
          <p:nvPr/>
        </p:nvSpPr>
        <p:spPr>
          <a:xfrm>
            <a:off x="4831080" y="494919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5" name="ovl_s21_nt_fsb"/>
          <p:cNvSpPr txBox="1"/>
          <p:nvPr/>
        </p:nvSpPr>
        <p:spPr>
          <a:xfrm>
            <a:off x="4867656" y="497662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</a:t>
            </a:r>
            <a:endParaRPr lang="en-US" sz="1000" dirty="0"/>
          </a:p>
        </p:txBody>
      </p:sp>
      <p:sp>
        <p:nvSpPr>
          <p:cNvPr id="76" name="ovl_s21_ns_fsb"/>
          <p:cNvSpPr txBox="1"/>
          <p:nvPr/>
        </p:nvSpPr>
        <p:spPr>
          <a:xfrm>
            <a:off x="4876800" y="518236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Spend・Invest・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Protect・Save</a:t>
            </a:r>
            <a:endParaRPr lang="en-US" sz="850" dirty="0"/>
          </a:p>
        </p:txBody>
      </p:sp>
      <p:sp>
        <p:nvSpPr>
          <p:cNvPr id="77" name="ovl_s21_n_res1"/>
          <p:cNvSpPr/>
          <p:nvPr/>
        </p:nvSpPr>
        <p:spPr>
          <a:xfrm>
            <a:off x="694944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8" name="ovl_s21_nt_res1"/>
          <p:cNvSpPr txBox="1"/>
          <p:nvPr/>
        </p:nvSpPr>
        <p:spPr>
          <a:xfrm>
            <a:off x="698601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 2022 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GAAP 黒字 Q4 2023</a:t>
            </a:r>
            <a:endParaRPr lang="en-US" sz="900" dirty="0"/>
          </a:p>
        </p:txBody>
      </p:sp>
      <p:sp>
        <p:nvSpPr>
          <p:cNvPr id="79" name="ovl_s21_ns_res1"/>
          <p:cNvSpPr txBox="1"/>
          <p:nvPr/>
        </p:nvSpPr>
        <p:spPr>
          <a:xfrm>
            <a:off x="699516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約束した時期どおり</a:t>
            </a:r>
            <a:endParaRPr lang="en-US" sz="850" dirty="0"/>
          </a:p>
        </p:txBody>
      </p:sp>
      <p:sp>
        <p:nvSpPr>
          <p:cNvPr id="80" name="ovl_s21_n_res2"/>
          <p:cNvSpPr/>
          <p:nvPr/>
        </p:nvSpPr>
        <p:spPr>
          <a:xfrm>
            <a:off x="694944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1" name="ovl_s21_nt_res2"/>
          <p:cNvSpPr txBox="1"/>
          <p:nvPr/>
        </p:nvSpPr>
        <p:spPr>
          <a:xfrm>
            <a:off x="6986016" y="301066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も上振れ</a:t>
            </a:r>
            <a:endParaRPr lang="en-US" sz="1000" dirty="0"/>
          </a:p>
        </p:txBody>
      </p:sp>
      <p:sp>
        <p:nvSpPr>
          <p:cNvPr id="82" name="ovl_s21_ns_res2"/>
          <p:cNvSpPr txBox="1"/>
          <p:nvPr/>
        </p:nvSpPr>
        <p:spPr>
          <a:xfrm>
            <a:off x="6995160" y="321640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収益・EPS 上振れ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年見通し増額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 EPS 0.90 提示</a:t>
            </a:r>
            <a:endParaRPr lang="en-US" sz="850" dirty="0"/>
          </a:p>
        </p:txBody>
      </p:sp>
      <p:sp>
        <p:nvSpPr>
          <p:cNvPr id="83" name="ovl_s21_n_res3"/>
          <p:cNvSpPr/>
          <p:nvPr/>
        </p:nvSpPr>
        <p:spPr>
          <a:xfrm>
            <a:off x="6949440" y="3929634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4" name="ovl_s21_nt_res3"/>
          <p:cNvSpPr txBox="1"/>
          <p:nvPr/>
        </p:nvSpPr>
        <p:spPr>
          <a:xfrm>
            <a:off x="6986016" y="39570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未達と未検証</a:t>
            </a:r>
            <a:endParaRPr lang="en-US" sz="1000" dirty="0"/>
          </a:p>
        </p:txBody>
      </p:sp>
      <p:sp>
        <p:nvSpPr>
          <p:cNvPr id="85" name="ovl_s21_ns_res3"/>
          <p:cNvSpPr txBox="1"/>
          <p:nvPr/>
        </p:nvSpPr>
        <p:spPr>
          <a:xfrm>
            <a:off x="6995160" y="4162806"/>
            <a:ext cx="1234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上場時の 2024 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予測に収益 −7%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 の効果は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未検証</a:t>
            </a:r>
            <a:endParaRPr lang="en-US" sz="850" dirty="0"/>
          </a:p>
        </p:txBody>
      </p:sp>
      <p:sp>
        <p:nvSpPr>
          <p:cNvPr id="86" name="ovl_s21_tag_noto"/>
          <p:cNvSpPr/>
          <p:nvPr/>
        </p:nvSpPr>
        <p:spPr>
          <a:xfrm>
            <a:off x="2753360" y="2777490"/>
            <a:ext cx="115316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7" name="ovl_s21_tagt_noto"/>
          <p:cNvSpPr txBox="1"/>
          <p:nvPr/>
        </p:nvSpPr>
        <p:spPr>
          <a:xfrm>
            <a:off x="2753360" y="2777490"/>
            <a:ext cx="115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報酬は TBV の総額</a:t>
            </a:r>
            <a:endParaRPr lang="en-US" sz="800" dirty="0"/>
          </a:p>
        </p:txBody>
      </p:sp>
      <p:sp>
        <p:nvSpPr>
          <p:cNvPr id="88" name="ovl_s21_lab0"/>
          <p:cNvSpPr txBox="1"/>
          <p:nvPr/>
        </p:nvSpPr>
        <p:spPr>
          <a:xfrm>
            <a:off x="1836420" y="2000250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資本市場・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上場企業財務</a:t>
            </a:r>
            <a:endParaRPr lang="en-US" sz="850" dirty="0"/>
          </a:p>
        </p:txBody>
      </p:sp>
      <p:sp>
        <p:nvSpPr>
          <p:cNvPr id="89" name="ovl_s21_lab1"/>
          <p:cNvSpPr txBox="1"/>
          <p:nvPr/>
        </p:nvSpPr>
        <p:spPr>
          <a:xfrm>
            <a:off x="1901571" y="312496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財務・成長</a:t>
            </a:r>
            <a:endParaRPr lang="en-US" sz="850" dirty="0"/>
          </a:p>
        </p:txBody>
      </p:sp>
      <p:sp>
        <p:nvSpPr>
          <p:cNvPr id="90" name="ovl_s21_lab2"/>
          <p:cNvSpPr txBox="1"/>
          <p:nvPr/>
        </p:nvSpPr>
        <p:spPr>
          <a:xfrm>
            <a:off x="1901571" y="410794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</a:t>
            </a:r>
            <a:endParaRPr lang="en-US" sz="850" dirty="0"/>
          </a:p>
        </p:txBody>
      </p:sp>
      <p:sp>
        <p:nvSpPr>
          <p:cNvPr id="91" name="ovl_s21_lab3"/>
          <p:cNvSpPr txBox="1"/>
          <p:nvPr/>
        </p:nvSpPr>
        <p:spPr>
          <a:xfrm>
            <a:off x="1959864" y="509092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850" dirty="0"/>
          </a:p>
        </p:txBody>
      </p:sp>
      <p:sp>
        <p:nvSpPr>
          <p:cNvPr id="92" name="ovl_s21_num4"/>
          <p:cNvSpPr/>
          <p:nvPr/>
        </p:nvSpPr>
        <p:spPr>
          <a:xfrm>
            <a:off x="4293108" y="225628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1_numt4"/>
          <p:cNvSpPr txBox="1"/>
          <p:nvPr/>
        </p:nvSpPr>
        <p:spPr>
          <a:xfrm>
            <a:off x="4293108" y="22562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94" name="ovl_s21_num5"/>
          <p:cNvSpPr/>
          <p:nvPr/>
        </p:nvSpPr>
        <p:spPr>
          <a:xfrm>
            <a:off x="4293108" y="323926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ovl_s21_numt5"/>
          <p:cNvSpPr txBox="1"/>
          <p:nvPr/>
        </p:nvSpPr>
        <p:spPr>
          <a:xfrm>
            <a:off x="4293108" y="32392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96" name="ovl_s21_num6"/>
          <p:cNvSpPr/>
          <p:nvPr/>
        </p:nvSpPr>
        <p:spPr>
          <a:xfrm>
            <a:off x="4293108" y="422224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ovl_s21_numt6"/>
          <p:cNvSpPr txBox="1"/>
          <p:nvPr/>
        </p:nvSpPr>
        <p:spPr>
          <a:xfrm>
            <a:off x="4293108" y="4222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8" name="ovl_s21_num7"/>
          <p:cNvSpPr/>
          <p:nvPr/>
        </p:nvSpPr>
        <p:spPr>
          <a:xfrm>
            <a:off x="4293108" y="520522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ovl_s21_numt7"/>
          <p:cNvSpPr txBox="1"/>
          <p:nvPr/>
        </p:nvSpPr>
        <p:spPr>
          <a:xfrm>
            <a:off x="4293108" y="52052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0" name="ovl_s21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1" name="ovl_s21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2" name="ovl_s21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3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4" name="mech"/>
          <p:cNvSpPr txBox="1"/>
          <p:nvPr/>
        </p:nvSpPr>
        <p:spPr>
          <a:xfrm>
            <a:off x="8458200" y="1810512"/>
            <a:ext cx="3276295" cy="2562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 は GS で資本市場、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で上場企業の財務を担った。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銀行免許(2022)と GAAP 黒字(Q4 2023)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を約束どおり達成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 は GS・Uber で財務を担い、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年は利益計画(EPS 0.25〜0.27)を上回る 0.39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貸出は JPM 住宅ローン CFO・Capital One・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 の消費者金融を経た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預金・投資・保険は Schwab・JPM で資産運用を担った Keough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報酬の PSU は TBV の総額の伸びに連動し、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株当たりではない。増資で総額は伸びる。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 2026 年に約 225 万ドル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(15.73〜18.06 ドル)を買い増し、1,228 万株を保有</a:t>
            </a:r>
            <a:endParaRPr lang="en-US" sz="950" dirty="0"/>
          </a:p>
        </p:txBody>
      </p:sp>
      <p:sp>
        <p:nvSpPr>
          <p:cNvPr id="105" name="ovl_takeaway_bg"/>
          <p:cNvSpPr/>
          <p:nvPr/>
        </p:nvSpPr>
        <p:spPr>
          <a:xfrm>
            <a:off x="8458200" y="4446016"/>
            <a:ext cx="3276295" cy="9794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6" name="takeaway"/>
          <p:cNvSpPr txBox="1"/>
          <p:nvPr/>
        </p:nvSpPr>
        <p:spPr>
          <a:xfrm>
            <a:off x="8567928" y="4519168"/>
            <a:ext cx="3056839" cy="83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その事業を築いた経験の持ち主が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貸出と預金を率い、約束の実行力は高い。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報酬が 1 株当たりでない点で B</a:t>
            </a:r>
            <a:endParaRPr lang="en-US" sz="1000" dirty="0"/>
          </a:p>
        </p:txBody>
      </p:sp>
      <p:sp>
        <p:nvSpPr>
          <p:cNvPr id="107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報酬を 1 株当たりの指標に切り替え、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目標の時期を示せば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利益計画の下方修正か、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低い株価での増資なら C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成長と割安度(条件6・7)(1/2)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成長と割安度(条件6)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成長の割に安いかを、市場全体と同業からの乖離で測る。長期保有で超過リターンを得る前提になる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経路とも EPS は年 35〜39% 伸び、PEG 0.49〜0.54 は S&amp;P 500(1.27)の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0.4 倍。同業の中央値と並ぶため A(株価 15.9 ドル以下なら S)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条件6: 市場・同業との乖離で A。PER は 12 か月先 19.1 倍(株価 16.5、EPS 0.865)。14.55 なら 16.8 倍で PEG 0.44〜0.48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research_r4/R13_peer_growth_peg.md(FactSet・各社コンセンサスの要約)、research_r5/Q3_datasheet.md、calc/out/growth_v4.json の cond6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</a:t>
            </a:r>
            <a:endParaRPr lang="en-US" sz="800" dirty="0"/>
          </a:p>
        </p:txBody>
      </p:sp>
      <p:graphicFrame>
        <p:nvGraphicFramePr>
          <p:cNvPr id="4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914400"/>
                <a:gridCol w="114300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の伸び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(26→28)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 PEG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との比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との倍率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同業の中央値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との比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コンセンサス(見通し + 伸び)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38.6%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0.49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会社の中期目標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35.3%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0.43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事業エンジン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0.40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2.5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 の基準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30% 以上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未満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 以下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倍以上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1.00 以下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pane_head"/>
          <p:cNvSpPr txBox="1"/>
          <p:nvPr/>
        </p:nvSpPr>
        <p:spPr>
          <a:xfrm>
            <a:off x="457200" y="3657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PEG の比較(小さいほど割安)</a:t>
            </a:r>
            <a:endParaRPr lang="en-US" sz="1200" dirty="0"/>
          </a:p>
        </p:txBody>
      </p:sp>
      <p:graphicFrame>
        <p:nvGraphicFramePr>
          <p:cNvPr id="26" name="chart_peg" descr=""/>
          <p:cNvGraphicFramePr/>
          <p:nvPr/>
        </p:nvGraphicFramePr>
        <p:xfrm>
          <a:off x="457200" y="3931920"/>
          <a:ext cx="7589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29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S&amp;P 500 は PER 19.0 倍・2027 年の EPS 成長 約 15%・PEG 1.27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成長の近い同業(NU 0.52・LC 0.33・HOOD 1.4〜1.8)の中央値 0.52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安さは消費者金融の群の安さ(ALLY・LC 0.33、COF 0.51)</a:t>
            </a:r>
            <a:endParaRPr lang="en-US" sz="950" dirty="0"/>
          </a:p>
        </p:txBody>
      </p:sp>
      <p:sp>
        <p:nvSpPr>
          <p:cNvPr id="30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市場比は 3 経路とも A の基準を大きく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超える。同業の中央値と並ぶため 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(株価 15.9 ドル以下なら S)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成長と割安度(条件6・7)(2/2)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安い理由の検証(条件7)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安さが市場の見落としなら機会、実在のリスクなら罠。どちらかを見分ける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安い理由の金利・信用・資本は実在するが、株価の割引は経済的な大きさを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大きく上回る。3 つを同時に置いても理論株価は 19.4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市場の懸念(出所)→ 経済的な大きさ(本資料の推計)→ 株価が示す前提 → 判定。①〜④ は右と対応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research/R3a(KBW・Morgan Stanley・BofA・Muddy Waters)、research_r4/R15・R17、research_r5/Q3_datasheet.md、calc/out/growth_v4.json の credit_capital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41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58140" y="1517904"/>
            <a:ext cx="1981200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58140" y="1517904"/>
            <a:ext cx="198120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58140" y="1517904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市場の懸念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37460" y="1517904"/>
            <a:ext cx="1981200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37460" y="1517904"/>
            <a:ext cx="1981200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37460" y="1517904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経済的な大きさ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4716780" y="1517904"/>
            <a:ext cx="1981200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4716780" y="1517904"/>
            <a:ext cx="198120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4716780" y="1517904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株価が示す前提</a:t>
            </a:r>
            <a:endParaRPr lang="en-US" sz="950" dirty="0"/>
          </a:p>
        </p:txBody>
      </p:sp>
      <p:sp>
        <p:nvSpPr>
          <p:cNvPr id="33" name="bg_lane3"/>
          <p:cNvSpPr/>
          <p:nvPr/>
        </p:nvSpPr>
        <p:spPr>
          <a:xfrm>
            <a:off x="6896100" y="1517904"/>
            <a:ext cx="1478280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bg_laneh3"/>
          <p:cNvSpPr/>
          <p:nvPr/>
        </p:nvSpPr>
        <p:spPr>
          <a:xfrm>
            <a:off x="6896100" y="1517904"/>
            <a:ext cx="147828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bg_lanet3"/>
          <p:cNvSpPr txBox="1"/>
          <p:nvPr/>
        </p:nvSpPr>
        <p:spPr>
          <a:xfrm>
            <a:off x="6896100" y="1517904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</a:t>
            </a:r>
            <a:endParaRPr lang="en-US" sz="950" dirty="0"/>
          </a:p>
        </p:txBody>
      </p:sp>
      <p:sp>
        <p:nvSpPr>
          <p:cNvPr id="36" name="ovl_s23_e0_0"/>
          <p:cNvSpPr/>
          <p:nvPr/>
        </p:nvSpPr>
        <p:spPr>
          <a:xfrm>
            <a:off x="2240280" y="2336292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7" name="ovl_s23_e1_0"/>
          <p:cNvSpPr/>
          <p:nvPr/>
        </p:nvSpPr>
        <p:spPr>
          <a:xfrm>
            <a:off x="4419600" y="2336292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3_e2_0"/>
          <p:cNvSpPr/>
          <p:nvPr/>
        </p:nvSpPr>
        <p:spPr>
          <a:xfrm>
            <a:off x="6598920" y="2336292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3_e3_0"/>
          <p:cNvSpPr/>
          <p:nvPr/>
        </p:nvSpPr>
        <p:spPr>
          <a:xfrm>
            <a:off x="2240280" y="3241548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3_e4_0"/>
          <p:cNvSpPr/>
          <p:nvPr/>
        </p:nvSpPr>
        <p:spPr>
          <a:xfrm>
            <a:off x="4419600" y="3241548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3_e5_0"/>
          <p:cNvSpPr/>
          <p:nvPr/>
        </p:nvSpPr>
        <p:spPr>
          <a:xfrm>
            <a:off x="6598920" y="3241548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3_e6_0"/>
          <p:cNvSpPr/>
          <p:nvPr/>
        </p:nvSpPr>
        <p:spPr>
          <a:xfrm>
            <a:off x="2240280" y="4146804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23_e7_0"/>
          <p:cNvSpPr/>
          <p:nvPr/>
        </p:nvSpPr>
        <p:spPr>
          <a:xfrm>
            <a:off x="4419600" y="414680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3_e8_0"/>
          <p:cNvSpPr/>
          <p:nvPr/>
        </p:nvSpPr>
        <p:spPr>
          <a:xfrm>
            <a:off x="6598920" y="414680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3_e9_0"/>
          <p:cNvSpPr/>
          <p:nvPr/>
        </p:nvSpPr>
        <p:spPr>
          <a:xfrm>
            <a:off x="2240280" y="5052060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23_e10_0"/>
          <p:cNvSpPr/>
          <p:nvPr/>
        </p:nvSpPr>
        <p:spPr>
          <a:xfrm>
            <a:off x="4419600" y="5052060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3_e11_0"/>
          <p:cNvSpPr/>
          <p:nvPr/>
        </p:nvSpPr>
        <p:spPr>
          <a:xfrm>
            <a:off x="6598920" y="5052060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8" name="ovl_s23_n_d1"/>
          <p:cNvSpPr/>
          <p:nvPr/>
        </p:nvSpPr>
        <p:spPr>
          <a:xfrm>
            <a:off x="457200" y="1984248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23_nt_d1"/>
          <p:cNvSpPr txBox="1"/>
          <p:nvPr/>
        </p:nvSpPr>
        <p:spPr>
          <a:xfrm>
            <a:off x="493776" y="2011680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金利と評価減(KBW)</a:t>
            </a:r>
            <a:endParaRPr lang="en-US" sz="1000" dirty="0"/>
          </a:p>
        </p:txBody>
      </p:sp>
      <p:sp>
        <p:nvSpPr>
          <p:cNvPr id="50" name="ovl_s23_ns_d1"/>
          <p:cNvSpPr txBox="1"/>
          <p:nvPr/>
        </p:nvSpPr>
        <p:spPr>
          <a:xfrm>
            <a:off x="502920" y="2217420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ヘッジ前で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億ドル超の逆風</a:t>
            </a:r>
            <a:endParaRPr lang="en-US" sz="850" dirty="0"/>
          </a:p>
        </p:txBody>
      </p:sp>
      <p:sp>
        <p:nvSpPr>
          <p:cNvPr id="51" name="ovl_s23_n_d2"/>
          <p:cNvSpPr/>
          <p:nvPr/>
        </p:nvSpPr>
        <p:spPr>
          <a:xfrm>
            <a:off x="457200" y="2889504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2" name="ovl_s23_nt_d2"/>
          <p:cNvSpPr txBox="1"/>
          <p:nvPr/>
        </p:nvSpPr>
        <p:spPr>
          <a:xfrm>
            <a:off x="493776" y="2916936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信用(景気)</a:t>
            </a:r>
            <a:endParaRPr lang="en-US" sz="1000" dirty="0"/>
          </a:p>
        </p:txBody>
      </p:sp>
      <p:sp>
        <p:nvSpPr>
          <p:cNvPr id="53" name="ovl_s23_ns_d2"/>
          <p:cNvSpPr txBox="1"/>
          <p:nvPr/>
        </p:nvSpPr>
        <p:spPr>
          <a:xfrm>
            <a:off x="502920" y="3122676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業界の延滞の上昇</a:t>
            </a:r>
            <a:endParaRPr lang="en-US" sz="850" dirty="0"/>
          </a:p>
        </p:txBody>
      </p:sp>
      <p:sp>
        <p:nvSpPr>
          <p:cNvPr id="54" name="ovl_s23_n_d3"/>
          <p:cNvSpPr/>
          <p:nvPr/>
        </p:nvSpPr>
        <p:spPr>
          <a:xfrm>
            <a:off x="457200" y="3794760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23_nt_d3"/>
          <p:cNvSpPr txBox="1"/>
          <p:nvPr/>
        </p:nvSpPr>
        <p:spPr>
          <a:xfrm>
            <a:off x="493776" y="3822192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資本を食う成長(MS・KBW)</a:t>
            </a:r>
            <a:endParaRPr lang="en-US" sz="1000" dirty="0"/>
          </a:p>
        </p:txBody>
      </p:sp>
      <p:sp>
        <p:nvSpPr>
          <p:cNvPr id="56" name="ovl_s23_ns_d3"/>
          <p:cNvSpPr txBox="1"/>
          <p:nvPr/>
        </p:nvSpPr>
        <p:spPr>
          <a:xfrm>
            <a:off x="502920" y="4027932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9 か月で −5.9pt</a:t>
            </a:r>
            <a:endParaRPr lang="en-US" sz="850" dirty="0"/>
          </a:p>
        </p:txBody>
      </p:sp>
      <p:sp>
        <p:nvSpPr>
          <p:cNvPr id="57" name="ovl_s23_n_d4"/>
          <p:cNvSpPr/>
          <p:nvPr/>
        </p:nvSpPr>
        <p:spPr>
          <a:xfrm>
            <a:off x="457200" y="4700016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23_nt_d4"/>
          <p:cNvSpPr txBox="1"/>
          <p:nvPr/>
        </p:nvSpPr>
        <p:spPr>
          <a:xfrm>
            <a:off x="493776" y="4727448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利益が付いてこない(BofA)</a:t>
            </a:r>
            <a:endParaRPr lang="en-US" sz="900" dirty="0"/>
          </a:p>
        </p:txBody>
      </p:sp>
      <p:sp>
        <p:nvSpPr>
          <p:cNvPr id="59" name="ovl_s23_ns_d4"/>
          <p:cNvSpPr txBox="1"/>
          <p:nvPr/>
        </p:nvSpPr>
        <p:spPr>
          <a:xfrm>
            <a:off x="502920" y="4933188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0.13 → 0.12 → 0.12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0.18(Q3)</a:t>
            </a:r>
            <a:endParaRPr lang="en-US" sz="850" dirty="0"/>
          </a:p>
        </p:txBody>
      </p:sp>
      <p:sp>
        <p:nvSpPr>
          <p:cNvPr id="60" name="ovl_s23_n_e1"/>
          <p:cNvSpPr/>
          <p:nvPr/>
        </p:nvSpPr>
        <p:spPr>
          <a:xfrm>
            <a:off x="2636520" y="1984248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23_nt_e1"/>
          <p:cNvSpPr txBox="1"/>
          <p:nvPr/>
        </p:nvSpPr>
        <p:spPr>
          <a:xfrm>
            <a:off x="2673096" y="2011680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両面で 約 −0.6 ドル</a:t>
            </a:r>
            <a:endParaRPr lang="en-US" sz="1000" dirty="0"/>
          </a:p>
        </p:txBody>
      </p:sp>
      <p:sp>
        <p:nvSpPr>
          <p:cNvPr id="62" name="ovl_s23_ns_e1"/>
          <p:cNvSpPr txBox="1"/>
          <p:nvPr/>
        </p:nvSpPr>
        <p:spPr>
          <a:xfrm>
            <a:off x="2682240" y="2217420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ヘッジ後の評価減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0〜−0.21 ドル</a:t>
            </a:r>
            <a:endParaRPr lang="en-US" sz="850" dirty="0"/>
          </a:p>
        </p:txBody>
      </p:sp>
      <p:sp>
        <p:nvSpPr>
          <p:cNvPr id="63" name="ovl_s23_n_e2"/>
          <p:cNvSpPr/>
          <p:nvPr/>
        </p:nvSpPr>
        <p:spPr>
          <a:xfrm>
            <a:off x="2636520" y="2889504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23_nt_e2"/>
          <p:cNvSpPr txBox="1"/>
          <p:nvPr/>
        </p:nvSpPr>
        <p:spPr>
          <a:xfrm>
            <a:off x="2673096" y="2916936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+1.0pt で 20.2 ドル</a:t>
            </a:r>
            <a:endParaRPr lang="en-US" sz="1000" dirty="0"/>
          </a:p>
        </p:txBody>
      </p:sp>
      <p:sp>
        <p:nvSpPr>
          <p:cNvPr id="65" name="ovl_s23_ns_e2"/>
          <p:cNvSpPr txBox="1"/>
          <p:nvPr/>
        </p:nvSpPr>
        <p:spPr>
          <a:xfrm>
            <a:off x="2682240" y="3122676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同業のピーク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LC 5.0%・DFS 4.2%</a:t>
            </a:r>
            <a:endParaRPr lang="en-US" sz="850" dirty="0"/>
          </a:p>
        </p:txBody>
      </p:sp>
      <p:sp>
        <p:nvSpPr>
          <p:cNvPr id="66" name="ovl_s23_n_e3"/>
          <p:cNvSpPr/>
          <p:nvPr/>
        </p:nvSpPr>
        <p:spPr>
          <a:xfrm>
            <a:off x="2636520" y="3794760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3_nt_e3"/>
          <p:cNvSpPr txBox="1"/>
          <p:nvPr/>
        </p:nvSpPr>
        <p:spPr>
          <a:xfrm>
            <a:off x="2673096" y="3822192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下限まで 17 億ドル</a:t>
            </a:r>
            <a:endParaRPr lang="en-US" sz="1000" dirty="0"/>
          </a:p>
        </p:txBody>
      </p:sp>
      <p:sp>
        <p:nvSpPr>
          <p:cNvPr id="68" name="ovl_s23_ns_e3"/>
          <p:cNvSpPr txBox="1"/>
          <p:nvPr/>
        </p:nvSpPr>
        <p:spPr>
          <a:xfrm>
            <a:off x="2682240" y="4027932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 +1.0pt でも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15.8% 以上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 10 億で −2%</a:t>
            </a:r>
            <a:endParaRPr lang="en-US" sz="850" dirty="0"/>
          </a:p>
        </p:txBody>
      </p:sp>
      <p:sp>
        <p:nvSpPr>
          <p:cNvPr id="69" name="ovl_s23_n_e4"/>
          <p:cNvSpPr/>
          <p:nvPr/>
        </p:nvSpPr>
        <p:spPr>
          <a:xfrm>
            <a:off x="2636520" y="4700016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3_nt_e4"/>
          <p:cNvSpPr txBox="1"/>
          <p:nvPr/>
        </p:nvSpPr>
        <p:spPr>
          <a:xfrm>
            <a:off x="2673096" y="4727448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0.18(増収で)</a:t>
            </a:r>
            <a:endParaRPr lang="en-US" sz="1000" dirty="0"/>
          </a:p>
        </p:txBody>
      </p:sp>
      <p:sp>
        <p:nvSpPr>
          <p:cNvPr id="71" name="ovl_s23_ns_e4"/>
          <p:cNvSpPr txBox="1"/>
          <p:nvPr/>
        </p:nvSpPr>
        <p:spPr>
          <a:xfrm>
            <a:off x="2682240" y="4933188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 0.12 から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税・株数は未開示</a:t>
            </a:r>
            <a:endParaRPr lang="en-US" sz="850" dirty="0"/>
          </a:p>
        </p:txBody>
      </p:sp>
      <p:sp>
        <p:nvSpPr>
          <p:cNvPr id="72" name="ovl_s23_n_m1"/>
          <p:cNvSpPr/>
          <p:nvPr/>
        </p:nvSpPr>
        <p:spPr>
          <a:xfrm>
            <a:off x="4815840" y="1984248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23_nt_m1"/>
          <p:cNvSpPr txBox="1"/>
          <p:nvPr/>
        </p:nvSpPr>
        <p:spPr>
          <a:xfrm>
            <a:off x="4852416" y="2011680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報道の日 −1.05 ドル</a:t>
            </a:r>
            <a:endParaRPr lang="en-US" sz="1000" dirty="0"/>
          </a:p>
        </p:txBody>
      </p:sp>
      <p:sp>
        <p:nvSpPr>
          <p:cNvPr id="74" name="ovl_s23_n_m2"/>
          <p:cNvSpPr/>
          <p:nvPr/>
        </p:nvSpPr>
        <p:spPr>
          <a:xfrm>
            <a:off x="4815840" y="2889504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5" name="ovl_s23_nt_m2"/>
          <p:cNvSpPr txBox="1"/>
          <p:nvPr/>
        </p:nvSpPr>
        <p:spPr>
          <a:xfrm>
            <a:off x="4852416" y="2916936"/>
            <a:ext cx="1709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損失率 +2.1〜2.7pt 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毎年続く前提</a:t>
            </a:r>
            <a:endParaRPr lang="en-US" sz="900" dirty="0"/>
          </a:p>
        </p:txBody>
      </p:sp>
      <p:sp>
        <p:nvSpPr>
          <p:cNvPr id="76" name="ovl_s23_ns_m2"/>
          <p:cNvSpPr txBox="1"/>
          <p:nvPr/>
        </p:nvSpPr>
        <p:spPr>
          <a:xfrm>
            <a:off x="4861560" y="3273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約 5.5〜6.1%</a:t>
            </a:r>
            <a:endParaRPr lang="en-US" sz="850" dirty="0"/>
          </a:p>
        </p:txBody>
      </p:sp>
      <p:sp>
        <p:nvSpPr>
          <p:cNvPr id="77" name="ovl_s23_n_m3"/>
          <p:cNvSpPr/>
          <p:nvPr/>
        </p:nvSpPr>
        <p:spPr>
          <a:xfrm>
            <a:off x="4815840" y="3794760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3_nt_m3"/>
          <p:cNvSpPr txBox="1"/>
          <p:nvPr/>
        </p:nvSpPr>
        <p:spPr>
          <a:xfrm>
            <a:off x="4852416" y="3822192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PEG 0.80〜0.90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(構造 C の 1.0 未満)</a:t>
            </a:r>
            <a:endParaRPr lang="en-US" sz="900" dirty="0"/>
          </a:p>
        </p:txBody>
      </p:sp>
      <p:sp>
        <p:nvSpPr>
          <p:cNvPr id="79" name="ovl_s23_n_m4"/>
          <p:cNvSpPr/>
          <p:nvPr/>
        </p:nvSpPr>
        <p:spPr>
          <a:xfrm>
            <a:off x="4815840" y="4700016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0" name="ovl_s23_nt_m4"/>
          <p:cNvSpPr txBox="1"/>
          <p:nvPr/>
        </p:nvSpPr>
        <p:spPr>
          <a:xfrm>
            <a:off x="4852416" y="4727448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の横ばいを嫌う</a:t>
            </a:r>
            <a:endParaRPr lang="en-US" sz="1000" dirty="0"/>
          </a:p>
        </p:txBody>
      </p:sp>
      <p:sp>
        <p:nvSpPr>
          <p:cNvPr id="81" name="ovl_s23_n_v1"/>
          <p:cNvSpPr/>
          <p:nvPr/>
        </p:nvSpPr>
        <p:spPr>
          <a:xfrm>
            <a:off x="6995160" y="1984248"/>
            <a:ext cx="1280160" cy="3419856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2" name="ovl_s23_nt_v1"/>
          <p:cNvSpPr txBox="1"/>
          <p:nvPr/>
        </p:nvSpPr>
        <p:spPr>
          <a:xfrm>
            <a:off x="7031736" y="2011680"/>
            <a:ext cx="120700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株価の割引は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経済的な大きさを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大きく上回る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 つ同時でも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19.4 ドル)</a:t>
            </a:r>
            <a:endParaRPr lang="en-US" sz="900" dirty="0"/>
          </a:p>
        </p:txBody>
      </p:sp>
      <p:sp>
        <p:nvSpPr>
          <p:cNvPr id="83" name="ovl_s23_num0"/>
          <p:cNvSpPr/>
          <p:nvPr/>
        </p:nvSpPr>
        <p:spPr>
          <a:xfrm>
            <a:off x="2319528" y="221742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ovl_s23_numt0"/>
          <p:cNvSpPr txBox="1"/>
          <p:nvPr/>
        </p:nvSpPr>
        <p:spPr>
          <a:xfrm>
            <a:off x="2319528" y="22174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85" name="ovl_s23_num3"/>
          <p:cNvSpPr/>
          <p:nvPr/>
        </p:nvSpPr>
        <p:spPr>
          <a:xfrm>
            <a:off x="2319528" y="3122676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ovl_s23_numt3"/>
          <p:cNvSpPr txBox="1"/>
          <p:nvPr/>
        </p:nvSpPr>
        <p:spPr>
          <a:xfrm>
            <a:off x="2319528" y="3122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87" name="ovl_s23_num6"/>
          <p:cNvSpPr/>
          <p:nvPr/>
        </p:nvSpPr>
        <p:spPr>
          <a:xfrm>
            <a:off x="2319528" y="402793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ovl_s23_numt6"/>
          <p:cNvSpPr txBox="1"/>
          <p:nvPr/>
        </p:nvSpPr>
        <p:spPr>
          <a:xfrm>
            <a:off x="2319528" y="40279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ovl_s23_num9"/>
          <p:cNvSpPr/>
          <p:nvPr/>
        </p:nvSpPr>
        <p:spPr>
          <a:xfrm>
            <a:off x="2319528" y="493318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ovl_s23_numt9"/>
          <p:cNvSpPr txBox="1"/>
          <p:nvPr/>
        </p:nvSpPr>
        <p:spPr>
          <a:xfrm>
            <a:off x="2319528" y="49331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ovl_s23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2" name="ovl_s23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3" name="ovl_s23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4" name="ovl_s23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5" name="ovl_s23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6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97" name="mech"/>
          <p:cNvSpPr txBox="1"/>
          <p:nvPr/>
        </p:nvSpPr>
        <p:spPr>
          <a:xfrm>
            <a:off x="8458200" y="1810512"/>
            <a:ext cx="3276295" cy="2460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 +100bp の両面の合計は約 −0.6 ドル。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評価減はスワップ 287 億ドル(Q2)で相殺し、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報道の日の下落 −1.05 ドルは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ヘッジ後の推計の 6 倍以上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個人ローンの純償却は 2.26%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(all-in 約 3.4%、同業 3.2〜4.2%)。株価は損失率 +2.1〜2.7pt が毎年続く前提で、LendingClub の 2023 年 5.0% も上回る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資本は下限 14% まで 17 億ドル。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 +1.0pt でも総自己資本比率は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15.8% 以上で下限を割らない。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経営陣は普通株の増資は不要と発言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は前期 0.12 から 0.18 に増え、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増収で作られた。税率と株数は未開示</a:t>
            </a:r>
            <a:endParaRPr lang="en-US" sz="1000" dirty="0"/>
          </a:p>
        </p:txBody>
      </p:sp>
      <p:sp>
        <p:nvSpPr>
          <p:cNvPr id="98" name="ovl_takeaway_bg"/>
          <p:cNvSpPr/>
          <p:nvPr/>
        </p:nvSpPr>
        <p:spPr>
          <a:xfrm>
            <a:off x="8458200" y="4344416"/>
            <a:ext cx="3276295" cy="77012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9" name="takeaway"/>
          <p:cNvSpPr txBox="1"/>
          <p:nvPr/>
        </p:nvSpPr>
        <p:spPr>
          <a:xfrm>
            <a:off x="8567928" y="4417568"/>
            <a:ext cx="3056839" cy="623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安い理由は実在するが、株価の割引は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経済的な大きさを大きく上回る。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 KPI と時期(Q4 決算)があり A</a:t>
            </a:r>
            <a:endParaRPr lang="en-US" sz="1000" dirty="0"/>
          </a:p>
        </p:txBody>
      </p:sp>
      <p:sp>
        <p:nvSpPr>
          <p:cNvPr id="100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Q4 で評価の純額 1.5 億ドル以下・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3.4% 以下・増資なしなら、S の候補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4.5% 超か普通株の増資なら B、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損失率が 5.7%(損益分岐)に近づけば C</a:t>
            </a:r>
            <a:endParaRPr lang="en-US" sz="850" dirty="0"/>
          </a:p>
        </p:txBody>
      </p:sp>
      <p:sp>
        <p:nvSpPr>
          <p:cNvPr id="101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02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ヘッジ後の評価の純額(Q4 の 10-K)/ all-in 損失率 3.4% 以下で確度を上げ・4.5% 超で B 候補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普通株の増資で B 候補(毎四半期、次は Q4 決算)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コモディティ性(条件8)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商品になる部分は競争で利ざやが削られる。価値のどれだけが商品かを測る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個人ローンや預金の単品は市場の商品だが、会員の束としては獲得費と貸倒で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同業より低い。束に値段が付く証拠はまだ無く B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借り手 → SoFi の事業 → ローンの買い手 ← 価格の基準。①〜⑤ は右と対応。収益の内訳は Q3 2026。評価は単品でなく束 × 同業との相対で決める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決算)、research_r5/Q3_datasheet.md、research_r2/R9_products_people.md、research/R4_scuttlebutt.md、research_r4/R16・R17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条件8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31673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404872" y="1517904"/>
            <a:ext cx="154533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4690872" y="1517904"/>
            <a:ext cx="149961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950" dirty="0"/>
          </a:p>
        </p:txBody>
      </p:sp>
      <p:sp>
        <p:nvSpPr>
          <p:cNvPr id="33" name="bg_lane3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bg_laneh3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bg_lanet3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価格の基準</a:t>
            </a:r>
            <a:endParaRPr lang="en-US" sz="950" dirty="0"/>
          </a:p>
        </p:txBody>
      </p:sp>
      <p:sp>
        <p:nvSpPr>
          <p:cNvPr id="36" name="ovl_s24_e0_0"/>
          <p:cNvSpPr/>
          <p:nvPr/>
        </p:nvSpPr>
        <p:spPr>
          <a:xfrm>
            <a:off x="1554480" y="2487168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4_e1_0"/>
          <p:cNvSpPr/>
          <p:nvPr/>
        </p:nvSpPr>
        <p:spPr>
          <a:xfrm flipV="1">
            <a:off x="7658100" y="1847088"/>
            <a:ext cx="914" cy="1828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8" name="ovl_s24_e1_1"/>
          <p:cNvSpPr/>
          <p:nvPr/>
        </p:nvSpPr>
        <p:spPr>
          <a:xfrm flipH="1">
            <a:off x="1005840" y="1847088"/>
            <a:ext cx="66522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9" name="ovl_s24_e1_2"/>
          <p:cNvSpPr/>
          <p:nvPr/>
        </p:nvSpPr>
        <p:spPr>
          <a:xfrm>
            <a:off x="1005840" y="1847088"/>
            <a:ext cx="914" cy="26517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4_e2_0"/>
          <p:cNvSpPr/>
          <p:nvPr/>
        </p:nvSpPr>
        <p:spPr>
          <a:xfrm>
            <a:off x="2811780" y="2862072"/>
            <a:ext cx="914" cy="457200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24_e3_0"/>
          <p:cNvSpPr/>
          <p:nvPr/>
        </p:nvSpPr>
        <p:spPr>
          <a:xfrm>
            <a:off x="3840480" y="3694176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2" name="ovl_s24_e3_1"/>
          <p:cNvSpPr/>
          <p:nvPr/>
        </p:nvSpPr>
        <p:spPr>
          <a:xfrm flipV="1">
            <a:off x="4320540" y="2487168"/>
            <a:ext cx="914" cy="120700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3" name="ovl_s24_e3_2"/>
          <p:cNvSpPr/>
          <p:nvPr/>
        </p:nvSpPr>
        <p:spPr>
          <a:xfrm>
            <a:off x="4320540" y="2487168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4" name="ovl_s24_e4_0"/>
          <p:cNvSpPr/>
          <p:nvPr/>
        </p:nvSpPr>
        <p:spPr>
          <a:xfrm>
            <a:off x="765810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5" name="ovl_s24_e4_1"/>
          <p:cNvSpPr/>
          <p:nvPr/>
        </p:nvSpPr>
        <p:spPr>
          <a:xfrm flipH="1">
            <a:off x="3177540" y="4160520"/>
            <a:ext cx="448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6" name="ovl_s24_e4_2"/>
          <p:cNvSpPr/>
          <p:nvPr/>
        </p:nvSpPr>
        <p:spPr>
          <a:xfrm flipV="1">
            <a:off x="317754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7" name="ovl_s24_e5_0"/>
          <p:cNvSpPr/>
          <p:nvPr/>
        </p:nvSpPr>
        <p:spPr>
          <a:xfrm flipV="1">
            <a:off x="5440680" y="2862072"/>
            <a:ext cx="914" cy="45720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8" name="ovl_s24_e6_0"/>
          <p:cNvSpPr/>
          <p:nvPr/>
        </p:nvSpPr>
        <p:spPr>
          <a:xfrm>
            <a:off x="1554480" y="3694176"/>
            <a:ext cx="182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9" name="ovl_s24_e6_1"/>
          <p:cNvSpPr/>
          <p:nvPr/>
        </p:nvSpPr>
        <p:spPr>
          <a:xfrm>
            <a:off x="1737360" y="3694176"/>
            <a:ext cx="914" cy="134416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0" name="ovl_s24_e6_2"/>
          <p:cNvSpPr/>
          <p:nvPr/>
        </p:nvSpPr>
        <p:spPr>
          <a:xfrm>
            <a:off x="1737360" y="5038344"/>
            <a:ext cx="7772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1" name="ovl_s24_e7_0"/>
          <p:cNvSpPr/>
          <p:nvPr/>
        </p:nvSpPr>
        <p:spPr>
          <a:xfrm>
            <a:off x="1554480" y="4764024"/>
            <a:ext cx="3200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2" name="ovl_s24_e7_1"/>
          <p:cNvSpPr/>
          <p:nvPr/>
        </p:nvSpPr>
        <p:spPr>
          <a:xfrm flipV="1">
            <a:off x="1874520" y="2596896"/>
            <a:ext cx="914" cy="216712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3" name="ovl_s24_e7_2"/>
          <p:cNvSpPr/>
          <p:nvPr/>
        </p:nvSpPr>
        <p:spPr>
          <a:xfrm>
            <a:off x="1874520" y="2596896"/>
            <a:ext cx="640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4" name="ovl_s24_e8_0"/>
          <p:cNvSpPr/>
          <p:nvPr/>
        </p:nvSpPr>
        <p:spPr>
          <a:xfrm flipV="1">
            <a:off x="7658100" y="4251960"/>
            <a:ext cx="914" cy="27432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5" name="ovl_s24_e8_1"/>
          <p:cNvSpPr/>
          <p:nvPr/>
        </p:nvSpPr>
        <p:spPr>
          <a:xfrm flipH="1">
            <a:off x="1005840" y="4251960"/>
            <a:ext cx="66522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6" name="ovl_s24_e8_2"/>
          <p:cNvSpPr/>
          <p:nvPr/>
        </p:nvSpPr>
        <p:spPr>
          <a:xfrm flipV="1">
            <a:off x="1005840" y="4069080"/>
            <a:ext cx="914" cy="1828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7" name="ovl_s24_n_borrow"/>
          <p:cNvSpPr/>
          <p:nvPr/>
        </p:nvSpPr>
        <p:spPr>
          <a:xfrm>
            <a:off x="457200" y="2112264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24_nt_borrow"/>
          <p:cNvSpPr txBox="1"/>
          <p:nvPr/>
        </p:nvSpPr>
        <p:spPr>
          <a:xfrm>
            <a:off x="493776" y="2139696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9" name="ovl_s24_ns_borrow"/>
          <p:cNvSpPr txBox="1"/>
          <p:nvPr/>
        </p:nvSpPr>
        <p:spPr>
          <a:xfrm>
            <a:off x="502920" y="2345436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 2.26%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(同業 3.2〜4.2%)</a:t>
            </a:r>
            <a:endParaRPr lang="en-US" sz="850" dirty="0"/>
          </a:p>
        </p:txBody>
      </p:sp>
      <p:sp>
        <p:nvSpPr>
          <p:cNvPr id="60" name="ovl_s24_n_rel"/>
          <p:cNvSpPr/>
          <p:nvPr/>
        </p:nvSpPr>
        <p:spPr>
          <a:xfrm>
            <a:off x="457200" y="3319272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1" name="ovl_s24_nt_rel"/>
          <p:cNvSpPr txBox="1"/>
          <p:nvPr/>
        </p:nvSpPr>
        <p:spPr>
          <a:xfrm>
            <a:off x="493776" y="3346704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会員との関係</a:t>
            </a:r>
            <a:endParaRPr lang="en-US" sz="1000" dirty="0"/>
          </a:p>
        </p:txBody>
      </p:sp>
      <p:sp>
        <p:nvSpPr>
          <p:cNvPr id="62" name="ovl_s24_ns_rel"/>
          <p:cNvSpPr txBox="1"/>
          <p:nvPr/>
        </p:nvSpPr>
        <p:spPr>
          <a:xfrm>
            <a:off x="502920" y="3552444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</a:t>
            </a:r>
            <a:endParaRPr lang="en-US" sz="850" dirty="0"/>
          </a:p>
        </p:txBody>
      </p:sp>
      <p:sp>
        <p:nvSpPr>
          <p:cNvPr id="63" name="ovl_s24_n_dd"/>
          <p:cNvSpPr/>
          <p:nvPr/>
        </p:nvSpPr>
        <p:spPr>
          <a:xfrm>
            <a:off x="457200" y="452628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4" name="ovl_s24_nt_dd"/>
          <p:cNvSpPr txBox="1"/>
          <p:nvPr/>
        </p:nvSpPr>
        <p:spPr>
          <a:xfrm>
            <a:off x="493776" y="4553712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1000" dirty="0"/>
          </a:p>
        </p:txBody>
      </p:sp>
      <p:sp>
        <p:nvSpPr>
          <p:cNvPr id="65" name="ovl_s24_ns_dd"/>
          <p:cNvSpPr txBox="1"/>
          <p:nvPr/>
        </p:nvSpPr>
        <p:spPr>
          <a:xfrm>
            <a:off x="502920" y="4759452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3.07%(上期)</a:t>
            </a:r>
            <a:endParaRPr lang="en-US" sz="850" dirty="0"/>
          </a:p>
        </p:txBody>
      </p:sp>
      <p:sp>
        <p:nvSpPr>
          <p:cNvPr id="66" name="ovl_s24_n_nii"/>
          <p:cNvSpPr/>
          <p:nvPr/>
        </p:nvSpPr>
        <p:spPr>
          <a:xfrm>
            <a:off x="2514600" y="2112264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4_nt_nii"/>
          <p:cNvSpPr txBox="1"/>
          <p:nvPr/>
        </p:nvSpPr>
        <p:spPr>
          <a:xfrm>
            <a:off x="2551176" y="21396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貸出の利ざや</a:t>
            </a:r>
            <a:endParaRPr lang="en-US" sz="1000" dirty="0"/>
          </a:p>
        </p:txBody>
      </p:sp>
      <p:sp>
        <p:nvSpPr>
          <p:cNvPr id="68" name="ovl_s24_ns_nii"/>
          <p:cNvSpPr txBox="1"/>
          <p:nvPr/>
        </p:nvSpPr>
        <p:spPr>
          <a:xfrm>
            <a:off x="2560320" y="2345436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6.14%</a:t>
            </a:r>
            <a:endParaRPr lang="en-US" sz="850" dirty="0"/>
          </a:p>
        </p:txBody>
      </p:sp>
      <p:sp>
        <p:nvSpPr>
          <p:cNvPr id="69" name="ovl_s24_n_lpb"/>
          <p:cNvSpPr/>
          <p:nvPr/>
        </p:nvSpPr>
        <p:spPr>
          <a:xfrm>
            <a:off x="2514600" y="331927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4_nt_lpb"/>
          <p:cNvSpPr txBox="1"/>
          <p:nvPr/>
        </p:nvSpPr>
        <p:spPr>
          <a:xfrm>
            <a:off x="2551176" y="3346704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LPB・売却益</a:t>
            </a:r>
            <a:endParaRPr lang="en-US" sz="1000" dirty="0"/>
          </a:p>
        </p:txBody>
      </p:sp>
      <p:sp>
        <p:nvSpPr>
          <p:cNvPr id="71" name="ovl_s24_ns_lpb"/>
          <p:cNvSpPr txBox="1"/>
          <p:nvPr/>
        </p:nvSpPr>
        <p:spPr>
          <a:xfrm>
            <a:off x="2560320" y="3552444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 1.53 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(売却益は未開示)</a:t>
            </a:r>
            <a:endParaRPr lang="en-US" sz="850" dirty="0"/>
          </a:p>
        </p:txBody>
      </p:sp>
      <p:sp>
        <p:nvSpPr>
          <p:cNvPr id="72" name="ovl_s24_n_fee"/>
          <p:cNvSpPr/>
          <p:nvPr/>
        </p:nvSpPr>
        <p:spPr>
          <a:xfrm>
            <a:off x="2514600" y="452628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3" name="ovl_s24_nt_fee"/>
          <p:cNvSpPr txBox="1"/>
          <p:nvPr/>
        </p:nvSpPr>
        <p:spPr>
          <a:xfrm>
            <a:off x="2551176" y="45537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4" name="ovl_s24_ns_fee"/>
          <p:cNvSpPr txBox="1"/>
          <p:nvPr/>
        </p:nvSpPr>
        <p:spPr>
          <a:xfrm>
            <a:off x="2560320" y="475945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手数料型 42%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(会社定義)</a:t>
            </a:r>
            <a:endParaRPr lang="en-US" sz="850" dirty="0"/>
          </a:p>
        </p:txBody>
      </p:sp>
      <p:sp>
        <p:nvSpPr>
          <p:cNvPr id="75" name="ovl_s24_n_bo"/>
          <p:cNvSpPr/>
          <p:nvPr/>
        </p:nvSpPr>
        <p:spPr>
          <a:xfrm>
            <a:off x="4800600" y="2112264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6" name="ovl_s24_nt_bo"/>
          <p:cNvSpPr txBox="1"/>
          <p:nvPr/>
        </p:nvSpPr>
        <p:spPr>
          <a:xfrm>
            <a:off x="4837176" y="213969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</a:t>
            </a:r>
            <a:endParaRPr lang="en-US" sz="900" dirty="0"/>
          </a:p>
        </p:txBody>
      </p:sp>
      <p:sp>
        <p:nvSpPr>
          <p:cNvPr id="77" name="ovl_s24_ns_bo"/>
          <p:cNvSpPr txBox="1"/>
          <p:nvPr/>
        </p:nvSpPr>
        <p:spPr>
          <a:xfrm>
            <a:off x="4846320" y="2345436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78" name="ovl_s24_n_pc"/>
          <p:cNvSpPr/>
          <p:nvPr/>
        </p:nvSpPr>
        <p:spPr>
          <a:xfrm>
            <a:off x="4800600" y="3319272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24_nt_pc"/>
          <p:cNvSpPr txBox="1"/>
          <p:nvPr/>
        </p:nvSpPr>
        <p:spPr>
          <a:xfrm>
            <a:off x="4837176" y="33467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</a:t>
            </a:r>
            <a:endParaRPr lang="en-US" sz="900" dirty="0"/>
          </a:p>
        </p:txBody>
      </p:sp>
      <p:sp>
        <p:nvSpPr>
          <p:cNvPr id="80" name="ovl_s24_ns_pc"/>
          <p:cNvSpPr txBox="1"/>
          <p:nvPr/>
        </p:nvSpPr>
        <p:spPr>
          <a:xfrm>
            <a:off x="4846320" y="370332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個人ローン組成の約 1/4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に資金(前年 6%)</a:t>
            </a:r>
            <a:endParaRPr lang="en-US" sz="800" dirty="0"/>
          </a:p>
        </p:txBody>
      </p:sp>
      <p:sp>
        <p:nvSpPr>
          <p:cNvPr id="81" name="ovl_s24_n_bank"/>
          <p:cNvSpPr/>
          <p:nvPr/>
        </p:nvSpPr>
        <p:spPr>
          <a:xfrm>
            <a:off x="4800600" y="452628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2" name="ovl_s24_nt_bank"/>
          <p:cNvSpPr txBox="1"/>
          <p:nvPr/>
        </p:nvSpPr>
        <p:spPr>
          <a:xfrm>
            <a:off x="4837176" y="45537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銀行・ABS の投資家</a:t>
            </a:r>
            <a:endParaRPr lang="en-US" sz="900" dirty="0"/>
          </a:p>
        </p:txBody>
      </p:sp>
      <p:sp>
        <p:nvSpPr>
          <p:cNvPr id="83" name="ovl_s24_ns_bank"/>
          <p:cNvSpPr txBox="1"/>
          <p:nvPr/>
        </p:nvSpPr>
        <p:spPr>
          <a:xfrm>
            <a:off x="4846320" y="475945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全額売却 106.5%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(Q4 2025)</a:t>
            </a:r>
            <a:endParaRPr lang="en-US" sz="850" dirty="0"/>
          </a:p>
        </p:txBody>
      </p:sp>
      <p:sp>
        <p:nvSpPr>
          <p:cNvPr id="84" name="ovl_s24_n_apr"/>
          <p:cNvSpPr/>
          <p:nvPr/>
        </p:nvSpPr>
        <p:spPr>
          <a:xfrm>
            <a:off x="7040880" y="20299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24_nt_apr"/>
          <p:cNvSpPr txBox="1"/>
          <p:nvPr/>
        </p:nvSpPr>
        <p:spPr>
          <a:xfrm>
            <a:off x="7077456" y="205740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 APR</a:t>
            </a:r>
            <a:endParaRPr lang="en-US" sz="1000" dirty="0"/>
          </a:p>
        </p:txBody>
      </p:sp>
      <p:sp>
        <p:nvSpPr>
          <p:cNvPr id="86" name="ovl_s24_ns_apr"/>
          <p:cNvSpPr txBox="1"/>
          <p:nvPr/>
        </p:nvSpPr>
        <p:spPr>
          <a:xfrm>
            <a:off x="7086600" y="2263140"/>
            <a:ext cx="1143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</p:txBody>
      </p:sp>
      <p:sp>
        <p:nvSpPr>
          <p:cNvPr id="87" name="ovl_s24_n_par"/>
          <p:cNvSpPr/>
          <p:nvPr/>
        </p:nvSpPr>
        <p:spPr>
          <a:xfrm>
            <a:off x="7040880" y="3319272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8" name="ovl_s24_nt_par"/>
          <p:cNvSpPr txBox="1"/>
          <p:nvPr/>
        </p:nvSpPr>
        <p:spPr>
          <a:xfrm>
            <a:off x="7077456" y="3346704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売却の価格</a:t>
            </a:r>
            <a:endParaRPr lang="en-US" sz="1000" dirty="0"/>
          </a:p>
        </p:txBody>
      </p:sp>
      <p:sp>
        <p:nvSpPr>
          <p:cNvPr id="89" name="ovl_s24_ns_par"/>
          <p:cNvSpPr txBox="1"/>
          <p:nvPr/>
        </p:nvSpPr>
        <p:spPr>
          <a:xfrm>
            <a:off x="7086600" y="3552444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ほぼ額面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 手数料 4.3%</a:t>
            </a:r>
            <a:endParaRPr lang="en-US" sz="850" dirty="0"/>
          </a:p>
        </p:txBody>
      </p:sp>
      <p:sp>
        <p:nvSpPr>
          <p:cNvPr id="90" name="ovl_s24_n_brand"/>
          <p:cNvSpPr/>
          <p:nvPr/>
        </p:nvSpPr>
        <p:spPr>
          <a:xfrm>
            <a:off x="7040880" y="452628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91" name="ovl_s24_nt_brand"/>
          <p:cNvSpPr txBox="1"/>
          <p:nvPr/>
        </p:nvSpPr>
        <p:spPr>
          <a:xfrm>
            <a:off x="7077456" y="455371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92" name="ovl_s24_ns_brand"/>
          <p:cNvSpPr txBox="1"/>
          <p:nvPr/>
        </p:nvSpPr>
        <p:spPr>
          <a:xfrm>
            <a:off x="7086600" y="4759452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</p:txBody>
      </p:sp>
      <p:sp>
        <p:nvSpPr>
          <p:cNvPr id="93" name="ovl_s24_tag_nii"/>
          <p:cNvSpPr/>
          <p:nvPr/>
        </p:nvSpPr>
        <p:spPr>
          <a:xfrm>
            <a:off x="2984500" y="1901952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ovl_s24_tagt_nii"/>
          <p:cNvSpPr txBox="1"/>
          <p:nvPr/>
        </p:nvSpPr>
        <p:spPr>
          <a:xfrm>
            <a:off x="2984500" y="1901952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5" name="ovl_s24_tag_lpb"/>
          <p:cNvSpPr/>
          <p:nvPr/>
        </p:nvSpPr>
        <p:spPr>
          <a:xfrm>
            <a:off x="2984500" y="310896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ovl_s24_tagt_lpb"/>
          <p:cNvSpPr txBox="1"/>
          <p:nvPr/>
        </p:nvSpPr>
        <p:spPr>
          <a:xfrm>
            <a:off x="2984500" y="310896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7" name="ovl_s24_tag_fee"/>
          <p:cNvSpPr/>
          <p:nvPr/>
        </p:nvSpPr>
        <p:spPr>
          <a:xfrm>
            <a:off x="2827020" y="4315968"/>
            <a:ext cx="701040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8" name="ovl_s24_tagt_fee"/>
          <p:cNvSpPr txBox="1"/>
          <p:nvPr/>
        </p:nvSpPr>
        <p:spPr>
          <a:xfrm>
            <a:off x="2827020" y="4315968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差別化(束)</a:t>
            </a:r>
            <a:endParaRPr lang="en-US" sz="800" dirty="0"/>
          </a:p>
        </p:txBody>
      </p:sp>
      <p:sp>
        <p:nvSpPr>
          <p:cNvPr id="99" name="ovl_s24_lab0"/>
          <p:cNvSpPr txBox="1"/>
          <p:nvPr/>
        </p:nvSpPr>
        <p:spPr>
          <a:xfrm>
            <a:off x="1591056" y="2112264"/>
            <a:ext cx="88696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13%(Q2)</a:t>
            </a:r>
            <a:endParaRPr lang="en-US" sz="850" dirty="0"/>
          </a:p>
        </p:txBody>
      </p:sp>
      <p:sp>
        <p:nvSpPr>
          <p:cNvPr id="100" name="ovl_s24_lab1"/>
          <p:cNvSpPr txBox="1"/>
          <p:nvPr/>
        </p:nvSpPr>
        <p:spPr>
          <a:xfrm>
            <a:off x="6296787" y="187452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比べる</a:t>
            </a:r>
            <a:endParaRPr lang="en-US" sz="850" dirty="0"/>
          </a:p>
        </p:txBody>
      </p:sp>
      <p:sp>
        <p:nvSpPr>
          <p:cNvPr id="101" name="ovl_s24_lab2"/>
          <p:cNvSpPr txBox="1"/>
          <p:nvPr/>
        </p:nvSpPr>
        <p:spPr>
          <a:xfrm>
            <a:off x="2857500" y="2887218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2" name="ovl_s24_lab3"/>
          <p:cNvSpPr txBox="1"/>
          <p:nvPr/>
        </p:nvSpPr>
        <p:spPr>
          <a:xfrm>
            <a:off x="4366260" y="298780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3" name="ovl_s24_lab4"/>
          <p:cNvSpPr txBox="1"/>
          <p:nvPr/>
        </p:nvSpPr>
        <p:spPr>
          <a:xfrm>
            <a:off x="6092990" y="3927348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価格の上限</a:t>
            </a:r>
            <a:endParaRPr lang="en-US" sz="850" dirty="0"/>
          </a:p>
        </p:txBody>
      </p:sp>
      <p:sp>
        <p:nvSpPr>
          <p:cNvPr id="104" name="ovl_s24_num5"/>
          <p:cNvSpPr/>
          <p:nvPr/>
        </p:nvSpPr>
        <p:spPr>
          <a:xfrm>
            <a:off x="5321808" y="297180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ovl_s24_numt5"/>
          <p:cNvSpPr txBox="1"/>
          <p:nvPr/>
        </p:nvSpPr>
        <p:spPr>
          <a:xfrm>
            <a:off x="5321808" y="2971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6" name="ovl_s24_num6"/>
          <p:cNvSpPr/>
          <p:nvPr/>
        </p:nvSpPr>
        <p:spPr>
          <a:xfrm>
            <a:off x="2007108" y="4919472"/>
            <a:ext cx="237744" cy="237744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ovl_s24_numt6"/>
          <p:cNvSpPr txBox="1"/>
          <p:nvPr/>
        </p:nvSpPr>
        <p:spPr>
          <a:xfrm>
            <a:off x="2007108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108" name="ovl_s24_lab7"/>
          <p:cNvSpPr txBox="1"/>
          <p:nvPr/>
        </p:nvSpPr>
        <p:spPr>
          <a:xfrm>
            <a:off x="1920240" y="357759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109" name="ovl_s24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10" name="ovl_s24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1" name="ovl_s24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2" name="ovl_s24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3" name="ovl_s24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4" name="ovl_s24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5" name="ovl_s24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6" name="ovl_s24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7" name="ovl_s24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8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9" name="mech"/>
          <p:cNvSpPr txBox="1"/>
          <p:nvPr/>
        </p:nvSpPr>
        <p:spPr>
          <a:xfrm>
            <a:off x="8458200" y="1810512"/>
            <a:ext cx="3276295" cy="2272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借り手は FICO 746(Q4 2025)の優良層で、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金利を比べて選ぶ。APR 帯は競合の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LendingClub・LightStream と重なる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抱えきれないローンは LPB と売却で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他社に渡す。LPB 手数料は 1.53 億(売却益は未開示)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買い手はほぼ額面と手数料 4.3% で買う。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単品のローンは市場で値の付く商品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プライベートクレジットは 2025 年の個人ローン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組成の約 1/4 に資金を出し(前年 6%)、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競合にも同じ資金が回る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束では差が出る: 製品当たり獲得費 202 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(会員当たりの約半分)、純償却は同業より低い。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預金の基本金利は同業の中位</a:t>
            </a:r>
            <a:endParaRPr lang="en-US" sz="950" dirty="0"/>
          </a:p>
        </p:txBody>
      </p:sp>
      <p:sp>
        <p:nvSpPr>
          <p:cNvPr id="120" name="ovl_takeaway_bg"/>
          <p:cNvSpPr/>
          <p:nvPr/>
        </p:nvSpPr>
        <p:spPr>
          <a:xfrm>
            <a:off x="8458200" y="4156456"/>
            <a:ext cx="3276295" cy="82854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1" name="takeaway"/>
          <p:cNvSpPr txBox="1"/>
          <p:nvPr/>
        </p:nvSpPr>
        <p:spPr>
          <a:xfrm>
            <a:off x="8567928" y="4229608"/>
            <a:ext cx="3056839" cy="6822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単品は商品だが、束では獲得費と貸倒で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同業より低い。束に値段が付く証拠は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まだ無く B</a:t>
            </a:r>
            <a:endParaRPr lang="en-US" sz="1000" dirty="0"/>
          </a:p>
        </p:txBody>
      </p:sp>
      <p:sp>
        <p:nvSpPr>
          <p:cNvPr id="122" name="updown"/>
          <p:cNvSpPr txBox="1"/>
          <p:nvPr/>
        </p:nvSpPr>
        <p:spPr>
          <a:xfrm>
            <a:off x="8458200" y="5058156"/>
            <a:ext cx="3276295" cy="7208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有料会員と手数料型の比率が上がり、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束に値段が付けば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純償却が同業並み(3.5% 超)になり、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預金金利を同業並みに上げないと預金が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減るなら C</a:t>
            </a:r>
            <a:endParaRPr lang="en-US" sz="850" dirty="0"/>
          </a:p>
        </p:txBody>
      </p:sp>
      <p:sp>
        <p:nvSpPr>
          <p:cNvPr id="123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4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製品当たり獲得費 200 ドル以下・個人ローン純償却 3.0% 以下で確度を上げ / 預金の基本金利を同業並みに上げないと預金が減れば C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7063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706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模倣困難性と陳腐化(条件10・11)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3309874" y="356616"/>
            <a:ext cx="84246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真似できない資産があれば超過利益が長く続く。何が再現困難で、何が陳腐化しうるかを分けて見る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銀行免許・会員・513 億ドルの預金は再現に数年かかるが、技術基盤は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の内製化で陳腐化しうることが示された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再現に時間がかかる資産 / 陳腐化しうる資産 ← 競合の動き。下: 資産ごとの持ちの長さ。①〜⑤ は右と対応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決算)、research_r5/Q3_datasheet.md、research/R4_scuttlebutt.md(Chime の S-1、Robinhood・LendingClub の Q2 2026 決算)、research_r2/R9_products_people.md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43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条件10・11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380085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再現に時間がかかる資産(条件11)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4767072" y="1517904"/>
            <a:ext cx="145389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陳腐化する資産(条件10)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83971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競合の動き</a:t>
            </a:r>
            <a:endParaRPr lang="en-US" sz="950" dirty="0"/>
          </a:p>
        </p:txBody>
      </p:sp>
      <p:sp>
        <p:nvSpPr>
          <p:cNvPr id="33" name="ovl_s26_e0_0"/>
          <p:cNvSpPr/>
          <p:nvPr/>
        </p:nvSpPr>
        <p:spPr>
          <a:xfrm flipH="1">
            <a:off x="6629400" y="2348484"/>
            <a:ext cx="3200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4" name="ovl_s26_e0_1"/>
          <p:cNvSpPr/>
          <p:nvPr/>
        </p:nvSpPr>
        <p:spPr>
          <a:xfrm>
            <a:off x="6629400" y="2348484"/>
            <a:ext cx="914" cy="18592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5" name="ovl_s26_e0_2"/>
          <p:cNvSpPr/>
          <p:nvPr/>
        </p:nvSpPr>
        <p:spPr>
          <a:xfrm flipH="1">
            <a:off x="6111240" y="4207764"/>
            <a:ext cx="518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6" name="ovl_s26_e1_0"/>
          <p:cNvSpPr/>
          <p:nvPr/>
        </p:nvSpPr>
        <p:spPr>
          <a:xfrm flipH="1">
            <a:off x="4480560" y="234848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7" name="ovl_s26_e1_1"/>
          <p:cNvSpPr/>
          <p:nvPr/>
        </p:nvSpPr>
        <p:spPr>
          <a:xfrm>
            <a:off x="448056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8" name="ovl_s26_e1_2"/>
          <p:cNvSpPr/>
          <p:nvPr/>
        </p:nvSpPr>
        <p:spPr>
          <a:xfrm>
            <a:off x="4480560" y="420776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6_e2_0"/>
          <p:cNvSpPr/>
          <p:nvPr/>
        </p:nvSpPr>
        <p:spPr>
          <a:xfrm flipH="1">
            <a:off x="6111240" y="3278124"/>
            <a:ext cx="8382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6_e3_0"/>
          <p:cNvSpPr/>
          <p:nvPr/>
        </p:nvSpPr>
        <p:spPr>
          <a:xfrm>
            <a:off x="761238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1" name="ovl_s26_e3_1"/>
          <p:cNvSpPr/>
          <p:nvPr/>
        </p:nvSpPr>
        <p:spPr>
          <a:xfrm flipH="1">
            <a:off x="1120140" y="4626864"/>
            <a:ext cx="6492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2" name="ovl_s26_e3_2"/>
          <p:cNvSpPr/>
          <p:nvPr/>
        </p:nvSpPr>
        <p:spPr>
          <a:xfrm flipV="1">
            <a:off x="112014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26_e4_0"/>
          <p:cNvSpPr/>
          <p:nvPr/>
        </p:nvSpPr>
        <p:spPr>
          <a:xfrm>
            <a:off x="1783080" y="234848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4" name="ovl_s26_e4_1"/>
          <p:cNvSpPr/>
          <p:nvPr/>
        </p:nvSpPr>
        <p:spPr>
          <a:xfrm>
            <a:off x="214884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5" name="ovl_s26_e4_2"/>
          <p:cNvSpPr/>
          <p:nvPr/>
        </p:nvSpPr>
        <p:spPr>
          <a:xfrm flipH="1">
            <a:off x="1783080" y="420776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6_e5_0"/>
          <p:cNvSpPr/>
          <p:nvPr/>
        </p:nvSpPr>
        <p:spPr>
          <a:xfrm>
            <a:off x="1783080" y="3278124"/>
            <a:ext cx="5943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7" name="ovl_s26_e5_1"/>
          <p:cNvSpPr/>
          <p:nvPr/>
        </p:nvSpPr>
        <p:spPr>
          <a:xfrm flipV="1">
            <a:off x="2377440" y="2348484"/>
            <a:ext cx="914" cy="9296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8" name="ovl_s26_e5_2"/>
          <p:cNvSpPr/>
          <p:nvPr/>
        </p:nvSpPr>
        <p:spPr>
          <a:xfrm>
            <a:off x="2377440" y="2348484"/>
            <a:ext cx="2438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9" name="ovl_s26_n_charter"/>
          <p:cNvSpPr/>
          <p:nvPr/>
        </p:nvSpPr>
        <p:spPr>
          <a:xfrm>
            <a:off x="45720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26_nt_charter"/>
          <p:cNvSpPr txBox="1"/>
          <p:nvPr/>
        </p:nvSpPr>
        <p:spPr>
          <a:xfrm>
            <a:off x="49377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1000" dirty="0"/>
          </a:p>
        </p:txBody>
      </p:sp>
      <p:sp>
        <p:nvSpPr>
          <p:cNvPr id="51" name="ovl_s26_ns_charter"/>
          <p:cNvSpPr txBox="1"/>
          <p:nvPr/>
        </p:nvSpPr>
        <p:spPr>
          <a:xfrm>
            <a:off x="50292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年に銀行を買収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審査に約 1 年</a:t>
            </a:r>
            <a:endParaRPr lang="en-US" sz="850" dirty="0"/>
          </a:p>
        </p:txBody>
      </p:sp>
      <p:sp>
        <p:nvSpPr>
          <p:cNvPr id="52" name="ovl_s26_n_mem"/>
          <p:cNvSpPr/>
          <p:nvPr/>
        </p:nvSpPr>
        <p:spPr>
          <a:xfrm>
            <a:off x="45720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3" name="ovl_s26_nt_mem"/>
          <p:cNvSpPr txBox="1"/>
          <p:nvPr/>
        </p:nvSpPr>
        <p:spPr>
          <a:xfrm>
            <a:off x="49377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1,710 万人</a:t>
            </a:r>
            <a:endParaRPr lang="en-US" sz="1000" dirty="0"/>
          </a:p>
        </p:txBody>
      </p:sp>
      <p:sp>
        <p:nvSpPr>
          <p:cNvPr id="54" name="ovl_s26_ns_mem"/>
          <p:cNvSpPr txBox="1"/>
          <p:nvPr/>
        </p:nvSpPr>
        <p:spPr>
          <a:xfrm>
            <a:off x="50292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1.56 製品</a:t>
            </a:r>
            <a:endParaRPr lang="en-US" sz="850" dirty="0"/>
          </a:p>
        </p:txBody>
      </p:sp>
      <p:sp>
        <p:nvSpPr>
          <p:cNvPr id="55" name="ovl_s26_n_dep"/>
          <p:cNvSpPr/>
          <p:nvPr/>
        </p:nvSpPr>
        <p:spPr>
          <a:xfrm>
            <a:off x="45720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6" name="ovl_s26_nt_dep"/>
          <p:cNvSpPr txBox="1"/>
          <p:nvPr/>
        </p:nvSpPr>
        <p:spPr>
          <a:xfrm>
            <a:off x="49377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513 億ドル</a:t>
            </a:r>
            <a:endParaRPr lang="en-US" sz="1000" dirty="0"/>
          </a:p>
        </p:txBody>
      </p:sp>
      <p:sp>
        <p:nvSpPr>
          <p:cNvPr id="57" name="ovl_s26_ns_dep"/>
          <p:cNvSpPr txBox="1"/>
          <p:nvPr/>
        </p:nvSpPr>
        <p:spPr>
          <a:xfrm>
            <a:off x="50292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給与振込が約 9 割</a:t>
            </a:r>
            <a:endParaRPr lang="en-US" sz="850" dirty="0"/>
          </a:p>
        </p:txBody>
      </p:sp>
      <p:sp>
        <p:nvSpPr>
          <p:cNvPr id="58" name="ovl_s26_n_brand"/>
          <p:cNvSpPr/>
          <p:nvPr/>
        </p:nvSpPr>
        <p:spPr>
          <a:xfrm>
            <a:off x="2621280" y="201015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9" name="ovl_s26_nt_brand"/>
          <p:cNvSpPr txBox="1"/>
          <p:nvPr/>
        </p:nvSpPr>
        <p:spPr>
          <a:xfrm>
            <a:off x="2657856" y="203758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60" name="ovl_s26_ns_brand"/>
          <p:cNvSpPr txBox="1"/>
          <p:nvPr/>
        </p:nvSpPr>
        <p:spPr>
          <a:xfrm>
            <a:off x="2667000" y="224332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(販促が必要)</a:t>
            </a:r>
            <a:endParaRPr lang="en-US" sz="850" dirty="0"/>
          </a:p>
        </p:txBody>
      </p:sp>
      <p:sp>
        <p:nvSpPr>
          <p:cNvPr id="61" name="ovl_s26_n_data"/>
          <p:cNvSpPr/>
          <p:nvPr/>
        </p:nvSpPr>
        <p:spPr>
          <a:xfrm>
            <a:off x="2621280" y="293979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2" name="ovl_s26_nt_data"/>
          <p:cNvSpPr txBox="1"/>
          <p:nvPr/>
        </p:nvSpPr>
        <p:spPr>
          <a:xfrm>
            <a:off x="2657856" y="296722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信用データ</a:t>
            </a:r>
            <a:endParaRPr lang="en-US" sz="1000" dirty="0"/>
          </a:p>
        </p:txBody>
      </p:sp>
      <p:sp>
        <p:nvSpPr>
          <p:cNvPr id="63" name="ovl_s26_ns_data"/>
          <p:cNvSpPr txBox="1"/>
          <p:nvPr/>
        </p:nvSpPr>
        <p:spPr>
          <a:xfrm>
            <a:off x="2667000" y="317296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組成の実績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(個人ローンの損失履歴)</a:t>
            </a:r>
            <a:endParaRPr lang="en-US" sz="850" dirty="0"/>
          </a:p>
        </p:txBody>
      </p:sp>
      <p:sp>
        <p:nvSpPr>
          <p:cNvPr id="64" name="ovl_s26_n_lpbn"/>
          <p:cNvSpPr/>
          <p:nvPr/>
        </p:nvSpPr>
        <p:spPr>
          <a:xfrm>
            <a:off x="2621280" y="386943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5" name="ovl_s26_nt_lpbn"/>
          <p:cNvSpPr txBox="1"/>
          <p:nvPr/>
        </p:nvSpPr>
        <p:spPr>
          <a:xfrm>
            <a:off x="2657856" y="389686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の買い手の網</a:t>
            </a:r>
            <a:endParaRPr lang="en-US" sz="1000" dirty="0"/>
          </a:p>
        </p:txBody>
      </p:sp>
      <p:sp>
        <p:nvSpPr>
          <p:cNvPr id="66" name="ovl_s26_ns_lpbn"/>
          <p:cNvSpPr txBox="1"/>
          <p:nvPr/>
        </p:nvSpPr>
        <p:spPr>
          <a:xfrm>
            <a:off x="2667000" y="410260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億ドル超の契約</a:t>
            </a:r>
            <a:endParaRPr lang="en-US" sz="850" dirty="0"/>
          </a:p>
        </p:txBody>
      </p:sp>
      <p:sp>
        <p:nvSpPr>
          <p:cNvPr id="67" name="ovl_s26_n_tech"/>
          <p:cNvSpPr/>
          <p:nvPr/>
        </p:nvSpPr>
        <p:spPr>
          <a:xfrm>
            <a:off x="4876800" y="201015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8" name="ovl_s26_nt_tech"/>
          <p:cNvSpPr txBox="1"/>
          <p:nvPr/>
        </p:nvSpPr>
        <p:spPr>
          <a:xfrm>
            <a:off x="4913376" y="203758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69" name="ovl_s26_ns_tech"/>
          <p:cNvSpPr txBox="1"/>
          <p:nvPr/>
        </p:nvSpPr>
        <p:spPr>
          <a:xfrm>
            <a:off x="4922520" y="224332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(買収 約 23 億ドル)</a:t>
            </a:r>
            <a:endParaRPr lang="en-US" sz="850" dirty="0"/>
          </a:p>
        </p:txBody>
      </p:sp>
      <p:sp>
        <p:nvSpPr>
          <p:cNvPr id="70" name="ovl_s26_n_app"/>
          <p:cNvSpPr/>
          <p:nvPr/>
        </p:nvSpPr>
        <p:spPr>
          <a:xfrm>
            <a:off x="4876800" y="293979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1" name="ovl_s26_nt_app"/>
          <p:cNvSpPr txBox="1"/>
          <p:nvPr/>
        </p:nvSpPr>
        <p:spPr>
          <a:xfrm>
            <a:off x="4913376" y="296722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アプリ・製品</a:t>
            </a:r>
            <a:endParaRPr lang="en-US" sz="1000" dirty="0"/>
          </a:p>
        </p:txBody>
      </p:sp>
      <p:sp>
        <p:nvSpPr>
          <p:cNvPr id="72" name="ovl_s26_ns_app"/>
          <p:cNvSpPr txBox="1"/>
          <p:nvPr/>
        </p:nvSpPr>
        <p:spPr>
          <a:xfrm>
            <a:off x="4922520" y="317296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機能は真似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されやすい</a:t>
            </a:r>
            <a:endParaRPr lang="en-US" sz="850" dirty="0"/>
          </a:p>
        </p:txBody>
      </p:sp>
      <p:sp>
        <p:nvSpPr>
          <p:cNvPr id="73" name="ovl_s26_n_gal"/>
          <p:cNvSpPr/>
          <p:nvPr/>
        </p:nvSpPr>
        <p:spPr>
          <a:xfrm>
            <a:off x="4876800" y="386943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4" name="ovl_s26_nt_gal"/>
          <p:cNvSpPr txBox="1"/>
          <p:nvPr/>
        </p:nvSpPr>
        <p:spPr>
          <a:xfrm>
            <a:off x="4913376" y="389686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</a:t>
            </a:r>
            <a:endParaRPr lang="en-US" sz="1000" dirty="0"/>
          </a:p>
        </p:txBody>
      </p:sp>
      <p:sp>
        <p:nvSpPr>
          <p:cNvPr id="75" name="ovl_s26_ns_gal"/>
          <p:cNvSpPr txBox="1"/>
          <p:nvPr/>
        </p:nvSpPr>
        <p:spPr>
          <a:xfrm>
            <a:off x="4922520" y="410260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−24%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大口を除き +18%</a:t>
            </a:r>
            <a:endParaRPr lang="en-US" sz="850" dirty="0"/>
          </a:p>
        </p:txBody>
      </p:sp>
      <p:sp>
        <p:nvSpPr>
          <p:cNvPr id="76" name="ovl_s26_n_chime"/>
          <p:cNvSpPr/>
          <p:nvPr/>
        </p:nvSpPr>
        <p:spPr>
          <a:xfrm>
            <a:off x="694944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7" name="ovl_s26_nt_chime"/>
          <p:cNvSpPr txBox="1"/>
          <p:nvPr/>
        </p:nvSpPr>
        <p:spPr>
          <a:xfrm>
            <a:off x="698601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78" name="ovl_s26_ns_chime"/>
          <p:cNvSpPr txBox="1"/>
          <p:nvPr/>
        </p:nvSpPr>
        <p:spPr>
          <a:xfrm>
            <a:off x="699516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 ChimeCore 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</a:t>
            </a:r>
            <a:endParaRPr lang="en-US" sz="850" dirty="0"/>
          </a:p>
        </p:txBody>
      </p:sp>
      <p:sp>
        <p:nvSpPr>
          <p:cNvPr id="79" name="ovl_s26_n_rh"/>
          <p:cNvSpPr/>
          <p:nvPr/>
        </p:nvSpPr>
        <p:spPr>
          <a:xfrm>
            <a:off x="694944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0" name="ovl_s26_nt_rh"/>
          <p:cNvSpPr txBox="1"/>
          <p:nvPr/>
        </p:nvSpPr>
        <p:spPr>
          <a:xfrm>
            <a:off x="698601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</a:t>
            </a:r>
            <a:endParaRPr lang="en-US" sz="1000" dirty="0"/>
          </a:p>
        </p:txBody>
      </p:sp>
      <p:sp>
        <p:nvSpPr>
          <p:cNvPr id="81" name="ovl_s26_ns_rh"/>
          <p:cNvSpPr txBox="1"/>
          <p:nvPr/>
        </p:nvSpPr>
        <p:spPr>
          <a:xfrm>
            <a:off x="699516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銀行業務 入金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 億ドル超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 480 万人</a:t>
            </a:r>
            <a:endParaRPr lang="en-US" sz="850" dirty="0"/>
          </a:p>
        </p:txBody>
      </p:sp>
      <p:sp>
        <p:nvSpPr>
          <p:cNvPr id="82" name="ovl_s26_n_lc"/>
          <p:cNvSpPr/>
          <p:nvPr/>
        </p:nvSpPr>
        <p:spPr>
          <a:xfrm>
            <a:off x="694944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3" name="ovl_s26_nt_lc"/>
          <p:cNvSpPr txBox="1"/>
          <p:nvPr/>
        </p:nvSpPr>
        <p:spPr>
          <a:xfrm>
            <a:off x="698601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1000" dirty="0"/>
          </a:p>
        </p:txBody>
      </p:sp>
      <p:sp>
        <p:nvSpPr>
          <p:cNvPr id="84" name="ovl_s26_ns_lc"/>
          <p:cNvSpPr txBox="1"/>
          <p:nvPr/>
        </p:nvSpPr>
        <p:spPr>
          <a:xfrm>
            <a:off x="699516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102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借り手が新規口座の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15% 超</a:t>
            </a:r>
            <a:endParaRPr lang="en-US" sz="850" dirty="0"/>
          </a:p>
        </p:txBody>
      </p:sp>
      <p:sp>
        <p:nvSpPr>
          <p:cNvPr id="85" name="ovl_s26_lab0"/>
          <p:cNvSpPr txBox="1"/>
          <p:nvPr/>
        </p:nvSpPr>
        <p:spPr>
          <a:xfrm>
            <a:off x="5622874" y="270891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内製化で離脱</a:t>
            </a:r>
            <a:endParaRPr lang="en-US" sz="850" dirty="0"/>
          </a:p>
        </p:txBody>
      </p:sp>
      <p:sp>
        <p:nvSpPr>
          <p:cNvPr id="86" name="ovl_s26_num2"/>
          <p:cNvSpPr/>
          <p:nvPr/>
        </p:nvSpPr>
        <p:spPr>
          <a:xfrm>
            <a:off x="6137148" y="315925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ovl_s26_numt2"/>
          <p:cNvSpPr txBox="1"/>
          <p:nvPr/>
        </p:nvSpPr>
        <p:spPr>
          <a:xfrm>
            <a:off x="6137148" y="31592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88" name="ovl_s26_num3"/>
          <p:cNvSpPr/>
          <p:nvPr/>
        </p:nvSpPr>
        <p:spPr>
          <a:xfrm>
            <a:off x="4247388" y="446227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ovl_s26_numt3"/>
          <p:cNvSpPr txBox="1"/>
          <p:nvPr/>
        </p:nvSpPr>
        <p:spPr>
          <a:xfrm>
            <a:off x="424738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0" name="ovl_s26_num4"/>
          <p:cNvSpPr/>
          <p:nvPr/>
        </p:nvSpPr>
        <p:spPr>
          <a:xfrm>
            <a:off x="1847088" y="222961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ovl_s26_numt4"/>
          <p:cNvSpPr txBox="1"/>
          <p:nvPr/>
        </p:nvSpPr>
        <p:spPr>
          <a:xfrm>
            <a:off x="1847088" y="2229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2" name="ovl_s26_num5"/>
          <p:cNvSpPr/>
          <p:nvPr/>
        </p:nvSpPr>
        <p:spPr>
          <a:xfrm>
            <a:off x="2258568" y="269443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6_numt5"/>
          <p:cNvSpPr txBox="1"/>
          <p:nvPr/>
        </p:nvSpPr>
        <p:spPr>
          <a:xfrm>
            <a:off x="2258568" y="2694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94" name="ovl_s26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26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26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26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26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ovl_s26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資産ごとの持ちの長さ</a:t>
            </a:r>
            <a:endParaRPr lang="en-US" sz="850" dirty="0"/>
          </a:p>
        </p:txBody>
      </p:sp>
      <p:sp>
        <p:nvSpPr>
          <p:cNvPr id="100" name="ovl_s26tb_tk2026"/>
          <p:cNvSpPr txBox="1"/>
          <p:nvPr/>
        </p:nvSpPr>
        <p:spPr>
          <a:xfrm>
            <a:off x="16002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1" name="ovl_s26tb_gl2026"/>
          <p:cNvSpPr/>
          <p:nvPr/>
        </p:nvSpPr>
        <p:spPr>
          <a:xfrm>
            <a:off x="18745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2" name="ovl_s26tb_tk2028"/>
          <p:cNvSpPr txBox="1"/>
          <p:nvPr/>
        </p:nvSpPr>
        <p:spPr>
          <a:xfrm>
            <a:off x="288036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03" name="ovl_s26tb_gl2028"/>
          <p:cNvSpPr/>
          <p:nvPr/>
        </p:nvSpPr>
        <p:spPr>
          <a:xfrm>
            <a:off x="315468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4" name="ovl_s26tb_tk2030"/>
          <p:cNvSpPr txBox="1"/>
          <p:nvPr/>
        </p:nvSpPr>
        <p:spPr>
          <a:xfrm>
            <a:off x="416052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05" name="ovl_s26tb_gl2030"/>
          <p:cNvSpPr/>
          <p:nvPr/>
        </p:nvSpPr>
        <p:spPr>
          <a:xfrm>
            <a:off x="443484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6" name="ovl_s26tb_tk2032"/>
          <p:cNvSpPr txBox="1"/>
          <p:nvPr/>
        </p:nvSpPr>
        <p:spPr>
          <a:xfrm>
            <a:off x="54406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07" name="ovl_s26tb_gl2032"/>
          <p:cNvSpPr/>
          <p:nvPr/>
        </p:nvSpPr>
        <p:spPr>
          <a:xfrm>
            <a:off x="57150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8" name="ovl_s26tb_tk2034"/>
          <p:cNvSpPr txBox="1"/>
          <p:nvPr/>
        </p:nvSpPr>
        <p:spPr>
          <a:xfrm>
            <a:off x="672084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09" name="ovl_s26tb_gl2034"/>
          <p:cNvSpPr/>
          <p:nvPr/>
        </p:nvSpPr>
        <p:spPr>
          <a:xfrm>
            <a:off x="699516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0" name="ovl_s26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1" name="ovl_s26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2" name="ovl_s26tb_l0"/>
          <p:cNvSpPr txBox="1"/>
          <p:nvPr/>
        </p:nvSpPr>
        <p:spPr>
          <a:xfrm>
            <a:off x="457200" y="5248656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13" name="ovl_s26tb_b0"/>
          <p:cNvSpPr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14" name="ovl_s26tb_t0"/>
          <p:cNvSpPr txBox="1"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15" name="ovl_s26tb_l1"/>
          <p:cNvSpPr txBox="1"/>
          <p:nvPr/>
        </p:nvSpPr>
        <p:spPr>
          <a:xfrm>
            <a:off x="457200" y="5445252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</a:t>
            </a:r>
            <a:endParaRPr lang="en-US" sz="850" dirty="0"/>
          </a:p>
        </p:txBody>
      </p:sp>
      <p:sp>
        <p:nvSpPr>
          <p:cNvPr id="116" name="ovl_s26tb_b1"/>
          <p:cNvSpPr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17" name="ovl_s26tb_t1"/>
          <p:cNvSpPr txBox="1"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</a:t>
            </a:r>
            <a:endParaRPr lang="en-US" sz="800" dirty="0"/>
          </a:p>
        </p:txBody>
      </p:sp>
      <p:sp>
        <p:nvSpPr>
          <p:cNvPr id="118" name="ovl_s26tb_l2"/>
          <p:cNvSpPr txBox="1"/>
          <p:nvPr/>
        </p:nvSpPr>
        <p:spPr>
          <a:xfrm>
            <a:off x="457200" y="5641848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19" name="ovl_s26tb_b2"/>
          <p:cNvSpPr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0" name="ovl_s26tb_t2"/>
          <p:cNvSpPr txBox="1"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販促が続く限り</a:t>
            </a:r>
            <a:endParaRPr lang="en-US" sz="800" dirty="0"/>
          </a:p>
        </p:txBody>
      </p:sp>
      <p:sp>
        <p:nvSpPr>
          <p:cNvPr id="121" name="ovl_s26tb_l3"/>
          <p:cNvSpPr txBox="1"/>
          <p:nvPr/>
        </p:nvSpPr>
        <p:spPr>
          <a:xfrm>
            <a:off x="457200" y="5838444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850" dirty="0"/>
          </a:p>
        </p:txBody>
      </p:sp>
      <p:sp>
        <p:nvSpPr>
          <p:cNvPr id="122" name="ovl_s26tb_b3"/>
          <p:cNvSpPr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3" name="ovl_s26tb_t3"/>
          <p:cNvSpPr txBox="1"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3〜5 年で更新が要る</a:t>
            </a:r>
            <a:endParaRPr lang="en-US" sz="800" dirty="0"/>
          </a:p>
        </p:txBody>
      </p:sp>
      <p:sp>
        <p:nvSpPr>
          <p:cNvPr id="124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5" name="mech"/>
          <p:cNvSpPr txBox="1"/>
          <p:nvPr/>
        </p:nvSpPr>
        <p:spPr>
          <a:xfrm>
            <a:off x="8458200" y="1810512"/>
            <a:ext cx="3276295" cy="2790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は自社基盤へ移り、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万ドルを払って Galileo を離れた。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 は銀行業務(入金 30 億ドル超、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給与振込の設定 約 4 割)を始め、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アプリの機能は真似されやすい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 は貸し手と預金を組み合わせた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同じ型(預金 102 億ドル)。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型そのものは独占ではない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銀行免許は買収と審査に約 1 年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(2021-03 契約 → 2022-02 完了)。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 513 億ドルは短期に再現できない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1,710 万人とブランドは、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販促を続ける限り積み上がる</a:t>
            </a:r>
            <a:endParaRPr lang="en-US" sz="1050" dirty="0"/>
          </a:p>
        </p:txBody>
      </p:sp>
      <p:sp>
        <p:nvSpPr>
          <p:cNvPr id="126" name="ovl_takeaway_bg"/>
          <p:cNvSpPr/>
          <p:nvPr/>
        </p:nvSpPr>
        <p:spPr>
          <a:xfrm>
            <a:off x="8458200" y="4674616"/>
            <a:ext cx="3276295" cy="7508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7" name="takeaway"/>
          <p:cNvSpPr txBox="1"/>
          <p:nvPr/>
        </p:nvSpPr>
        <p:spPr>
          <a:xfrm>
            <a:off x="8567928" y="4747768"/>
            <a:ext cx="3056839" cy="60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免許・会員・預金は再現に数年かかる(11 B)。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技術基盤の外販は内製化で陳腐化しうる(10 B)</a:t>
            </a:r>
            <a:endParaRPr lang="en-US" sz="1000" dirty="0"/>
          </a:p>
        </p:txBody>
      </p:sp>
      <p:sp>
        <p:nvSpPr>
          <p:cNvPr id="128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の外販が増収に戻り、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会員当たりの製品が 1.7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他のフィンテックの銀行免許取得が続き、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31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31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収益の性格(条件12)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35174" y="356616"/>
            <a:ext cx="9199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残高に課金するストック型なら売上の見通しが立ち、評価倍率を高くできる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7 割超は残高に課金するストック型(Q3 は利ざやと Tech Platform で 73%)。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 2〜3 年で返済され、組成を続ける必要がある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収益の源 → SoFi の収益の種類 → ストックとフロー → 続く条件。①〜④ は右と対応。金額は Q3 2026(百万ドル)。継続手数料と売却益は未開示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決算、損益計算書)、research_r5/Q3_datasheet.md、research_r2/R5_credit_fv.md(期前返済率)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44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条件12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収益の源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11552" y="1517904"/>
            <a:ext cx="375513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の収益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続く条件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57272" y="1911096"/>
            <a:ext cx="1453896" cy="3877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81279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28_e0_0"/>
          <p:cNvSpPr/>
          <p:nvPr/>
        </p:nvSpPr>
        <p:spPr>
          <a:xfrm>
            <a:off x="1691640" y="237515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28_e1_0"/>
          <p:cNvSpPr/>
          <p:nvPr/>
        </p:nvSpPr>
        <p:spPr>
          <a:xfrm>
            <a:off x="1691640" y="335813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8_e2_0"/>
          <p:cNvSpPr/>
          <p:nvPr/>
        </p:nvSpPr>
        <p:spPr>
          <a:xfrm>
            <a:off x="1691640" y="4341114"/>
            <a:ext cx="9296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28_e3_0"/>
          <p:cNvSpPr/>
          <p:nvPr/>
        </p:nvSpPr>
        <p:spPr>
          <a:xfrm>
            <a:off x="1691640" y="532409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28_e4_0"/>
          <p:cNvSpPr/>
          <p:nvPr/>
        </p:nvSpPr>
        <p:spPr>
          <a:xfrm>
            <a:off x="3947160" y="237515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8_e5_0"/>
          <p:cNvSpPr/>
          <p:nvPr/>
        </p:nvSpPr>
        <p:spPr>
          <a:xfrm>
            <a:off x="39471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8_e6_0"/>
          <p:cNvSpPr/>
          <p:nvPr/>
        </p:nvSpPr>
        <p:spPr>
          <a:xfrm>
            <a:off x="3947160" y="5141214"/>
            <a:ext cx="259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2" name="ovl_s28_e6_1"/>
          <p:cNvSpPr/>
          <p:nvPr/>
        </p:nvSpPr>
        <p:spPr>
          <a:xfrm flipV="1">
            <a:off x="4206240" y="3467862"/>
            <a:ext cx="914" cy="1673352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3" name="ovl_s28_e6_2"/>
          <p:cNvSpPr/>
          <p:nvPr/>
        </p:nvSpPr>
        <p:spPr>
          <a:xfrm>
            <a:off x="4206240" y="3467862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8_e7_0"/>
          <p:cNvSpPr/>
          <p:nvPr/>
        </p:nvSpPr>
        <p:spPr>
          <a:xfrm flipH="1">
            <a:off x="61569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8_e8_0"/>
          <p:cNvSpPr/>
          <p:nvPr/>
        </p:nvSpPr>
        <p:spPr>
          <a:xfrm flipH="1">
            <a:off x="61569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8_e9_0"/>
          <p:cNvSpPr/>
          <p:nvPr/>
        </p:nvSpPr>
        <p:spPr>
          <a:xfrm>
            <a:off x="39471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8_e10_0"/>
          <p:cNvSpPr/>
          <p:nvPr/>
        </p:nvSpPr>
        <p:spPr>
          <a:xfrm flipH="1">
            <a:off x="4617720" y="5506974"/>
            <a:ext cx="25908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8" name="ovl_s28_e10_1"/>
          <p:cNvSpPr/>
          <p:nvPr/>
        </p:nvSpPr>
        <p:spPr>
          <a:xfrm flipV="1">
            <a:off x="4617720" y="2484882"/>
            <a:ext cx="914" cy="302209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9" name="ovl_s28_e10_2"/>
          <p:cNvSpPr/>
          <p:nvPr/>
        </p:nvSpPr>
        <p:spPr>
          <a:xfrm flipH="1">
            <a:off x="3947160" y="2484882"/>
            <a:ext cx="67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50" name="ovl_s28_n_loans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1" name="ovl_s28_nt_loans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</a:t>
            </a:r>
            <a:endParaRPr lang="en-US" sz="1000" dirty="0"/>
          </a:p>
        </p:txBody>
      </p:sp>
      <p:sp>
        <p:nvSpPr>
          <p:cNvPr id="52" name="ovl_s28_ns_loans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321・学生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185 億ドル(Q3)</a:t>
            </a:r>
            <a:endParaRPr lang="en-US" sz="850" dirty="0"/>
          </a:p>
        </p:txBody>
      </p:sp>
      <p:sp>
        <p:nvSpPr>
          <p:cNvPr id="53" name="ovl_s28_n_acct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4" name="ovl_s28_nt_acct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</a:t>
            </a:r>
            <a:endParaRPr lang="en-US" sz="1000" dirty="0"/>
          </a:p>
        </p:txBody>
      </p:sp>
      <p:sp>
        <p:nvSpPr>
          <p:cNvPr id="55" name="ovl_s28_ns_acct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513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万(Q2)</a:t>
            </a:r>
            <a:endParaRPr lang="en-US" sz="850" dirty="0"/>
          </a:p>
        </p:txBody>
      </p:sp>
      <p:sp>
        <p:nvSpPr>
          <p:cNvPr id="56" name="ovl_s28_n_orig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28_nt_orig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新しい組成</a:t>
            </a:r>
            <a:endParaRPr lang="en-US" sz="1000" dirty="0"/>
          </a:p>
        </p:txBody>
      </p:sp>
      <p:sp>
        <p:nvSpPr>
          <p:cNvPr id="58" name="ovl_s28_ns_orig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126 億ドル/四半期</a:t>
            </a:r>
            <a:endParaRPr lang="en-US" sz="850" dirty="0"/>
          </a:p>
        </p:txBody>
      </p:sp>
      <p:sp>
        <p:nvSpPr>
          <p:cNvPr id="59" name="ovl_s28_n_b2b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28_nt_b2b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の顧客</a:t>
            </a:r>
            <a:endParaRPr lang="en-US" sz="1000" dirty="0"/>
          </a:p>
        </p:txBody>
      </p:sp>
      <p:sp>
        <p:nvSpPr>
          <p:cNvPr id="61" name="ovl_s28_ns_b2b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1.40 億</a:t>
            </a:r>
            <a:endParaRPr lang="en-US" sz="850" dirty="0"/>
          </a:p>
        </p:txBody>
      </p:sp>
      <p:sp>
        <p:nvSpPr>
          <p:cNvPr id="62" name="ovl_s28_n_nii"/>
          <p:cNvSpPr/>
          <p:nvPr/>
        </p:nvSpPr>
        <p:spPr>
          <a:xfrm>
            <a:off x="2621280" y="200939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3" name="ovl_s28_nt_nii"/>
          <p:cNvSpPr txBox="1"/>
          <p:nvPr/>
        </p:nvSpPr>
        <p:spPr>
          <a:xfrm>
            <a:off x="2657856" y="203682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</a:t>
            </a:r>
            <a:endParaRPr lang="en-US" sz="1000" dirty="0"/>
          </a:p>
        </p:txBody>
      </p:sp>
      <p:sp>
        <p:nvSpPr>
          <p:cNvPr id="64" name="ovl_s28_ns_nii"/>
          <p:cNvSpPr txBox="1"/>
          <p:nvPr/>
        </p:nvSpPr>
        <p:spPr>
          <a:xfrm>
            <a:off x="2667000" y="224256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929.5(収益の 67%)</a:t>
            </a:r>
            <a:endParaRPr lang="en-US" sz="850" dirty="0"/>
          </a:p>
        </p:txBody>
      </p:sp>
      <p:sp>
        <p:nvSpPr>
          <p:cNvPr id="65" name="ovl_s28_n_fee"/>
          <p:cNvSpPr/>
          <p:nvPr/>
        </p:nvSpPr>
        <p:spPr>
          <a:xfrm>
            <a:off x="2621280" y="299237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8_nt_fee"/>
          <p:cNvSpPr txBox="1"/>
          <p:nvPr/>
        </p:nvSpPr>
        <p:spPr>
          <a:xfrm>
            <a:off x="2657856" y="301980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</a:t>
            </a:r>
            <a:endParaRPr lang="en-US" sz="1000" dirty="0"/>
          </a:p>
        </p:txBody>
      </p:sp>
      <p:sp>
        <p:nvSpPr>
          <p:cNvPr id="67" name="ovl_s28_ns_fee"/>
          <p:cNvSpPr txBox="1"/>
          <p:nvPr/>
        </p:nvSpPr>
        <p:spPr>
          <a:xfrm>
            <a:off x="2667000" y="322554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未開示(Q2 86.7)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インターチェンジ・Plus</a:t>
            </a:r>
            <a:endParaRPr lang="en-US" sz="800" dirty="0"/>
          </a:p>
        </p:txBody>
      </p:sp>
      <p:sp>
        <p:nvSpPr>
          <p:cNvPr id="68" name="ovl_s28_n_flow"/>
          <p:cNvSpPr/>
          <p:nvPr/>
        </p:nvSpPr>
        <p:spPr>
          <a:xfrm>
            <a:off x="2621280" y="397535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8_nt_flow"/>
          <p:cNvSpPr txBox="1"/>
          <p:nvPr/>
        </p:nvSpPr>
        <p:spPr>
          <a:xfrm>
            <a:off x="2657856" y="400278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売却益・LPB</a:t>
            </a:r>
            <a:endParaRPr lang="en-US" sz="1000" dirty="0"/>
          </a:p>
        </p:txBody>
      </p:sp>
      <p:sp>
        <p:nvSpPr>
          <p:cNvPr id="70" name="ovl_s28_ns_flow"/>
          <p:cNvSpPr txBox="1"/>
          <p:nvPr/>
        </p:nvSpPr>
        <p:spPr>
          <a:xfrm>
            <a:off x="2667000" y="420852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売却益は未開示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153.4(11%)</a:t>
            </a:r>
            <a:endParaRPr lang="en-US" sz="850" dirty="0"/>
          </a:p>
        </p:txBody>
      </p:sp>
      <p:sp>
        <p:nvSpPr>
          <p:cNvPr id="71" name="ovl_s28_n_tp"/>
          <p:cNvSpPr/>
          <p:nvPr/>
        </p:nvSpPr>
        <p:spPr>
          <a:xfrm>
            <a:off x="2621280" y="495833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8_nt_tp"/>
          <p:cNvSpPr txBox="1"/>
          <p:nvPr/>
        </p:nvSpPr>
        <p:spPr>
          <a:xfrm>
            <a:off x="2657856" y="49857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73" name="ovl_s28_ns_tp"/>
          <p:cNvSpPr txBox="1"/>
          <p:nvPr/>
        </p:nvSpPr>
        <p:spPr>
          <a:xfrm>
            <a:off x="2667000" y="519150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87.4(6%)</a:t>
            </a:r>
            <a:endParaRPr lang="en-US" sz="850" dirty="0"/>
          </a:p>
        </p:txBody>
      </p:sp>
      <p:sp>
        <p:nvSpPr>
          <p:cNvPr id="74" name="ovl_s28_n_stock"/>
          <p:cNvSpPr/>
          <p:nvPr/>
        </p:nvSpPr>
        <p:spPr>
          <a:xfrm>
            <a:off x="4876800" y="202082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5" name="ovl_s28_nt_stock"/>
          <p:cNvSpPr txBox="1"/>
          <p:nvPr/>
        </p:nvSpPr>
        <p:spPr>
          <a:xfrm>
            <a:off x="4913376" y="2048256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 約 76%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(Q2)</a:t>
            </a:r>
            <a:endParaRPr lang="en-US" sz="900" dirty="0"/>
          </a:p>
        </p:txBody>
      </p:sp>
      <p:sp>
        <p:nvSpPr>
          <p:cNvPr id="76" name="ovl_s28_ns_stock"/>
          <p:cNvSpPr txBox="1"/>
          <p:nvPr/>
        </p:nvSpPr>
        <p:spPr>
          <a:xfrm>
            <a:off x="4922520" y="2404872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残高・口座に課金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は NII 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だけで 73%</a:t>
            </a:r>
            <a:endParaRPr lang="en-US" sz="850" dirty="0"/>
          </a:p>
        </p:txBody>
      </p:sp>
      <p:sp>
        <p:nvSpPr>
          <p:cNvPr id="77" name="ovl_s28_n_flowk"/>
          <p:cNvSpPr/>
          <p:nvPr/>
        </p:nvSpPr>
        <p:spPr>
          <a:xfrm>
            <a:off x="487680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8_nt_flowk"/>
          <p:cNvSpPr txBox="1"/>
          <p:nvPr/>
        </p:nvSpPr>
        <p:spPr>
          <a:xfrm>
            <a:off x="491337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 約 24%(Q2)</a:t>
            </a:r>
            <a:endParaRPr lang="en-US" sz="900" dirty="0"/>
          </a:p>
        </p:txBody>
      </p:sp>
      <p:sp>
        <p:nvSpPr>
          <p:cNvPr id="79" name="ovl_s28_ns_flowk"/>
          <p:cNvSpPr txBox="1"/>
          <p:nvPr/>
        </p:nvSpPr>
        <p:spPr>
          <a:xfrm>
            <a:off x="492252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組成のたびに発生</a:t>
            </a:r>
            <a:endParaRPr lang="en-US" sz="850" dirty="0"/>
          </a:p>
        </p:txBody>
      </p:sp>
      <p:sp>
        <p:nvSpPr>
          <p:cNvPr id="80" name="ovl_s28_n_runoff"/>
          <p:cNvSpPr/>
          <p:nvPr/>
        </p:nvSpPr>
        <p:spPr>
          <a:xfrm>
            <a:off x="487680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28_nt_runoff"/>
          <p:cNvSpPr txBox="1"/>
          <p:nvPr/>
        </p:nvSpPr>
        <p:spPr>
          <a:xfrm>
            <a:off x="491337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残高の目減り</a:t>
            </a:r>
            <a:endParaRPr lang="en-US" sz="1000" dirty="0"/>
          </a:p>
        </p:txBody>
      </p:sp>
      <p:sp>
        <p:nvSpPr>
          <p:cNvPr id="82" name="ovl_s28_ns_runoff"/>
          <p:cNvSpPr txBox="1"/>
          <p:nvPr/>
        </p:nvSpPr>
        <p:spPr>
          <a:xfrm>
            <a:off x="492252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期前返済 年 25.8%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(6 月末)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個人ローンは 2〜3 年</a:t>
            </a:r>
            <a:endParaRPr lang="en-US" sz="850" dirty="0"/>
          </a:p>
        </p:txBody>
      </p:sp>
      <p:sp>
        <p:nvSpPr>
          <p:cNvPr id="83" name="ovl_s28_n_cond1"/>
          <p:cNvSpPr/>
          <p:nvPr/>
        </p:nvSpPr>
        <p:spPr>
          <a:xfrm>
            <a:off x="7086600" y="299237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4" name="ovl_s28_nt_cond1"/>
          <p:cNvSpPr txBox="1"/>
          <p:nvPr/>
        </p:nvSpPr>
        <p:spPr>
          <a:xfrm>
            <a:off x="7123176" y="301980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増える</a:t>
            </a:r>
            <a:endParaRPr lang="en-US" sz="900" dirty="0"/>
          </a:p>
        </p:txBody>
      </p:sp>
      <p:sp>
        <p:nvSpPr>
          <p:cNvPr id="85" name="ovl_s28_ns_cond1"/>
          <p:cNvSpPr txBox="1"/>
          <p:nvPr/>
        </p:nvSpPr>
        <p:spPr>
          <a:xfrm>
            <a:off x="7132320" y="337642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+36%</a:t>
            </a:r>
            <a:endParaRPr lang="en-US" sz="850" dirty="0"/>
          </a:p>
        </p:txBody>
      </p:sp>
      <p:sp>
        <p:nvSpPr>
          <p:cNvPr id="86" name="ovl_s28_n_cond2"/>
          <p:cNvSpPr/>
          <p:nvPr/>
        </p:nvSpPr>
        <p:spPr>
          <a:xfrm>
            <a:off x="7086600" y="397535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7" name="ovl_s28_nt_cond2"/>
          <p:cNvSpPr txBox="1"/>
          <p:nvPr/>
        </p:nvSpPr>
        <p:spPr>
          <a:xfrm>
            <a:off x="7123176" y="4002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組成を続ける</a:t>
            </a:r>
            <a:endParaRPr lang="en-US" sz="1000" dirty="0"/>
          </a:p>
        </p:txBody>
      </p:sp>
      <p:sp>
        <p:nvSpPr>
          <p:cNvPr id="88" name="ovl_s28_ns_cond2"/>
          <p:cNvSpPr txBox="1"/>
          <p:nvPr/>
        </p:nvSpPr>
        <p:spPr>
          <a:xfrm>
            <a:off x="7132320" y="4208526"/>
            <a:ext cx="1097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組成が止まれば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残高が減る</a:t>
            </a:r>
            <a:endParaRPr lang="en-US" sz="850" dirty="0"/>
          </a:p>
        </p:txBody>
      </p:sp>
      <p:sp>
        <p:nvSpPr>
          <p:cNvPr id="89" name="ovl_s28_lab0"/>
          <p:cNvSpPr txBox="1"/>
          <p:nvPr/>
        </p:nvSpPr>
        <p:spPr>
          <a:xfrm>
            <a:off x="1909229" y="2141982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90" name="ovl_s28_lab1"/>
          <p:cNvSpPr txBox="1"/>
          <p:nvPr/>
        </p:nvSpPr>
        <p:spPr>
          <a:xfrm>
            <a:off x="1728216" y="2983230"/>
            <a:ext cx="85648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会費・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91" name="ovl_s28_lab2"/>
          <p:cNvSpPr txBox="1"/>
          <p:nvPr/>
        </p:nvSpPr>
        <p:spPr>
          <a:xfrm>
            <a:off x="173435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売る・渡す</a:t>
            </a:r>
            <a:endParaRPr lang="en-US" sz="850" dirty="0"/>
          </a:p>
        </p:txBody>
      </p:sp>
      <p:sp>
        <p:nvSpPr>
          <p:cNvPr id="92" name="ovl_s28_lab3"/>
          <p:cNvSpPr txBox="1"/>
          <p:nvPr/>
        </p:nvSpPr>
        <p:spPr>
          <a:xfrm>
            <a:off x="1926717" y="509092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3" name="ovl_s28_lab10"/>
          <p:cNvSpPr txBox="1"/>
          <p:nvPr/>
        </p:nvSpPr>
        <p:spPr>
          <a:xfrm>
            <a:off x="4663440" y="374218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目減り</a:t>
            </a:r>
            <a:endParaRPr lang="en-US" sz="850" dirty="0"/>
          </a:p>
        </p:txBody>
      </p:sp>
      <p:sp>
        <p:nvSpPr>
          <p:cNvPr id="94" name="ovl_s28_glab0"/>
          <p:cNvSpPr txBox="1"/>
          <p:nvPr/>
        </p:nvSpPr>
        <p:spPr>
          <a:xfrm>
            <a:off x="264871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収益の種類</a:t>
            </a:r>
            <a:endParaRPr lang="en-US" sz="800" dirty="0"/>
          </a:p>
        </p:txBody>
      </p:sp>
      <p:sp>
        <p:nvSpPr>
          <p:cNvPr id="95" name="ovl_s28_glab1"/>
          <p:cNvSpPr txBox="1"/>
          <p:nvPr/>
        </p:nvSpPr>
        <p:spPr>
          <a:xfrm>
            <a:off x="490423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性格</a:t>
            </a:r>
            <a:endParaRPr lang="en-US" sz="800" dirty="0"/>
          </a:p>
        </p:txBody>
      </p:sp>
      <p:sp>
        <p:nvSpPr>
          <p:cNvPr id="96" name="ovl_s28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7" name="ovl_s28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8" name="ovl_s28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9" name="ovl_s28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0" name="ovl_s28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1" name="ovl_s28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2" name="ovl_s28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3" name="ovl_s28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4" name="ovl_s28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5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6" name="mech"/>
          <p:cNvSpPr txBox="1"/>
          <p:nvPr/>
        </p:nvSpPr>
        <p:spPr>
          <a:xfrm>
            <a:off x="8458200" y="1810512"/>
            <a:ext cx="3276295" cy="2338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のローン残高に利息が付く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純金利収益が 929.5 百万ドルで収益の 67%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会員の口座に付く継続手数料と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を足すと、ストック型は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76%(Q2)。Q3 は継続手数料が未開示で、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NII と Tech Platform だけで 73%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売却益と LPB は組成のたびに生じる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フロー型で、約 24%(Q2)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ただし個人ローンは期前返済が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25.8%(6 月末)と速く、2〜3 年で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返済される。残高を保つには組成を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続ける必要がある</a:t>
            </a:r>
            <a:endParaRPr lang="en-US" sz="1100" dirty="0"/>
          </a:p>
        </p:txBody>
      </p:sp>
      <p:sp>
        <p:nvSpPr>
          <p:cNvPr id="107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8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4 分の 3 は残高に課金する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ストック型。ただし残高は 2〜3 年で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入れ替わるため B</a:t>
            </a:r>
            <a:endParaRPr lang="en-US" sz="1000" dirty="0"/>
          </a:p>
        </p:txBody>
      </p:sp>
      <p:sp>
        <p:nvSpPr>
          <p:cNvPr id="109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の有料会員が 100 万人を超え、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継続手数料が収益の 15%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組成の減速で B/S の残高が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減り始めれば C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総合(条件13)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58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アーキタイプ(条件13)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62174" y="356616"/>
            <a:ext cx="9072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各条件を束ね、目指す型(ORCL 型)と避けたい型(MU・VRT・AVGO 型)のどちらに近いかを判定する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業界と比べると 71% の保有は銀行の標準に近く、売却の選択肢も持つ。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信用の保有は MU 型ではなく、会員型の基盤(ORCL 型)と貸し手の間で B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条件13(総合)アーキタイプ照合: 業界と比べた後に、経済の中身で ORCL 型(継続課金・低い陳腐化)と MU 型(景気循環で陳腐化する設備)・VRT 型・AVGO 型のどこかを決める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会社開示(Q3 2026 決算)、research_r5/Q3_datasheet.md、research_r2/R5_credit_fv.md、research_r4/R16・R17、calc/out/growth_v4.json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</a:t>
            </a:r>
            <a:endParaRPr lang="en-US" sz="800" dirty="0"/>
          </a:p>
        </p:txBody>
      </p:sp>
      <p:sp>
        <p:nvSpPr>
          <p:cNvPr id="24" name="flow_h0"/>
          <p:cNvSpPr txBox="1"/>
          <p:nvPr/>
        </p:nvSpPr>
        <p:spPr>
          <a:xfrm>
            <a:off x="457200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原型</a:t>
            </a:r>
            <a:endParaRPr lang="en-US" sz="1100" dirty="0"/>
          </a:p>
        </p:txBody>
      </p:sp>
      <p:sp>
        <p:nvSpPr>
          <p:cNvPr id="25" name="ovl_fbox0_0"/>
          <p:cNvSpPr/>
          <p:nvPr/>
        </p:nvSpPr>
        <p:spPr>
          <a:xfrm>
            <a:off x="457200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6" name="flow_t0_0"/>
          <p:cNvSpPr txBox="1"/>
          <p:nvPr/>
        </p:nvSpPr>
        <p:spPr>
          <a:xfrm>
            <a:off x="530352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ORCL 型</a:t>
            </a:r>
            <a:endParaRPr lang="en-US" sz="1000" dirty="0"/>
          </a:p>
        </p:txBody>
      </p:sp>
      <p:sp>
        <p:nvSpPr>
          <p:cNvPr id="27" name="ovl_farrow0"/>
          <p:cNvSpPr/>
          <p:nvPr/>
        </p:nvSpPr>
        <p:spPr>
          <a:xfrm>
            <a:off x="1885950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8" name="flow_h1"/>
          <p:cNvSpPr txBox="1"/>
          <p:nvPr/>
        </p:nvSpPr>
        <p:spPr>
          <a:xfrm>
            <a:off x="2002536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ovl_fbox1_0"/>
          <p:cNvSpPr/>
          <p:nvPr/>
        </p:nvSpPr>
        <p:spPr>
          <a:xfrm>
            <a:off x="2002536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0" name="flow_t1_0"/>
          <p:cNvSpPr txBox="1"/>
          <p:nvPr/>
        </p:nvSpPr>
        <p:spPr>
          <a:xfrm>
            <a:off x="2075688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預金・FS 手数料</a:t>
            </a:r>
            <a:endParaRPr lang="en-US" sz="1000" dirty="0"/>
          </a:p>
        </p:txBody>
      </p:sp>
      <p:sp>
        <p:nvSpPr>
          <p:cNvPr id="31" name="ovl_farrow1"/>
          <p:cNvSpPr/>
          <p:nvPr/>
        </p:nvSpPr>
        <p:spPr>
          <a:xfrm>
            <a:off x="3431286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2" name="flow_h2"/>
          <p:cNvSpPr txBox="1"/>
          <p:nvPr/>
        </p:nvSpPr>
        <p:spPr>
          <a:xfrm>
            <a:off x="3547872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ovl_fbox2_0"/>
          <p:cNvSpPr/>
          <p:nvPr/>
        </p:nvSpPr>
        <p:spPr>
          <a:xfrm>
            <a:off x="3547872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4" name="flow_t2_0"/>
          <p:cNvSpPr txBox="1"/>
          <p:nvPr/>
        </p:nvSpPr>
        <p:spPr>
          <a:xfrm>
            <a:off x="3621024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LPB(資本を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使わない手数料)</a:t>
            </a:r>
            <a:endParaRPr lang="en-US" sz="1000" dirty="0"/>
          </a:p>
        </p:txBody>
      </p:sp>
      <p:sp>
        <p:nvSpPr>
          <p:cNvPr id="35" name="ovl_farrow2"/>
          <p:cNvSpPr/>
          <p:nvPr/>
        </p:nvSpPr>
        <p:spPr>
          <a:xfrm>
            <a:off x="4976622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6" name="flow_h3"/>
          <p:cNvSpPr txBox="1"/>
          <p:nvPr/>
        </p:nvSpPr>
        <p:spPr>
          <a:xfrm>
            <a:off x="5093208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ovl_fbox3_0"/>
          <p:cNvSpPr/>
          <p:nvPr/>
        </p:nvSpPr>
        <p:spPr>
          <a:xfrm>
            <a:off x="5093208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8" name="flow_t3_0"/>
          <p:cNvSpPr txBox="1"/>
          <p:nvPr/>
        </p:nvSpPr>
        <p:spPr>
          <a:xfrm>
            <a:off x="5166360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学生ローン(B/S)</a:t>
            </a:r>
            <a:endParaRPr lang="en-US" sz="1000" dirty="0"/>
          </a:p>
        </p:txBody>
      </p:sp>
      <p:sp>
        <p:nvSpPr>
          <p:cNvPr id="39" name="ovl_farrow3"/>
          <p:cNvSpPr/>
          <p:nvPr/>
        </p:nvSpPr>
        <p:spPr>
          <a:xfrm>
            <a:off x="6521958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0" name="flow_h4"/>
          <p:cNvSpPr txBox="1"/>
          <p:nvPr/>
        </p:nvSpPr>
        <p:spPr>
          <a:xfrm>
            <a:off x="6638544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ovl_fbox4_0"/>
          <p:cNvSpPr/>
          <p:nvPr/>
        </p:nvSpPr>
        <p:spPr>
          <a:xfrm>
            <a:off x="6638544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42" name="flow_t4_0"/>
          <p:cNvSpPr txBox="1"/>
          <p:nvPr/>
        </p:nvSpPr>
        <p:spPr>
          <a:xfrm>
            <a:off x="6711696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個人ローン(B/S)</a:t>
            </a:r>
            <a:endParaRPr lang="en-US" sz="1000" dirty="0"/>
          </a:p>
        </p:txBody>
      </p:sp>
      <p:graphicFrame>
        <p:nvGraphicFramePr>
          <p:cNvPr id="4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ORCL 型に近い要素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貸し手(景気循環)の要素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預金の利ざや・継続手数料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(残高と利用に乗る)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売却益は組成と市況で変わる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信用の保有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71% 保有は銀行の標準に近く、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売却の選択肢あり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信用の損失を負う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(損益分岐 5.7%、実績 3.4%(Q3))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と手数料は資本を使わない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自給率 0.89(2027)→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1.04(2028、エンジン)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会員の基盤は長く使える。自社コアへ移行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 の大口は内製化で離脱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4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46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業界: 銀行はほぼ全額保有、LendingClub 21〜36%、Upstart 約 6%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保有の資本 ROE 約 26% &gt; 資本コスト 13.9%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 型は陳腐化する設備に資本を投じる型。信用の保有はそれに当たらない</a:t>
            </a:r>
            <a:endParaRPr lang="en-US" sz="950" dirty="0"/>
          </a:p>
        </p:txBody>
      </p:sp>
      <p:sp>
        <p:nvSpPr>
          <p:cNvPr id="47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8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会員型の基盤(ORCL 型)と貸し手の間。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保有は業界の標準で MU 型ではない。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手数料の比率が上がれば A</a:t>
            </a:r>
            <a:endParaRPr lang="en-US" sz="1050" dirty="0"/>
          </a:p>
        </p:txBody>
      </p:sp>
      <p:sp>
        <p:nvSpPr>
          <p:cNvPr id="49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50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手数料型の比率 42%(Q3)。40% 超が 2 四半期で A 候補・35% 未満が続けば C 候補 / 個人ローンの保有比率は資本に応じて 50〜75%(毎四半期)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6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9" name="bg_agenda_why4"/>
          <p:cNvSpPr txBox="1"/>
          <p:nvPr/>
        </p:nvSpPr>
        <p:spPr>
          <a:xfrm>
            <a:off x="1417320" y="56509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構造評価を倍率に変えて理論株価を出し、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リスクを踏まえて建て方と撤退条件を決める</a:t>
            </a:r>
            <a:endParaRPr lang="en-US" sz="10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 市場との差分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p.47–48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 価値評価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p.49–52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  最終判断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p.53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  リスク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p.54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  投資行動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p.55</a:t>
            </a:r>
            <a:endParaRPr lang="en-US" sz="1050" dirty="0"/>
          </a:p>
        </p:txBody>
      </p:sp>
      <p:sp>
        <p:nvSpPr>
          <p:cNvPr id="32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 前提と制約</a:t>
            </a:r>
            <a:endParaRPr lang="en-US" sz="1250" dirty="0"/>
          </a:p>
        </p:txBody>
      </p:sp>
      <p:sp>
        <p:nvSpPr>
          <p:cNvPr id="33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p.56</a:t>
            </a:r>
            <a:endParaRPr lang="en-US" sz="1050" dirty="0"/>
          </a:p>
        </p:txBody>
      </p:sp>
      <p:sp>
        <p:nvSpPr>
          <p:cNvPr id="34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市場との差分(1/2)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市場との差分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市場が何を織り込み、どこに見落としがあるか(無いか)を確かめる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 PEG 0.80〜0.90(構造 C の 1.0 未満)と、損失率が毎年 +2.1〜2.7pt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悪化する前提を織り込む。本資料は B(PEG 1.275)で、差は信用・資本の過大評価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シナリオ別の 1 株当たり価値と株価、株価が示す前提。右: 市場の仮説と構造上の見方(差分)、カタリストの日程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calc/out/growth_v4.json(節点ツリー・理論株価・感応度)、research_r5/Q3_datasheet.md(Q3 の実績)、research/R3a_market_hypothesis.md(Muddy Waters・KBW・Morgan Stanley・BofA・StoneX・Citi)、会社開示、research_r4/R13・R15・R17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47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シナリオ別の価値と株価(ドル)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532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5532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株価が示す前提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PEG(エンジンの成長率のまま)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0.80(14.55)・0.90(16.5)。本資料 1.275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損失率の恒常的な悪化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+2.7pt(14.55)・+2.1pt(16.5)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実績の損失率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約 3.4%(Q3、改善)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N1・N2 を ±10pt 動かした期待値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22.4〜26.0 ドル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note"/>
          <p:cNvSpPr txBox="1"/>
          <p:nvPr/>
        </p:nvSpPr>
        <p:spPr>
          <a:xfrm>
            <a:off x="457200" y="5596128"/>
            <a:ext cx="5532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株価はどの感応度でも期待値を下回る。差の根拠は信用・資本・金利の過大評価(条件7)</a:t>
            </a:r>
            <a:endParaRPr lang="en-US" sz="950" dirty="0"/>
          </a:p>
        </p:txBody>
      </p:sp>
      <p:sp>
        <p:nvSpPr>
          <p:cNvPr id="25" name="pane_head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市場の仮説 → 構造上の見方</a:t>
            </a:r>
            <a:endParaRPr lang="en-US" sz="1200" dirty="0"/>
          </a:p>
        </p:txBody>
      </p:sp>
      <p:graphicFrame>
        <p:nvGraphicFramePr>
          <p:cNvPr id="95" name="tbl_hypothes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10512"/>
          <a:ext cx="5532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市場の仮説(出所)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構造上の見方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金利で評価減(KBW)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両面の合計 約 −0.6 ドル。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ヘッジで相殺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過大(優位: 分析)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信用が悪化する(景気)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株価は同業の最悪期を超える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損失を毎年織り込む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過大(優位: 分析)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成長が資本を食う(MS・KBW)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下限まで 17 億ドル。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年から資本の上限が効く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一部過大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利益が付いてこない(BofA)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0.18 は費用の引き下げでなく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増収で作られた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時間軸の見落とし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会計が甘い(Muddy Waters)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損失前提 4.8% &gt; 実績 約 3.4%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裏付けが弱い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pane_head"/>
          <p:cNvSpPr txBox="1"/>
          <p:nvPr/>
        </p:nvSpPr>
        <p:spPr>
          <a:xfrm>
            <a:off x="6199632" y="39319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カタリストの日程</a:t>
            </a:r>
            <a:endParaRPr lang="en-US" sz="1200" dirty="0"/>
          </a:p>
        </p:txBody>
      </p:sp>
      <p:graphicFrame>
        <p:nvGraphicFramePr>
          <p:cNvPr id="142" name="tbl_cataly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4251960"/>
          <a:ext cx="5532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カタリスト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何が分かるか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2027-01〜02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決算・2027 年の詳細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16% 割れの四半期の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の割合、all-in 損失率、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中期目標の扱い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2027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 の前年比プラス転換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景気(失業率 4.2%)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延滞の上昇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市場との差分(2/2)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840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84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判別 KPI の結果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87524" y="356616"/>
            <a:ext cx="94469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投資の前提を最新の決算で確かめ、どこが強まりどこが崩れたかを見る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で前提を確かめた: 信用・資本・手数料型・会員の量は合格、獲得単価は未達。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は販促費を削らず増収で作られ、調整弁は資本と分かった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投資の前提を Q3 2026 の実績で確かめる(合格 = 基準を満たす / 一部 / 未達 / 未開示)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research_r5/Q3_datasheet.md §4、calc/A4_q3_memo.md §2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48</a:t>
            </a:r>
            <a:endParaRPr lang="en-US" sz="800" dirty="0"/>
          </a:p>
        </p:txBody>
      </p:sp>
      <p:graphicFrame>
        <p:nvGraphicFramePr>
          <p:cNvPr id="4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3566160"/>
                <a:gridCol w="777240"/>
                <a:gridCol w="226771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の実績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次に見るもの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会員の量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純増 100 万以上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 万(過去最高、前年比 +33%)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純増 110 万以上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クロスセル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 50% 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 超の維持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獲得単価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会員当たり販促費 330 ドル以下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370 ドル(製品当たり 202)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32% 以下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0.17 前後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0.18(コンセンサス 0.17)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約 0.19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の作り方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販促費を増やし、増収(NII +1.41 億)で達成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調整弁は資本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3.7%(Q2)より良い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3.4%(報告 2.26%)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3.4% 以下の維持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16% 以上・増資なし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17.0%・増資は確認できず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16% 割れの四半期の LPB の割合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手数料型の比率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上がる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39 → 42%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40% 以上の維持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大口を除き 8〜10% 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+18%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前年比のプラス転換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金利と評価減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ヘッジ後の評価減が小さい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 +59〜82bp でも EPS は上振れ(額は未開示)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10-K の評価損益とスワップ損益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486400"/>
            <a:ext cx="11274552" cy="6583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559552"/>
            <a:ext cx="110550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信用・資本・手数料型・会員の量は合格、獲得単価は未達。EPS は販促費を削らず増収で作られた。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次の試験は資本の弁: 総自己資本比率が 16% を割る四半期に、LPB の割合が 40% を超えるか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価値評価(1/4)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理論株価の土台になる将来 EPS と ROTCE の経路を、シナリオ別に示す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 2026 年 0.61 → 2027 年 0.90(会社の見通し)→ 2030 年 1.75(エンジン)。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2025→28 年は年 44% で、中期目標(同じ期間の年 38〜42%)の上端を超える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EPS(調整後 EPS。株式報酬を費用に含む)、ドル。3 経路と、4 節点すべて成功・すべて失敗の線は、いずれも 2026〜2030 年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calc/out/growth_v4.json(3 経路の EPS・tree.combos の 2026〜2030 年 EPS)、research_r5/Q3_datasheet.md §3(見通し・コンセンサス)、会社の中期目標(2025→28 年 EPS CAGR 38〜42%)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49</a:t>
            </a:r>
            <a:endParaRPr lang="en-US" sz="800" dirty="0"/>
          </a:p>
        </p:txBody>
      </p:sp>
      <p:graphicFrame>
        <p:nvGraphicFramePr>
          <p:cNvPr id="21" name="chart" descr=""/>
          <p:cNvGraphicFramePr/>
          <p:nvPr/>
        </p:nvGraphicFramePr>
        <p:xfrm>
          <a:off x="457200" y="1508760"/>
          <a:ext cx="7635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ovl_takeaway_bg"/>
          <p:cNvSpPr/>
          <p:nvPr/>
        </p:nvSpPr>
        <p:spPr>
          <a:xfrm>
            <a:off x="8275320" y="1554480"/>
            <a:ext cx="3456432" cy="13716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1627632"/>
            <a:ext cx="3236976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2026・2027 年は会社の見通し(0.61・0.90)。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2026→29 年は年 32.5%。2028 年のエンジン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1.15 は中期目標の上端 1.12 を超える。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年の目標は控えめ</a:t>
            </a:r>
            <a:endParaRPr lang="en-US" sz="1100" dirty="0"/>
          </a:p>
        </p:txBody>
      </p:sp>
      <p:sp>
        <p:nvSpPr>
          <p:cNvPr id="24" name="points"/>
          <p:cNvSpPr txBox="1"/>
          <p:nvPr/>
        </p:nvSpPr>
        <p:spPr>
          <a:xfrm>
            <a:off x="8275320" y="3063240"/>
            <a:ext cx="3456432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ROTCE(エンジン)は 2026 年 8.4% から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 年 15.2%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年は資本の上限で B/S の伸びが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抑えられ、溢れた分は LPB へ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強気・弱気は、4 節点(獲得効率・資本の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転換・信用・新しい収益線)を同じ幅で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逆に動かした(対称)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節点すべて成功は 2026 年 0.69 → 2030 年 2.27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(確率 9.6%、36.3 ドル)。すべて失敗は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0.54 → 1.29(確率 8.1%、12.2 ドル)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価値評価(2/4)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構造評価から許容 PEG を決め、年度別に PEG × 成長率を当てて理論株価を出す手順を示す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 は許容 PEG × 3 年の成長率(2026 年は 1.275 × 32.5% = 41 倍)。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年度の重みを付けてエンジン経路 23.8 ドル。PEG 1.0 でも 19.5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年度別理論株価 = Σ 重み × [ 許容 PEG × 当該年度から 3 年の成長率 × 当該年度の EPS を資本コスト 13.9% で今日へ割引 ]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calc/growth_v4.py・out/growth_v4.json(rows・values・values_peg10)、銘柄分析メソッド valuation-model §3-3・§3-4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</a:t>
            </a:r>
            <a:endParaRPr lang="en-US" sz="800" dirty="0"/>
          </a:p>
        </p:txBody>
      </p:sp>
      <p:sp>
        <p:nvSpPr>
          <p:cNvPr id="21" name="flow_h0"/>
          <p:cNvSpPr txBox="1"/>
          <p:nvPr/>
        </p:nvSpPr>
        <p:spPr>
          <a:xfrm>
            <a:off x="457200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22" name="ovl_fbox0_0"/>
          <p:cNvSpPr/>
          <p:nvPr/>
        </p:nvSpPr>
        <p:spPr>
          <a:xfrm>
            <a:off x="457200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86C99B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3" name="flow_t0_0"/>
          <p:cNvSpPr txBox="1"/>
          <p:nvPr/>
        </p:nvSpPr>
        <p:spPr>
          <a:xfrm>
            <a:off x="530352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800" dirty="0"/>
          </a:p>
        </p:txBody>
      </p:sp>
      <p:sp>
        <p:nvSpPr>
          <p:cNvPr id="24" name="ovl_fbox0_1"/>
          <p:cNvSpPr/>
          <p:nvPr/>
        </p:nvSpPr>
        <p:spPr>
          <a:xfrm>
            <a:off x="457200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1"/>
          <p:cNvSpPr txBox="1"/>
          <p:nvPr/>
        </p:nvSpPr>
        <p:spPr>
          <a:xfrm>
            <a:off x="530352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平均点 3.42・位置 0.92</a:t>
            </a:r>
            <a:endParaRPr lang="en-US" sz="1000" dirty="0"/>
          </a:p>
        </p:txBody>
      </p:sp>
      <p:sp>
        <p:nvSpPr>
          <p:cNvPr id="26" name="ovl_farrow0"/>
          <p:cNvSpPr/>
          <p:nvPr/>
        </p:nvSpPr>
        <p:spPr>
          <a:xfrm>
            <a:off x="2534351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flow_h1"/>
          <p:cNvSpPr txBox="1"/>
          <p:nvPr/>
        </p:nvSpPr>
        <p:spPr>
          <a:xfrm>
            <a:off x="2767523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許容 PEG</a:t>
            </a:r>
            <a:endParaRPr lang="en-US" sz="1100" dirty="0"/>
          </a:p>
        </p:txBody>
      </p:sp>
      <p:sp>
        <p:nvSpPr>
          <p:cNvPr id="28" name="ovl_fbox1_0"/>
          <p:cNvSpPr/>
          <p:nvPr/>
        </p:nvSpPr>
        <p:spPr>
          <a:xfrm>
            <a:off x="2767523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29" name="flow_t1_0"/>
          <p:cNvSpPr txBox="1"/>
          <p:nvPr/>
        </p:nvSpPr>
        <p:spPr>
          <a:xfrm>
            <a:off x="2840675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1.275 → 1.125</a:t>
            </a:r>
            <a:endParaRPr lang="en-US" sz="2000" dirty="0"/>
          </a:p>
        </p:txBody>
      </p:sp>
      <p:sp>
        <p:nvSpPr>
          <p:cNvPr id="30" name="ovl_fbox1_1"/>
          <p:cNvSpPr/>
          <p:nvPr/>
        </p:nvSpPr>
        <p:spPr>
          <a:xfrm>
            <a:off x="2767523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1" name="flow_t1_1"/>
          <p:cNvSpPr txBox="1"/>
          <p:nvPr/>
        </p:nvSpPr>
        <p:spPr>
          <a:xfrm>
            <a:off x="2840675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年度で −0.05</a:t>
            </a:r>
            <a:endParaRPr lang="en-US" sz="900" dirty="0"/>
          </a:p>
        </p:txBody>
      </p:sp>
      <p:sp>
        <p:nvSpPr>
          <p:cNvPr id="32" name="ovl_farrow1"/>
          <p:cNvSpPr/>
          <p:nvPr/>
        </p:nvSpPr>
        <p:spPr>
          <a:xfrm>
            <a:off x="4844674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3" name="flow_h2"/>
          <p:cNvSpPr txBox="1"/>
          <p:nvPr/>
        </p:nvSpPr>
        <p:spPr>
          <a:xfrm>
            <a:off x="5077846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</a:t>
            </a:r>
            <a:endParaRPr lang="en-US" sz="1100" dirty="0"/>
          </a:p>
        </p:txBody>
      </p:sp>
      <p:sp>
        <p:nvSpPr>
          <p:cNvPr id="34" name="ovl_fbox2_0"/>
          <p:cNvSpPr/>
          <p:nvPr/>
        </p:nvSpPr>
        <p:spPr>
          <a:xfrm>
            <a:off x="5077846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5" name="flow_t2_0"/>
          <p:cNvSpPr txBox="1"/>
          <p:nvPr/>
        </p:nvSpPr>
        <p:spPr>
          <a:xfrm>
            <a:off x="5150998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PEG × 3 年の成長率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(他の方法と平均しない)</a:t>
            </a:r>
            <a:endParaRPr lang="en-US" sz="1000" dirty="0"/>
          </a:p>
        </p:txBody>
      </p:sp>
      <p:sp>
        <p:nvSpPr>
          <p:cNvPr id="36" name="ovl_farrow2"/>
          <p:cNvSpPr/>
          <p:nvPr/>
        </p:nvSpPr>
        <p:spPr>
          <a:xfrm>
            <a:off x="7154997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7" name="flow_h3"/>
          <p:cNvSpPr txBox="1"/>
          <p:nvPr/>
        </p:nvSpPr>
        <p:spPr>
          <a:xfrm>
            <a:off x="7388169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年度の適正株価</a:t>
            </a:r>
            <a:endParaRPr lang="en-US" sz="1100" dirty="0"/>
          </a:p>
        </p:txBody>
      </p:sp>
      <p:sp>
        <p:nvSpPr>
          <p:cNvPr id="38" name="ovl_fbox3_0"/>
          <p:cNvSpPr/>
          <p:nvPr/>
        </p:nvSpPr>
        <p:spPr>
          <a:xfrm>
            <a:off x="7388169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9" name="flow_t3_0"/>
          <p:cNvSpPr txBox="1"/>
          <p:nvPr/>
        </p:nvSpPr>
        <p:spPr>
          <a:xfrm>
            <a:off x="7461321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 × 当該年度の EPS</a:t>
            </a:r>
            <a:endParaRPr lang="en-US" sz="1000" dirty="0"/>
          </a:p>
        </p:txBody>
      </p:sp>
      <p:sp>
        <p:nvSpPr>
          <p:cNvPr id="40" name="ovl_farrow3"/>
          <p:cNvSpPr/>
          <p:nvPr/>
        </p:nvSpPr>
        <p:spPr>
          <a:xfrm>
            <a:off x="9465320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1" name="flow_h4"/>
          <p:cNvSpPr txBox="1"/>
          <p:nvPr/>
        </p:nvSpPr>
        <p:spPr>
          <a:xfrm>
            <a:off x="9698492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</a:t>
            </a:r>
            <a:endParaRPr lang="en-US" sz="1100" dirty="0"/>
          </a:p>
        </p:txBody>
      </p:sp>
      <p:sp>
        <p:nvSpPr>
          <p:cNvPr id="42" name="ovl_fbox4_0"/>
          <p:cNvSpPr/>
          <p:nvPr/>
        </p:nvSpPr>
        <p:spPr>
          <a:xfrm>
            <a:off x="9698492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3" name="flow_t4_0"/>
          <p:cNvSpPr txBox="1"/>
          <p:nvPr/>
        </p:nvSpPr>
        <p:spPr>
          <a:xfrm>
            <a:off x="9771644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23.8 ドル</a:t>
            </a:r>
            <a:endParaRPr lang="en-US" sz="2600" dirty="0"/>
          </a:p>
        </p:txBody>
      </p:sp>
      <p:sp>
        <p:nvSpPr>
          <p:cNvPr id="44" name="ovl_fbox4_1"/>
          <p:cNvSpPr/>
          <p:nvPr/>
        </p:nvSpPr>
        <p:spPr>
          <a:xfrm>
            <a:off x="9698492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5" name="flow_t4_1"/>
          <p:cNvSpPr txBox="1"/>
          <p:nvPr/>
        </p:nvSpPr>
        <p:spPr>
          <a:xfrm>
            <a:off x="9771644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期待値 24.2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14.55〜16.5</a:t>
            </a:r>
            <a:endParaRPr lang="en-US" sz="1000" dirty="0"/>
          </a:p>
        </p:txBody>
      </p:sp>
      <p:graphicFrame>
        <p:nvGraphicFramePr>
          <p:cNvPr id="5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554480"/>
                <a:gridCol w="1463040"/>
                <a:gridCol w="1463040"/>
                <a:gridCol w="1554480"/>
                <a:gridCol w="24963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年の成長率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許容 PEG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妥当 PER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適正株価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今日の価値(重み)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1.275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41.4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25.0(40%)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23.8(30%)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1.175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22.9(20%)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21.5(10%)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note"/>
          <p:cNvSpPr txBox="1"/>
          <p:nvPr/>
        </p:nvSpPr>
        <p:spPr>
          <a:xfrm>
            <a:off x="457200" y="5230368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経路: エンジン 23.8・会社の中期目標 22.9・見通し + コンセンサスの伸び 21.4(コンセンサスの伸びの 2029 年は成熟年度の理論式)。PEG 1.0 固定ならそれぞれ 19.5・18.7・17.4</a:t>
            </a:r>
            <a:endParaRPr lang="en-US" sz="850" dirty="0"/>
          </a:p>
        </p:txBody>
      </p:sp>
      <p:sp>
        <p:nvSpPr>
          <p:cNvPr id="48" name="bullets"/>
          <p:cNvSpPr txBox="1"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2026・2027 年は会社の見通し(EPS 0.61・0.90)にエンジンを較正。2028 年以降はエンジン(資本の上限・LPB・手数料)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中期目標(2025→28 年 EPS 年 38〜42%)の上端 1.12 に対し、エンジンは 1.15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 13.9% = 米 10 年債 5.2% + β 1.93 × 4.5%。信用・資本・希薄化は EPS 経路・確率・株数で数え、倍率では割り引かない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価値評価(3/4)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うまくいった場合の価値と確率を、節点ごとの根拠から出し、市場と比べる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うまくいった場合(獲得効率と資本の転換がともに成功)は構造 A で 33.5 ドル、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27%。弱気は構造 C で 13.9 ドル。期待値は 24.2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確率は基準(事業エンジン)より良い側に振れる確率。振れ幅は対称。N1・N2 は信用(N3)に条件付き。16 通りを加重。組み合わせごとに構造を判定し、その許容 PEG で価値を出す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calc/growth_v4.py・out/growth_v4.json(tree: p_nodes・bundles・combos)、research_r3/R12(参照クラス)、research/R4(マクロ)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つの節点(良い側に振れる確率と根拠)</a:t>
            </a:r>
            <a:endParaRPr lang="en-US" sz="1200" dirty="0"/>
          </a:p>
        </p:txBody>
      </p:sp>
      <p:sp>
        <p:nvSpPr>
          <p:cNvPr id="22" name="ovl_card_n1"/>
          <p:cNvSpPr/>
          <p:nvPr/>
        </p:nvSpPr>
        <p:spPr>
          <a:xfrm>
            <a:off x="457200" y="18288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3" name="ovl_cardbar_n1"/>
          <p:cNvSpPr/>
          <p:nvPr/>
        </p:nvSpPr>
        <p:spPr>
          <a:xfrm>
            <a:off x="457200" y="18288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4" name="node_n_n1"/>
          <p:cNvSpPr txBox="1"/>
          <p:nvPr/>
        </p:nvSpPr>
        <p:spPr>
          <a:xfrm>
            <a:off x="612648" y="1892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 獲得効率</a:t>
            </a:r>
            <a:endParaRPr lang="en-US" sz="1100" dirty="0"/>
          </a:p>
        </p:txBody>
      </p:sp>
      <p:sp>
        <p:nvSpPr>
          <p:cNvPr id="25" name="node_g_n1"/>
          <p:cNvSpPr txBox="1"/>
          <p:nvPr/>
        </p:nvSpPr>
        <p:spPr>
          <a:xfrm>
            <a:off x="612648" y="2157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会員の伸び・販促費率・NIM 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基準より良い</a:t>
            </a:r>
            <a:endParaRPr lang="en-US" sz="850" dirty="0"/>
          </a:p>
        </p:txBody>
      </p:sp>
      <p:sp>
        <p:nvSpPr>
          <p:cNvPr id="26" name="node_p_n1"/>
          <p:cNvSpPr txBox="1"/>
          <p:nvPr/>
        </p:nvSpPr>
        <p:spPr>
          <a:xfrm>
            <a:off x="269748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59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27" name="ovl_ptrack_n1"/>
          <p:cNvSpPr/>
          <p:nvPr/>
        </p:nvSpPr>
        <p:spPr>
          <a:xfrm>
            <a:off x="2697480" y="22860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ovl_pfill_n1"/>
          <p:cNvSpPr/>
          <p:nvPr/>
        </p:nvSpPr>
        <p:spPr>
          <a:xfrm>
            <a:off x="2697480" y="2286000"/>
            <a:ext cx="485546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node_c_n1"/>
          <p:cNvSpPr txBox="1"/>
          <p:nvPr/>
        </p:nvSpPr>
        <p:spPr>
          <a:xfrm>
            <a:off x="26974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信用が良いとき 68%、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悪いとき 52%</a:t>
            </a:r>
            <a:endParaRPr lang="en-US" sz="800" dirty="0"/>
          </a:p>
        </p:txBody>
      </p:sp>
      <p:sp>
        <p:nvSpPr>
          <p:cNvPr id="30" name="node_mp_n1"/>
          <p:cNvSpPr txBox="1"/>
          <p:nvPr/>
        </p:nvSpPr>
        <p:spPr>
          <a:xfrm>
            <a:off x="3931920" y="20985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31" name="node_ep_n1"/>
          <p:cNvSpPr txBox="1"/>
          <p:nvPr/>
        </p:nvSpPr>
        <p:spPr>
          <a:xfrm>
            <a:off x="4069080" y="20985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120 万(過去最高)・上方修正の記録</a:t>
            </a:r>
            <a:endParaRPr lang="en-US" sz="850" dirty="0"/>
          </a:p>
        </p:txBody>
      </p:sp>
      <p:sp>
        <p:nvSpPr>
          <p:cNvPr id="32" name="node_mm_n1"/>
          <p:cNvSpPr txBox="1"/>
          <p:nvPr/>
        </p:nvSpPr>
        <p:spPr>
          <a:xfrm>
            <a:off x="3931920" y="22768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33" name="node_em_n1"/>
          <p:cNvSpPr txBox="1"/>
          <p:nvPr/>
        </p:nvSpPr>
        <p:spPr>
          <a:xfrm>
            <a:off x="4069080" y="22768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 370 ドル(+4%)</a:t>
            </a:r>
            <a:endParaRPr lang="en-US" sz="850" dirty="0"/>
          </a:p>
        </p:txBody>
      </p:sp>
      <p:sp>
        <p:nvSpPr>
          <p:cNvPr id="34" name="ovl_card_n2"/>
          <p:cNvSpPr/>
          <p:nvPr/>
        </p:nvSpPr>
        <p:spPr>
          <a:xfrm>
            <a:off x="457200" y="27432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5" name="ovl_cardbar_n2"/>
          <p:cNvSpPr/>
          <p:nvPr/>
        </p:nvSpPr>
        <p:spPr>
          <a:xfrm>
            <a:off x="457200" y="27432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6" name="node_n_n2"/>
          <p:cNvSpPr txBox="1"/>
          <p:nvPr/>
        </p:nvSpPr>
        <p:spPr>
          <a:xfrm>
            <a:off x="612648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N2 資本の転換</a:t>
            </a:r>
            <a:endParaRPr lang="en-US" sz="1100" dirty="0"/>
          </a:p>
        </p:txBody>
      </p:sp>
      <p:sp>
        <p:nvSpPr>
          <p:cNvPr id="37" name="node_g_n2"/>
          <p:cNvSpPr txBox="1"/>
          <p:nvPr/>
        </p:nvSpPr>
        <p:spPr>
          <a:xfrm>
            <a:off x="612648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が基準より伸び、資本の上限を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超えた分を受ける</a:t>
            </a:r>
            <a:endParaRPr lang="en-US" sz="850" dirty="0"/>
          </a:p>
        </p:txBody>
      </p:sp>
      <p:sp>
        <p:nvSpPr>
          <p:cNvPr id="38" name="node_p_n2"/>
          <p:cNvSpPr txBox="1"/>
          <p:nvPr/>
        </p:nvSpPr>
        <p:spPr>
          <a:xfrm>
            <a:off x="2697480" y="2788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43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39" name="ovl_ptrack_n2"/>
          <p:cNvSpPr/>
          <p:nvPr/>
        </p:nvSpPr>
        <p:spPr>
          <a:xfrm>
            <a:off x="2697480" y="32004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ovl_pfill_n2"/>
          <p:cNvSpPr/>
          <p:nvPr/>
        </p:nvSpPr>
        <p:spPr>
          <a:xfrm>
            <a:off x="2697480" y="3200400"/>
            <a:ext cx="353873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41" name="node_c_n2"/>
          <p:cNvSpPr txBox="1"/>
          <p:nvPr/>
        </p:nvSpPr>
        <p:spPr>
          <a:xfrm>
            <a:off x="269748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信用が良いとき 57%、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悪いとき 32%</a:t>
            </a:r>
            <a:endParaRPr lang="en-US" sz="800" dirty="0"/>
          </a:p>
        </p:txBody>
      </p:sp>
      <p:sp>
        <p:nvSpPr>
          <p:cNvPr id="42" name="node_mp_n2"/>
          <p:cNvSpPr txBox="1"/>
          <p:nvPr/>
        </p:nvSpPr>
        <p:spPr>
          <a:xfrm>
            <a:off x="3931920" y="30129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43" name="node_ep_n2"/>
          <p:cNvSpPr txBox="1"/>
          <p:nvPr/>
        </p:nvSpPr>
        <p:spPr>
          <a:xfrm>
            <a:off x="4069080" y="30129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36 億ドル(+16%)・手数料型 42%</a:t>
            </a:r>
            <a:endParaRPr lang="en-US" sz="850" dirty="0"/>
          </a:p>
        </p:txBody>
      </p:sp>
      <p:sp>
        <p:nvSpPr>
          <p:cNvPr id="44" name="node_mm_n2"/>
          <p:cNvSpPr txBox="1"/>
          <p:nvPr/>
        </p:nvSpPr>
        <p:spPr>
          <a:xfrm>
            <a:off x="3931920" y="31912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45" name="node_em_n2"/>
          <p:cNvSpPr txBox="1"/>
          <p:nvPr/>
        </p:nvSpPr>
        <p:spPr>
          <a:xfrm>
            <a:off x="4069080" y="31912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の割合 29% のまま・総自己資本 −1.8pt</a:t>
            </a:r>
            <a:endParaRPr lang="en-US" sz="850" dirty="0"/>
          </a:p>
        </p:txBody>
      </p:sp>
      <p:sp>
        <p:nvSpPr>
          <p:cNvPr id="46" name="ovl_card_n3"/>
          <p:cNvSpPr/>
          <p:nvPr/>
        </p:nvSpPr>
        <p:spPr>
          <a:xfrm>
            <a:off x="457200" y="36576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ovl_cardbar_n3"/>
          <p:cNvSpPr/>
          <p:nvPr/>
        </p:nvSpPr>
        <p:spPr>
          <a:xfrm>
            <a:off x="457200" y="36576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8" name="node_n_n3"/>
          <p:cNvSpPr txBox="1"/>
          <p:nvPr/>
        </p:nvSpPr>
        <p:spPr>
          <a:xfrm>
            <a:off x="612648" y="3721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N3 信用</a:t>
            </a:r>
            <a:endParaRPr lang="en-US" sz="1100" dirty="0"/>
          </a:p>
        </p:txBody>
      </p:sp>
      <p:sp>
        <p:nvSpPr>
          <p:cNvPr id="49" name="node_g_n3"/>
          <p:cNvSpPr txBox="1"/>
          <p:nvPr/>
        </p:nvSpPr>
        <p:spPr>
          <a:xfrm>
            <a:off x="612648" y="39867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貸倒率が 3.4% より良い</a:t>
            </a:r>
            <a:endParaRPr lang="en-US" sz="850" dirty="0"/>
          </a:p>
        </p:txBody>
      </p:sp>
      <p:sp>
        <p:nvSpPr>
          <p:cNvPr id="50" name="node_p_n3"/>
          <p:cNvSpPr txBox="1"/>
          <p:nvPr/>
        </p:nvSpPr>
        <p:spPr>
          <a:xfrm>
            <a:off x="269748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51" name="ovl_ptrack_n3"/>
          <p:cNvSpPr/>
          <p:nvPr/>
        </p:nvSpPr>
        <p:spPr>
          <a:xfrm>
            <a:off x="2697480" y="41148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ovl_pfill_n3"/>
          <p:cNvSpPr/>
          <p:nvPr/>
        </p:nvSpPr>
        <p:spPr>
          <a:xfrm>
            <a:off x="2697480" y="4114800"/>
            <a:ext cx="370332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53" name="node_c_n3"/>
          <p:cNvSpPr txBox="1"/>
          <p:nvPr/>
        </p:nvSpPr>
        <p:spPr>
          <a:xfrm>
            <a:off x="269748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N1・N2 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確率の条件になる</a:t>
            </a:r>
            <a:endParaRPr lang="en-US" sz="800" dirty="0"/>
          </a:p>
        </p:txBody>
      </p:sp>
      <p:sp>
        <p:nvSpPr>
          <p:cNvPr id="54" name="node_mp_n3"/>
          <p:cNvSpPr txBox="1"/>
          <p:nvPr/>
        </p:nvSpPr>
        <p:spPr>
          <a:xfrm>
            <a:off x="3931920" y="39273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55" name="node_ep_n3"/>
          <p:cNvSpPr txBox="1"/>
          <p:nvPr/>
        </p:nvSpPr>
        <p:spPr>
          <a:xfrm>
            <a:off x="4069080" y="39273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 2.26%(同業 3.2〜4.2%)</a:t>
            </a:r>
            <a:endParaRPr lang="en-US" sz="850" dirty="0"/>
          </a:p>
        </p:txBody>
      </p:sp>
      <p:sp>
        <p:nvSpPr>
          <p:cNvPr id="56" name="node_mm_n3"/>
          <p:cNvSpPr txBox="1"/>
          <p:nvPr/>
        </p:nvSpPr>
        <p:spPr>
          <a:xfrm>
            <a:off x="3931920" y="41056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57" name="node_em_n3"/>
          <p:cNvSpPr txBox="1"/>
          <p:nvPr/>
        </p:nvSpPr>
        <p:spPr>
          <a:xfrm>
            <a:off x="4069080" y="41056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4.2%・同業の延滞の上昇</a:t>
            </a:r>
            <a:endParaRPr lang="en-US" sz="850" dirty="0"/>
          </a:p>
        </p:txBody>
      </p:sp>
      <p:sp>
        <p:nvSpPr>
          <p:cNvPr id="58" name="ovl_card_n4"/>
          <p:cNvSpPr/>
          <p:nvPr/>
        </p:nvSpPr>
        <p:spPr>
          <a:xfrm>
            <a:off x="457200" y="45720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59" name="ovl_cardbar_n4"/>
          <p:cNvSpPr/>
          <p:nvPr/>
        </p:nvSpPr>
        <p:spPr>
          <a:xfrm>
            <a:off x="457200" y="45720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0" name="node_n_n4"/>
          <p:cNvSpPr txBox="1"/>
          <p:nvPr/>
        </p:nvSpPr>
        <p:spPr>
          <a:xfrm>
            <a:off x="612648" y="4636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N4 新しい収益線</a:t>
            </a:r>
            <a:endParaRPr lang="en-US" sz="1100" dirty="0"/>
          </a:p>
        </p:txBody>
      </p:sp>
      <p:sp>
        <p:nvSpPr>
          <p:cNvPr id="61" name="node_g_n4"/>
          <p:cNvSpPr txBox="1"/>
          <p:nvPr/>
        </p:nvSpPr>
        <p:spPr>
          <a:xfrm>
            <a:off x="612648" y="4901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の伸びが 2027 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+15% を上回る</a:t>
            </a:r>
            <a:endParaRPr lang="en-US" sz="850" dirty="0"/>
          </a:p>
        </p:txBody>
      </p:sp>
      <p:sp>
        <p:nvSpPr>
          <p:cNvPr id="62" name="node_p_n4"/>
          <p:cNvSpPr txBox="1"/>
          <p:nvPr/>
        </p:nvSpPr>
        <p:spPr>
          <a:xfrm>
            <a:off x="2697480" y="4617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55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63" name="ovl_ptrack_n4"/>
          <p:cNvSpPr/>
          <p:nvPr/>
        </p:nvSpPr>
        <p:spPr>
          <a:xfrm>
            <a:off x="2697480" y="50292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ovl_pfill_n4"/>
          <p:cNvSpPr/>
          <p:nvPr/>
        </p:nvSpPr>
        <p:spPr>
          <a:xfrm>
            <a:off x="2697480" y="5029200"/>
            <a:ext cx="452628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65" name="node_mp_n4"/>
          <p:cNvSpPr txBox="1"/>
          <p:nvPr/>
        </p:nvSpPr>
        <p:spPr>
          <a:xfrm>
            <a:off x="3931920" y="48417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66" name="node_ep_n4"/>
          <p:cNvSpPr txBox="1"/>
          <p:nvPr/>
        </p:nvSpPr>
        <p:spPr>
          <a:xfrm>
            <a:off x="4069080" y="48417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大口を除き +18%・貢献利益率 16%</a:t>
            </a:r>
            <a:endParaRPr lang="en-US" sz="850" dirty="0"/>
          </a:p>
        </p:txBody>
      </p:sp>
      <p:sp>
        <p:nvSpPr>
          <p:cNvPr id="67" name="node_mm_n4"/>
          <p:cNvSpPr txBox="1"/>
          <p:nvPr/>
        </p:nvSpPr>
        <p:spPr>
          <a:xfrm>
            <a:off x="3931920" y="50200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68" name="node_em_n4"/>
          <p:cNvSpPr txBox="1"/>
          <p:nvPr/>
        </p:nvSpPr>
        <p:spPr>
          <a:xfrm>
            <a:off x="4069080" y="50200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新規契約の数字なし</a:t>
            </a:r>
            <a:endParaRPr lang="en-US" sz="850" dirty="0"/>
          </a:p>
        </p:txBody>
      </p:sp>
      <p:sp>
        <p:nvSpPr>
          <p:cNvPr id="69" name="pane_r"/>
          <p:cNvSpPr txBox="1"/>
          <p:nvPr/>
        </p:nvSpPr>
        <p:spPr>
          <a:xfrm>
            <a:off x="6812280" y="148132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節点を束ねた結果(16 通りの加重)</a:t>
            </a:r>
            <a:endParaRPr lang="en-US" sz="1200" dirty="0"/>
          </a:p>
        </p:txBody>
      </p:sp>
      <p:graphicFrame>
        <p:nvGraphicFramePr>
          <p:cNvPr id="52" name="tbl_bund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828800"/>
          <a:ext cx="4919472" cy="914400"/>
        </p:xfrm>
        <a:graphic>
          <a:graphicData uri="http://schemas.openxmlformats.org/drawingml/2006/table">
            <a:tbl>
              <a:tblPr/>
              <a:tblGrid>
                <a:gridCol w="1380744"/>
                <a:gridCol w="932688"/>
                <a:gridCol w="530352"/>
                <a:gridCol w="1051560"/>
                <a:gridCol w="102412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構造(PEG)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(うまくいった場合)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 と N2 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ともに良い側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26.6%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33.5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A(1.38〜1.43)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片方だけ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良い側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A〜C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弱気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 と N2 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ともに悪い側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C(1.0)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節点すべて成功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9.6%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36.3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A(1.43)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節点すべて失敗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C(1.0)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(16 通りの加重)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(標準偏差 7.3)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1" name="pane_r2"/>
          <p:cNvSpPr txBox="1"/>
          <p:nvPr/>
        </p:nvSpPr>
        <p:spPr>
          <a:xfrm>
            <a:off x="6812280" y="42519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市場との比較</a:t>
            </a:r>
            <a:endParaRPr lang="en-US" sz="1200" dirty="0"/>
          </a:p>
        </p:txBody>
      </p:sp>
      <p:sp>
        <p:nvSpPr>
          <p:cNvPr id="72" name="bul_market"/>
          <p:cNvSpPr txBox="1"/>
          <p:nvPr/>
        </p:nvSpPr>
        <p:spPr>
          <a:xfrm>
            <a:off x="6812280" y="4562856"/>
            <a:ext cx="4919472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14.55〜16.5 ドルは弱気(13.9)とベース(24.2)の間。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株価が示す PEG は 0.80〜0.90(構造 C の 1.0 も下回る)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N1・N2 を ±10pt 動かした期待値は 22.4〜26.0 ドルで、どれも株価を上回る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強気(33.5)は 2028 年 EPS 1.34 × 構造 A の PEG</a:t>
            </a:r>
            <a:endParaRPr lang="en-US" sz="900" dirty="0"/>
          </a:p>
        </p:txBody>
      </p:sp>
      <p:sp>
        <p:nvSpPr>
          <p:cNvPr id="73" name="ovl_takeaway_bg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4" name="takeaway"/>
          <p:cNvSpPr txBox="1"/>
          <p:nvPr/>
        </p:nvSpPr>
        <p:spPr>
          <a:xfrm>
            <a:off x="566928" y="569671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うまくいった場合は構造 A で 33.5 ドル(確率 27%)。期待値 24.2 ドルで、弱気でも 13.9 ドル(14.55 の −4%)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価値評価(4/4)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前提がずれたとき理論株価がどれだけ動くかと、別の方法との差の理由を確かめる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 +1.0pt で 20.2 ドル、金利 +100bp で 23.2 ドル、3 つの悪い前提の同時で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19.4 ドル。DCF 11.3 ドルが低いのは 2030 年に成長が止まる終価の置き方のため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信用・金利・増資・PEG を動かしたときの理論株価(基準はエンジン 23.8 ドル)。右: 別の評価方法との交差確認(平均には入れない)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calc/out/growth_v4.json(credit_capital・cross・cond6・values)、calc/A4_q3_memo.md(損益分岐の損失率)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感応度(理論株価、ドル)</a:t>
            </a:r>
            <a:endParaRPr lang="en-US" sz="1200" dirty="0"/>
          </a:p>
        </p:txBody>
      </p:sp>
      <p:graphicFrame>
        <p:nvGraphicFramePr>
          <p:cNvPr id="5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344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基準(エンジン、PEG 1.275)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+0.5pt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+1.0pt(2023 年並み)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+2.0pt(all-in 約 5.4%)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−6.9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金利 +100bp(両面と資本コスト)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 10 億ドル(株数 +5%)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つの同時(信用 +1pt・金利・増資)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−4.4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1.0 固定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−4.3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交差確認(平均には入れない)</a:t>
            </a:r>
            <a:endParaRPr lang="en-US" sz="1200" dirty="0"/>
          </a:p>
        </p:txBody>
      </p:sp>
      <p:graphicFrame>
        <p:nvGraphicFramePr>
          <p:cNvPr id="10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25420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方法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差の理由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DCF(FCFE、資本コスト 13.9%)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11.3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 年の終価を成熟の理論式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8.1 倍で置く(成長がすぐ止まる前提)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株価の PER(12 か月先)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16.8〜19.1 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 か月先の EPS 0.865 ドルで割った値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(株価 14.55〜16.5 ドル)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ovl_takeaway_bg"/>
          <p:cNvSpPr/>
          <p:nvPr/>
        </p:nvSpPr>
        <p:spPr>
          <a:xfrm>
            <a:off x="6446520" y="3611880"/>
            <a:ext cx="5285232" cy="11887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6556248" y="3685032"/>
            <a:ext cx="506577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どの悪い前提でも株価 14.55 ドルを上回る。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株価に届くのは、損失率が損益分岐の 5.7% を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毎年超える場合だけ。DCF が低いのは終価の置き方で、平均には入れない</a:t>
            </a:r>
            <a:endParaRPr lang="en-US" sz="1100" dirty="0"/>
          </a:p>
        </p:txBody>
      </p:sp>
      <p:sp>
        <p:nvSpPr>
          <p:cNvPr id="27" name="note_cross"/>
          <p:cNvSpPr txBox="1"/>
          <p:nvPr/>
        </p:nvSpPr>
        <p:spPr>
          <a:xfrm>
            <a:off x="457200" y="54406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 × ROTCE(定常 15%)は定常状態だけの価値で、成長の値段を含まないため平均には入れない。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2029 年も EPS は年 20% 近く伸び、成熟年度の条件(5 年の成長率 15% 未満)に当たらない。だから PEG × 成長率の表を採る(スキルの規則)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 最終判断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最終判断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構造評価と価格の乖離を合わせ、投資判断とエントリー価格帯を決める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エンジン経路の乖離は +45〜64%(株価 16.5〜14.55 ドル)で B 行の「買い」。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分割エントリー圏は 15.3 超〜21.4 ドル以下、15.3 ドル以下は即時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× 価格乖離の 2 軸マトリクス(valuation-model §4-1)。乖離は株価 16.5〜14.55 ドルの幅、3 経路と非対称性、エントリー価格帯(scenario-strategy §6)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calc/out/growth_v4.json、銘柄分析メソッド valuation-model §4-1・scenario-strategy §6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53</a:t>
            </a:r>
            <a:endParaRPr lang="en-US" sz="800" dirty="0"/>
          </a:p>
        </p:txBody>
      </p:sp>
      <p:sp>
        <p:nvSpPr>
          <p:cNvPr id="21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900" dirty="0"/>
          </a:p>
        </p:txBody>
      </p:sp>
      <p:sp>
        <p:nvSpPr>
          <p:cNvPr id="22" name="mx_x0"/>
          <p:cNvSpPr txBox="1"/>
          <p:nvPr/>
        </p:nvSpPr>
        <p:spPr>
          <a:xfrm>
            <a:off x="14630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+30% 以上</a:t>
            </a:r>
            <a:endParaRPr lang="en-US" sz="950" dirty="0"/>
          </a:p>
        </p:txBody>
      </p:sp>
      <p:sp>
        <p:nvSpPr>
          <p:cNvPr id="23" name="mx_x1"/>
          <p:cNvSpPr txBox="1"/>
          <p:nvPr/>
        </p:nvSpPr>
        <p:spPr>
          <a:xfrm>
            <a:off x="27203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+10〜30%</a:t>
            </a:r>
            <a:endParaRPr lang="en-US" sz="950" dirty="0"/>
          </a:p>
        </p:txBody>
      </p:sp>
      <p:sp>
        <p:nvSpPr>
          <p:cNvPr id="24" name="mx_x2"/>
          <p:cNvSpPr txBox="1"/>
          <p:nvPr/>
        </p:nvSpPr>
        <p:spPr>
          <a:xfrm>
            <a:off x="39776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−10〜+10%</a:t>
            </a:r>
            <a:endParaRPr lang="en-US" sz="950" dirty="0"/>
          </a:p>
        </p:txBody>
      </p:sp>
      <p:sp>
        <p:nvSpPr>
          <p:cNvPr id="25" name="mx_x3"/>
          <p:cNvSpPr txBox="1"/>
          <p:nvPr/>
        </p:nvSpPr>
        <p:spPr>
          <a:xfrm>
            <a:off x="52349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−10% 未満</a:t>
            </a:r>
            <a:endParaRPr lang="en-US" sz="950" dirty="0"/>
          </a:p>
        </p:txBody>
      </p:sp>
      <p:sp>
        <p:nvSpPr>
          <p:cNvPr id="26" name="mx_y0"/>
          <p:cNvSpPr txBox="1"/>
          <p:nvPr/>
        </p:nvSpPr>
        <p:spPr>
          <a:xfrm>
            <a:off x="457200" y="19202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S・A</a:t>
            </a:r>
            <a:endParaRPr lang="en-US" sz="950" dirty="0"/>
          </a:p>
        </p:txBody>
      </p:sp>
      <p:sp>
        <p:nvSpPr>
          <p:cNvPr id="27" name="ovl_mx0_0"/>
          <p:cNvSpPr/>
          <p:nvPr/>
        </p:nvSpPr>
        <p:spPr>
          <a:xfrm>
            <a:off x="14630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mx_t0_0"/>
          <p:cNvSpPr txBox="1"/>
          <p:nvPr/>
        </p:nvSpPr>
        <p:spPr>
          <a:xfrm>
            <a:off x="15087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29" name="ovl_mx1_0"/>
          <p:cNvSpPr/>
          <p:nvPr/>
        </p:nvSpPr>
        <p:spPr>
          <a:xfrm>
            <a:off x="27203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1_0"/>
          <p:cNvSpPr txBox="1"/>
          <p:nvPr/>
        </p:nvSpPr>
        <p:spPr>
          <a:xfrm>
            <a:off x="27660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1" name="ovl_mx2_0"/>
          <p:cNvSpPr/>
          <p:nvPr/>
        </p:nvSpPr>
        <p:spPr>
          <a:xfrm>
            <a:off x="39776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2_0"/>
          <p:cNvSpPr txBox="1"/>
          <p:nvPr/>
        </p:nvSpPr>
        <p:spPr>
          <a:xfrm>
            <a:off x="40233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33" name="ovl_mx3_0"/>
          <p:cNvSpPr/>
          <p:nvPr/>
        </p:nvSpPr>
        <p:spPr>
          <a:xfrm>
            <a:off x="52349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3_0"/>
          <p:cNvSpPr txBox="1"/>
          <p:nvPr/>
        </p:nvSpPr>
        <p:spPr>
          <a:xfrm>
            <a:off x="52806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35" name="mx_y1"/>
          <p:cNvSpPr txBox="1"/>
          <p:nvPr/>
        </p:nvSpPr>
        <p:spPr>
          <a:xfrm>
            <a:off x="457200" y="26060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950" dirty="0"/>
          </a:p>
        </p:txBody>
      </p:sp>
      <p:sp>
        <p:nvSpPr>
          <p:cNvPr id="36" name="ovl_mx0_1"/>
          <p:cNvSpPr/>
          <p:nvPr/>
        </p:nvSpPr>
        <p:spPr>
          <a:xfrm>
            <a:off x="1463040" y="2606040"/>
            <a:ext cx="1220724" cy="64922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0_1"/>
          <p:cNvSpPr txBox="1"/>
          <p:nvPr/>
        </p:nvSpPr>
        <p:spPr>
          <a:xfrm>
            <a:off x="15087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8" name="ovl_mx1_1"/>
          <p:cNvSpPr/>
          <p:nvPr/>
        </p:nvSpPr>
        <p:spPr>
          <a:xfrm>
            <a:off x="27203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mx_t1_1"/>
          <p:cNvSpPr txBox="1"/>
          <p:nvPr/>
        </p:nvSpPr>
        <p:spPr>
          <a:xfrm>
            <a:off x="27660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0" name="ovl_mx2_1"/>
          <p:cNvSpPr/>
          <p:nvPr/>
        </p:nvSpPr>
        <p:spPr>
          <a:xfrm>
            <a:off x="39776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mx_t2_1"/>
          <p:cNvSpPr txBox="1"/>
          <p:nvPr/>
        </p:nvSpPr>
        <p:spPr>
          <a:xfrm>
            <a:off x="40233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2" name="ovl_mx3_1"/>
          <p:cNvSpPr/>
          <p:nvPr/>
        </p:nvSpPr>
        <p:spPr>
          <a:xfrm>
            <a:off x="52349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mx_t3_1"/>
          <p:cNvSpPr txBox="1"/>
          <p:nvPr/>
        </p:nvSpPr>
        <p:spPr>
          <a:xfrm>
            <a:off x="52806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44" name="mx_y2"/>
          <p:cNvSpPr txBox="1"/>
          <p:nvPr/>
        </p:nvSpPr>
        <p:spPr>
          <a:xfrm>
            <a:off x="457200" y="3291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950" dirty="0"/>
          </a:p>
        </p:txBody>
      </p:sp>
      <p:sp>
        <p:nvSpPr>
          <p:cNvPr id="45" name="ovl_mx0_2"/>
          <p:cNvSpPr/>
          <p:nvPr/>
        </p:nvSpPr>
        <p:spPr>
          <a:xfrm>
            <a:off x="14630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mx_t0_2"/>
          <p:cNvSpPr txBox="1"/>
          <p:nvPr/>
        </p:nvSpPr>
        <p:spPr>
          <a:xfrm>
            <a:off x="15087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7" name="ovl_mx1_2"/>
          <p:cNvSpPr/>
          <p:nvPr/>
        </p:nvSpPr>
        <p:spPr>
          <a:xfrm>
            <a:off x="27203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8" name="mx_t1_2"/>
          <p:cNvSpPr txBox="1"/>
          <p:nvPr/>
        </p:nvSpPr>
        <p:spPr>
          <a:xfrm>
            <a:off x="27660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9" name="ovl_mx2_2"/>
          <p:cNvSpPr/>
          <p:nvPr/>
        </p:nvSpPr>
        <p:spPr>
          <a:xfrm>
            <a:off x="39776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mx_t2_2"/>
          <p:cNvSpPr txBox="1"/>
          <p:nvPr/>
        </p:nvSpPr>
        <p:spPr>
          <a:xfrm>
            <a:off x="40233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51" name="ovl_mx3_2"/>
          <p:cNvSpPr/>
          <p:nvPr/>
        </p:nvSpPr>
        <p:spPr>
          <a:xfrm>
            <a:off x="52349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2" name="mx_t3_2"/>
          <p:cNvSpPr txBox="1"/>
          <p:nvPr/>
        </p:nvSpPr>
        <p:spPr>
          <a:xfrm>
            <a:off x="52806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3" name="mx_y3"/>
          <p:cNvSpPr txBox="1"/>
          <p:nvPr/>
        </p:nvSpPr>
        <p:spPr>
          <a:xfrm>
            <a:off x="457200" y="39776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 以下</a:t>
            </a:r>
            <a:endParaRPr lang="en-US" sz="950" dirty="0"/>
          </a:p>
        </p:txBody>
      </p:sp>
      <p:sp>
        <p:nvSpPr>
          <p:cNvPr id="54" name="ovl_mx0_3"/>
          <p:cNvSpPr/>
          <p:nvPr/>
        </p:nvSpPr>
        <p:spPr>
          <a:xfrm>
            <a:off x="14630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5" name="mx_t0_3"/>
          <p:cNvSpPr txBox="1"/>
          <p:nvPr/>
        </p:nvSpPr>
        <p:spPr>
          <a:xfrm>
            <a:off x="15087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6" name="ovl_mx1_3"/>
          <p:cNvSpPr/>
          <p:nvPr/>
        </p:nvSpPr>
        <p:spPr>
          <a:xfrm>
            <a:off x="27203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7" name="mx_t1_3"/>
          <p:cNvSpPr txBox="1"/>
          <p:nvPr/>
        </p:nvSpPr>
        <p:spPr>
          <a:xfrm>
            <a:off x="27660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8" name="ovl_mx2_3"/>
          <p:cNvSpPr/>
          <p:nvPr/>
        </p:nvSpPr>
        <p:spPr>
          <a:xfrm>
            <a:off x="39776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9" name="mx_t2_3"/>
          <p:cNvSpPr txBox="1"/>
          <p:nvPr/>
        </p:nvSpPr>
        <p:spPr>
          <a:xfrm>
            <a:off x="40233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0" name="ovl_mx3_3"/>
          <p:cNvSpPr/>
          <p:nvPr/>
        </p:nvSpPr>
        <p:spPr>
          <a:xfrm>
            <a:off x="52349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1" name="mx_t3_3"/>
          <p:cNvSpPr txBox="1"/>
          <p:nvPr/>
        </p:nvSpPr>
        <p:spPr>
          <a:xfrm>
            <a:off x="52806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2" name="mx_xt"/>
          <p:cNvSpPr txBox="1"/>
          <p:nvPr/>
        </p:nvSpPr>
        <p:spPr>
          <a:xfrm>
            <a:off x="1463040" y="4681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価格乖離(採用経路の理論株価 ÷ 株価 − 1)</a:t>
            </a:r>
            <a:endParaRPr lang="en-US" sz="900" dirty="0"/>
          </a:p>
        </p:txBody>
      </p:sp>
      <p:sp>
        <p:nvSpPr>
          <p:cNvPr id="63" name="ovl_takeaway_bg"/>
          <p:cNvSpPr/>
          <p:nvPr/>
        </p:nvSpPr>
        <p:spPr>
          <a:xfrm>
            <a:off x="457200" y="5010912"/>
            <a:ext cx="6035040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64" name="takeaway"/>
          <p:cNvSpPr txBox="1"/>
          <p:nvPr/>
        </p:nvSpPr>
        <p:spPr>
          <a:xfrm>
            <a:off x="566928" y="5084064"/>
            <a:ext cx="5815584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行 × 乖離 +45〜64%(期待値 +47〜66%)で「買い」。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差分の根拠は信用・資本の過大評価。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15.3 ドル以下は即時、15.3〜21.4 ドルは分割で建てる</a:t>
            </a:r>
            <a:endParaRPr lang="en-US" sz="1100" dirty="0"/>
          </a:p>
        </p:txBody>
      </p:sp>
      <p:graphicFrame>
        <p:nvGraphicFramePr>
          <p:cNvPr id="5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5448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乖離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事業エンジン(採用)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+45〜64%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会社の中期目標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+39〜57%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見通し + コンセンサスの伸び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+30〜47%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期待値(節点ツリー)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+47〜66%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29184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非対称性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下値(弱気)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−4〜−16%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上値(強気)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+103〜130%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7" name="bullets"/>
          <p:cNvSpPr txBox="1"/>
          <p:nvPr/>
        </p:nvSpPr>
        <p:spPr>
          <a:xfrm>
            <a:off x="6720840" y="4343400"/>
            <a:ext cx="5010912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α 20.4%(構造 B の帯の位置 0.92)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即時エントリー上限 Z1 = min(23.846×0.796, 13.92×1.102) = 15.3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分割エントリー上限 Z2 = 23.846×0.898 = 21.4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は即時圏、決算後の目安 16.5 は分割圏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 リスク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144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144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リスク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747774" y="356616"/>
            <a:ext cx="9986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判断を覆しうる事象と、その兆候を先に決めておく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最大のリスクは景気後退による信用コストの上昇と、資本の弁(LPB)が開かず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年の伸びが鈍ること。会計疑義(空売り)は低確率の裾として分ける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発生確率 × 影響(本体評価に組み込んだリスクとテールリスク)。右: 兆候とトリガー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calc/out/growth_v4.json、research_r5/Q3_datasheet.md、research_r2/R5_credit_fv.md・R7_funding_rates_capital.md、本資料 第4章の判別 KPI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54</a:t>
            </a:r>
            <a:endParaRPr lang="en-US" sz="800" dirty="0"/>
          </a:p>
        </p:txBody>
      </p:sp>
      <p:sp>
        <p:nvSpPr>
          <p:cNvPr id="21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発生確率</a:t>
            </a:r>
            <a:endParaRPr lang="en-US" sz="900" dirty="0"/>
          </a:p>
        </p:txBody>
      </p:sp>
      <p:sp>
        <p:nvSpPr>
          <p:cNvPr id="22" name="mx_x0"/>
          <p:cNvSpPr txBox="1"/>
          <p:nvPr/>
        </p:nvSpPr>
        <p:spPr>
          <a:xfrm>
            <a:off x="146304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中</a:t>
            </a:r>
            <a:endParaRPr lang="en-US" sz="950" dirty="0"/>
          </a:p>
        </p:txBody>
      </p:sp>
      <p:sp>
        <p:nvSpPr>
          <p:cNvPr id="23" name="mx_x1"/>
          <p:cNvSpPr txBox="1"/>
          <p:nvPr/>
        </p:nvSpPr>
        <p:spPr>
          <a:xfrm>
            <a:off x="307848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大</a:t>
            </a:r>
            <a:endParaRPr lang="en-US" sz="950" dirty="0"/>
          </a:p>
        </p:txBody>
      </p:sp>
      <p:sp>
        <p:nvSpPr>
          <p:cNvPr id="24" name="mx_x2"/>
          <p:cNvSpPr txBox="1"/>
          <p:nvPr/>
        </p:nvSpPr>
        <p:spPr>
          <a:xfrm>
            <a:off x="469392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極大</a:t>
            </a:r>
            <a:endParaRPr lang="en-US" sz="950" dirty="0"/>
          </a:p>
        </p:txBody>
      </p:sp>
      <p:sp>
        <p:nvSpPr>
          <p:cNvPr id="25" name="mx_y0"/>
          <p:cNvSpPr txBox="1"/>
          <p:nvPr/>
        </p:nvSpPr>
        <p:spPr>
          <a:xfrm>
            <a:off x="457200" y="192024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中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(本体に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組込み)</a:t>
            </a:r>
            <a:endParaRPr lang="en-US" sz="950" dirty="0"/>
          </a:p>
        </p:txBody>
      </p:sp>
      <p:sp>
        <p:nvSpPr>
          <p:cNvPr id="26" name="ovl_mx0_0"/>
          <p:cNvSpPr/>
          <p:nvPr/>
        </p:nvSpPr>
        <p:spPr>
          <a:xfrm>
            <a:off x="146304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mx_t0_0"/>
          <p:cNvSpPr txBox="1"/>
          <p:nvPr/>
        </p:nvSpPr>
        <p:spPr>
          <a:xfrm>
            <a:off x="150876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の公正価値の評価減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(ヘッジ後)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0〜−3.8 億ドル、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 0〜−0.21</a:t>
            </a:r>
            <a:endParaRPr lang="en-US" sz="950" dirty="0"/>
          </a:p>
        </p:txBody>
      </p:sp>
      <p:sp>
        <p:nvSpPr>
          <p:cNvPr id="28" name="ovl_mx1_0"/>
          <p:cNvSpPr/>
          <p:nvPr/>
        </p:nvSpPr>
        <p:spPr>
          <a:xfrm>
            <a:off x="3078480" y="1920240"/>
            <a:ext cx="1578864" cy="142646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mx_t1_0"/>
          <p:cNvSpPr txBox="1"/>
          <p:nvPr/>
        </p:nvSpPr>
        <p:spPr>
          <a:xfrm>
            <a:off x="312420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景気減速で貸倒 +1.0pt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(理論株価 20.2、−3.6)・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資本の上限で成長が鈍る</a:t>
            </a:r>
            <a:endParaRPr lang="en-US" sz="950" dirty="0"/>
          </a:p>
        </p:txBody>
      </p:sp>
      <p:sp>
        <p:nvSpPr>
          <p:cNvPr id="30" name="ovl_mx2_0"/>
          <p:cNvSpPr/>
          <p:nvPr/>
        </p:nvSpPr>
        <p:spPr>
          <a:xfrm>
            <a:off x="469392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mx_t2_0"/>
          <p:cNvSpPr txBox="1"/>
          <p:nvPr/>
        </p:nvSpPr>
        <p:spPr>
          <a:xfrm>
            <a:off x="473964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mx_y1"/>
          <p:cNvSpPr txBox="1"/>
          <p:nvPr/>
        </p:nvSpPr>
        <p:spPr>
          <a:xfrm>
            <a:off x="457200" y="338328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低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(テール)</a:t>
            </a:r>
            <a:endParaRPr lang="en-US" sz="950" dirty="0"/>
          </a:p>
        </p:txBody>
      </p:sp>
      <p:sp>
        <p:nvSpPr>
          <p:cNvPr id="33" name="ovl_mx0_1"/>
          <p:cNvSpPr/>
          <p:nvPr/>
        </p:nvSpPr>
        <p:spPr>
          <a:xfrm>
            <a:off x="146304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0_1"/>
          <p:cNvSpPr txBox="1"/>
          <p:nvPr/>
        </p:nvSpPr>
        <p:spPr>
          <a:xfrm>
            <a:off x="150876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追加流出・利上げで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預金コスト上昇</a:t>
            </a:r>
            <a:endParaRPr lang="en-US" sz="950" dirty="0"/>
          </a:p>
        </p:txBody>
      </p:sp>
      <p:sp>
        <p:nvSpPr>
          <p:cNvPr id="35" name="ovl_mx1_1"/>
          <p:cNvSpPr/>
          <p:nvPr/>
        </p:nvSpPr>
        <p:spPr>
          <a:xfrm>
            <a:off x="307848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mx_t1_1"/>
          <p:cNvSpPr txBox="1"/>
          <p:nvPr/>
        </p:nvSpPr>
        <p:spPr>
          <a:xfrm>
            <a:off x="312420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の買い手の撤退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(プライベート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クレジットの流動性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ストレス)</a:t>
            </a:r>
            <a:endParaRPr lang="en-US" sz="950" dirty="0"/>
          </a:p>
        </p:txBody>
      </p:sp>
      <p:sp>
        <p:nvSpPr>
          <p:cNvPr id="37" name="ovl_mx2_1"/>
          <p:cNvSpPr/>
          <p:nvPr/>
        </p:nvSpPr>
        <p:spPr>
          <a:xfrm>
            <a:off x="469392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mx_t2_1"/>
          <p:cNvSpPr txBox="1"/>
          <p:nvPr/>
        </p:nvSpPr>
        <p:spPr>
          <a:xfrm>
            <a:off x="473964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会計の再表示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(空売りの主張、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5% 以下)</a:t>
            </a:r>
            <a:endParaRPr lang="en-US" sz="950" dirty="0"/>
          </a:p>
        </p:txBody>
      </p:sp>
      <p:sp>
        <p:nvSpPr>
          <p:cNvPr id="39" name="mx_xt"/>
          <p:cNvSpPr txBox="1"/>
          <p:nvPr/>
        </p:nvSpPr>
        <p:spPr>
          <a:xfrm>
            <a:off x="1463040" y="4864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株価値への影響</a:t>
            </a:r>
            <a:endParaRPr lang="en-US" sz="900" dirty="0"/>
          </a:p>
        </p:txBody>
      </p:sp>
      <p:sp>
        <p:nvSpPr>
          <p:cNvPr id="40" name="ovl_takeaway_bg"/>
          <p:cNvSpPr/>
          <p:nvPr/>
        </p:nvSpPr>
        <p:spPr>
          <a:xfrm>
            <a:off x="457200" y="5120640"/>
            <a:ext cx="5852160" cy="9601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1" name="takeaway"/>
          <p:cNvSpPr txBox="1"/>
          <p:nvPr/>
        </p:nvSpPr>
        <p:spPr>
          <a:xfrm>
            <a:off x="566928" y="5193792"/>
            <a:ext cx="5632704" cy="813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会計疑義はテールとして本体評価から分けたが無視しない。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再表示なら評価の前提から見直す。兆候は監査人と SEC</a:t>
            </a:r>
            <a:endParaRPr lang="en-US" sz="1100" dirty="0"/>
          </a:p>
        </p:txBody>
      </p:sp>
      <p:graphicFrame>
        <p:nvGraphicFramePr>
          <p:cNvPr id="5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554480"/>
          <a:ext cx="5193792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  <a:gridCol w="12161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兆候・トリガー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確認の時期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貸倒の上昇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4.5% 超、延滞 90 日超 0.6% 超、失業率 4.5% 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公正価値の評価減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個人ローンのマーク 104% 未満、学生 103.5%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資本の上限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15% 未満、増資の発表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資本の弁が開かない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16% 割れでも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の割合が上がらず、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の伸びが止まる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(2027 年見通しの未達)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の買い手の撤退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の組成額 30 億ドル/四半期 未満が 2 期、手数料率 4%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市場が消費者金融の群の倍率で見続ける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 PEG 0.80 のまま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(14.55 ドル)。価値は変わらないが、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差が埋まる時期が遅れる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会計の再表示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監査人の限定意見・交代、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10-K の遅延、SEC の照会、再表示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 投資行動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投資行動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判断を、いつ・何を確かめて・どの価格で建てるかの手順に落とす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分割で建て始め、15.3 ドル以下で買い増す。Q4 決算で総自己資本比率と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の割合、all-in 損失率を確かめ、増資や損失率 4.5% 超なら止める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時系列投資戦略(4 フェーズ)。判別 KPI は第3章(成長の尺度)・第4章と共通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scenario-strategy §7、本資料 第3・4章・最終判断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55</a:t>
            </a:r>
            <a:endParaRPr lang="en-US" sz="800" dirty="0"/>
          </a:p>
        </p:txBody>
      </p:sp>
      <p:sp>
        <p:nvSpPr>
          <p:cNvPr id="21" name="ovl_chev0"/>
          <p:cNvSpPr/>
          <p:nvPr/>
        </p:nvSpPr>
        <p:spPr>
          <a:xfrm>
            <a:off x="457200" y="1554480"/>
            <a:ext cx="2743200" cy="640080"/>
          </a:xfrm>
          <a:prstGeom prst="chevron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22" name="ovl_chev_t0"/>
          <p:cNvSpPr txBox="1"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分割で建てる・検証期</a:t>
            </a:r>
            <a:endParaRPr lang="en-US" sz="1200" dirty="0"/>
          </a:p>
        </p:txBody>
      </p:sp>
      <p:sp>
        <p:nvSpPr>
          <p:cNvPr id="23" name="ovl_chev1"/>
          <p:cNvSpPr/>
          <p:nvPr/>
        </p:nvSpPr>
        <p:spPr>
          <a:xfrm>
            <a:off x="3108960" y="1554480"/>
            <a:ext cx="2743200" cy="640080"/>
          </a:xfrm>
          <a:prstGeom prst="chevron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4" name="ovl_chev_t1"/>
          <p:cNvSpPr txBox="1"/>
          <p:nvPr/>
        </p:nvSpPr>
        <p:spPr>
          <a:xfrm>
            <a:off x="310896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エントリー期</a:t>
            </a:r>
            <a:endParaRPr lang="en-US" sz="1200" dirty="0"/>
          </a:p>
        </p:txBody>
      </p:sp>
      <p:sp>
        <p:nvSpPr>
          <p:cNvPr id="25" name="ovl_chev2"/>
          <p:cNvSpPr/>
          <p:nvPr/>
        </p:nvSpPr>
        <p:spPr>
          <a:xfrm>
            <a:off x="5760720" y="1554480"/>
            <a:ext cx="2743200" cy="640080"/>
          </a:xfrm>
          <a:prstGeom prst="chevron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ovl_chev_t2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本格保有期</a:t>
            </a:r>
            <a:endParaRPr lang="en-US" sz="1200" dirty="0"/>
          </a:p>
        </p:txBody>
      </p:sp>
      <p:sp>
        <p:nvSpPr>
          <p:cNvPr id="27" name="ovl_chev3"/>
          <p:cNvSpPr/>
          <p:nvPr/>
        </p:nvSpPr>
        <p:spPr>
          <a:xfrm>
            <a:off x="8412480" y="1554480"/>
            <a:ext cx="2743200" cy="640080"/>
          </a:xfrm>
          <a:prstGeom prst="chevron">
            <a:avLst/>
          </a:prstGeom>
          <a:solidFill>
            <a:srgbClr val="1BA1A6"/>
          </a:solidFill>
          <a:ln w="12700">
            <a:solidFill>
              <a:srgbClr val="1BA1A6"/>
            </a:solidFill>
            <a:prstDash val="solid"/>
          </a:ln>
        </p:spPr>
      </p:sp>
      <p:sp>
        <p:nvSpPr>
          <p:cNvPr id="28" name="ovl_chev_t3"/>
          <p:cNvSpPr txBox="1"/>
          <p:nvPr/>
        </p:nvSpPr>
        <p:spPr>
          <a:xfrm>
            <a:off x="8412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再評価期</a:t>
            </a:r>
            <a:endParaRPr lang="en-US" sz="1200" dirty="0"/>
          </a:p>
        </p:txBody>
      </p:sp>
      <p:graphicFrame>
        <p:nvGraphicFramePr>
          <p:cNvPr id="5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487168"/>
                <a:gridCol w="2487168"/>
                <a:gridCol w="2487168"/>
                <a:gridCol w="248716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分割で建てる・検証期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エントリー期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本格保有期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再評価期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今〜2027 年 Q2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資本の弁が開いた後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(16% 割れの四半期に LPB 40% 超)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超かつ LPB の配分 40% 超が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四半期続いた後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株価が理論株価に近づいた後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15.3〜21.4 ドルで分割、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15.3 ドル以下は即時に買い増す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15.3 超〜21.4 ドル以下で分割して建てる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(15.3 ドル以下なら即時)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確度に応じて増やす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年: 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16% 割れの四半期に LPB 40% 超なら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N2 を上げ、強気の確率を見直す。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差分を探し、なければ縮小する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判別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決算: 総自己資本比率と LPB の割合、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3.4% 以下、会員純増 110 万以上、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 40%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同左を 2 四半期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超かつ自給率 1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 PEG 1.275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(理論株価に到達)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撤退条件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増資、all-in 4.5% 超、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年見通しの引き下げ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評価の純額 3 億ドル超、all-in 4.5% 超、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増資、再表示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が 2 四半期続けて 9% 未満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差分の消失。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損失率が 5.7%(保有の損益分岐)に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近づく、または理論株価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(その時点の再計算)を株価が上回る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判別 KPI のうち 3 つ以上を 2 四半期続けて満たしたら、強気の確率を見直し、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分割エントリーの上限を引き上げる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前提と制約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前提と制約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計算の前提、数値の出所と限界、免責を明示し、後から検証できるようにする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計算の前提と既知の制約: 一次資料を直接読めず、数値は検索要約経由。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 10/16 終値を基準にし、決算後の目安を併記した。本書は投資助言ではない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Appendix: 計算の前提(事前登録)、既知の制約、免責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calc/out/growth_v4.json、calc/A4_q3_memo.md、calc/prereg.md、research_r5/Q3_datasheet.md、research/・research_r2/〜research_r5/ の各ファイル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56</a:t>
            </a:r>
            <a:endParaRPr lang="en-US" sz="800" dirty="0"/>
          </a:p>
        </p:txBody>
      </p:sp>
      <p:graphicFrame>
        <p:nvGraphicFramePr>
          <p:cNvPr id="5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EPS。2026・2027 年は会社の見通し(0.61・0.90)、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年以降は事業エンジン、2030 年は延長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妥当 PER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許容 PEG(構造 B、点数 3.42・位置 0.92: 1.275 → 1.125)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 当該年度から 3 年の EPS 成長率。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同業の PER・DCF は交差確認で平均しない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末 40%・2027 末 30%・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末 20%・2029 末 10%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株主資本コスト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13.9%(5.2% + 1.93 × 4.5%)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シナリオ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節点ツリー(4 節点、対称)。組み合わせごとに構造と PEG を変える。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 26.6%・ベース 49.3%・弱気 24.1%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必要資本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14%(運用の下限)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 13.8 億株、2027 年 14.2 億株(会社の見通しの含意)、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以後 年 +1.5%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22%(2026・2027 年)、23%(2028 年以降)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生存確率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 98.5%(年度末の目標を今日へ割り引くときに掛ける)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長期成長率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5%(TBV × ROTCE の照合と定常状態の価値)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14.55 ドル(10/16 終値)。決算後の目安 16.5 ドル(10/27 に日中 +11〜14% との報道)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6355080" y="1481328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既知の制約と免責</a:t>
            </a:r>
            <a:endParaRPr lang="en-US" sz="1200" dirty="0"/>
          </a:p>
        </p:txBody>
      </p:sp>
      <p:sp>
        <p:nvSpPr>
          <p:cNvPr id="23" name="bullets"/>
          <p:cNvSpPr txBox="1"/>
          <p:nvPr/>
        </p:nvSpPr>
        <p:spPr>
          <a:xfrm>
            <a:off x="6355080" y="1828800"/>
            <a:ext cx="5376672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一次資料(SEC・IR)を環境の制約で直接開けず、全数値は検索の要約経由。原文で未照合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TradingView の年度別予想は取得できず、Yahoo・Chartmill・WallStreetZen・Tickflow で代えた。2029 年は 4 名のみ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公正価値の感応度表・倉庫ラインの残高・Q3 の金利ヘッジの規模は未取得。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の評価減は会社開示のマーク変動からの推計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の税率・株数・評価損益・スワップ損益・Q4 の会社見通し・決算後の株価とコンセンサスは未取得(8-K 原文と未照合)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前提は事前登録したが、株価は登録前に見ている(規則で決まる値だけを使った)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販促費の内訳・解約率・給与振込の会員数・LTV/CAC は非開示で、単位経済は全社の概算</a:t>
            </a:r>
            <a:endParaRPr lang="en-US" sz="950" dirty="0"/>
          </a:p>
        </p:txBody>
      </p:sp>
      <p:sp>
        <p:nvSpPr>
          <p:cNvPr id="24" name="src_head"/>
          <p:cNvSpPr txBox="1"/>
          <p:nvPr/>
        </p:nvSpPr>
        <p:spPr>
          <a:xfrm>
            <a:off x="6355080" y="384048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主な出所(いずれも検索の要約経由)</a:t>
            </a:r>
            <a:endParaRPr lang="en-US" sz="1200" dirty="0"/>
          </a:p>
        </p:txBody>
      </p:sp>
      <p:sp>
        <p:nvSpPr>
          <p:cNvPr id="25" name="bullets_src"/>
          <p:cNvSpPr txBox="1"/>
          <p:nvPr/>
        </p:nvSpPr>
        <p:spPr>
          <a:xfrm>
            <a:off x="6355080" y="4187952"/>
            <a:ext cx="537667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の決算発表・10-Q・決算説明会(Q4 2025〜Q2 2026)と、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2026 の 8-K・説明会の要約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Muddy Waters の空売り報告(2026-03)、KBW・Morgan Stanley・BofA の見解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競合の決算(Chime・Robinhood・LendingClub、2026 年 Q2)と各社の価格表</a:t>
            </a:r>
            <a:endParaRPr lang="en-US" sz="950" dirty="0"/>
          </a:p>
        </p:txBody>
      </p:sp>
      <p:sp>
        <p:nvSpPr>
          <p:cNvPr id="26" name="ovl_takeaway_bg"/>
          <p:cNvSpPr/>
          <p:nvPr/>
        </p:nvSpPr>
        <p:spPr>
          <a:xfrm>
            <a:off x="6355080" y="5257800"/>
            <a:ext cx="537667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6464808" y="5330952"/>
            <a:ext cx="515721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本資料は情報の整理を目的とし、投資助言ではない。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投資判断は自己の責任で行うこと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 Technologies(SOFI)長期保有適格性審査</dc:title>
  <dc:subject>PptxGenJS Presentation</dc:subject>
  <dc:creator>SoFi 長期保有適格性審査</dc:creator>
  <cp:lastModifiedBy>SoFi 長期保有適格性審査</cp:lastModifiedBy>
  <cp:revision>1</cp:revision>
  <dcterms:created xsi:type="dcterms:W3CDTF">2026-10-29T07:11:08Z</dcterms:created>
  <dcterms:modified xsi:type="dcterms:W3CDTF">2026-10-29T07:11:08Z</dcterms:modified>
</cp:coreProperties>
</file>