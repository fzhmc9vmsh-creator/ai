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7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8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作動している +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両面・停滞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逆行 −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保留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dLbls>
          <c:numFmt formatCode="[&gt;=4]0&quot;%&quot;;&quot;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純金利収益</c:v>
                  </c:pt>
                  <c:pt idx="1">
                    <c:v>ローン組成・売却の損益</c:v>
                  </c:pt>
                  <c:pt idx="2">
                    <c:v>インターチェンジ・会費ほか</c:v>
                  </c:pt>
                  <c:pt idx="3">
                    <c:v>LPB 手数料</c:v>
                  </c:pt>
                  <c:pt idx="4">
                    <c:v>テクノロジー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270.4</c:v>
                </c:pt>
                <c:pt idx="1">
                  <c:v>79.5</c:v>
                </c:pt>
                <c:pt idx="2">
                  <c:v>38.7</c:v>
                </c:pt>
                <c:pt idx="3">
                  <c:v>13.5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純金利収益</c:v>
                  </c:pt>
                  <c:pt idx="1">
                    <c:v>ローン組成・売却の損益</c:v>
                  </c:pt>
                  <c:pt idx="2">
                    <c:v>インターチェンジ・会費ほか</c:v>
                  </c:pt>
                  <c:pt idx="3">
                    <c:v>LPB 手数料</c:v>
                  </c:pt>
                  <c:pt idx="4">
                    <c:v>テクノロジー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-38.3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2026-12予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22.9</c:v>
                </c:pt>
                <c:pt idx="1">
                  <c:v>21.3</c:v>
                </c:pt>
                <c:pt idx="2">
                  <c:v>18.8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予想</c:v>
                </c:pt>
              </c:strCache>
            </c:strRef>
          </c:tx>
          <c:spPr>
            <a:solidFill>
              <a:srgbClr val="86C99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2026-12予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17</c:v>
                </c:pt>
                <c:pt idx="4">
                  <c:v>16.1</c:v>
                </c:pt>
                <c:pt idx="5">
                  <c:v>16.3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報告値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3.84</c:v>
                </c:pt>
                <c:pt idx="1">
                  <c:v>3.52</c:v>
                </c:pt>
                <c:pt idx="2">
                  <c:v>3.37</c:v>
                </c:pt>
                <c:pt idx="3">
                  <c:v>3.31</c:v>
                </c:pt>
                <c:pt idx="4">
                  <c:v>2.83</c:v>
                </c:pt>
                <c:pt idx="5">
                  <c:v>2.6</c:v>
                </c:pt>
                <c:pt idx="6">
                  <c:v>2.8</c:v>
                </c:pt>
                <c:pt idx="7">
                  <c:v>3.03</c:v>
                </c:pt>
                <c:pt idx="8">
                  <c:v>2.62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公正価値の損失前提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4.8</c:v>
                </c:pt>
                <c:pt idx="1">
                  <c:v/>
                </c:pt>
                <c:pt idx="2">
                  <c:v>4.55</c:v>
                </c:pt>
                <c:pt idx="3">
                  <c:v>4.37</c:v>
                </c:pt>
                <c:pt idx="4">
                  <c:v>4.28</c:v>
                </c:pt>
                <c:pt idx="5">
                  <c:v>4.33</c:v>
                </c:pt>
                <c:pt idx="6">
                  <c:v>4.46</c:v>
                </c:pt>
                <c:pt idx="7">
                  <c:v>4.57</c:v>
                </c:pt>
                <c:pt idx="8">
                  <c:v>4.8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all-in(売却した延滞債権を足し戻し)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5.4</c:v>
                </c:pt>
                <c:pt idx="1">
                  <c:v>5</c:v>
                </c:pt>
                <c:pt idx="2">
                  <c:v/>
                </c:pt>
                <c:pt idx="3">
                  <c:v>4.8</c:v>
                </c:pt>
                <c:pt idx="4">
                  <c:v>4.5</c:v>
                </c:pt>
                <c:pt idx="5">
                  <c:v/>
                </c:pt>
                <c:pt idx="6">
                  <c:v>4.4</c:v>
                </c:pt>
                <c:pt idx="7">
                  <c:v>4.4</c:v>
                </c:pt>
                <c:pt idx="8">
                  <c:v>3.7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6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 予</c:v>
                  </c:pt>
                  <c:pt idx="3">
                    <c:v>Q4 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</c:v>
                </c:pt>
                <c:pt idx="1">
                  <c:v>0.12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予想</c:v>
                </c:pt>
              </c:strCache>
            </c:strRef>
          </c:tx>
          <c:spPr>
            <a:solidFill>
              <a:srgbClr val="86C99B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 予</c:v>
                  </c:pt>
                  <c:pt idx="3">
                    <c:v>Q4 予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0.17</c:v>
                </c:pt>
                <c:pt idx="3">
                  <c:v>0.19</c:v>
                </c:pt>
              </c:numCache>
            </c:numRef>
          </c:val>
        </c:ser>
        <c:dLbls>
          <c:numFmt formatCode="0.00;-0.0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 年 CAGR(%)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コンセンサス</c:v>
                  </c:pt>
                  <c:pt idx="1">
                    <c:v>会社の目標の延長</c:v>
                  </c:pt>
                  <c:pt idx="2">
                    <c:v>需給エンジン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30.1</c:v>
                </c:pt>
                <c:pt idx="1">
                  <c:v>34.9</c:v>
                </c:pt>
                <c:pt idx="2">
                  <c:v>31.1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市場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0.0&quot;倍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弱気</c:v>
                  </c:pt>
                  <c:pt idx="1">
                    <c:v>市場(株価 14.55)</c:v>
                  </c:pt>
                  <c:pt idx="2">
                    <c:v>ベース</c:v>
                  </c:pt>
                  <c:pt idx="3">
                    <c:v>強気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17.2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シナリオ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&quot;倍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弱気</c:v>
                  </c:pt>
                  <c:pt idx="1">
                    <c:v>市場(株価 14.55)</c:v>
                  </c:pt>
                  <c:pt idx="2">
                    <c:v>ベース</c:v>
                  </c:pt>
                  <c:pt idx="3">
                    <c:v>強気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16.4</c:v>
                </c:pt>
                <c:pt idx="1">
                  <c:v>0</c:v>
                </c:pt>
                <c:pt idx="2">
                  <c:v>16.4</c:v>
                </c:pt>
                <c:pt idx="3">
                  <c:v>16.5</c:v>
                </c:pt>
              </c:numCache>
            </c:numRef>
          </c:val>
        </c:ser>
        <c:dLbls>
          <c:numFmt formatCode="0.0&quot;倍&quot;;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強気</c:v>
                </c:pt>
              </c:strCache>
            </c:strRef>
          </c:tx>
          <c:spPr>
            <a:solidFill>
              <a:srgbClr val="86C99B"/>
            </a:solidFill>
            <a:ln w="25400" cap="flat">
              <a:solidFill>
                <a:srgbClr val="86C99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6C99B"/>
              </a:solidFill>
              <a:ln w="9525" cap="flat">
                <a:solidFill>
                  <a:srgbClr val="86C9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</c:v>
                </c:pt>
                <c:pt idx="1">
                  <c:v>1.03</c:v>
                </c:pt>
                <c:pt idx="2">
                  <c:v>1.36</c:v>
                </c:pt>
                <c:pt idx="3">
                  <c:v>1.67</c:v>
                </c:pt>
                <c:pt idx="4">
                  <c:v>2.05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弱気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0.49</c:v>
                </c:pt>
                <c:pt idx="1">
                  <c:v>0.66</c:v>
                </c:pt>
                <c:pt idx="2">
                  <c:v>0.86</c:v>
                </c:pt>
                <c:pt idx="3">
                  <c:v>1.06</c:v>
                </c:pt>
                <c:pt idx="4">
                  <c:v>1.3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コンセンサス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0.83</c:v>
                </c:pt>
                <c:pt idx="2">
                  <c:v>1.08</c:v>
                </c:pt>
                <c:pt idx="3">
                  <c:v>1.32</c:v>
                </c:pt>
                <c:pt idx="4">
                  <c:v>1.56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ベース(事業エンジン)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0.6</c:v>
                </c:pt>
                <c:pt idx="1">
                  <c:v>0.85</c:v>
                </c:pt>
                <c:pt idx="2">
                  <c:v>1.1</c:v>
                </c:pt>
                <c:pt idx="3">
                  <c:v>1.35</c:v>
                </c:pt>
                <c:pt idx="4">
                  <c:v>1.66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.2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cover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cover_title"/>
          <p:cNvSpPr txBox="1"/>
          <p:nvPr/>
        </p:nvSpPr>
        <p:spPr>
          <a:xfrm>
            <a:off x="731520" y="1828800"/>
            <a:ext cx="65836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Technologies(SOFI)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長期保有適格性審査</a:t>
            </a:r>
            <a:endParaRPr lang="en-US" sz="3000" dirty="0"/>
          </a:p>
        </p:txBody>
      </p:sp>
      <p:sp>
        <p:nvSpPr>
          <p:cNvPr id="4" name="bg_cover_sub"/>
          <p:cNvSpPr txBox="1"/>
          <p:nvPr/>
        </p:nvSpPr>
        <p:spPr>
          <a:xfrm>
            <a:off x="731520" y="37490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会員と預金で伸びる銀行型フィンテック。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成長は資本を食い、株価は会社計画の達成を約 4 割織り込む</a:t>
            </a:r>
            <a:endParaRPr lang="en-US" sz="1400" dirty="0"/>
          </a:p>
        </p:txBody>
      </p:sp>
      <p:sp>
        <p:nvSpPr>
          <p:cNvPr id="5" name="bg_cover_date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2026-10-18</a:t>
            </a:r>
            <a:endParaRPr lang="en-US" sz="1100" dirty="0"/>
          </a:p>
        </p:txBody>
      </p:sp>
      <p:sp>
        <p:nvSpPr>
          <p:cNvPr id="6" name="bg_cover_k1"/>
          <p:cNvSpPr txBox="1"/>
          <p:nvPr/>
        </p:nvSpPr>
        <p:spPr>
          <a:xfrm>
            <a:off x="8321040" y="182880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100" dirty="0"/>
          </a:p>
        </p:txBody>
      </p:sp>
      <p:sp>
        <p:nvSpPr>
          <p:cNvPr id="7" name="bg_cover_k1v"/>
          <p:cNvSpPr txBox="1"/>
          <p:nvPr/>
        </p:nvSpPr>
        <p:spPr>
          <a:xfrm>
            <a:off x="8321040" y="212140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2600" dirty="0"/>
          </a:p>
        </p:txBody>
      </p:sp>
      <p:sp>
        <p:nvSpPr>
          <p:cNvPr id="8" name="bg_cover_k2"/>
          <p:cNvSpPr txBox="1"/>
          <p:nvPr/>
        </p:nvSpPr>
        <p:spPr>
          <a:xfrm>
            <a:off x="8321040" y="301752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理論株価(確率加重)</a:t>
            </a:r>
            <a:endParaRPr lang="en-US" sz="1100" dirty="0"/>
          </a:p>
        </p:txBody>
      </p:sp>
      <p:sp>
        <p:nvSpPr>
          <p:cNvPr id="9" name="bg_cover_k2v"/>
          <p:cNvSpPr txBox="1"/>
          <p:nvPr/>
        </p:nvSpPr>
        <p:spPr>
          <a:xfrm>
            <a:off x="8321040" y="331012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13.4 ドル</a:t>
            </a:r>
            <a:endParaRPr lang="en-US" sz="2600" dirty="0"/>
          </a:p>
        </p:txBody>
      </p:sp>
      <p:sp>
        <p:nvSpPr>
          <p:cNvPr id="10" name="bg_cover_k3"/>
          <p:cNvSpPr txBox="1"/>
          <p:nvPr/>
        </p:nvSpPr>
        <p:spPr>
          <a:xfrm>
            <a:off x="8321040" y="420624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11" name="bg_cover_k3v"/>
          <p:cNvSpPr txBox="1"/>
          <p:nvPr/>
        </p:nvSpPr>
        <p:spPr>
          <a:xfrm>
            <a:off x="8321040" y="449884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600" dirty="0"/>
          </a:p>
        </p:txBody>
      </p:sp>
      <p:sp>
        <p:nvSpPr>
          <p:cNvPr id="12" name="bg_cover_note"/>
          <p:cNvSpPr txBox="1"/>
          <p:nvPr/>
        </p:nvSpPr>
        <p:spPr>
          <a:xfrm>
            <a:off x="8321040" y="5303520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ドル(2026-10-16 終値)の 0.92 倍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結論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017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結論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620774" y="356616"/>
            <a:ext cx="10113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最初に判断と根拠の骨格を示す。詳しい根拠は各章で確かめる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C・確率加重の理論株価 13.4 ドル(株価の 0.92 倍)で「監視」。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成長は資本を食い、ROTCE が資本コストを超えるのは 2029〜30 年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決算・10-Q)、コンセンサス(Yahoo・Chartmill・WallStreetZen・Benzinga)、本資料の計算(calc/out/val.json)。株価は 2026-10-16 終値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ovl_tile0"/>
          <p:cNvSpPr/>
          <p:nvPr/>
        </p:nvSpPr>
        <p:spPr>
          <a:xfrm>
            <a:off x="457200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0" name="tile_v0"/>
          <p:cNvSpPr txBox="1"/>
          <p:nvPr/>
        </p:nvSpPr>
        <p:spPr>
          <a:xfrm>
            <a:off x="548640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13.4 ドル</a:t>
            </a:r>
            <a:endParaRPr lang="en-US" sz="3200" dirty="0"/>
          </a:p>
        </p:txBody>
      </p:sp>
      <p:sp>
        <p:nvSpPr>
          <p:cNvPr id="21" name="tile_l0"/>
          <p:cNvSpPr txBox="1"/>
          <p:nvPr/>
        </p:nvSpPr>
        <p:spPr>
          <a:xfrm>
            <a:off x="548640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理論株価(確率加重)</a:t>
            </a:r>
            <a:endParaRPr lang="en-US" sz="1050" dirty="0"/>
          </a:p>
        </p:txBody>
      </p:sp>
      <p:sp>
        <p:nvSpPr>
          <p:cNvPr id="22" name="tile_n0"/>
          <p:cNvSpPr txBox="1"/>
          <p:nvPr/>
        </p:nvSpPr>
        <p:spPr>
          <a:xfrm>
            <a:off x="548640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 13.3・強気 16.5・弱気 10.5</a:t>
            </a:r>
            <a:endParaRPr lang="en-US" sz="850" dirty="0"/>
          </a:p>
        </p:txBody>
      </p:sp>
      <p:sp>
        <p:nvSpPr>
          <p:cNvPr id="23" name="ovl_tile1"/>
          <p:cNvSpPr/>
          <p:nvPr/>
        </p:nvSpPr>
        <p:spPr>
          <a:xfrm>
            <a:off x="3333674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4" name="tile_v1"/>
          <p:cNvSpPr txBox="1"/>
          <p:nvPr/>
        </p:nvSpPr>
        <p:spPr>
          <a:xfrm>
            <a:off x="3425114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14.55 ドル</a:t>
            </a:r>
            <a:endParaRPr lang="en-US" sz="3200" dirty="0"/>
          </a:p>
        </p:txBody>
      </p:sp>
      <p:sp>
        <p:nvSpPr>
          <p:cNvPr id="25" name="tile_l1"/>
          <p:cNvSpPr txBox="1"/>
          <p:nvPr/>
        </p:nvSpPr>
        <p:spPr>
          <a:xfrm>
            <a:off x="3425114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株価(10/16)</a:t>
            </a:r>
            <a:endParaRPr lang="en-US" sz="1050" dirty="0"/>
          </a:p>
        </p:txBody>
      </p:sp>
      <p:sp>
        <p:nvSpPr>
          <p:cNvPr id="26" name="tile_n1"/>
          <p:cNvSpPr txBox="1"/>
          <p:nvPr/>
        </p:nvSpPr>
        <p:spPr>
          <a:xfrm>
            <a:off x="3425114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理論株価の 1.09 倍</a:t>
            </a:r>
            <a:endParaRPr lang="en-US" sz="850" dirty="0"/>
          </a:p>
        </p:txBody>
      </p:sp>
      <p:sp>
        <p:nvSpPr>
          <p:cNvPr id="27" name="ovl_tile2"/>
          <p:cNvSpPr/>
          <p:nvPr/>
        </p:nvSpPr>
        <p:spPr>
          <a:xfrm>
            <a:off x="6210148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8" name="tile_v2"/>
          <p:cNvSpPr txBox="1"/>
          <p:nvPr/>
        </p:nvSpPr>
        <p:spPr>
          <a:xfrm>
            <a:off x="6301588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3200" dirty="0"/>
          </a:p>
        </p:txBody>
      </p:sp>
      <p:sp>
        <p:nvSpPr>
          <p:cNvPr id="29" name="tile_l2"/>
          <p:cNvSpPr txBox="1"/>
          <p:nvPr/>
        </p:nvSpPr>
        <p:spPr>
          <a:xfrm>
            <a:off x="6301588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050" dirty="0"/>
          </a:p>
        </p:txBody>
      </p:sp>
      <p:sp>
        <p:nvSpPr>
          <p:cNvPr id="30" name="tile_n2"/>
          <p:cNvSpPr txBox="1"/>
          <p:nvPr/>
        </p:nvSpPr>
        <p:spPr>
          <a:xfrm>
            <a:off x="6301588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S1・B7・C4(条件9 は対象外)</a:t>
            </a:r>
            <a:endParaRPr lang="en-US" sz="850" dirty="0"/>
          </a:p>
        </p:txBody>
      </p:sp>
      <p:sp>
        <p:nvSpPr>
          <p:cNvPr id="31" name="ovl_tile3"/>
          <p:cNvSpPr/>
          <p:nvPr/>
        </p:nvSpPr>
        <p:spPr>
          <a:xfrm>
            <a:off x="9086621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2" name="tile_v3"/>
          <p:cNvSpPr txBox="1"/>
          <p:nvPr/>
        </p:nvSpPr>
        <p:spPr>
          <a:xfrm>
            <a:off x="9178061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3200" dirty="0"/>
          </a:p>
        </p:txBody>
      </p:sp>
      <p:sp>
        <p:nvSpPr>
          <p:cNvPr id="33" name="tile_l3"/>
          <p:cNvSpPr txBox="1"/>
          <p:nvPr/>
        </p:nvSpPr>
        <p:spPr>
          <a:xfrm>
            <a:off x="9178061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050" dirty="0"/>
          </a:p>
        </p:txBody>
      </p:sp>
      <p:sp>
        <p:nvSpPr>
          <p:cNvPr id="34" name="tile_n3"/>
          <p:cNvSpPr txBox="1"/>
          <p:nvPr/>
        </p:nvSpPr>
        <p:spPr>
          <a:xfrm>
            <a:off x="9178061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分割エントリーの目安 11.3 ドル以下</a:t>
            </a:r>
            <a:endParaRPr lang="en-US" sz="850" dirty="0"/>
          </a:p>
        </p:txBody>
      </p:sp>
      <p:sp>
        <p:nvSpPr>
          <p:cNvPr id="35" name="ovl_rail0"/>
          <p:cNvSpPr/>
          <p:nvPr/>
        </p:nvSpPr>
        <p:spPr>
          <a:xfrm>
            <a:off x="457200" y="2971800"/>
            <a:ext cx="2103120" cy="603504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6" name="rail0"/>
          <p:cNvSpPr txBox="1"/>
          <p:nvPr/>
        </p:nvSpPr>
        <p:spPr>
          <a:xfrm>
            <a:off x="566928" y="29718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</a:t>
            </a:r>
            <a:endParaRPr lang="en-US" sz="1200" dirty="0"/>
          </a:p>
        </p:txBody>
      </p:sp>
      <p:sp>
        <p:nvSpPr>
          <p:cNvPr id="37" name="body0"/>
          <p:cNvSpPr txBox="1"/>
          <p:nvPr/>
        </p:nvSpPr>
        <p:spPr>
          <a:xfrm>
            <a:off x="2743200" y="2971800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構造は C、株価は理論株価をやや上回る(乖離 −8%)。買いの根拠になる市場との差分は無く「監視」。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11.3 ドル以下、または判別 KPI の合格で再検討する</a:t>
            </a:r>
            <a:endParaRPr lang="en-US" sz="1100" dirty="0"/>
          </a:p>
        </p:txBody>
      </p:sp>
      <p:sp>
        <p:nvSpPr>
          <p:cNvPr id="38" name="ovl_rail1"/>
          <p:cNvSpPr/>
          <p:nvPr/>
        </p:nvSpPr>
        <p:spPr>
          <a:xfrm>
            <a:off x="457200" y="3630168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9" name="rail1"/>
          <p:cNvSpPr txBox="1"/>
          <p:nvPr/>
        </p:nvSpPr>
        <p:spPr>
          <a:xfrm>
            <a:off x="566928" y="363016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1200" dirty="0"/>
          </a:p>
        </p:txBody>
      </p:sp>
      <p:sp>
        <p:nvSpPr>
          <p:cNvPr id="40" name="body1"/>
          <p:cNvSpPr txBox="1"/>
          <p:nvPr/>
        </p:nvSpPr>
        <p:spPr>
          <a:xfrm>
            <a:off x="2743200" y="3630168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万人の給与振込が預金 455 億ドルを集め、その安い資金で個人・学生ローンを抱えて利ざやを稼ぐ銀行型フィンテック</a:t>
            </a:r>
            <a:endParaRPr lang="en-US" sz="1100" dirty="0"/>
          </a:p>
        </p:txBody>
      </p:sp>
      <p:sp>
        <p:nvSpPr>
          <p:cNvPr id="41" name="ovl_rail2"/>
          <p:cNvSpPr/>
          <p:nvPr/>
        </p:nvSpPr>
        <p:spPr>
          <a:xfrm>
            <a:off x="457200" y="4288536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2" name="rail2"/>
          <p:cNvSpPr txBox="1"/>
          <p:nvPr/>
        </p:nvSpPr>
        <p:spPr>
          <a:xfrm>
            <a:off x="566928" y="428853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成長の質</a:t>
            </a:r>
            <a:endParaRPr lang="en-US" sz="1200" dirty="0"/>
          </a:p>
        </p:txBody>
      </p:sp>
      <p:sp>
        <p:nvSpPr>
          <p:cNvPr id="43" name="body2"/>
          <p:cNvSpPr txBox="1"/>
          <p:nvPr/>
        </p:nvSpPr>
        <p:spPr>
          <a:xfrm>
            <a:off x="2743200" y="4288536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はコンセンサスどおり 0.60 → 1.32 ドル(2026→29 年)に伸びうるが、成長は資本を食い、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は 2030 年でも 14.5% と資本コスト 13.9% 近辺にとどまる</a:t>
            </a:r>
            <a:endParaRPr lang="en-US" sz="1100" dirty="0"/>
          </a:p>
        </p:txBody>
      </p:sp>
      <p:sp>
        <p:nvSpPr>
          <p:cNvPr id="44" name="ovl_rail3"/>
          <p:cNvSpPr/>
          <p:nvPr/>
        </p:nvSpPr>
        <p:spPr>
          <a:xfrm>
            <a:off x="457200" y="4946904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5" name="rail3"/>
          <p:cNvSpPr txBox="1"/>
          <p:nvPr/>
        </p:nvSpPr>
        <p:spPr>
          <a:xfrm>
            <a:off x="566928" y="49469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</a:t>
            </a:r>
            <a:endParaRPr lang="en-US" sz="1200" dirty="0"/>
          </a:p>
        </p:txBody>
      </p:sp>
      <p:sp>
        <p:nvSpPr>
          <p:cNvPr id="46" name="body3"/>
          <p:cNvSpPr txBox="1"/>
          <p:nvPr/>
        </p:nvSpPr>
        <p:spPr>
          <a:xfrm>
            <a:off x="2743200" y="4946904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 × 妥当 PER(同業 13.6 倍・PEG × 成長率・エンジン)を年度別に当て、近い年度を重くしてベース 13.3 ドル。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DCF 10.6 ドル・TBV×ROTCE 8〜11 ドルはさらに低い</a:t>
            </a:r>
            <a:endParaRPr lang="en-US" sz="1100" dirty="0"/>
          </a:p>
        </p:txBody>
      </p:sp>
      <p:sp>
        <p:nvSpPr>
          <p:cNvPr id="47" name="ovl_rail4"/>
          <p:cNvSpPr/>
          <p:nvPr/>
        </p:nvSpPr>
        <p:spPr>
          <a:xfrm>
            <a:off x="457200" y="5605272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8" name="rail4"/>
          <p:cNvSpPr txBox="1"/>
          <p:nvPr/>
        </p:nvSpPr>
        <p:spPr>
          <a:xfrm>
            <a:off x="566928" y="560527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市場との差分</a:t>
            </a:r>
            <a:endParaRPr lang="en-US" sz="1200" dirty="0"/>
          </a:p>
        </p:txBody>
      </p:sp>
      <p:sp>
        <p:nvSpPr>
          <p:cNvPr id="49" name="body4"/>
          <p:cNvSpPr txBox="1"/>
          <p:nvPr/>
        </p:nvSpPr>
        <p:spPr>
          <a:xfrm>
            <a:off x="2743200" y="5605272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株価は会社計画の達成を約 4 割の確率で織り込む。空売りの会計疑義は信用の前提では裏付けが弱いが、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金利に弱い評価と資本の制約は実在のリスク。差分は無い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why0"/>
          <p:cNvSpPr txBox="1"/>
          <p:nvPr/>
        </p:nvSpPr>
        <p:spPr>
          <a:xfrm>
            <a:off x="1417320" y="19385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結論と評価の全体像を先に示し、以降の章で根拠を確かめる</a:t>
            </a:r>
            <a:endParaRPr lang="en-US" sz="1050" dirty="0"/>
          </a:p>
        </p:txBody>
      </p:sp>
      <p:sp>
        <p:nvSpPr>
          <p:cNvPr id="8" name="bg_agenda_n1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bg_agenda_nt1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bg_agenda_ch1"/>
          <p:cNvSpPr txBox="1"/>
          <p:nvPr/>
        </p:nvSpPr>
        <p:spPr>
          <a:xfrm>
            <a:off x="1417320" y="2587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730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873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17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18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第1章の構成</a:t>
            </a:r>
            <a:endParaRPr lang="en-US" sz="1300" dirty="0"/>
          </a:p>
        </p:txBody>
      </p:sp>
      <p:sp>
        <p:nvSpPr>
          <p:cNvPr id="19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 結論</a:t>
            </a:r>
            <a:endParaRPr lang="en-US" sz="1250" dirty="0"/>
          </a:p>
        </p:txBody>
      </p:sp>
      <p:sp>
        <p:nvSpPr>
          <p:cNvPr id="20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</a:t>
            </a:r>
            <a:endParaRPr lang="en-US" sz="1050" dirty="0"/>
          </a:p>
        </p:txBody>
      </p:sp>
      <p:sp>
        <p:nvSpPr>
          <p:cNvPr id="21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 評価の全体像</a:t>
            </a:r>
            <a:endParaRPr lang="en-US" sz="1250" dirty="0"/>
          </a:p>
        </p:txBody>
      </p:sp>
      <p:sp>
        <p:nvSpPr>
          <p:cNvPr id="22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p.4–6</a:t>
            </a:r>
            <a:endParaRPr lang="en-US" sz="1050" dirty="0"/>
          </a:p>
        </p:txBody>
      </p:sp>
      <p:sp>
        <p:nvSpPr>
          <p:cNvPr id="23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条件のどこが強く、どこが弱いかを一覧し、構造評価 C の内訳を示す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 条件は S1・B7・C4(条件9 は対象外)。弱点は「コア事業の資本」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「安い理由」「商品性」「アーキタイプ」の 4 つに集中する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条件の評価一覧(評価の色は全スライド共通: S 濃緑・A 緑・B 薄緑・C アンバー・対象外は灰)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第3章(条件別の構造分析)、銘柄分析メソッド Phase 3・6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8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926080"/>
                <a:gridCol w="685800"/>
                <a:gridCol w="5120640"/>
                <a:gridCol w="213055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根拠(一文)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監視 KPI(C のみ)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 年の価格決定力・競争優位・成長性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預金は競合より 0.2〜0.6pt 安く集まり会員は +35% だが、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ローンの価格は市場並み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コア事業の潤沢なキャッシュフロー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定常なら稼ぐが ROTCE 7〜9% は資本コスト 13.9% 未満。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成長は自前の資本生成の約 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16% / 14%、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/ 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コア資産の新しい収益線への転用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年 5.6 億ドル、FS 手数料 +81%、クロスバイ 51%。Galileo は −23%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日本株か米国株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NASDAQ 上場の米国企業(前提条件)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経営陣の経歴と資本配分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資本市場・財務の経歴で銀行化と黒字化を実現。貸出は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消費者金融の経験者が率いる。報酬は TBV の総額に連動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 年 EPS 成長率 30% 以上で PEG&lt;1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 CAGR 約 30%・PEG 0.8 前後で数値は満たすが、2029 年以降は 20% 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 PEG の理由がリスクの過大評価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安さの主因は金利に弱い評価・資本・信用という実在のリスク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個人ローンマーク 104% / 103%、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4.0% / 4.8%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コモディティでない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ローンは買い手がほぼ額面と手数料で買う市場の商品。金利帯も競合と重なる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NIM 5.8% / 5.3%、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手数料率 4.5% / 3.5%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停めない運用に不可欠(AI 関連のみ)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N/A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 の部品・サービスの供給者ではないため対象外(集計から除外)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無形資産の陳腐化リスク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ブランドと会員の関係は長寿命。技術基盤は Chime の内製化で代替されうる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模倣困難・代替不可能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銀行免許・会員・預金の再現に数年。ただし同じ型の競合(LendingClub)がいる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従量・継続型の収益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残高に課金する利ざやと継続手数料が約 76%。個人ローンは 2〜3 年で返済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アーキタイプ照合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 7 割を自社で抱え、信用サイクルの損失を負う(MU 型寄り)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保有比率 65% / 75%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note_kpi"/>
          <p:cNvSpPr txBox="1"/>
          <p:nvPr/>
        </p:nvSpPr>
        <p:spPr>
          <a:xfrm>
            <a:off x="457200" y="5897880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は「合格ライン / 撤退ライン」。条件9 は対象外のため、評価の集計から除く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集計の規則(拒否権・C 上限・対評価)を当てた結果を示し、評価に恣意がないことを確かめる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が 4 条件あり「C×4 なら B 以上にしない」が発動して構造評価は C。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拒否権は発動せず、条件6 は条件7 との対評価で上限を B とした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構造評価の導出: 評価分布 → 適用ルール → 構造評価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Phase 6、本資料の評価一覧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flow_h0"/>
          <p:cNvSpPr txBox="1"/>
          <p:nvPr/>
        </p:nvSpPr>
        <p:spPr>
          <a:xfrm>
            <a:off x="457200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入力: 13 条件の評価</a:t>
            </a:r>
            <a:endParaRPr lang="en-US" sz="1100" dirty="0"/>
          </a:p>
        </p:txBody>
      </p:sp>
      <p:sp>
        <p:nvSpPr>
          <p:cNvPr id="20" name="ovl_fbox0_0"/>
          <p:cNvSpPr/>
          <p:nvPr/>
        </p:nvSpPr>
        <p:spPr>
          <a:xfrm>
            <a:off x="457200" y="194767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1" name="flow_t0_0"/>
          <p:cNvSpPr txBox="1"/>
          <p:nvPr/>
        </p:nvSpPr>
        <p:spPr>
          <a:xfrm>
            <a:off x="530352" y="198424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 × 1(条件4)</a:t>
            </a:r>
            <a:endParaRPr lang="en-US" sz="1000" dirty="0"/>
          </a:p>
        </p:txBody>
      </p:sp>
      <p:sp>
        <p:nvSpPr>
          <p:cNvPr id="22" name="ovl_fbox0_1"/>
          <p:cNvSpPr/>
          <p:nvPr/>
        </p:nvSpPr>
        <p:spPr>
          <a:xfrm>
            <a:off x="457200" y="2880360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3" name="flow_t0_1"/>
          <p:cNvSpPr txBox="1"/>
          <p:nvPr/>
        </p:nvSpPr>
        <p:spPr>
          <a:xfrm>
            <a:off x="530352" y="2916936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× 7(条件1・3・5・6・10・11・12)</a:t>
            </a:r>
            <a:endParaRPr lang="en-US" sz="1000" dirty="0"/>
          </a:p>
        </p:txBody>
      </p:sp>
      <p:sp>
        <p:nvSpPr>
          <p:cNvPr id="24" name="ovl_fbox0_2"/>
          <p:cNvSpPr/>
          <p:nvPr/>
        </p:nvSpPr>
        <p:spPr>
          <a:xfrm>
            <a:off x="457200" y="3813048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2"/>
          <p:cNvSpPr txBox="1"/>
          <p:nvPr/>
        </p:nvSpPr>
        <p:spPr>
          <a:xfrm>
            <a:off x="530352" y="3849624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4(条件2・7・8・13)</a:t>
            </a:r>
            <a:endParaRPr lang="en-US" sz="1000" dirty="0"/>
          </a:p>
        </p:txBody>
      </p:sp>
      <p:sp>
        <p:nvSpPr>
          <p:cNvPr id="26" name="ovl_fbox0_3"/>
          <p:cNvSpPr/>
          <p:nvPr/>
        </p:nvSpPr>
        <p:spPr>
          <a:xfrm>
            <a:off x="457200" y="4745736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27" name="flow_t0_3"/>
          <p:cNvSpPr txBox="1"/>
          <p:nvPr/>
        </p:nvSpPr>
        <p:spPr>
          <a:xfrm>
            <a:off x="530352" y="4782312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対象外 × 1(条件9)</a:t>
            </a:r>
            <a:endParaRPr lang="en-US" sz="1000" dirty="0"/>
          </a:p>
        </p:txBody>
      </p:sp>
      <p:sp>
        <p:nvSpPr>
          <p:cNvPr id="28" name="ovl_farrow0"/>
          <p:cNvSpPr/>
          <p:nvPr/>
        </p:nvSpPr>
        <p:spPr>
          <a:xfrm>
            <a:off x="4003700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9" name="flow_h1"/>
          <p:cNvSpPr txBox="1"/>
          <p:nvPr/>
        </p:nvSpPr>
        <p:spPr>
          <a:xfrm>
            <a:off x="4353458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処理: 適用ルール</a:t>
            </a:r>
            <a:endParaRPr lang="en-US" sz="1100" dirty="0"/>
          </a:p>
        </p:txBody>
      </p:sp>
      <p:sp>
        <p:nvSpPr>
          <p:cNvPr id="30" name="ovl_fbox1_0"/>
          <p:cNvSpPr/>
          <p:nvPr/>
        </p:nvSpPr>
        <p:spPr>
          <a:xfrm>
            <a:off x="4353458" y="2414016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1" name="flow_t1_0"/>
          <p:cNvSpPr txBox="1"/>
          <p:nvPr/>
        </p:nvSpPr>
        <p:spPr>
          <a:xfrm>
            <a:off x="4426610" y="2450592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致命条件の拒否権(E 以下): 非発動</a:t>
            </a:r>
            <a:endParaRPr lang="en-US" sz="1000" dirty="0"/>
          </a:p>
        </p:txBody>
      </p:sp>
      <p:sp>
        <p:nvSpPr>
          <p:cNvPr id="32" name="ovl_fbox1_1"/>
          <p:cNvSpPr/>
          <p:nvPr/>
        </p:nvSpPr>
        <p:spPr>
          <a:xfrm>
            <a:off x="4353458" y="3346704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3" name="flow_t1_1"/>
          <p:cNvSpPr txBox="1"/>
          <p:nvPr/>
        </p:nvSpPr>
        <p:spPr>
          <a:xfrm>
            <a:off x="4426610" y="3383280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条件6・7 の対評価: 発動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(条件7 が C のため条件6 は B が上限)</a:t>
            </a:r>
            <a:endParaRPr lang="en-US" sz="1000" dirty="0"/>
          </a:p>
        </p:txBody>
      </p:sp>
      <p:sp>
        <p:nvSpPr>
          <p:cNvPr id="34" name="ovl_fbox1_2"/>
          <p:cNvSpPr/>
          <p:nvPr/>
        </p:nvSpPr>
        <p:spPr>
          <a:xfrm>
            <a:off x="4353458" y="427939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5" name="flow_t1_2"/>
          <p:cNvSpPr txBox="1"/>
          <p:nvPr/>
        </p:nvSpPr>
        <p:spPr>
          <a:xfrm>
            <a:off x="4426610" y="431596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4 以上で B 以上にしない: 発動(C が 4)</a:t>
            </a:r>
            <a:endParaRPr lang="en-US" sz="1000" dirty="0"/>
          </a:p>
        </p:txBody>
      </p:sp>
      <p:sp>
        <p:nvSpPr>
          <p:cNvPr id="36" name="ovl_farrow1"/>
          <p:cNvSpPr/>
          <p:nvPr/>
        </p:nvSpPr>
        <p:spPr>
          <a:xfrm>
            <a:off x="7899959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7" name="flow_h2"/>
          <p:cNvSpPr txBox="1"/>
          <p:nvPr/>
        </p:nvSpPr>
        <p:spPr>
          <a:xfrm>
            <a:off x="8249717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出力: 構造評価</a:t>
            </a:r>
            <a:endParaRPr lang="en-US" sz="1100" dirty="0"/>
          </a:p>
        </p:txBody>
      </p:sp>
      <p:sp>
        <p:nvSpPr>
          <p:cNvPr id="38" name="ovl_fbox2_0"/>
          <p:cNvSpPr/>
          <p:nvPr/>
        </p:nvSpPr>
        <p:spPr>
          <a:xfrm>
            <a:off x="8249717" y="2560320"/>
            <a:ext cx="3484778" cy="1463040"/>
          </a:xfrm>
          <a:prstGeom prst="roundRect">
            <a:avLst>
              <a:gd name="adj" fmla="val 375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9" name="flow_t2_0"/>
          <p:cNvSpPr txBox="1"/>
          <p:nvPr/>
        </p:nvSpPr>
        <p:spPr>
          <a:xfrm>
            <a:off x="8322869" y="2596896"/>
            <a:ext cx="33384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4000" dirty="0"/>
          </a:p>
        </p:txBody>
      </p:sp>
      <p:sp>
        <p:nvSpPr>
          <p:cNvPr id="40" name="ovl_fbox2_1"/>
          <p:cNvSpPr/>
          <p:nvPr/>
        </p:nvSpPr>
        <p:spPr>
          <a:xfrm>
            <a:off x="8249717" y="4133088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1" name="flow_t2_1"/>
          <p:cNvSpPr txBox="1"/>
          <p:nvPr/>
        </p:nvSpPr>
        <p:spPr>
          <a:xfrm>
            <a:off x="8322869" y="4169664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規則で B 以上にできない。最頻の B ではなく 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どの事業構造が評価を押し上げ、どれが押し下げたかを、原因から結果の順に示す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預金の安い調達と会員の厚みが評価を押し上げ、資本を食う貸出と、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市場価格で決まるローンの商品性が押し下げる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構造的要因サマリー: 構造(だから)→ 条件の評価(となり)→ 構造評価への効き(を動かした)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第3章、calc/out/val.json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800" dirty="0"/>
          </a:p>
        </p:txBody>
      </p:sp>
      <p:sp>
        <p:nvSpPr>
          <p:cNvPr id="19" name="head_up"/>
          <p:cNvSpPr txBox="1"/>
          <p:nvPr/>
        </p:nvSpPr>
        <p:spPr>
          <a:xfrm>
            <a:off x="457200" y="148132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押し上げ要因</a:t>
            </a:r>
            <a:endParaRPr lang="en-US" sz="1200" dirty="0"/>
          </a:p>
        </p:txBody>
      </p:sp>
      <p:sp>
        <p:nvSpPr>
          <p:cNvPr id="20" name="head_down"/>
          <p:cNvSpPr txBox="1"/>
          <p:nvPr/>
        </p:nvSpPr>
        <p:spPr>
          <a:xfrm>
            <a:off x="457200" y="363016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押し下げ要因</a:t>
            </a:r>
            <a:endParaRPr lang="en-US" sz="1200" dirty="0"/>
          </a:p>
        </p:txBody>
      </p:sp>
      <p:sp>
        <p:nvSpPr>
          <p:cNvPr id="21" name="ovl_card_up0"/>
          <p:cNvSpPr/>
          <p:nvPr/>
        </p:nvSpPr>
        <p:spPr>
          <a:xfrm>
            <a:off x="45720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22" name="cn_up0"/>
          <p:cNvSpPr txBox="1"/>
          <p:nvPr/>
        </p:nvSpPr>
        <p:spPr>
          <a:xfrm>
            <a:off x="54864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23" name="ovl_badge"/>
          <p:cNvSpPr/>
          <p:nvPr/>
        </p:nvSpPr>
        <p:spPr>
          <a:xfrm>
            <a:off x="93268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4" name="ovl_badge_t"/>
          <p:cNvSpPr txBox="1"/>
          <p:nvPr/>
        </p:nvSpPr>
        <p:spPr>
          <a:xfrm>
            <a:off x="9326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no_up0_0"/>
          <p:cNvSpPr txBox="1"/>
          <p:nvPr/>
        </p:nvSpPr>
        <p:spPr>
          <a:xfrm>
            <a:off x="134416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ovl_badge"/>
          <p:cNvSpPr/>
          <p:nvPr/>
        </p:nvSpPr>
        <p:spPr>
          <a:xfrm>
            <a:off x="159105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7" name="ovl_badge_t"/>
          <p:cNvSpPr txBox="1"/>
          <p:nvPr/>
        </p:nvSpPr>
        <p:spPr>
          <a:xfrm>
            <a:off x="15910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no_up0_1"/>
          <p:cNvSpPr txBox="1"/>
          <p:nvPr/>
        </p:nvSpPr>
        <p:spPr>
          <a:xfrm>
            <a:off x="200253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50" dirty="0"/>
          </a:p>
        </p:txBody>
      </p:sp>
      <p:sp>
        <p:nvSpPr>
          <p:cNvPr id="29" name="h_up0"/>
          <p:cNvSpPr txBox="1"/>
          <p:nvPr/>
        </p:nvSpPr>
        <p:spPr>
          <a:xfrm>
            <a:off x="54864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安い預金の調達</a:t>
            </a:r>
            <a:endParaRPr lang="en-US" sz="1100" dirty="0"/>
          </a:p>
        </p:txBody>
      </p:sp>
      <p:sp>
        <p:nvSpPr>
          <p:cNvPr id="30" name="b_up0"/>
          <p:cNvSpPr txBox="1"/>
          <p:nvPr/>
        </p:nvSpPr>
        <p:spPr>
          <a:xfrm>
            <a:off x="54864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給与振込の会員が預金の約 9 割を占め、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競合より 0.2〜0.6pt 低い金利で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億ドルを集めて評価を支えた</a:t>
            </a:r>
            <a:endParaRPr lang="en-US" sz="950" dirty="0"/>
          </a:p>
        </p:txBody>
      </p:sp>
      <p:sp>
        <p:nvSpPr>
          <p:cNvPr id="31" name="ovl_card_up1"/>
          <p:cNvSpPr/>
          <p:nvPr/>
        </p:nvSpPr>
        <p:spPr>
          <a:xfrm>
            <a:off x="352044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32" name="cn_up1"/>
          <p:cNvSpPr txBox="1"/>
          <p:nvPr/>
        </p:nvSpPr>
        <p:spPr>
          <a:xfrm>
            <a:off x="361188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33" name="ovl_badge"/>
          <p:cNvSpPr/>
          <p:nvPr/>
        </p:nvSpPr>
        <p:spPr>
          <a:xfrm>
            <a:off x="399592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4" name="ovl_badge_t"/>
          <p:cNvSpPr txBox="1"/>
          <p:nvPr/>
        </p:nvSpPr>
        <p:spPr>
          <a:xfrm>
            <a:off x="3995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35" name="no_up1_0"/>
          <p:cNvSpPr txBox="1"/>
          <p:nvPr/>
        </p:nvSpPr>
        <p:spPr>
          <a:xfrm>
            <a:off x="440740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ovl_badge"/>
          <p:cNvSpPr/>
          <p:nvPr/>
        </p:nvSpPr>
        <p:spPr>
          <a:xfrm>
            <a:off x="465429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7" name="ovl_badge_t"/>
          <p:cNvSpPr txBox="1"/>
          <p:nvPr/>
        </p:nvSpPr>
        <p:spPr>
          <a:xfrm>
            <a:off x="46542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38" name="no_up1_1"/>
          <p:cNvSpPr txBox="1"/>
          <p:nvPr/>
        </p:nvSpPr>
        <p:spPr>
          <a:xfrm>
            <a:off x="506577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50" dirty="0"/>
          </a:p>
        </p:txBody>
      </p:sp>
      <p:sp>
        <p:nvSpPr>
          <p:cNvPr id="39" name="h_up1"/>
          <p:cNvSpPr txBox="1"/>
          <p:nvPr/>
        </p:nvSpPr>
        <p:spPr>
          <a:xfrm>
            <a:off x="361188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会員の厚みとクロスバイ</a:t>
            </a:r>
            <a:endParaRPr lang="en-US" sz="1100" dirty="0"/>
          </a:p>
        </p:txBody>
      </p:sp>
      <p:sp>
        <p:nvSpPr>
          <p:cNvPr id="40" name="b_up1"/>
          <p:cNvSpPr txBox="1"/>
          <p:nvPr/>
        </p:nvSpPr>
        <p:spPr>
          <a:xfrm>
            <a:off x="361188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を既存会員が開き、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と手数料の収益線が増えて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転用と収益の継続性を上げた</a:t>
            </a:r>
            <a:endParaRPr lang="en-US" sz="950" dirty="0"/>
          </a:p>
        </p:txBody>
      </p:sp>
      <p:sp>
        <p:nvSpPr>
          <p:cNvPr id="41" name="ovl_card_up2"/>
          <p:cNvSpPr/>
          <p:nvPr/>
        </p:nvSpPr>
        <p:spPr>
          <a:xfrm>
            <a:off x="658368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2" name="cn_up2"/>
          <p:cNvSpPr txBox="1"/>
          <p:nvPr/>
        </p:nvSpPr>
        <p:spPr>
          <a:xfrm>
            <a:off x="667512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43" name="ovl_badge"/>
          <p:cNvSpPr/>
          <p:nvPr/>
        </p:nvSpPr>
        <p:spPr>
          <a:xfrm>
            <a:off x="705916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4" name="ovl_badge_t"/>
          <p:cNvSpPr txBox="1"/>
          <p:nvPr/>
        </p:nvSpPr>
        <p:spPr>
          <a:xfrm>
            <a:off x="705916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45" name="no_up2_0"/>
          <p:cNvSpPr txBox="1"/>
          <p:nvPr/>
        </p:nvSpPr>
        <p:spPr>
          <a:xfrm>
            <a:off x="747064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h_up2"/>
          <p:cNvSpPr txBox="1"/>
          <p:nvPr/>
        </p:nvSpPr>
        <p:spPr>
          <a:xfrm>
            <a:off x="667512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約束を守る実行力</a:t>
            </a:r>
            <a:endParaRPr lang="en-US" sz="1100" dirty="0"/>
          </a:p>
        </p:txBody>
      </p:sp>
      <p:sp>
        <p:nvSpPr>
          <p:cNvPr id="47" name="b_up2"/>
          <p:cNvSpPr txBox="1"/>
          <p:nvPr/>
        </p:nvSpPr>
        <p:spPr>
          <a:xfrm>
            <a:off x="667512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銀行化と黒字化を約束どおり実現し、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増資は株価の高い時期に行って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TBVPS を +56% にした</a:t>
            </a:r>
            <a:endParaRPr lang="en-US" sz="950" dirty="0"/>
          </a:p>
        </p:txBody>
      </p:sp>
      <p:sp>
        <p:nvSpPr>
          <p:cNvPr id="48" name="ovl_card_down0"/>
          <p:cNvSpPr/>
          <p:nvPr/>
        </p:nvSpPr>
        <p:spPr>
          <a:xfrm>
            <a:off x="457200" y="3977640"/>
            <a:ext cx="283464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9" name="cn_down0"/>
          <p:cNvSpPr txBox="1"/>
          <p:nvPr/>
        </p:nvSpPr>
        <p:spPr>
          <a:xfrm>
            <a:off x="54864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50" name="ovl_badge"/>
          <p:cNvSpPr/>
          <p:nvPr/>
        </p:nvSpPr>
        <p:spPr>
          <a:xfrm>
            <a:off x="93268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51" name="ovl_badge_t"/>
          <p:cNvSpPr txBox="1"/>
          <p:nvPr/>
        </p:nvSpPr>
        <p:spPr>
          <a:xfrm>
            <a:off x="93268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300" dirty="0"/>
          </a:p>
        </p:txBody>
      </p:sp>
      <p:sp>
        <p:nvSpPr>
          <p:cNvPr id="52" name="no_down0_0"/>
          <p:cNvSpPr txBox="1"/>
          <p:nvPr/>
        </p:nvSpPr>
        <p:spPr>
          <a:xfrm>
            <a:off x="1344168" y="406908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50" dirty="0"/>
          </a:p>
        </p:txBody>
      </p:sp>
      <p:sp>
        <p:nvSpPr>
          <p:cNvPr id="53" name="ovl_badge"/>
          <p:cNvSpPr/>
          <p:nvPr/>
        </p:nvSpPr>
        <p:spPr>
          <a:xfrm>
            <a:off x="1591056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54" name="ovl_badge_t"/>
          <p:cNvSpPr txBox="1"/>
          <p:nvPr/>
        </p:nvSpPr>
        <p:spPr>
          <a:xfrm>
            <a:off x="159105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300" dirty="0"/>
          </a:p>
        </p:txBody>
      </p:sp>
      <p:sp>
        <p:nvSpPr>
          <p:cNvPr id="55" name="no_down0_1"/>
          <p:cNvSpPr txBox="1"/>
          <p:nvPr/>
        </p:nvSpPr>
        <p:spPr>
          <a:xfrm>
            <a:off x="2002536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50" dirty="0"/>
          </a:p>
        </p:txBody>
      </p:sp>
      <p:sp>
        <p:nvSpPr>
          <p:cNvPr id="56" name="h_down0"/>
          <p:cNvSpPr txBox="1"/>
          <p:nvPr/>
        </p:nvSpPr>
        <p:spPr>
          <a:xfrm>
            <a:off x="548640" y="4507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資本を食う貸出</a:t>
            </a:r>
            <a:endParaRPr lang="en-US" sz="1100" dirty="0"/>
          </a:p>
        </p:txBody>
      </p:sp>
      <p:sp>
        <p:nvSpPr>
          <p:cNvPr id="57" name="b_down0"/>
          <p:cNvSpPr txBox="1"/>
          <p:nvPr/>
        </p:nvSpPr>
        <p:spPr>
          <a:xfrm>
            <a:off x="548640" y="4818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7 割を自社で抱え、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自己資本比率は半年で 4.1pt 低下。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は資本コストを下回る</a:t>
            </a:r>
            <a:endParaRPr lang="en-US" sz="950" dirty="0"/>
          </a:p>
        </p:txBody>
      </p:sp>
      <p:sp>
        <p:nvSpPr>
          <p:cNvPr id="58" name="ovl_card_down1"/>
          <p:cNvSpPr/>
          <p:nvPr/>
        </p:nvSpPr>
        <p:spPr>
          <a:xfrm>
            <a:off x="3520440" y="3977640"/>
            <a:ext cx="283464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9" name="cn_down1"/>
          <p:cNvSpPr txBox="1"/>
          <p:nvPr/>
        </p:nvSpPr>
        <p:spPr>
          <a:xfrm>
            <a:off x="361188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60" name="ovl_badge"/>
          <p:cNvSpPr/>
          <p:nvPr/>
        </p:nvSpPr>
        <p:spPr>
          <a:xfrm>
            <a:off x="399592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61" name="ovl_badge_t"/>
          <p:cNvSpPr txBox="1"/>
          <p:nvPr/>
        </p:nvSpPr>
        <p:spPr>
          <a:xfrm>
            <a:off x="399592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300" dirty="0"/>
          </a:p>
        </p:txBody>
      </p:sp>
      <p:sp>
        <p:nvSpPr>
          <p:cNvPr id="62" name="no_down1_0"/>
          <p:cNvSpPr txBox="1"/>
          <p:nvPr/>
        </p:nvSpPr>
        <p:spPr>
          <a:xfrm>
            <a:off x="4407408" y="406908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50" dirty="0"/>
          </a:p>
        </p:txBody>
      </p:sp>
      <p:sp>
        <p:nvSpPr>
          <p:cNvPr id="63" name="h_down1"/>
          <p:cNvSpPr txBox="1"/>
          <p:nvPr/>
        </p:nvSpPr>
        <p:spPr>
          <a:xfrm>
            <a:off x="3611880" y="4507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ローンの商品性</a:t>
            </a:r>
            <a:endParaRPr lang="en-US" sz="1100" dirty="0"/>
          </a:p>
        </p:txBody>
      </p:sp>
      <p:sp>
        <p:nvSpPr>
          <p:cNvPr id="64" name="b_down1"/>
          <p:cNvSpPr txBox="1"/>
          <p:nvPr/>
        </p:nvSpPr>
        <p:spPr>
          <a:xfrm>
            <a:off x="3611880" y="4818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ローンは買い手がほぼ額面と手数料で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買う市場の商品で、金利帯も競合と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重なり、利ざやを守りにくい</a:t>
            </a:r>
            <a:endParaRPr lang="en-US" sz="950" dirty="0"/>
          </a:p>
        </p:txBody>
      </p:sp>
      <p:sp>
        <p:nvSpPr>
          <p:cNvPr id="65" name="ovl_card_down2"/>
          <p:cNvSpPr/>
          <p:nvPr/>
        </p:nvSpPr>
        <p:spPr>
          <a:xfrm>
            <a:off x="6583680" y="3977640"/>
            <a:ext cx="283464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6" name="cn_down2"/>
          <p:cNvSpPr txBox="1"/>
          <p:nvPr/>
        </p:nvSpPr>
        <p:spPr>
          <a:xfrm>
            <a:off x="667512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67" name="ovl_badge"/>
          <p:cNvSpPr/>
          <p:nvPr/>
        </p:nvSpPr>
        <p:spPr>
          <a:xfrm>
            <a:off x="705916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68" name="ovl_badge_t"/>
          <p:cNvSpPr txBox="1"/>
          <p:nvPr/>
        </p:nvSpPr>
        <p:spPr>
          <a:xfrm>
            <a:off x="705916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300" dirty="0"/>
          </a:p>
        </p:txBody>
      </p:sp>
      <p:sp>
        <p:nvSpPr>
          <p:cNvPr id="69" name="no_down2_0"/>
          <p:cNvSpPr txBox="1"/>
          <p:nvPr/>
        </p:nvSpPr>
        <p:spPr>
          <a:xfrm>
            <a:off x="7470648" y="406908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50" dirty="0"/>
          </a:p>
        </p:txBody>
      </p:sp>
      <p:sp>
        <p:nvSpPr>
          <p:cNvPr id="70" name="h_down2"/>
          <p:cNvSpPr txBox="1"/>
          <p:nvPr/>
        </p:nvSpPr>
        <p:spPr>
          <a:xfrm>
            <a:off x="6675120" y="4507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金利に弱い評価と信用</a:t>
            </a:r>
            <a:endParaRPr lang="en-US" sz="1100" dirty="0"/>
          </a:p>
        </p:txBody>
      </p:sp>
      <p:sp>
        <p:nvSpPr>
          <p:cNvPr id="71" name="b_down2"/>
          <p:cNvSpPr txBox="1"/>
          <p:nvPr/>
        </p:nvSpPr>
        <p:spPr>
          <a:xfrm>
            <a:off x="6675120" y="4818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公正価値の割引率が金利に連動し、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金利上昇でマークが下がる。景気後退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なら貸倒も増える</a:t>
            </a:r>
            <a:endParaRPr lang="en-US" sz="950" dirty="0"/>
          </a:p>
        </p:txBody>
      </p:sp>
      <p:sp>
        <p:nvSpPr>
          <p:cNvPr id="72" name="ovl_band"/>
          <p:cNvSpPr/>
          <p:nvPr/>
        </p:nvSpPr>
        <p:spPr>
          <a:xfrm>
            <a:off x="9829800" y="1828800"/>
            <a:ext cx="1901952" cy="3840480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73" name="ovl_badge"/>
          <p:cNvSpPr/>
          <p:nvPr/>
        </p:nvSpPr>
        <p:spPr>
          <a:xfrm>
            <a:off x="10140696" y="2880360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74" name="ovl_badge_t"/>
          <p:cNvSpPr txBox="1"/>
          <p:nvPr/>
        </p:nvSpPr>
        <p:spPr>
          <a:xfrm>
            <a:off x="10140696" y="2880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4200" dirty="0"/>
          </a:p>
        </p:txBody>
      </p:sp>
      <p:sp>
        <p:nvSpPr>
          <p:cNvPr id="75" name="band_label"/>
          <p:cNvSpPr txBox="1"/>
          <p:nvPr/>
        </p:nvSpPr>
        <p:spPr>
          <a:xfrm>
            <a:off x="9829800" y="42976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400" dirty="0"/>
          </a:p>
        </p:txBody>
      </p:sp>
      <p:sp>
        <p:nvSpPr>
          <p:cNvPr id="76" name="ovl_arrow"/>
          <p:cNvSpPr/>
          <p:nvPr/>
        </p:nvSpPr>
        <p:spPr>
          <a:xfrm>
            <a:off x="9418320" y="2674620"/>
            <a:ext cx="411480" cy="914"/>
          </a:xfrm>
          <a:prstGeom prst="line">
            <a:avLst/>
          </a:prstGeom>
          <a:noFill/>
          <a:ln w="12700">
            <a:solidFill>
              <a:srgbClr val="197A56"/>
            </a:solidFill>
            <a:prstDash val="solid"/>
            <a:tailEnd type="triangle"/>
          </a:ln>
        </p:spPr>
      </p:sp>
      <p:sp>
        <p:nvSpPr>
          <p:cNvPr id="77" name="ovl_arrow"/>
          <p:cNvSpPr/>
          <p:nvPr/>
        </p:nvSpPr>
        <p:spPr>
          <a:xfrm>
            <a:off x="9418320" y="4823460"/>
            <a:ext cx="411480" cy="914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587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why1"/>
          <p:cNvSpPr txBox="1"/>
          <p:nvPr/>
        </p:nvSpPr>
        <p:spPr>
          <a:xfrm>
            <a:off x="1417320" y="30815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何で稼ぎ、会社がどんな筋書きを描き、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資金・資本・信用がそれを支えるかを確かめる。価値評価の前提になる</a:t>
            </a:r>
            <a:endParaRPr lang="en-US" sz="105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730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873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17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18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第2章の構成</a:t>
            </a:r>
            <a:endParaRPr lang="en-US" sz="1300" dirty="0"/>
          </a:p>
        </p:txBody>
      </p:sp>
      <p:sp>
        <p:nvSpPr>
          <p:cNvPr id="19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 事業理解</a:t>
            </a:r>
            <a:endParaRPr lang="en-US" sz="1250" dirty="0"/>
          </a:p>
        </p:txBody>
      </p:sp>
      <p:sp>
        <p:nvSpPr>
          <p:cNvPr id="20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p.8–10</a:t>
            </a:r>
            <a:endParaRPr lang="en-US" sz="1050" dirty="0"/>
          </a:p>
        </p:txBody>
      </p:sp>
      <p:sp>
        <p:nvSpPr>
          <p:cNvPr id="21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 会社のシナリオ</a:t>
            </a:r>
            <a:endParaRPr lang="en-US" sz="1250" dirty="0"/>
          </a:p>
        </p:txBody>
      </p:sp>
      <p:sp>
        <p:nvSpPr>
          <p:cNvPr id="22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p.11–12</a:t>
            </a:r>
            <a:endParaRPr lang="en-US" sz="1050" dirty="0"/>
          </a:p>
        </p:txBody>
      </p:sp>
      <p:sp>
        <p:nvSpPr>
          <p:cNvPr id="23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 収益構造</a:t>
            </a:r>
            <a:endParaRPr lang="en-US" sz="1250" dirty="0"/>
          </a:p>
        </p:txBody>
      </p:sp>
      <p:sp>
        <p:nvSpPr>
          <p:cNvPr id="24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p.13–14</a:t>
            </a:r>
            <a:endParaRPr lang="en-US" sz="1050" dirty="0"/>
          </a:p>
        </p:txBody>
      </p:sp>
      <p:sp>
        <p:nvSpPr>
          <p:cNvPr id="25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 競争優位</a:t>
            </a:r>
            <a:endParaRPr lang="en-US" sz="1250" dirty="0"/>
          </a:p>
        </p:txBody>
      </p:sp>
      <p:sp>
        <p:nvSpPr>
          <p:cNvPr id="26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p.15</a:t>
            </a:r>
            <a:endParaRPr lang="en-US" sz="1050" dirty="0"/>
          </a:p>
        </p:txBody>
      </p:sp>
      <p:sp>
        <p:nvSpPr>
          <p:cNvPr id="27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 資金と信用</a:t>
            </a:r>
            <a:endParaRPr lang="en-US" sz="1250" dirty="0"/>
          </a:p>
        </p:txBody>
      </p:sp>
      <p:sp>
        <p:nvSpPr>
          <p:cNvPr id="28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p.16–17</a:t>
            </a:r>
            <a:endParaRPr lang="en-US" sz="1050" dirty="0"/>
          </a:p>
        </p:txBody>
      </p:sp>
      <p:sp>
        <p:nvSpPr>
          <p:cNvPr id="29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 成長の前提</a:t>
            </a:r>
            <a:endParaRPr lang="en-US" sz="1250" dirty="0"/>
          </a:p>
        </p:txBody>
      </p:sp>
      <p:sp>
        <p:nvSpPr>
          <p:cNvPr id="30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p.18</a:t>
            </a:r>
            <a:endParaRPr lang="en-US" sz="1050" dirty="0"/>
          </a:p>
        </p:txBody>
      </p:sp>
      <p:sp>
        <p:nvSpPr>
          <p:cNvPr id="31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が何を誰にどう売るかを押さえる。以降の分析はすべてこの区分の上に立つ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は会員 1,580 万人に預金・投資・ローンを重ねて売る。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3 分の 2 は、預金で安く集めた資金の貸出の利ざや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事業の積み木(何を、どの資金で売るか)。右: 8 群の 5W1H 台帳。下: この資料で使う用語の注釈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決算・10-Q)、research_r2/R9_products_people.md(各社の価格表の第三者集計)、research_r2/R5・R6。Q2 2026 = 2026 年 4〜6 月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800" dirty="0"/>
          </a:p>
        </p:txBody>
      </p:sp>
      <p:sp>
        <p:nvSpPr>
          <p:cNvPr id="19" name="pane_head"/>
          <p:cNvSpPr txBox="1"/>
          <p:nvPr/>
        </p:nvSpPr>
        <p:spPr>
          <a:xfrm>
            <a:off x="457200" y="14813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事業の積み木(層 × 資金の出どころ)</a:t>
            </a:r>
            <a:endParaRPr lang="en-US" sz="1200" dirty="0"/>
          </a:p>
        </p:txBody>
      </p:sp>
      <p:sp>
        <p:nvSpPr>
          <p:cNvPr id="20" name="blk_colh0"/>
          <p:cNvSpPr txBox="1"/>
          <p:nvPr/>
        </p:nvSpPr>
        <p:spPr>
          <a:xfrm>
            <a:off x="137160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(B/S)</a:t>
            </a:r>
            <a:endParaRPr lang="en-US" sz="900" dirty="0"/>
          </a:p>
        </p:txBody>
      </p:sp>
      <p:sp>
        <p:nvSpPr>
          <p:cNvPr id="21" name="blk_colh1"/>
          <p:cNvSpPr txBox="1"/>
          <p:nvPr/>
        </p:nvSpPr>
        <p:spPr>
          <a:xfrm>
            <a:off x="242316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(LPB)</a:t>
            </a:r>
            <a:endParaRPr lang="en-US" sz="900" dirty="0"/>
          </a:p>
        </p:txBody>
      </p:sp>
      <p:sp>
        <p:nvSpPr>
          <p:cNvPr id="22" name="blk_colh2"/>
          <p:cNvSpPr txBox="1"/>
          <p:nvPr/>
        </p:nvSpPr>
        <p:spPr>
          <a:xfrm>
            <a:off x="347472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他社へ提供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(B2B)</a:t>
            </a:r>
            <a:endParaRPr lang="en-US" sz="900" dirty="0"/>
          </a:p>
        </p:txBody>
      </p:sp>
      <p:sp>
        <p:nvSpPr>
          <p:cNvPr id="23" name="blk_rowh0"/>
          <p:cNvSpPr txBox="1"/>
          <p:nvPr/>
        </p:nvSpPr>
        <p:spPr>
          <a:xfrm>
            <a:off x="457200" y="2103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</a:t>
            </a:r>
            <a:endParaRPr lang="en-US" sz="900" dirty="0"/>
          </a:p>
        </p:txBody>
      </p:sp>
      <p:sp>
        <p:nvSpPr>
          <p:cNvPr id="24" name="blk_rowh1"/>
          <p:cNvSpPr txBox="1"/>
          <p:nvPr/>
        </p:nvSpPr>
        <p:spPr>
          <a:xfrm>
            <a:off x="457200" y="28346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預ける・使う</a:t>
            </a:r>
            <a:endParaRPr lang="en-US" sz="900" dirty="0"/>
          </a:p>
        </p:txBody>
      </p:sp>
      <p:sp>
        <p:nvSpPr>
          <p:cNvPr id="25" name="blk_rowh2"/>
          <p:cNvSpPr txBox="1"/>
          <p:nvPr/>
        </p:nvSpPr>
        <p:spPr>
          <a:xfrm>
            <a:off x="457200" y="35661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増やす</a:t>
            </a:r>
            <a:endParaRPr lang="en-US" sz="900" dirty="0"/>
          </a:p>
        </p:txBody>
      </p:sp>
      <p:sp>
        <p:nvSpPr>
          <p:cNvPr id="26" name="blk_rowh3"/>
          <p:cNvSpPr txBox="1"/>
          <p:nvPr/>
        </p:nvSpPr>
        <p:spPr>
          <a:xfrm>
            <a:off x="457200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</a:t>
            </a:r>
            <a:endParaRPr lang="en-US" sz="900" dirty="0"/>
          </a:p>
        </p:txBody>
      </p:sp>
      <p:sp>
        <p:nvSpPr>
          <p:cNvPr id="27" name="blk_c00"/>
          <p:cNvSpPr/>
          <p:nvPr/>
        </p:nvSpPr>
        <p:spPr>
          <a:xfrm>
            <a:off x="137160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850" dirty="0"/>
          </a:p>
        </p:txBody>
      </p:sp>
      <p:sp>
        <p:nvSpPr>
          <p:cNvPr id="28" name="blk_c01"/>
          <p:cNvSpPr/>
          <p:nvPr/>
        </p:nvSpPr>
        <p:spPr>
          <a:xfrm>
            <a:off x="242316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197A56"/>
          </a:solidFill>
          <a:ln w="9525">
            <a:solidFill>
              <a:srgbClr val="197A5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(個人・中小企業・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ホームエクイティ)</a:t>
            </a:r>
            <a:endParaRPr lang="en-US" sz="850" dirty="0"/>
          </a:p>
        </p:txBody>
      </p:sp>
      <p:sp>
        <p:nvSpPr>
          <p:cNvPr id="29" name="blk_c02"/>
          <p:cNvSpPr/>
          <p:nvPr/>
        </p:nvSpPr>
        <p:spPr>
          <a:xfrm>
            <a:off x="347472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blk_c10"/>
          <p:cNvSpPr/>
          <p:nvPr/>
        </p:nvSpPr>
        <p:spPr>
          <a:xfrm>
            <a:off x="137160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(預金・カード)</a:t>
            </a:r>
            <a:endParaRPr lang="en-US" sz="850" dirty="0"/>
          </a:p>
        </p:txBody>
      </p:sp>
      <p:sp>
        <p:nvSpPr>
          <p:cNvPr id="31" name="blk_c11"/>
          <p:cNvSpPr/>
          <p:nvPr/>
        </p:nvSpPr>
        <p:spPr>
          <a:xfrm>
            <a:off x="242316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</p:txBody>
      </p:sp>
      <p:sp>
        <p:nvSpPr>
          <p:cNvPr id="32" name="blk_c12"/>
          <p:cNvSpPr/>
          <p:nvPr/>
        </p:nvSpPr>
        <p:spPr>
          <a:xfrm>
            <a:off x="347472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法人銀行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(Big 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Banking)</a:t>
            </a:r>
            <a:endParaRPr lang="en-US" sz="850" dirty="0"/>
          </a:p>
        </p:txBody>
      </p:sp>
      <p:sp>
        <p:nvSpPr>
          <p:cNvPr id="33" name="blk_c20"/>
          <p:cNvSpPr/>
          <p:nvPr/>
        </p:nvSpPr>
        <p:spPr>
          <a:xfrm>
            <a:off x="137160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Plus(月 10 ドル)</a:t>
            </a:r>
            <a:endParaRPr lang="en-US" sz="850" dirty="0"/>
          </a:p>
        </p:txBody>
      </p:sp>
      <p:sp>
        <p:nvSpPr>
          <p:cNvPr id="34" name="blk_c21"/>
          <p:cNvSpPr/>
          <p:nvPr/>
        </p:nvSpPr>
        <p:spPr>
          <a:xfrm>
            <a:off x="242316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5" name="blk_c22"/>
          <p:cNvSpPr/>
          <p:nvPr/>
        </p:nvSpPr>
        <p:spPr>
          <a:xfrm>
            <a:off x="347472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(口座の基盤)</a:t>
            </a:r>
            <a:endParaRPr lang="en-US" sz="850" dirty="0"/>
          </a:p>
        </p:txBody>
      </p:sp>
      <p:sp>
        <p:nvSpPr>
          <p:cNvPr id="36" name="blk_base"/>
          <p:cNvSpPr/>
          <p:nvPr/>
        </p:nvSpPr>
        <p:spPr>
          <a:xfrm>
            <a:off x="1371600" y="429768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銀行免許(SoFi Bank, N.A.、2022 年)と自社の技術基盤</a:t>
            </a:r>
            <a:endParaRPr lang="en-US" sz="850" dirty="0"/>
          </a:p>
        </p:txBody>
      </p:sp>
      <p:sp>
        <p:nvSpPr>
          <p:cNvPr id="37" name="blk_legend"/>
          <p:cNvSpPr txBox="1"/>
          <p:nvPr/>
        </p:nvSpPr>
        <p:spPr>
          <a:xfrm>
            <a:off x="457200" y="4754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濃緑 = 利益の柱、緑 = 成長、薄緑 = 上積み</a:t>
            </a:r>
            <a:endParaRPr lang="en-US" sz="850" dirty="0"/>
          </a:p>
        </p:txBody>
      </p:sp>
      <p:sp>
        <p:nvSpPr>
          <p:cNvPr id="38" name="pane_head"/>
          <p:cNvSpPr txBox="1"/>
          <p:nvPr/>
        </p:nvSpPr>
        <p:spPr>
          <a:xfrm>
            <a:off x="4709160" y="1481328"/>
            <a:ext cx="7022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群の 5W1H 台帳(規模は Q2 2026)</a:t>
            </a:r>
            <a:endParaRPr lang="en-US" sz="12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810512"/>
          <a:ext cx="702259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2011680"/>
                <a:gridCol w="1463040"/>
                <a:gridCol w="7132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誰が買う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何を・どう課金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規模(前年比)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役割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(B/S で保有)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746・年収 15.8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ドルの会員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 6.99〜35.49%・手数料 0〜7%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13.0%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261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107 億(+54%)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(借換・大学院)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765 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大学院生(Grad PLUS 廃止)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 固定 2.45〜14.83%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5.9%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161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27 億(+170%)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Blue Owl・Fortress など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投資家と銀行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組成して引き渡し、手数料 4.6%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サービシングは保持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1.41 億(+11%)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Money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(預金・カード)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給与振込の会員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(預金の約 9 割)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 3.30%(条件付き)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インターチェンジ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455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790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Invest・Plus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個人投資家・会員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売買手数料 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は月 10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390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有料 20.6 万人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住宅ローン・HE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住宅を持つ会員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固定金利。売却または 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14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(+74%)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フィンテック・銀行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口座数・処理件数に課金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0.85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(−23%)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縮小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中小企業・法人・会員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中小企業ローン・SoFiUSD・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暗号資産・法人銀行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流通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0" name="pane_head"/>
          <p:cNvSpPr txBox="1"/>
          <p:nvPr/>
        </p:nvSpPr>
        <p:spPr>
          <a:xfrm>
            <a:off x="457200" y="51023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用語の注釈(この資料に出てくる順)</a:t>
            </a:r>
            <a:endParaRPr lang="en-US" sz="1200" dirty="0"/>
          </a:p>
        </p:txBody>
      </p:sp>
      <p:sp>
        <p:nvSpPr>
          <p:cNvPr id="41" name="note_0"/>
          <p:cNvSpPr txBox="1"/>
          <p:nvPr/>
        </p:nvSpPr>
        <p:spPr>
          <a:xfrm>
            <a:off x="45720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の製品を 1 つ以上持つ顧客。1,580 万人(+35%)</a:t>
            </a:r>
            <a:endParaRPr lang="en-US" sz="850" dirty="0"/>
          </a:p>
        </p:txBody>
      </p:sp>
      <p:sp>
        <p:nvSpPr>
          <p:cNvPr id="42" name="note_1"/>
          <p:cNvSpPr txBox="1"/>
          <p:nvPr/>
        </p:nvSpPr>
        <p:spPr>
          <a:xfrm>
            <a:off x="45720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会員が持つ口座・ローンの数。会員当たり 1.54</a:t>
            </a:r>
            <a:endParaRPr lang="en-US" sz="850" dirty="0"/>
          </a:p>
        </p:txBody>
      </p:sp>
      <p:sp>
        <p:nvSpPr>
          <p:cNvPr id="43" name="note_2"/>
          <p:cNvSpPr txBox="1"/>
          <p:nvPr/>
        </p:nvSpPr>
        <p:spPr>
          <a:xfrm>
            <a:off x="45720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新製品のうち既存会員が開いた比率。51%</a:t>
            </a:r>
            <a:endParaRPr lang="en-US" sz="850" dirty="0"/>
          </a:p>
        </p:txBody>
      </p:sp>
      <p:sp>
        <p:nvSpPr>
          <p:cNvPr id="44" name="note_3"/>
          <p:cNvSpPr txBox="1"/>
          <p:nvPr/>
        </p:nvSpPr>
        <p:spPr>
          <a:xfrm>
            <a:off x="45720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他社の資金でローンを組成し手数料を得る事業</a:t>
            </a:r>
            <a:endParaRPr lang="en-US" sz="850" dirty="0"/>
          </a:p>
        </p:txBody>
      </p:sp>
      <p:sp>
        <p:nvSpPr>
          <p:cNvPr id="45" name="note_4"/>
          <p:cNvSpPr txBox="1"/>
          <p:nvPr/>
        </p:nvSpPr>
        <p:spPr>
          <a:xfrm>
            <a:off x="425196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利付資産に対する純金利収益の比率。5.98%</a:t>
            </a:r>
            <a:endParaRPr lang="en-US" sz="850" dirty="0"/>
          </a:p>
        </p:txBody>
      </p:sp>
      <p:sp>
        <p:nvSpPr>
          <p:cNvPr id="46" name="note_5"/>
          <p:cNvSpPr txBox="1"/>
          <p:nvPr/>
        </p:nvSpPr>
        <p:spPr>
          <a:xfrm>
            <a:off x="425196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公正価値(マーク)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ローンを時価で評価した額面比。個人 104.7%</a:t>
            </a:r>
            <a:endParaRPr lang="en-US" sz="850" dirty="0"/>
          </a:p>
        </p:txBody>
      </p:sp>
      <p:sp>
        <p:nvSpPr>
          <p:cNvPr id="47" name="note_6"/>
          <p:cNvSpPr txBox="1"/>
          <p:nvPr/>
        </p:nvSpPr>
        <p:spPr>
          <a:xfrm>
            <a:off x="425196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貸倒率(all-in)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売却した延滞債権を足し戻した純償却率</a:t>
            </a:r>
            <a:endParaRPr lang="en-US" sz="850" dirty="0"/>
          </a:p>
        </p:txBody>
      </p:sp>
      <p:sp>
        <p:nvSpPr>
          <p:cNvPr id="48" name="note_7"/>
          <p:cNvSpPr txBox="1"/>
          <p:nvPr/>
        </p:nvSpPr>
        <p:spPr>
          <a:xfrm>
            <a:off x="425196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有形自己資本に対する利益率。7〜9%</a:t>
            </a:r>
            <a:endParaRPr lang="en-US" sz="850" dirty="0"/>
          </a:p>
        </p:txBody>
      </p:sp>
      <p:sp>
        <p:nvSpPr>
          <p:cNvPr id="49" name="note_8"/>
          <p:cNvSpPr txBox="1"/>
          <p:nvPr/>
        </p:nvSpPr>
        <p:spPr>
          <a:xfrm>
            <a:off x="804672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TBV(TBVPS)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有形自己資本(1 株当たり 7.34 ドル)</a:t>
            </a:r>
            <a:endParaRPr lang="en-US" sz="850" dirty="0"/>
          </a:p>
        </p:txBody>
      </p:sp>
      <p:sp>
        <p:nvSpPr>
          <p:cNvPr id="50" name="note_9"/>
          <p:cNvSpPr txBox="1"/>
          <p:nvPr/>
        </p:nvSpPr>
        <p:spPr>
          <a:xfrm>
            <a:off x="804672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自己資本 ÷ リスク資産(RWA)。18.8%</a:t>
            </a:r>
            <a:endParaRPr lang="en-US" sz="850" dirty="0"/>
          </a:p>
        </p:txBody>
      </p:sp>
      <p:sp>
        <p:nvSpPr>
          <p:cNvPr id="51" name="note_10"/>
          <p:cNvSpPr txBox="1"/>
          <p:nvPr/>
        </p:nvSpPr>
        <p:spPr>
          <a:xfrm>
            <a:off x="804672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銀行から借りる短期の資金枠。預金より高い</a:t>
            </a:r>
            <a:endParaRPr lang="en-US" sz="850" dirty="0"/>
          </a:p>
        </p:txBody>
      </p:sp>
      <p:sp>
        <p:nvSpPr>
          <p:cNvPr id="52" name="note_11"/>
          <p:cNvSpPr txBox="1"/>
          <p:nvPr/>
        </p:nvSpPr>
        <p:spPr>
          <a:xfrm>
            <a:off x="804672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Bank が発行するドル連動のステーブルコイン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事業どうしが会員と資金をどう受け渡すかを見る。単体の売上より、つながりが成長を生むため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会員の預金が安い資金となって自社の貸出を支え、資本で抱えきれない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ローンは手数料を取って外部の投資家へ流す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会員 → SoFi の事業(資金を集める柱 → 稼ぐ柱)→ 資金の出し手・提携先。①〜⑦ は右の「仕組み」と対応。数値は Q2 2026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決算・10-Q)、research_r2/R5_credit_fv.md・R6_pnl_margin.md・R7_funding_rates_capital.md、research/R1b_kpi.md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800" dirty="0"/>
          </a:p>
        </p:txBody>
      </p:sp>
      <p:sp>
        <p:nvSpPr>
          <p:cNvPr id="19" name="bg_lane0"/>
          <p:cNvSpPr/>
          <p:nvPr/>
        </p:nvSpPr>
        <p:spPr>
          <a:xfrm>
            <a:off x="347472" y="1517904"/>
            <a:ext cx="149961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bg_laneh0"/>
          <p:cNvSpPr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bg_lanet0"/>
          <p:cNvSpPr txBox="1"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会員(顧客)</a:t>
            </a:r>
            <a:endParaRPr lang="en-US" sz="950" dirty="0"/>
          </a:p>
        </p:txBody>
      </p:sp>
      <p:sp>
        <p:nvSpPr>
          <p:cNvPr id="22" name="bg_lane1"/>
          <p:cNvSpPr/>
          <p:nvPr/>
        </p:nvSpPr>
        <p:spPr>
          <a:xfrm>
            <a:off x="2420112" y="1517904"/>
            <a:ext cx="380085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bg_laneh1"/>
          <p:cNvSpPr/>
          <p:nvPr/>
        </p:nvSpPr>
        <p:spPr>
          <a:xfrm>
            <a:off x="2420112" y="1517904"/>
            <a:ext cx="380085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4" name="bg_lanet1"/>
          <p:cNvSpPr txBox="1"/>
          <p:nvPr/>
        </p:nvSpPr>
        <p:spPr>
          <a:xfrm>
            <a:off x="2420112" y="1517904"/>
            <a:ext cx="380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</a:t>
            </a:r>
            <a:endParaRPr lang="en-US" sz="950" dirty="0"/>
          </a:p>
        </p:txBody>
      </p:sp>
      <p:sp>
        <p:nvSpPr>
          <p:cNvPr id="25" name="bg_lane2"/>
          <p:cNvSpPr/>
          <p:nvPr/>
        </p:nvSpPr>
        <p:spPr>
          <a:xfrm>
            <a:off x="6793992" y="1517904"/>
            <a:ext cx="15910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bg_laneh2"/>
          <p:cNvSpPr/>
          <p:nvPr/>
        </p:nvSpPr>
        <p:spPr>
          <a:xfrm>
            <a:off x="679399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bg_lanet2"/>
          <p:cNvSpPr txBox="1"/>
          <p:nvPr/>
        </p:nvSpPr>
        <p:spPr>
          <a:xfrm>
            <a:off x="679399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資金の出し手・提携先</a:t>
            </a:r>
            <a:endParaRPr lang="en-US" sz="950" dirty="0"/>
          </a:p>
        </p:txBody>
      </p:sp>
      <p:sp>
        <p:nvSpPr>
          <p:cNvPr id="28" name="ovl_grp0"/>
          <p:cNvSpPr/>
          <p:nvPr/>
        </p:nvSpPr>
        <p:spPr>
          <a:xfrm>
            <a:off x="2465832" y="1911096"/>
            <a:ext cx="1499616" cy="2753650"/>
          </a:xfrm>
          <a:prstGeom prst="roundRect">
            <a:avLst>
              <a:gd name="adj" fmla="val 36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29" name="ovl_grp1"/>
          <p:cNvSpPr/>
          <p:nvPr/>
        </p:nvSpPr>
        <p:spPr>
          <a:xfrm>
            <a:off x="4629912" y="1911096"/>
            <a:ext cx="1545336" cy="3689822"/>
          </a:xfrm>
          <a:prstGeom prst="roundRect">
            <a:avLst>
              <a:gd name="adj" fmla="val 35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0" name="ovl_s08b_e0_0"/>
          <p:cNvSpPr/>
          <p:nvPr/>
        </p:nvSpPr>
        <p:spPr>
          <a:xfrm>
            <a:off x="1737360" y="2351750"/>
            <a:ext cx="7924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1" name="ovl_s08b_e1_0"/>
          <p:cNvSpPr/>
          <p:nvPr/>
        </p:nvSpPr>
        <p:spPr>
          <a:xfrm>
            <a:off x="3901440" y="2351750"/>
            <a:ext cx="7924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2" name="ovl_s08b_e2_0"/>
          <p:cNvSpPr/>
          <p:nvPr/>
        </p:nvSpPr>
        <p:spPr>
          <a:xfrm flipV="1">
            <a:off x="1298448" y="2962656"/>
            <a:ext cx="914" cy="436735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3" name="ovl_s08b_e2_1"/>
          <p:cNvSpPr/>
          <p:nvPr/>
        </p:nvSpPr>
        <p:spPr>
          <a:xfrm>
            <a:off x="1298448" y="2962656"/>
            <a:ext cx="3921252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4" name="ovl_s08b_e2_2"/>
          <p:cNvSpPr/>
          <p:nvPr/>
        </p:nvSpPr>
        <p:spPr>
          <a:xfrm flipV="1">
            <a:off x="5219700" y="2708366"/>
            <a:ext cx="914" cy="254290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08b_e3_0"/>
          <p:cNvSpPr/>
          <p:nvPr/>
        </p:nvSpPr>
        <p:spPr>
          <a:xfrm>
            <a:off x="5036820" y="2708366"/>
            <a:ext cx="914" cy="98842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36" name="ovl_s08b_e3_1"/>
          <p:cNvSpPr/>
          <p:nvPr/>
        </p:nvSpPr>
        <p:spPr>
          <a:xfrm flipH="1">
            <a:off x="896112" y="2807208"/>
            <a:ext cx="4140708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37" name="ovl_s08b_e3_2"/>
          <p:cNvSpPr/>
          <p:nvPr/>
        </p:nvSpPr>
        <p:spPr>
          <a:xfrm>
            <a:off x="896112" y="2807208"/>
            <a:ext cx="914" cy="592183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8" name="ovl_s08b_e4_0"/>
          <p:cNvSpPr/>
          <p:nvPr/>
        </p:nvSpPr>
        <p:spPr>
          <a:xfrm>
            <a:off x="5402580" y="2708366"/>
            <a:ext cx="914" cy="691025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9" name="ovl_s08b_e5_0"/>
          <p:cNvSpPr/>
          <p:nvPr/>
        </p:nvSpPr>
        <p:spPr>
          <a:xfrm>
            <a:off x="6111240" y="3673711"/>
            <a:ext cx="79248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0" name="ovl_s08b_e6_0"/>
          <p:cNvSpPr/>
          <p:nvPr/>
        </p:nvSpPr>
        <p:spPr>
          <a:xfrm flipH="1">
            <a:off x="6111240" y="3838303"/>
            <a:ext cx="7924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1" name="ovl_s08b_e7_0"/>
          <p:cNvSpPr/>
          <p:nvPr/>
        </p:nvSpPr>
        <p:spPr>
          <a:xfrm>
            <a:off x="7589520" y="2708366"/>
            <a:ext cx="914" cy="565186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2" name="ovl_s08b_e7_1"/>
          <p:cNvSpPr/>
          <p:nvPr/>
        </p:nvSpPr>
        <p:spPr>
          <a:xfrm flipH="1">
            <a:off x="3215640" y="3273552"/>
            <a:ext cx="4373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3" name="ovl_s08b_e7_2"/>
          <p:cNvSpPr/>
          <p:nvPr/>
        </p:nvSpPr>
        <p:spPr>
          <a:xfrm>
            <a:off x="3215640" y="3273552"/>
            <a:ext cx="914" cy="125839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4" name="ovl_s08b_e8_0"/>
          <p:cNvSpPr/>
          <p:nvPr/>
        </p:nvSpPr>
        <p:spPr>
          <a:xfrm>
            <a:off x="3901440" y="3756007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5" name="ovl_s08b_e8_1"/>
          <p:cNvSpPr/>
          <p:nvPr/>
        </p:nvSpPr>
        <p:spPr>
          <a:xfrm flipV="1">
            <a:off x="4297680" y="2461478"/>
            <a:ext cx="914" cy="1294529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6" name="ovl_s08b_e8_2"/>
          <p:cNvSpPr/>
          <p:nvPr/>
        </p:nvSpPr>
        <p:spPr>
          <a:xfrm>
            <a:off x="4297680" y="2461478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08b_e9_0"/>
          <p:cNvSpPr/>
          <p:nvPr/>
        </p:nvSpPr>
        <p:spPr>
          <a:xfrm flipV="1">
            <a:off x="868680" y="4434840"/>
            <a:ext cx="914" cy="36880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8" name="ovl_s08b_e9_1"/>
          <p:cNvSpPr/>
          <p:nvPr/>
        </p:nvSpPr>
        <p:spPr>
          <a:xfrm>
            <a:off x="868680" y="4434840"/>
            <a:ext cx="43510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9" name="ovl_s08b_e9_2"/>
          <p:cNvSpPr/>
          <p:nvPr/>
        </p:nvSpPr>
        <p:spPr>
          <a:xfrm>
            <a:off x="5219700" y="4434840"/>
            <a:ext cx="914" cy="36880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50" name="ovl_s08b_e10_0"/>
          <p:cNvSpPr/>
          <p:nvPr/>
        </p:nvSpPr>
        <p:spPr>
          <a:xfrm flipV="1">
            <a:off x="5585460" y="4187952"/>
            <a:ext cx="914" cy="615696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1" name="ovl_s08b_e10_1"/>
          <p:cNvSpPr/>
          <p:nvPr/>
        </p:nvSpPr>
        <p:spPr>
          <a:xfrm flipH="1">
            <a:off x="1325880" y="4187952"/>
            <a:ext cx="42595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2" name="ovl_s08b_e10_2"/>
          <p:cNvSpPr/>
          <p:nvPr/>
        </p:nvSpPr>
        <p:spPr>
          <a:xfrm flipV="1">
            <a:off x="1325880" y="4112623"/>
            <a:ext cx="914" cy="75329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3" name="ovl_s08b_e11_0"/>
          <p:cNvSpPr/>
          <p:nvPr/>
        </p:nvSpPr>
        <p:spPr>
          <a:xfrm>
            <a:off x="7589520" y="5516880"/>
            <a:ext cx="914" cy="152400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4" name="ovl_s08b_e11_1"/>
          <p:cNvSpPr/>
          <p:nvPr/>
        </p:nvSpPr>
        <p:spPr>
          <a:xfrm flipH="1">
            <a:off x="3215640" y="5669280"/>
            <a:ext cx="4373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5" name="ovl_s08b_e11_2"/>
          <p:cNvSpPr/>
          <p:nvPr/>
        </p:nvSpPr>
        <p:spPr>
          <a:xfrm flipV="1">
            <a:off x="3215640" y="5516880"/>
            <a:ext cx="914" cy="152400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56" name="ovl_s08b_n_dd"/>
          <p:cNvSpPr/>
          <p:nvPr/>
        </p:nvSpPr>
        <p:spPr>
          <a:xfrm>
            <a:off x="457200" y="1995134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7" name="ovl_s08b_nt_dd"/>
          <p:cNvSpPr txBox="1"/>
          <p:nvPr/>
        </p:nvSpPr>
        <p:spPr>
          <a:xfrm>
            <a:off x="493776" y="20225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58" name="ovl_s08b_ns_dd"/>
          <p:cNvSpPr txBox="1"/>
          <p:nvPr/>
        </p:nvSpPr>
        <p:spPr>
          <a:xfrm>
            <a:off x="502920" y="2228306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万人(+35%)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預金の約 9 割</a:t>
            </a:r>
            <a:endParaRPr lang="en-US" sz="850" dirty="0"/>
          </a:p>
        </p:txBody>
      </p:sp>
      <p:sp>
        <p:nvSpPr>
          <p:cNvPr id="59" name="ovl_s08b_n_borrow"/>
          <p:cNvSpPr/>
          <p:nvPr/>
        </p:nvSpPr>
        <p:spPr>
          <a:xfrm>
            <a:off x="457200" y="3399391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0" name="ovl_s08b_nt_borrow"/>
          <p:cNvSpPr txBox="1"/>
          <p:nvPr/>
        </p:nvSpPr>
        <p:spPr>
          <a:xfrm>
            <a:off x="493776" y="3426823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61" name="ovl_s08b_ns_borrow"/>
          <p:cNvSpPr txBox="1"/>
          <p:nvPr/>
        </p:nvSpPr>
        <p:spPr>
          <a:xfrm>
            <a:off x="502920" y="3632563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年収 15.8 万ドル</a:t>
            </a:r>
            <a:endParaRPr lang="en-US" sz="850" dirty="0"/>
          </a:p>
        </p:txBody>
      </p:sp>
      <p:sp>
        <p:nvSpPr>
          <p:cNvPr id="62" name="ovl_s08b_n_inv"/>
          <p:cNvSpPr/>
          <p:nvPr/>
        </p:nvSpPr>
        <p:spPr>
          <a:xfrm>
            <a:off x="457200" y="4803648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3" name="ovl_s08b_nt_inv"/>
          <p:cNvSpPr txBox="1"/>
          <p:nvPr/>
        </p:nvSpPr>
        <p:spPr>
          <a:xfrm>
            <a:off x="493776" y="4831080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投資・Plus の会員</a:t>
            </a:r>
            <a:endParaRPr lang="en-US" sz="900" dirty="0"/>
          </a:p>
        </p:txBody>
      </p:sp>
      <p:sp>
        <p:nvSpPr>
          <p:cNvPr id="64" name="ovl_s08b_ns_inv"/>
          <p:cNvSpPr txBox="1"/>
          <p:nvPr/>
        </p:nvSpPr>
        <p:spPr>
          <a:xfrm>
            <a:off x="502920" y="5036820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有料 20.6 万人</a:t>
            </a:r>
            <a:endParaRPr lang="en-US" sz="850" dirty="0"/>
          </a:p>
        </p:txBody>
      </p:sp>
      <p:sp>
        <p:nvSpPr>
          <p:cNvPr id="65" name="ovl_s08b_n_dep"/>
          <p:cNvSpPr/>
          <p:nvPr/>
        </p:nvSpPr>
        <p:spPr>
          <a:xfrm>
            <a:off x="2529840" y="1995134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6" name="ovl_s08b_nt_dep"/>
          <p:cNvSpPr txBox="1"/>
          <p:nvPr/>
        </p:nvSpPr>
        <p:spPr>
          <a:xfrm>
            <a:off x="2566416" y="2022566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67" name="ovl_s08b_ns_dep"/>
          <p:cNvSpPr txBox="1"/>
          <p:nvPr/>
        </p:nvSpPr>
        <p:spPr>
          <a:xfrm>
            <a:off x="2575560" y="2228306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億ドル・平均 3.07%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</a:t>
            </a:r>
            <a:endParaRPr lang="en-US" sz="850" dirty="0"/>
          </a:p>
        </p:txBody>
      </p:sp>
      <p:sp>
        <p:nvSpPr>
          <p:cNvPr id="68" name="ovl_s08b_n_cap"/>
          <p:cNvSpPr/>
          <p:nvPr/>
        </p:nvSpPr>
        <p:spPr>
          <a:xfrm>
            <a:off x="2529840" y="3399391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08b_nt_cap"/>
          <p:cNvSpPr txBox="1"/>
          <p:nvPr/>
        </p:nvSpPr>
        <p:spPr>
          <a:xfrm>
            <a:off x="2566416" y="3426823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銀行免許と自己資本</a:t>
            </a:r>
            <a:endParaRPr lang="en-US" sz="1000" dirty="0"/>
          </a:p>
        </p:txBody>
      </p:sp>
      <p:sp>
        <p:nvSpPr>
          <p:cNvPr id="70" name="ovl_s08b_ns_cap"/>
          <p:cNvSpPr txBox="1"/>
          <p:nvPr/>
        </p:nvSpPr>
        <p:spPr>
          <a:xfrm>
            <a:off x="2575560" y="3632563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(半年で −4.1pt)</a:t>
            </a:r>
            <a:endParaRPr lang="en-US" sz="850" dirty="0"/>
          </a:p>
        </p:txBody>
      </p:sp>
      <p:sp>
        <p:nvSpPr>
          <p:cNvPr id="71" name="ovl_s08b_n_tp"/>
          <p:cNvSpPr/>
          <p:nvPr/>
        </p:nvSpPr>
        <p:spPr>
          <a:xfrm>
            <a:off x="2529840" y="4803648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08b_nt_tp"/>
          <p:cNvSpPr txBox="1"/>
          <p:nvPr/>
        </p:nvSpPr>
        <p:spPr>
          <a:xfrm>
            <a:off x="2566416" y="483108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73" name="ovl_s08b_ns_tp"/>
          <p:cNvSpPr txBox="1"/>
          <p:nvPr/>
        </p:nvSpPr>
        <p:spPr>
          <a:xfrm>
            <a:off x="2575560" y="5036820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0.85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(−23%、大口が離脱)</a:t>
            </a:r>
            <a:endParaRPr lang="en-US" sz="850" dirty="0"/>
          </a:p>
        </p:txBody>
      </p:sp>
      <p:sp>
        <p:nvSpPr>
          <p:cNvPr id="74" name="ovl_s08b_n_bs"/>
          <p:cNvSpPr/>
          <p:nvPr/>
        </p:nvSpPr>
        <p:spPr>
          <a:xfrm>
            <a:off x="4693920" y="1995134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75" name="ovl_s08b_nt_bs"/>
          <p:cNvSpPr txBox="1"/>
          <p:nvPr/>
        </p:nvSpPr>
        <p:spPr>
          <a:xfrm>
            <a:off x="4730496" y="2022566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76" name="ovl_s08b_ns_bs"/>
          <p:cNvSpPr txBox="1"/>
          <p:nvPr/>
        </p:nvSpPr>
        <p:spPr>
          <a:xfrm>
            <a:off x="4739640" y="2228306"/>
            <a:ext cx="1325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261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 161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77" name="ovl_s08b_n_lpb"/>
          <p:cNvSpPr/>
          <p:nvPr/>
        </p:nvSpPr>
        <p:spPr>
          <a:xfrm>
            <a:off x="4693920" y="3399391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8" name="ovl_s08b_nt_lpb"/>
          <p:cNvSpPr txBox="1"/>
          <p:nvPr/>
        </p:nvSpPr>
        <p:spPr>
          <a:xfrm>
            <a:off x="4730496" y="3426823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79" name="ovl_s08b_ns_lpb"/>
          <p:cNvSpPr txBox="1"/>
          <p:nvPr/>
        </p:nvSpPr>
        <p:spPr>
          <a:xfrm>
            <a:off x="4739640" y="3632563"/>
            <a:ext cx="1325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31 億ドル/四半期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80" name="ovl_s08b_n_fs"/>
          <p:cNvSpPr/>
          <p:nvPr/>
        </p:nvSpPr>
        <p:spPr>
          <a:xfrm>
            <a:off x="4693920" y="48036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1" name="ovl_s08b_nt_fs"/>
          <p:cNvSpPr txBox="1"/>
          <p:nvPr/>
        </p:nvSpPr>
        <p:spPr>
          <a:xfrm>
            <a:off x="4730496" y="4831080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</a:t>
            </a:r>
            <a:endParaRPr lang="en-US" sz="1000" dirty="0"/>
          </a:p>
        </p:txBody>
      </p:sp>
      <p:sp>
        <p:nvSpPr>
          <p:cNvPr id="82" name="ovl_s08b_ns_fs"/>
          <p:cNvSpPr txBox="1"/>
          <p:nvPr/>
        </p:nvSpPr>
        <p:spPr>
          <a:xfrm>
            <a:off x="4739640" y="5036820"/>
            <a:ext cx="1325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インターチェンジ・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売買・Plus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0.87 億ドル(+81%)</a:t>
            </a:r>
            <a:endParaRPr lang="en-US" sz="850" dirty="0"/>
          </a:p>
        </p:txBody>
      </p:sp>
      <p:sp>
        <p:nvSpPr>
          <p:cNvPr id="83" name="ovl_s08b_n_eq"/>
          <p:cNvSpPr/>
          <p:nvPr/>
        </p:nvSpPr>
        <p:spPr>
          <a:xfrm>
            <a:off x="6903720" y="1995134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4" name="ovl_s08b_nt_eq"/>
          <p:cNvSpPr txBox="1"/>
          <p:nvPr/>
        </p:nvSpPr>
        <p:spPr>
          <a:xfrm>
            <a:off x="6940296" y="2022566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</a:t>
            </a:r>
            <a:endParaRPr lang="en-US" sz="1000" dirty="0"/>
          </a:p>
        </p:txBody>
      </p:sp>
      <p:sp>
        <p:nvSpPr>
          <p:cNvPr id="85" name="ovl_s08b_ns_eq"/>
          <p:cNvSpPr txBox="1"/>
          <p:nvPr/>
        </p:nvSpPr>
        <p:spPr>
          <a:xfrm>
            <a:off x="6949440" y="2228306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年に増資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(20.85・27.50 ドル)</a:t>
            </a:r>
            <a:endParaRPr lang="en-US" sz="850" dirty="0"/>
          </a:p>
        </p:txBody>
      </p:sp>
      <p:sp>
        <p:nvSpPr>
          <p:cNvPr id="86" name="ovl_s08b_n_buyers"/>
          <p:cNvSpPr/>
          <p:nvPr/>
        </p:nvSpPr>
        <p:spPr>
          <a:xfrm>
            <a:off x="6903720" y="3399391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7" name="ovl_s08b_nt_buyers"/>
          <p:cNvSpPr txBox="1"/>
          <p:nvPr/>
        </p:nvSpPr>
        <p:spPr>
          <a:xfrm>
            <a:off x="6940296" y="3426823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88" name="ovl_s08b_ns_buyers"/>
          <p:cNvSpPr txBox="1"/>
          <p:nvPr/>
        </p:nvSpPr>
        <p:spPr>
          <a:xfrm>
            <a:off x="6949440" y="3632563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850" dirty="0"/>
          </a:p>
        </p:txBody>
      </p:sp>
      <p:sp>
        <p:nvSpPr>
          <p:cNvPr id="89" name="ovl_s08b_n_b2b"/>
          <p:cNvSpPr/>
          <p:nvPr/>
        </p:nvSpPr>
        <p:spPr>
          <a:xfrm>
            <a:off x="6903720" y="4803648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90" name="ovl_s08b_nt_b2b"/>
          <p:cNvSpPr txBox="1"/>
          <p:nvPr/>
        </p:nvSpPr>
        <p:spPr>
          <a:xfrm>
            <a:off x="6940296" y="483108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フィンテック・銀行</a:t>
            </a:r>
            <a:endParaRPr lang="en-US" sz="1000" dirty="0"/>
          </a:p>
        </p:txBody>
      </p:sp>
      <p:sp>
        <p:nvSpPr>
          <p:cNvPr id="91" name="ovl_s08b_ns_b2b"/>
          <p:cNvSpPr txBox="1"/>
          <p:nvPr/>
        </p:nvSpPr>
        <p:spPr>
          <a:xfrm>
            <a:off x="6949440" y="5036820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の顧客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1.35 億</a:t>
            </a:r>
            <a:endParaRPr lang="en-US" sz="850" dirty="0"/>
          </a:p>
        </p:txBody>
      </p:sp>
      <p:sp>
        <p:nvSpPr>
          <p:cNvPr id="92" name="ovl_s08b_lab0"/>
          <p:cNvSpPr txBox="1"/>
          <p:nvPr/>
        </p:nvSpPr>
        <p:spPr>
          <a:xfrm>
            <a:off x="1769783" y="2118578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93" name="ovl_s08b_lab1"/>
          <p:cNvSpPr txBox="1"/>
          <p:nvPr/>
        </p:nvSpPr>
        <p:spPr>
          <a:xfrm>
            <a:off x="3933863" y="2118578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94" name="ovl_s08b_lab2"/>
          <p:cNvSpPr txBox="1"/>
          <p:nvPr/>
        </p:nvSpPr>
        <p:spPr>
          <a:xfrm>
            <a:off x="1344168" y="3078153"/>
            <a:ext cx="72180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95" name="ovl_s08b_lab4"/>
          <p:cNvSpPr txBox="1"/>
          <p:nvPr/>
        </p:nvSpPr>
        <p:spPr>
          <a:xfrm>
            <a:off x="5448300" y="2951008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96" name="ovl_s08b_lab5"/>
          <p:cNvSpPr txBox="1"/>
          <p:nvPr/>
        </p:nvSpPr>
        <p:spPr>
          <a:xfrm>
            <a:off x="6141720" y="3298807"/>
            <a:ext cx="731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引き渡す</a:t>
            </a:r>
            <a:endParaRPr lang="en-US" sz="850" dirty="0"/>
          </a:p>
        </p:txBody>
      </p:sp>
      <p:sp>
        <p:nvSpPr>
          <p:cNvPr id="97" name="ovl_s08b_lab6"/>
          <p:cNvSpPr txBox="1"/>
          <p:nvPr/>
        </p:nvSpPr>
        <p:spPr>
          <a:xfrm>
            <a:off x="6141720" y="3865735"/>
            <a:ext cx="731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98" name="ovl_s08b_lab7"/>
          <p:cNvSpPr txBox="1"/>
          <p:nvPr/>
        </p:nvSpPr>
        <p:spPr>
          <a:xfrm>
            <a:off x="7635240" y="2888089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</a:t>
            </a:r>
            <a:endParaRPr lang="en-US" sz="850" dirty="0"/>
          </a:p>
        </p:txBody>
      </p:sp>
      <p:sp>
        <p:nvSpPr>
          <p:cNvPr id="99" name="ovl_s08b_lab8"/>
          <p:cNvSpPr txBox="1"/>
          <p:nvPr/>
        </p:nvSpPr>
        <p:spPr>
          <a:xfrm>
            <a:off x="4343400" y="3033304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資本が上限</a:t>
            </a:r>
            <a:endParaRPr lang="en-US" sz="850" dirty="0"/>
          </a:p>
        </p:txBody>
      </p:sp>
      <p:sp>
        <p:nvSpPr>
          <p:cNvPr id="100" name="ovl_s08b_lab9"/>
          <p:cNvSpPr txBox="1"/>
          <p:nvPr/>
        </p:nvSpPr>
        <p:spPr>
          <a:xfrm>
            <a:off x="2563787" y="4201668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850" dirty="0"/>
          </a:p>
        </p:txBody>
      </p:sp>
      <p:sp>
        <p:nvSpPr>
          <p:cNvPr id="101" name="ovl_s08b_lab10"/>
          <p:cNvSpPr txBox="1"/>
          <p:nvPr/>
        </p:nvSpPr>
        <p:spPr>
          <a:xfrm>
            <a:off x="5631180" y="4392930"/>
            <a:ext cx="1071563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</p:txBody>
      </p:sp>
      <p:sp>
        <p:nvSpPr>
          <p:cNvPr id="102" name="ovl_s08b_lab11"/>
          <p:cNvSpPr txBox="1"/>
          <p:nvPr/>
        </p:nvSpPr>
        <p:spPr>
          <a:xfrm>
            <a:off x="3954056" y="5436108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103" name="ovl_s08b_glab0"/>
          <p:cNvSpPr txBox="1"/>
          <p:nvPr/>
        </p:nvSpPr>
        <p:spPr>
          <a:xfrm>
            <a:off x="2557272" y="1828800"/>
            <a:ext cx="857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資金を集める柱</a:t>
            </a:r>
            <a:endParaRPr lang="en-US" sz="800" dirty="0"/>
          </a:p>
        </p:txBody>
      </p:sp>
      <p:sp>
        <p:nvSpPr>
          <p:cNvPr id="104" name="ovl_s08b_glab1"/>
          <p:cNvSpPr txBox="1"/>
          <p:nvPr/>
        </p:nvSpPr>
        <p:spPr>
          <a:xfrm>
            <a:off x="4721352" y="1828800"/>
            <a:ext cx="4511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稼ぐ柱</a:t>
            </a:r>
            <a:endParaRPr lang="en-US" sz="800" dirty="0"/>
          </a:p>
        </p:txBody>
      </p:sp>
      <p:sp>
        <p:nvSpPr>
          <p:cNvPr id="105" name="ovl_s08b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06" name="ovl_s08b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7" name="ovl_s08b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08" name="ovl_s08b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9" name="ovl_s08b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0" name="ovl_s08b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1" name="ovl_s08b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2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13" name="mech"/>
          <p:cNvSpPr txBox="1"/>
          <p:nvPr/>
        </p:nvSpPr>
        <p:spPr>
          <a:xfrm>
            <a:off x="8458200" y="1810512"/>
            <a:ext cx="3276295" cy="33675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給与振込の会員が預金の約 9 割を占め、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億ドルを平均 3.07% で集める。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 1.56pt 安い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安い預金が B/S の貸出を支え、NIM 5.98%。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65% はこの利ざや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借りる会員は平均クーポン 13% の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個人ローンを借りる。貸倒は all-in で年 3.7%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資本で抱えきれない分は LPB で買い手へ。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額面+手数料 4.6% で売り、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信用リスクは買い手が負う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貸出の伸びは自己資本で決まる。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年の増資で比率は 22.9% に上がったが、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半年で 18.8% に下がった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投資・Plus・カードの会員は手数料を払い、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は既存会員が開く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は他社に口座の基盤を売るが、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大口顧客の内製化で −23%</a:t>
            </a:r>
            <a:endParaRPr lang="en-US" sz="1100" dirty="0"/>
          </a:p>
        </p:txBody>
      </p:sp>
      <p:sp>
        <p:nvSpPr>
          <p:cNvPr id="114" name="ovl_takeaway_bg"/>
          <p:cNvSpPr/>
          <p:nvPr/>
        </p:nvSpPr>
        <p:spPr>
          <a:xfrm>
            <a:off x="8458200" y="5251196"/>
            <a:ext cx="3276295" cy="83870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5" name="takeaway"/>
          <p:cNvSpPr txBox="1"/>
          <p:nvPr/>
        </p:nvSpPr>
        <p:spPr>
          <a:xfrm>
            <a:off x="8567928" y="5324348"/>
            <a:ext cx="3056839" cy="6924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会員の預金が安い資金になり、自社の貸出の利ざやが収益の 3 分の 2 を生む。伸びの上限は自己資本で、ここが最大の争点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成長分野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今後の価値を左右する分野を、規模・伸び・確度で比べ、注目すべき順に絞り込む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注目度が最も高いのは B/S 貸出と LPB。前者は規模で、後者は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資本の上限の先を担えるかで 1 株価値を動かす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成長分野の比較(注目度の高い順)。右: 1 株価値 × 伸びで見た位置。注目度 = 価値への効きが大きいか、伸びが速く結果がまだ決まっていない分野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2026)、calc/out/val.json、research_r2/R9_products_people.md(NBER・各社発表)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498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80160"/>
                <a:gridCol w="1234440"/>
                <a:gridCol w="1417320"/>
                <a:gridCol w="160020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規模(Q2 2026)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伸び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株価値への効き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見るべき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注目度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(個人・学生)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442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利ざや 7.9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純金利収益 +52%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理論株価の土台。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 +0.75pt 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−1.9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貸倒率・NIM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1.41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+11%(Q4 2025 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 億ドルから減速)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資本を使わずに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を上げる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組成額・手数料率・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買い手の契約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(Grad PLUS 廃止)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27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+170%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民間市場に年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 億ドルの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すき間(NBER)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在学中・大学院の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手数料・Plus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0.87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20.6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小さいが資本不要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会員(会社は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年で 100 万人)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SoFiUSD・暗号資産・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法人銀行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流通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開始直後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オプション(未計上)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流通残高・取扱額の開示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2026-06 開始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BasePoint 3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開始直後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経由で資本不要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ovl_takeaway_bg"/>
          <p:cNvSpPr/>
          <p:nvPr/>
        </p:nvSpPr>
        <p:spPr>
          <a:xfrm>
            <a:off x="457200" y="5074920"/>
            <a:ext cx="7498080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1" name="takeaway"/>
          <p:cNvSpPr txBox="1"/>
          <p:nvPr/>
        </p:nvSpPr>
        <p:spPr>
          <a:xfrm>
            <a:off x="566928" y="5148072"/>
            <a:ext cx="727862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貸出は規模で、LPB は資本の上限(2027 年)の先を担えるかで注目度が最も高い。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は足元で停滞。新領域は数字が出るまでオプションとして扱う</a:t>
            </a:r>
            <a:endParaRPr lang="en-US" sz="1100" dirty="0"/>
          </a:p>
        </p:txBody>
      </p:sp>
      <p:sp>
        <p:nvSpPr>
          <p:cNvPr id="22" name="pane_head"/>
          <p:cNvSpPr txBox="1"/>
          <p:nvPr/>
        </p:nvSpPr>
        <p:spPr>
          <a:xfrm>
            <a:off x="8183880" y="148132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× 伸びで見た位置</a:t>
            </a:r>
            <a:endParaRPr lang="en-US" sz="1200" dirty="0"/>
          </a:p>
        </p:txBody>
      </p:sp>
      <p:sp>
        <p:nvSpPr>
          <p:cNvPr id="23" name="mx_yt"/>
          <p:cNvSpPr txBox="1"/>
          <p:nvPr/>
        </p:nvSpPr>
        <p:spPr>
          <a:xfrm>
            <a:off x="8183880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mx_x0"/>
          <p:cNvSpPr txBox="1"/>
          <p:nvPr/>
        </p:nvSpPr>
        <p:spPr>
          <a:xfrm>
            <a:off x="9189720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穏やか</a:t>
            </a:r>
            <a:endParaRPr lang="en-US" sz="950" dirty="0"/>
          </a:p>
        </p:txBody>
      </p:sp>
      <p:sp>
        <p:nvSpPr>
          <p:cNvPr id="25" name="mx_x1"/>
          <p:cNvSpPr txBox="1"/>
          <p:nvPr/>
        </p:nvSpPr>
        <p:spPr>
          <a:xfrm>
            <a:off x="10460736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速い</a:t>
            </a:r>
            <a:endParaRPr lang="en-US" sz="950" dirty="0"/>
          </a:p>
        </p:txBody>
      </p:sp>
      <p:sp>
        <p:nvSpPr>
          <p:cNvPr id="26" name="mx_y0"/>
          <p:cNvSpPr txBox="1"/>
          <p:nvPr/>
        </p:nvSpPr>
        <p:spPr>
          <a:xfrm>
            <a:off x="8183880" y="217627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大</a:t>
            </a:r>
            <a:endParaRPr lang="en-US" sz="950" dirty="0"/>
          </a:p>
        </p:txBody>
      </p:sp>
      <p:sp>
        <p:nvSpPr>
          <p:cNvPr id="27" name="ovl_mx0_0"/>
          <p:cNvSpPr/>
          <p:nvPr/>
        </p:nvSpPr>
        <p:spPr>
          <a:xfrm>
            <a:off x="9189720" y="217627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mx_t0_0"/>
          <p:cNvSpPr txBox="1"/>
          <p:nvPr/>
        </p:nvSpPr>
        <p:spPr>
          <a:xfrm>
            <a:off x="9235440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LPB(停滞)</a:t>
            </a:r>
            <a:endParaRPr lang="en-US" sz="950" dirty="0"/>
          </a:p>
        </p:txBody>
      </p:sp>
      <p:sp>
        <p:nvSpPr>
          <p:cNvPr id="29" name="ovl_mx1_0"/>
          <p:cNvSpPr/>
          <p:nvPr/>
        </p:nvSpPr>
        <p:spPr>
          <a:xfrm>
            <a:off x="10460736" y="2176272"/>
            <a:ext cx="1234440" cy="128930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1_0"/>
          <p:cNvSpPr txBox="1"/>
          <p:nvPr/>
        </p:nvSpPr>
        <p:spPr>
          <a:xfrm>
            <a:off x="10506456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950" dirty="0"/>
          </a:p>
        </p:txBody>
      </p:sp>
      <p:sp>
        <p:nvSpPr>
          <p:cNvPr id="31" name="mx_y1"/>
          <p:cNvSpPr txBox="1"/>
          <p:nvPr/>
        </p:nvSpPr>
        <p:spPr>
          <a:xfrm>
            <a:off x="8183880" y="350215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小</a:t>
            </a:r>
            <a:endParaRPr lang="en-US" sz="950" dirty="0"/>
          </a:p>
        </p:txBody>
      </p:sp>
      <p:sp>
        <p:nvSpPr>
          <p:cNvPr id="32" name="ovl_mx0_1"/>
          <p:cNvSpPr/>
          <p:nvPr/>
        </p:nvSpPr>
        <p:spPr>
          <a:xfrm>
            <a:off x="9189720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mx_t0_1"/>
          <p:cNvSpPr txBox="1"/>
          <p:nvPr/>
        </p:nvSpPr>
        <p:spPr>
          <a:xfrm>
            <a:off x="9235440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950" dirty="0"/>
          </a:p>
        </p:txBody>
      </p:sp>
      <p:sp>
        <p:nvSpPr>
          <p:cNvPr id="34" name="ovl_mx1_1"/>
          <p:cNvSpPr/>
          <p:nvPr/>
        </p:nvSpPr>
        <p:spPr>
          <a:xfrm>
            <a:off x="10460736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mx_t1_1"/>
          <p:cNvSpPr txBox="1"/>
          <p:nvPr/>
        </p:nvSpPr>
        <p:spPr>
          <a:xfrm>
            <a:off x="10506456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手数料・Plus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SoFiUSD・中小企業</a:t>
            </a:r>
            <a:endParaRPr lang="en-US" sz="950" dirty="0"/>
          </a:p>
        </p:txBody>
      </p:sp>
      <p:sp>
        <p:nvSpPr>
          <p:cNvPr id="36" name="mx_xt"/>
          <p:cNvSpPr txBox="1"/>
          <p:nvPr/>
        </p:nvSpPr>
        <p:spPr>
          <a:xfrm>
            <a:off x="9189720" y="48463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伸びは前年同期比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183880" y="5074920"/>
            <a:ext cx="354787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★★★ = 1 株価値への効きが大きいか、伸びが速く結果が未確定の分野。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= 規模が小さく前提の幅が大きい分野。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右下は「次の柱」の候補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会社が描く成長の筋書きを 1 枚の図にし、以降の検証の地図にする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会社の筋書きは「会員を年 30% 増やし、預金で貸出を伸ばして 2028 年に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約 1.07 ドル」。進み方を決めるのは資本と信用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経営陣の発言と目標を、会員の獲得 → 調達 → 貸出・組成 → 収益化 → 成果の順に並べた。赤は筋書きの進み方を決める制約。下は会員数の道筋と節目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2025・Q2 2026 決算説明会、2025 年の株主への手紙)、research/R3b_management.md、calc/out/val.json(会員数の道筋は事業エンジン)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800" dirty="0"/>
          </a:p>
        </p:txBody>
      </p:sp>
      <p:sp>
        <p:nvSpPr>
          <p:cNvPr id="19" name="goal_0"/>
          <p:cNvSpPr/>
          <p:nvPr/>
        </p:nvSpPr>
        <p:spPr>
          <a:xfrm>
            <a:off x="457200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CAGR 30% 以上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2025→2028 年(調整後純収益)</a:t>
            </a:r>
            <a:endParaRPr lang="en-US" sz="1600" dirty="0"/>
          </a:p>
        </p:txBody>
      </p:sp>
      <p:sp>
        <p:nvSpPr>
          <p:cNvPr id="20" name="goal_1"/>
          <p:cNvSpPr/>
          <p:nvPr/>
        </p:nvSpPr>
        <p:spPr>
          <a:xfrm>
            <a:off x="3319272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CAGR 38〜42%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年に約 1.07 ドル(2025 年 0.39)</a:t>
            </a:r>
            <a:endParaRPr lang="en-US" sz="1600" dirty="0"/>
          </a:p>
        </p:txBody>
      </p:sp>
      <p:sp>
        <p:nvSpPr>
          <p:cNvPr id="21" name="goal_2"/>
          <p:cNvSpPr/>
          <p:nvPr/>
        </p:nvSpPr>
        <p:spPr>
          <a:xfrm>
            <a:off x="6181344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+30%/年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年の目標(Q2 は +35%)</a:t>
            </a:r>
            <a:endParaRPr lang="en-US" sz="1600" dirty="0"/>
          </a:p>
        </p:txBody>
      </p:sp>
      <p:sp>
        <p:nvSpPr>
          <p:cNvPr id="22" name="goal_3"/>
          <p:cNvSpPr/>
          <p:nvPr/>
        </p:nvSpPr>
        <p:spPr>
          <a:xfrm>
            <a:off x="9043416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長期の目標(時期は示していない)</a:t>
            </a:r>
            <a:endParaRPr lang="en-US" sz="1600" dirty="0"/>
          </a:p>
        </p:txBody>
      </p:sp>
      <p:sp>
        <p:nvSpPr>
          <p:cNvPr id="23" name="ovl_s08d_e0_0"/>
          <p:cNvSpPr/>
          <p:nvPr/>
        </p:nvSpPr>
        <p:spPr>
          <a:xfrm>
            <a:off x="2148840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4" name="ovl_s08d_e1_0"/>
          <p:cNvSpPr/>
          <p:nvPr/>
        </p:nvSpPr>
        <p:spPr>
          <a:xfrm>
            <a:off x="4544568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5" name="ovl_s08d_e2_0"/>
          <p:cNvSpPr/>
          <p:nvPr/>
        </p:nvSpPr>
        <p:spPr>
          <a:xfrm>
            <a:off x="6940296" y="2923794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6" name="ovl_s08d_e3_0"/>
          <p:cNvSpPr/>
          <p:nvPr/>
        </p:nvSpPr>
        <p:spPr>
          <a:xfrm>
            <a:off x="9336024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7" name="ovl_s08d_e4_0"/>
          <p:cNvSpPr/>
          <p:nvPr/>
        </p:nvSpPr>
        <p:spPr>
          <a:xfrm flipH="1">
            <a:off x="6940296" y="3088386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8" name="ovl_s08d_e5_0"/>
          <p:cNvSpPr/>
          <p:nvPr/>
        </p:nvSpPr>
        <p:spPr>
          <a:xfrm flipV="1">
            <a:off x="10885932" y="3380994"/>
            <a:ext cx="914" cy="324612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29" name="ovl_s08d_e6_0"/>
          <p:cNvSpPr/>
          <p:nvPr/>
        </p:nvSpPr>
        <p:spPr>
          <a:xfrm flipV="1">
            <a:off x="6094476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0" name="ovl_s08d_e7_0"/>
          <p:cNvSpPr/>
          <p:nvPr/>
        </p:nvSpPr>
        <p:spPr>
          <a:xfrm flipV="1">
            <a:off x="8490204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1" name="ovl_s08d_e8_0"/>
          <p:cNvSpPr/>
          <p:nvPr/>
        </p:nvSpPr>
        <p:spPr>
          <a:xfrm flipV="1">
            <a:off x="3698748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2" name="ovl_s08d_n_dem"/>
          <p:cNvSpPr/>
          <p:nvPr/>
        </p:nvSpPr>
        <p:spPr>
          <a:xfrm>
            <a:off x="457200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3" name="ovl_s08d_nt_dem"/>
          <p:cNvSpPr txBox="1"/>
          <p:nvPr/>
        </p:nvSpPr>
        <p:spPr>
          <a:xfrm>
            <a:off x="493776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会員の獲得</a:t>
            </a:r>
            <a:endParaRPr lang="en-US" sz="1000" dirty="0"/>
          </a:p>
        </p:txBody>
      </p:sp>
      <p:sp>
        <p:nvSpPr>
          <p:cNvPr id="34" name="ovl_s08d_ns_dem"/>
          <p:cNvSpPr txBox="1"/>
          <p:nvPr/>
        </p:nvSpPr>
        <p:spPr>
          <a:xfrm>
            <a:off x="502920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ブランドと販促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110 万人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3.9 億ドル</a:t>
            </a:r>
            <a:endParaRPr lang="en-US" sz="850" dirty="0"/>
          </a:p>
        </p:txBody>
      </p:sp>
      <p:sp>
        <p:nvSpPr>
          <p:cNvPr id="35" name="ovl_s08d_n_fund"/>
          <p:cNvSpPr/>
          <p:nvPr/>
        </p:nvSpPr>
        <p:spPr>
          <a:xfrm>
            <a:off x="2852928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6" name="ovl_s08d_nt_fund"/>
          <p:cNvSpPr txBox="1"/>
          <p:nvPr/>
        </p:nvSpPr>
        <p:spPr>
          <a:xfrm>
            <a:off x="2889504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預金で調達</a:t>
            </a:r>
            <a:endParaRPr lang="en-US" sz="1000" dirty="0"/>
          </a:p>
        </p:txBody>
      </p:sp>
      <p:sp>
        <p:nvSpPr>
          <p:cNvPr id="37" name="ovl_s08d_ns_fund"/>
          <p:cNvSpPr txBox="1"/>
          <p:nvPr/>
        </p:nvSpPr>
        <p:spPr>
          <a:xfrm>
            <a:off x="2898648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億ドル・3.07%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 33 億ドル増資</a:t>
            </a:r>
            <a:endParaRPr lang="en-US" sz="850" dirty="0"/>
          </a:p>
        </p:txBody>
      </p:sp>
      <p:sp>
        <p:nvSpPr>
          <p:cNvPr id="38" name="ovl_s08d_n_lend"/>
          <p:cNvSpPr/>
          <p:nvPr/>
        </p:nvSpPr>
        <p:spPr>
          <a:xfrm>
            <a:off x="5248656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9" name="ovl_s08d_nt_lend"/>
          <p:cNvSpPr txBox="1"/>
          <p:nvPr/>
        </p:nvSpPr>
        <p:spPr>
          <a:xfrm>
            <a:off x="5285232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貸出と組成</a:t>
            </a:r>
            <a:endParaRPr lang="en-US" sz="1000" dirty="0"/>
          </a:p>
        </p:txBody>
      </p:sp>
      <p:sp>
        <p:nvSpPr>
          <p:cNvPr id="40" name="ovl_s08d_ns_lend"/>
          <p:cNvSpPr txBox="1"/>
          <p:nvPr/>
        </p:nvSpPr>
        <p:spPr>
          <a:xfrm>
            <a:off x="5294376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148 億ドル/四半期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うち B/S 117 億ドル</a:t>
            </a:r>
            <a:endParaRPr lang="en-US" sz="850" dirty="0"/>
          </a:p>
        </p:txBody>
      </p:sp>
      <p:sp>
        <p:nvSpPr>
          <p:cNvPr id="41" name="ovl_s08d_n_mon"/>
          <p:cNvSpPr/>
          <p:nvPr/>
        </p:nvSpPr>
        <p:spPr>
          <a:xfrm>
            <a:off x="7644384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2" name="ovl_s08d_nt_mon"/>
          <p:cNvSpPr txBox="1"/>
          <p:nvPr/>
        </p:nvSpPr>
        <p:spPr>
          <a:xfrm>
            <a:off x="7680960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収益化</a:t>
            </a:r>
            <a:endParaRPr lang="en-US" sz="1000" dirty="0"/>
          </a:p>
        </p:txBody>
      </p:sp>
      <p:sp>
        <p:nvSpPr>
          <p:cNvPr id="43" name="ovl_s08d_ns_mon"/>
          <p:cNvSpPr txBox="1"/>
          <p:nvPr/>
        </p:nvSpPr>
        <p:spPr>
          <a:xfrm>
            <a:off x="7690104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 NIM 5.98%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手数料 4.6%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</p:txBody>
      </p:sp>
      <p:sp>
        <p:nvSpPr>
          <p:cNvPr id="44" name="ovl_s08d_n_out"/>
          <p:cNvSpPr/>
          <p:nvPr/>
        </p:nvSpPr>
        <p:spPr>
          <a:xfrm>
            <a:off x="10040112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5" name="ovl_s08d_nt_out"/>
          <p:cNvSpPr txBox="1"/>
          <p:nvPr/>
        </p:nvSpPr>
        <p:spPr>
          <a:xfrm>
            <a:off x="10076688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成果</a:t>
            </a:r>
            <a:endParaRPr lang="en-US" sz="1000" dirty="0"/>
          </a:p>
        </p:txBody>
      </p:sp>
      <p:sp>
        <p:nvSpPr>
          <p:cNvPr id="46" name="ovl_s08d_ns_out"/>
          <p:cNvSpPr txBox="1"/>
          <p:nvPr/>
        </p:nvSpPr>
        <p:spPr>
          <a:xfrm>
            <a:off x="10085832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 EPS 約 1.07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</a:t>
            </a:r>
            <a:endParaRPr lang="en-US" sz="850" dirty="0"/>
          </a:p>
        </p:txBody>
      </p:sp>
      <p:sp>
        <p:nvSpPr>
          <p:cNvPr id="47" name="ovl_s08d_n_quote"/>
          <p:cNvSpPr/>
          <p:nvPr/>
        </p:nvSpPr>
        <p:spPr>
          <a:xfrm>
            <a:off x="457200" y="3705606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8" name="ovl_s08d_nt_quote"/>
          <p:cNvSpPr txBox="1"/>
          <p:nvPr/>
        </p:nvSpPr>
        <p:spPr>
          <a:xfrm>
            <a:off x="493776" y="3733038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会社の言葉</a:t>
            </a:r>
            <a:endParaRPr lang="en-US" sz="1000" dirty="0"/>
          </a:p>
        </p:txBody>
      </p:sp>
      <p:sp>
        <p:nvSpPr>
          <p:cNvPr id="49" name="ovl_s08d_ns_quote"/>
          <p:cNvSpPr txBox="1"/>
          <p:nvPr/>
        </p:nvSpPr>
        <p:spPr>
          <a:xfrm>
            <a:off x="502920" y="3938778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「会員数・会員当たり製品数・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製品当たり収益の 3 つで伸びる」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「利益の上積みより投資を選ぶ」</a:t>
            </a:r>
            <a:endParaRPr lang="en-US" sz="800" dirty="0"/>
          </a:p>
        </p:txBody>
      </p:sp>
      <p:sp>
        <p:nvSpPr>
          <p:cNvPr id="50" name="ovl_s08d_n_rate"/>
          <p:cNvSpPr/>
          <p:nvPr/>
        </p:nvSpPr>
        <p:spPr>
          <a:xfrm>
            <a:off x="2852928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1" name="ovl_s08d_nt_rate"/>
          <p:cNvSpPr txBox="1"/>
          <p:nvPr/>
        </p:nvSpPr>
        <p:spPr>
          <a:xfrm>
            <a:off x="2889504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</a:t>
            </a:r>
            <a:endParaRPr lang="en-US" sz="1000" dirty="0"/>
          </a:p>
        </p:txBody>
      </p:sp>
      <p:sp>
        <p:nvSpPr>
          <p:cNvPr id="52" name="ovl_s08d_ns_rate"/>
          <p:cNvSpPr txBox="1"/>
          <p:nvPr/>
        </p:nvSpPr>
        <p:spPr>
          <a:xfrm>
            <a:off x="2898648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年債 約 5.3%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公正価値と預金コスト</a:t>
            </a:r>
            <a:endParaRPr lang="en-US" sz="850" dirty="0"/>
          </a:p>
        </p:txBody>
      </p:sp>
      <p:sp>
        <p:nvSpPr>
          <p:cNvPr id="53" name="ovl_s08d_n_cap"/>
          <p:cNvSpPr/>
          <p:nvPr/>
        </p:nvSpPr>
        <p:spPr>
          <a:xfrm>
            <a:off x="5248656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4" name="ovl_s08d_nt_cap"/>
          <p:cNvSpPr txBox="1"/>
          <p:nvPr/>
        </p:nvSpPr>
        <p:spPr>
          <a:xfrm>
            <a:off x="5285232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55" name="ovl_s08d_ns_cap"/>
          <p:cNvSpPr txBox="1"/>
          <p:nvPr/>
        </p:nvSpPr>
        <p:spPr>
          <a:xfrm>
            <a:off x="5294376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運用下限は low-to-mid teens</a:t>
            </a:r>
            <a:endParaRPr lang="en-US" sz="850" dirty="0"/>
          </a:p>
        </p:txBody>
      </p:sp>
      <p:sp>
        <p:nvSpPr>
          <p:cNvPr id="56" name="ovl_s08d_n_credit"/>
          <p:cNvSpPr/>
          <p:nvPr/>
        </p:nvSpPr>
        <p:spPr>
          <a:xfrm>
            <a:off x="7644384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7" name="ovl_s08d_nt_credit"/>
          <p:cNvSpPr txBox="1"/>
          <p:nvPr/>
        </p:nvSpPr>
        <p:spPr>
          <a:xfrm>
            <a:off x="7680960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信用サイクル</a:t>
            </a:r>
            <a:endParaRPr lang="en-US" sz="1000" dirty="0"/>
          </a:p>
        </p:txBody>
      </p:sp>
      <p:sp>
        <p:nvSpPr>
          <p:cNvPr id="58" name="ovl_s08d_ns_credit"/>
          <p:cNvSpPr txBox="1"/>
          <p:nvPr/>
        </p:nvSpPr>
        <p:spPr>
          <a:xfrm>
            <a:off x="7690104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3.7%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</a:t>
            </a:r>
            <a:endParaRPr lang="en-US" sz="850" dirty="0"/>
          </a:p>
        </p:txBody>
      </p:sp>
      <p:sp>
        <p:nvSpPr>
          <p:cNvPr id="59" name="ovl_s08d_n_add"/>
          <p:cNvSpPr/>
          <p:nvPr/>
        </p:nvSpPr>
        <p:spPr>
          <a:xfrm>
            <a:off x="10040112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0" name="ovl_s08d_nt_add"/>
          <p:cNvSpPr txBox="1"/>
          <p:nvPr/>
        </p:nvSpPr>
        <p:spPr>
          <a:xfrm>
            <a:off x="10076688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上積み</a:t>
            </a:r>
            <a:endParaRPr lang="en-US" sz="1000" dirty="0"/>
          </a:p>
        </p:txBody>
      </p:sp>
      <p:sp>
        <p:nvSpPr>
          <p:cNvPr id="61" name="ovl_s08d_ns_add"/>
          <p:cNvSpPr txBox="1"/>
          <p:nvPr/>
        </p:nvSpPr>
        <p:spPr>
          <a:xfrm>
            <a:off x="10085832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Plus・SoFiUSD・暗号資産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中小企業・法人銀行</a:t>
            </a:r>
            <a:endParaRPr lang="en-US" sz="850" dirty="0"/>
          </a:p>
        </p:txBody>
      </p:sp>
      <p:sp>
        <p:nvSpPr>
          <p:cNvPr id="62" name="ovl_s08d_lab0"/>
          <p:cNvSpPr txBox="1"/>
          <p:nvPr/>
        </p:nvSpPr>
        <p:spPr>
          <a:xfrm>
            <a:off x="2180844" y="2631186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預金を運ぶ</a:t>
            </a:r>
            <a:endParaRPr lang="en-US" sz="850" dirty="0"/>
          </a:p>
        </p:txBody>
      </p:sp>
      <p:sp>
        <p:nvSpPr>
          <p:cNvPr id="63" name="ovl_s08d_lab1"/>
          <p:cNvSpPr txBox="1"/>
          <p:nvPr/>
        </p:nvSpPr>
        <p:spPr>
          <a:xfrm>
            <a:off x="4608576" y="2772918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64" name="ovl_s08d_lab2"/>
          <p:cNvSpPr txBox="1"/>
          <p:nvPr/>
        </p:nvSpPr>
        <p:spPr>
          <a:xfrm>
            <a:off x="6972300" y="2548890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65" name="ovl_s08d_lab3"/>
          <p:cNvSpPr txBox="1"/>
          <p:nvPr/>
        </p:nvSpPr>
        <p:spPr>
          <a:xfrm>
            <a:off x="9516618" y="277291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850" dirty="0"/>
          </a:p>
        </p:txBody>
      </p:sp>
      <p:sp>
        <p:nvSpPr>
          <p:cNvPr id="66" name="ovl_s08d_lab4"/>
          <p:cNvSpPr txBox="1"/>
          <p:nvPr/>
        </p:nvSpPr>
        <p:spPr>
          <a:xfrm>
            <a:off x="6972300" y="3115818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利益が次の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貸出へ</a:t>
            </a:r>
            <a:endParaRPr lang="en-US" sz="850" dirty="0"/>
          </a:p>
        </p:txBody>
      </p:sp>
      <p:sp>
        <p:nvSpPr>
          <p:cNvPr id="67" name="ovl_s08d_lab5"/>
          <p:cNvSpPr txBox="1"/>
          <p:nvPr/>
        </p:nvSpPr>
        <p:spPr>
          <a:xfrm>
            <a:off x="10931652" y="344043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上積み</a:t>
            </a:r>
            <a:endParaRPr lang="en-US" sz="850" dirty="0"/>
          </a:p>
        </p:txBody>
      </p:sp>
      <p:sp>
        <p:nvSpPr>
          <p:cNvPr id="68" name="ovl_s08d_lab6"/>
          <p:cNvSpPr txBox="1"/>
          <p:nvPr/>
        </p:nvSpPr>
        <p:spPr>
          <a:xfrm>
            <a:off x="6140196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上限</a:t>
            </a:r>
            <a:endParaRPr lang="en-US" sz="850" dirty="0"/>
          </a:p>
        </p:txBody>
      </p:sp>
      <p:sp>
        <p:nvSpPr>
          <p:cNvPr id="69" name="ovl_s08d_lab7"/>
          <p:cNvSpPr txBox="1"/>
          <p:nvPr/>
        </p:nvSpPr>
        <p:spPr>
          <a:xfrm>
            <a:off x="8535924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</a:t>
            </a:r>
            <a:endParaRPr lang="en-US" sz="850" dirty="0"/>
          </a:p>
        </p:txBody>
      </p:sp>
      <p:sp>
        <p:nvSpPr>
          <p:cNvPr id="70" name="ovl_s08d_lab8"/>
          <p:cNvSpPr txBox="1"/>
          <p:nvPr/>
        </p:nvSpPr>
        <p:spPr>
          <a:xfrm>
            <a:off x="3744468" y="344043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評価・コスト</a:t>
            </a:r>
            <a:endParaRPr lang="en-US" sz="850" dirty="0"/>
          </a:p>
        </p:txBody>
      </p:sp>
      <p:sp>
        <p:nvSpPr>
          <p:cNvPr id="71" name="ovl_s08d_leg0"/>
          <p:cNvSpPr/>
          <p:nvPr/>
        </p:nvSpPr>
        <p:spPr>
          <a:xfrm>
            <a:off x="457200" y="4773168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2" name="ovl_s08d_legt0"/>
          <p:cNvSpPr txBox="1"/>
          <p:nvPr/>
        </p:nvSpPr>
        <p:spPr>
          <a:xfrm>
            <a:off x="87782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73" name="ovl_s08d_leg1"/>
          <p:cNvSpPr/>
          <p:nvPr/>
        </p:nvSpPr>
        <p:spPr>
          <a:xfrm>
            <a:off x="1874520" y="4773168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74" name="ovl_s08d_legt1"/>
          <p:cNvSpPr txBox="1"/>
          <p:nvPr/>
        </p:nvSpPr>
        <p:spPr>
          <a:xfrm>
            <a:off x="229514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75" name="ovl_s08d_leg2"/>
          <p:cNvSpPr/>
          <p:nvPr/>
        </p:nvSpPr>
        <p:spPr>
          <a:xfrm>
            <a:off x="3291840" y="4773168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76" name="ovl_s08d_legt2"/>
          <p:cNvSpPr txBox="1"/>
          <p:nvPr/>
        </p:nvSpPr>
        <p:spPr>
          <a:xfrm>
            <a:off x="371246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77" name="ovl_tl_head"/>
          <p:cNvSpPr txBox="1"/>
          <p:nvPr/>
        </p:nvSpPr>
        <p:spPr>
          <a:xfrm>
            <a:off x="457200" y="5029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会員数(年末)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年以降は事業エンジン</a:t>
            </a:r>
            <a:endParaRPr lang="en-US" sz="900" dirty="0"/>
          </a:p>
        </p:txBody>
      </p:sp>
      <p:sp>
        <p:nvSpPr>
          <p:cNvPr id="78" name="ovl_tl_axis"/>
          <p:cNvSpPr/>
          <p:nvPr/>
        </p:nvSpPr>
        <p:spPr>
          <a:xfrm>
            <a:off x="731520" y="5605272"/>
            <a:ext cx="10698480" cy="914"/>
          </a:xfrm>
          <a:prstGeom prst="line">
            <a:avLst/>
          </a:prstGeom>
          <a:noFill/>
          <a:ln w="15875">
            <a:solidFill>
              <a:srgbClr val="767676"/>
            </a:solidFill>
            <a:prstDash val="solid"/>
          </a:ln>
        </p:spPr>
      </p:sp>
      <p:sp>
        <p:nvSpPr>
          <p:cNvPr id="79" name="ovl_tl_dot_2025"/>
          <p:cNvSpPr/>
          <p:nvPr/>
        </p:nvSpPr>
        <p:spPr>
          <a:xfrm>
            <a:off x="26700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0" name="ovl_tl_tick_2025"/>
          <p:cNvSpPr txBox="1"/>
          <p:nvPr/>
        </p:nvSpPr>
        <p:spPr>
          <a:xfrm>
            <a:off x="23774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</a:t>
            </a:r>
            <a:endParaRPr lang="en-US" sz="850" dirty="0"/>
          </a:p>
        </p:txBody>
      </p:sp>
      <p:sp>
        <p:nvSpPr>
          <p:cNvPr id="81" name="ovl_tl_val_2025"/>
          <p:cNvSpPr txBox="1"/>
          <p:nvPr/>
        </p:nvSpPr>
        <p:spPr>
          <a:xfrm>
            <a:off x="22860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1,370 万</a:t>
            </a:r>
            <a:endParaRPr lang="en-US" sz="1000" dirty="0"/>
          </a:p>
        </p:txBody>
      </p:sp>
      <p:sp>
        <p:nvSpPr>
          <p:cNvPr id="82" name="ovl_tl_dot_2026"/>
          <p:cNvSpPr/>
          <p:nvPr/>
        </p:nvSpPr>
        <p:spPr>
          <a:xfrm>
            <a:off x="54132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3" name="ovl_tl_tick_2026"/>
          <p:cNvSpPr txBox="1"/>
          <p:nvPr/>
        </p:nvSpPr>
        <p:spPr>
          <a:xfrm>
            <a:off x="51206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50" dirty="0"/>
          </a:p>
        </p:txBody>
      </p:sp>
      <p:sp>
        <p:nvSpPr>
          <p:cNvPr id="84" name="ovl_tl_val_2026"/>
          <p:cNvSpPr txBox="1"/>
          <p:nvPr/>
        </p:nvSpPr>
        <p:spPr>
          <a:xfrm>
            <a:off x="50292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1,800 万</a:t>
            </a:r>
            <a:endParaRPr lang="en-US" sz="1000" dirty="0"/>
          </a:p>
        </p:txBody>
      </p:sp>
      <p:sp>
        <p:nvSpPr>
          <p:cNvPr id="85" name="ovl_tl_dot_2027"/>
          <p:cNvSpPr/>
          <p:nvPr/>
        </p:nvSpPr>
        <p:spPr>
          <a:xfrm>
            <a:off x="81564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6" name="ovl_tl_tick_2027"/>
          <p:cNvSpPr txBox="1"/>
          <p:nvPr/>
        </p:nvSpPr>
        <p:spPr>
          <a:xfrm>
            <a:off x="78638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</a:t>
            </a:r>
            <a:endParaRPr lang="en-US" sz="850" dirty="0"/>
          </a:p>
        </p:txBody>
      </p:sp>
      <p:sp>
        <p:nvSpPr>
          <p:cNvPr id="87" name="ovl_tl_val_2027"/>
          <p:cNvSpPr txBox="1"/>
          <p:nvPr/>
        </p:nvSpPr>
        <p:spPr>
          <a:xfrm>
            <a:off x="77724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2,260 万</a:t>
            </a:r>
            <a:endParaRPr lang="en-US" sz="1000" dirty="0"/>
          </a:p>
        </p:txBody>
      </p:sp>
      <p:sp>
        <p:nvSpPr>
          <p:cNvPr id="88" name="ovl_tl_dot_2028"/>
          <p:cNvSpPr/>
          <p:nvPr/>
        </p:nvSpPr>
        <p:spPr>
          <a:xfrm>
            <a:off x="108996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9" name="ovl_tl_tick_2028"/>
          <p:cNvSpPr txBox="1"/>
          <p:nvPr/>
        </p:nvSpPr>
        <p:spPr>
          <a:xfrm>
            <a:off x="106070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50" dirty="0"/>
          </a:p>
        </p:txBody>
      </p:sp>
      <p:sp>
        <p:nvSpPr>
          <p:cNvPr id="90" name="ovl_tl_val_2028"/>
          <p:cNvSpPr txBox="1"/>
          <p:nvPr/>
        </p:nvSpPr>
        <p:spPr>
          <a:xfrm>
            <a:off x="105156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2,700 万</a:t>
            </a:r>
            <a:endParaRPr lang="en-US" sz="1000" dirty="0"/>
          </a:p>
        </p:txBody>
      </p:sp>
      <p:sp>
        <p:nvSpPr>
          <p:cNvPr id="91" name="ovl_tl_note0"/>
          <p:cNvSpPr txBox="1"/>
          <p:nvPr/>
        </p:nvSpPr>
        <p:spPr>
          <a:xfrm>
            <a:off x="3017520" y="5047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2026-04: Plus を有料で再開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2026-07: Grad PLUS の新規廃止</a:t>
            </a:r>
            <a:endParaRPr lang="en-US" sz="850" dirty="0"/>
          </a:p>
        </p:txBody>
      </p:sp>
      <p:sp>
        <p:nvSpPr>
          <p:cNvPr id="92" name="ovl_tl_lead0"/>
          <p:cNvSpPr/>
          <p:nvPr/>
        </p:nvSpPr>
        <p:spPr>
          <a:xfrm>
            <a:off x="41148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3" name="ovl_tl_mark0"/>
          <p:cNvSpPr/>
          <p:nvPr/>
        </p:nvSpPr>
        <p:spPr>
          <a:xfrm>
            <a:off x="40599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4" name="ovl_tl_note1"/>
          <p:cNvSpPr txBox="1"/>
          <p:nvPr/>
        </p:nvSpPr>
        <p:spPr>
          <a:xfrm>
            <a:off x="585216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年: 自己資本比率が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運用下限に近づく(エンジン)</a:t>
            </a:r>
            <a:endParaRPr lang="en-US" sz="850" dirty="0"/>
          </a:p>
        </p:txBody>
      </p:sp>
      <p:sp>
        <p:nvSpPr>
          <p:cNvPr id="95" name="ovl_tl_lead1"/>
          <p:cNvSpPr/>
          <p:nvPr/>
        </p:nvSpPr>
        <p:spPr>
          <a:xfrm>
            <a:off x="68580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6" name="ovl_tl_mark1"/>
          <p:cNvSpPr/>
          <p:nvPr/>
        </p:nvSpPr>
        <p:spPr>
          <a:xfrm>
            <a:off x="68031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7" name="ovl_tl_note2"/>
          <p:cNvSpPr txBox="1"/>
          <p:nvPr/>
        </p:nvSpPr>
        <p:spPr>
          <a:xfrm>
            <a:off x="10332720" y="5047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会社目標の年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筋書きの部品ごとに、数字で作動しているかを採点し、会社の目標をどこまで信じるかを決める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会員獲得・預金・B/S 貸出の 3 部品は数字で作動するが、LPB と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が停滞し、判定は「条件付きのプラス」にとどまる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筋書きの部品(P1〜P10)を、数字で作動しているかで採点。右: 規模で重みづけした判定と、会社目標・コンセンサス・事業エンジンの差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2025〜Q2 2026)、research/R1b_kpi.md・R3b_management.md、research_r2/R6・R7、calc/out/val.json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731520"/>
                <a:gridCol w="374904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進捗(数字で作動しているか)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会員の獲得(ブランド・販促)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作動。純増 110 万人/四半期、ブランド想起 10.4%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作動(51%)。ただし FS 製品当たり収益は 104 → 88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P3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預金による調達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作動。倉庫比 −1.56pt、年 7.1 億ドルの節約。差は縮小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P4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貸出の拡大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作動。純金利収益 +52%。自己資本比率は −4.1pt/半年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P5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停滞。組成 37 → 31 億ドル(Q4 2025 → Q2 2026)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P6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学生ローン(Grad PLUS)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作動。組成 +170%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P7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増資と資本政策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作動。33 億ドルの増資で TBVPS +56%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逆行。−23%、貢献利益率 30 → 14%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P9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新領域(SoFiUSD ほか)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保留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数字が小さい(SoFiUSD 約 3 億ドル)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販促費の効率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30.3% → 32.2%。下期の改善待ち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規模で重みづけした判定</a:t>
            </a:r>
            <a:endParaRPr lang="en-US" sz="1200" dirty="0"/>
          </a:p>
        </p:txBody>
      </p:sp>
      <p:graphicFrame>
        <p:nvGraphicFramePr>
          <p:cNvPr id="21" name="chart_weight" descr=""/>
          <p:cNvGraphicFramePr/>
          <p:nvPr/>
        </p:nvGraphicFramePr>
        <p:xfrm>
          <a:off x="8275320" y="1783080"/>
          <a:ext cx="3456432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ovl_takeaway_bg"/>
          <p:cNvSpPr/>
          <p:nvPr/>
        </p:nvSpPr>
        <p:spPr>
          <a:xfrm>
            <a:off x="8275320" y="2926080"/>
            <a:ext cx="3456432" cy="8686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8385048" y="2999232"/>
            <a:ext cx="3236976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判定は「条件付きのプラス」。作動している部品の多くが資本を使い、資本の上限が筋書きの速さを決める</a:t>
            </a:r>
            <a:endParaRPr lang="en-US" sz="1100" dirty="0"/>
          </a:p>
        </p:txBody>
      </p:sp>
      <p:sp>
        <p:nvSpPr>
          <p:cNvPr id="24" name="pane_head"/>
          <p:cNvSpPr txBox="1"/>
          <p:nvPr/>
        </p:nvSpPr>
        <p:spPr>
          <a:xfrm>
            <a:off x="8275320" y="393192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会社の目標をどこまで信じるか(2028 年)</a:t>
            </a:r>
            <a:endParaRPr lang="en-US" sz="1200" dirty="0"/>
          </a:p>
        </p:txBody>
      </p:sp>
      <p:graphicFrame>
        <p:nvGraphicFramePr>
          <p:cNvPr id="2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51960"/>
          <a:ext cx="3456432" cy="914400"/>
        </p:xfrm>
        <a:graphic>
          <a:graphicData uri="http://schemas.openxmlformats.org/drawingml/2006/table">
            <a:tbl>
              <a:tblPr/>
              <a:tblGrid>
                <a:gridCol w="969264"/>
                <a:gridCol w="822960"/>
                <a:gridCol w="832104"/>
                <a:gridCol w="83210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EPS(ドル)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1.03〜1.12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20〜30%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(長期)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 21"/>
          <p:cNvSpPr txBox="1"/>
          <p:nvPr/>
        </p:nvSpPr>
        <p:spPr>
          <a:xfrm>
            <a:off x="8275320" y="5257800"/>
            <a:ext cx="34564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の目標はエンジンでも届く。ROTCE の目標には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届かず、成長が生む価値は小さい。理論株価は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エンジンの EPS を土台にした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売上から利益が残る経路と、売上より速く伸びている費用を確かめる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2026 の総純収益 12.2 億ドルの 65% は利ざや。販促費(+48%)が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売上(+43%)より速く伸び、純利益は 1.57 億ドルにとどまる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損益フロー(サンキー)、Q2 2026(2026 年 4〜6 月)、百万ドル。( )は前年同期比。GAAP 基準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SoFi Q2 2026 決算発表・10-Q(2026-07)。運営・一般管理は総額からの逆算で、貸倒引当金の繰入を含むとみられる。その他 13.8 は内訳不明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800" dirty="0"/>
          </a:p>
        </p:txBody>
      </p:sp>
      <p:pic>
        <p:nvPicPr>
          <p:cNvPr id="19" name="Image 0" descr="assets/sankey_q2_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680960" cy="4572000"/>
          </a:xfrm>
          <a:prstGeom prst="rect">
            <a:avLst/>
          </a:prstGeom>
        </p:spPr>
      </p:pic>
      <p:sp>
        <p:nvSpPr>
          <p:cNvPr id="20" name="ovl_takeaway_bg"/>
          <p:cNvSpPr/>
          <p:nvPr/>
        </p:nvSpPr>
        <p:spPr>
          <a:xfrm>
            <a:off x="8275320" y="1554480"/>
            <a:ext cx="34564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1" name="takeaway"/>
          <p:cNvSpPr txBox="1"/>
          <p:nvPr/>
        </p:nvSpPr>
        <p:spPr>
          <a:xfrm>
            <a:off x="8385048" y="1627632"/>
            <a:ext cx="32369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販促費が +48% と売上(+43%)より速く伸び、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 3.64 億ドルのうち税引前利益に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残ったのは 0.92 億ドル(25%)</a:t>
            </a:r>
            <a:endParaRPr lang="en-US" sz="1100" dirty="0"/>
          </a:p>
        </p:txBody>
      </p:sp>
      <p:sp>
        <p:nvSpPr>
          <p:cNvPr id="22" name="bullets"/>
          <p:cNvSpPr txBox="1"/>
          <p:nvPr/>
        </p:nvSpPr>
        <p:spPr>
          <a:xfrm>
            <a:off x="8275320" y="3017520"/>
            <a:ext cx="3456432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総純収益の 65% が純金利収益(利ざや)。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非金利収益のうちローン損益の +112% 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金利スワップの益による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テクノロジー収益は大口顧客の離脱で −42%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実効税率は 13.3% → 23.4% に上がり、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純利益の伸び(+61%)は税引前(+82%)より小さい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調整後 EBITDA は 3.58 億ドル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(株式報酬・償却を除く)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増収がどこから来て、利益率がいつ・なぜ改善するかを確かめ、EPS の伸びの質を見る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 74% は B/S 貸出の利ざや。利益率の改善は販促費率の低下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(32% → 25%)にかかり、下期の計画は増分利益率 50% 超を求める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増収の内訳(Q2 2025 → Q2 2026、百万ドル)。右: 利益率の経路(事業エンジン)と、2026 年下期の計画が求める利益率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10-Q)、research_r2/R6_pnl_margin.md §1・§4、calc/out/val.json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800" dirty="0"/>
          </a:p>
        </p:txBody>
      </p:sp>
      <p:sp>
        <p:nvSpPr>
          <p:cNvPr id="19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 3.64 億ドルの内訳(百万ドル)</a:t>
            </a:r>
            <a:endParaRPr lang="en-US" sz="1200" dirty="0"/>
          </a:p>
        </p:txBody>
      </p:sp>
      <p:graphicFrame>
        <p:nvGraphicFramePr>
          <p:cNvPr id="20" name="chart" descr=""/>
          <p:cNvGraphicFramePr/>
          <p:nvPr/>
        </p:nvGraphicFramePr>
        <p:xfrm>
          <a:off x="457200" y="1810512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4937760"/>
            <a:ext cx="57607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会員当たり収益(年換算)は 304 → 316 ドル(+4%)。会員 +35% × 会員当たり +4% で増収 +40%。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 74% は B/S 貸出の利ざや。ローン損益の増加は主に金利スワップの益(前年は損失)</a:t>
            </a:r>
            <a:endParaRPr lang="en-US" sz="950" dirty="0"/>
          </a:p>
        </p:txBody>
      </p:sp>
      <p:sp>
        <p:nvSpPr>
          <p:cNvPr id="22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利益率の経路(事業エンジン)</a:t>
            </a:r>
            <a:endParaRPr lang="en-US" sz="1200" dirty="0"/>
          </a:p>
        </p:txBody>
      </p:sp>
      <p:graphicFrame>
        <p:nvGraphicFramePr>
          <p:cNvPr id="1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  <a:gridCol w="135331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7〜9%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pane_head"/>
          <p:cNvSpPr txBox="1"/>
          <p:nvPr/>
        </p:nvSpPr>
        <p:spPr>
          <a:xfrm>
            <a:off x="6446520" y="3639312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年下期の計画が求めるもの</a:t>
            </a:r>
            <a:endParaRPr lang="en-US" sz="1200" dirty="0"/>
          </a:p>
        </p:txBody>
      </p:sp>
      <p:graphicFrame>
        <p:nvGraphicFramePr>
          <p:cNvPr id="2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31920"/>
          <a:ext cx="5285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6276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上期(実績)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下期(逆算)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 EBITDA 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35〜37%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調整後純利益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5.0 億ドル(+52%)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増分 EBITDA 率(前年比)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53〜64%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ovl_takeaway_bg"/>
          <p:cNvSpPr/>
          <p:nvPr/>
        </p:nvSpPr>
        <p:spPr>
          <a:xfrm>
            <a:off x="6446520" y="5257800"/>
            <a:ext cx="5285232" cy="82296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6556248" y="5330952"/>
            <a:ext cx="50657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利益率の改善は構成の変化ではなく販促費率の低下(事業内の効果)にかかる。下期の達成が最初の試金石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競争優位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価格と品質を競合と並べ、SoFi が利益を守れる理由と、その限界を見る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優位の源泉は価格ではなく、安い預金とブランド。預金金利は競合より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0.2〜0.6pt 低く、ローンは市場並みの金利で手数料も取る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競合に対する価格・品質・差を生む活動(各社の公表レンジ、2026 年)。右: ファイブフォース(各力の強さと SoFi の利ざやへの効き)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research_r2/R9_products_people.md(LendingTree・NerdWallet・各社ページ・J.D. Power)、research/R4_scuttlebutt.md(預金金利・TransUnion)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800" dirty="0"/>
          </a:p>
        </p:txBody>
      </p:sp>
      <p:sp>
        <p:nvSpPr>
          <p:cNvPr id="19" name="pane_l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競合比較: 品質 × 価格 × 価値連鎖</a:t>
            </a:r>
            <a:endParaRPr lang="en-US" sz="1200" dirty="0"/>
          </a:p>
        </p:txBody>
      </p:sp>
      <p:graphicFrame>
        <p:nvGraphicFramePr>
          <p:cNvPr id="16" name="tbl_compe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321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141732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価格(対競合)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差を生む活動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APR 6.99〜35.49%・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0〜7%。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LightStream 6.49〜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25.39%・手数料なし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アプリ評価 4.7。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借り手 FICO 746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会員の基盤と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安い預金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3.30%(給与振込が条件)。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Amex 3.90・Chime 3.75・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 3.50%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NerdWallet 5.0、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月額手数料なし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給与振込で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主口座になる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 2.45〜14.83%。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連邦 PLUS 9.07%+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Yale が代替の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筆頭に案内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借換で培った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審査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売買手数料 0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(競合も 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J.D. Power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DIY 部門 1 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アプリの一体化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会員サブスク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月 10 ドル。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Robinhood Gold 5 ドル、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 Prime 無料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有料 20.6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預金金利の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上乗せ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ovl_takeaway_bg"/>
          <p:cNvSpPr/>
          <p:nvPr/>
        </p:nvSpPr>
        <p:spPr>
          <a:xfrm>
            <a:off x="457200" y="5257800"/>
            <a:ext cx="5532120" cy="8686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2" name="takeaway"/>
          <p:cNvSpPr txBox="1"/>
          <p:nvPr/>
        </p:nvSpPr>
        <p:spPr>
          <a:xfrm>
            <a:off x="566928" y="5330952"/>
            <a:ext cx="5312664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安いのは学生ローンだけで、個人ローンと Plus は割高。それでも預金は競合より安く集まる。優位は価格ではなく、給与振込で主口座になる関係</a:t>
            </a:r>
            <a:endParaRPr lang="en-US" sz="1100" dirty="0"/>
          </a:p>
        </p:txBody>
      </p:sp>
      <p:sp>
        <p:nvSpPr>
          <p:cNvPr id="23" name="pane_r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ファイブフォース(業界構造)</a:t>
            </a:r>
            <a:endParaRPr lang="en-US" sz="1200" dirty="0"/>
          </a:p>
        </p:txBody>
      </p:sp>
      <p:sp>
        <p:nvSpPr>
          <p:cNvPr id="24" name="ovl_force_rival"/>
          <p:cNvSpPr/>
          <p:nvPr/>
        </p:nvSpPr>
        <p:spPr>
          <a:xfrm>
            <a:off x="6199632" y="182880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force_n_rival"/>
          <p:cNvSpPr txBox="1"/>
          <p:nvPr/>
        </p:nvSpPr>
        <p:spPr>
          <a:xfrm>
            <a:off x="6272784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業界内の競争</a:t>
            </a:r>
            <a:endParaRPr lang="en-US" sz="950" dirty="0"/>
          </a:p>
        </p:txBody>
      </p:sp>
      <p:sp>
        <p:nvSpPr>
          <p:cNvPr id="26" name="force_s_rival"/>
          <p:cNvSpPr txBox="1"/>
          <p:nvPr/>
        </p:nvSpPr>
        <p:spPr>
          <a:xfrm>
            <a:off x="7644384" y="18928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</a:t>
            </a:r>
            <a:endParaRPr lang="en-US" sz="1000" dirty="0"/>
          </a:p>
        </p:txBody>
      </p:sp>
      <p:sp>
        <p:nvSpPr>
          <p:cNvPr id="27" name="force_f_rival"/>
          <p:cNvSpPr txBox="1"/>
          <p:nvPr/>
        </p:nvSpPr>
        <p:spPr>
          <a:xfrm>
            <a:off x="6272784" y="219456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個人ローン残高 2,810 億ドル(+9.6%)を LendingClub・Upstart・大手行が奪い合う</a:t>
            </a:r>
            <a:endParaRPr lang="en-US" sz="850" dirty="0"/>
          </a:p>
        </p:txBody>
      </p:sp>
      <p:sp>
        <p:nvSpPr>
          <p:cNvPr id="28" name="ovl_force_entry"/>
          <p:cNvSpPr/>
          <p:nvPr/>
        </p:nvSpPr>
        <p:spPr>
          <a:xfrm>
            <a:off x="8097012" y="182880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force_n_entry"/>
          <p:cNvSpPr txBox="1"/>
          <p:nvPr/>
        </p:nvSpPr>
        <p:spPr>
          <a:xfrm>
            <a:off x="8170164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新規参入</a:t>
            </a:r>
            <a:endParaRPr lang="en-US" sz="950" dirty="0"/>
          </a:p>
        </p:txBody>
      </p:sp>
      <p:sp>
        <p:nvSpPr>
          <p:cNvPr id="30" name="force_s_entry"/>
          <p:cNvSpPr txBox="1"/>
          <p:nvPr/>
        </p:nvSpPr>
        <p:spPr>
          <a:xfrm>
            <a:off x="9541764" y="18928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31" name="force_f_entry"/>
          <p:cNvSpPr txBox="1"/>
          <p:nvPr/>
        </p:nvSpPr>
        <p:spPr>
          <a:xfrm>
            <a:off x="8170164" y="219456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は銀行の買収で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1 年、払込資本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7.5 億ドル。LendingClub 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102 億ドルで同じ型</a:t>
            </a:r>
            <a:endParaRPr lang="en-US" sz="850" dirty="0"/>
          </a:p>
        </p:txBody>
      </p:sp>
      <p:sp>
        <p:nvSpPr>
          <p:cNvPr id="32" name="ovl_force_supp"/>
          <p:cNvSpPr/>
          <p:nvPr/>
        </p:nvSpPr>
        <p:spPr>
          <a:xfrm>
            <a:off x="6199632" y="32461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force_n_supp"/>
          <p:cNvSpPr txBox="1"/>
          <p:nvPr/>
        </p:nvSpPr>
        <p:spPr>
          <a:xfrm>
            <a:off x="6272784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</a:t>
            </a: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(供給者)</a:t>
            </a:r>
            <a:endParaRPr lang="en-US" sz="950" dirty="0"/>
          </a:p>
        </p:txBody>
      </p:sp>
      <p:sp>
        <p:nvSpPr>
          <p:cNvPr id="34" name="force_s_supp"/>
          <p:cNvSpPr txBox="1"/>
          <p:nvPr/>
        </p:nvSpPr>
        <p:spPr>
          <a:xfrm>
            <a:off x="7644384" y="33101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</a:t>
            </a:r>
            <a:endParaRPr lang="en-US" sz="1000" dirty="0"/>
          </a:p>
        </p:txBody>
      </p:sp>
      <p:sp>
        <p:nvSpPr>
          <p:cNvPr id="35" name="force_f_supp"/>
          <p:cNvSpPr txBox="1"/>
          <p:nvPr/>
        </p:nvSpPr>
        <p:spPr>
          <a:xfrm>
            <a:off x="6272784" y="361188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預金者は給与振込で定着。LPB の買い手は契約 100 億ドル超で取り合い</a:t>
            </a:r>
            <a:endParaRPr lang="en-US" sz="850" dirty="0"/>
          </a:p>
        </p:txBody>
      </p:sp>
      <p:sp>
        <p:nvSpPr>
          <p:cNvPr id="36" name="ovl_force_buyer"/>
          <p:cNvSpPr/>
          <p:nvPr/>
        </p:nvSpPr>
        <p:spPr>
          <a:xfrm>
            <a:off x="9994392" y="32461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force_n_buyer"/>
          <p:cNvSpPr txBox="1"/>
          <p:nvPr/>
        </p:nvSpPr>
        <p:spPr>
          <a:xfrm>
            <a:off x="10067544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</a:t>
            </a: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(買い手)</a:t>
            </a:r>
            <a:endParaRPr lang="en-US" sz="950" dirty="0"/>
          </a:p>
        </p:txBody>
      </p:sp>
      <p:sp>
        <p:nvSpPr>
          <p:cNvPr id="38" name="force_s_buyer"/>
          <p:cNvSpPr txBox="1"/>
          <p:nvPr/>
        </p:nvSpPr>
        <p:spPr>
          <a:xfrm>
            <a:off x="11439144" y="33101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39" name="force_f_buyer"/>
          <p:cNvSpPr txBox="1"/>
          <p:nvPr/>
        </p:nvSpPr>
        <p:spPr>
          <a:xfrm>
            <a:off x="10067544" y="361188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 の高所得層は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他行も欲しい顧客。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金利で乗り換える</a:t>
            </a:r>
            <a:endParaRPr lang="en-US" sz="850" dirty="0"/>
          </a:p>
        </p:txBody>
      </p:sp>
      <p:sp>
        <p:nvSpPr>
          <p:cNvPr id="40" name="ovl_force_subst"/>
          <p:cNvSpPr/>
          <p:nvPr/>
        </p:nvSpPr>
        <p:spPr>
          <a:xfrm>
            <a:off x="8097012" y="466344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force_n_subst"/>
          <p:cNvSpPr txBox="1"/>
          <p:nvPr/>
        </p:nvSpPr>
        <p:spPr>
          <a:xfrm>
            <a:off x="8170164" y="4727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代替品</a:t>
            </a:r>
            <a:endParaRPr lang="en-US" sz="950" dirty="0"/>
          </a:p>
        </p:txBody>
      </p:sp>
      <p:sp>
        <p:nvSpPr>
          <p:cNvPr id="42" name="force_s_subst"/>
          <p:cNvSpPr txBox="1"/>
          <p:nvPr/>
        </p:nvSpPr>
        <p:spPr>
          <a:xfrm>
            <a:off x="9541764" y="472744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43" name="force_f_subst"/>
          <p:cNvSpPr txBox="1"/>
          <p:nvPr/>
        </p:nvSpPr>
        <p:spPr>
          <a:xfrm>
            <a:off x="8170164" y="502920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カード・ホームエクイティ・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プライベートクレジットの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直接貸出</a:t>
            </a:r>
            <a:endParaRPr lang="en-US" sz="850" dirty="0"/>
          </a:p>
        </p:txBody>
      </p:sp>
      <p:sp>
        <p:nvSpPr>
          <p:cNvPr id="44" name="ovl_hub"/>
          <p:cNvSpPr/>
          <p:nvPr/>
        </p:nvSpPr>
        <p:spPr>
          <a:xfrm>
            <a:off x="8097012" y="32461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5" name="hub_t"/>
          <p:cNvSpPr txBox="1"/>
          <p:nvPr/>
        </p:nvSpPr>
        <p:spPr>
          <a:xfrm>
            <a:off x="8170164" y="3337560"/>
            <a:ext cx="1591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の利ざや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1300" dirty="0"/>
          </a:p>
        </p:txBody>
      </p:sp>
      <p:sp>
        <p:nvSpPr>
          <p:cNvPr id="46" name="ovl_arrow"/>
          <p:cNvSpPr/>
          <p:nvPr/>
        </p:nvSpPr>
        <p:spPr>
          <a:xfrm>
            <a:off x="8965692" y="3154680"/>
            <a:ext cx="914" cy="914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7" name="ovl_arrow"/>
          <p:cNvSpPr/>
          <p:nvPr/>
        </p:nvSpPr>
        <p:spPr>
          <a:xfrm flipV="1">
            <a:off x="8965692" y="4572000"/>
            <a:ext cx="914" cy="914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8" name="ovl_arrow"/>
          <p:cNvSpPr/>
          <p:nvPr/>
        </p:nvSpPr>
        <p:spPr>
          <a:xfrm>
            <a:off x="7936992" y="3909060"/>
            <a:ext cx="1600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9" name="ovl_arrow"/>
          <p:cNvSpPr/>
          <p:nvPr/>
        </p:nvSpPr>
        <p:spPr>
          <a:xfrm flipH="1">
            <a:off x="9834372" y="3909060"/>
            <a:ext cx="1600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50" name="ovl_arrow"/>
          <p:cNvSpPr/>
          <p:nvPr/>
        </p:nvSpPr>
        <p:spPr>
          <a:xfrm>
            <a:off x="7936992" y="3154680"/>
            <a:ext cx="160020" cy="914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51" name="ovl_takeaway_bg"/>
          <p:cNvSpPr/>
          <p:nvPr/>
        </p:nvSpPr>
        <p:spPr>
          <a:xfrm>
            <a:off x="9994392" y="4663440"/>
            <a:ext cx="1737360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52" name="takeaway"/>
          <p:cNvSpPr txBox="1"/>
          <p:nvPr/>
        </p:nvSpPr>
        <p:spPr>
          <a:xfrm>
            <a:off x="10104120" y="4736592"/>
            <a:ext cx="1517904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競争が強いのは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貸出の市場。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資金の側が弱い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(SoFi に有利)ことが、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利ざやを支える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資金と信用(1/2)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安い資金がいつまで続き、資本がいつ成長を律速するかを確かめる(芯の 1 つ: 資金コスト)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預金は倉庫ラインより 1.56pt 安いが差は縮小。総自己資本比率は半年で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22.9% → 18.8% に下がり、2027 年に貸出の伸びを律速する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総自己資本比率の経路(%、2026 年末以降は事業エンジン)。右: 預金の調達コストと構成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10-Q(Q1・Q2 2026)の規制資本の表、research_r2/R7_funding_rates_capital.md、calc/out/val.json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800" dirty="0"/>
          </a:p>
        </p:txBody>
      </p:sp>
      <p:sp>
        <p:nvSpPr>
          <p:cNvPr id="19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総自己資本比率(%)</a:t>
            </a:r>
            <a:endParaRPr lang="en-US" sz="1200" dirty="0"/>
          </a:p>
        </p:txBody>
      </p:sp>
      <p:graphicFrame>
        <p:nvGraphicFramePr>
          <p:cNvPr id="20" name="chart" descr=""/>
          <p:cNvGraphicFramePr/>
          <p:nvPr/>
        </p:nvGraphicFramePr>
        <p:xfrm>
          <a:off x="457200" y="1810512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2025-12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リスク資産(RWA)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487 億ドル(+31%)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85.2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91.7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457200" y="5486400"/>
            <a:ext cx="5760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運用下限は low-to-mid teens(14〜15%)。エンジンでは 2027 年に貸出の伸びが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資本で止まり(+32% の希望 → 約 +22%)、溢れた分を LPB に回す</a:t>
            </a:r>
            <a:endParaRPr lang="en-US" sz="950" dirty="0"/>
          </a:p>
        </p:txBody>
      </p:sp>
      <p:sp>
        <p:nvSpPr>
          <p:cNvPr id="23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預金の調達コスト</a:t>
            </a:r>
            <a:endParaRPr lang="en-US" sz="1200" dirty="0"/>
          </a:p>
        </p:txBody>
      </p:sp>
      <p:graphicFrame>
        <p:nvGraphicFramePr>
          <p:cNvPr id="3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163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預金の平均金利(2026 年上期)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(普通 3.24%・当座 1.07%・定期 3.95%)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倉庫ラインとの差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1.93pt(2024-12)→ 1.56pt(2026-06)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年間の金利の節約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7.1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普通預金の金利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3.30%(9 月の利上げ後も据え置き)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ブローカー預金の比率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3.7% → 10.0%(半年)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bullets"/>
          <p:cNvSpPr txBox="1"/>
          <p:nvPr/>
        </p:nvSpPr>
        <p:spPr>
          <a:xfrm>
            <a:off x="6446520" y="4023360"/>
            <a:ext cx="5285232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利上げ(9/16、FF 3.75〜4.00%)の後も普通預金の金利を据え置き、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利ざやは守られている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の預金増 53 億ドルの約 6 割がブローカー預金。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給与振込の預金の伸びが貸出に追いついていない</a:t>
            </a:r>
            <a:endParaRPr lang="en-US" sz="1000" dirty="0"/>
          </a:p>
        </p:txBody>
      </p:sp>
      <p:sp>
        <p:nvSpPr>
          <p:cNvPr id="26" name="ovl_takeaway_bg"/>
          <p:cNvSpPr/>
          <p:nvPr/>
        </p:nvSpPr>
        <p:spPr>
          <a:xfrm>
            <a:off x="6446520" y="5303520"/>
            <a:ext cx="5285232" cy="7772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6556248" y="5376672"/>
            <a:ext cx="5065776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安い資金は続くが差は縮小。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成長の上限を決めるのは資金ではなく自己資本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資金と信用(2/2)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利益の質を左右する貸倒と公正価値の前提を、実績と並べて確かめる(芯の 1 つ: 信用コスト)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公正価値の損失前提(年 4.8%)は実績の貸倒(all-in 3.7%)より保守的。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弱点は金利で、Q3 の金利上昇はマークを押し下げる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個人ローンの貸倒率(報告値・all-in)と公正価値の損失前提(年率、%)。右: 公正価値のマークと金利への感応度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8-K・10-Q(Q2 2024〜Q2 2026)、research_r2/R5_credit_fv.md。Q3 の影響は会社開示のマーク変動からの推計(ヘッジ前)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800" dirty="0"/>
          </a:p>
        </p:txBody>
      </p:sp>
      <p:sp>
        <p:nvSpPr>
          <p:cNvPr id="19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個人ローンの貸倒率と損失前提(%)</a:t>
            </a:r>
            <a:endParaRPr lang="en-US" sz="1200" dirty="0"/>
          </a:p>
        </p:txBody>
      </p:sp>
      <p:graphicFrame>
        <p:nvGraphicFramePr>
          <p:cNvPr id="20" name="chart" descr=""/>
          <p:cNvGraphicFramePr/>
          <p:nvPr/>
        </p:nvGraphicFramePr>
        <p:xfrm>
          <a:off x="457200" y="1810512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4846320"/>
            <a:ext cx="5760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は会社の推計(Q3 2024 から開示)。空売り(Muddy Waters)の主張は約 6.1%。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 Q4〜2025 年 Q3 組成の累積損失は 4.68%(残存元本 35%)で、2017 年組成の同時点 6.43% を下回る。借り手は FICO 746・年収 15.8 万ドル</a:t>
            </a:r>
            <a:endParaRPr lang="en-US" sz="950" dirty="0"/>
          </a:p>
        </p:txBody>
      </p:sp>
      <p:sp>
        <p:nvSpPr>
          <p:cNvPr id="22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公正価値のマークと金利</a:t>
            </a:r>
            <a:endParaRPr lang="en-US" sz="1200" dirty="0"/>
          </a:p>
        </p:txBody>
      </p:sp>
      <p:graphicFrame>
        <p:nvGraphicFramePr>
          <p:cNvPr id="1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45336"/>
                <a:gridCol w="15453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残高(額面)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マーク(2026-03 → 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105.4 → 104.7%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105.2 → 104.4%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割引率(2025-12 → 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4.46 → 4.97%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3.89 → 4.29%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 1bp あたりのマーク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1.4〜2.0bp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2.4〜3.3bp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の金利上昇(+55〜60bp)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−2〜3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−2.5〜3.5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6446520" y="4206240"/>
            <a:ext cx="52852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の行はヘッジ前の推計。Q2 は金利スワップの益が評価減の多くを打ち消した</a:t>
            </a:r>
            <a:endParaRPr lang="en-US" sz="900" dirty="0"/>
          </a:p>
        </p:txBody>
      </p:sp>
      <p:sp>
        <p:nvSpPr>
          <p:cNvPr id="25" name="ovl_takeaway_bg"/>
          <p:cNvSpPr/>
          <p:nvPr/>
        </p:nvSpPr>
        <p:spPr>
          <a:xfrm>
            <a:off x="6446520" y="4754880"/>
            <a:ext cx="52852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takeaway"/>
          <p:cNvSpPr txBox="1"/>
          <p:nvPr/>
        </p:nvSpPr>
        <p:spPr>
          <a:xfrm>
            <a:off x="6556248" y="4828032"/>
            <a:ext cx="50657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損失の前提は実績より保守的で、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「利益は偽物」という空売りの主張は信用の数字では裏付けが弱い。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弱点は金利: 割引率が薄く、金利が上がるとマークが下がる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成長の前提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成長の前提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根幹の指標の加速・減速から、コンセンサスが妥当かを確かめる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会員純増は四半期 110 万人で横ばい、製品数とクロスバイは加速。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コンセンサスは下期の利益の急増(EPS 0.12 → 0.17 → 0.19)を前提にする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根幹 KPI の水準と加速度(前期比は年率換算)。右: コンセンサスの四半期 EPS(2026 年)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2024〜Q2 2026)、research/R1b_kpi.md、research_r2/R6・R7・R8(Benzinga の四半期コンセンサス)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188720"/>
                <a:gridCol w="1005840"/>
                <a:gridCol w="14173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根幹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水準(Q2 2026)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前期比(年率)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階差分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1,580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横ばい(+35% が 3 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+30%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会員純増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110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0%(Q1 も 110 万)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減速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会員当たり製品数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加速(1.46 → 1.54)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+16pt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調整後純収益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横ばい(+41 → +40%)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47.5〜48.5 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の組成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減速(Q4 2025 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 億がピーク)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−0.7pt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−0.8pt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+1.7pt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+1.2pt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悪化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下期に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低下を前提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−2.5pt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低下が加速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EPS(調整後、ドル)</a:t>
            </a:r>
            <a:endParaRPr lang="en-US" sz="1200" dirty="0"/>
          </a:p>
        </p:txBody>
      </p:sp>
      <p:graphicFrame>
        <p:nvGraphicFramePr>
          <p:cNvPr id="21" name="chart" descr=""/>
          <p:cNvGraphicFramePr/>
          <p:nvPr/>
        </p:nvGraphicFramePr>
        <p:xfrm>
          <a:off x="8275320" y="1810512"/>
          <a:ext cx="34564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ovl_takeaway_bg"/>
          <p:cNvSpPr/>
          <p:nvPr/>
        </p:nvSpPr>
        <p:spPr>
          <a:xfrm>
            <a:off x="8275320" y="4663440"/>
            <a:ext cx="3456432" cy="14173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8385048" y="4736592"/>
            <a:ext cx="323697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コンセンサスは下期に EPS +50% を前提にし、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会社の通期 0.60 と一致。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会員の伸びは横ばい、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販促費率と資本比率は悪化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587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730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3" name="bg_agenda_why2"/>
          <p:cNvSpPr txBox="1"/>
          <p:nvPr/>
        </p:nvSpPr>
        <p:spPr>
          <a:xfrm>
            <a:off x="1417320" y="42245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長期保有に耐える構造かを 13 の条件で確かめ、構造評価を決める。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構造評価は許容する倍率(PEG)に直結する</a:t>
            </a:r>
            <a:endParaRPr lang="en-US" sz="105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873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17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18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第3章の構成</a:t>
            </a:r>
            <a:endParaRPr lang="en-US" sz="1300" dirty="0"/>
          </a:p>
        </p:txBody>
      </p:sp>
      <p:sp>
        <p:nvSpPr>
          <p:cNvPr id="19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 稼ぐ力(条件1〜3)</a:t>
            </a:r>
            <a:endParaRPr lang="en-US" sz="1250" dirty="0"/>
          </a:p>
        </p:txBody>
      </p:sp>
      <p:sp>
        <p:nvSpPr>
          <p:cNvPr id="20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p.20–22</a:t>
            </a:r>
            <a:endParaRPr lang="en-US" sz="1050" dirty="0"/>
          </a:p>
        </p:txBody>
      </p:sp>
      <p:sp>
        <p:nvSpPr>
          <p:cNvPr id="21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 経営(条件5)</a:t>
            </a:r>
            <a:endParaRPr lang="en-US" sz="1250" dirty="0"/>
          </a:p>
        </p:txBody>
      </p:sp>
      <p:sp>
        <p:nvSpPr>
          <p:cNvPr id="22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p.23</a:t>
            </a:r>
            <a:endParaRPr lang="en-US" sz="1050" dirty="0"/>
          </a:p>
        </p:txBody>
      </p:sp>
      <p:sp>
        <p:nvSpPr>
          <p:cNvPr id="23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 成長と割安度(条件6・7)</a:t>
            </a:r>
            <a:endParaRPr lang="en-US" sz="1250" dirty="0"/>
          </a:p>
        </p:txBody>
      </p:sp>
      <p:sp>
        <p:nvSpPr>
          <p:cNvPr id="24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p.24–25</a:t>
            </a:r>
            <a:endParaRPr lang="en-US" sz="1050" dirty="0"/>
          </a:p>
        </p:txBody>
      </p:sp>
      <p:sp>
        <p:nvSpPr>
          <p:cNvPr id="25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 商品と資産(条件8・10〜12)</a:t>
            </a:r>
            <a:endParaRPr lang="en-US" sz="1250" dirty="0"/>
          </a:p>
        </p:txBody>
      </p:sp>
      <p:sp>
        <p:nvSpPr>
          <p:cNvPr id="26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p.26–28</a:t>
            </a:r>
            <a:endParaRPr lang="en-US" sz="1050" dirty="0"/>
          </a:p>
        </p:txBody>
      </p:sp>
      <p:sp>
        <p:nvSpPr>
          <p:cNvPr id="27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  総合(条件13)</a:t>
            </a:r>
            <a:endParaRPr lang="en-US" sz="1250" dirty="0"/>
          </a:p>
        </p:txBody>
      </p:sp>
      <p:sp>
        <p:nvSpPr>
          <p:cNvPr id="28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p.29</a:t>
            </a:r>
            <a:endParaRPr lang="en-US" sz="1050" dirty="0"/>
          </a:p>
        </p:txBody>
      </p:sp>
      <p:sp>
        <p:nvSpPr>
          <p:cNvPr id="29" name="bg_agenda_note"/>
          <p:cNvSpPr txBox="1"/>
          <p:nvPr/>
        </p:nvSpPr>
        <p:spPr>
          <a:xfrm>
            <a:off x="7818120" y="434340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条件4(上場市場)は審査の前提条件、条件9(AI 運用への不可欠性)は AI 関連企業でないため対象外。どちらも 1-2 の評価一覧で扱う</a:t>
            </a:r>
            <a:endParaRPr lang="en-US" sz="950" dirty="0"/>
          </a:p>
        </p:txBody>
      </p:sp>
      <p:sp>
        <p:nvSpPr>
          <p:cNvPr id="3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稼ぐ力(条件1〜3)(1/3)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競争優位の持続(条件1)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年保有の前提は、利益を守る優位が続くこと。どの優位が何年続くかを見る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預金とブランドで競合より安く資金を集めるが、ローンは市場並みの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価格で、10 年の圧倒的な価格決定力とは言えない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会員 → SoFi の事業 → 優位の源泉 ← 競合の圧力。下: 優位が続く期間。①〜⑥ は右と対応。数値は Q2 2026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決算)、research_r2/R7_funding_rates_capital.md・R9_products_people.md、research/R4_scuttlebutt.md(各社 APY・価格表の第三者集計)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2572512" y="1517904"/>
            <a:ext cx="372465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の事業と優位の源泉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6976872" y="1517904"/>
            <a:ext cx="140817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</a:t>
            </a:r>
            <a:endParaRPr lang="en-US" sz="950" dirty="0"/>
          </a:p>
        </p:txBody>
      </p:sp>
      <p:sp>
        <p:nvSpPr>
          <p:cNvPr id="31" name="ovl_grp0"/>
          <p:cNvSpPr/>
          <p:nvPr/>
        </p:nvSpPr>
        <p:spPr>
          <a:xfrm>
            <a:off x="2618232" y="1911096"/>
            <a:ext cx="1408176" cy="2734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grp1"/>
          <p:cNvSpPr/>
          <p:nvPr/>
        </p:nvSpPr>
        <p:spPr>
          <a:xfrm>
            <a:off x="4797552" y="1911096"/>
            <a:ext cx="1453896" cy="2734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3" name="ovl_s17_e0_0"/>
          <p:cNvSpPr/>
          <p:nvPr/>
        </p:nvSpPr>
        <p:spPr>
          <a:xfrm>
            <a:off x="1783080" y="234848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4" name="ovl_s17_e1_0"/>
          <p:cNvSpPr/>
          <p:nvPr/>
        </p:nvSpPr>
        <p:spPr>
          <a:xfrm flipH="1">
            <a:off x="3962400" y="234848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5" name="ovl_s17_e2_0"/>
          <p:cNvSpPr/>
          <p:nvPr/>
        </p:nvSpPr>
        <p:spPr>
          <a:xfrm>
            <a:off x="3322320" y="2677668"/>
            <a:ext cx="914" cy="27127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7_e3_0"/>
          <p:cNvSpPr/>
          <p:nvPr/>
        </p:nvSpPr>
        <p:spPr>
          <a:xfrm>
            <a:off x="1783080" y="327812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7_e4_0"/>
          <p:cNvSpPr/>
          <p:nvPr/>
        </p:nvSpPr>
        <p:spPr>
          <a:xfrm flipH="1">
            <a:off x="6187440" y="327812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8" name="ovl_s17_e5_0"/>
          <p:cNvSpPr/>
          <p:nvPr/>
        </p:nvSpPr>
        <p:spPr>
          <a:xfrm flipH="1">
            <a:off x="3962400" y="327812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17_e6_0"/>
          <p:cNvSpPr/>
          <p:nvPr/>
        </p:nvSpPr>
        <p:spPr>
          <a:xfrm>
            <a:off x="1783080" y="420776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0" name="ovl_s17_e7_0"/>
          <p:cNvSpPr/>
          <p:nvPr/>
        </p:nvSpPr>
        <p:spPr>
          <a:xfrm flipH="1">
            <a:off x="3962400" y="420776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7_e8_0"/>
          <p:cNvSpPr/>
          <p:nvPr/>
        </p:nvSpPr>
        <p:spPr>
          <a:xfrm flipH="1">
            <a:off x="6187440" y="234848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2" name="ovl_s17_e9_0"/>
          <p:cNvSpPr/>
          <p:nvPr/>
        </p:nvSpPr>
        <p:spPr>
          <a:xfrm flipH="1">
            <a:off x="6187440" y="420776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17_n_dd"/>
          <p:cNvSpPr/>
          <p:nvPr/>
        </p:nvSpPr>
        <p:spPr>
          <a:xfrm>
            <a:off x="45720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4" name="ovl_s17_nt_dd"/>
          <p:cNvSpPr txBox="1"/>
          <p:nvPr/>
        </p:nvSpPr>
        <p:spPr>
          <a:xfrm>
            <a:off x="49377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45" name="ovl_s17_ns_dd"/>
          <p:cNvSpPr txBox="1"/>
          <p:nvPr/>
        </p:nvSpPr>
        <p:spPr>
          <a:xfrm>
            <a:off x="50292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預金の約 9 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普通預金 3.30%</a:t>
            </a:r>
            <a:endParaRPr lang="en-US" sz="850" dirty="0"/>
          </a:p>
        </p:txBody>
      </p:sp>
      <p:sp>
        <p:nvSpPr>
          <p:cNvPr id="46" name="ovl_s17_n_borrow"/>
          <p:cNvSpPr/>
          <p:nvPr/>
        </p:nvSpPr>
        <p:spPr>
          <a:xfrm>
            <a:off x="45720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7" name="ovl_s17_nt_borrow"/>
          <p:cNvSpPr txBox="1"/>
          <p:nvPr/>
        </p:nvSpPr>
        <p:spPr>
          <a:xfrm>
            <a:off x="49377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48" name="ovl_s17_ns_borrow"/>
          <p:cNvSpPr txBox="1"/>
          <p:nvPr/>
        </p:nvSpPr>
        <p:spPr>
          <a:xfrm>
            <a:off x="50292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金利を比べて選ぶ</a:t>
            </a:r>
            <a:endParaRPr lang="en-US" sz="850" dirty="0"/>
          </a:p>
        </p:txBody>
      </p:sp>
      <p:sp>
        <p:nvSpPr>
          <p:cNvPr id="49" name="ovl_s17_n_inv"/>
          <p:cNvSpPr/>
          <p:nvPr/>
        </p:nvSpPr>
        <p:spPr>
          <a:xfrm>
            <a:off x="45720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0" name="ovl_s17_nt_inv"/>
          <p:cNvSpPr txBox="1"/>
          <p:nvPr/>
        </p:nvSpPr>
        <p:spPr>
          <a:xfrm>
            <a:off x="49377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投資・カードの会員</a:t>
            </a:r>
            <a:endParaRPr lang="en-US" sz="900" dirty="0"/>
          </a:p>
        </p:txBody>
      </p:sp>
      <p:sp>
        <p:nvSpPr>
          <p:cNvPr id="51" name="ovl_s17_ns_inv"/>
          <p:cNvSpPr txBox="1"/>
          <p:nvPr/>
        </p:nvSpPr>
        <p:spPr>
          <a:xfrm>
            <a:off x="50292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有料 20.6 万人</a:t>
            </a:r>
            <a:endParaRPr lang="en-US" sz="850" dirty="0"/>
          </a:p>
        </p:txBody>
      </p:sp>
      <p:sp>
        <p:nvSpPr>
          <p:cNvPr id="52" name="ovl_s17_n_dep"/>
          <p:cNvSpPr/>
          <p:nvPr/>
        </p:nvSpPr>
        <p:spPr>
          <a:xfrm>
            <a:off x="2682240" y="201930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3" name="ovl_s17_nt_dep"/>
          <p:cNvSpPr txBox="1"/>
          <p:nvPr/>
        </p:nvSpPr>
        <p:spPr>
          <a:xfrm>
            <a:off x="2718816" y="204673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54" name="ovl_s17_ns_dep"/>
          <p:cNvSpPr txBox="1"/>
          <p:nvPr/>
        </p:nvSpPr>
        <p:spPr>
          <a:xfrm>
            <a:off x="2727960" y="225247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</a:t>
            </a:r>
            <a:endParaRPr lang="en-US" sz="850" dirty="0"/>
          </a:p>
        </p:txBody>
      </p:sp>
      <p:sp>
        <p:nvSpPr>
          <p:cNvPr id="55" name="ovl_s17_n_bs"/>
          <p:cNvSpPr/>
          <p:nvPr/>
        </p:nvSpPr>
        <p:spPr>
          <a:xfrm>
            <a:off x="2682240" y="294894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6" name="ovl_s17_nt_bs"/>
          <p:cNvSpPr txBox="1"/>
          <p:nvPr/>
        </p:nvSpPr>
        <p:spPr>
          <a:xfrm>
            <a:off x="2718816" y="297637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57" name="ovl_s17_ns_bs"/>
          <p:cNvSpPr txBox="1"/>
          <p:nvPr/>
        </p:nvSpPr>
        <p:spPr>
          <a:xfrm>
            <a:off x="2727960" y="318211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6.99〜35.49%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58" name="ovl_s17_n_cross"/>
          <p:cNvSpPr/>
          <p:nvPr/>
        </p:nvSpPr>
        <p:spPr>
          <a:xfrm>
            <a:off x="2682240" y="387858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9" name="ovl_s17_nt_cross"/>
          <p:cNvSpPr txBox="1"/>
          <p:nvPr/>
        </p:nvSpPr>
        <p:spPr>
          <a:xfrm>
            <a:off x="2718816" y="39060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60" name="ovl_s17_ns_cross"/>
          <p:cNvSpPr txBox="1"/>
          <p:nvPr/>
        </p:nvSpPr>
        <p:spPr>
          <a:xfrm>
            <a:off x="2727960" y="411175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61" name="ovl_s17_n_fund"/>
          <p:cNvSpPr/>
          <p:nvPr/>
        </p:nvSpPr>
        <p:spPr>
          <a:xfrm>
            <a:off x="486156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2" name="ovl_s17_nt_fund"/>
          <p:cNvSpPr txBox="1"/>
          <p:nvPr/>
        </p:nvSpPr>
        <p:spPr>
          <a:xfrm>
            <a:off x="489813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銀行免許と安い資金</a:t>
            </a:r>
            <a:endParaRPr lang="en-US" sz="900" dirty="0"/>
          </a:p>
        </p:txBody>
      </p:sp>
      <p:sp>
        <p:nvSpPr>
          <p:cNvPr id="63" name="ovl_s17_ns_fund"/>
          <p:cNvSpPr txBox="1"/>
          <p:nvPr/>
        </p:nvSpPr>
        <p:spPr>
          <a:xfrm>
            <a:off x="490728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 1.87pt)</a:t>
            </a:r>
            <a:endParaRPr lang="en-US" sz="850" dirty="0"/>
          </a:p>
        </p:txBody>
      </p:sp>
      <p:sp>
        <p:nvSpPr>
          <p:cNvPr id="64" name="ovl_s17_n_price"/>
          <p:cNvSpPr/>
          <p:nvPr/>
        </p:nvSpPr>
        <p:spPr>
          <a:xfrm>
            <a:off x="486156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5" name="ovl_s17_nt_price"/>
          <p:cNvSpPr txBox="1"/>
          <p:nvPr/>
        </p:nvSpPr>
        <p:spPr>
          <a:xfrm>
            <a:off x="489813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価格の優位</a:t>
            </a:r>
            <a:endParaRPr lang="en-US" sz="1000" dirty="0"/>
          </a:p>
        </p:txBody>
      </p:sp>
      <p:sp>
        <p:nvSpPr>
          <p:cNvPr id="66" name="ovl_s17_ns_price"/>
          <p:cNvSpPr txBox="1"/>
          <p:nvPr/>
        </p:nvSpPr>
        <p:spPr>
          <a:xfrm>
            <a:off x="490728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帯は競合と重なる</a:t>
            </a:r>
            <a:endParaRPr lang="en-US" sz="850" dirty="0"/>
          </a:p>
        </p:txBody>
      </p:sp>
      <p:sp>
        <p:nvSpPr>
          <p:cNvPr id="67" name="ovl_s17_n_brand"/>
          <p:cNvSpPr/>
          <p:nvPr/>
        </p:nvSpPr>
        <p:spPr>
          <a:xfrm>
            <a:off x="486156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8" name="ovl_s17_nt_brand"/>
          <p:cNvSpPr txBox="1"/>
          <p:nvPr/>
        </p:nvSpPr>
        <p:spPr>
          <a:xfrm>
            <a:off x="489813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ブランドと関係</a:t>
            </a:r>
            <a:endParaRPr lang="en-US" sz="1000" dirty="0"/>
          </a:p>
        </p:txBody>
      </p:sp>
      <p:sp>
        <p:nvSpPr>
          <p:cNvPr id="69" name="ovl_s17_ns_brand"/>
          <p:cNvSpPr txBox="1"/>
          <p:nvPr/>
        </p:nvSpPr>
        <p:spPr>
          <a:xfrm>
            <a:off x="490728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10.4%(+1.9pt)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3.9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(四半期)</a:t>
            </a:r>
            <a:endParaRPr lang="en-US" sz="850" dirty="0"/>
          </a:p>
        </p:txBody>
      </p:sp>
      <p:sp>
        <p:nvSpPr>
          <p:cNvPr id="70" name="ovl_s17_n_banks"/>
          <p:cNvSpPr/>
          <p:nvPr/>
        </p:nvSpPr>
        <p:spPr>
          <a:xfrm>
            <a:off x="7086600" y="201930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1" name="ovl_s17_nt_banks"/>
          <p:cNvSpPr txBox="1"/>
          <p:nvPr/>
        </p:nvSpPr>
        <p:spPr>
          <a:xfrm>
            <a:off x="7123176" y="20467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オンライン銀行</a:t>
            </a:r>
            <a:endParaRPr lang="en-US" sz="1000" dirty="0"/>
          </a:p>
        </p:txBody>
      </p:sp>
      <p:sp>
        <p:nvSpPr>
          <p:cNvPr id="72" name="ovl_s17_ns_banks"/>
          <p:cNvSpPr txBox="1"/>
          <p:nvPr/>
        </p:nvSpPr>
        <p:spPr>
          <a:xfrm>
            <a:off x="7132320" y="225247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3.75%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Amex 3.90%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Capital One 3.50%</a:t>
            </a:r>
            <a:endParaRPr lang="en-US" sz="850" dirty="0"/>
          </a:p>
        </p:txBody>
      </p:sp>
      <p:sp>
        <p:nvSpPr>
          <p:cNvPr id="73" name="ovl_s17_n_lenders"/>
          <p:cNvSpPr/>
          <p:nvPr/>
        </p:nvSpPr>
        <p:spPr>
          <a:xfrm>
            <a:off x="7086600" y="2857500"/>
            <a:ext cx="1188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4" name="ovl_s17_nt_lenders"/>
          <p:cNvSpPr txBox="1"/>
          <p:nvPr/>
        </p:nvSpPr>
        <p:spPr>
          <a:xfrm>
            <a:off x="7123176" y="28849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ローン専業</a:t>
            </a:r>
            <a:endParaRPr lang="en-US" sz="1000" dirty="0"/>
          </a:p>
        </p:txBody>
      </p:sp>
      <p:sp>
        <p:nvSpPr>
          <p:cNvPr id="75" name="ovl_s17_ns_lenders"/>
          <p:cNvSpPr txBox="1"/>
          <p:nvPr/>
        </p:nvSpPr>
        <p:spPr>
          <a:xfrm>
            <a:off x="7132320" y="3090672"/>
            <a:ext cx="109728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</p:txBody>
      </p:sp>
      <p:sp>
        <p:nvSpPr>
          <p:cNvPr id="76" name="ovl_s17_n_neo"/>
          <p:cNvSpPr/>
          <p:nvPr/>
        </p:nvSpPr>
        <p:spPr>
          <a:xfrm>
            <a:off x="7086600" y="387858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7" name="ovl_s17_nt_neo"/>
          <p:cNvSpPr txBox="1"/>
          <p:nvPr/>
        </p:nvSpPr>
        <p:spPr>
          <a:xfrm>
            <a:off x="7123176" y="390601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</a:t>
            </a:r>
            <a:endParaRPr lang="en-US" sz="900" dirty="0"/>
          </a:p>
        </p:txBody>
      </p:sp>
      <p:sp>
        <p:nvSpPr>
          <p:cNvPr id="78" name="ovl_s17_ns_neo"/>
          <p:cNvSpPr txBox="1"/>
          <p:nvPr/>
        </p:nvSpPr>
        <p:spPr>
          <a:xfrm>
            <a:off x="7132320" y="411175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給与振込と会員を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取りに来る</a:t>
            </a:r>
            <a:endParaRPr lang="en-US" sz="850" dirty="0"/>
          </a:p>
        </p:txBody>
      </p:sp>
      <p:sp>
        <p:nvSpPr>
          <p:cNvPr id="79" name="ovl_s17_tag_fund"/>
          <p:cNvSpPr/>
          <p:nvPr/>
        </p:nvSpPr>
        <p:spPr>
          <a:xfrm>
            <a:off x="5280660" y="2705100"/>
            <a:ext cx="4876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0" name="ovl_s17_tagt_fund"/>
          <p:cNvSpPr txBox="1"/>
          <p:nvPr/>
        </p:nvSpPr>
        <p:spPr>
          <a:xfrm>
            <a:off x="5280660" y="2705100"/>
            <a:ext cx="48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縮小中</a:t>
            </a:r>
            <a:endParaRPr lang="en-US" sz="800" dirty="0"/>
          </a:p>
        </p:txBody>
      </p:sp>
      <p:sp>
        <p:nvSpPr>
          <p:cNvPr id="81" name="ovl_s17_tag_price"/>
          <p:cNvSpPr/>
          <p:nvPr/>
        </p:nvSpPr>
        <p:spPr>
          <a:xfrm>
            <a:off x="5331460" y="363474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ovl_s17_tagt_price"/>
          <p:cNvSpPr txBox="1"/>
          <p:nvPr/>
        </p:nvSpPr>
        <p:spPr>
          <a:xfrm>
            <a:off x="5331460" y="363474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なし</a:t>
            </a:r>
            <a:endParaRPr lang="en-US" sz="800" dirty="0"/>
          </a:p>
        </p:txBody>
      </p:sp>
      <p:sp>
        <p:nvSpPr>
          <p:cNvPr id="83" name="ovl_s17_tag_brand"/>
          <p:cNvSpPr/>
          <p:nvPr/>
        </p:nvSpPr>
        <p:spPr>
          <a:xfrm>
            <a:off x="5229860" y="4564380"/>
            <a:ext cx="5892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4" name="ovl_s17_tagt_brand"/>
          <p:cNvSpPr txBox="1"/>
          <p:nvPr/>
        </p:nvSpPr>
        <p:spPr>
          <a:xfrm>
            <a:off x="5229860" y="4564380"/>
            <a:ext cx="58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販促次第</a:t>
            </a:r>
            <a:endParaRPr lang="en-US" sz="800" dirty="0"/>
          </a:p>
        </p:txBody>
      </p:sp>
      <p:sp>
        <p:nvSpPr>
          <p:cNvPr id="85" name="ovl_s17_lab0"/>
          <p:cNvSpPr txBox="1"/>
          <p:nvPr/>
        </p:nvSpPr>
        <p:spPr>
          <a:xfrm>
            <a:off x="1868843" y="211531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86" name="ovl_s17_lab1"/>
          <p:cNvSpPr txBox="1"/>
          <p:nvPr/>
        </p:nvSpPr>
        <p:spPr>
          <a:xfrm>
            <a:off x="3989870" y="211531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安く集める</a:t>
            </a:r>
            <a:endParaRPr lang="en-US" sz="850" dirty="0"/>
          </a:p>
        </p:txBody>
      </p:sp>
      <p:sp>
        <p:nvSpPr>
          <p:cNvPr id="87" name="ovl_s17_lab2"/>
          <p:cNvSpPr txBox="1"/>
          <p:nvPr/>
        </p:nvSpPr>
        <p:spPr>
          <a:xfrm>
            <a:off x="3368040" y="2710434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88" name="ovl_s17_lab3"/>
          <p:cNvSpPr txBox="1"/>
          <p:nvPr/>
        </p:nvSpPr>
        <p:spPr>
          <a:xfrm>
            <a:off x="1947539" y="3044952"/>
            <a:ext cx="570243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89" name="ovl_s17_lab4"/>
          <p:cNvSpPr txBox="1"/>
          <p:nvPr/>
        </p:nvSpPr>
        <p:spPr>
          <a:xfrm>
            <a:off x="6214910" y="304495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同じ価格帯</a:t>
            </a:r>
            <a:endParaRPr lang="en-US" sz="850" dirty="0"/>
          </a:p>
        </p:txBody>
      </p:sp>
      <p:sp>
        <p:nvSpPr>
          <p:cNvPr id="90" name="ovl_s17_lab5"/>
          <p:cNvSpPr txBox="1"/>
          <p:nvPr/>
        </p:nvSpPr>
        <p:spPr>
          <a:xfrm>
            <a:off x="3998976" y="290322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市場並みの価格</a:t>
            </a:r>
            <a:endParaRPr lang="en-US" sz="850" dirty="0"/>
          </a:p>
        </p:txBody>
      </p:sp>
      <p:sp>
        <p:nvSpPr>
          <p:cNvPr id="91" name="ovl_s17_lab6"/>
          <p:cNvSpPr txBox="1"/>
          <p:nvPr/>
        </p:nvSpPr>
        <p:spPr>
          <a:xfrm>
            <a:off x="1886331" y="397459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製品を足す</a:t>
            </a:r>
            <a:endParaRPr lang="en-US" sz="850" dirty="0"/>
          </a:p>
        </p:txBody>
      </p:sp>
      <p:sp>
        <p:nvSpPr>
          <p:cNvPr id="92" name="ovl_s17_lab7"/>
          <p:cNvSpPr txBox="1"/>
          <p:nvPr/>
        </p:nvSpPr>
        <p:spPr>
          <a:xfrm>
            <a:off x="3989870" y="397459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定着させる</a:t>
            </a:r>
            <a:endParaRPr lang="en-US" sz="850" dirty="0"/>
          </a:p>
        </p:txBody>
      </p:sp>
      <p:sp>
        <p:nvSpPr>
          <p:cNvPr id="93" name="ovl_s17_lab8"/>
          <p:cNvSpPr txBox="1"/>
          <p:nvPr/>
        </p:nvSpPr>
        <p:spPr>
          <a:xfrm>
            <a:off x="6224016" y="197358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高い金利で引き抜く</a:t>
            </a:r>
            <a:endParaRPr lang="en-US" sz="850" dirty="0"/>
          </a:p>
        </p:txBody>
      </p:sp>
      <p:sp>
        <p:nvSpPr>
          <p:cNvPr id="94" name="ovl_s17_lab9"/>
          <p:cNvSpPr txBox="1"/>
          <p:nvPr/>
        </p:nvSpPr>
        <p:spPr>
          <a:xfrm>
            <a:off x="6224016" y="383286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会員の奪い合い</a:t>
            </a:r>
            <a:endParaRPr lang="en-US" sz="850" dirty="0"/>
          </a:p>
        </p:txBody>
      </p:sp>
      <p:sp>
        <p:nvSpPr>
          <p:cNvPr id="95" name="ovl_s17_glab0"/>
          <p:cNvSpPr txBox="1"/>
          <p:nvPr/>
        </p:nvSpPr>
        <p:spPr>
          <a:xfrm>
            <a:off x="270967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800" dirty="0"/>
          </a:p>
        </p:txBody>
      </p:sp>
      <p:sp>
        <p:nvSpPr>
          <p:cNvPr id="96" name="ovl_s17_glab1"/>
          <p:cNvSpPr txBox="1"/>
          <p:nvPr/>
        </p:nvSpPr>
        <p:spPr>
          <a:xfrm>
            <a:off x="48889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優位の源泉</a:t>
            </a:r>
            <a:endParaRPr lang="en-US" sz="800" dirty="0"/>
          </a:p>
        </p:txBody>
      </p:sp>
      <p:sp>
        <p:nvSpPr>
          <p:cNvPr id="97" name="ovl_s17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8" name="ovl_s17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9" name="ovl_s17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0" name="ovl_s17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1" name="ovl_s17_leg2"/>
          <p:cNvSpPr/>
          <p:nvPr/>
        </p:nvSpPr>
        <p:spPr>
          <a:xfrm>
            <a:off x="329184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2" name="ovl_s17_legt2"/>
          <p:cNvSpPr txBox="1"/>
          <p:nvPr/>
        </p:nvSpPr>
        <p:spPr>
          <a:xfrm>
            <a:off x="371246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3" name="ovl_s17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4" name="ovl_s17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優位が続く期間</a:t>
            </a:r>
            <a:endParaRPr lang="en-US" sz="850" dirty="0"/>
          </a:p>
        </p:txBody>
      </p:sp>
      <p:sp>
        <p:nvSpPr>
          <p:cNvPr id="105" name="ovl_s17tb_tk2026"/>
          <p:cNvSpPr txBox="1"/>
          <p:nvPr/>
        </p:nvSpPr>
        <p:spPr>
          <a:xfrm>
            <a:off x="17830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106" name="ovl_s17tb_gl2026"/>
          <p:cNvSpPr/>
          <p:nvPr/>
        </p:nvSpPr>
        <p:spPr>
          <a:xfrm>
            <a:off x="20574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7" name="ovl_s17tb_tk2028"/>
          <p:cNvSpPr txBox="1"/>
          <p:nvPr/>
        </p:nvSpPr>
        <p:spPr>
          <a:xfrm>
            <a:off x="3026664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08" name="ovl_s17tb_gl2028"/>
          <p:cNvSpPr/>
          <p:nvPr/>
        </p:nvSpPr>
        <p:spPr>
          <a:xfrm>
            <a:off x="3300984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9" name="ovl_s17tb_tk2030"/>
          <p:cNvSpPr txBox="1"/>
          <p:nvPr/>
        </p:nvSpPr>
        <p:spPr>
          <a:xfrm>
            <a:off x="4270248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10" name="ovl_s17tb_gl2030"/>
          <p:cNvSpPr/>
          <p:nvPr/>
        </p:nvSpPr>
        <p:spPr>
          <a:xfrm>
            <a:off x="4544568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1" name="ovl_s17tb_tk2032"/>
          <p:cNvSpPr txBox="1"/>
          <p:nvPr/>
        </p:nvSpPr>
        <p:spPr>
          <a:xfrm>
            <a:off x="5513832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12" name="ovl_s17tb_gl2032"/>
          <p:cNvSpPr/>
          <p:nvPr/>
        </p:nvSpPr>
        <p:spPr>
          <a:xfrm>
            <a:off x="5788152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3" name="ovl_s17tb_tk2034"/>
          <p:cNvSpPr txBox="1"/>
          <p:nvPr/>
        </p:nvSpPr>
        <p:spPr>
          <a:xfrm>
            <a:off x="6757416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14" name="ovl_s17tb_gl2034"/>
          <p:cNvSpPr/>
          <p:nvPr/>
        </p:nvSpPr>
        <p:spPr>
          <a:xfrm>
            <a:off x="7031736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5" name="ovl_s17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16" name="ovl_s17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7" name="ovl_s17tb_l0"/>
          <p:cNvSpPr txBox="1"/>
          <p:nvPr/>
        </p:nvSpPr>
        <p:spPr>
          <a:xfrm>
            <a:off x="457200" y="5248656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18" name="ovl_s17tb_b0"/>
          <p:cNvSpPr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19" name="ovl_s17tb_t0"/>
          <p:cNvSpPr txBox="1"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20" name="ovl_s17tb_l1"/>
          <p:cNvSpPr txBox="1"/>
          <p:nvPr/>
        </p:nvSpPr>
        <p:spPr>
          <a:xfrm>
            <a:off x="457200" y="5510784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給与振込の関係(安い資金)</a:t>
            </a:r>
            <a:endParaRPr lang="en-US" sz="850" dirty="0"/>
          </a:p>
        </p:txBody>
      </p:sp>
      <p:sp>
        <p:nvSpPr>
          <p:cNvPr id="121" name="ovl_s17tb_b1"/>
          <p:cNvSpPr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22" name="ovl_s17tb_t1"/>
          <p:cNvSpPr txBox="1"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年(差は縮小中)</a:t>
            </a:r>
            <a:endParaRPr lang="en-US" sz="800" dirty="0"/>
          </a:p>
        </p:txBody>
      </p:sp>
      <p:sp>
        <p:nvSpPr>
          <p:cNvPr id="123" name="ovl_s17tb_l2"/>
          <p:cNvSpPr txBox="1"/>
          <p:nvPr/>
        </p:nvSpPr>
        <p:spPr>
          <a:xfrm>
            <a:off x="457200" y="5772912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24" name="ovl_s17tb_b2"/>
          <p:cNvSpPr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25" name="ovl_s17tb_t2"/>
          <p:cNvSpPr txBox="1"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</a:t>
            </a:r>
            <a:endParaRPr lang="en-US" sz="800" dirty="0"/>
          </a:p>
        </p:txBody>
      </p:sp>
      <p:sp>
        <p:nvSpPr>
          <p:cNvPr id="126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7" name="mech"/>
          <p:cNvSpPr txBox="1"/>
          <p:nvPr/>
        </p:nvSpPr>
        <p:spPr>
          <a:xfrm>
            <a:off x="8458200" y="1810512"/>
            <a:ext cx="3276295" cy="2801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給与振込の会員が預金の約 9 割。普通預金 3.30% は Chime 3.75%・Amex 3.90% より低いのに預金が残る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銀行免許で集めた預金は倉庫ラインより 1.56pt 安い。ただし前年の 1.87pt から縮んだ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安い預金が貸出を支え、NIM は 5.98%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APR 6.99〜35.49% は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LightStream・LendingClub と重なり、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価格では勝っていない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ブランド(非助成想起 10.4%)とクロスバイ 51% で会員当たり 1.54 製品。販促費は四半期 3.9 億ドル(+48%)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 も給与振込と会員を取りに来ており、資金の差を縮める圧力が続く</a:t>
            </a:r>
            <a:endParaRPr lang="en-US" sz="1100" dirty="0"/>
          </a:p>
        </p:txBody>
      </p:sp>
      <p:sp>
        <p:nvSpPr>
          <p:cNvPr id="128" name="ovl_takeaway_bg"/>
          <p:cNvSpPr/>
          <p:nvPr/>
        </p:nvSpPr>
        <p:spPr>
          <a:xfrm>
            <a:off x="8458200" y="4684776"/>
            <a:ext cx="3276295" cy="87020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9" name="takeaway"/>
          <p:cNvSpPr txBox="1"/>
          <p:nvPr/>
        </p:nvSpPr>
        <p:spPr>
          <a:xfrm>
            <a:off x="8567928" y="4757928"/>
            <a:ext cx="3056839" cy="7239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優位は価格ではなく、給与振込の関係が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生む安い資金。7〜10 年続くと見るが、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差は縮小中で圧倒的ではないため B</a:t>
            </a:r>
            <a:endParaRPr lang="en-US" sz="1000" dirty="0"/>
          </a:p>
        </p:txBody>
      </p:sp>
      <p:sp>
        <p:nvSpPr>
          <p:cNvPr id="130" name="updown"/>
          <p:cNvSpPr txBox="1"/>
          <p:nvPr/>
        </p:nvSpPr>
        <p:spPr>
          <a:xfrm>
            <a:off x="8458200" y="5628132"/>
            <a:ext cx="3276295" cy="4617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倉庫ライン比の差が 1.5pt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給与振込の預金が貸出と同じ速さで伸びれば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稼ぐ力(条件1〜3)(2/3)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2623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2623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コア事業の稼ぐ力と資本(条件2)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3227324" y="356616"/>
            <a:ext cx="8507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成長を自前の利益で賄えるかが、増資なしに伸びられるかを決める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コア事業は定常なら稼ぐが、今の成長は自前の資本生成の約 3 倍の速さ。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7〜9% は資本コスト 13.9% を下回る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資金の出し手 → SoFi の資本の源 → 使い道と結果 → 評価。①〜⑥ は右と対応。数値は Q2 2026(2026-06-30)と需給エンジン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会社開示(10-Q Q2 2026、自己資本比率の表)、research_r2/R7_funding_rates_capital.md、calc/out/val.json(engine_detail・steady_state・rotce)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条件2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2481072" y="1517904"/>
            <a:ext cx="377037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</a:t>
            </a:r>
            <a:endParaRPr lang="en-US" sz="950" dirty="0"/>
          </a:p>
        </p:txBody>
      </p:sp>
      <p:sp>
        <p:nvSpPr>
          <p:cNvPr id="31" name="ovl_grp0"/>
          <p:cNvSpPr/>
          <p:nvPr/>
        </p:nvSpPr>
        <p:spPr>
          <a:xfrm>
            <a:off x="252679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grp1"/>
          <p:cNvSpPr/>
          <p:nvPr/>
        </p:nvSpPr>
        <p:spPr>
          <a:xfrm>
            <a:off x="475183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3" name="ovl_s18_e0_0"/>
          <p:cNvSpPr/>
          <p:nvPr/>
        </p:nvSpPr>
        <p:spPr>
          <a:xfrm>
            <a:off x="1691640" y="2336292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4" name="ovl_s18_e1_0"/>
          <p:cNvSpPr/>
          <p:nvPr/>
        </p:nvSpPr>
        <p:spPr>
          <a:xfrm flipV="1">
            <a:off x="3253740" y="2665476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18_e2_0"/>
          <p:cNvSpPr/>
          <p:nvPr/>
        </p:nvSpPr>
        <p:spPr>
          <a:xfrm flipV="1">
            <a:off x="3253740" y="3570732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8_e3_0"/>
          <p:cNvSpPr/>
          <p:nvPr/>
        </p:nvSpPr>
        <p:spPr>
          <a:xfrm>
            <a:off x="107442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7" name="ovl_s18_e3_1"/>
          <p:cNvSpPr/>
          <p:nvPr/>
        </p:nvSpPr>
        <p:spPr>
          <a:xfrm>
            <a:off x="1074420" y="3703320"/>
            <a:ext cx="3947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8" name="ovl_s18_e3_2"/>
          <p:cNvSpPr/>
          <p:nvPr/>
        </p:nvSpPr>
        <p:spPr>
          <a:xfrm flipV="1">
            <a:off x="502158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18_e4_0"/>
          <p:cNvSpPr/>
          <p:nvPr/>
        </p:nvSpPr>
        <p:spPr>
          <a:xfrm flipV="1">
            <a:off x="1074420" y="3767328"/>
            <a:ext cx="914" cy="5029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0" name="ovl_s18_e4_1"/>
          <p:cNvSpPr/>
          <p:nvPr/>
        </p:nvSpPr>
        <p:spPr>
          <a:xfrm>
            <a:off x="1074420" y="3767328"/>
            <a:ext cx="417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1" name="ovl_s18_e4_2"/>
          <p:cNvSpPr/>
          <p:nvPr/>
        </p:nvSpPr>
        <p:spPr>
          <a:xfrm flipV="1">
            <a:off x="5250180" y="3570732"/>
            <a:ext cx="914" cy="196596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8_e5_0"/>
          <p:cNvSpPr/>
          <p:nvPr/>
        </p:nvSpPr>
        <p:spPr>
          <a:xfrm flipV="1">
            <a:off x="5478780" y="2665476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3" name="ovl_s18_e6_0"/>
          <p:cNvSpPr/>
          <p:nvPr/>
        </p:nvSpPr>
        <p:spPr>
          <a:xfrm flipH="1">
            <a:off x="3916680" y="2336292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4" name="ovl_s18_e7_0"/>
          <p:cNvSpPr/>
          <p:nvPr/>
        </p:nvSpPr>
        <p:spPr>
          <a:xfrm>
            <a:off x="3916680" y="2564892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5" name="ovl_s18_e7_1"/>
          <p:cNvSpPr/>
          <p:nvPr/>
        </p:nvSpPr>
        <p:spPr>
          <a:xfrm>
            <a:off x="4069080" y="2564892"/>
            <a:ext cx="914" cy="2487168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6" name="ovl_s18_e7_2"/>
          <p:cNvSpPr/>
          <p:nvPr/>
        </p:nvSpPr>
        <p:spPr>
          <a:xfrm flipH="1">
            <a:off x="3916680" y="5052060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7" name="ovl_s18_e8_0"/>
          <p:cNvSpPr/>
          <p:nvPr/>
        </p:nvSpPr>
        <p:spPr>
          <a:xfrm>
            <a:off x="5615940" y="3570732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8" name="ovl_s18_e9_0"/>
          <p:cNvSpPr/>
          <p:nvPr/>
        </p:nvSpPr>
        <p:spPr>
          <a:xfrm>
            <a:off x="5478780" y="4475988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9" name="ovl_s18_e9_1"/>
          <p:cNvSpPr/>
          <p:nvPr/>
        </p:nvSpPr>
        <p:spPr>
          <a:xfrm flipH="1">
            <a:off x="1074420" y="4599432"/>
            <a:ext cx="44043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50" name="ovl_s18_e9_2"/>
          <p:cNvSpPr/>
          <p:nvPr/>
        </p:nvSpPr>
        <p:spPr>
          <a:xfrm>
            <a:off x="1074420" y="4599432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51" name="ovl_s18_e10_0"/>
          <p:cNvSpPr/>
          <p:nvPr/>
        </p:nvSpPr>
        <p:spPr>
          <a:xfrm>
            <a:off x="6141720" y="5052060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2" name="ovl_s18_e10_1"/>
          <p:cNvSpPr/>
          <p:nvPr/>
        </p:nvSpPr>
        <p:spPr>
          <a:xfrm flipV="1">
            <a:off x="6812280" y="2336292"/>
            <a:ext cx="914" cy="271576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3" name="ovl_s18_e10_2"/>
          <p:cNvSpPr/>
          <p:nvPr/>
        </p:nvSpPr>
        <p:spPr>
          <a:xfrm>
            <a:off x="6812280" y="2336292"/>
            <a:ext cx="2286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4" name="ovl_s18_n_eq"/>
          <p:cNvSpPr/>
          <p:nvPr/>
        </p:nvSpPr>
        <p:spPr>
          <a:xfrm>
            <a:off x="45720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5" name="ovl_s18_nt_eq"/>
          <p:cNvSpPr txBox="1"/>
          <p:nvPr/>
        </p:nvSpPr>
        <p:spPr>
          <a:xfrm>
            <a:off x="49377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</a:t>
            </a:r>
            <a:endParaRPr lang="en-US" sz="1000" dirty="0"/>
          </a:p>
        </p:txBody>
      </p:sp>
      <p:sp>
        <p:nvSpPr>
          <p:cNvPr id="56" name="ovl_s18_ns_eq"/>
          <p:cNvSpPr txBox="1"/>
          <p:nvPr/>
        </p:nvSpPr>
        <p:spPr>
          <a:xfrm>
            <a:off x="50292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 億ドル増資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(20.85・27.50 ドル)</a:t>
            </a:r>
            <a:endParaRPr lang="en-US" sz="850" dirty="0"/>
          </a:p>
        </p:txBody>
      </p:sp>
      <p:sp>
        <p:nvSpPr>
          <p:cNvPr id="57" name="ovl_s18_n_dep"/>
          <p:cNvSpPr/>
          <p:nvPr/>
        </p:nvSpPr>
        <p:spPr>
          <a:xfrm>
            <a:off x="457200" y="2912364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8" name="ovl_s18_nt_dep"/>
          <p:cNvSpPr txBox="1"/>
          <p:nvPr/>
        </p:nvSpPr>
        <p:spPr>
          <a:xfrm>
            <a:off x="493776" y="293979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預金者</a:t>
            </a:r>
            <a:endParaRPr lang="en-US" sz="1000" dirty="0"/>
          </a:p>
        </p:txBody>
      </p:sp>
      <p:sp>
        <p:nvSpPr>
          <p:cNvPr id="59" name="ovl_s18_ns_dep"/>
          <p:cNvSpPr txBox="1"/>
          <p:nvPr/>
        </p:nvSpPr>
        <p:spPr>
          <a:xfrm>
            <a:off x="502920" y="3145536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</p:txBody>
      </p:sp>
      <p:sp>
        <p:nvSpPr>
          <p:cNvPr id="60" name="ovl_s18_n_mem"/>
          <p:cNvSpPr/>
          <p:nvPr/>
        </p:nvSpPr>
        <p:spPr>
          <a:xfrm>
            <a:off x="45720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1" name="ovl_s18_nt_mem"/>
          <p:cNvSpPr txBox="1"/>
          <p:nvPr/>
        </p:nvSpPr>
        <p:spPr>
          <a:xfrm>
            <a:off x="49377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62" name="ovl_s18_ns_mem"/>
          <p:cNvSpPr txBox="1"/>
          <p:nvPr/>
        </p:nvSpPr>
        <p:spPr>
          <a:xfrm>
            <a:off x="50292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107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(四半期、+54%)</a:t>
            </a:r>
            <a:endParaRPr lang="en-US" sz="850" dirty="0"/>
          </a:p>
        </p:txBody>
      </p:sp>
      <p:sp>
        <p:nvSpPr>
          <p:cNvPr id="63" name="ovl_s18_n_buyers"/>
          <p:cNvSpPr/>
          <p:nvPr/>
        </p:nvSpPr>
        <p:spPr>
          <a:xfrm>
            <a:off x="457200" y="4722876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4" name="ovl_s18_nt_buyers"/>
          <p:cNvSpPr txBox="1"/>
          <p:nvPr/>
        </p:nvSpPr>
        <p:spPr>
          <a:xfrm>
            <a:off x="493776" y="475030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65" name="ovl_s18_ns_buyers"/>
          <p:cNvSpPr txBox="1"/>
          <p:nvPr/>
        </p:nvSpPr>
        <p:spPr>
          <a:xfrm>
            <a:off x="502920" y="4956048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66" name="ovl_s18_n_cap"/>
          <p:cNvSpPr/>
          <p:nvPr/>
        </p:nvSpPr>
        <p:spPr>
          <a:xfrm>
            <a:off x="259080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7" name="ovl_s18_nt_cap"/>
          <p:cNvSpPr txBox="1"/>
          <p:nvPr/>
        </p:nvSpPr>
        <p:spPr>
          <a:xfrm>
            <a:off x="262737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68" name="ovl_s18_ns_cap"/>
          <p:cNvSpPr txBox="1"/>
          <p:nvPr/>
        </p:nvSpPr>
        <p:spPr>
          <a:xfrm>
            <a:off x="263652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91.7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</p:txBody>
      </p:sp>
      <p:sp>
        <p:nvSpPr>
          <p:cNvPr id="69" name="ovl_s18_n_ni"/>
          <p:cNvSpPr/>
          <p:nvPr/>
        </p:nvSpPr>
        <p:spPr>
          <a:xfrm>
            <a:off x="259080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18_nt_ni"/>
          <p:cNvSpPr txBox="1"/>
          <p:nvPr/>
        </p:nvSpPr>
        <p:spPr>
          <a:xfrm>
            <a:off x="262737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1000" dirty="0"/>
          </a:p>
        </p:txBody>
      </p:sp>
      <p:sp>
        <p:nvSpPr>
          <p:cNvPr id="71" name="ovl_s18_ns_ni"/>
          <p:cNvSpPr txBox="1"/>
          <p:nvPr/>
        </p:nvSpPr>
        <p:spPr>
          <a:xfrm>
            <a:off x="263652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 8.3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(エンジン)</a:t>
            </a:r>
            <a:endParaRPr lang="en-US" sz="850" dirty="0"/>
          </a:p>
        </p:txBody>
      </p:sp>
      <p:sp>
        <p:nvSpPr>
          <p:cNvPr id="72" name="ovl_s18_n_sbc"/>
          <p:cNvSpPr/>
          <p:nvPr/>
        </p:nvSpPr>
        <p:spPr>
          <a:xfrm>
            <a:off x="259080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3" name="ovl_s18_nt_sbc"/>
          <p:cNvSpPr txBox="1"/>
          <p:nvPr/>
        </p:nvSpPr>
        <p:spPr>
          <a:xfrm>
            <a:off x="262737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株式報酬</a:t>
            </a:r>
            <a:endParaRPr lang="en-US" sz="1000" dirty="0"/>
          </a:p>
        </p:txBody>
      </p:sp>
      <p:sp>
        <p:nvSpPr>
          <p:cNvPr id="74" name="ovl_s18_ns_sbc"/>
          <p:cNvSpPr txBox="1"/>
          <p:nvPr/>
        </p:nvSpPr>
        <p:spPr>
          <a:xfrm>
            <a:off x="263652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2.6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(資本に加わる)</a:t>
            </a:r>
            <a:endParaRPr lang="en-US" sz="850" dirty="0"/>
          </a:p>
        </p:txBody>
      </p:sp>
      <p:sp>
        <p:nvSpPr>
          <p:cNvPr id="75" name="ovl_s18_n_floor"/>
          <p:cNvSpPr/>
          <p:nvPr/>
        </p:nvSpPr>
        <p:spPr>
          <a:xfrm>
            <a:off x="259080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6" name="ovl_s18_nt_floor"/>
          <p:cNvSpPr txBox="1"/>
          <p:nvPr/>
        </p:nvSpPr>
        <p:spPr>
          <a:xfrm>
            <a:off x="262737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</a:t>
            </a:r>
            <a:endParaRPr lang="en-US" sz="1000" dirty="0"/>
          </a:p>
        </p:txBody>
      </p:sp>
      <p:sp>
        <p:nvSpPr>
          <p:cNvPr id="77" name="ovl_s18_ns_floor"/>
          <p:cNvSpPr txBox="1"/>
          <p:nvPr/>
        </p:nvSpPr>
        <p:spPr>
          <a:xfrm>
            <a:off x="263652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14〜15%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(10% 台前半〜半ば)</a:t>
            </a:r>
            <a:endParaRPr lang="en-US" sz="850" dirty="0"/>
          </a:p>
        </p:txBody>
      </p:sp>
      <p:sp>
        <p:nvSpPr>
          <p:cNvPr id="78" name="ovl_s18_n_rwa"/>
          <p:cNvSpPr/>
          <p:nvPr/>
        </p:nvSpPr>
        <p:spPr>
          <a:xfrm>
            <a:off x="481584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18_nt_rwa"/>
          <p:cNvSpPr txBox="1"/>
          <p:nvPr/>
        </p:nvSpPr>
        <p:spPr>
          <a:xfrm>
            <a:off x="485241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リスク資産(RWA)</a:t>
            </a:r>
            <a:endParaRPr lang="en-US" sz="1000" dirty="0"/>
          </a:p>
        </p:txBody>
      </p:sp>
      <p:sp>
        <p:nvSpPr>
          <p:cNvPr id="80" name="ovl_s18_ns_rwa"/>
          <p:cNvSpPr txBox="1"/>
          <p:nvPr/>
        </p:nvSpPr>
        <p:spPr>
          <a:xfrm>
            <a:off x="486156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372 → 487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(半年で +31%)</a:t>
            </a:r>
            <a:endParaRPr lang="en-US" sz="850" dirty="0"/>
          </a:p>
        </p:txBody>
      </p:sp>
      <p:sp>
        <p:nvSpPr>
          <p:cNvPr id="81" name="ovl_s18_n_bs"/>
          <p:cNvSpPr/>
          <p:nvPr/>
        </p:nvSpPr>
        <p:spPr>
          <a:xfrm>
            <a:off x="481584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2" name="ovl_s18_nt_bs"/>
          <p:cNvSpPr txBox="1"/>
          <p:nvPr/>
        </p:nvSpPr>
        <p:spPr>
          <a:xfrm>
            <a:off x="485241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83" name="ovl_s18_ns_bs"/>
          <p:cNvSpPr txBox="1"/>
          <p:nvPr/>
        </p:nvSpPr>
        <p:spPr>
          <a:xfrm>
            <a:off x="486156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84" name="ovl_s18_n_lpb"/>
          <p:cNvSpPr/>
          <p:nvPr/>
        </p:nvSpPr>
        <p:spPr>
          <a:xfrm>
            <a:off x="481584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5" name="ovl_s18_nt_lpb"/>
          <p:cNvSpPr txBox="1"/>
          <p:nvPr/>
        </p:nvSpPr>
        <p:spPr>
          <a:xfrm>
            <a:off x="485241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86" name="ovl_s18_ns_lpb"/>
          <p:cNvSpPr txBox="1"/>
          <p:nvPr/>
        </p:nvSpPr>
        <p:spPr>
          <a:xfrm>
            <a:off x="486156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資本を使わない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87" name="ovl_s18_n_steady"/>
          <p:cNvSpPr/>
          <p:nvPr/>
        </p:nvSpPr>
        <p:spPr>
          <a:xfrm>
            <a:off x="481584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8" name="ovl_s18_nt_steady"/>
          <p:cNvSpPr txBox="1"/>
          <p:nvPr/>
        </p:nvSpPr>
        <p:spPr>
          <a:xfrm>
            <a:off x="485241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定常の稼ぐ力</a:t>
            </a:r>
            <a:endParaRPr lang="en-US" sz="1000" dirty="0"/>
          </a:p>
        </p:txBody>
      </p:sp>
      <p:sp>
        <p:nvSpPr>
          <p:cNvPr id="89" name="ovl_s18_ns_steady"/>
          <p:cNvSpPr txBox="1"/>
          <p:nvPr/>
        </p:nvSpPr>
        <p:spPr>
          <a:xfrm>
            <a:off x="486156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成長を止めれば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 約 15 億ドル</a:t>
            </a:r>
            <a:endParaRPr lang="en-US" sz="850" dirty="0"/>
          </a:p>
        </p:txBody>
      </p:sp>
      <p:sp>
        <p:nvSpPr>
          <p:cNvPr id="90" name="ovl_s18_n_rotce"/>
          <p:cNvSpPr/>
          <p:nvPr/>
        </p:nvSpPr>
        <p:spPr>
          <a:xfrm>
            <a:off x="704088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1" name="ovl_s18_nt_rotce"/>
          <p:cNvSpPr txBox="1"/>
          <p:nvPr/>
        </p:nvSpPr>
        <p:spPr>
          <a:xfrm>
            <a:off x="707745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endParaRPr lang="en-US" sz="1000" dirty="0"/>
          </a:p>
        </p:txBody>
      </p:sp>
      <p:sp>
        <p:nvSpPr>
          <p:cNvPr id="92" name="ovl_s18_ns_rotce"/>
          <p:cNvSpPr txBox="1"/>
          <p:nvPr/>
        </p:nvSpPr>
        <p:spPr>
          <a:xfrm>
            <a:off x="708660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 7〜9%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 13.9%</a:t>
            </a:r>
            <a:endParaRPr lang="en-US" sz="850" dirty="0"/>
          </a:p>
        </p:txBody>
      </p:sp>
      <p:sp>
        <p:nvSpPr>
          <p:cNvPr id="93" name="ovl_s18_n_tbv"/>
          <p:cNvSpPr/>
          <p:nvPr/>
        </p:nvSpPr>
        <p:spPr>
          <a:xfrm>
            <a:off x="704088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94" name="ovl_s18_nt_tbv"/>
          <p:cNvSpPr txBox="1"/>
          <p:nvPr/>
        </p:nvSpPr>
        <p:spPr>
          <a:xfrm>
            <a:off x="707745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TBVPS</a:t>
            </a:r>
            <a:endParaRPr lang="en-US" sz="1000" dirty="0"/>
          </a:p>
        </p:txBody>
      </p:sp>
      <p:sp>
        <p:nvSpPr>
          <p:cNvPr id="95" name="ovl_s18_ns_tbv"/>
          <p:cNvSpPr txBox="1"/>
          <p:nvPr/>
        </p:nvSpPr>
        <p:spPr>
          <a:xfrm>
            <a:off x="708660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7.34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(増資で +56%)</a:t>
            </a:r>
            <a:endParaRPr lang="en-US" sz="850" dirty="0"/>
          </a:p>
        </p:txBody>
      </p:sp>
      <p:sp>
        <p:nvSpPr>
          <p:cNvPr id="96" name="ovl_s18_lab0"/>
          <p:cNvSpPr txBox="1"/>
          <p:nvPr/>
        </p:nvSpPr>
        <p:spPr>
          <a:xfrm>
            <a:off x="1736598" y="210312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 33 億</a:t>
            </a:r>
            <a:endParaRPr lang="en-US" sz="850" dirty="0"/>
          </a:p>
        </p:txBody>
      </p:sp>
      <p:sp>
        <p:nvSpPr>
          <p:cNvPr id="97" name="ovl_s18_lab1"/>
          <p:cNvSpPr txBox="1"/>
          <p:nvPr/>
        </p:nvSpPr>
        <p:spPr>
          <a:xfrm>
            <a:off x="2398776" y="268605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年約 11 億</a:t>
            </a:r>
            <a:endParaRPr lang="en-US" sz="850" dirty="0"/>
          </a:p>
        </p:txBody>
      </p:sp>
      <p:sp>
        <p:nvSpPr>
          <p:cNvPr id="98" name="ovl_s18_lab3"/>
          <p:cNvSpPr txBox="1"/>
          <p:nvPr/>
        </p:nvSpPr>
        <p:spPr>
          <a:xfrm>
            <a:off x="1916430" y="347014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</a:t>
            </a:r>
            <a:endParaRPr lang="en-US" sz="850" dirty="0"/>
          </a:p>
        </p:txBody>
      </p:sp>
      <p:sp>
        <p:nvSpPr>
          <p:cNvPr id="99" name="ovl_s18_lab4"/>
          <p:cNvSpPr txBox="1"/>
          <p:nvPr/>
        </p:nvSpPr>
        <p:spPr>
          <a:xfrm>
            <a:off x="1856994" y="379476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100" name="ovl_s18_lab5"/>
          <p:cNvSpPr txBox="1"/>
          <p:nvPr/>
        </p:nvSpPr>
        <p:spPr>
          <a:xfrm>
            <a:off x="5524500" y="268605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貸出が増える</a:t>
            </a:r>
            <a:endParaRPr lang="en-US" sz="850" dirty="0"/>
          </a:p>
        </p:txBody>
      </p:sp>
      <p:sp>
        <p:nvSpPr>
          <p:cNvPr id="101" name="ovl_s18_lab6"/>
          <p:cNvSpPr txBox="1"/>
          <p:nvPr/>
        </p:nvSpPr>
        <p:spPr>
          <a:xfrm>
            <a:off x="3953256" y="1961388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必要資本 年約 30 億</a:t>
            </a:r>
            <a:endParaRPr lang="en-US" sz="850" dirty="0"/>
          </a:p>
        </p:txBody>
      </p:sp>
      <p:sp>
        <p:nvSpPr>
          <p:cNvPr id="102" name="ovl_s18_lab7"/>
          <p:cNvSpPr txBox="1"/>
          <p:nvPr/>
        </p:nvSpPr>
        <p:spPr>
          <a:xfrm>
            <a:off x="4114800" y="4098798"/>
            <a:ext cx="66934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</a:t>
            </a:r>
            <a:endParaRPr lang="en-US" sz="850" dirty="0"/>
          </a:p>
        </p:txBody>
      </p:sp>
      <p:sp>
        <p:nvSpPr>
          <p:cNvPr id="103" name="ovl_s18_lab8"/>
          <p:cNvSpPr txBox="1"/>
          <p:nvPr/>
        </p:nvSpPr>
        <p:spPr>
          <a:xfrm>
            <a:off x="5661660" y="359130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4" name="ovl_s18_lab9"/>
          <p:cNvSpPr txBox="1"/>
          <p:nvPr/>
        </p:nvSpPr>
        <p:spPr>
          <a:xfrm>
            <a:off x="1854708" y="436626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5" name="ovl_s18_lab10"/>
          <p:cNvSpPr txBox="1"/>
          <p:nvPr/>
        </p:nvSpPr>
        <p:spPr>
          <a:xfrm>
            <a:off x="6858000" y="304266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成長の先行費用</a:t>
            </a:r>
            <a:endParaRPr lang="en-US" sz="850" dirty="0"/>
          </a:p>
        </p:txBody>
      </p:sp>
      <p:sp>
        <p:nvSpPr>
          <p:cNvPr id="106" name="ovl_s18_glab0"/>
          <p:cNvSpPr txBox="1"/>
          <p:nvPr/>
        </p:nvSpPr>
        <p:spPr>
          <a:xfrm>
            <a:off x="2618232" y="1828800"/>
            <a:ext cx="5527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資本の源</a:t>
            </a:r>
            <a:endParaRPr lang="en-US" sz="800" dirty="0"/>
          </a:p>
        </p:txBody>
      </p:sp>
      <p:sp>
        <p:nvSpPr>
          <p:cNvPr id="107" name="ovl_s18_glab1"/>
          <p:cNvSpPr txBox="1"/>
          <p:nvPr/>
        </p:nvSpPr>
        <p:spPr>
          <a:xfrm>
            <a:off x="4843272" y="1828800"/>
            <a:ext cx="7559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使い道と結果</a:t>
            </a:r>
            <a:endParaRPr lang="en-US" sz="800" dirty="0"/>
          </a:p>
        </p:txBody>
      </p:sp>
      <p:sp>
        <p:nvSpPr>
          <p:cNvPr id="108" name="ovl_s18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09" name="ovl_s18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10" name="ovl_s18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1" name="ovl_s18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2" name="ovl_s18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3" name="ovl_s18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4" name="ovl_s18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5" name="ovl_s18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6" name="ovl_s18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7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18" name="mech"/>
          <p:cNvSpPr txBox="1"/>
          <p:nvPr/>
        </p:nvSpPr>
        <p:spPr>
          <a:xfrm>
            <a:off x="8458200" y="1810512"/>
            <a:ext cx="3276295" cy="20467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年の増資 33 億ドルで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総自己資本比率は 22.9% に。TBVPS は 7.34 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自前の資本生成は、利益と株式報酬で年約 11 億ドル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上期の貸出の伸びが続くと、必要資本は年約 30 億ドルで自前の約 3 倍。比率は半年で 22.9% → 18.8%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このままでは 2027 年に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運用の下限(14〜15%)に当たる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その先は資本を使わない LPB に回すか増資。CFO は「現行計画では増資は不要」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今の規模で成長を止めれば純利益は約 15 億ドル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 株 9.06 ドル)。今は成長の先行費用で ROTCE 7〜9%</a:t>
            </a:r>
            <a:endParaRPr lang="en-US" sz="950" dirty="0"/>
          </a:p>
        </p:txBody>
      </p:sp>
      <p:sp>
        <p:nvSpPr>
          <p:cNvPr id="119" name="ovl_takeaway_bg"/>
          <p:cNvSpPr/>
          <p:nvPr/>
        </p:nvSpPr>
        <p:spPr>
          <a:xfrm>
            <a:off x="8458200" y="4108704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0" name="takeaway"/>
          <p:cNvSpPr txBox="1"/>
          <p:nvPr/>
        </p:nvSpPr>
        <p:spPr>
          <a:xfrm>
            <a:off x="8567928" y="4181856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定常なら稼ぐが、成長が資本を食う。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が資本コスト 13.9% を超えるのは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2029〜30 年のため C</a:t>
            </a:r>
            <a:endParaRPr lang="en-US" sz="1000" dirty="0"/>
          </a:p>
        </p:txBody>
      </p:sp>
      <p:sp>
        <p:nvSpPr>
          <p:cNvPr id="121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12% 以上と比率 16%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の比率が上がれば 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9% 未満が続くか、比率 15% 未満・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増資なら D</a:t>
            </a:r>
            <a:endParaRPr lang="en-US" sz="850" dirty="0"/>
          </a:p>
        </p:txBody>
      </p:sp>
      <p:sp>
        <p:nvSpPr>
          <p:cNvPr id="122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3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総自己資本比率 16% 未満で警戒・14% 未満で D 候補 / ROTCE 12% 以上で B 候補・9% 未満が 2 四半期続けば D 候補 / 増資の発表で D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稼ぐ力(条件1〜3)(3/3)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861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861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資産の転用(条件3)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465324" y="356616"/>
            <a:ext cx="9269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既存の会員と組成の基盤が新しい収益線を生めば、少ない追加投資で伸びる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会員と組成の基盤を LPB(年 5.6 億ドル)・手数料・SoFiUSD に転用し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成果が出始めた。Galileo は大口顧客の離脱で −23%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既存の資産 → 転用の経路 → 新しい収益 ← 外部。①〜④ は右と対応。数値は Q2 2026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決算・説明会)、research_r2/R9_products_people.md、research/R1b_kpi.md・R4_scuttlebutt.md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条件3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既存の資産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2542032" y="1517904"/>
            <a:ext cx="37398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の転用と成果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7022592" y="1517904"/>
            <a:ext cx="13624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</a:t>
            </a:r>
            <a:endParaRPr lang="en-US" sz="950" dirty="0"/>
          </a:p>
        </p:txBody>
      </p:sp>
      <p:sp>
        <p:nvSpPr>
          <p:cNvPr id="31" name="ovl_grp0"/>
          <p:cNvSpPr/>
          <p:nvPr/>
        </p:nvSpPr>
        <p:spPr>
          <a:xfrm>
            <a:off x="258775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grp1"/>
          <p:cNvSpPr/>
          <p:nvPr/>
        </p:nvSpPr>
        <p:spPr>
          <a:xfrm>
            <a:off x="482803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3" name="ovl_s19_e0_0"/>
          <p:cNvSpPr/>
          <p:nvPr/>
        </p:nvSpPr>
        <p:spPr>
          <a:xfrm>
            <a:off x="1691640" y="237515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4" name="ovl_s19_e1_0"/>
          <p:cNvSpPr/>
          <p:nvPr/>
        </p:nvSpPr>
        <p:spPr>
          <a:xfrm>
            <a:off x="3931920" y="237515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19_e2_0"/>
          <p:cNvSpPr/>
          <p:nvPr/>
        </p:nvSpPr>
        <p:spPr>
          <a:xfrm>
            <a:off x="1691640" y="3358134"/>
            <a:ext cx="96012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6" name="ovl_s19_e3_0"/>
          <p:cNvSpPr/>
          <p:nvPr/>
        </p:nvSpPr>
        <p:spPr>
          <a:xfrm>
            <a:off x="393192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9_e4_0"/>
          <p:cNvSpPr/>
          <p:nvPr/>
        </p:nvSpPr>
        <p:spPr>
          <a:xfrm flipH="1">
            <a:off x="617220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9_e5_0"/>
          <p:cNvSpPr/>
          <p:nvPr/>
        </p:nvSpPr>
        <p:spPr>
          <a:xfrm>
            <a:off x="1691640" y="434111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19_e6_0"/>
          <p:cNvSpPr/>
          <p:nvPr/>
        </p:nvSpPr>
        <p:spPr>
          <a:xfrm>
            <a:off x="3931920" y="434111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0" name="ovl_s19_e7_0"/>
          <p:cNvSpPr/>
          <p:nvPr/>
        </p:nvSpPr>
        <p:spPr>
          <a:xfrm>
            <a:off x="1691640" y="532409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9_e8_0"/>
          <p:cNvSpPr/>
          <p:nvPr/>
        </p:nvSpPr>
        <p:spPr>
          <a:xfrm>
            <a:off x="3931920" y="532409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9_e9_0"/>
          <p:cNvSpPr/>
          <p:nvPr/>
        </p:nvSpPr>
        <p:spPr>
          <a:xfrm flipH="1">
            <a:off x="6172200" y="5324094"/>
            <a:ext cx="96012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19_n_mem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4" name="ovl_s19_nt_mem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</a:t>
            </a:r>
            <a:endParaRPr lang="en-US" sz="1000" dirty="0"/>
          </a:p>
        </p:txBody>
      </p:sp>
      <p:sp>
        <p:nvSpPr>
          <p:cNvPr id="45" name="ovl_s19_ns_mem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46" name="ovl_s19_n_orig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7" name="ovl_s19_nt_orig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</a:t>
            </a:r>
            <a:endParaRPr lang="en-US" sz="1000" dirty="0"/>
          </a:p>
        </p:txBody>
      </p:sp>
      <p:sp>
        <p:nvSpPr>
          <p:cNvPr id="48" name="ovl_s19_ns_orig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107 億ドル/四半期</a:t>
            </a:r>
            <a:endParaRPr lang="en-US" sz="850" dirty="0"/>
          </a:p>
        </p:txBody>
      </p:sp>
      <p:sp>
        <p:nvSpPr>
          <p:cNvPr id="49" name="ovl_s19_n_charter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0" name="ovl_s19_nt_charter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銀行免許と預金</a:t>
            </a:r>
            <a:endParaRPr lang="en-US" sz="1000" dirty="0"/>
          </a:p>
        </p:txBody>
      </p:sp>
      <p:sp>
        <p:nvSpPr>
          <p:cNvPr id="51" name="ovl_s19_ns_charter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</p:txBody>
      </p:sp>
      <p:sp>
        <p:nvSpPr>
          <p:cNvPr id="52" name="ovl_s19_n_tech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3" name="ovl_s19_nt_tech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54" name="ovl_s19_ns_tech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</p:txBody>
      </p:sp>
      <p:sp>
        <p:nvSpPr>
          <p:cNvPr id="55" name="ovl_s19_n_cross"/>
          <p:cNvSpPr/>
          <p:nvPr/>
        </p:nvSpPr>
        <p:spPr>
          <a:xfrm>
            <a:off x="265176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6" name="ovl_s19_nt_cross"/>
          <p:cNvSpPr txBox="1"/>
          <p:nvPr/>
        </p:nvSpPr>
        <p:spPr>
          <a:xfrm>
            <a:off x="268833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57" name="ovl_s19_ns_cross"/>
          <p:cNvSpPr txBox="1"/>
          <p:nvPr/>
        </p:nvSpPr>
        <p:spPr>
          <a:xfrm>
            <a:off x="269748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58" name="ovl_s19_n_lpbc"/>
          <p:cNvSpPr/>
          <p:nvPr/>
        </p:nvSpPr>
        <p:spPr>
          <a:xfrm>
            <a:off x="265176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9" name="ovl_s19_nt_lpbc"/>
          <p:cNvSpPr txBox="1"/>
          <p:nvPr/>
        </p:nvSpPr>
        <p:spPr>
          <a:xfrm>
            <a:off x="268833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1000" dirty="0"/>
          </a:p>
        </p:txBody>
      </p:sp>
      <p:sp>
        <p:nvSpPr>
          <p:cNvPr id="60" name="ovl_s19_ns_lpbc"/>
          <p:cNvSpPr txBox="1"/>
          <p:nvPr/>
        </p:nvSpPr>
        <p:spPr>
          <a:xfrm>
            <a:off x="269748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 最大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ほか 100 億ドル超</a:t>
            </a:r>
            <a:endParaRPr lang="en-US" sz="850" dirty="0"/>
          </a:p>
        </p:txBody>
      </p:sp>
      <p:sp>
        <p:nvSpPr>
          <p:cNvPr id="61" name="ovl_s19_n_chain"/>
          <p:cNvSpPr/>
          <p:nvPr/>
        </p:nvSpPr>
        <p:spPr>
          <a:xfrm>
            <a:off x="265176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2" name="ovl_s19_nt_chain"/>
          <p:cNvSpPr txBox="1"/>
          <p:nvPr/>
        </p:nvSpPr>
        <p:spPr>
          <a:xfrm>
            <a:off x="268833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銀行の新商品</a:t>
            </a:r>
            <a:endParaRPr lang="en-US" sz="1000" dirty="0"/>
          </a:p>
        </p:txBody>
      </p:sp>
      <p:sp>
        <p:nvSpPr>
          <p:cNvPr id="63" name="ovl_s19_ns_chain"/>
          <p:cNvSpPr txBox="1"/>
          <p:nvPr/>
        </p:nvSpPr>
        <p:spPr>
          <a:xfrm>
            <a:off x="269748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2025-11 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2026-05</a:t>
            </a:r>
            <a:endParaRPr lang="en-US" sz="850" dirty="0"/>
          </a:p>
        </p:txBody>
      </p:sp>
      <p:sp>
        <p:nvSpPr>
          <p:cNvPr id="64" name="ovl_s19_n_ext"/>
          <p:cNvSpPr/>
          <p:nvPr/>
        </p:nvSpPr>
        <p:spPr>
          <a:xfrm>
            <a:off x="265176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5" name="ovl_s19_nt_ext"/>
          <p:cNvSpPr txBox="1"/>
          <p:nvPr/>
        </p:nvSpPr>
        <p:spPr>
          <a:xfrm>
            <a:off x="268833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外販</a:t>
            </a:r>
            <a:endParaRPr lang="en-US" sz="1000" dirty="0"/>
          </a:p>
        </p:txBody>
      </p:sp>
      <p:sp>
        <p:nvSpPr>
          <p:cNvPr id="66" name="ovl_s19_ns_ext"/>
          <p:cNvSpPr txBox="1"/>
          <p:nvPr/>
        </p:nvSpPr>
        <p:spPr>
          <a:xfrm>
            <a:off x="269748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口座基盤を提供</a:t>
            </a:r>
            <a:endParaRPr lang="en-US" sz="850" dirty="0"/>
          </a:p>
        </p:txBody>
      </p:sp>
      <p:sp>
        <p:nvSpPr>
          <p:cNvPr id="67" name="ovl_s19_n_fs"/>
          <p:cNvSpPr/>
          <p:nvPr/>
        </p:nvSpPr>
        <p:spPr>
          <a:xfrm>
            <a:off x="489204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8" name="ovl_s19_nt_fs"/>
          <p:cNvSpPr txBox="1"/>
          <p:nvPr/>
        </p:nvSpPr>
        <p:spPr>
          <a:xfrm>
            <a:off x="492861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</a:t>
            </a:r>
            <a:endParaRPr lang="en-US" sz="1000" dirty="0"/>
          </a:p>
        </p:txBody>
      </p:sp>
      <p:sp>
        <p:nvSpPr>
          <p:cNvPr id="69" name="ovl_s19_ns_fs"/>
          <p:cNvSpPr txBox="1"/>
          <p:nvPr/>
        </p:nvSpPr>
        <p:spPr>
          <a:xfrm>
            <a:off x="493776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(+81%)</a:t>
            </a:r>
            <a:endParaRPr lang="en-US" sz="850" dirty="0"/>
          </a:p>
        </p:txBody>
      </p:sp>
      <p:sp>
        <p:nvSpPr>
          <p:cNvPr id="70" name="ovl_s19_n_lpb"/>
          <p:cNvSpPr/>
          <p:nvPr/>
        </p:nvSpPr>
        <p:spPr>
          <a:xfrm>
            <a:off x="489204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1" name="ovl_s19_nt_lpb"/>
          <p:cNvSpPr txBox="1"/>
          <p:nvPr/>
        </p:nvSpPr>
        <p:spPr>
          <a:xfrm>
            <a:off x="492861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72" name="ovl_s19_ns_lpb"/>
          <p:cNvSpPr txBox="1"/>
          <p:nvPr/>
        </p:nvSpPr>
        <p:spPr>
          <a:xfrm>
            <a:off x="493776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5.6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(+11%)</a:t>
            </a:r>
            <a:endParaRPr lang="en-US" sz="850" dirty="0"/>
          </a:p>
        </p:txBody>
      </p:sp>
      <p:sp>
        <p:nvSpPr>
          <p:cNvPr id="73" name="ovl_s19_n_newb"/>
          <p:cNvSpPr/>
          <p:nvPr/>
        </p:nvSpPr>
        <p:spPr>
          <a:xfrm>
            <a:off x="4892040" y="3911346"/>
            <a:ext cx="1280160" cy="859536"/>
          </a:xfrm>
          <a:prstGeom prst="roundRect">
            <a:avLst>
              <a:gd name="adj" fmla="val 6383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4" name="ovl_s19_nt_newb"/>
          <p:cNvSpPr txBox="1"/>
          <p:nvPr/>
        </p:nvSpPr>
        <p:spPr>
          <a:xfrm>
            <a:off x="4928616" y="393877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新領域</a:t>
            </a:r>
            <a:endParaRPr lang="en-US" sz="1000" dirty="0"/>
          </a:p>
        </p:txBody>
      </p:sp>
      <p:sp>
        <p:nvSpPr>
          <p:cNvPr id="75" name="ovl_s19_ns_newb"/>
          <p:cNvSpPr txBox="1"/>
          <p:nvPr/>
        </p:nvSpPr>
        <p:spPr>
          <a:xfrm>
            <a:off x="4937760" y="4144518"/>
            <a:ext cx="118872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流通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中小企業ローン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2026-06〜</a:t>
            </a:r>
            <a:endParaRPr lang="en-US" sz="850" dirty="0"/>
          </a:p>
        </p:txBody>
      </p:sp>
      <p:sp>
        <p:nvSpPr>
          <p:cNvPr id="76" name="ovl_s19_n_gal"/>
          <p:cNvSpPr/>
          <p:nvPr/>
        </p:nvSpPr>
        <p:spPr>
          <a:xfrm>
            <a:off x="489204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7" name="ovl_s19_nt_gal"/>
          <p:cNvSpPr txBox="1"/>
          <p:nvPr/>
        </p:nvSpPr>
        <p:spPr>
          <a:xfrm>
            <a:off x="492861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</a:t>
            </a:r>
            <a:endParaRPr lang="en-US" sz="1000" dirty="0"/>
          </a:p>
        </p:txBody>
      </p:sp>
      <p:sp>
        <p:nvSpPr>
          <p:cNvPr id="78" name="ovl_s19_ns_gal"/>
          <p:cNvSpPr txBox="1"/>
          <p:nvPr/>
        </p:nvSpPr>
        <p:spPr>
          <a:xfrm>
            <a:off x="493776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−23%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大口顧客が離脱</a:t>
            </a:r>
            <a:endParaRPr lang="en-US" sz="850" dirty="0"/>
          </a:p>
        </p:txBody>
      </p:sp>
      <p:sp>
        <p:nvSpPr>
          <p:cNvPr id="79" name="ovl_s19_n_buyers"/>
          <p:cNvSpPr/>
          <p:nvPr/>
        </p:nvSpPr>
        <p:spPr>
          <a:xfrm>
            <a:off x="7132320" y="2910078"/>
            <a:ext cx="11430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0" name="ovl_s19_nt_buyers"/>
          <p:cNvSpPr txBox="1"/>
          <p:nvPr/>
        </p:nvSpPr>
        <p:spPr>
          <a:xfrm>
            <a:off x="7168896" y="293751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81" name="ovl_s19_ns_buyers"/>
          <p:cNvSpPr txBox="1"/>
          <p:nvPr/>
        </p:nvSpPr>
        <p:spPr>
          <a:xfrm>
            <a:off x="7178040" y="3143250"/>
            <a:ext cx="105156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Fortress・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BasePoint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 年 30 億ドル)</a:t>
            </a:r>
            <a:endParaRPr lang="en-US" sz="850" dirty="0"/>
          </a:p>
        </p:txBody>
      </p:sp>
      <p:sp>
        <p:nvSpPr>
          <p:cNvPr id="82" name="ovl_s19_n_chime"/>
          <p:cNvSpPr/>
          <p:nvPr/>
        </p:nvSpPr>
        <p:spPr>
          <a:xfrm>
            <a:off x="7132320" y="4958334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3" name="ovl_s19_nt_chime"/>
          <p:cNvSpPr txBox="1"/>
          <p:nvPr/>
        </p:nvSpPr>
        <p:spPr>
          <a:xfrm>
            <a:off x="7168896" y="4985766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84" name="ovl_s19_ns_chime"/>
          <p:cNvSpPr txBox="1"/>
          <p:nvPr/>
        </p:nvSpPr>
        <p:spPr>
          <a:xfrm>
            <a:off x="7178040" y="5191506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自社基盤へ移行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1,800 万ドル</a:t>
            </a:r>
            <a:endParaRPr lang="en-US" sz="850" dirty="0"/>
          </a:p>
        </p:txBody>
      </p:sp>
      <p:sp>
        <p:nvSpPr>
          <p:cNvPr id="85" name="ovl_s19_lab0"/>
          <p:cNvSpPr txBox="1"/>
          <p:nvPr/>
        </p:nvSpPr>
        <p:spPr>
          <a:xfrm>
            <a:off x="1807883" y="214198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86" name="ovl_s19_lab1"/>
          <p:cNvSpPr txBox="1"/>
          <p:nvPr/>
        </p:nvSpPr>
        <p:spPr>
          <a:xfrm>
            <a:off x="4182237" y="214198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7" name="ovl_s19_lab2"/>
          <p:cNvSpPr txBox="1"/>
          <p:nvPr/>
        </p:nvSpPr>
        <p:spPr>
          <a:xfrm>
            <a:off x="1728216" y="2983230"/>
            <a:ext cx="88696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組成して渡す</a:t>
            </a:r>
            <a:endParaRPr lang="en-US" sz="850" dirty="0"/>
          </a:p>
        </p:txBody>
      </p:sp>
      <p:sp>
        <p:nvSpPr>
          <p:cNvPr id="88" name="ovl_s19_lab3"/>
          <p:cNvSpPr txBox="1"/>
          <p:nvPr/>
        </p:nvSpPr>
        <p:spPr>
          <a:xfrm>
            <a:off x="4036505" y="3124962"/>
            <a:ext cx="75095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89" name="ovl_s19_lab4"/>
          <p:cNvSpPr txBox="1"/>
          <p:nvPr/>
        </p:nvSpPr>
        <p:spPr>
          <a:xfrm>
            <a:off x="6273870" y="3124962"/>
            <a:ext cx="75678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額面+手数料</a:t>
            </a:r>
            <a:endParaRPr lang="en-US" sz="850" dirty="0"/>
          </a:p>
        </p:txBody>
      </p:sp>
      <p:sp>
        <p:nvSpPr>
          <p:cNvPr id="90" name="ovl_s19_lab5"/>
          <p:cNvSpPr txBox="1"/>
          <p:nvPr/>
        </p:nvSpPr>
        <p:spPr>
          <a:xfrm>
            <a:off x="174959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銀行が発行</a:t>
            </a:r>
            <a:endParaRPr lang="en-US" sz="850" dirty="0"/>
          </a:p>
        </p:txBody>
      </p:sp>
      <p:sp>
        <p:nvSpPr>
          <p:cNvPr id="91" name="ovl_s19_lab6"/>
          <p:cNvSpPr txBox="1"/>
          <p:nvPr/>
        </p:nvSpPr>
        <p:spPr>
          <a:xfrm>
            <a:off x="4240530" y="410794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流通</a:t>
            </a:r>
            <a:endParaRPr lang="en-US" sz="850" dirty="0"/>
          </a:p>
        </p:txBody>
      </p:sp>
      <p:sp>
        <p:nvSpPr>
          <p:cNvPr id="92" name="ovl_s19_lab8"/>
          <p:cNvSpPr txBox="1"/>
          <p:nvPr/>
        </p:nvSpPr>
        <p:spPr>
          <a:xfrm>
            <a:off x="4106456" y="509092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3" name="ovl_s19_lab9"/>
          <p:cNvSpPr txBox="1"/>
          <p:nvPr/>
        </p:nvSpPr>
        <p:spPr>
          <a:xfrm>
            <a:off x="6480810" y="509092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離脱</a:t>
            </a:r>
            <a:endParaRPr lang="en-US" sz="850" dirty="0"/>
          </a:p>
        </p:txBody>
      </p:sp>
      <p:sp>
        <p:nvSpPr>
          <p:cNvPr id="94" name="ovl_s19_glab0"/>
          <p:cNvSpPr txBox="1"/>
          <p:nvPr/>
        </p:nvSpPr>
        <p:spPr>
          <a:xfrm>
            <a:off x="26791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転用の経路</a:t>
            </a:r>
            <a:endParaRPr lang="en-US" sz="800" dirty="0"/>
          </a:p>
        </p:txBody>
      </p:sp>
      <p:sp>
        <p:nvSpPr>
          <p:cNvPr id="95" name="ovl_s19_glab1"/>
          <p:cNvSpPr txBox="1"/>
          <p:nvPr/>
        </p:nvSpPr>
        <p:spPr>
          <a:xfrm>
            <a:off x="491947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新しい収益</a:t>
            </a:r>
            <a:endParaRPr lang="en-US" sz="800" dirty="0"/>
          </a:p>
        </p:txBody>
      </p:sp>
      <p:sp>
        <p:nvSpPr>
          <p:cNvPr id="96" name="ovl_s19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7" name="ovl_s19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8" name="ovl_s19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9" name="ovl_s19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0" name="ovl_s19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1" name="ovl_s19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2" name="ovl_s19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3" name="ovl_s19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4" name="ovl_s19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5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6" name="mech"/>
          <p:cNvSpPr txBox="1"/>
          <p:nvPr/>
        </p:nvSpPr>
        <p:spPr>
          <a:xfrm>
            <a:off x="8458200" y="1810512"/>
            <a:ext cx="3276295" cy="2003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万人に製品を足す。新製品の 51% は既存会員が開き、FS 手数料は 0.87 億ドル(+81%)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組成の能力を他社の資金に貸す。LPB 契約は 100 億ドル超、手数料は年 5.6 億ドル(+11%)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銀行免許の上に暗号資産(2025-11 再開)と SoFiUSD(2026-05)を載せた。流通は約 3 億ドルでまだ小さい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技術基盤の外販は、大口顧客(Chime)が自社基盤へ移り −23%。転用の失敗例</a:t>
            </a:r>
            <a:endParaRPr lang="en-US" sz="1100" dirty="0"/>
          </a:p>
        </p:txBody>
      </p:sp>
      <p:sp>
        <p:nvSpPr>
          <p:cNvPr id="107" name="ovl_takeaway_bg"/>
          <p:cNvSpPr/>
          <p:nvPr/>
        </p:nvSpPr>
        <p:spPr>
          <a:xfrm>
            <a:off x="8458200" y="4419600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8" name="takeaway"/>
          <p:cNvSpPr txBox="1"/>
          <p:nvPr/>
        </p:nvSpPr>
        <p:spPr>
          <a:xfrm>
            <a:off x="8567928" y="4492752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会員と組成の基盤の転用は成果が出たが、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新領域はまだ小さく、技術基盤の外販は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縮んでいるため B</a:t>
            </a:r>
            <a:endParaRPr lang="en-US" sz="1000" dirty="0"/>
          </a:p>
        </p:txBody>
      </p:sp>
      <p:sp>
        <p:nvSpPr>
          <p:cNvPr id="109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手数料が年 7 億ドルを超え、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手数料が +40% 以上を保てば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組成が四半期 30 億ドルを割り、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の流出が続けば C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経営(条件5)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経営者の能力(条件5)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成長と信用の判断を任せる経営陣が、その事業を築いた経験と資本配分の規律を持つかを確かめる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は資本市場と財務の経歴で銀行化と黒字化を果たし、貸出は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消費者金融の経験者が率いる。報酬は 1 株当たりでなく TBV の総額に連動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経歴(どこで何を築いたか)→ 現職 → 担う事業 → 結果。①〜⑤ は右と対応。経歴は会社発表・報道の要約に基づく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research/R3b_management.md、research_r2/R9_products_people.md(会社発表・DEF 14A・Form 4 の要約)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条件5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15910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2557272" y="1517904"/>
            <a:ext cx="36636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経営陣と担う事業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6839712" y="1517904"/>
            <a:ext cx="154533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</a:t>
            </a:r>
            <a:endParaRPr lang="en-US" sz="950" dirty="0"/>
          </a:p>
        </p:txBody>
      </p:sp>
      <p:sp>
        <p:nvSpPr>
          <p:cNvPr id="31" name="ovl_s21_e0_0"/>
          <p:cNvSpPr/>
          <p:nvPr/>
        </p:nvSpPr>
        <p:spPr>
          <a:xfrm>
            <a:off x="182880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2" name="ovl_s21_e1_0"/>
          <p:cNvSpPr/>
          <p:nvPr/>
        </p:nvSpPr>
        <p:spPr>
          <a:xfrm>
            <a:off x="182880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3" name="ovl_s21_e2_0"/>
          <p:cNvSpPr/>
          <p:nvPr/>
        </p:nvSpPr>
        <p:spPr>
          <a:xfrm>
            <a:off x="182880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4" name="ovl_s21_e3_0"/>
          <p:cNvSpPr/>
          <p:nvPr/>
        </p:nvSpPr>
        <p:spPr>
          <a:xfrm>
            <a:off x="182880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5" name="ovl_s21_e4_0"/>
          <p:cNvSpPr/>
          <p:nvPr/>
        </p:nvSpPr>
        <p:spPr>
          <a:xfrm>
            <a:off x="399288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21_e5_0"/>
          <p:cNvSpPr/>
          <p:nvPr/>
        </p:nvSpPr>
        <p:spPr>
          <a:xfrm>
            <a:off x="399288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21_e6_0"/>
          <p:cNvSpPr/>
          <p:nvPr/>
        </p:nvSpPr>
        <p:spPr>
          <a:xfrm>
            <a:off x="399288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1_e7_0"/>
          <p:cNvSpPr/>
          <p:nvPr/>
        </p:nvSpPr>
        <p:spPr>
          <a:xfrm>
            <a:off x="399288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1_e8_0"/>
          <p:cNvSpPr/>
          <p:nvPr/>
        </p:nvSpPr>
        <p:spPr>
          <a:xfrm>
            <a:off x="611124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0" name="ovl_s21_e9_0"/>
          <p:cNvSpPr/>
          <p:nvPr/>
        </p:nvSpPr>
        <p:spPr>
          <a:xfrm>
            <a:off x="611124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1_e10_0"/>
          <p:cNvSpPr/>
          <p:nvPr/>
        </p:nvSpPr>
        <p:spPr>
          <a:xfrm>
            <a:off x="611124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1_n_gt"/>
          <p:cNvSpPr/>
          <p:nvPr/>
        </p:nvSpPr>
        <p:spPr>
          <a:xfrm>
            <a:off x="457200" y="1904238"/>
            <a:ext cx="1371600" cy="941832"/>
          </a:xfrm>
          <a:prstGeom prst="roundRect">
            <a:avLst>
              <a:gd name="adj" fmla="val 5825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3" name="ovl_s21_nt_gt"/>
          <p:cNvSpPr txBox="1"/>
          <p:nvPr/>
        </p:nvSpPr>
        <p:spPr>
          <a:xfrm>
            <a:off x="493776" y="193167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NFL・Twitter</a:t>
            </a:r>
            <a:endParaRPr lang="en-US" sz="900" dirty="0"/>
          </a:p>
        </p:txBody>
      </p:sp>
      <p:sp>
        <p:nvSpPr>
          <p:cNvPr id="44" name="ovl_s21_ns_gt"/>
          <p:cNvSpPr txBox="1"/>
          <p:nvPr/>
        </p:nvSpPr>
        <p:spPr>
          <a:xfrm>
            <a:off x="502920" y="228828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Noto: GS 1999〜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2004 パートナー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 2008〜10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CFO 2014〜17</a:t>
            </a:r>
            <a:endParaRPr lang="en-US" sz="850" dirty="0"/>
          </a:p>
        </p:txBody>
      </p:sp>
      <p:sp>
        <p:nvSpPr>
          <p:cNvPr id="45" name="ovl_s21_n_uber"/>
          <p:cNvSpPr/>
          <p:nvPr/>
        </p:nvSpPr>
        <p:spPr>
          <a:xfrm>
            <a:off x="457200" y="298323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6" name="ovl_s21_nt_uber"/>
          <p:cNvSpPr txBox="1"/>
          <p:nvPr/>
        </p:nvSpPr>
        <p:spPr>
          <a:xfrm>
            <a:off x="493776" y="3010662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Goldman・Uber</a:t>
            </a:r>
            <a:endParaRPr lang="en-US" sz="1000" dirty="0"/>
          </a:p>
        </p:txBody>
      </p:sp>
      <p:sp>
        <p:nvSpPr>
          <p:cNvPr id="47" name="ovl_s21_ns_uber"/>
          <p:cNvSpPr txBox="1"/>
          <p:nvPr/>
        </p:nvSpPr>
        <p:spPr>
          <a:xfrm>
            <a:off x="502920" y="3216402"/>
            <a:ext cx="12801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Lapointe: GS 2012〜15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Uber 2015〜18</a:t>
            </a:r>
            <a:endParaRPr lang="en-US" sz="850" dirty="0"/>
          </a:p>
        </p:txBody>
      </p:sp>
      <p:sp>
        <p:nvSpPr>
          <p:cNvPr id="48" name="ovl_s21_n_cons"/>
          <p:cNvSpPr/>
          <p:nvPr/>
        </p:nvSpPr>
        <p:spPr>
          <a:xfrm>
            <a:off x="457200" y="3950208"/>
            <a:ext cx="1371600" cy="1764792"/>
          </a:xfrm>
          <a:prstGeom prst="roundRect">
            <a:avLst>
              <a:gd name="adj" fmla="val 40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9" name="ovl_s21_nt_cons"/>
          <p:cNvSpPr txBox="1"/>
          <p:nvPr/>
        </p:nvSpPr>
        <p:spPr>
          <a:xfrm>
            <a:off x="493776" y="397764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900" dirty="0"/>
          </a:p>
        </p:txBody>
      </p:sp>
      <p:sp>
        <p:nvSpPr>
          <p:cNvPr id="50" name="ovl_s21_ns_cons"/>
          <p:cNvSpPr txBox="1"/>
          <p:nvPr/>
        </p:nvSpPr>
        <p:spPr>
          <a:xfrm>
            <a:off x="502920" y="4334256"/>
            <a:ext cx="1280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JPM 住宅ローン CFO・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Capital One・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Citizens/Schwab・JPM</a:t>
            </a:r>
            <a:endParaRPr lang="en-US" sz="850" dirty="0"/>
          </a:p>
        </p:txBody>
      </p:sp>
      <p:sp>
        <p:nvSpPr>
          <p:cNvPr id="51" name="ovl_s21_n_noto"/>
          <p:cNvSpPr/>
          <p:nvPr/>
        </p:nvSpPr>
        <p:spPr>
          <a:xfrm>
            <a:off x="266700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2" name="ovl_s21_nt_noto"/>
          <p:cNvSpPr txBox="1"/>
          <p:nvPr/>
        </p:nvSpPr>
        <p:spPr>
          <a:xfrm>
            <a:off x="270357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(CEO)</a:t>
            </a:r>
            <a:endParaRPr lang="en-US" sz="900" dirty="0"/>
          </a:p>
        </p:txBody>
      </p:sp>
      <p:sp>
        <p:nvSpPr>
          <p:cNvPr id="53" name="ovl_s21_ns_noto"/>
          <p:cNvSpPr txBox="1"/>
          <p:nvPr/>
        </p:nvSpPr>
        <p:spPr>
          <a:xfrm>
            <a:off x="271272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2018-02 就任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West Point・Wharton</a:t>
            </a:r>
            <a:endParaRPr lang="en-US" sz="850" dirty="0"/>
          </a:p>
        </p:txBody>
      </p:sp>
      <p:sp>
        <p:nvSpPr>
          <p:cNvPr id="54" name="ovl_s21_n_lap"/>
          <p:cNvSpPr/>
          <p:nvPr/>
        </p:nvSpPr>
        <p:spPr>
          <a:xfrm>
            <a:off x="266700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5" name="ovl_s21_nt_lap"/>
          <p:cNvSpPr txBox="1"/>
          <p:nvPr/>
        </p:nvSpPr>
        <p:spPr>
          <a:xfrm>
            <a:off x="2703576" y="301066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(CFO)</a:t>
            </a:r>
            <a:endParaRPr lang="en-US" sz="900" dirty="0"/>
          </a:p>
        </p:txBody>
      </p:sp>
      <p:sp>
        <p:nvSpPr>
          <p:cNvPr id="56" name="ovl_s21_ns_lap"/>
          <p:cNvSpPr txBox="1"/>
          <p:nvPr/>
        </p:nvSpPr>
        <p:spPr>
          <a:xfrm>
            <a:off x="2712720" y="336727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 入社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2020-09 CFO</a:t>
            </a:r>
            <a:endParaRPr lang="en-US" sz="850" dirty="0"/>
          </a:p>
        </p:txBody>
      </p:sp>
      <p:sp>
        <p:nvSpPr>
          <p:cNvPr id="57" name="ovl_s21_n_sch"/>
          <p:cNvSpPr/>
          <p:nvPr/>
        </p:nvSpPr>
        <p:spPr>
          <a:xfrm>
            <a:off x="2667000" y="396621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8" name="ovl_s21_nt_sch"/>
          <p:cNvSpPr txBox="1"/>
          <p:nvPr/>
        </p:nvSpPr>
        <p:spPr>
          <a:xfrm>
            <a:off x="2703576" y="399364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(貸出の責任者)</a:t>
            </a:r>
            <a:endParaRPr lang="en-US" sz="900" dirty="0"/>
          </a:p>
        </p:txBody>
      </p:sp>
      <p:sp>
        <p:nvSpPr>
          <p:cNvPr id="59" name="ovl_s21_ns_sch"/>
          <p:cNvSpPr txBox="1"/>
          <p:nvPr/>
        </p:nvSpPr>
        <p:spPr>
          <a:xfrm>
            <a:off x="2712720" y="435025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2024-08 入社</a:t>
            </a:r>
            <a:endParaRPr lang="en-US" sz="850" dirty="0"/>
          </a:p>
        </p:txBody>
      </p:sp>
      <p:sp>
        <p:nvSpPr>
          <p:cNvPr id="60" name="ovl_s21_n_keo"/>
          <p:cNvSpPr/>
          <p:nvPr/>
        </p:nvSpPr>
        <p:spPr>
          <a:xfrm>
            <a:off x="2667000" y="494919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1" name="ovl_s21_nt_keo"/>
          <p:cNvSpPr txBox="1"/>
          <p:nvPr/>
        </p:nvSpPr>
        <p:spPr>
          <a:xfrm>
            <a:off x="2703576" y="497662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Keough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(FS の責任者)</a:t>
            </a:r>
            <a:endParaRPr lang="en-US" sz="900" dirty="0"/>
          </a:p>
        </p:txBody>
      </p:sp>
      <p:sp>
        <p:nvSpPr>
          <p:cNvPr id="62" name="ovl_s21_ns_keo"/>
          <p:cNvSpPr txBox="1"/>
          <p:nvPr/>
        </p:nvSpPr>
        <p:spPr>
          <a:xfrm>
            <a:off x="2712720" y="533323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2023-03 入社</a:t>
            </a:r>
            <a:endParaRPr lang="en-US" sz="850" dirty="0"/>
          </a:p>
        </p:txBody>
      </p:sp>
      <p:sp>
        <p:nvSpPr>
          <p:cNvPr id="63" name="ovl_s21_n_bank"/>
          <p:cNvSpPr/>
          <p:nvPr/>
        </p:nvSpPr>
        <p:spPr>
          <a:xfrm>
            <a:off x="4831080" y="200025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21_nt_bank"/>
          <p:cNvSpPr txBox="1"/>
          <p:nvPr/>
        </p:nvSpPr>
        <p:spPr>
          <a:xfrm>
            <a:off x="4867656" y="202768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銀行化と資本</a:t>
            </a:r>
            <a:endParaRPr lang="en-US" sz="1000" dirty="0"/>
          </a:p>
        </p:txBody>
      </p:sp>
      <p:sp>
        <p:nvSpPr>
          <p:cNvPr id="65" name="ovl_s21_ns_bank"/>
          <p:cNvSpPr txBox="1"/>
          <p:nvPr/>
        </p:nvSpPr>
        <p:spPr>
          <a:xfrm>
            <a:off x="4876800" y="223342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免許・増資・資本配分</a:t>
            </a:r>
            <a:endParaRPr lang="en-US" sz="850" dirty="0"/>
          </a:p>
        </p:txBody>
      </p:sp>
      <p:sp>
        <p:nvSpPr>
          <p:cNvPr id="66" name="ovl_s21_n_fin"/>
          <p:cNvSpPr/>
          <p:nvPr/>
        </p:nvSpPr>
        <p:spPr>
          <a:xfrm>
            <a:off x="4831080" y="298323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1_nt_fin"/>
          <p:cNvSpPr txBox="1"/>
          <p:nvPr/>
        </p:nvSpPr>
        <p:spPr>
          <a:xfrm>
            <a:off x="4867656" y="301066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財務とガイダンス</a:t>
            </a:r>
            <a:endParaRPr lang="en-US" sz="1000" dirty="0"/>
          </a:p>
        </p:txBody>
      </p:sp>
      <p:sp>
        <p:nvSpPr>
          <p:cNvPr id="68" name="ovl_s21_ns_fin"/>
          <p:cNvSpPr txBox="1"/>
          <p:nvPr/>
        </p:nvSpPr>
        <p:spPr>
          <a:xfrm>
            <a:off x="4876800" y="321640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利益計画・開示</a:t>
            </a:r>
            <a:endParaRPr lang="en-US" sz="850" dirty="0"/>
          </a:p>
        </p:txBody>
      </p:sp>
      <p:sp>
        <p:nvSpPr>
          <p:cNvPr id="69" name="ovl_s21_n_lend"/>
          <p:cNvSpPr/>
          <p:nvPr/>
        </p:nvSpPr>
        <p:spPr>
          <a:xfrm>
            <a:off x="4831080" y="396621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1_nt_lend"/>
          <p:cNvSpPr txBox="1"/>
          <p:nvPr/>
        </p:nvSpPr>
        <p:spPr>
          <a:xfrm>
            <a:off x="4867656" y="399364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個人・学生・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900" dirty="0"/>
          </a:p>
        </p:txBody>
      </p:sp>
      <p:sp>
        <p:nvSpPr>
          <p:cNvPr id="71" name="ovl_s21_ns_lend"/>
          <p:cNvSpPr txBox="1"/>
          <p:nvPr/>
        </p:nvSpPr>
        <p:spPr>
          <a:xfrm>
            <a:off x="4876800" y="435025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与信と SoFi Bank</a:t>
            </a:r>
            <a:endParaRPr lang="en-US" sz="850" dirty="0"/>
          </a:p>
        </p:txBody>
      </p:sp>
      <p:sp>
        <p:nvSpPr>
          <p:cNvPr id="72" name="ovl_s21_n_fsb"/>
          <p:cNvSpPr/>
          <p:nvPr/>
        </p:nvSpPr>
        <p:spPr>
          <a:xfrm>
            <a:off x="4831080" y="494919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3" name="ovl_s21_nt_fsb"/>
          <p:cNvSpPr txBox="1"/>
          <p:nvPr/>
        </p:nvSpPr>
        <p:spPr>
          <a:xfrm>
            <a:off x="4867656" y="497662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</a:t>
            </a:r>
            <a:endParaRPr lang="en-US" sz="1000" dirty="0"/>
          </a:p>
        </p:txBody>
      </p:sp>
      <p:sp>
        <p:nvSpPr>
          <p:cNvPr id="74" name="ovl_s21_ns_fsb"/>
          <p:cNvSpPr txBox="1"/>
          <p:nvPr/>
        </p:nvSpPr>
        <p:spPr>
          <a:xfrm>
            <a:off x="4876800" y="518236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Spend・Invest・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Protect・Save</a:t>
            </a:r>
            <a:endParaRPr lang="en-US" sz="850" dirty="0"/>
          </a:p>
        </p:txBody>
      </p:sp>
      <p:sp>
        <p:nvSpPr>
          <p:cNvPr id="75" name="ovl_s21_n_res1"/>
          <p:cNvSpPr/>
          <p:nvPr/>
        </p:nvSpPr>
        <p:spPr>
          <a:xfrm>
            <a:off x="694944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6" name="ovl_s21_nt_res1"/>
          <p:cNvSpPr txBox="1"/>
          <p:nvPr/>
        </p:nvSpPr>
        <p:spPr>
          <a:xfrm>
            <a:off x="698601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 2022 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GAAP 黒字 Q4 2023</a:t>
            </a:r>
            <a:endParaRPr lang="en-US" sz="900" dirty="0"/>
          </a:p>
        </p:txBody>
      </p:sp>
      <p:sp>
        <p:nvSpPr>
          <p:cNvPr id="77" name="ovl_s21_ns_res1"/>
          <p:cNvSpPr txBox="1"/>
          <p:nvPr/>
        </p:nvSpPr>
        <p:spPr>
          <a:xfrm>
            <a:off x="699516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約束した時期どおり</a:t>
            </a:r>
            <a:endParaRPr lang="en-US" sz="850" dirty="0"/>
          </a:p>
        </p:txBody>
      </p:sp>
      <p:sp>
        <p:nvSpPr>
          <p:cNvPr id="78" name="ovl_s21_n_res2"/>
          <p:cNvSpPr/>
          <p:nvPr/>
        </p:nvSpPr>
        <p:spPr>
          <a:xfrm>
            <a:off x="694944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9" name="ovl_s21_nt_res2"/>
          <p:cNvSpPr txBox="1"/>
          <p:nvPr/>
        </p:nvSpPr>
        <p:spPr>
          <a:xfrm>
            <a:off x="6986016" y="301066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年は計画超え</a:t>
            </a:r>
            <a:endParaRPr lang="en-US" sz="1000" dirty="0"/>
          </a:p>
        </p:txBody>
      </p:sp>
      <p:sp>
        <p:nvSpPr>
          <p:cNvPr id="80" name="ovl_s21_ns_res2"/>
          <p:cNvSpPr txBox="1"/>
          <p:nvPr/>
        </p:nvSpPr>
        <p:spPr>
          <a:xfrm>
            <a:off x="6995160" y="321640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計画 0.25〜0.27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実績 0.39</a:t>
            </a:r>
            <a:endParaRPr lang="en-US" sz="850" dirty="0"/>
          </a:p>
        </p:txBody>
      </p:sp>
      <p:sp>
        <p:nvSpPr>
          <p:cNvPr id="81" name="ovl_s21_n_res3"/>
          <p:cNvSpPr/>
          <p:nvPr/>
        </p:nvSpPr>
        <p:spPr>
          <a:xfrm>
            <a:off x="6949440" y="3929634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2" name="ovl_s21_nt_res3"/>
          <p:cNvSpPr txBox="1"/>
          <p:nvPr/>
        </p:nvSpPr>
        <p:spPr>
          <a:xfrm>
            <a:off x="6986016" y="39570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未達と未検証</a:t>
            </a:r>
            <a:endParaRPr lang="en-US" sz="1000" dirty="0"/>
          </a:p>
        </p:txBody>
      </p:sp>
      <p:sp>
        <p:nvSpPr>
          <p:cNvPr id="83" name="ovl_s21_ns_res3"/>
          <p:cNvSpPr txBox="1"/>
          <p:nvPr/>
        </p:nvSpPr>
        <p:spPr>
          <a:xfrm>
            <a:off x="6995160" y="4162806"/>
            <a:ext cx="1234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上場時の 2024 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予測に収益 −7%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 の効果は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未検証</a:t>
            </a:r>
            <a:endParaRPr lang="en-US" sz="850" dirty="0"/>
          </a:p>
        </p:txBody>
      </p:sp>
      <p:sp>
        <p:nvSpPr>
          <p:cNvPr id="84" name="ovl_s21_tag_noto"/>
          <p:cNvSpPr/>
          <p:nvPr/>
        </p:nvSpPr>
        <p:spPr>
          <a:xfrm>
            <a:off x="2753360" y="2777490"/>
            <a:ext cx="115316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5" name="ovl_s21_tagt_noto"/>
          <p:cNvSpPr txBox="1"/>
          <p:nvPr/>
        </p:nvSpPr>
        <p:spPr>
          <a:xfrm>
            <a:off x="2753360" y="2777490"/>
            <a:ext cx="115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報酬は TBV の総額</a:t>
            </a:r>
            <a:endParaRPr lang="en-US" sz="800" dirty="0"/>
          </a:p>
        </p:txBody>
      </p:sp>
      <p:sp>
        <p:nvSpPr>
          <p:cNvPr id="86" name="ovl_s21_lab0"/>
          <p:cNvSpPr txBox="1"/>
          <p:nvPr/>
        </p:nvSpPr>
        <p:spPr>
          <a:xfrm>
            <a:off x="1836420" y="2000250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資本市場・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上場企業財務</a:t>
            </a:r>
            <a:endParaRPr lang="en-US" sz="850" dirty="0"/>
          </a:p>
        </p:txBody>
      </p:sp>
      <p:sp>
        <p:nvSpPr>
          <p:cNvPr id="87" name="ovl_s21_lab1"/>
          <p:cNvSpPr txBox="1"/>
          <p:nvPr/>
        </p:nvSpPr>
        <p:spPr>
          <a:xfrm>
            <a:off x="1901571" y="312496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財務・成長</a:t>
            </a:r>
            <a:endParaRPr lang="en-US" sz="850" dirty="0"/>
          </a:p>
        </p:txBody>
      </p:sp>
      <p:sp>
        <p:nvSpPr>
          <p:cNvPr id="88" name="ovl_s21_lab2"/>
          <p:cNvSpPr txBox="1"/>
          <p:nvPr/>
        </p:nvSpPr>
        <p:spPr>
          <a:xfrm>
            <a:off x="1901571" y="410794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</a:t>
            </a:r>
            <a:endParaRPr lang="en-US" sz="850" dirty="0"/>
          </a:p>
        </p:txBody>
      </p:sp>
      <p:sp>
        <p:nvSpPr>
          <p:cNvPr id="89" name="ovl_s21_lab3"/>
          <p:cNvSpPr txBox="1"/>
          <p:nvPr/>
        </p:nvSpPr>
        <p:spPr>
          <a:xfrm>
            <a:off x="1959864" y="509092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850" dirty="0"/>
          </a:p>
        </p:txBody>
      </p:sp>
      <p:sp>
        <p:nvSpPr>
          <p:cNvPr id="90" name="ovl_s21_num4"/>
          <p:cNvSpPr/>
          <p:nvPr/>
        </p:nvSpPr>
        <p:spPr>
          <a:xfrm>
            <a:off x="4293108" y="225628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ovl_s21_numt4"/>
          <p:cNvSpPr txBox="1"/>
          <p:nvPr/>
        </p:nvSpPr>
        <p:spPr>
          <a:xfrm>
            <a:off x="4293108" y="22562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92" name="ovl_s21_num5"/>
          <p:cNvSpPr/>
          <p:nvPr/>
        </p:nvSpPr>
        <p:spPr>
          <a:xfrm>
            <a:off x="4293108" y="323926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1_numt5"/>
          <p:cNvSpPr txBox="1"/>
          <p:nvPr/>
        </p:nvSpPr>
        <p:spPr>
          <a:xfrm>
            <a:off x="4293108" y="32392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94" name="ovl_s21_num6"/>
          <p:cNvSpPr/>
          <p:nvPr/>
        </p:nvSpPr>
        <p:spPr>
          <a:xfrm>
            <a:off x="4293108" y="422224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ovl_s21_numt6"/>
          <p:cNvSpPr txBox="1"/>
          <p:nvPr/>
        </p:nvSpPr>
        <p:spPr>
          <a:xfrm>
            <a:off x="4293108" y="4222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6" name="ovl_s21_num7"/>
          <p:cNvSpPr/>
          <p:nvPr/>
        </p:nvSpPr>
        <p:spPr>
          <a:xfrm>
            <a:off x="4293108" y="520522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ovl_s21_numt7"/>
          <p:cNvSpPr txBox="1"/>
          <p:nvPr/>
        </p:nvSpPr>
        <p:spPr>
          <a:xfrm>
            <a:off x="4293108" y="52052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8" name="ovl_s21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9" name="ovl_s21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0" name="ovl_s21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1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2" name="mech"/>
          <p:cNvSpPr txBox="1"/>
          <p:nvPr/>
        </p:nvSpPr>
        <p:spPr>
          <a:xfrm>
            <a:off x="8458200" y="1810512"/>
            <a:ext cx="3276295" cy="2562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 は GS で資本市場、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で上場企業の財務を担った。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銀行免許(2022)と GAAP 黒字(Q4 2023)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を約束どおり達成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 は GS・Uber で財務を担い、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年は利益計画(EPS 0.25〜0.27)を上回る 0.39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貸出は JPM 住宅ローン CFO・Capital One・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 の消費者金融を経た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預金・投資・保険は Schwab・JPM で資産運用を担った Keough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報酬の PSU は TBV の総額の伸びに連動し、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株当たりではない。増資で総額は伸びる。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 2026 年に約 225 万ドル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(15.73〜18.06 ドル)を買い増し、1,228 万株を保有</a:t>
            </a:r>
            <a:endParaRPr lang="en-US" sz="950" dirty="0"/>
          </a:p>
        </p:txBody>
      </p:sp>
      <p:sp>
        <p:nvSpPr>
          <p:cNvPr id="103" name="ovl_takeaway_bg"/>
          <p:cNvSpPr/>
          <p:nvPr/>
        </p:nvSpPr>
        <p:spPr>
          <a:xfrm>
            <a:off x="8458200" y="4446016"/>
            <a:ext cx="3276295" cy="9794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4" name="takeaway"/>
          <p:cNvSpPr txBox="1"/>
          <p:nvPr/>
        </p:nvSpPr>
        <p:spPr>
          <a:xfrm>
            <a:off x="8567928" y="4519168"/>
            <a:ext cx="3056839" cy="83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その事業を築いた経験の持ち主が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貸出と預金を率い、約束の実行力は高い。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報酬が 1 株当たりでない点で B</a:t>
            </a:r>
            <a:endParaRPr lang="en-US" sz="1000" dirty="0"/>
          </a:p>
        </p:txBody>
      </p:sp>
      <p:sp>
        <p:nvSpPr>
          <p:cNvPr id="105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報酬を 1 株当たりの指標に切り替え、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目標の時期を示せば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利益計画の下方修正か、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低い株価での増資なら C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成長と割安度(条件6・7)(1/2)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成長と割安度(条件6)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成長の割に安いか(PEG&lt;1)は、長期保有で超過リターンを得る前提になる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 3 年成長率は約 30% で PEG は 0.8 前後と数値は満たす。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 2029 年以降は 20% 台に減速し、余裕は小さい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 3 年 EPS 成長率で PEG&lt;1(EPS CAGR 30% 前後)。EPS は調整後(会社定義)。PER は株価 14.55 ドル ÷ 2026 年 EPS 0.60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コンセンサス(research_r2/R8_peers_consensus.md)、会社の中期目標(2025〜28 年の調整後 EPS CAGR 38〜42%、2026-01-30。上端 42% を 2028 年まで使い、以降は +32%・+25%)、需給エンジン(calc/out/val.json の paths)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</a:t>
            </a:r>
            <a:endParaRPr lang="en-US" sz="800" dirty="0"/>
          </a:p>
        </p:txBody>
      </p:sp>
      <p:graphicFrame>
        <p:nvGraphicFramePr>
          <p:cNvPr id="2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43000"/>
                <a:gridCol w="1143000"/>
                <a:gridCol w="1097280"/>
                <a:gridCol w="109728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 CAGR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PER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1.32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30.1%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会社の目標(42%)の延長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1.47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34.9%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0.70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需給エンジン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31.1%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0.78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bullets"/>
          <p:cNvSpPr txBox="1"/>
          <p:nvPr/>
        </p:nvSpPr>
        <p:spPr>
          <a:xfrm>
            <a:off x="457200" y="3383280"/>
            <a:ext cx="7589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年ごとの伸びはエンジンで +41% → +31% → +22% → +23%、コンセンサスで +38% → +30% → +22% → +18%。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2029 年以降は 20% 台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年(2025 年 0.39 ドル → 2030 年)ではコンセンサス 32.0%、エンジン 33.6%。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年の低い起点が率を押し上げている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 が C(安い理由の主因は実在のリスク)のため、規則により B が上限</a:t>
            </a:r>
            <a:endParaRPr lang="en-US" sz="1050" dirty="0"/>
          </a:p>
        </p:txBody>
      </p:sp>
      <p:graphicFrame>
        <p:nvGraphicFramePr>
          <p:cNvPr id="24" name="chart_cagr" descr=""/>
          <p:cNvGraphicFramePr/>
          <p:nvPr/>
        </p:nvGraphicFramePr>
        <p:xfrm>
          <a:off x="457200" y="4343400"/>
          <a:ext cx="75895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ovl_thr"/>
          <p:cNvSpPr txBox="1"/>
          <p:nvPr/>
        </p:nvSpPr>
        <p:spPr>
          <a:xfrm>
            <a:off x="6309360" y="4663440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閾値 30%</a:t>
            </a:r>
            <a:endParaRPr lang="en-US" sz="900" dirty="0"/>
          </a:p>
        </p:txBody>
      </p:sp>
      <p:sp>
        <p:nvSpPr>
          <p:cNvPr id="26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28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PER 24.3 倍 = 14.55 ÷ 2026 年 EPS 0.60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年 CAGR は 2026 → 2029 年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コンセンサスとエンジンの差は 2029 年で 0.03 ドル(EPS に差分なし)</a:t>
            </a:r>
            <a:endParaRPr lang="en-US" sz="950" dirty="0"/>
          </a:p>
        </p:txBody>
      </p:sp>
      <p:sp>
        <p:nvSpPr>
          <p:cNvPr id="29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0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数値は PEG&lt;1 を満たすが、余裕が小さく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 と対で評価して B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成長と割安度(条件6・7)(2/2)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安い理由の検証(条件7)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安さが市場の見落としなら機会、実在のリスクなら罠。どちらかを見分ける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安い理由の主因は見落としではなく実在のリスク。金利に弱い評価、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資本を食う成長、景気に敏感な信用が株価を抑えている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市場の懸念(出所)→ 懸念の対象 → 事実 → 判定。①〜④ は右と対応。株価は 2026 年 EPS の 24.3 倍、2027 年の 17.2 倍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research/R3a_market_hypothesis.md(Muddy Waters・KBW・Morgan Stanley・BofA の要約)、research_r2/R5_credit_fv.md・R7_funding_rates_capital.md・R6_pnl_margin.md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25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159105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市場の懸念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2618232" y="1517904"/>
            <a:ext cx="149961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2618232" y="1517904"/>
            <a:ext cx="149961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261823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SoFi(懸念の対象)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4797552" y="1517904"/>
            <a:ext cx="16824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4797552" y="1517904"/>
            <a:ext cx="16824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4797552" y="15179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事実</a:t>
            </a:r>
            <a:endParaRPr lang="en-US" sz="950" dirty="0"/>
          </a:p>
        </p:txBody>
      </p:sp>
      <p:sp>
        <p:nvSpPr>
          <p:cNvPr id="31" name="bg_lane3"/>
          <p:cNvSpPr/>
          <p:nvPr/>
        </p:nvSpPr>
        <p:spPr>
          <a:xfrm>
            <a:off x="7159752" y="1517904"/>
            <a:ext cx="12252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bg_laneh3"/>
          <p:cNvSpPr/>
          <p:nvPr/>
        </p:nvSpPr>
        <p:spPr>
          <a:xfrm>
            <a:off x="7159752" y="1517904"/>
            <a:ext cx="12252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bg_lanet3"/>
          <p:cNvSpPr txBox="1"/>
          <p:nvPr/>
        </p:nvSpPr>
        <p:spPr>
          <a:xfrm>
            <a:off x="7159752" y="151790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</a:t>
            </a:r>
            <a:endParaRPr lang="en-US" sz="950" dirty="0"/>
          </a:p>
        </p:txBody>
      </p:sp>
      <p:sp>
        <p:nvSpPr>
          <p:cNvPr id="34" name="ovl_s23_e0_0"/>
          <p:cNvSpPr/>
          <p:nvPr/>
        </p:nvSpPr>
        <p:spPr>
          <a:xfrm>
            <a:off x="1828800" y="2336292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5" name="ovl_s23_e1_0"/>
          <p:cNvSpPr/>
          <p:nvPr/>
        </p:nvSpPr>
        <p:spPr>
          <a:xfrm>
            <a:off x="4008120" y="2336292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23_e2_0"/>
          <p:cNvSpPr/>
          <p:nvPr/>
        </p:nvSpPr>
        <p:spPr>
          <a:xfrm>
            <a:off x="6370320" y="2336292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23_e3_0"/>
          <p:cNvSpPr/>
          <p:nvPr/>
        </p:nvSpPr>
        <p:spPr>
          <a:xfrm>
            <a:off x="1828800" y="3241548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8" name="ovl_s23_e4_0"/>
          <p:cNvSpPr/>
          <p:nvPr/>
        </p:nvSpPr>
        <p:spPr>
          <a:xfrm>
            <a:off x="4008120" y="3241548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3_e5_0"/>
          <p:cNvSpPr/>
          <p:nvPr/>
        </p:nvSpPr>
        <p:spPr>
          <a:xfrm>
            <a:off x="6370320" y="3241548"/>
            <a:ext cx="4495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0" name="ovl_s23_e5_1"/>
          <p:cNvSpPr/>
          <p:nvPr/>
        </p:nvSpPr>
        <p:spPr>
          <a:xfrm>
            <a:off x="6819900" y="3241548"/>
            <a:ext cx="914" cy="79552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1" name="ovl_s23_e5_2"/>
          <p:cNvSpPr/>
          <p:nvPr/>
        </p:nvSpPr>
        <p:spPr>
          <a:xfrm>
            <a:off x="6819900" y="4037076"/>
            <a:ext cx="4495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3_e6_0"/>
          <p:cNvSpPr/>
          <p:nvPr/>
        </p:nvSpPr>
        <p:spPr>
          <a:xfrm>
            <a:off x="1828800" y="414680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23_e7_0"/>
          <p:cNvSpPr/>
          <p:nvPr/>
        </p:nvSpPr>
        <p:spPr>
          <a:xfrm>
            <a:off x="4008120" y="414680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3_e8_0"/>
          <p:cNvSpPr/>
          <p:nvPr/>
        </p:nvSpPr>
        <p:spPr>
          <a:xfrm>
            <a:off x="6370320" y="414680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5" name="ovl_s23_e9_0"/>
          <p:cNvSpPr/>
          <p:nvPr/>
        </p:nvSpPr>
        <p:spPr>
          <a:xfrm>
            <a:off x="1828800" y="5052060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6" name="ovl_s23_e10_0"/>
          <p:cNvSpPr/>
          <p:nvPr/>
        </p:nvSpPr>
        <p:spPr>
          <a:xfrm>
            <a:off x="4008120" y="5052060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3_e11_0"/>
          <p:cNvSpPr/>
          <p:nvPr/>
        </p:nvSpPr>
        <p:spPr>
          <a:xfrm>
            <a:off x="6370320" y="5052060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8" name="ovl_s23_n_d1"/>
          <p:cNvSpPr/>
          <p:nvPr/>
        </p:nvSpPr>
        <p:spPr>
          <a:xfrm>
            <a:off x="457200" y="1984248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23_nt_d1"/>
          <p:cNvSpPr txBox="1"/>
          <p:nvPr/>
        </p:nvSpPr>
        <p:spPr>
          <a:xfrm>
            <a:off x="493776" y="201168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会計への疑い(MW)</a:t>
            </a:r>
            <a:endParaRPr lang="en-US" sz="1000" dirty="0"/>
          </a:p>
        </p:txBody>
      </p:sp>
      <p:sp>
        <p:nvSpPr>
          <p:cNvPr id="50" name="ovl_s23_ns_d1"/>
          <p:cNvSpPr txBox="1"/>
          <p:nvPr/>
        </p:nvSpPr>
        <p:spPr>
          <a:xfrm>
            <a:off x="502920" y="2217420"/>
            <a:ext cx="1280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実質の貸倒 6.1%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未計上の債務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3.12 億ドル</a:t>
            </a:r>
            <a:endParaRPr lang="en-US" sz="850" dirty="0"/>
          </a:p>
        </p:txBody>
      </p:sp>
      <p:sp>
        <p:nvSpPr>
          <p:cNvPr id="51" name="ovl_s23_n_d2"/>
          <p:cNvSpPr/>
          <p:nvPr/>
        </p:nvSpPr>
        <p:spPr>
          <a:xfrm>
            <a:off x="457200" y="2889504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2" name="ovl_s23_nt_d2"/>
          <p:cNvSpPr txBox="1"/>
          <p:nvPr/>
        </p:nvSpPr>
        <p:spPr>
          <a:xfrm>
            <a:off x="493776" y="2916936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金利と公正価値(KBW)</a:t>
            </a:r>
            <a:endParaRPr lang="en-US" sz="900" dirty="0"/>
          </a:p>
        </p:txBody>
      </p:sp>
      <p:sp>
        <p:nvSpPr>
          <p:cNvPr id="53" name="ovl_s23_ns_d2"/>
          <p:cNvSpPr txBox="1"/>
          <p:nvPr/>
        </p:nvSpPr>
        <p:spPr>
          <a:xfrm>
            <a:off x="502920" y="3122676"/>
            <a:ext cx="1280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億ドル超の逆風</a:t>
            </a:r>
            <a:endParaRPr lang="en-US" sz="850" dirty="0"/>
          </a:p>
        </p:txBody>
      </p:sp>
      <p:sp>
        <p:nvSpPr>
          <p:cNvPr id="54" name="ovl_s23_n_d3"/>
          <p:cNvSpPr/>
          <p:nvPr/>
        </p:nvSpPr>
        <p:spPr>
          <a:xfrm>
            <a:off x="457200" y="3794760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5" name="ovl_s23_nt_d3"/>
          <p:cNvSpPr txBox="1"/>
          <p:nvPr/>
        </p:nvSpPr>
        <p:spPr>
          <a:xfrm>
            <a:off x="493776" y="3822192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資本を食う成長(MS)</a:t>
            </a:r>
            <a:endParaRPr lang="en-US" sz="900" dirty="0"/>
          </a:p>
        </p:txBody>
      </p:sp>
      <p:sp>
        <p:nvSpPr>
          <p:cNvPr id="56" name="ovl_s23_ns_d3"/>
          <p:cNvSpPr txBox="1"/>
          <p:nvPr/>
        </p:nvSpPr>
        <p:spPr>
          <a:xfrm>
            <a:off x="502920" y="4027932"/>
            <a:ext cx="1280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成長が資本集約的</a:t>
            </a:r>
            <a:endParaRPr lang="en-US" sz="850" dirty="0"/>
          </a:p>
        </p:txBody>
      </p:sp>
      <p:sp>
        <p:nvSpPr>
          <p:cNvPr id="57" name="ovl_s23_n_d4"/>
          <p:cNvSpPr/>
          <p:nvPr/>
        </p:nvSpPr>
        <p:spPr>
          <a:xfrm>
            <a:off x="457200" y="4700016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8" name="ovl_s23_nt_d4"/>
          <p:cNvSpPr txBox="1"/>
          <p:nvPr/>
        </p:nvSpPr>
        <p:spPr>
          <a:xfrm>
            <a:off x="493776" y="4727448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利益が付いてこない(BofA)</a:t>
            </a:r>
            <a:endParaRPr lang="en-US" sz="900" dirty="0"/>
          </a:p>
        </p:txBody>
      </p:sp>
      <p:sp>
        <p:nvSpPr>
          <p:cNvPr id="59" name="ovl_s23_ns_d4"/>
          <p:cNvSpPr txBox="1"/>
          <p:nvPr/>
        </p:nvSpPr>
        <p:spPr>
          <a:xfrm>
            <a:off x="502920" y="50840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売上は上方修正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利益計画は据え置き</a:t>
            </a:r>
            <a:endParaRPr lang="en-US" sz="850" dirty="0"/>
          </a:p>
        </p:txBody>
      </p:sp>
      <p:sp>
        <p:nvSpPr>
          <p:cNvPr id="60" name="ovl_s23_n_o1"/>
          <p:cNvSpPr/>
          <p:nvPr/>
        </p:nvSpPr>
        <p:spPr>
          <a:xfrm>
            <a:off x="2727960" y="1984248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23_nt_o1"/>
          <p:cNvSpPr txBox="1"/>
          <p:nvPr/>
        </p:nvSpPr>
        <p:spPr>
          <a:xfrm>
            <a:off x="2764536" y="2011680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貸倒と損失の前提</a:t>
            </a:r>
            <a:endParaRPr lang="en-US" sz="1000" dirty="0"/>
          </a:p>
        </p:txBody>
      </p:sp>
      <p:sp>
        <p:nvSpPr>
          <p:cNvPr id="62" name="ovl_s23_ns_o1"/>
          <p:cNvSpPr txBox="1"/>
          <p:nvPr/>
        </p:nvSpPr>
        <p:spPr>
          <a:xfrm>
            <a:off x="2773680" y="2217420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損失前提 4.8%</a:t>
            </a:r>
            <a:endParaRPr lang="en-US" sz="850" dirty="0"/>
          </a:p>
        </p:txBody>
      </p:sp>
      <p:sp>
        <p:nvSpPr>
          <p:cNvPr id="63" name="ovl_s23_n_o2"/>
          <p:cNvSpPr/>
          <p:nvPr/>
        </p:nvSpPr>
        <p:spPr>
          <a:xfrm>
            <a:off x="2727960" y="2889504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23_nt_o2"/>
          <p:cNvSpPr txBox="1"/>
          <p:nvPr/>
        </p:nvSpPr>
        <p:spPr>
          <a:xfrm>
            <a:off x="2764536" y="291693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ローンの評価</a:t>
            </a:r>
            <a:endParaRPr lang="en-US" sz="1000" dirty="0"/>
          </a:p>
        </p:txBody>
      </p:sp>
      <p:sp>
        <p:nvSpPr>
          <p:cNvPr id="65" name="ovl_s23_ns_o2"/>
          <p:cNvSpPr txBox="1"/>
          <p:nvPr/>
        </p:nvSpPr>
        <p:spPr>
          <a:xfrm>
            <a:off x="2773680" y="3122676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マーク 個人 104.7%</a:t>
            </a:r>
            <a:endParaRPr lang="en-US" sz="850" dirty="0"/>
          </a:p>
        </p:txBody>
      </p:sp>
      <p:sp>
        <p:nvSpPr>
          <p:cNvPr id="66" name="ovl_s23_n_o3"/>
          <p:cNvSpPr/>
          <p:nvPr/>
        </p:nvSpPr>
        <p:spPr>
          <a:xfrm>
            <a:off x="2727960" y="3794760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3_nt_o3"/>
          <p:cNvSpPr txBox="1"/>
          <p:nvPr/>
        </p:nvSpPr>
        <p:spPr>
          <a:xfrm>
            <a:off x="2764536" y="382219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68" name="ovl_s23_ns_o3"/>
          <p:cNvSpPr txBox="1"/>
          <p:nvPr/>
        </p:nvSpPr>
        <p:spPr>
          <a:xfrm>
            <a:off x="2773680" y="4027932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18.8%</a:t>
            </a:r>
            <a:endParaRPr lang="en-US" sz="850" dirty="0"/>
          </a:p>
        </p:txBody>
      </p:sp>
      <p:sp>
        <p:nvSpPr>
          <p:cNvPr id="69" name="ovl_s23_n_o4"/>
          <p:cNvSpPr/>
          <p:nvPr/>
        </p:nvSpPr>
        <p:spPr>
          <a:xfrm>
            <a:off x="2727960" y="4700016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3_nt_o4"/>
          <p:cNvSpPr txBox="1"/>
          <p:nvPr/>
        </p:nvSpPr>
        <p:spPr>
          <a:xfrm>
            <a:off x="2764536" y="472744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下期の利益計画</a:t>
            </a:r>
            <a:endParaRPr lang="en-US" sz="1000" dirty="0"/>
          </a:p>
        </p:txBody>
      </p:sp>
      <p:sp>
        <p:nvSpPr>
          <p:cNvPr id="71" name="ovl_s23_ns_o4"/>
          <p:cNvSpPr txBox="1"/>
          <p:nvPr/>
        </p:nvSpPr>
        <p:spPr>
          <a:xfrm>
            <a:off x="2773680" y="4933188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通期 EPS 0.60 ドル</a:t>
            </a:r>
            <a:endParaRPr lang="en-US" sz="850" dirty="0"/>
          </a:p>
        </p:txBody>
      </p:sp>
      <p:sp>
        <p:nvSpPr>
          <p:cNvPr id="72" name="ovl_s23_n_e1"/>
          <p:cNvSpPr/>
          <p:nvPr/>
        </p:nvSpPr>
        <p:spPr>
          <a:xfrm>
            <a:off x="4907280" y="1984248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3" name="ovl_s23_nt_e1"/>
          <p:cNvSpPr txBox="1"/>
          <p:nvPr/>
        </p:nvSpPr>
        <p:spPr>
          <a:xfrm>
            <a:off x="4943856" y="2011680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4.8% &gt; all-in 3.7%</a:t>
            </a:r>
            <a:endParaRPr lang="en-US" sz="900" dirty="0"/>
          </a:p>
        </p:txBody>
      </p:sp>
      <p:sp>
        <p:nvSpPr>
          <p:cNvPr id="74" name="ovl_s23_ns_e1"/>
          <p:cNvSpPr txBox="1"/>
          <p:nvPr/>
        </p:nvSpPr>
        <p:spPr>
          <a:xfrm>
            <a:off x="4953000" y="2368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売却した延滞債権を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足し戻しても内側</a:t>
            </a:r>
            <a:endParaRPr lang="en-US" sz="850" dirty="0"/>
          </a:p>
        </p:txBody>
      </p:sp>
      <p:sp>
        <p:nvSpPr>
          <p:cNvPr id="75" name="ovl_s23_n_e2"/>
          <p:cNvSpPr/>
          <p:nvPr/>
        </p:nvSpPr>
        <p:spPr>
          <a:xfrm>
            <a:off x="4907280" y="2889504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6" name="ovl_s23_nt_e2"/>
          <p:cNvSpPr txBox="1"/>
          <p:nvPr/>
        </p:nvSpPr>
        <p:spPr>
          <a:xfrm>
            <a:off x="4943856" y="2916936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割引率が薄い</a:t>
            </a:r>
            <a:endParaRPr lang="en-US" sz="1000" dirty="0"/>
          </a:p>
        </p:txBody>
      </p:sp>
      <p:sp>
        <p:nvSpPr>
          <p:cNvPr id="77" name="ovl_s23_ns_e2"/>
          <p:cNvSpPr txBox="1"/>
          <p:nvPr/>
        </p:nvSpPr>
        <p:spPr>
          <a:xfrm>
            <a:off x="4953000" y="3122676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4.97%・学生 4.29%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ヘッジ前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−4.5〜6.5 億ドル</a:t>
            </a:r>
            <a:endParaRPr lang="en-US" sz="850" dirty="0"/>
          </a:p>
        </p:txBody>
      </p:sp>
      <p:sp>
        <p:nvSpPr>
          <p:cNvPr id="78" name="ovl_s23_n_e3"/>
          <p:cNvSpPr/>
          <p:nvPr/>
        </p:nvSpPr>
        <p:spPr>
          <a:xfrm>
            <a:off x="4907280" y="3794760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23_nt_e3"/>
          <p:cNvSpPr txBox="1"/>
          <p:nvPr/>
        </p:nvSpPr>
        <p:spPr>
          <a:xfrm>
            <a:off x="4943856" y="3822192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比率の低下</a:t>
            </a:r>
            <a:endParaRPr lang="en-US" sz="1000" dirty="0"/>
          </a:p>
        </p:txBody>
      </p:sp>
      <p:sp>
        <p:nvSpPr>
          <p:cNvPr id="80" name="ovl_s23_ns_e3"/>
          <p:cNvSpPr txBox="1"/>
          <p:nvPr/>
        </p:nvSpPr>
        <p:spPr>
          <a:xfrm>
            <a:off x="4953000" y="4027932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半年で 22.9% → 18.8%</a:t>
            </a:r>
            <a:endParaRPr lang="en-US" sz="850" dirty="0"/>
          </a:p>
        </p:txBody>
      </p:sp>
      <p:sp>
        <p:nvSpPr>
          <p:cNvPr id="81" name="ovl_s23_n_e4"/>
          <p:cNvSpPr/>
          <p:nvPr/>
        </p:nvSpPr>
        <p:spPr>
          <a:xfrm>
            <a:off x="4907280" y="4700016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2" name="ovl_s23_nt_e4"/>
          <p:cNvSpPr txBox="1"/>
          <p:nvPr/>
        </p:nvSpPr>
        <p:spPr>
          <a:xfrm>
            <a:off x="4943856" y="4727448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下期に高い増分利益率</a:t>
            </a:r>
            <a:endParaRPr lang="en-US" sz="900" dirty="0"/>
          </a:p>
        </p:txBody>
      </p:sp>
      <p:sp>
        <p:nvSpPr>
          <p:cNvPr id="83" name="ovl_s23_ns_e4"/>
          <p:cNvSpPr txBox="1"/>
          <p:nvPr/>
        </p:nvSpPr>
        <p:spPr>
          <a:xfrm>
            <a:off x="4953000" y="4933188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増分 EBITDA 率 53〜64%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(前年は 36%)</a:t>
            </a:r>
            <a:endParaRPr lang="en-US" sz="850" dirty="0"/>
          </a:p>
        </p:txBody>
      </p:sp>
      <p:sp>
        <p:nvSpPr>
          <p:cNvPr id="84" name="ovl_s23_n_v1"/>
          <p:cNvSpPr/>
          <p:nvPr/>
        </p:nvSpPr>
        <p:spPr>
          <a:xfrm>
            <a:off x="7269480" y="1984248"/>
            <a:ext cx="1005840" cy="704088"/>
          </a:xfrm>
          <a:prstGeom prst="roundRect">
            <a:avLst>
              <a:gd name="adj" fmla="val 7792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5" name="ovl_s23_nt_v1"/>
          <p:cNvSpPr txBox="1"/>
          <p:nvPr/>
        </p:nvSpPr>
        <p:spPr>
          <a:xfrm>
            <a:off x="7306056" y="2011680"/>
            <a:ext cx="9326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会計の不正は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裏付けが弱い</a:t>
            </a:r>
            <a:endParaRPr lang="en-US" sz="900" dirty="0"/>
          </a:p>
        </p:txBody>
      </p:sp>
      <p:sp>
        <p:nvSpPr>
          <p:cNvPr id="86" name="ovl_s23_n_v2"/>
          <p:cNvSpPr/>
          <p:nvPr/>
        </p:nvSpPr>
        <p:spPr>
          <a:xfrm>
            <a:off x="7269480" y="3794760"/>
            <a:ext cx="1005840" cy="1609344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7" name="ovl_s23_nt_v2"/>
          <p:cNvSpPr txBox="1"/>
          <p:nvPr/>
        </p:nvSpPr>
        <p:spPr>
          <a:xfrm>
            <a:off x="7306056" y="3822192"/>
            <a:ext cx="932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金利・資本・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実在のリスク</a:t>
            </a:r>
            <a:endParaRPr lang="en-US" sz="900" dirty="0"/>
          </a:p>
        </p:txBody>
      </p:sp>
      <p:sp>
        <p:nvSpPr>
          <p:cNvPr id="88" name="ovl_s23_lab0"/>
          <p:cNvSpPr txBox="1"/>
          <p:nvPr/>
        </p:nvSpPr>
        <p:spPr>
          <a:xfrm>
            <a:off x="2031149" y="2103120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疑い</a:t>
            </a:r>
            <a:endParaRPr lang="en-US" sz="850" dirty="0"/>
          </a:p>
        </p:txBody>
      </p:sp>
      <p:sp>
        <p:nvSpPr>
          <p:cNvPr id="89" name="ovl_s23_lab3"/>
          <p:cNvSpPr txBox="1"/>
          <p:nvPr/>
        </p:nvSpPr>
        <p:spPr>
          <a:xfrm>
            <a:off x="2031149" y="3008376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疑い</a:t>
            </a:r>
            <a:endParaRPr lang="en-US" sz="850" dirty="0"/>
          </a:p>
        </p:txBody>
      </p:sp>
      <p:sp>
        <p:nvSpPr>
          <p:cNvPr id="90" name="ovl_s23_num6"/>
          <p:cNvSpPr/>
          <p:nvPr/>
        </p:nvSpPr>
        <p:spPr>
          <a:xfrm>
            <a:off x="2159508" y="402793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ovl_s23_numt6"/>
          <p:cNvSpPr txBox="1"/>
          <p:nvPr/>
        </p:nvSpPr>
        <p:spPr>
          <a:xfrm>
            <a:off x="2159508" y="40279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2" name="ovl_s23_num9"/>
          <p:cNvSpPr/>
          <p:nvPr/>
        </p:nvSpPr>
        <p:spPr>
          <a:xfrm>
            <a:off x="2159508" y="4933188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3_numt9"/>
          <p:cNvSpPr txBox="1"/>
          <p:nvPr/>
        </p:nvSpPr>
        <p:spPr>
          <a:xfrm>
            <a:off x="2159508" y="49331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4" name="ovl_s23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5" name="ovl_s23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6" name="ovl_s23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7" name="ovl_s23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8" name="ovl_s23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0" name="mech"/>
          <p:cNvSpPr txBox="1"/>
          <p:nvPr/>
        </p:nvSpPr>
        <p:spPr>
          <a:xfrm>
            <a:off x="8458200" y="1810512"/>
            <a:ext cx="3276295" cy="2171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MW は実質の貸倒 6.1% を主張。会社の公正価値の損失前提 4.8% は、売却した延滞債権を足し戻した all-in 3.7% より高く、利益の水増しの裏付けは弱い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ただし割引率は個人 4.97%・学生 4.29% と薄い。Q3 の金利上昇(+55〜60bp)でヘッジ前 −4.5〜6.5 億ドルの評価減を見込む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資本比率は半年で 4.1pt 下がった。成長を続けるには LPB か増資が要る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下期の利益計画は増分 EBITDA 率 53〜64% を要し、前年の 36% より高い</a:t>
            </a:r>
            <a:endParaRPr lang="en-US" sz="1100" dirty="0"/>
          </a:p>
        </p:txBody>
      </p:sp>
      <p:sp>
        <p:nvSpPr>
          <p:cNvPr id="101" name="ovl_takeaway_bg"/>
          <p:cNvSpPr/>
          <p:nvPr/>
        </p:nvSpPr>
        <p:spPr>
          <a:xfrm>
            <a:off x="8458200" y="4108704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2" name="takeaway"/>
          <p:cNvSpPr txBox="1"/>
          <p:nvPr/>
        </p:nvSpPr>
        <p:spPr>
          <a:xfrm>
            <a:off x="8567928" y="4181856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安さの主因は見落としではなく、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金利・資本・信用という実在のリスク。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会計の疑いは弱いため C</a:t>
            </a:r>
            <a:endParaRPr lang="en-US" sz="1000" dirty="0"/>
          </a:p>
        </p:txBody>
      </p:sp>
      <p:sp>
        <p:nvSpPr>
          <p:cNvPr id="103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のマークが 104% 以上、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4.0% 以下、下期の計画を達成すれば 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マークが 103% 未満、all-in 4.8% 超、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再表示があれば D</a:t>
            </a:r>
            <a:endParaRPr lang="en-US" sz="850" dirty="0"/>
          </a:p>
        </p:txBody>
      </p:sp>
      <p:sp>
        <p:nvSpPr>
          <p:cNvPr id="104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05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個人ローンのマーク 104% 以上で B 候補・103% 未満で D 候補 / all-in 貸倒率 4.0% 以下で確度を上げ・4.8% 超で D 候補(損失前提を超える)/ 再表示・当局の調査で E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商品と資産(条件8・10〜12)(1/3)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コモディティ性(条件8)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商品になる部分は競争で利ざやが削られる。価値のどれだけが商品かを測る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ローンは買い手がほぼ額面と手数料で買う市場の商品で、差別化は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会員との関係と預金にある。収益の約 6 割は貸出の利ざや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借り手 → SoFi の事業 → ローンの買い手 ← 価格の基準。①〜⑤ は右と対応。収益の内訳は Q2 2026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決算・10-Q)、research_r2/R9_products_people.md(各社の価格表)、research/R4_scuttlebutt.md(LPB 契約・プライベートクレジット)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条件8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131673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2404872" y="1517904"/>
            <a:ext cx="154533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4690872" y="1517904"/>
            <a:ext cx="149961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950" dirty="0"/>
          </a:p>
        </p:txBody>
      </p:sp>
      <p:sp>
        <p:nvSpPr>
          <p:cNvPr id="31" name="bg_lane3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bg_laneh3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bg_lanet3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価格の基準</a:t>
            </a:r>
            <a:endParaRPr lang="en-US" sz="950" dirty="0"/>
          </a:p>
        </p:txBody>
      </p:sp>
      <p:sp>
        <p:nvSpPr>
          <p:cNvPr id="34" name="ovl_s24_e0_0"/>
          <p:cNvSpPr/>
          <p:nvPr/>
        </p:nvSpPr>
        <p:spPr>
          <a:xfrm>
            <a:off x="1554480" y="2487168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24_e1_0"/>
          <p:cNvSpPr/>
          <p:nvPr/>
        </p:nvSpPr>
        <p:spPr>
          <a:xfrm flipV="1">
            <a:off x="7658100" y="1847088"/>
            <a:ext cx="914" cy="1828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6" name="ovl_s24_e1_1"/>
          <p:cNvSpPr/>
          <p:nvPr/>
        </p:nvSpPr>
        <p:spPr>
          <a:xfrm flipH="1">
            <a:off x="1005840" y="1847088"/>
            <a:ext cx="66522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7" name="ovl_s24_e1_2"/>
          <p:cNvSpPr/>
          <p:nvPr/>
        </p:nvSpPr>
        <p:spPr>
          <a:xfrm>
            <a:off x="1005840" y="1847088"/>
            <a:ext cx="914" cy="265176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8" name="ovl_s24_e2_0"/>
          <p:cNvSpPr/>
          <p:nvPr/>
        </p:nvSpPr>
        <p:spPr>
          <a:xfrm>
            <a:off x="2811780" y="2862072"/>
            <a:ext cx="914" cy="457200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9" name="ovl_s24_e3_0"/>
          <p:cNvSpPr/>
          <p:nvPr/>
        </p:nvSpPr>
        <p:spPr>
          <a:xfrm>
            <a:off x="3840480" y="3694176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0" name="ovl_s24_e3_1"/>
          <p:cNvSpPr/>
          <p:nvPr/>
        </p:nvSpPr>
        <p:spPr>
          <a:xfrm flipV="1">
            <a:off x="4320540" y="2487168"/>
            <a:ext cx="914" cy="120700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1" name="ovl_s24_e3_2"/>
          <p:cNvSpPr/>
          <p:nvPr/>
        </p:nvSpPr>
        <p:spPr>
          <a:xfrm>
            <a:off x="4320540" y="2487168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2" name="ovl_s24_e4_0"/>
          <p:cNvSpPr/>
          <p:nvPr/>
        </p:nvSpPr>
        <p:spPr>
          <a:xfrm>
            <a:off x="765810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3" name="ovl_s24_e4_1"/>
          <p:cNvSpPr/>
          <p:nvPr/>
        </p:nvSpPr>
        <p:spPr>
          <a:xfrm flipH="1">
            <a:off x="3177540" y="4160520"/>
            <a:ext cx="448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4" name="ovl_s24_e4_2"/>
          <p:cNvSpPr/>
          <p:nvPr/>
        </p:nvSpPr>
        <p:spPr>
          <a:xfrm flipV="1">
            <a:off x="317754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24_e5_0"/>
          <p:cNvSpPr/>
          <p:nvPr/>
        </p:nvSpPr>
        <p:spPr>
          <a:xfrm flipV="1">
            <a:off x="5440680" y="2862072"/>
            <a:ext cx="914" cy="45720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6" name="ovl_s24_e6_0"/>
          <p:cNvSpPr/>
          <p:nvPr/>
        </p:nvSpPr>
        <p:spPr>
          <a:xfrm>
            <a:off x="1554480" y="3694176"/>
            <a:ext cx="182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7" name="ovl_s24_e6_1"/>
          <p:cNvSpPr/>
          <p:nvPr/>
        </p:nvSpPr>
        <p:spPr>
          <a:xfrm>
            <a:off x="1737360" y="3694176"/>
            <a:ext cx="914" cy="134416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8" name="ovl_s24_e6_2"/>
          <p:cNvSpPr/>
          <p:nvPr/>
        </p:nvSpPr>
        <p:spPr>
          <a:xfrm>
            <a:off x="1737360" y="5038344"/>
            <a:ext cx="7772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9" name="ovl_s24_e7_0"/>
          <p:cNvSpPr/>
          <p:nvPr/>
        </p:nvSpPr>
        <p:spPr>
          <a:xfrm>
            <a:off x="1554480" y="4764024"/>
            <a:ext cx="3200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0" name="ovl_s24_e7_1"/>
          <p:cNvSpPr/>
          <p:nvPr/>
        </p:nvSpPr>
        <p:spPr>
          <a:xfrm flipV="1">
            <a:off x="1874520" y="2596896"/>
            <a:ext cx="914" cy="216712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1" name="ovl_s24_e7_2"/>
          <p:cNvSpPr/>
          <p:nvPr/>
        </p:nvSpPr>
        <p:spPr>
          <a:xfrm>
            <a:off x="1874520" y="2596896"/>
            <a:ext cx="640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2" name="ovl_s24_e8_0"/>
          <p:cNvSpPr/>
          <p:nvPr/>
        </p:nvSpPr>
        <p:spPr>
          <a:xfrm flipV="1">
            <a:off x="7658100" y="4251960"/>
            <a:ext cx="914" cy="27432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3" name="ovl_s24_e8_1"/>
          <p:cNvSpPr/>
          <p:nvPr/>
        </p:nvSpPr>
        <p:spPr>
          <a:xfrm flipH="1">
            <a:off x="1005840" y="4251960"/>
            <a:ext cx="66522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4" name="ovl_s24_e8_2"/>
          <p:cNvSpPr/>
          <p:nvPr/>
        </p:nvSpPr>
        <p:spPr>
          <a:xfrm flipV="1">
            <a:off x="1005840" y="4069080"/>
            <a:ext cx="914" cy="1828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5" name="ovl_s24_n_borrow"/>
          <p:cNvSpPr/>
          <p:nvPr/>
        </p:nvSpPr>
        <p:spPr>
          <a:xfrm>
            <a:off x="457200" y="2112264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6" name="ovl_s24_nt_borrow"/>
          <p:cNvSpPr txBox="1"/>
          <p:nvPr/>
        </p:nvSpPr>
        <p:spPr>
          <a:xfrm>
            <a:off x="493776" y="2139696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57" name="ovl_s24_ns_borrow"/>
          <p:cNvSpPr txBox="1"/>
          <p:nvPr/>
        </p:nvSpPr>
        <p:spPr>
          <a:xfrm>
            <a:off x="502920" y="2345436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金利を比べて選ぶ</a:t>
            </a:r>
            <a:endParaRPr lang="en-US" sz="850" dirty="0"/>
          </a:p>
        </p:txBody>
      </p:sp>
      <p:sp>
        <p:nvSpPr>
          <p:cNvPr id="58" name="ovl_s24_n_rel"/>
          <p:cNvSpPr/>
          <p:nvPr/>
        </p:nvSpPr>
        <p:spPr>
          <a:xfrm>
            <a:off x="457200" y="3319272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9" name="ovl_s24_nt_rel"/>
          <p:cNvSpPr txBox="1"/>
          <p:nvPr/>
        </p:nvSpPr>
        <p:spPr>
          <a:xfrm>
            <a:off x="493776" y="3346704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会員との関係</a:t>
            </a:r>
            <a:endParaRPr lang="en-US" sz="1000" dirty="0"/>
          </a:p>
        </p:txBody>
      </p:sp>
      <p:sp>
        <p:nvSpPr>
          <p:cNvPr id="60" name="ovl_s24_ns_rel"/>
          <p:cNvSpPr txBox="1"/>
          <p:nvPr/>
        </p:nvSpPr>
        <p:spPr>
          <a:xfrm>
            <a:off x="502920" y="3552444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61" name="ovl_s24_n_dd"/>
          <p:cNvSpPr/>
          <p:nvPr/>
        </p:nvSpPr>
        <p:spPr>
          <a:xfrm>
            <a:off x="457200" y="4526280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2" name="ovl_s24_nt_dd"/>
          <p:cNvSpPr txBox="1"/>
          <p:nvPr/>
        </p:nvSpPr>
        <p:spPr>
          <a:xfrm>
            <a:off x="493776" y="4553712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1000" dirty="0"/>
          </a:p>
        </p:txBody>
      </p:sp>
      <p:sp>
        <p:nvSpPr>
          <p:cNvPr id="63" name="ovl_s24_ns_dd"/>
          <p:cNvSpPr txBox="1"/>
          <p:nvPr/>
        </p:nvSpPr>
        <p:spPr>
          <a:xfrm>
            <a:off x="502920" y="4759452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</a:t>
            </a:r>
            <a:endParaRPr lang="en-US" sz="850" dirty="0"/>
          </a:p>
        </p:txBody>
      </p:sp>
      <p:sp>
        <p:nvSpPr>
          <p:cNvPr id="64" name="ovl_s24_n_nii"/>
          <p:cNvSpPr/>
          <p:nvPr/>
        </p:nvSpPr>
        <p:spPr>
          <a:xfrm>
            <a:off x="2514600" y="2112264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5" name="ovl_s24_nt_nii"/>
          <p:cNvSpPr txBox="1"/>
          <p:nvPr/>
        </p:nvSpPr>
        <p:spPr>
          <a:xfrm>
            <a:off x="2551176" y="21396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貸出の利ざや</a:t>
            </a:r>
            <a:endParaRPr lang="en-US" sz="1000" dirty="0"/>
          </a:p>
        </p:txBody>
      </p:sp>
      <p:sp>
        <p:nvSpPr>
          <p:cNvPr id="66" name="ovl_s24_ns_nii"/>
          <p:cNvSpPr txBox="1"/>
          <p:nvPr/>
        </p:nvSpPr>
        <p:spPr>
          <a:xfrm>
            <a:off x="2560320" y="2345436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67" name="ovl_s24_n_lpb"/>
          <p:cNvSpPr/>
          <p:nvPr/>
        </p:nvSpPr>
        <p:spPr>
          <a:xfrm>
            <a:off x="2514600" y="331927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8" name="ovl_s24_nt_lpb"/>
          <p:cNvSpPr txBox="1"/>
          <p:nvPr/>
        </p:nvSpPr>
        <p:spPr>
          <a:xfrm>
            <a:off x="2551176" y="3346704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LPB・売却益</a:t>
            </a:r>
            <a:endParaRPr lang="en-US" sz="1000" dirty="0"/>
          </a:p>
        </p:txBody>
      </p:sp>
      <p:sp>
        <p:nvSpPr>
          <p:cNvPr id="69" name="ovl_s24_ns_lpb"/>
          <p:cNvSpPr txBox="1"/>
          <p:nvPr/>
        </p:nvSpPr>
        <p:spPr>
          <a:xfrm>
            <a:off x="2560320" y="3552444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24%</a:t>
            </a:r>
            <a:endParaRPr lang="en-US" sz="850" dirty="0"/>
          </a:p>
        </p:txBody>
      </p:sp>
      <p:sp>
        <p:nvSpPr>
          <p:cNvPr id="70" name="ovl_s24_n_fee"/>
          <p:cNvSpPr/>
          <p:nvPr/>
        </p:nvSpPr>
        <p:spPr>
          <a:xfrm>
            <a:off x="2514600" y="452628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1" name="ovl_s24_nt_fee"/>
          <p:cNvSpPr txBox="1"/>
          <p:nvPr/>
        </p:nvSpPr>
        <p:spPr>
          <a:xfrm>
            <a:off x="2551176" y="45537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1000" dirty="0"/>
          </a:p>
        </p:txBody>
      </p:sp>
      <p:sp>
        <p:nvSpPr>
          <p:cNvPr id="72" name="ovl_s24_ns_fee"/>
          <p:cNvSpPr txBox="1"/>
          <p:nvPr/>
        </p:nvSpPr>
        <p:spPr>
          <a:xfrm>
            <a:off x="2560320" y="475945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11%</a:t>
            </a:r>
            <a:endParaRPr lang="en-US" sz="850" dirty="0"/>
          </a:p>
        </p:txBody>
      </p:sp>
      <p:sp>
        <p:nvSpPr>
          <p:cNvPr id="73" name="ovl_s24_n_bo"/>
          <p:cNvSpPr/>
          <p:nvPr/>
        </p:nvSpPr>
        <p:spPr>
          <a:xfrm>
            <a:off x="4800600" y="2112264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4" name="ovl_s24_nt_bo"/>
          <p:cNvSpPr txBox="1"/>
          <p:nvPr/>
        </p:nvSpPr>
        <p:spPr>
          <a:xfrm>
            <a:off x="4837176" y="213969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</a:t>
            </a:r>
            <a:endParaRPr lang="en-US" sz="900" dirty="0"/>
          </a:p>
        </p:txBody>
      </p:sp>
      <p:sp>
        <p:nvSpPr>
          <p:cNvPr id="75" name="ovl_s24_ns_bo"/>
          <p:cNvSpPr txBox="1"/>
          <p:nvPr/>
        </p:nvSpPr>
        <p:spPr>
          <a:xfrm>
            <a:off x="4846320" y="2345436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76" name="ovl_s24_n_pc"/>
          <p:cNvSpPr/>
          <p:nvPr/>
        </p:nvSpPr>
        <p:spPr>
          <a:xfrm>
            <a:off x="4800600" y="3319272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7" name="ovl_s24_nt_pc"/>
          <p:cNvSpPr txBox="1"/>
          <p:nvPr/>
        </p:nvSpPr>
        <p:spPr>
          <a:xfrm>
            <a:off x="4837176" y="33467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</a:t>
            </a:r>
            <a:endParaRPr lang="en-US" sz="900" dirty="0"/>
          </a:p>
        </p:txBody>
      </p:sp>
      <p:sp>
        <p:nvSpPr>
          <p:cNvPr id="78" name="ovl_s24_ns_pc"/>
          <p:cNvSpPr txBox="1"/>
          <p:nvPr/>
        </p:nvSpPr>
        <p:spPr>
          <a:xfrm>
            <a:off x="4846320" y="370332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個人ローン組成の約 1/4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に資金(前年 6%)</a:t>
            </a:r>
            <a:endParaRPr lang="en-US" sz="800" dirty="0"/>
          </a:p>
        </p:txBody>
      </p:sp>
      <p:sp>
        <p:nvSpPr>
          <p:cNvPr id="79" name="ovl_s24_n_bank"/>
          <p:cNvSpPr/>
          <p:nvPr/>
        </p:nvSpPr>
        <p:spPr>
          <a:xfrm>
            <a:off x="4800600" y="452628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0" name="ovl_s24_nt_bank"/>
          <p:cNvSpPr txBox="1"/>
          <p:nvPr/>
        </p:nvSpPr>
        <p:spPr>
          <a:xfrm>
            <a:off x="4837176" y="45537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銀行・ABS の投資家</a:t>
            </a:r>
            <a:endParaRPr lang="en-US" sz="900" dirty="0"/>
          </a:p>
        </p:txBody>
      </p:sp>
      <p:sp>
        <p:nvSpPr>
          <p:cNvPr id="81" name="ovl_s24_ns_bank"/>
          <p:cNvSpPr txBox="1"/>
          <p:nvPr/>
        </p:nvSpPr>
        <p:spPr>
          <a:xfrm>
            <a:off x="4846320" y="475945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全額売却 106.5%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(Q4 2025)</a:t>
            </a:r>
            <a:endParaRPr lang="en-US" sz="850" dirty="0"/>
          </a:p>
        </p:txBody>
      </p:sp>
      <p:sp>
        <p:nvSpPr>
          <p:cNvPr id="82" name="ovl_s24_n_apr"/>
          <p:cNvSpPr/>
          <p:nvPr/>
        </p:nvSpPr>
        <p:spPr>
          <a:xfrm>
            <a:off x="7040880" y="202996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3" name="ovl_s24_nt_apr"/>
          <p:cNvSpPr txBox="1"/>
          <p:nvPr/>
        </p:nvSpPr>
        <p:spPr>
          <a:xfrm>
            <a:off x="7077456" y="205740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 APR</a:t>
            </a:r>
            <a:endParaRPr lang="en-US" sz="1000" dirty="0"/>
          </a:p>
        </p:txBody>
      </p:sp>
      <p:sp>
        <p:nvSpPr>
          <p:cNvPr id="84" name="ovl_s24_ns_apr"/>
          <p:cNvSpPr txBox="1"/>
          <p:nvPr/>
        </p:nvSpPr>
        <p:spPr>
          <a:xfrm>
            <a:off x="7086600" y="2263140"/>
            <a:ext cx="1143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</p:txBody>
      </p:sp>
      <p:sp>
        <p:nvSpPr>
          <p:cNvPr id="85" name="ovl_s24_n_par"/>
          <p:cNvSpPr/>
          <p:nvPr/>
        </p:nvSpPr>
        <p:spPr>
          <a:xfrm>
            <a:off x="7040880" y="3319272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6" name="ovl_s24_nt_par"/>
          <p:cNvSpPr txBox="1"/>
          <p:nvPr/>
        </p:nvSpPr>
        <p:spPr>
          <a:xfrm>
            <a:off x="7077456" y="3346704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売却の価格</a:t>
            </a:r>
            <a:endParaRPr lang="en-US" sz="1000" dirty="0"/>
          </a:p>
        </p:txBody>
      </p:sp>
      <p:sp>
        <p:nvSpPr>
          <p:cNvPr id="87" name="ovl_s24_ns_par"/>
          <p:cNvSpPr txBox="1"/>
          <p:nvPr/>
        </p:nvSpPr>
        <p:spPr>
          <a:xfrm>
            <a:off x="7086600" y="3552444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ほぼ額面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 手数料 4.6%</a:t>
            </a:r>
            <a:endParaRPr lang="en-US" sz="850" dirty="0"/>
          </a:p>
        </p:txBody>
      </p:sp>
      <p:sp>
        <p:nvSpPr>
          <p:cNvPr id="88" name="ovl_s24_n_brand"/>
          <p:cNvSpPr/>
          <p:nvPr/>
        </p:nvSpPr>
        <p:spPr>
          <a:xfrm>
            <a:off x="7040880" y="452628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9" name="ovl_s24_nt_brand"/>
          <p:cNvSpPr txBox="1"/>
          <p:nvPr/>
        </p:nvSpPr>
        <p:spPr>
          <a:xfrm>
            <a:off x="7077456" y="455371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90" name="ovl_s24_ns_brand"/>
          <p:cNvSpPr txBox="1"/>
          <p:nvPr/>
        </p:nvSpPr>
        <p:spPr>
          <a:xfrm>
            <a:off x="7086600" y="4759452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</p:txBody>
      </p:sp>
      <p:sp>
        <p:nvSpPr>
          <p:cNvPr id="91" name="ovl_s24_tag_nii"/>
          <p:cNvSpPr/>
          <p:nvPr/>
        </p:nvSpPr>
        <p:spPr>
          <a:xfrm>
            <a:off x="2984500" y="1901952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ovl_s24_tagt_nii"/>
          <p:cNvSpPr txBox="1"/>
          <p:nvPr/>
        </p:nvSpPr>
        <p:spPr>
          <a:xfrm>
            <a:off x="2984500" y="1901952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3" name="ovl_s24_tag_lpb"/>
          <p:cNvSpPr/>
          <p:nvPr/>
        </p:nvSpPr>
        <p:spPr>
          <a:xfrm>
            <a:off x="2984500" y="310896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4" name="ovl_s24_tagt_lpb"/>
          <p:cNvSpPr txBox="1"/>
          <p:nvPr/>
        </p:nvSpPr>
        <p:spPr>
          <a:xfrm>
            <a:off x="2984500" y="310896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5" name="ovl_s24_tag_fee"/>
          <p:cNvSpPr/>
          <p:nvPr/>
        </p:nvSpPr>
        <p:spPr>
          <a:xfrm>
            <a:off x="2933700" y="4315968"/>
            <a:ext cx="487680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96" name="ovl_s24_tagt_fee"/>
          <p:cNvSpPr txBox="1"/>
          <p:nvPr/>
        </p:nvSpPr>
        <p:spPr>
          <a:xfrm>
            <a:off x="2933700" y="4315968"/>
            <a:ext cx="48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</a:t>
            </a:r>
            <a:endParaRPr lang="en-US" sz="800" dirty="0"/>
          </a:p>
        </p:txBody>
      </p:sp>
      <p:sp>
        <p:nvSpPr>
          <p:cNvPr id="97" name="ovl_s24_lab0"/>
          <p:cNvSpPr txBox="1"/>
          <p:nvPr/>
        </p:nvSpPr>
        <p:spPr>
          <a:xfrm>
            <a:off x="1673638" y="2253996"/>
            <a:ext cx="72180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98" name="ovl_s24_lab1"/>
          <p:cNvSpPr txBox="1"/>
          <p:nvPr/>
        </p:nvSpPr>
        <p:spPr>
          <a:xfrm>
            <a:off x="6296787" y="187452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比べる</a:t>
            </a:r>
            <a:endParaRPr lang="en-US" sz="850" dirty="0"/>
          </a:p>
        </p:txBody>
      </p:sp>
      <p:sp>
        <p:nvSpPr>
          <p:cNvPr id="99" name="ovl_s24_lab2"/>
          <p:cNvSpPr txBox="1"/>
          <p:nvPr/>
        </p:nvSpPr>
        <p:spPr>
          <a:xfrm>
            <a:off x="2857500" y="2887218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0" name="ovl_s24_lab3"/>
          <p:cNvSpPr txBox="1"/>
          <p:nvPr/>
        </p:nvSpPr>
        <p:spPr>
          <a:xfrm>
            <a:off x="4366260" y="298780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1" name="ovl_s24_lab4"/>
          <p:cNvSpPr txBox="1"/>
          <p:nvPr/>
        </p:nvSpPr>
        <p:spPr>
          <a:xfrm>
            <a:off x="6092990" y="3927348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価格の上限</a:t>
            </a:r>
            <a:endParaRPr lang="en-US" sz="850" dirty="0"/>
          </a:p>
        </p:txBody>
      </p:sp>
      <p:sp>
        <p:nvSpPr>
          <p:cNvPr id="102" name="ovl_s24_num5"/>
          <p:cNvSpPr/>
          <p:nvPr/>
        </p:nvSpPr>
        <p:spPr>
          <a:xfrm>
            <a:off x="5321808" y="297180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ovl_s24_numt5"/>
          <p:cNvSpPr txBox="1"/>
          <p:nvPr/>
        </p:nvSpPr>
        <p:spPr>
          <a:xfrm>
            <a:off x="5321808" y="2971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104" name="ovl_s24_num6"/>
          <p:cNvSpPr/>
          <p:nvPr/>
        </p:nvSpPr>
        <p:spPr>
          <a:xfrm>
            <a:off x="2007108" y="4919472"/>
            <a:ext cx="237744" cy="237744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ovl_s24_numt6"/>
          <p:cNvSpPr txBox="1"/>
          <p:nvPr/>
        </p:nvSpPr>
        <p:spPr>
          <a:xfrm>
            <a:off x="2007108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106" name="ovl_s24_lab7"/>
          <p:cNvSpPr txBox="1"/>
          <p:nvPr/>
        </p:nvSpPr>
        <p:spPr>
          <a:xfrm>
            <a:off x="1920240" y="357759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107" name="ovl_s24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08" name="ovl_s24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9" name="ovl_s24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0" name="ovl_s24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1" name="ovl_s24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2" name="ovl_s24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3" name="ovl_s24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4" name="ovl_s24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5" name="ovl_s24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6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17" name="mech"/>
          <p:cNvSpPr txBox="1"/>
          <p:nvPr/>
        </p:nvSpPr>
        <p:spPr>
          <a:xfrm>
            <a:off x="8458200" y="1810512"/>
            <a:ext cx="3276295" cy="24023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借り手は FICO 746 の優良層で、金利を比べて選ぶ。APR 帯は LendingClub・LightStream と重なる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抱えきれないローンは LPB と売却で他社に渡す。収益の 24%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買い手はほぼ額面と手数料 4.6% で買う。市場で値の付く商品で、上乗せは小さい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プライベートクレジットは 2025 年の個人ローン組成の約 1/4 に資金を出し(前年 6%)、競合にも同じ資金が回る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差別化は会員との関係(クロスバイ 51%)と安い預金。商品の部分が収益の約 6 割を占める</a:t>
            </a:r>
            <a:endParaRPr lang="en-US" sz="1100" dirty="0"/>
          </a:p>
        </p:txBody>
      </p:sp>
      <p:sp>
        <p:nvSpPr>
          <p:cNvPr id="118" name="ovl_takeaway_bg"/>
          <p:cNvSpPr/>
          <p:nvPr/>
        </p:nvSpPr>
        <p:spPr>
          <a:xfrm>
            <a:off x="8458200" y="4285996"/>
            <a:ext cx="3276295" cy="95808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9" name="takeaway"/>
          <p:cNvSpPr txBox="1"/>
          <p:nvPr/>
        </p:nvSpPr>
        <p:spPr>
          <a:xfrm>
            <a:off x="8567928" y="4359148"/>
            <a:ext cx="3056839" cy="811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ローンは市場で値の付く商品。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差別化は会員との関係と預金にあり、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6 割が商品の性格のため C</a:t>
            </a:r>
            <a:endParaRPr lang="en-US" sz="1000" dirty="0"/>
          </a:p>
        </p:txBody>
      </p:sp>
      <p:sp>
        <p:nvSpPr>
          <p:cNvPr id="120" name="updown"/>
          <p:cNvSpPr txBox="1"/>
          <p:nvPr/>
        </p:nvSpPr>
        <p:spPr>
          <a:xfrm>
            <a:off x="8458200" y="5317236"/>
            <a:ext cx="3276295" cy="4617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5.8% 以上と LPB 手数料率 4.5% 以上を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保てば 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5.3% 未満か、手数料率 3.5% 未満なら D</a:t>
            </a:r>
            <a:endParaRPr lang="en-US" sz="850" dirty="0"/>
          </a:p>
        </p:txBody>
      </p:sp>
      <p:sp>
        <p:nvSpPr>
          <p:cNvPr id="121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2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NIM 5.8% 以上で B 候補・5.3% 未満で D 候補 / LPB の手数料率 4.5% 以上で確度を上げ・3.5% 未満で D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商品と資産(条件8・10〜12)(2/3)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27063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2706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模倣困難性と陳腐化(条件10・11)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3309874" y="356616"/>
            <a:ext cx="84246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真似できない資産があれば超過利益が長く続く。何が再現困難で、何が陳腐化しうるかを分けて見る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銀行免許・会員・455 億ドルの預金は再現に数年かかるが、技術基盤は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の内製化で陳腐化しうることが示された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再現に時間がかかる資産 / 陳腐化しうる資産 ← 競合の動き。下: 資産ごとの持ちの長さ。①〜⑤ は右と対応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決算)、research/R4_scuttlebutt.md(Chime の S-1、Robinhood・LendingClub の Q2 2026 決算)、research_r2/R9_products_people.md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条件10・11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380085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再現に時間がかかる資産(条件11)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4767072" y="1517904"/>
            <a:ext cx="145389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陳腐化する資産(条件10)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683971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競合の動き</a:t>
            </a:r>
            <a:endParaRPr lang="en-US" sz="950" dirty="0"/>
          </a:p>
        </p:txBody>
      </p:sp>
      <p:sp>
        <p:nvSpPr>
          <p:cNvPr id="31" name="ovl_s26_e0_0"/>
          <p:cNvSpPr/>
          <p:nvPr/>
        </p:nvSpPr>
        <p:spPr>
          <a:xfrm flipH="1">
            <a:off x="6629400" y="2348484"/>
            <a:ext cx="3200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2" name="ovl_s26_e0_1"/>
          <p:cNvSpPr/>
          <p:nvPr/>
        </p:nvSpPr>
        <p:spPr>
          <a:xfrm>
            <a:off x="6629400" y="2348484"/>
            <a:ext cx="914" cy="18592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3" name="ovl_s26_e0_2"/>
          <p:cNvSpPr/>
          <p:nvPr/>
        </p:nvSpPr>
        <p:spPr>
          <a:xfrm flipH="1">
            <a:off x="6111240" y="4207764"/>
            <a:ext cx="518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4" name="ovl_s26_e1_0"/>
          <p:cNvSpPr/>
          <p:nvPr/>
        </p:nvSpPr>
        <p:spPr>
          <a:xfrm flipH="1">
            <a:off x="4480560" y="234848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5" name="ovl_s26_e1_1"/>
          <p:cNvSpPr/>
          <p:nvPr/>
        </p:nvSpPr>
        <p:spPr>
          <a:xfrm>
            <a:off x="448056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6" name="ovl_s26_e1_2"/>
          <p:cNvSpPr/>
          <p:nvPr/>
        </p:nvSpPr>
        <p:spPr>
          <a:xfrm>
            <a:off x="4480560" y="420776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26_e2_0"/>
          <p:cNvSpPr/>
          <p:nvPr/>
        </p:nvSpPr>
        <p:spPr>
          <a:xfrm flipH="1">
            <a:off x="6111240" y="3278124"/>
            <a:ext cx="8382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8" name="ovl_s26_e3_0"/>
          <p:cNvSpPr/>
          <p:nvPr/>
        </p:nvSpPr>
        <p:spPr>
          <a:xfrm>
            <a:off x="761238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9" name="ovl_s26_e3_1"/>
          <p:cNvSpPr/>
          <p:nvPr/>
        </p:nvSpPr>
        <p:spPr>
          <a:xfrm flipH="1">
            <a:off x="1120140" y="4626864"/>
            <a:ext cx="6492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0" name="ovl_s26_e3_2"/>
          <p:cNvSpPr/>
          <p:nvPr/>
        </p:nvSpPr>
        <p:spPr>
          <a:xfrm flipV="1">
            <a:off x="112014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1" name="ovl_s26_e4_0"/>
          <p:cNvSpPr/>
          <p:nvPr/>
        </p:nvSpPr>
        <p:spPr>
          <a:xfrm>
            <a:off x="1783080" y="234848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2" name="ovl_s26_e4_1"/>
          <p:cNvSpPr/>
          <p:nvPr/>
        </p:nvSpPr>
        <p:spPr>
          <a:xfrm>
            <a:off x="214884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3" name="ovl_s26_e4_2"/>
          <p:cNvSpPr/>
          <p:nvPr/>
        </p:nvSpPr>
        <p:spPr>
          <a:xfrm flipH="1">
            <a:off x="1783080" y="420776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6_e5_0"/>
          <p:cNvSpPr/>
          <p:nvPr/>
        </p:nvSpPr>
        <p:spPr>
          <a:xfrm>
            <a:off x="1783080" y="3278124"/>
            <a:ext cx="5943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5" name="ovl_s26_e5_1"/>
          <p:cNvSpPr/>
          <p:nvPr/>
        </p:nvSpPr>
        <p:spPr>
          <a:xfrm flipV="1">
            <a:off x="2377440" y="2348484"/>
            <a:ext cx="914" cy="9296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6" name="ovl_s26_e5_2"/>
          <p:cNvSpPr/>
          <p:nvPr/>
        </p:nvSpPr>
        <p:spPr>
          <a:xfrm>
            <a:off x="2377440" y="2348484"/>
            <a:ext cx="2438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6_n_charter"/>
          <p:cNvSpPr/>
          <p:nvPr/>
        </p:nvSpPr>
        <p:spPr>
          <a:xfrm>
            <a:off x="45720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8" name="ovl_s26_nt_charter"/>
          <p:cNvSpPr txBox="1"/>
          <p:nvPr/>
        </p:nvSpPr>
        <p:spPr>
          <a:xfrm>
            <a:off x="49377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1000" dirty="0"/>
          </a:p>
        </p:txBody>
      </p:sp>
      <p:sp>
        <p:nvSpPr>
          <p:cNvPr id="49" name="ovl_s26_ns_charter"/>
          <p:cNvSpPr txBox="1"/>
          <p:nvPr/>
        </p:nvSpPr>
        <p:spPr>
          <a:xfrm>
            <a:off x="50292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年に銀行を買収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審査に約 1 年</a:t>
            </a:r>
            <a:endParaRPr lang="en-US" sz="850" dirty="0"/>
          </a:p>
        </p:txBody>
      </p:sp>
      <p:sp>
        <p:nvSpPr>
          <p:cNvPr id="50" name="ovl_s26_n_mem"/>
          <p:cNvSpPr/>
          <p:nvPr/>
        </p:nvSpPr>
        <p:spPr>
          <a:xfrm>
            <a:off x="45720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1" name="ovl_s26_nt_mem"/>
          <p:cNvSpPr txBox="1"/>
          <p:nvPr/>
        </p:nvSpPr>
        <p:spPr>
          <a:xfrm>
            <a:off x="49377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</a:t>
            </a:r>
            <a:endParaRPr lang="en-US" sz="1000" dirty="0"/>
          </a:p>
        </p:txBody>
      </p:sp>
      <p:sp>
        <p:nvSpPr>
          <p:cNvPr id="52" name="ovl_s26_ns_mem"/>
          <p:cNvSpPr txBox="1"/>
          <p:nvPr/>
        </p:nvSpPr>
        <p:spPr>
          <a:xfrm>
            <a:off x="50292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53" name="ovl_s26_n_dep"/>
          <p:cNvSpPr/>
          <p:nvPr/>
        </p:nvSpPr>
        <p:spPr>
          <a:xfrm>
            <a:off x="45720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4" name="ovl_s26_nt_dep"/>
          <p:cNvSpPr txBox="1"/>
          <p:nvPr/>
        </p:nvSpPr>
        <p:spPr>
          <a:xfrm>
            <a:off x="49377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455 億ドル</a:t>
            </a:r>
            <a:endParaRPr lang="en-US" sz="1000" dirty="0"/>
          </a:p>
        </p:txBody>
      </p:sp>
      <p:sp>
        <p:nvSpPr>
          <p:cNvPr id="55" name="ovl_s26_ns_dep"/>
          <p:cNvSpPr txBox="1"/>
          <p:nvPr/>
        </p:nvSpPr>
        <p:spPr>
          <a:xfrm>
            <a:off x="50292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給与振込が約 9 割</a:t>
            </a:r>
            <a:endParaRPr lang="en-US" sz="850" dirty="0"/>
          </a:p>
        </p:txBody>
      </p:sp>
      <p:sp>
        <p:nvSpPr>
          <p:cNvPr id="56" name="ovl_s26_n_brand"/>
          <p:cNvSpPr/>
          <p:nvPr/>
        </p:nvSpPr>
        <p:spPr>
          <a:xfrm>
            <a:off x="2621280" y="201015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7" name="ovl_s26_nt_brand"/>
          <p:cNvSpPr txBox="1"/>
          <p:nvPr/>
        </p:nvSpPr>
        <p:spPr>
          <a:xfrm>
            <a:off x="2657856" y="203758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58" name="ovl_s26_ns_brand"/>
          <p:cNvSpPr txBox="1"/>
          <p:nvPr/>
        </p:nvSpPr>
        <p:spPr>
          <a:xfrm>
            <a:off x="2667000" y="224332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(販促が必要)</a:t>
            </a:r>
            <a:endParaRPr lang="en-US" sz="850" dirty="0"/>
          </a:p>
        </p:txBody>
      </p:sp>
      <p:sp>
        <p:nvSpPr>
          <p:cNvPr id="59" name="ovl_s26_n_data"/>
          <p:cNvSpPr/>
          <p:nvPr/>
        </p:nvSpPr>
        <p:spPr>
          <a:xfrm>
            <a:off x="2621280" y="293979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0" name="ovl_s26_nt_data"/>
          <p:cNvSpPr txBox="1"/>
          <p:nvPr/>
        </p:nvSpPr>
        <p:spPr>
          <a:xfrm>
            <a:off x="2657856" y="296722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信用データ</a:t>
            </a:r>
            <a:endParaRPr lang="en-US" sz="1000" dirty="0"/>
          </a:p>
        </p:txBody>
      </p:sp>
      <p:sp>
        <p:nvSpPr>
          <p:cNvPr id="61" name="ovl_s26_ns_data"/>
          <p:cNvSpPr txBox="1"/>
          <p:nvPr/>
        </p:nvSpPr>
        <p:spPr>
          <a:xfrm>
            <a:off x="2667000" y="317296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組成の実績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(個人ローンの損失履歴)</a:t>
            </a:r>
            <a:endParaRPr lang="en-US" sz="850" dirty="0"/>
          </a:p>
        </p:txBody>
      </p:sp>
      <p:sp>
        <p:nvSpPr>
          <p:cNvPr id="62" name="ovl_s26_n_lpbn"/>
          <p:cNvSpPr/>
          <p:nvPr/>
        </p:nvSpPr>
        <p:spPr>
          <a:xfrm>
            <a:off x="2621280" y="386943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3" name="ovl_s26_nt_lpbn"/>
          <p:cNvSpPr txBox="1"/>
          <p:nvPr/>
        </p:nvSpPr>
        <p:spPr>
          <a:xfrm>
            <a:off x="2657856" y="389686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の買い手の網</a:t>
            </a:r>
            <a:endParaRPr lang="en-US" sz="1000" dirty="0"/>
          </a:p>
        </p:txBody>
      </p:sp>
      <p:sp>
        <p:nvSpPr>
          <p:cNvPr id="64" name="ovl_s26_ns_lpbn"/>
          <p:cNvSpPr txBox="1"/>
          <p:nvPr/>
        </p:nvSpPr>
        <p:spPr>
          <a:xfrm>
            <a:off x="2667000" y="410260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億ドル超の契約</a:t>
            </a:r>
            <a:endParaRPr lang="en-US" sz="850" dirty="0"/>
          </a:p>
        </p:txBody>
      </p:sp>
      <p:sp>
        <p:nvSpPr>
          <p:cNvPr id="65" name="ovl_s26_n_tech"/>
          <p:cNvSpPr/>
          <p:nvPr/>
        </p:nvSpPr>
        <p:spPr>
          <a:xfrm>
            <a:off x="4876800" y="201015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6" name="ovl_s26_nt_tech"/>
          <p:cNvSpPr txBox="1"/>
          <p:nvPr/>
        </p:nvSpPr>
        <p:spPr>
          <a:xfrm>
            <a:off x="4913376" y="203758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67" name="ovl_s26_ns_tech"/>
          <p:cNvSpPr txBox="1"/>
          <p:nvPr/>
        </p:nvSpPr>
        <p:spPr>
          <a:xfrm>
            <a:off x="4922520" y="224332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(買収 約 23 億ドル)</a:t>
            </a:r>
            <a:endParaRPr lang="en-US" sz="850" dirty="0"/>
          </a:p>
        </p:txBody>
      </p:sp>
      <p:sp>
        <p:nvSpPr>
          <p:cNvPr id="68" name="ovl_s26_n_app"/>
          <p:cNvSpPr/>
          <p:nvPr/>
        </p:nvSpPr>
        <p:spPr>
          <a:xfrm>
            <a:off x="4876800" y="293979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6_nt_app"/>
          <p:cNvSpPr txBox="1"/>
          <p:nvPr/>
        </p:nvSpPr>
        <p:spPr>
          <a:xfrm>
            <a:off x="4913376" y="296722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アプリ・製品</a:t>
            </a:r>
            <a:endParaRPr lang="en-US" sz="1000" dirty="0"/>
          </a:p>
        </p:txBody>
      </p:sp>
      <p:sp>
        <p:nvSpPr>
          <p:cNvPr id="70" name="ovl_s26_ns_app"/>
          <p:cNvSpPr txBox="1"/>
          <p:nvPr/>
        </p:nvSpPr>
        <p:spPr>
          <a:xfrm>
            <a:off x="4922520" y="317296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機能は真似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されやすい</a:t>
            </a:r>
            <a:endParaRPr lang="en-US" sz="850" dirty="0"/>
          </a:p>
        </p:txBody>
      </p:sp>
      <p:sp>
        <p:nvSpPr>
          <p:cNvPr id="71" name="ovl_s26_n_gal"/>
          <p:cNvSpPr/>
          <p:nvPr/>
        </p:nvSpPr>
        <p:spPr>
          <a:xfrm>
            <a:off x="4876800" y="386943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2" name="ovl_s26_nt_gal"/>
          <p:cNvSpPr txBox="1"/>
          <p:nvPr/>
        </p:nvSpPr>
        <p:spPr>
          <a:xfrm>
            <a:off x="4913376" y="389686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</a:t>
            </a:r>
            <a:endParaRPr lang="en-US" sz="1000" dirty="0"/>
          </a:p>
        </p:txBody>
      </p:sp>
      <p:sp>
        <p:nvSpPr>
          <p:cNvPr id="73" name="ovl_s26_ns_gal"/>
          <p:cNvSpPr txBox="1"/>
          <p:nvPr/>
        </p:nvSpPr>
        <p:spPr>
          <a:xfrm>
            <a:off x="4922520" y="410260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−23%</a:t>
            </a:r>
            <a:endParaRPr lang="en-US" sz="850" dirty="0"/>
          </a:p>
        </p:txBody>
      </p:sp>
      <p:sp>
        <p:nvSpPr>
          <p:cNvPr id="74" name="ovl_s26_n_chime"/>
          <p:cNvSpPr/>
          <p:nvPr/>
        </p:nvSpPr>
        <p:spPr>
          <a:xfrm>
            <a:off x="694944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5" name="ovl_s26_nt_chime"/>
          <p:cNvSpPr txBox="1"/>
          <p:nvPr/>
        </p:nvSpPr>
        <p:spPr>
          <a:xfrm>
            <a:off x="698601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76" name="ovl_s26_ns_chime"/>
          <p:cNvSpPr txBox="1"/>
          <p:nvPr/>
        </p:nvSpPr>
        <p:spPr>
          <a:xfrm>
            <a:off x="699516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 ChimeCore 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</a:t>
            </a:r>
            <a:endParaRPr lang="en-US" sz="850" dirty="0"/>
          </a:p>
        </p:txBody>
      </p:sp>
      <p:sp>
        <p:nvSpPr>
          <p:cNvPr id="77" name="ovl_s26_n_rh"/>
          <p:cNvSpPr/>
          <p:nvPr/>
        </p:nvSpPr>
        <p:spPr>
          <a:xfrm>
            <a:off x="694944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26_nt_rh"/>
          <p:cNvSpPr txBox="1"/>
          <p:nvPr/>
        </p:nvSpPr>
        <p:spPr>
          <a:xfrm>
            <a:off x="698601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</a:t>
            </a:r>
            <a:endParaRPr lang="en-US" sz="1000" dirty="0"/>
          </a:p>
        </p:txBody>
      </p:sp>
      <p:sp>
        <p:nvSpPr>
          <p:cNvPr id="79" name="ovl_s26_ns_rh"/>
          <p:cNvSpPr txBox="1"/>
          <p:nvPr/>
        </p:nvSpPr>
        <p:spPr>
          <a:xfrm>
            <a:off x="699516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銀行業務 入金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 億ドル超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 480 万人</a:t>
            </a:r>
            <a:endParaRPr lang="en-US" sz="850" dirty="0"/>
          </a:p>
        </p:txBody>
      </p:sp>
      <p:sp>
        <p:nvSpPr>
          <p:cNvPr id="80" name="ovl_s26_n_lc"/>
          <p:cNvSpPr/>
          <p:nvPr/>
        </p:nvSpPr>
        <p:spPr>
          <a:xfrm>
            <a:off x="694944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1" name="ovl_s26_nt_lc"/>
          <p:cNvSpPr txBox="1"/>
          <p:nvPr/>
        </p:nvSpPr>
        <p:spPr>
          <a:xfrm>
            <a:off x="698601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1000" dirty="0"/>
          </a:p>
        </p:txBody>
      </p:sp>
      <p:sp>
        <p:nvSpPr>
          <p:cNvPr id="82" name="ovl_s26_ns_lc"/>
          <p:cNvSpPr txBox="1"/>
          <p:nvPr/>
        </p:nvSpPr>
        <p:spPr>
          <a:xfrm>
            <a:off x="699516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102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借り手が新規口座の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15% 超</a:t>
            </a:r>
            <a:endParaRPr lang="en-US" sz="850" dirty="0"/>
          </a:p>
        </p:txBody>
      </p:sp>
      <p:sp>
        <p:nvSpPr>
          <p:cNvPr id="83" name="ovl_s26_lab0"/>
          <p:cNvSpPr txBox="1"/>
          <p:nvPr/>
        </p:nvSpPr>
        <p:spPr>
          <a:xfrm>
            <a:off x="5622874" y="270891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内製化で離脱</a:t>
            </a:r>
            <a:endParaRPr lang="en-US" sz="850" dirty="0"/>
          </a:p>
        </p:txBody>
      </p:sp>
      <p:sp>
        <p:nvSpPr>
          <p:cNvPr id="84" name="ovl_s26_num2"/>
          <p:cNvSpPr/>
          <p:nvPr/>
        </p:nvSpPr>
        <p:spPr>
          <a:xfrm>
            <a:off x="6137148" y="315925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ovl_s26_numt2"/>
          <p:cNvSpPr txBox="1"/>
          <p:nvPr/>
        </p:nvSpPr>
        <p:spPr>
          <a:xfrm>
            <a:off x="6137148" y="31592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86" name="ovl_s26_num3"/>
          <p:cNvSpPr/>
          <p:nvPr/>
        </p:nvSpPr>
        <p:spPr>
          <a:xfrm>
            <a:off x="4247388" y="446227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ovl_s26_numt3"/>
          <p:cNvSpPr txBox="1"/>
          <p:nvPr/>
        </p:nvSpPr>
        <p:spPr>
          <a:xfrm>
            <a:off x="424738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88" name="ovl_s26_num4"/>
          <p:cNvSpPr/>
          <p:nvPr/>
        </p:nvSpPr>
        <p:spPr>
          <a:xfrm>
            <a:off x="1847088" y="222961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ovl_s26_numt4"/>
          <p:cNvSpPr txBox="1"/>
          <p:nvPr/>
        </p:nvSpPr>
        <p:spPr>
          <a:xfrm>
            <a:off x="1847088" y="22296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0" name="ovl_s26_num5"/>
          <p:cNvSpPr/>
          <p:nvPr/>
        </p:nvSpPr>
        <p:spPr>
          <a:xfrm>
            <a:off x="2258568" y="269443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ovl_s26_numt5"/>
          <p:cNvSpPr txBox="1"/>
          <p:nvPr/>
        </p:nvSpPr>
        <p:spPr>
          <a:xfrm>
            <a:off x="2258568" y="2694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92" name="ovl_s26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3" name="ovl_s26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4" name="ovl_s26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5" name="ovl_s26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6" name="ovl_s26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7" name="ovl_s26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資産ごとの持ちの長さ</a:t>
            </a:r>
            <a:endParaRPr lang="en-US" sz="850" dirty="0"/>
          </a:p>
        </p:txBody>
      </p:sp>
      <p:sp>
        <p:nvSpPr>
          <p:cNvPr id="98" name="ovl_s26tb_tk2026"/>
          <p:cNvSpPr txBox="1"/>
          <p:nvPr/>
        </p:nvSpPr>
        <p:spPr>
          <a:xfrm>
            <a:off x="16002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99" name="ovl_s26tb_gl2026"/>
          <p:cNvSpPr/>
          <p:nvPr/>
        </p:nvSpPr>
        <p:spPr>
          <a:xfrm>
            <a:off x="18745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0" name="ovl_s26tb_tk2028"/>
          <p:cNvSpPr txBox="1"/>
          <p:nvPr/>
        </p:nvSpPr>
        <p:spPr>
          <a:xfrm>
            <a:off x="288036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01" name="ovl_s26tb_gl2028"/>
          <p:cNvSpPr/>
          <p:nvPr/>
        </p:nvSpPr>
        <p:spPr>
          <a:xfrm>
            <a:off x="315468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2" name="ovl_s26tb_tk2030"/>
          <p:cNvSpPr txBox="1"/>
          <p:nvPr/>
        </p:nvSpPr>
        <p:spPr>
          <a:xfrm>
            <a:off x="416052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03" name="ovl_s26tb_gl2030"/>
          <p:cNvSpPr/>
          <p:nvPr/>
        </p:nvSpPr>
        <p:spPr>
          <a:xfrm>
            <a:off x="443484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4" name="ovl_s26tb_tk2032"/>
          <p:cNvSpPr txBox="1"/>
          <p:nvPr/>
        </p:nvSpPr>
        <p:spPr>
          <a:xfrm>
            <a:off x="54406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05" name="ovl_s26tb_gl2032"/>
          <p:cNvSpPr/>
          <p:nvPr/>
        </p:nvSpPr>
        <p:spPr>
          <a:xfrm>
            <a:off x="57150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6" name="ovl_s26tb_tk2034"/>
          <p:cNvSpPr txBox="1"/>
          <p:nvPr/>
        </p:nvSpPr>
        <p:spPr>
          <a:xfrm>
            <a:off x="672084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07" name="ovl_s26tb_gl2034"/>
          <p:cNvSpPr/>
          <p:nvPr/>
        </p:nvSpPr>
        <p:spPr>
          <a:xfrm>
            <a:off x="699516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8" name="ovl_s26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09" name="ovl_s26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0" name="ovl_s26tb_l0"/>
          <p:cNvSpPr txBox="1"/>
          <p:nvPr/>
        </p:nvSpPr>
        <p:spPr>
          <a:xfrm>
            <a:off x="457200" y="5248656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11" name="ovl_s26tb_b0"/>
          <p:cNvSpPr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12" name="ovl_s26tb_t0"/>
          <p:cNvSpPr txBox="1"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13" name="ovl_s26tb_l1"/>
          <p:cNvSpPr txBox="1"/>
          <p:nvPr/>
        </p:nvSpPr>
        <p:spPr>
          <a:xfrm>
            <a:off x="457200" y="5445252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</a:t>
            </a:r>
            <a:endParaRPr lang="en-US" sz="850" dirty="0"/>
          </a:p>
        </p:txBody>
      </p:sp>
      <p:sp>
        <p:nvSpPr>
          <p:cNvPr id="114" name="ovl_s26tb_b1"/>
          <p:cNvSpPr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15" name="ovl_s26tb_t1"/>
          <p:cNvSpPr txBox="1"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</a:t>
            </a:r>
            <a:endParaRPr lang="en-US" sz="800" dirty="0"/>
          </a:p>
        </p:txBody>
      </p:sp>
      <p:sp>
        <p:nvSpPr>
          <p:cNvPr id="116" name="ovl_s26tb_l2"/>
          <p:cNvSpPr txBox="1"/>
          <p:nvPr/>
        </p:nvSpPr>
        <p:spPr>
          <a:xfrm>
            <a:off x="457200" y="5641848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17" name="ovl_s26tb_b2"/>
          <p:cNvSpPr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18" name="ovl_s26tb_t2"/>
          <p:cNvSpPr txBox="1"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販促が続く限り</a:t>
            </a:r>
            <a:endParaRPr lang="en-US" sz="800" dirty="0"/>
          </a:p>
        </p:txBody>
      </p:sp>
      <p:sp>
        <p:nvSpPr>
          <p:cNvPr id="119" name="ovl_s26tb_l3"/>
          <p:cNvSpPr txBox="1"/>
          <p:nvPr/>
        </p:nvSpPr>
        <p:spPr>
          <a:xfrm>
            <a:off x="457200" y="5838444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850" dirty="0"/>
          </a:p>
        </p:txBody>
      </p:sp>
      <p:sp>
        <p:nvSpPr>
          <p:cNvPr id="120" name="ovl_s26tb_b3"/>
          <p:cNvSpPr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1" name="ovl_s26tb_t3"/>
          <p:cNvSpPr txBox="1"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3〜5 年で更新が要る</a:t>
            </a:r>
            <a:endParaRPr lang="en-US" sz="800" dirty="0"/>
          </a:p>
        </p:txBody>
      </p:sp>
      <p:sp>
        <p:nvSpPr>
          <p:cNvPr id="122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3" name="mech"/>
          <p:cNvSpPr txBox="1"/>
          <p:nvPr/>
        </p:nvSpPr>
        <p:spPr>
          <a:xfrm>
            <a:off x="8458200" y="1810512"/>
            <a:ext cx="3276295" cy="2790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は自社基盤へ移り、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万ドルを払って Galileo を離れた。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 は銀行業務(入金 30 億ドル超、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給与振込の設定 約 4 割)を始め、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アプリの機能は真似されやすい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 は貸し手と預金を組み合わせた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同じ型(預金 102 億ドル)。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型そのものは独占ではない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銀行免許は買収と審査に約 1 年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(2021-03 契約 → 2022-02 完了)。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 455 億ドルは短期に再現できない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万人とブランドは、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販促を続ける限り積み上がる</a:t>
            </a:r>
            <a:endParaRPr lang="en-US" sz="1050" dirty="0"/>
          </a:p>
        </p:txBody>
      </p:sp>
      <p:sp>
        <p:nvSpPr>
          <p:cNvPr id="124" name="ovl_takeaway_bg"/>
          <p:cNvSpPr/>
          <p:nvPr/>
        </p:nvSpPr>
        <p:spPr>
          <a:xfrm>
            <a:off x="8458200" y="4674616"/>
            <a:ext cx="3276295" cy="7508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5" name="takeaway"/>
          <p:cNvSpPr txBox="1"/>
          <p:nvPr/>
        </p:nvSpPr>
        <p:spPr>
          <a:xfrm>
            <a:off x="8567928" y="4747768"/>
            <a:ext cx="3056839" cy="60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免許・会員・預金は再現に数年かかる(11 B)。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技術基盤の外販は内製化で陳腐化しうる(10 B)</a:t>
            </a:r>
            <a:endParaRPr lang="en-US" sz="1000" dirty="0"/>
          </a:p>
        </p:txBody>
      </p:sp>
      <p:sp>
        <p:nvSpPr>
          <p:cNvPr id="126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の外販が増収に戻り、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会員当たりの製品が 1.7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他のフィンテックの銀行免許取得が続き、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商品と資産(条件8・10〜12)(3/3)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931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931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収益の性格(条件12)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535174" y="356616"/>
            <a:ext cx="9199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残高に課金するストック型なら売上の見通しが立ち、評価倍率を高くできる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76% は残高に課金する利ざやと継続手数料のストック型。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 2〜3 年で返済され、組成を続ける必要がある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収益の源 → SoFi の収益の種類 → ストックとフロー → 続く条件。①〜④ は右と対応。金額は Q2 2026(百万ドル)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決算、損益計算書)、deck/assets/data/f19_sankey_nodes.csv、research_r2/R5_credit_fv.md(期前返済率)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条件12</a:t>
            </a:r>
            <a:endParaRPr lang="en-US" sz="800" dirty="0"/>
          </a:p>
        </p:txBody>
      </p:sp>
      <p:sp>
        <p:nvSpPr>
          <p:cNvPr id="22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収益の源</a:t>
            </a:r>
            <a:endParaRPr lang="en-US" sz="950" dirty="0"/>
          </a:p>
        </p:txBody>
      </p:sp>
      <p:sp>
        <p:nvSpPr>
          <p:cNvPr id="25" name="bg_lane1"/>
          <p:cNvSpPr/>
          <p:nvPr/>
        </p:nvSpPr>
        <p:spPr>
          <a:xfrm>
            <a:off x="2511552" y="1517904"/>
            <a:ext cx="375513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bg_laneh1"/>
          <p:cNvSpPr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7" name="bg_lanet1"/>
          <p:cNvSpPr txBox="1"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の収益</a:t>
            </a:r>
            <a:endParaRPr lang="en-US" sz="950" dirty="0"/>
          </a:p>
        </p:txBody>
      </p:sp>
      <p:sp>
        <p:nvSpPr>
          <p:cNvPr id="28" name="bg_lane2"/>
          <p:cNvSpPr/>
          <p:nvPr/>
        </p:nvSpPr>
        <p:spPr>
          <a:xfrm>
            <a:off x="6976872" y="1517904"/>
            <a:ext cx="140817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続く条件</a:t>
            </a:r>
            <a:endParaRPr lang="en-US" sz="950" dirty="0"/>
          </a:p>
        </p:txBody>
      </p:sp>
      <p:sp>
        <p:nvSpPr>
          <p:cNvPr id="31" name="ovl_grp0"/>
          <p:cNvSpPr/>
          <p:nvPr/>
        </p:nvSpPr>
        <p:spPr>
          <a:xfrm>
            <a:off x="2557272" y="1911096"/>
            <a:ext cx="1453896" cy="3877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grp1"/>
          <p:cNvSpPr/>
          <p:nvPr/>
        </p:nvSpPr>
        <p:spPr>
          <a:xfrm>
            <a:off x="481279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3" name="ovl_s28_e0_0"/>
          <p:cNvSpPr/>
          <p:nvPr/>
        </p:nvSpPr>
        <p:spPr>
          <a:xfrm>
            <a:off x="1691640" y="237515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4" name="ovl_s28_e1_0"/>
          <p:cNvSpPr/>
          <p:nvPr/>
        </p:nvSpPr>
        <p:spPr>
          <a:xfrm>
            <a:off x="1691640" y="335813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28_e2_0"/>
          <p:cNvSpPr/>
          <p:nvPr/>
        </p:nvSpPr>
        <p:spPr>
          <a:xfrm>
            <a:off x="1691640" y="4341114"/>
            <a:ext cx="9296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6" name="ovl_s28_e3_0"/>
          <p:cNvSpPr/>
          <p:nvPr/>
        </p:nvSpPr>
        <p:spPr>
          <a:xfrm>
            <a:off x="1691640" y="532409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28_e4_0"/>
          <p:cNvSpPr/>
          <p:nvPr/>
        </p:nvSpPr>
        <p:spPr>
          <a:xfrm>
            <a:off x="3947160" y="237515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8_e5_0"/>
          <p:cNvSpPr/>
          <p:nvPr/>
        </p:nvSpPr>
        <p:spPr>
          <a:xfrm>
            <a:off x="39471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8_e6_0"/>
          <p:cNvSpPr/>
          <p:nvPr/>
        </p:nvSpPr>
        <p:spPr>
          <a:xfrm>
            <a:off x="3947160" y="5141214"/>
            <a:ext cx="259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0" name="ovl_s28_e6_1"/>
          <p:cNvSpPr/>
          <p:nvPr/>
        </p:nvSpPr>
        <p:spPr>
          <a:xfrm flipV="1">
            <a:off x="4206240" y="3467862"/>
            <a:ext cx="914" cy="1673352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1" name="ovl_s28_e6_2"/>
          <p:cNvSpPr/>
          <p:nvPr/>
        </p:nvSpPr>
        <p:spPr>
          <a:xfrm>
            <a:off x="4206240" y="3467862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8_e7_0"/>
          <p:cNvSpPr/>
          <p:nvPr/>
        </p:nvSpPr>
        <p:spPr>
          <a:xfrm flipH="1">
            <a:off x="61569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28_e8_0"/>
          <p:cNvSpPr/>
          <p:nvPr/>
        </p:nvSpPr>
        <p:spPr>
          <a:xfrm flipH="1">
            <a:off x="61569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8_e9_0"/>
          <p:cNvSpPr/>
          <p:nvPr/>
        </p:nvSpPr>
        <p:spPr>
          <a:xfrm>
            <a:off x="39471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5" name="ovl_s28_e10_0"/>
          <p:cNvSpPr/>
          <p:nvPr/>
        </p:nvSpPr>
        <p:spPr>
          <a:xfrm flipH="1">
            <a:off x="4617720" y="5506974"/>
            <a:ext cx="25908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6" name="ovl_s28_e10_1"/>
          <p:cNvSpPr/>
          <p:nvPr/>
        </p:nvSpPr>
        <p:spPr>
          <a:xfrm flipV="1">
            <a:off x="4617720" y="2484882"/>
            <a:ext cx="914" cy="302209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7" name="ovl_s28_e10_2"/>
          <p:cNvSpPr/>
          <p:nvPr/>
        </p:nvSpPr>
        <p:spPr>
          <a:xfrm flipH="1">
            <a:off x="3947160" y="2484882"/>
            <a:ext cx="67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8" name="ovl_s28_n_loans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28_nt_loans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</a:t>
            </a:r>
            <a:endParaRPr lang="en-US" sz="1000" dirty="0"/>
          </a:p>
        </p:txBody>
      </p:sp>
      <p:sp>
        <p:nvSpPr>
          <p:cNvPr id="50" name="ovl_s28_ns_loans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261・学生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161 億ドル</a:t>
            </a:r>
            <a:endParaRPr lang="en-US" sz="850" dirty="0"/>
          </a:p>
        </p:txBody>
      </p:sp>
      <p:sp>
        <p:nvSpPr>
          <p:cNvPr id="51" name="ovl_s28_n_acct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2" name="ovl_s28_nt_acct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</a:t>
            </a:r>
            <a:endParaRPr lang="en-US" sz="1000" dirty="0"/>
          </a:p>
        </p:txBody>
      </p:sp>
      <p:sp>
        <p:nvSpPr>
          <p:cNvPr id="53" name="ovl_s28_ns_acct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455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</p:txBody>
      </p:sp>
      <p:sp>
        <p:nvSpPr>
          <p:cNvPr id="54" name="ovl_s28_n_orig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5" name="ovl_s28_nt_orig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新しい組成</a:t>
            </a:r>
            <a:endParaRPr lang="en-US" sz="1000" dirty="0"/>
          </a:p>
        </p:txBody>
      </p:sp>
      <p:sp>
        <p:nvSpPr>
          <p:cNvPr id="56" name="ovl_s28_ns_orig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107 億ドル/四半期</a:t>
            </a:r>
            <a:endParaRPr lang="en-US" sz="850" dirty="0"/>
          </a:p>
        </p:txBody>
      </p:sp>
      <p:sp>
        <p:nvSpPr>
          <p:cNvPr id="57" name="ovl_s28_n_b2b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8" name="ovl_s28_nt_b2b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の顧客</a:t>
            </a:r>
            <a:endParaRPr lang="en-US" sz="1000" dirty="0"/>
          </a:p>
        </p:txBody>
      </p:sp>
      <p:sp>
        <p:nvSpPr>
          <p:cNvPr id="59" name="ovl_s28_ns_b2b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1.35 億</a:t>
            </a:r>
            <a:endParaRPr lang="en-US" sz="850" dirty="0"/>
          </a:p>
        </p:txBody>
      </p:sp>
      <p:sp>
        <p:nvSpPr>
          <p:cNvPr id="60" name="ovl_s28_n_nii"/>
          <p:cNvSpPr/>
          <p:nvPr/>
        </p:nvSpPr>
        <p:spPr>
          <a:xfrm>
            <a:off x="2621280" y="200939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1" name="ovl_s28_nt_nii"/>
          <p:cNvSpPr txBox="1"/>
          <p:nvPr/>
        </p:nvSpPr>
        <p:spPr>
          <a:xfrm>
            <a:off x="2657856" y="203682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</a:t>
            </a:r>
            <a:endParaRPr lang="en-US" sz="1000" dirty="0"/>
          </a:p>
        </p:txBody>
      </p:sp>
      <p:sp>
        <p:nvSpPr>
          <p:cNvPr id="62" name="ovl_s28_ns_nii"/>
          <p:cNvSpPr txBox="1"/>
          <p:nvPr/>
        </p:nvSpPr>
        <p:spPr>
          <a:xfrm>
            <a:off x="2667000" y="224256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788.2(収益の 65%)</a:t>
            </a:r>
            <a:endParaRPr lang="en-US" sz="850" dirty="0"/>
          </a:p>
        </p:txBody>
      </p:sp>
      <p:sp>
        <p:nvSpPr>
          <p:cNvPr id="63" name="ovl_s28_n_fee"/>
          <p:cNvSpPr/>
          <p:nvPr/>
        </p:nvSpPr>
        <p:spPr>
          <a:xfrm>
            <a:off x="2621280" y="299237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28_nt_fee"/>
          <p:cNvSpPr txBox="1"/>
          <p:nvPr/>
        </p:nvSpPr>
        <p:spPr>
          <a:xfrm>
            <a:off x="2657856" y="301980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</a:t>
            </a:r>
            <a:endParaRPr lang="en-US" sz="1000" dirty="0"/>
          </a:p>
        </p:txBody>
      </p:sp>
      <p:sp>
        <p:nvSpPr>
          <p:cNvPr id="65" name="ovl_s28_ns_fee"/>
          <p:cNvSpPr txBox="1"/>
          <p:nvPr/>
        </p:nvSpPr>
        <p:spPr>
          <a:xfrm>
            <a:off x="2667000" y="322554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86.7(7%)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インターチェンジ・Plus</a:t>
            </a:r>
            <a:endParaRPr lang="en-US" sz="800" dirty="0"/>
          </a:p>
        </p:txBody>
      </p:sp>
      <p:sp>
        <p:nvSpPr>
          <p:cNvPr id="66" name="ovl_s28_n_flow"/>
          <p:cNvSpPr/>
          <p:nvPr/>
        </p:nvSpPr>
        <p:spPr>
          <a:xfrm>
            <a:off x="2621280" y="397535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8_nt_flow"/>
          <p:cNvSpPr txBox="1"/>
          <p:nvPr/>
        </p:nvSpPr>
        <p:spPr>
          <a:xfrm>
            <a:off x="2657856" y="400278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売却益・LPB</a:t>
            </a:r>
            <a:endParaRPr lang="en-US" sz="1000" dirty="0"/>
          </a:p>
        </p:txBody>
      </p:sp>
      <p:sp>
        <p:nvSpPr>
          <p:cNvPr id="68" name="ovl_s28_ns_flow"/>
          <p:cNvSpPr txBox="1"/>
          <p:nvPr/>
        </p:nvSpPr>
        <p:spPr>
          <a:xfrm>
            <a:off x="2667000" y="420852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 150.4(12%)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140.9(12%)</a:t>
            </a:r>
            <a:endParaRPr lang="en-US" sz="850" dirty="0"/>
          </a:p>
        </p:txBody>
      </p:sp>
      <p:sp>
        <p:nvSpPr>
          <p:cNvPr id="69" name="ovl_s28_n_tp"/>
          <p:cNvSpPr/>
          <p:nvPr/>
        </p:nvSpPr>
        <p:spPr>
          <a:xfrm>
            <a:off x="2621280" y="495833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8_nt_tp"/>
          <p:cNvSpPr txBox="1"/>
          <p:nvPr/>
        </p:nvSpPr>
        <p:spPr>
          <a:xfrm>
            <a:off x="2657856" y="49857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71" name="ovl_s28_ns_tp"/>
          <p:cNvSpPr txBox="1"/>
          <p:nvPr/>
        </p:nvSpPr>
        <p:spPr>
          <a:xfrm>
            <a:off x="2667000" y="519150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52.5(4%)</a:t>
            </a:r>
            <a:endParaRPr lang="en-US" sz="850" dirty="0"/>
          </a:p>
        </p:txBody>
      </p:sp>
      <p:sp>
        <p:nvSpPr>
          <p:cNvPr id="72" name="ovl_s28_n_stock"/>
          <p:cNvSpPr/>
          <p:nvPr/>
        </p:nvSpPr>
        <p:spPr>
          <a:xfrm>
            <a:off x="4876800" y="202082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3" name="ovl_s28_nt_stock"/>
          <p:cNvSpPr txBox="1"/>
          <p:nvPr/>
        </p:nvSpPr>
        <p:spPr>
          <a:xfrm>
            <a:off x="4913376" y="204825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 約 76%</a:t>
            </a:r>
            <a:endParaRPr lang="en-US" sz="1000" dirty="0"/>
          </a:p>
        </p:txBody>
      </p:sp>
      <p:sp>
        <p:nvSpPr>
          <p:cNvPr id="74" name="ovl_s28_ns_stock"/>
          <p:cNvSpPr txBox="1"/>
          <p:nvPr/>
        </p:nvSpPr>
        <p:spPr>
          <a:xfrm>
            <a:off x="4922520" y="2253996"/>
            <a:ext cx="118872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残高・口座に課金</a:t>
            </a:r>
            <a:endParaRPr lang="en-US" sz="850" dirty="0"/>
          </a:p>
        </p:txBody>
      </p:sp>
      <p:sp>
        <p:nvSpPr>
          <p:cNvPr id="75" name="ovl_s28_n_flowk"/>
          <p:cNvSpPr/>
          <p:nvPr/>
        </p:nvSpPr>
        <p:spPr>
          <a:xfrm>
            <a:off x="487680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6" name="ovl_s28_nt_flowk"/>
          <p:cNvSpPr txBox="1"/>
          <p:nvPr/>
        </p:nvSpPr>
        <p:spPr>
          <a:xfrm>
            <a:off x="491337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 約 24%</a:t>
            </a:r>
            <a:endParaRPr lang="en-US" sz="1000" dirty="0"/>
          </a:p>
        </p:txBody>
      </p:sp>
      <p:sp>
        <p:nvSpPr>
          <p:cNvPr id="77" name="ovl_s28_ns_flowk"/>
          <p:cNvSpPr txBox="1"/>
          <p:nvPr/>
        </p:nvSpPr>
        <p:spPr>
          <a:xfrm>
            <a:off x="492252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組成のたびに発生</a:t>
            </a:r>
            <a:endParaRPr lang="en-US" sz="850" dirty="0"/>
          </a:p>
        </p:txBody>
      </p:sp>
      <p:sp>
        <p:nvSpPr>
          <p:cNvPr id="78" name="ovl_s28_n_runoff"/>
          <p:cNvSpPr/>
          <p:nvPr/>
        </p:nvSpPr>
        <p:spPr>
          <a:xfrm>
            <a:off x="487680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28_nt_runoff"/>
          <p:cNvSpPr txBox="1"/>
          <p:nvPr/>
        </p:nvSpPr>
        <p:spPr>
          <a:xfrm>
            <a:off x="491337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残高の目減り</a:t>
            </a:r>
            <a:endParaRPr lang="en-US" sz="1000" dirty="0"/>
          </a:p>
        </p:txBody>
      </p:sp>
      <p:sp>
        <p:nvSpPr>
          <p:cNvPr id="80" name="ovl_s28_ns_runoff"/>
          <p:cNvSpPr txBox="1"/>
          <p:nvPr/>
        </p:nvSpPr>
        <p:spPr>
          <a:xfrm>
            <a:off x="492252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期前返済 年 25.8%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個人ローンは 2〜3 年</a:t>
            </a:r>
            <a:endParaRPr lang="en-US" sz="850" dirty="0"/>
          </a:p>
        </p:txBody>
      </p:sp>
      <p:sp>
        <p:nvSpPr>
          <p:cNvPr id="81" name="ovl_s28_n_cond1"/>
          <p:cNvSpPr/>
          <p:nvPr/>
        </p:nvSpPr>
        <p:spPr>
          <a:xfrm>
            <a:off x="7086600" y="299237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2" name="ovl_s28_nt_cond1"/>
          <p:cNvSpPr txBox="1"/>
          <p:nvPr/>
        </p:nvSpPr>
        <p:spPr>
          <a:xfrm>
            <a:off x="7123176" y="301980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増える</a:t>
            </a:r>
            <a:endParaRPr lang="en-US" sz="900" dirty="0"/>
          </a:p>
        </p:txBody>
      </p:sp>
      <p:sp>
        <p:nvSpPr>
          <p:cNvPr id="83" name="ovl_s28_ns_cond1"/>
          <p:cNvSpPr txBox="1"/>
          <p:nvPr/>
        </p:nvSpPr>
        <p:spPr>
          <a:xfrm>
            <a:off x="7132320" y="337642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+35%</a:t>
            </a:r>
            <a:endParaRPr lang="en-US" sz="850" dirty="0"/>
          </a:p>
        </p:txBody>
      </p:sp>
      <p:sp>
        <p:nvSpPr>
          <p:cNvPr id="84" name="ovl_s28_n_cond2"/>
          <p:cNvSpPr/>
          <p:nvPr/>
        </p:nvSpPr>
        <p:spPr>
          <a:xfrm>
            <a:off x="7086600" y="397535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5" name="ovl_s28_nt_cond2"/>
          <p:cNvSpPr txBox="1"/>
          <p:nvPr/>
        </p:nvSpPr>
        <p:spPr>
          <a:xfrm>
            <a:off x="7123176" y="4002786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組成を続ける</a:t>
            </a:r>
            <a:endParaRPr lang="en-US" sz="1000" dirty="0"/>
          </a:p>
        </p:txBody>
      </p:sp>
      <p:sp>
        <p:nvSpPr>
          <p:cNvPr id="86" name="ovl_s28_ns_cond2"/>
          <p:cNvSpPr txBox="1"/>
          <p:nvPr/>
        </p:nvSpPr>
        <p:spPr>
          <a:xfrm>
            <a:off x="7132320" y="4208526"/>
            <a:ext cx="1097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組成が止まれば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残高が減る</a:t>
            </a:r>
            <a:endParaRPr lang="en-US" sz="850" dirty="0"/>
          </a:p>
        </p:txBody>
      </p:sp>
      <p:sp>
        <p:nvSpPr>
          <p:cNvPr id="87" name="ovl_s28_lab0"/>
          <p:cNvSpPr txBox="1"/>
          <p:nvPr/>
        </p:nvSpPr>
        <p:spPr>
          <a:xfrm>
            <a:off x="1909229" y="2141982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88" name="ovl_s28_lab1"/>
          <p:cNvSpPr txBox="1"/>
          <p:nvPr/>
        </p:nvSpPr>
        <p:spPr>
          <a:xfrm>
            <a:off x="1728216" y="2983230"/>
            <a:ext cx="85648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会費・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9" name="ovl_s28_lab2"/>
          <p:cNvSpPr txBox="1"/>
          <p:nvPr/>
        </p:nvSpPr>
        <p:spPr>
          <a:xfrm>
            <a:off x="173435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売る・渡す</a:t>
            </a:r>
            <a:endParaRPr lang="en-US" sz="850" dirty="0"/>
          </a:p>
        </p:txBody>
      </p:sp>
      <p:sp>
        <p:nvSpPr>
          <p:cNvPr id="90" name="ovl_s28_lab3"/>
          <p:cNvSpPr txBox="1"/>
          <p:nvPr/>
        </p:nvSpPr>
        <p:spPr>
          <a:xfrm>
            <a:off x="1926717" y="509092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1" name="ovl_s28_lab10"/>
          <p:cNvSpPr txBox="1"/>
          <p:nvPr/>
        </p:nvSpPr>
        <p:spPr>
          <a:xfrm>
            <a:off x="4663440" y="374218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目減り</a:t>
            </a:r>
            <a:endParaRPr lang="en-US" sz="850" dirty="0"/>
          </a:p>
        </p:txBody>
      </p:sp>
      <p:sp>
        <p:nvSpPr>
          <p:cNvPr id="92" name="ovl_s28_glab0"/>
          <p:cNvSpPr txBox="1"/>
          <p:nvPr/>
        </p:nvSpPr>
        <p:spPr>
          <a:xfrm>
            <a:off x="264871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収益の種類</a:t>
            </a:r>
            <a:endParaRPr lang="en-US" sz="800" dirty="0"/>
          </a:p>
        </p:txBody>
      </p:sp>
      <p:sp>
        <p:nvSpPr>
          <p:cNvPr id="93" name="ovl_s28_glab1"/>
          <p:cNvSpPr txBox="1"/>
          <p:nvPr/>
        </p:nvSpPr>
        <p:spPr>
          <a:xfrm>
            <a:off x="490423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性格</a:t>
            </a:r>
            <a:endParaRPr lang="en-US" sz="800" dirty="0"/>
          </a:p>
        </p:txBody>
      </p:sp>
      <p:sp>
        <p:nvSpPr>
          <p:cNvPr id="94" name="ovl_s28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5" name="ovl_s28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6" name="ovl_s28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7" name="ovl_s28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98" name="ovl_s28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9" name="ovl_s28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0" name="ovl_s28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1" name="ovl_s28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2" name="ovl_s28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3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4" name="mech"/>
          <p:cNvSpPr txBox="1"/>
          <p:nvPr/>
        </p:nvSpPr>
        <p:spPr>
          <a:xfrm>
            <a:off x="8458200" y="1810512"/>
            <a:ext cx="3276295" cy="1835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のローン残高に利息が付く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純金利収益が 788.2 百万ドルで収益の 65%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会員の口座に付く継続手数料と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を足すと、ストック型は約 76%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売却益と LPB は組成のたびに生じる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フロー型で、約 24%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ただし個人ローンは期前返済が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25.8% と速く、2〜3 年で返済される。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残高を保つには組成を続ける必要がある</a:t>
            </a:r>
            <a:endParaRPr lang="en-US" sz="1100" dirty="0"/>
          </a:p>
        </p:txBody>
      </p:sp>
      <p:sp>
        <p:nvSpPr>
          <p:cNvPr id="105" name="ovl_takeaway_bg"/>
          <p:cNvSpPr/>
          <p:nvPr/>
        </p:nvSpPr>
        <p:spPr>
          <a:xfrm>
            <a:off x="8458200" y="4419600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6" name="takeaway"/>
          <p:cNvSpPr txBox="1"/>
          <p:nvPr/>
        </p:nvSpPr>
        <p:spPr>
          <a:xfrm>
            <a:off x="8567928" y="4492752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4 分の 3 は残高に課金する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ストック型。ただし残高は 2〜3 年で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入れ替わるため B</a:t>
            </a:r>
            <a:endParaRPr lang="en-US" sz="1000" dirty="0"/>
          </a:p>
        </p:txBody>
      </p:sp>
      <p:sp>
        <p:nvSpPr>
          <p:cNvPr id="107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の有料会員が 100 万人を超え、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継続手数料が収益の 15%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組成の減速で B/S の残高が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減り始めれば C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 総合(条件13)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2058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20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アーキタイプ(条件13)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662174" y="356616"/>
            <a:ext cx="9072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各条件を束ね、目指す型(ORCL 型)と避けたい型(MU・VRT・AVGO 型)のどちらに近いかを判定する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預金と手数料は ORCL 型に近いが、個人ローンの 7 割を自社で抱え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信用サイクルの損失を負う部分が MU 型(景気循環)に寄る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条件13(総合)アーキタイプ照合: ORCL 型(継続課金・低い陳腐化)か MU 型(景気循環)・VRT 型・AVGO 型か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決算)、research_r2/R5_credit_fv.md、calc/out/val.json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29</a:t>
            </a:r>
            <a:endParaRPr lang="en-US" sz="800" dirty="0"/>
          </a:p>
        </p:txBody>
      </p:sp>
      <p:sp>
        <p:nvSpPr>
          <p:cNvPr id="19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1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</a:t>
            </a:r>
            <a:endParaRPr lang="en-US" sz="800" dirty="0"/>
          </a:p>
        </p:txBody>
      </p:sp>
      <p:sp>
        <p:nvSpPr>
          <p:cNvPr id="22" name="flow_h0"/>
          <p:cNvSpPr txBox="1"/>
          <p:nvPr/>
        </p:nvSpPr>
        <p:spPr>
          <a:xfrm>
            <a:off x="457200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原型</a:t>
            </a:r>
            <a:endParaRPr lang="en-US" sz="1100" dirty="0"/>
          </a:p>
        </p:txBody>
      </p:sp>
      <p:sp>
        <p:nvSpPr>
          <p:cNvPr id="23" name="ovl_fbox0_0"/>
          <p:cNvSpPr/>
          <p:nvPr/>
        </p:nvSpPr>
        <p:spPr>
          <a:xfrm>
            <a:off x="457200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4" name="flow_t0_0"/>
          <p:cNvSpPr txBox="1"/>
          <p:nvPr/>
        </p:nvSpPr>
        <p:spPr>
          <a:xfrm>
            <a:off x="530352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ORCL 型</a:t>
            </a:r>
            <a:endParaRPr lang="en-US" sz="1000" dirty="0"/>
          </a:p>
        </p:txBody>
      </p:sp>
      <p:sp>
        <p:nvSpPr>
          <p:cNvPr id="25" name="ovl_farrow0"/>
          <p:cNvSpPr/>
          <p:nvPr/>
        </p:nvSpPr>
        <p:spPr>
          <a:xfrm>
            <a:off x="1885950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6" name="flow_h1"/>
          <p:cNvSpPr txBox="1"/>
          <p:nvPr/>
        </p:nvSpPr>
        <p:spPr>
          <a:xfrm>
            <a:off x="2002536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ovl_fbox1_0"/>
          <p:cNvSpPr/>
          <p:nvPr/>
        </p:nvSpPr>
        <p:spPr>
          <a:xfrm>
            <a:off x="2002536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28" name="flow_t1_0"/>
          <p:cNvSpPr txBox="1"/>
          <p:nvPr/>
        </p:nvSpPr>
        <p:spPr>
          <a:xfrm>
            <a:off x="2075688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預金・FS 手数料</a:t>
            </a:r>
            <a:endParaRPr lang="en-US" sz="1000" dirty="0"/>
          </a:p>
        </p:txBody>
      </p:sp>
      <p:sp>
        <p:nvSpPr>
          <p:cNvPr id="29" name="ovl_farrow1"/>
          <p:cNvSpPr/>
          <p:nvPr/>
        </p:nvSpPr>
        <p:spPr>
          <a:xfrm>
            <a:off x="3431286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0" name="flow_h2"/>
          <p:cNvSpPr txBox="1"/>
          <p:nvPr/>
        </p:nvSpPr>
        <p:spPr>
          <a:xfrm>
            <a:off x="3547872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ovl_fbox2_0"/>
          <p:cNvSpPr/>
          <p:nvPr/>
        </p:nvSpPr>
        <p:spPr>
          <a:xfrm>
            <a:off x="3547872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2" name="flow_t2_0"/>
          <p:cNvSpPr txBox="1"/>
          <p:nvPr/>
        </p:nvSpPr>
        <p:spPr>
          <a:xfrm>
            <a:off x="3621024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LPB(資本を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使わない手数料)</a:t>
            </a:r>
            <a:endParaRPr lang="en-US" sz="1000" dirty="0"/>
          </a:p>
        </p:txBody>
      </p:sp>
      <p:sp>
        <p:nvSpPr>
          <p:cNvPr id="33" name="ovl_farrow2"/>
          <p:cNvSpPr/>
          <p:nvPr/>
        </p:nvSpPr>
        <p:spPr>
          <a:xfrm>
            <a:off x="4976622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4" name="flow_h3"/>
          <p:cNvSpPr txBox="1"/>
          <p:nvPr/>
        </p:nvSpPr>
        <p:spPr>
          <a:xfrm>
            <a:off x="5093208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100" dirty="0"/>
          </a:p>
        </p:txBody>
      </p:sp>
      <p:sp>
        <p:nvSpPr>
          <p:cNvPr id="35" name="ovl_fbox3_0"/>
          <p:cNvSpPr/>
          <p:nvPr/>
        </p:nvSpPr>
        <p:spPr>
          <a:xfrm>
            <a:off x="5093208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6" name="flow_t3_0"/>
          <p:cNvSpPr txBox="1"/>
          <p:nvPr/>
        </p:nvSpPr>
        <p:spPr>
          <a:xfrm>
            <a:off x="5166360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学生ローン(B/S)</a:t>
            </a:r>
            <a:endParaRPr lang="en-US" sz="1000" dirty="0"/>
          </a:p>
        </p:txBody>
      </p:sp>
      <p:sp>
        <p:nvSpPr>
          <p:cNvPr id="37" name="ovl_farrow3"/>
          <p:cNvSpPr/>
          <p:nvPr/>
        </p:nvSpPr>
        <p:spPr>
          <a:xfrm>
            <a:off x="6521958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8" name="flow_h4"/>
          <p:cNvSpPr txBox="1"/>
          <p:nvPr/>
        </p:nvSpPr>
        <p:spPr>
          <a:xfrm>
            <a:off x="6638544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ovl_fbox4_0"/>
          <p:cNvSpPr/>
          <p:nvPr/>
        </p:nvSpPr>
        <p:spPr>
          <a:xfrm>
            <a:off x="6638544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40" name="flow_t4_0"/>
          <p:cNvSpPr txBox="1"/>
          <p:nvPr/>
        </p:nvSpPr>
        <p:spPr>
          <a:xfrm>
            <a:off x="6711696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個人ローン(B/S)</a:t>
            </a:r>
            <a:endParaRPr lang="en-US" sz="1000" dirty="0"/>
          </a:p>
        </p:txBody>
      </p:sp>
      <p:graphicFrame>
        <p:nvGraphicFramePr>
          <p:cNvPr id="30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ORCL 型の要素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MU 型の要素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預金の利ざや・継続手数料(収益の約 76%)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売却益は組成と市況で変わる(約 24%)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信用の損失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は損失を買い手が負う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個人ローン組成の 71% を自社で保有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(Q4 2025 は 51%)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と手数料は資本を使わない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貸出の伸びが資本を食い、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比率は半年で −4.1pt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会員の基盤は長く使える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Galileo は内製化で縮小(AVGO 型の商品化)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2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44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個人ローン組成のうち自社で保有する比率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51% → 71%(Q4 2025 → Q2 2026)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保有の組成 38 → 76 億ドル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3.7%。景気後退で +0.75pt なら理論株価 −1.9 ドル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が資本コストを超えるのは 2029〜30 年</a:t>
            </a:r>
            <a:endParaRPr lang="en-US" sz="950" dirty="0"/>
          </a:p>
        </p:txBody>
      </p:sp>
      <p:sp>
        <p:nvSpPr>
          <p:cNvPr id="45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6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原型は ORCL 型に近いが、自社で抱える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個人ローンの比率が上がり MU 型に寄るため C</a:t>
            </a:r>
            <a:endParaRPr lang="en-US" sz="1050" dirty="0"/>
          </a:p>
        </p:txBody>
      </p:sp>
      <p:sp>
        <p:nvSpPr>
          <p:cNvPr id="47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48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個人ローン組成の自社保有の比率 65% 未満で B 候補・75% 超で D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587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730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3" name="bg_agenda_n3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g_agenda_nt3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bg_agenda_ch3"/>
          <p:cNvSpPr txBox="1"/>
          <p:nvPr/>
        </p:nvSpPr>
        <p:spPr>
          <a:xfrm>
            <a:off x="1417320" y="4873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16" name="bg_agenda_why3"/>
          <p:cNvSpPr txBox="1"/>
          <p:nvPr/>
        </p:nvSpPr>
        <p:spPr>
          <a:xfrm>
            <a:off x="1417320" y="53675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構造評価を倍率に変えて理論株価を出し、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リスクを踏まえて建て方と撤退条件を決める</a:t>
            </a:r>
            <a:endParaRPr lang="en-US" sz="1050" dirty="0"/>
          </a:p>
        </p:txBody>
      </p:sp>
      <p:sp>
        <p:nvSpPr>
          <p:cNvPr id="17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18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第4章の構成</a:t>
            </a:r>
            <a:endParaRPr lang="en-US" sz="1300" dirty="0"/>
          </a:p>
        </p:txBody>
      </p:sp>
      <p:sp>
        <p:nvSpPr>
          <p:cNvPr id="19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 市場との差分</a:t>
            </a:r>
            <a:endParaRPr lang="en-US" sz="1250" dirty="0"/>
          </a:p>
        </p:txBody>
      </p:sp>
      <p:sp>
        <p:nvSpPr>
          <p:cNvPr id="20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p.31</a:t>
            </a:r>
            <a:endParaRPr lang="en-US" sz="1050" dirty="0"/>
          </a:p>
        </p:txBody>
      </p:sp>
      <p:sp>
        <p:nvSpPr>
          <p:cNvPr id="21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 価値評価</a:t>
            </a:r>
            <a:endParaRPr lang="en-US" sz="1250" dirty="0"/>
          </a:p>
        </p:txBody>
      </p:sp>
      <p:sp>
        <p:nvSpPr>
          <p:cNvPr id="22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p.32–34</a:t>
            </a:r>
            <a:endParaRPr lang="en-US" sz="1050" dirty="0"/>
          </a:p>
        </p:txBody>
      </p:sp>
      <p:sp>
        <p:nvSpPr>
          <p:cNvPr id="23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 最終判断</a:t>
            </a:r>
            <a:endParaRPr lang="en-US" sz="1250" dirty="0"/>
          </a:p>
        </p:txBody>
      </p:sp>
      <p:sp>
        <p:nvSpPr>
          <p:cNvPr id="24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p.35</a:t>
            </a:r>
            <a:endParaRPr lang="en-US" sz="1050" dirty="0"/>
          </a:p>
        </p:txBody>
      </p:sp>
      <p:sp>
        <p:nvSpPr>
          <p:cNvPr id="25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 リスク</a:t>
            </a:r>
            <a:endParaRPr lang="en-US" sz="1250" dirty="0"/>
          </a:p>
        </p:txBody>
      </p:sp>
      <p:sp>
        <p:nvSpPr>
          <p:cNvPr id="26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p.36</a:t>
            </a:r>
            <a:endParaRPr lang="en-US" sz="1050" dirty="0"/>
          </a:p>
        </p:txBody>
      </p:sp>
      <p:sp>
        <p:nvSpPr>
          <p:cNvPr id="27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 投資行動</a:t>
            </a:r>
            <a:endParaRPr lang="en-US" sz="1250" dirty="0"/>
          </a:p>
        </p:txBody>
      </p:sp>
      <p:sp>
        <p:nvSpPr>
          <p:cNvPr id="28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p.37</a:t>
            </a:r>
            <a:endParaRPr lang="en-US" sz="1050" dirty="0"/>
          </a:p>
        </p:txBody>
      </p:sp>
      <p:sp>
        <p:nvSpPr>
          <p:cNvPr id="29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 前提と制約</a:t>
            </a:r>
            <a:endParaRPr lang="en-US" sz="1250" dirty="0"/>
          </a:p>
        </p:txBody>
      </p:sp>
      <p:sp>
        <p:nvSpPr>
          <p:cNvPr id="30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p.38</a:t>
            </a:r>
            <a:endParaRPr lang="en-US" sz="1050" dirty="0"/>
          </a:p>
        </p:txBody>
      </p:sp>
      <p:sp>
        <p:nvSpPr>
          <p:cNvPr id="31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市場との差分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市場との差分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市場が何を織り込み、どこに見落としがあるか(無いか)を確かめる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株価は会社計画の達成を約 4 割の確率で織り込む。成長は資本を食い、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が資本コストを超えるのは 2029〜30 年で、買いの差分は無い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市場が付ける倍率と、株価が示す強気の確率。右: 市場の仮説と構造上の見方(差分の候補)、カタリストの日程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calc/out/val.json、research/R3a_market_hypothesis.md(Muddy Waters・KBW・Morgan Stanley・BofA・StoneX・Citi)、会社開示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31</a:t>
            </a:r>
            <a:endParaRPr lang="en-US" sz="800" dirty="0"/>
          </a:p>
        </p:txBody>
      </p:sp>
      <p:sp>
        <p:nvSpPr>
          <p:cNvPr id="19" name="pane_head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市場の倍率(2026 年末、2027 年 EPS 比)</a:t>
            </a:r>
            <a:endParaRPr lang="en-US" sz="1200" dirty="0"/>
          </a:p>
        </p:txBody>
      </p:sp>
      <p:graphicFrame>
        <p:nvGraphicFramePr>
          <p:cNvPr id="20" name="chart" descr=""/>
          <p:cNvGraphicFramePr/>
          <p:nvPr/>
        </p:nvGraphicFramePr>
        <p:xfrm>
          <a:off x="457200" y="1810512"/>
          <a:ext cx="5532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553212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株価が示す確率(定義)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 14.55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ベースと強気の 2 点で強気の確率を逆算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本資料の確率(強気 25%・ベース 50%・弱気 25%)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note"/>
          <p:cNvSpPr txBox="1"/>
          <p:nvPr/>
        </p:nvSpPr>
        <p:spPr>
          <a:xfrm>
            <a:off x="457200" y="5257800"/>
            <a:ext cx="55321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市場はベースと強気の間の、強気側 40% の位置にいる。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会社計画(2028 年 EPS 約 1.1 ドル)の達成をかなりの確率で織り込む</a:t>
            </a:r>
            <a:endParaRPr lang="en-US" sz="950" dirty="0"/>
          </a:p>
        </p:txBody>
      </p:sp>
      <p:sp>
        <p:nvSpPr>
          <p:cNvPr id="23" name="pane_head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市場の仮説 → 構造上の見方</a:t>
            </a:r>
            <a:endParaRPr lang="en-US" sz="1200" dirty="0"/>
          </a:p>
        </p:txBody>
      </p:sp>
      <p:graphicFrame>
        <p:nvGraphicFramePr>
          <p:cNvPr id="63" name="tbl_hypothes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10512"/>
          <a:ext cx="5532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市場の仮説(出所)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構造上の見方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会計が甘い(Muddy Waters)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損失の前提 4.8% は実績 3.7% より保守的。ただし割引率は薄い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一部は過大(優位: 分析)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成長が資本を食う(MS・KBW)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 −4.1pt/半年。ROTCE &lt; 資本コスト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無し(市場と同じ)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利益が売上に付いてこない(BofA)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下期は増分利益率 50% 超が必要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無し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下げすぎ(StoneX・Citi)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 13.4 で株価は上回る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無し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pane_head"/>
          <p:cNvSpPr txBox="1"/>
          <p:nvPr/>
        </p:nvSpPr>
        <p:spPr>
          <a:xfrm>
            <a:off x="6199632" y="38404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カタリストの日程</a:t>
            </a:r>
            <a:endParaRPr lang="en-US" sz="1200" dirty="0"/>
          </a:p>
        </p:txBody>
      </p:sp>
      <p:graphicFrame>
        <p:nvGraphicFramePr>
          <p:cNvPr id="94" name="tbl_cataly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4160520"/>
          <a:ext cx="5532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カタリスト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何が分かるか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10/27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2026 決算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0.17 の達成、公正価値のマーク、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販促費率、総自己資本比率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10/28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FOMC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利上げの有無(確率 3〜5 割)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決算・2027 年見通し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年の EPS・ROTCE の見通し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2027 決算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 15% 前後で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への切替が進むか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景気(失業率 4.2%)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貸倒率の上昇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価値評価(1/3)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理論株価の土台になる将来 EPS と ROTCE の経路を、シナリオ別に示す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 はエンジン経路で 0.60 → 1.66 ドル(2030 年)と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コンセンサスとほぼ同じ。ROTCE は 2030 年でも 14.5% にとどまる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EPS(調整後 EPS。株式報酬を費用に含む)、ドル。2026〜29 年はコンセンサス・会社目標・事業エンジン、2030 年は延長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コンセンサス(R2・R8)、会社の中期目標(2025→28 年 EPS CAGR 38〜42%)、calc/out/val.json(事業エンジン・強気・弱気)。過去の成長率は使っていない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32</a:t>
            </a:r>
            <a:endParaRPr lang="en-US" sz="800" dirty="0"/>
          </a:p>
        </p:txBody>
      </p:sp>
      <p:graphicFrame>
        <p:nvGraphicFramePr>
          <p:cNvPr id="19" name="chart" descr=""/>
          <p:cNvGraphicFramePr/>
          <p:nvPr/>
        </p:nvGraphicFramePr>
        <p:xfrm>
          <a:off x="457200" y="1508760"/>
          <a:ext cx="7635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ovl_takeaway_bg"/>
          <p:cNvSpPr/>
          <p:nvPr/>
        </p:nvSpPr>
        <p:spPr>
          <a:xfrm>
            <a:off x="8275320" y="1554480"/>
            <a:ext cx="3456432" cy="12344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1" name="takeaway"/>
          <p:cNvSpPr txBox="1"/>
          <p:nvPr/>
        </p:nvSpPr>
        <p:spPr>
          <a:xfrm>
            <a:off x="8385048" y="1627632"/>
            <a:ext cx="323697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ベースの 2026→29 年の CAGR は 31%。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コンセンサスとの差は ±3% 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の見通しに差分は無い</a:t>
            </a:r>
            <a:endParaRPr lang="en-US" sz="1100" dirty="0"/>
          </a:p>
        </p:txBody>
      </p:sp>
      <p:sp>
        <p:nvSpPr>
          <p:cNvPr id="22" name="points"/>
          <p:cNvSpPr txBox="1"/>
          <p:nvPr/>
        </p:nvSpPr>
        <p:spPr>
          <a:xfrm>
            <a:off x="8275320" y="2926080"/>
            <a:ext cx="3456432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ROTCE(エンジン)は 2027 年 10.9%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2030 年 14.5%。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会社目標 20〜30% には届かない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年から自己資本比率の下限で貸出の伸びが止まり、溢れた分は LPB へ回る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強気・弱気は会員純増・販促費率・NIM・貸倒を同じ幅だけ逆に動かした(対称)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価値評価(2/3)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構造評価から許容倍率を決め、年度別に当てて理論株価を出す手順を示す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C は許容 PEG 0.8〜0.9。3 経路の妥当 PER を年度別に当て、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近い年度を重くするとベース 13.3 ドル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年度別理論株価 = Σ 重み × [ 妥当 PER × 翌年度の事業実態 EPS × 生存確率 98.5% を株主資本コスト 13.9% で今日へ割引 ]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calc/val_model.py・out/val.json、銘柄分析メソッド valuation-model §3-3(構造評価 C の出発 PEG 0.8〜1.0)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</a:t>
            </a:r>
            <a:endParaRPr lang="en-US" sz="800" dirty="0"/>
          </a:p>
        </p:txBody>
      </p:sp>
      <p:sp>
        <p:nvSpPr>
          <p:cNvPr id="19" name="flow_h0"/>
          <p:cNvSpPr txBox="1"/>
          <p:nvPr/>
        </p:nvSpPr>
        <p:spPr>
          <a:xfrm>
            <a:off x="457200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20" name="ovl_fbox0_0"/>
          <p:cNvSpPr/>
          <p:nvPr/>
        </p:nvSpPr>
        <p:spPr>
          <a:xfrm>
            <a:off x="457200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1" name="flow_t0_0"/>
          <p:cNvSpPr txBox="1"/>
          <p:nvPr/>
        </p:nvSpPr>
        <p:spPr>
          <a:xfrm>
            <a:off x="530352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800" dirty="0"/>
          </a:p>
        </p:txBody>
      </p:sp>
      <p:sp>
        <p:nvSpPr>
          <p:cNvPr id="22" name="ovl_fbox0_1"/>
          <p:cNvSpPr/>
          <p:nvPr/>
        </p:nvSpPr>
        <p:spPr>
          <a:xfrm>
            <a:off x="457200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3" name="flow_t0_1"/>
          <p:cNvSpPr txBox="1"/>
          <p:nvPr/>
        </p:nvSpPr>
        <p:spPr>
          <a:xfrm>
            <a:off x="530352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出発 PEG 0.8〜1.0</a:t>
            </a:r>
            <a:endParaRPr lang="en-US" sz="1000" dirty="0"/>
          </a:p>
        </p:txBody>
      </p:sp>
      <p:sp>
        <p:nvSpPr>
          <p:cNvPr id="24" name="ovl_farrow0"/>
          <p:cNvSpPr/>
          <p:nvPr/>
        </p:nvSpPr>
        <p:spPr>
          <a:xfrm>
            <a:off x="2534351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5" name="flow_h1"/>
          <p:cNvSpPr txBox="1"/>
          <p:nvPr/>
        </p:nvSpPr>
        <p:spPr>
          <a:xfrm>
            <a:off x="2767523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許容 PEG</a:t>
            </a:r>
            <a:endParaRPr lang="en-US" sz="1100" dirty="0"/>
          </a:p>
        </p:txBody>
      </p:sp>
      <p:sp>
        <p:nvSpPr>
          <p:cNvPr id="26" name="ovl_fbox1_0"/>
          <p:cNvSpPr/>
          <p:nvPr/>
        </p:nvSpPr>
        <p:spPr>
          <a:xfrm>
            <a:off x="2767523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27" name="flow_t1_0"/>
          <p:cNvSpPr txBox="1"/>
          <p:nvPr/>
        </p:nvSpPr>
        <p:spPr>
          <a:xfrm>
            <a:off x="2840675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0.8〜0.9</a:t>
            </a:r>
            <a:endParaRPr lang="en-US" sz="2400" dirty="0"/>
          </a:p>
        </p:txBody>
      </p:sp>
      <p:sp>
        <p:nvSpPr>
          <p:cNvPr id="28" name="ovl_fbox1_1"/>
          <p:cNvSpPr/>
          <p:nvPr/>
        </p:nvSpPr>
        <p:spPr>
          <a:xfrm>
            <a:off x="2767523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9" name="flow_t1_1"/>
          <p:cNvSpPr txBox="1"/>
          <p:nvPr/>
        </p:nvSpPr>
        <p:spPr>
          <a:xfrm>
            <a:off x="2840675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年度で下げる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(2026 末 0.9 → 2029 末 0.8)</a:t>
            </a:r>
            <a:endParaRPr lang="en-US" sz="900" dirty="0"/>
          </a:p>
        </p:txBody>
      </p:sp>
      <p:sp>
        <p:nvSpPr>
          <p:cNvPr id="30" name="ovl_farrow1"/>
          <p:cNvSpPr/>
          <p:nvPr/>
        </p:nvSpPr>
        <p:spPr>
          <a:xfrm>
            <a:off x="4844674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1" name="flow_h2"/>
          <p:cNvSpPr txBox="1"/>
          <p:nvPr/>
        </p:nvSpPr>
        <p:spPr>
          <a:xfrm>
            <a:off x="5077846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PER(3 経路の平均)</a:t>
            </a:r>
            <a:endParaRPr lang="en-US" sz="1100" dirty="0"/>
          </a:p>
        </p:txBody>
      </p:sp>
      <p:sp>
        <p:nvSpPr>
          <p:cNvPr id="32" name="ovl_fbox2_0"/>
          <p:cNvSpPr/>
          <p:nvPr/>
        </p:nvSpPr>
        <p:spPr>
          <a:xfrm>
            <a:off x="5077846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3" name="flow_t2_0"/>
          <p:cNvSpPr txBox="1"/>
          <p:nvPr/>
        </p:nvSpPr>
        <p:spPr>
          <a:xfrm>
            <a:off x="5150998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同業 13.6 倍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PEG × 3 年成長率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事業エンジンの価値</a:t>
            </a:r>
            <a:endParaRPr lang="en-US" sz="1000" dirty="0"/>
          </a:p>
        </p:txBody>
      </p:sp>
      <p:sp>
        <p:nvSpPr>
          <p:cNvPr id="34" name="ovl_farrow2"/>
          <p:cNvSpPr/>
          <p:nvPr/>
        </p:nvSpPr>
        <p:spPr>
          <a:xfrm>
            <a:off x="7154997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5" name="flow_h3"/>
          <p:cNvSpPr txBox="1"/>
          <p:nvPr/>
        </p:nvSpPr>
        <p:spPr>
          <a:xfrm>
            <a:off x="7388169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年度末の目標</a:t>
            </a:r>
            <a:endParaRPr lang="en-US" sz="1100" dirty="0"/>
          </a:p>
        </p:txBody>
      </p:sp>
      <p:sp>
        <p:nvSpPr>
          <p:cNvPr id="36" name="ovl_fbox3_0"/>
          <p:cNvSpPr/>
          <p:nvPr/>
        </p:nvSpPr>
        <p:spPr>
          <a:xfrm>
            <a:off x="7388169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7" name="flow_t3_0"/>
          <p:cNvSpPr txBox="1"/>
          <p:nvPr/>
        </p:nvSpPr>
        <p:spPr>
          <a:xfrm>
            <a:off x="7461321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PER × 翌年度 EPS 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生存確率</a:t>
            </a:r>
            <a:endParaRPr lang="en-US" sz="1000" dirty="0"/>
          </a:p>
        </p:txBody>
      </p:sp>
      <p:sp>
        <p:nvSpPr>
          <p:cNvPr id="38" name="ovl_farrow3"/>
          <p:cNvSpPr/>
          <p:nvPr/>
        </p:nvSpPr>
        <p:spPr>
          <a:xfrm>
            <a:off x="9465320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9" name="flow_h4"/>
          <p:cNvSpPr txBox="1"/>
          <p:nvPr/>
        </p:nvSpPr>
        <p:spPr>
          <a:xfrm>
            <a:off x="9698492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</a:t>
            </a:r>
            <a:endParaRPr lang="en-US" sz="1100" dirty="0"/>
          </a:p>
        </p:txBody>
      </p:sp>
      <p:sp>
        <p:nvSpPr>
          <p:cNvPr id="40" name="ovl_fbox4_0"/>
          <p:cNvSpPr/>
          <p:nvPr/>
        </p:nvSpPr>
        <p:spPr>
          <a:xfrm>
            <a:off x="9698492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1" name="flow_t4_0"/>
          <p:cNvSpPr txBox="1"/>
          <p:nvPr/>
        </p:nvSpPr>
        <p:spPr>
          <a:xfrm>
            <a:off x="9771644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13.3 ドル</a:t>
            </a:r>
            <a:endParaRPr lang="en-US" sz="2600" dirty="0"/>
          </a:p>
        </p:txBody>
      </p:sp>
      <p:sp>
        <p:nvSpPr>
          <p:cNvPr id="42" name="ovl_fbox4_1"/>
          <p:cNvSpPr/>
          <p:nvPr/>
        </p:nvSpPr>
        <p:spPr>
          <a:xfrm>
            <a:off x="9698492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3" name="flow_t4_1"/>
          <p:cNvSpPr txBox="1"/>
          <p:nvPr/>
        </p:nvSpPr>
        <p:spPr>
          <a:xfrm>
            <a:off x="9771644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加重 13.4・株価 14.55</a:t>
            </a:r>
            <a:endParaRPr lang="en-US" sz="1000" dirty="0"/>
          </a:p>
        </p:txBody>
      </p:sp>
      <p:graphicFrame>
        <p:nvGraphicFramePr>
          <p:cNvPr id="3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  <a:gridCol w="1371600"/>
                <a:gridCol w="1371600"/>
                <a:gridCol w="1371600"/>
                <a:gridCol w="1463040"/>
                <a:gridCol w="15819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翌年度 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3年成長率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 同業 13.6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 PEG × 成長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 エンジン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目標(平均)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今日の価値(重み)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13.2(40%)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13.4(30%)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13.2(20%)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13.2(10%)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note"/>
          <p:cNvSpPr txBox="1"/>
          <p:nvPr/>
        </p:nvSpPr>
        <p:spPr>
          <a:xfrm>
            <a:off x="457200" y="5230368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注: a・b・c の列は「倍率 × 翌年度 EPS」の価格(ドル)。</a:t>
            </a:r>
            <a:endParaRPr lang="en-US" sz="850" dirty="0"/>
          </a:p>
        </p:txBody>
      </p:sp>
      <p:sp>
        <p:nvSpPr>
          <p:cNvPr id="46" name="bullets"/>
          <p:cNvSpPr txBox="1"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の PEG は 2026 末 0.9・2027 末 0.85・2028〜29 末 0.8。下限は無成長の PER(1/資本コスト = 7.2 倍)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は事業エンジン(必要資本を引いた株主への配分可能額の DCF)の年度末の価値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株主資本コスト 13.9% = 米 10 年債 5.2% + β 1.93 × 4.5%(β は SOFI 2.2 と同業 NU・HOOD の中央 1.65 の平均)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価値評価(3/3)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前提がずれたとき理論株価がどれだけ動くか(頑健さ)と、別の方法との差を確かめる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確率加重は 13.4 ドル。信用が 0.75pt 悪化すると 11.4 ドルで、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DCF と TBV×ROTCE の照合は 9〜11 ドルとさらに低い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芯の 2 変数(貸倒・販促費率)を動かしたときの理論株価。右: 金利と、別の評価方法との照合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calc/out/val.json(sens_credit_x_sm・rate_sens・tbv_check・steady_state)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34</a:t>
            </a:r>
            <a:endParaRPr lang="en-US" sz="800" dirty="0"/>
          </a:p>
        </p:txBody>
      </p:sp>
      <p:sp>
        <p:nvSpPr>
          <p:cNvPr id="19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 × 販促費率の感応度(理論株価、ドル)</a:t>
            </a:r>
            <a:endParaRPr lang="en-US" sz="1200" dirty="0"/>
          </a:p>
        </p:txBody>
      </p:sp>
      <p:graphicFrame>
        <p:nvGraphicFramePr>
          <p:cNvPr id="3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個人ローンの貸倒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(恒常的な変化)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−2pt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計画どおり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+2pt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−0.75pt(改善)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16.2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15.3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14.3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0(ベース)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14.2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13.3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12.4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+0.75pt(景気減速)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12.3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11.4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10.6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+1.5pt(景気後退)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10.6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9.7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8.9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note"/>
          <p:cNvSpPr txBox="1"/>
          <p:nvPr/>
        </p:nvSpPr>
        <p:spPr>
          <a:xfrm>
            <a:off x="457200" y="4206240"/>
            <a:ext cx="57607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販促費率の計画: 32%(2026)→ 25.5%(2030)。貸倒 +1pt は税引前利益で約 5 億ドル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(2027 年の B/S 規模)</a:t>
            </a:r>
            <a:endParaRPr lang="en-US" sz="950" dirty="0"/>
          </a:p>
        </p:txBody>
      </p:sp>
      <p:sp>
        <p:nvSpPr>
          <p:cNvPr id="22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金利と別の方法との照合</a:t>
            </a:r>
            <a:endParaRPr lang="en-US" sz="1200" dirty="0"/>
          </a:p>
        </p:txBody>
      </p:sp>
      <p:graphicFrame>
        <p:nvGraphicFramePr>
          <p:cNvPr id="6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33856"/>
                <a:gridCol w="113385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方法・前提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 PER(ベース、資本コスト 13.9%)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資本コスト −1pt / +1pt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 / 12.8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0.96 / 0.88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DCF(必要資本控除後の配分可能額)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0.73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TBV × (ROTCE − g)/(r − g)、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15% / 18%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8.4 / 10.9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0.57 / 0.75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定常状態価値(成長投資を止めた場合)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l_takeaway_bg"/>
          <p:cNvSpPr/>
          <p:nvPr/>
        </p:nvSpPr>
        <p:spPr>
          <a:xfrm>
            <a:off x="6446520" y="4663440"/>
            <a:ext cx="5285232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6556248" y="4736592"/>
            <a:ext cx="5065776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PER の方法は成長を評価するが、資本の重さを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見る方法(DCF・TBV)はさらに低い。株価は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どの方法でも理論株価を上回る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最終判断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最終判断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構造評価と価格の乖離を合わせ、投資判断とエントリー価格帯を決める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経路の乖離は −16〜+1% で、構造評価 C の表では「監視」。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ドルは見送り圏で、分割の目安は 11.3 ドル以下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× 価格乖離の 2 軸マトリクス(valuation-model §4-1)、3 経路の乖離、非対称性、エントリー価格帯(scenario-strategy §6)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calc/out/val.json、銘柄分析メソッド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35</a:t>
            </a:r>
            <a:endParaRPr lang="en-US" sz="800" dirty="0"/>
          </a:p>
        </p:txBody>
      </p:sp>
      <p:sp>
        <p:nvSpPr>
          <p:cNvPr id="19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900" dirty="0"/>
          </a:p>
        </p:txBody>
      </p:sp>
      <p:sp>
        <p:nvSpPr>
          <p:cNvPr id="20" name="mx_x0"/>
          <p:cNvSpPr txBox="1"/>
          <p:nvPr/>
        </p:nvSpPr>
        <p:spPr>
          <a:xfrm>
            <a:off x="14630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+30% 以上</a:t>
            </a:r>
            <a:endParaRPr lang="en-US" sz="950" dirty="0"/>
          </a:p>
        </p:txBody>
      </p:sp>
      <p:sp>
        <p:nvSpPr>
          <p:cNvPr id="21" name="mx_x1"/>
          <p:cNvSpPr txBox="1"/>
          <p:nvPr/>
        </p:nvSpPr>
        <p:spPr>
          <a:xfrm>
            <a:off x="27203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+10〜30%</a:t>
            </a:r>
            <a:endParaRPr lang="en-US" sz="950" dirty="0"/>
          </a:p>
        </p:txBody>
      </p:sp>
      <p:sp>
        <p:nvSpPr>
          <p:cNvPr id="22" name="mx_x2"/>
          <p:cNvSpPr txBox="1"/>
          <p:nvPr/>
        </p:nvSpPr>
        <p:spPr>
          <a:xfrm>
            <a:off x="39776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−10〜+10%</a:t>
            </a:r>
            <a:endParaRPr lang="en-US" sz="950" dirty="0"/>
          </a:p>
        </p:txBody>
      </p:sp>
      <p:sp>
        <p:nvSpPr>
          <p:cNvPr id="23" name="mx_x3"/>
          <p:cNvSpPr txBox="1"/>
          <p:nvPr/>
        </p:nvSpPr>
        <p:spPr>
          <a:xfrm>
            <a:off x="52349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−10% 未満</a:t>
            </a:r>
            <a:endParaRPr lang="en-US" sz="950" dirty="0"/>
          </a:p>
        </p:txBody>
      </p:sp>
      <p:sp>
        <p:nvSpPr>
          <p:cNvPr id="24" name="mx_y0"/>
          <p:cNvSpPr txBox="1"/>
          <p:nvPr/>
        </p:nvSpPr>
        <p:spPr>
          <a:xfrm>
            <a:off x="457200" y="19202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S・A</a:t>
            </a:r>
            <a:endParaRPr lang="en-US" sz="950" dirty="0"/>
          </a:p>
        </p:txBody>
      </p:sp>
      <p:sp>
        <p:nvSpPr>
          <p:cNvPr id="25" name="ovl_mx0_0"/>
          <p:cNvSpPr/>
          <p:nvPr/>
        </p:nvSpPr>
        <p:spPr>
          <a:xfrm>
            <a:off x="14630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mx_t0_0"/>
          <p:cNvSpPr txBox="1"/>
          <p:nvPr/>
        </p:nvSpPr>
        <p:spPr>
          <a:xfrm>
            <a:off x="15087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27" name="ovl_mx1_0"/>
          <p:cNvSpPr/>
          <p:nvPr/>
        </p:nvSpPr>
        <p:spPr>
          <a:xfrm>
            <a:off x="27203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mx_t1_0"/>
          <p:cNvSpPr txBox="1"/>
          <p:nvPr/>
        </p:nvSpPr>
        <p:spPr>
          <a:xfrm>
            <a:off x="27660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29" name="ovl_mx2_0"/>
          <p:cNvSpPr/>
          <p:nvPr/>
        </p:nvSpPr>
        <p:spPr>
          <a:xfrm>
            <a:off x="39776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2_0"/>
          <p:cNvSpPr txBox="1"/>
          <p:nvPr/>
        </p:nvSpPr>
        <p:spPr>
          <a:xfrm>
            <a:off x="40233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31" name="ovl_mx3_0"/>
          <p:cNvSpPr/>
          <p:nvPr/>
        </p:nvSpPr>
        <p:spPr>
          <a:xfrm>
            <a:off x="52349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3_0"/>
          <p:cNvSpPr txBox="1"/>
          <p:nvPr/>
        </p:nvSpPr>
        <p:spPr>
          <a:xfrm>
            <a:off x="52806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33" name="mx_y1"/>
          <p:cNvSpPr txBox="1"/>
          <p:nvPr/>
        </p:nvSpPr>
        <p:spPr>
          <a:xfrm>
            <a:off x="457200" y="26060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950" dirty="0"/>
          </a:p>
        </p:txBody>
      </p:sp>
      <p:sp>
        <p:nvSpPr>
          <p:cNvPr id="34" name="ovl_mx0_1"/>
          <p:cNvSpPr/>
          <p:nvPr/>
        </p:nvSpPr>
        <p:spPr>
          <a:xfrm>
            <a:off x="14630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mx_t0_1"/>
          <p:cNvSpPr txBox="1"/>
          <p:nvPr/>
        </p:nvSpPr>
        <p:spPr>
          <a:xfrm>
            <a:off x="15087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36" name="ovl_mx1_1"/>
          <p:cNvSpPr/>
          <p:nvPr/>
        </p:nvSpPr>
        <p:spPr>
          <a:xfrm>
            <a:off x="27203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mx_t1_1"/>
          <p:cNvSpPr txBox="1"/>
          <p:nvPr/>
        </p:nvSpPr>
        <p:spPr>
          <a:xfrm>
            <a:off x="27660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38" name="ovl_mx2_1"/>
          <p:cNvSpPr/>
          <p:nvPr/>
        </p:nvSpPr>
        <p:spPr>
          <a:xfrm>
            <a:off x="39776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mx_t2_1"/>
          <p:cNvSpPr txBox="1"/>
          <p:nvPr/>
        </p:nvSpPr>
        <p:spPr>
          <a:xfrm>
            <a:off x="40233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0" name="ovl_mx3_1"/>
          <p:cNvSpPr/>
          <p:nvPr/>
        </p:nvSpPr>
        <p:spPr>
          <a:xfrm>
            <a:off x="52349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mx_t3_1"/>
          <p:cNvSpPr txBox="1"/>
          <p:nvPr/>
        </p:nvSpPr>
        <p:spPr>
          <a:xfrm>
            <a:off x="52806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42" name="mx_y2"/>
          <p:cNvSpPr txBox="1"/>
          <p:nvPr/>
        </p:nvSpPr>
        <p:spPr>
          <a:xfrm>
            <a:off x="457200" y="32918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950" dirty="0"/>
          </a:p>
        </p:txBody>
      </p:sp>
      <p:sp>
        <p:nvSpPr>
          <p:cNvPr id="43" name="ovl_mx0_2"/>
          <p:cNvSpPr/>
          <p:nvPr/>
        </p:nvSpPr>
        <p:spPr>
          <a:xfrm>
            <a:off x="14630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4" name="mx_t0_2"/>
          <p:cNvSpPr txBox="1"/>
          <p:nvPr/>
        </p:nvSpPr>
        <p:spPr>
          <a:xfrm>
            <a:off x="15087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45" name="ovl_mx1_2"/>
          <p:cNvSpPr/>
          <p:nvPr/>
        </p:nvSpPr>
        <p:spPr>
          <a:xfrm>
            <a:off x="27203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6" name="mx_t1_2"/>
          <p:cNvSpPr txBox="1"/>
          <p:nvPr/>
        </p:nvSpPr>
        <p:spPr>
          <a:xfrm>
            <a:off x="27660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7" name="ovl_mx2_2"/>
          <p:cNvSpPr/>
          <p:nvPr/>
        </p:nvSpPr>
        <p:spPr>
          <a:xfrm>
            <a:off x="3977640" y="3291840"/>
            <a:ext cx="1220724" cy="64922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8" name="mx_t2_2"/>
          <p:cNvSpPr txBox="1"/>
          <p:nvPr/>
        </p:nvSpPr>
        <p:spPr>
          <a:xfrm>
            <a:off x="40233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9" name="ovl_mx3_2"/>
          <p:cNvSpPr/>
          <p:nvPr/>
        </p:nvSpPr>
        <p:spPr>
          <a:xfrm>
            <a:off x="52349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0" name="mx_t3_2"/>
          <p:cNvSpPr txBox="1"/>
          <p:nvPr/>
        </p:nvSpPr>
        <p:spPr>
          <a:xfrm>
            <a:off x="52806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1" name="mx_y3"/>
          <p:cNvSpPr txBox="1"/>
          <p:nvPr/>
        </p:nvSpPr>
        <p:spPr>
          <a:xfrm>
            <a:off x="457200" y="39776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 以下</a:t>
            </a:r>
            <a:endParaRPr lang="en-US" sz="950" dirty="0"/>
          </a:p>
        </p:txBody>
      </p:sp>
      <p:sp>
        <p:nvSpPr>
          <p:cNvPr id="52" name="ovl_mx0_3"/>
          <p:cNvSpPr/>
          <p:nvPr/>
        </p:nvSpPr>
        <p:spPr>
          <a:xfrm>
            <a:off x="14630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3" name="mx_t0_3"/>
          <p:cNvSpPr txBox="1"/>
          <p:nvPr/>
        </p:nvSpPr>
        <p:spPr>
          <a:xfrm>
            <a:off x="15087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4" name="ovl_mx1_3"/>
          <p:cNvSpPr/>
          <p:nvPr/>
        </p:nvSpPr>
        <p:spPr>
          <a:xfrm>
            <a:off x="27203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5" name="mx_t1_3"/>
          <p:cNvSpPr txBox="1"/>
          <p:nvPr/>
        </p:nvSpPr>
        <p:spPr>
          <a:xfrm>
            <a:off x="27660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6" name="ovl_mx2_3"/>
          <p:cNvSpPr/>
          <p:nvPr/>
        </p:nvSpPr>
        <p:spPr>
          <a:xfrm>
            <a:off x="39776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7" name="mx_t2_3"/>
          <p:cNvSpPr txBox="1"/>
          <p:nvPr/>
        </p:nvSpPr>
        <p:spPr>
          <a:xfrm>
            <a:off x="40233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8" name="ovl_mx3_3"/>
          <p:cNvSpPr/>
          <p:nvPr/>
        </p:nvSpPr>
        <p:spPr>
          <a:xfrm>
            <a:off x="52349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9" name="mx_t3_3"/>
          <p:cNvSpPr txBox="1"/>
          <p:nvPr/>
        </p:nvSpPr>
        <p:spPr>
          <a:xfrm>
            <a:off x="52806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60" name="mx_xt"/>
          <p:cNvSpPr txBox="1"/>
          <p:nvPr/>
        </p:nvSpPr>
        <p:spPr>
          <a:xfrm>
            <a:off x="1463040" y="4681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価格乖離(採用経路の理論株価 ÷ 株価 − 1)</a:t>
            </a:r>
            <a:endParaRPr lang="en-US" sz="900" dirty="0"/>
          </a:p>
        </p:txBody>
      </p:sp>
      <p:sp>
        <p:nvSpPr>
          <p:cNvPr id="61" name="ovl_takeaway_bg"/>
          <p:cNvSpPr/>
          <p:nvPr/>
        </p:nvSpPr>
        <p:spPr>
          <a:xfrm>
            <a:off x="457200" y="5010912"/>
            <a:ext cx="6035040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62" name="takeaway"/>
          <p:cNvSpPr txBox="1"/>
          <p:nvPr/>
        </p:nvSpPr>
        <p:spPr>
          <a:xfrm>
            <a:off x="566928" y="5084064"/>
            <a:ext cx="58155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行 × 乖離 −9%(確率加重でも −8%)で「監視」。市場との差分も無いため、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価格が下がるか判別 KPI に合格するまで建てない</a:t>
            </a:r>
            <a:endParaRPr lang="en-US" sz="1100" dirty="0"/>
          </a:p>
        </p:txBody>
      </p:sp>
      <p:graphicFrame>
        <p:nvGraphicFramePr>
          <p:cNvPr id="3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55448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乖離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事業エンジン(採用)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会社シナリオ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確率加重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29184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非対称性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下値(弱気)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−28%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上値(強気)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5" name="bullets"/>
          <p:cNvSpPr txBox="1"/>
          <p:nvPr/>
        </p:nvSpPr>
        <p:spPr>
          <a:xfrm>
            <a:off x="6720840" y="4343400"/>
            <a:ext cx="5010912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α 30%(構造 C の中央)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即エントリー上限 Z1 = min(13.3×0.70, 10.5×1.15)= 9.3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分割エントリー上限 Z2 = 13.3×0.85 = 11.3 → 株価 14.55 は見送り圏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上値 / 下値の比は 0.46 で、下値の方が大きい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リスク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144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144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リスク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747774" y="356616"/>
            <a:ext cx="9986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判断を覆しうる事象と、その兆候を先に決めておく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最大のリスクは景気後退による信用コストの上昇と、金利による評価減。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会計疑義(空売り)は低確率の裾として分けて監視する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発生確率 × 影響(本体評価に組み込んだリスクとテールリスク)。右: 兆候とトリガー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calc/out/val.json、research_r2/R5_credit_fv.md・R7_funding_rates_capital.md、本資料 第3章の監視 KPI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36</a:t>
            </a:r>
            <a:endParaRPr lang="en-US" sz="800" dirty="0"/>
          </a:p>
        </p:txBody>
      </p:sp>
      <p:sp>
        <p:nvSpPr>
          <p:cNvPr id="19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発生確率</a:t>
            </a:r>
            <a:endParaRPr lang="en-US" sz="900" dirty="0"/>
          </a:p>
        </p:txBody>
      </p:sp>
      <p:sp>
        <p:nvSpPr>
          <p:cNvPr id="20" name="mx_x0"/>
          <p:cNvSpPr txBox="1"/>
          <p:nvPr/>
        </p:nvSpPr>
        <p:spPr>
          <a:xfrm>
            <a:off x="146304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中</a:t>
            </a:r>
            <a:endParaRPr lang="en-US" sz="950" dirty="0"/>
          </a:p>
        </p:txBody>
      </p:sp>
      <p:sp>
        <p:nvSpPr>
          <p:cNvPr id="21" name="mx_x1"/>
          <p:cNvSpPr txBox="1"/>
          <p:nvPr/>
        </p:nvSpPr>
        <p:spPr>
          <a:xfrm>
            <a:off x="307848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大</a:t>
            </a:r>
            <a:endParaRPr lang="en-US" sz="950" dirty="0"/>
          </a:p>
        </p:txBody>
      </p:sp>
      <p:sp>
        <p:nvSpPr>
          <p:cNvPr id="22" name="mx_x2"/>
          <p:cNvSpPr txBox="1"/>
          <p:nvPr/>
        </p:nvSpPr>
        <p:spPr>
          <a:xfrm>
            <a:off x="469392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極大</a:t>
            </a:r>
            <a:endParaRPr lang="en-US" sz="950" dirty="0"/>
          </a:p>
        </p:txBody>
      </p:sp>
      <p:sp>
        <p:nvSpPr>
          <p:cNvPr id="23" name="mx_y0"/>
          <p:cNvSpPr txBox="1"/>
          <p:nvPr/>
        </p:nvSpPr>
        <p:spPr>
          <a:xfrm>
            <a:off x="457200" y="192024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中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(本体に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組込み)</a:t>
            </a:r>
            <a:endParaRPr lang="en-US" sz="950" dirty="0"/>
          </a:p>
        </p:txBody>
      </p:sp>
      <p:sp>
        <p:nvSpPr>
          <p:cNvPr id="24" name="ovl_mx0_0"/>
          <p:cNvSpPr/>
          <p:nvPr/>
        </p:nvSpPr>
        <p:spPr>
          <a:xfrm>
            <a:off x="146304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mx_t0_0"/>
          <p:cNvSpPr txBox="1"/>
          <p:nvPr/>
        </p:nvSpPr>
        <p:spPr>
          <a:xfrm>
            <a:off x="150876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の公正価値の評価減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(EPS −0.02〜−0.06)</a:t>
            </a:r>
            <a:endParaRPr lang="en-US" sz="950" dirty="0"/>
          </a:p>
        </p:txBody>
      </p:sp>
      <p:sp>
        <p:nvSpPr>
          <p:cNvPr id="26" name="ovl_mx1_0"/>
          <p:cNvSpPr/>
          <p:nvPr/>
        </p:nvSpPr>
        <p:spPr>
          <a:xfrm>
            <a:off x="3078480" y="1920240"/>
            <a:ext cx="1578864" cy="142646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mx_t1_0"/>
          <p:cNvSpPr txBox="1"/>
          <p:nvPr/>
        </p:nvSpPr>
        <p:spPr>
          <a:xfrm>
            <a:off x="312420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景気減速で貸倒 +0.75pt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(理論株価 −1.9)・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資本の上限で成長が鈍る</a:t>
            </a:r>
            <a:endParaRPr lang="en-US" sz="950" dirty="0"/>
          </a:p>
        </p:txBody>
      </p:sp>
      <p:sp>
        <p:nvSpPr>
          <p:cNvPr id="28" name="ovl_mx2_0"/>
          <p:cNvSpPr/>
          <p:nvPr/>
        </p:nvSpPr>
        <p:spPr>
          <a:xfrm>
            <a:off x="469392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mx_t2_0"/>
          <p:cNvSpPr txBox="1"/>
          <p:nvPr/>
        </p:nvSpPr>
        <p:spPr>
          <a:xfrm>
            <a:off x="473964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950" dirty="0"/>
          </a:p>
        </p:txBody>
      </p:sp>
      <p:sp>
        <p:nvSpPr>
          <p:cNvPr id="30" name="mx_y1"/>
          <p:cNvSpPr txBox="1"/>
          <p:nvPr/>
        </p:nvSpPr>
        <p:spPr>
          <a:xfrm>
            <a:off x="457200" y="338328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低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(テール)</a:t>
            </a:r>
            <a:endParaRPr lang="en-US" sz="950" dirty="0"/>
          </a:p>
        </p:txBody>
      </p:sp>
      <p:sp>
        <p:nvSpPr>
          <p:cNvPr id="31" name="ovl_mx0_1"/>
          <p:cNvSpPr/>
          <p:nvPr/>
        </p:nvSpPr>
        <p:spPr>
          <a:xfrm>
            <a:off x="146304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0_1"/>
          <p:cNvSpPr txBox="1"/>
          <p:nvPr/>
        </p:nvSpPr>
        <p:spPr>
          <a:xfrm>
            <a:off x="150876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追加流出・利上げで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預金コスト上昇</a:t>
            </a:r>
            <a:endParaRPr lang="en-US" sz="950" dirty="0"/>
          </a:p>
        </p:txBody>
      </p:sp>
      <p:sp>
        <p:nvSpPr>
          <p:cNvPr id="33" name="ovl_mx1_1"/>
          <p:cNvSpPr/>
          <p:nvPr/>
        </p:nvSpPr>
        <p:spPr>
          <a:xfrm>
            <a:off x="307848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mx_t1_1"/>
          <p:cNvSpPr txBox="1"/>
          <p:nvPr/>
        </p:nvSpPr>
        <p:spPr>
          <a:xfrm>
            <a:off x="312420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の買い手の撤退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(プライベート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クレジットの流動性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ストレス)</a:t>
            </a:r>
            <a:endParaRPr lang="en-US" sz="950" dirty="0"/>
          </a:p>
        </p:txBody>
      </p:sp>
      <p:sp>
        <p:nvSpPr>
          <p:cNvPr id="35" name="ovl_mx2_1"/>
          <p:cNvSpPr/>
          <p:nvPr/>
        </p:nvSpPr>
        <p:spPr>
          <a:xfrm>
            <a:off x="469392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mx_t2_1"/>
          <p:cNvSpPr txBox="1"/>
          <p:nvPr/>
        </p:nvSpPr>
        <p:spPr>
          <a:xfrm>
            <a:off x="473964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会計の再表示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(空売りの主張、確率 5% 以下)</a:t>
            </a:r>
            <a:endParaRPr lang="en-US" sz="950" dirty="0"/>
          </a:p>
        </p:txBody>
      </p:sp>
      <p:sp>
        <p:nvSpPr>
          <p:cNvPr id="37" name="mx_xt"/>
          <p:cNvSpPr txBox="1"/>
          <p:nvPr/>
        </p:nvSpPr>
        <p:spPr>
          <a:xfrm>
            <a:off x="1463040" y="4864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株価値への影響</a:t>
            </a:r>
            <a:endParaRPr lang="en-US" sz="900" dirty="0"/>
          </a:p>
        </p:txBody>
      </p:sp>
      <p:sp>
        <p:nvSpPr>
          <p:cNvPr id="38" name="ovl_takeaway_bg"/>
          <p:cNvSpPr/>
          <p:nvPr/>
        </p:nvSpPr>
        <p:spPr>
          <a:xfrm>
            <a:off x="457200" y="5120640"/>
            <a:ext cx="5852160" cy="9601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9" name="takeaway"/>
          <p:cNvSpPr txBox="1"/>
          <p:nvPr/>
        </p:nvSpPr>
        <p:spPr>
          <a:xfrm>
            <a:off x="566928" y="5193792"/>
            <a:ext cx="5632704" cy="813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会計疑義はテールとして本体評価から分けたが無視しない。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再表示なら理論株価は約 −3 ドル。兆候は監査人と SEC</a:t>
            </a:r>
            <a:endParaRPr lang="en-US" sz="1100" dirty="0"/>
          </a:p>
        </p:txBody>
      </p:sp>
      <p:graphicFrame>
        <p:nvGraphicFramePr>
          <p:cNvPr id="3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554480"/>
          <a:ext cx="5193792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468880"/>
                <a:gridCol w="12161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兆候・トリガー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確認の時期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貸倒の上昇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4.5% 超、延滞 90 日超 0.6% 超、失業率 4.5% 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公正価値の評価減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個人ローンのマーク 104% 未満、学生 103.5%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資本の上限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15% 未満、増資の発表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の買い手の撤退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の組成額 30 億ドル/四半期 未満が 2 期、手数料率 4%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会計の再表示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監査人の限定意見・交代、10-K の遅延、SEC の照会、再表示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投資行動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投資行動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判断を、いつ・何を確かめて・どの価格で建てるかの手順に落とす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今は建てず、2027 年 Q2 までの 4 四半期で販促費率・信用・資本比率を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確かめる。合格するか 11.3 ドル以下で分割して建てる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時系列投資戦略(4 フェーズ)。判別 KPI は第3章の監視 KPI と共通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scenario-strategy §7、本資料 第3章・最終判断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</a:t>
            </a:r>
            <a:endParaRPr lang="en-US" sz="800" dirty="0"/>
          </a:p>
        </p:txBody>
      </p:sp>
      <p:sp>
        <p:nvSpPr>
          <p:cNvPr id="19" name="ovl_chev0"/>
          <p:cNvSpPr/>
          <p:nvPr/>
        </p:nvSpPr>
        <p:spPr>
          <a:xfrm>
            <a:off x="457200" y="1554480"/>
            <a:ext cx="2743200" cy="640080"/>
          </a:xfrm>
          <a:prstGeom prst="chevron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20" name="ovl_chev_t0"/>
          <p:cNvSpPr txBox="1"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待機・検証期</a:t>
            </a:r>
            <a:endParaRPr lang="en-US" sz="1200" dirty="0"/>
          </a:p>
        </p:txBody>
      </p:sp>
      <p:sp>
        <p:nvSpPr>
          <p:cNvPr id="21" name="ovl_chev1"/>
          <p:cNvSpPr/>
          <p:nvPr/>
        </p:nvSpPr>
        <p:spPr>
          <a:xfrm>
            <a:off x="3108960" y="1554480"/>
            <a:ext cx="2743200" cy="640080"/>
          </a:xfrm>
          <a:prstGeom prst="chevron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2" name="ovl_chev_t1"/>
          <p:cNvSpPr txBox="1"/>
          <p:nvPr/>
        </p:nvSpPr>
        <p:spPr>
          <a:xfrm>
            <a:off x="310896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エントリー期</a:t>
            </a:r>
            <a:endParaRPr lang="en-US" sz="1200" dirty="0"/>
          </a:p>
        </p:txBody>
      </p:sp>
      <p:sp>
        <p:nvSpPr>
          <p:cNvPr id="23" name="ovl_chev2"/>
          <p:cNvSpPr/>
          <p:nvPr/>
        </p:nvSpPr>
        <p:spPr>
          <a:xfrm>
            <a:off x="5760720" y="1554480"/>
            <a:ext cx="2743200" cy="640080"/>
          </a:xfrm>
          <a:prstGeom prst="chevron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4" name="ovl_chev_t2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本格保有期</a:t>
            </a:r>
            <a:endParaRPr lang="en-US" sz="1200" dirty="0"/>
          </a:p>
        </p:txBody>
      </p:sp>
      <p:sp>
        <p:nvSpPr>
          <p:cNvPr id="25" name="ovl_chev3"/>
          <p:cNvSpPr/>
          <p:nvPr/>
        </p:nvSpPr>
        <p:spPr>
          <a:xfrm>
            <a:off x="8412480" y="1554480"/>
            <a:ext cx="2743200" cy="640080"/>
          </a:xfrm>
          <a:prstGeom prst="chevron">
            <a:avLst/>
          </a:prstGeom>
          <a:solidFill>
            <a:srgbClr val="1BA1A6"/>
          </a:solidFill>
          <a:ln w="12700">
            <a:solidFill>
              <a:srgbClr val="1BA1A6"/>
            </a:solidFill>
            <a:prstDash val="solid"/>
          </a:ln>
        </p:spPr>
      </p:sp>
      <p:sp>
        <p:nvSpPr>
          <p:cNvPr id="26" name="ovl_chev_t3"/>
          <p:cNvSpPr txBox="1"/>
          <p:nvPr/>
        </p:nvSpPr>
        <p:spPr>
          <a:xfrm>
            <a:off x="8412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再評価期</a:t>
            </a:r>
            <a:endParaRPr lang="en-US" sz="1200" dirty="0"/>
          </a:p>
        </p:txBody>
      </p:sp>
      <p:graphicFrame>
        <p:nvGraphicFramePr>
          <p:cNvPr id="3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487168"/>
                <a:gridCol w="2487168"/>
                <a:gridCol w="2487168"/>
                <a:gridCol w="2487168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待機・検証期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エントリー期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本格保有期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再評価期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今〜2027 年 Q2(4 四半期)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合格した後、または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 11.3 ドル以下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超が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四半期続いた後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株価が理論株価に近づいた後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建てずに判別 KPI 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四半期ごとに確かめる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11.3 ドル以下で 3 回に分けて建てる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(9.3 ドル以下なら即時)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確度に応じて増やす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新しい差分を探し、なければ縮小する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判別 KPI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EPS 0.15 以上・販促費率 31% 以下・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4.2% 以下・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16% 以上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同左を 2 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以上、LPB 比率の上昇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 1.0 以上、コンセンサスとの差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撤退条件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4.8% 超、増資、再表示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が 2 四半期続けて 9%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差分の消失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判別 KPI のうち 3 つ以上を 2 四半期続けて満たしたら、構造評価を B に見直し、分割エントリーの上限を引き上げる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前提と制約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13条件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価値・行動</a:t>
            </a:r>
            <a:endParaRPr lang="en-US" sz="800" dirty="0"/>
          </a:p>
        </p:txBody>
      </p:sp>
      <p:sp>
        <p:nvSpPr>
          <p:cNvPr id="12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3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前提と制約</a:t>
            </a:r>
            <a:endParaRPr lang="en-US" sz="1000" dirty="0"/>
          </a:p>
        </p:txBody>
      </p:sp>
      <p:sp>
        <p:nvSpPr>
          <p:cNvPr id="14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計算の前提、数値の出所と限界、免責を明示し、後から検証できるようにする</a:t>
            </a:r>
            <a:endParaRPr lang="en-US" sz="1000" dirty="0"/>
          </a:p>
        </p:txBody>
      </p:sp>
      <p:sp>
        <p:nvSpPr>
          <p:cNvPr id="15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計算の前提と既知の制約: 一次資料を直接読めず、数値は検索要約経由。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前提は事前登録し、本書は投資助言ではない</a:t>
            </a:r>
            <a:endParaRPr lang="en-US" sz="1900" dirty="0"/>
          </a:p>
        </p:txBody>
      </p:sp>
      <p:sp>
        <p:nvSpPr>
          <p:cNvPr id="16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Appendix: 計算の前提(事前登録)、既知の制約、免責</a:t>
            </a:r>
            <a:endParaRPr lang="en-US" sz="950" dirty="0"/>
          </a:p>
        </p:txBody>
      </p:sp>
      <p:sp>
        <p:nvSpPr>
          <p:cNvPr id="17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calc/prereg.md、calc/val_model.py、research/・research_r2/ の各ファイル</a:t>
            </a:r>
            <a:endParaRPr lang="en-US" sz="800" dirty="0"/>
          </a:p>
        </p:txBody>
      </p:sp>
      <p:sp>
        <p:nvSpPr>
          <p:cNvPr id="18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38</a:t>
            </a:r>
            <a:endParaRPr lang="en-US" sz="800" dirty="0"/>
          </a:p>
        </p:txBody>
      </p:sp>
      <p:graphicFrame>
        <p:nvGraphicFramePr>
          <p:cNvPr id="3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 EPS(株式報酬を含む)。2026〜29 年はコンセンサス・会社目標・事業エンジン、2030 年は延長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妥当 PER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 13.6 倍(NU 16・LC 11.2)・PEG × 3 年成長率・エンジンの価値の平均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末 40%・2027 末 30%・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末 20%・2029 末 10%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株主資本コスト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13.9%(5.2% + 1.93 × 4.5%)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シナリオ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強気 25%・ベース 50%・弱気 25%(対称)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14〜14.5%(会社の運用下限 low-to-mid teens)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希薄化後 13.75 億株(2026 年)、年 +1.5%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22%(2026 年)、23%(2027 年以降)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生存確率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 98.5%(年度末の目標を今日へ割り引くときに掛ける)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長期成長率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5%(TBV × ROTCE の照合と定常状態の価値)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銘柄分析メソッド(13 条件・集計の規則・許容 PEG)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14.55 ドル(2026-10-16 終値)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pane_head"/>
          <p:cNvSpPr txBox="1"/>
          <p:nvPr/>
        </p:nvSpPr>
        <p:spPr>
          <a:xfrm>
            <a:off x="6355080" y="1481328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既知の制約と免責</a:t>
            </a:r>
            <a:endParaRPr lang="en-US" sz="1200" dirty="0"/>
          </a:p>
        </p:txBody>
      </p:sp>
      <p:sp>
        <p:nvSpPr>
          <p:cNvPr id="21" name="bullets"/>
          <p:cNvSpPr txBox="1"/>
          <p:nvPr/>
        </p:nvSpPr>
        <p:spPr>
          <a:xfrm>
            <a:off x="6355080" y="1828800"/>
            <a:ext cx="5376672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一次資料(SEC・IR)を環境の制約で直接開けず、全数値は検索の要約経由。原文で未照合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TradingView の年度別予想は取得できず、Yahoo・Chartmill・WallStreetZen・Tickflow で代えた。2029 年は 4 名のみ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公正価値の感応度表・倉庫ラインの残高・Q3 の金利ヘッジの規模は未取得。Q3 の評価減は会社開示のマーク変動からの推計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前提は事前登録したが、株価は登録前に見ている(規則で決まる値だけを使った)</a:t>
            </a:r>
            <a:endParaRPr lang="en-US" sz="950" dirty="0"/>
          </a:p>
        </p:txBody>
      </p:sp>
      <p:sp>
        <p:nvSpPr>
          <p:cNvPr id="22" name="src_head"/>
          <p:cNvSpPr txBox="1"/>
          <p:nvPr/>
        </p:nvSpPr>
        <p:spPr>
          <a:xfrm>
            <a:off x="6355080" y="384048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主な出所(いずれも検索の要約経由)</a:t>
            </a:r>
            <a:endParaRPr lang="en-US" sz="1200" dirty="0"/>
          </a:p>
        </p:txBody>
      </p:sp>
      <p:sp>
        <p:nvSpPr>
          <p:cNvPr id="23" name="bullets_src"/>
          <p:cNvSpPr txBox="1"/>
          <p:nvPr/>
        </p:nvSpPr>
        <p:spPr>
          <a:xfrm>
            <a:off x="6355080" y="4187952"/>
            <a:ext cx="537667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の決算発表・10-Q・決算説明会(Q4 2025〜Q2 2026)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Muddy Waters の空売り報告(2026-03)、KBW・Morgan Stanley・BofA の見解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競合の決算(Chime・Robinhood・LendingClub、2026 年 Q2)と各社の価格表</a:t>
            </a:r>
            <a:endParaRPr lang="en-US" sz="950" dirty="0"/>
          </a:p>
        </p:txBody>
      </p:sp>
      <p:sp>
        <p:nvSpPr>
          <p:cNvPr id="24" name="ovl_takeaway_bg"/>
          <p:cNvSpPr/>
          <p:nvPr/>
        </p:nvSpPr>
        <p:spPr>
          <a:xfrm>
            <a:off x="6355080" y="5257800"/>
            <a:ext cx="537667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6464808" y="5330952"/>
            <a:ext cx="515721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本資料は情報の整理を目的とし、投資助言ではない。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投資判断は自己の責任で行うこと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 Technologies(SOFI)長期保有適格性審査</dc:title>
  <dc:subject>PptxGenJS Presentation</dc:subject>
  <dc:creator>SoFi 長期保有適格性審査</dc:creator>
  <cp:lastModifiedBy>SoFi 長期保有適格性審査</cp:lastModifiedBy>
  <cp:revision>1</cp:revision>
  <dcterms:created xsi:type="dcterms:W3CDTF">2026-10-18T06:57:33Z</dcterms:created>
  <dcterms:modified xsi:type="dcterms:W3CDTF">2026-10-18T06:57:33Z</dcterms:modified>
</cp:coreProperties>
</file>