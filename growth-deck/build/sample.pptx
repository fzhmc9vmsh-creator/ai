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197A56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Meiryo UI"/>
                    <a:ea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  <c:pt idx="4">
                  <c:v>2027予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8.2</c:v>
                </c:pt>
                <c:pt idx="1">
                  <c:v>9.1</c:v>
                </c:pt>
                <c:pt idx="2">
                  <c:v>10.4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予測</c:v>
                </c:pt>
              </c:strCache>
            </c:strRef>
          </c:tx>
          <c:spPr>
            <a:solidFill>
              <a:srgbClr val="86C99B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900">
                    <a:solidFill>
                      <a:srgbClr val="333333"/>
                    </a:solidFill>
                    <a:latin typeface="Meiryo UI"/>
                    <a:ea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  <c:pt idx="4">
                  <c:v>2027予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3">
                  <c:v>11.9</c:v>
                </c:pt>
                <c:pt idx="4">
                  <c:v>13.6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Meiryo UI"/>
                <a:ea typeface="Meiryo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67676"/>
                </a:solidFill>
                <a:latin typeface="Meiryo UI"/>
                <a:ea typeface="Meiryo U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33333"/>
              </a:solidFill>
              <a:latin typeface="Meiryo UI"/>
              <a:ea typeface="Meiryo UI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333333"/>
          </a:solidFill>
          <a:latin typeface="Meiryo UI"/>
          <a:ea typeface="Meiryo UI"/>
        </a:defRPr>
      </a:pPr>
      <a:endParaRPr lang="en-US">
        <a:latin typeface="Meiryo UI"/>
        <a:ea typeface="Meiryo UI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成長率(実績)</c:v>
                </c:pt>
              </c:strCache>
            </c:strRef>
          </c:tx>
          <c:spPr>
            <a:ln w="28575">
              <a:solidFill>
                <a:srgbClr val="197A56"/>
              </a:solidFill>
            </a:ln>
          </c:spPr>
          <c:marker>
            <c:symbol val="circle"/>
            <c:size val="7"/>
            <c:spPr>
              <a:solidFill>
                <a:srgbClr val="197A56"/>
              </a:solidFill>
              <a:ln>
                <a:solidFill>
                  <a:srgbClr val="197A5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  <c:pt idx="4">
                  <c:v>2027予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1">
                  <c:v>11.0</c:v>
                </c:pt>
                <c:pt idx="2">
                  <c:v>14.3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成長率(予測)</c:v>
                </c:pt>
              </c:strCache>
            </c:strRef>
          </c:tx>
          <c:spPr>
            <a:ln w="28575">
              <a:solidFill>
                <a:srgbClr val="86C99B"/>
              </a:solidFill>
            </a:ln>
          </c:spPr>
          <c:marker>
            <c:symbol val="circle"/>
            <c:size val="7"/>
            <c:spPr>
              <a:solidFill>
                <a:srgbClr val="86C99B"/>
              </a:solidFill>
              <a:ln>
                <a:solidFill>
                  <a:srgbClr val="86C99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  <c:pt idx="4">
                  <c:v>2027予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2">
                  <c:v>14.3</c:v>
                </c:pt>
                <c:pt idx="3">
                  <c:v>14.4</c:v>
                </c:pt>
                <c:pt idx="4">
                  <c:v>14.3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Meiryo UI"/>
                <a:ea typeface="Meiryo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67676"/>
                </a:solidFill>
                <a:latin typeface="Meiryo UI"/>
                <a:ea typeface="Meiryo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333333"/>
              </a:solidFill>
              <a:latin typeface="Meiryo UI"/>
              <a:ea typeface="Meiryo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333333"/>
          </a:solidFill>
          <a:latin typeface="Meiryo UI"/>
          <a:ea typeface="Meiryo UI"/>
        </a:defRPr>
      </a:pPr>
      <a:endParaRPr lang="en-US">
        <a:latin typeface="Meiryo UI"/>
        <a:ea typeface="Meiryo UI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type=closing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g_cover_panel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E4D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over_title"/>
          <p:cNvSpPr txBox="1"/>
          <p:nvPr/>
        </p:nvSpPr>
        <p:spPr>
          <a:xfrm>
            <a:off x="731520" y="201168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  <a:ea typeface="Meiryo UI"/>
              </a:rPr>
              <a:t>成長テーマの評価と重点候補</a:t>
            </a:r>
          </a:p>
        </p:txBody>
      </p:sp>
      <p:sp>
        <p:nvSpPr>
          <p:cNvPr id="5" name="cover_subtitle"/>
          <p:cNvSpPr txBox="1"/>
          <p:nvPr/>
        </p:nvSpPr>
        <p:spPr>
          <a:xfrm>
            <a:off x="731520" y="3657600"/>
            <a:ext cx="6583680" cy="5486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  <a:ea typeface="Meiryo UI"/>
              </a:rPr>
              <a:t>検査用サンプルデッキ</a:t>
            </a:r>
          </a:p>
        </p:txBody>
      </p:sp>
      <p:sp>
        <p:nvSpPr>
          <p:cNvPr id="6" name="cover_date"/>
          <p:cNvSpPr txBox="1"/>
          <p:nvPr/>
        </p:nvSpPr>
        <p:spPr>
          <a:xfrm>
            <a:off x="731520" y="429768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 UI"/>
                <a:ea typeface="Meiryo UI"/>
              </a:rPr>
              <a:t>2026年10月18日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divid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oc_label"/>
          <p:cNvSpPr txBox="1"/>
          <p:nvPr/>
        </p:nvSpPr>
        <p:spPr>
          <a:xfrm>
            <a:off x="822960" y="2103120"/>
            <a:ext cx="292608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  <a:ea typeface="Meiryo UI"/>
              </a:rPr>
              <a:t>目次</a:t>
            </a:r>
          </a:p>
        </p:txBody>
      </p:sp>
      <p:sp>
        <p:nvSpPr>
          <p:cNvPr id="4" name="toc_no_1"/>
          <p:cNvSpPr/>
          <p:nvPr/>
        </p:nvSpPr>
        <p:spPr>
          <a:xfrm>
            <a:off x="4206240" y="210312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0E4D33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5" name="toc_item_1"/>
          <p:cNvSpPr txBox="1"/>
          <p:nvPr/>
        </p:nvSpPr>
        <p:spPr>
          <a:xfrm>
            <a:off x="4937760" y="2103120"/>
            <a:ext cx="6583680" cy="47548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 UI"/>
                <a:ea typeface="Meiryo UI"/>
              </a:rPr>
              <a:t>市場環境の確認</a:t>
            </a:r>
          </a:p>
        </p:txBody>
      </p:sp>
      <p:sp>
        <p:nvSpPr>
          <p:cNvPr id="6" name="toc_no_2"/>
          <p:cNvSpPr/>
          <p:nvPr/>
        </p:nvSpPr>
        <p:spPr>
          <a:xfrm>
            <a:off x="4206240" y="3108960"/>
            <a:ext cx="475488" cy="475488"/>
          </a:xfrm>
          <a:prstGeom prst="ellipse">
            <a:avLst/>
          </a:prstGeom>
          <a:noFill/>
          <a:ln w="15875">
            <a:solidFill>
              <a:srgbClr val="86C99B"/>
            </a:solidFill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86C99B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7" name="toc_item_2"/>
          <p:cNvSpPr txBox="1"/>
          <p:nvPr/>
        </p:nvSpPr>
        <p:spPr>
          <a:xfrm>
            <a:off x="4937760" y="3108960"/>
            <a:ext cx="6583680" cy="47548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2000" b="0">
                <a:solidFill>
                  <a:srgbClr val="86C99B"/>
                </a:solidFill>
                <a:latin typeface="Meiryo UI"/>
                <a:ea typeface="Meiryo UI"/>
              </a:rPr>
              <a:t>テーマ別評価</a:t>
            </a:r>
          </a:p>
        </p:txBody>
      </p:sp>
      <p:sp>
        <p:nvSpPr>
          <p:cNvPr id="8" name="toc_no_3"/>
          <p:cNvSpPr/>
          <p:nvPr/>
        </p:nvSpPr>
        <p:spPr>
          <a:xfrm>
            <a:off x="4206240" y="4114800"/>
            <a:ext cx="475488" cy="475488"/>
          </a:xfrm>
          <a:prstGeom prst="ellipse">
            <a:avLst/>
          </a:prstGeom>
          <a:noFill/>
          <a:ln w="15875">
            <a:solidFill>
              <a:srgbClr val="86C99B"/>
            </a:solidFill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86C99B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9" name="toc_item_3"/>
          <p:cNvSpPr txBox="1"/>
          <p:nvPr/>
        </p:nvSpPr>
        <p:spPr>
          <a:xfrm>
            <a:off x="4937760" y="4114800"/>
            <a:ext cx="6583680" cy="47548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2000" b="0">
                <a:solidFill>
                  <a:srgbClr val="86C99B"/>
                </a:solidFill>
                <a:latin typeface="Meiryo UI"/>
                <a:ea typeface="Meiryo UI"/>
              </a:rPr>
              <a:t>重点候補の判定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11247120" cy="713232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l"/>
            <a:r>
              <a:rPr sz="2000" b="1">
                <a:solidFill>
                  <a:srgbClr val="197A56"/>
                </a:solidFill>
                <a:latin typeface="Meiryo UI"/>
                <a:ea typeface="Meiryo UI"/>
              </a:rPr>
              <a:t>市場成長と参入余地を両立する3テーマを優先する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0">
                <a:solidFill>
                  <a:srgbClr val="767676"/>
                </a:solidFill>
                <a:latin typeface="Meiryo UI"/>
                <a:ea typeface="Meiryo UI"/>
              </a:rPr>
              <a:t>テーマ別の評価サマリー(評価記号は S〜F、NA は対象外)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57200" y="1508760"/>
          <a:ext cx="731520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645920"/>
                <a:gridCol w="1463040"/>
                <a:gridCol w="1463040"/>
              </a:tblGrid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テーマ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市場成長率(年率)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参入余地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総合評価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0E4D33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A データ基盤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14%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大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S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0E4D33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B 省人化ロボット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11%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中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A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197A56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C 再生医療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9%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大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B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86C99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D 地域決済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3%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小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C</a:t>
                      </a:r>
                    </a:p>
                  </a:txBody>
                  <a:tcPr marL="45720" marR="45720" marT="45720" marB="4572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D68910"/>
                    </a:solidFill>
                  </a:tcPr>
                </a:tc>
              </a:tr>
            </a:tbl>
          </a:graphicData>
        </a:graphic>
      </p:graphicFrame>
      <p:cxnSp>
        <p:nvCxnSpPr>
          <p:cNvPr id="5" name="arrow"/>
          <p:cNvCxnSpPr/>
          <p:nvPr/>
        </p:nvCxnSpPr>
        <p:spPr>
          <a:xfrm>
            <a:off x="7818120" y="3429000"/>
            <a:ext cx="274320" cy="0"/>
          </a:xfrm>
          <a:prstGeom prst="line">
            <a:avLst/>
          </a:prstGeom>
          <a:ln w="19050">
            <a:solidFill>
              <a:srgbClr val="767676"/>
            </a:solidFill>
            <a:tailEnd type="triangle" w="med" len="med"/>
          </a:ln>
        </p:spPr>
      </p:cxnSp>
      <p:sp>
        <p:nvSpPr>
          <p:cNvPr id="6" name="bg_takeaway"/>
          <p:cNvSpPr/>
          <p:nvPr/>
        </p:nvSpPr>
        <p:spPr>
          <a:xfrm>
            <a:off x="8138160" y="1508760"/>
            <a:ext cx="3593592" cy="3840480"/>
          </a:xfrm>
          <a:prstGeom prst="rect">
            <a:avLst/>
          </a:prstGeom>
          <a:solidFill>
            <a:srgbClr val="EEF6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g_takeaway_bar"/>
          <p:cNvSpPr/>
          <p:nvPr/>
        </p:nvSpPr>
        <p:spPr>
          <a:xfrm>
            <a:off x="8138160" y="1508760"/>
            <a:ext cx="54864" cy="3840480"/>
          </a:xfrm>
          <a:prstGeom prst="rect">
            <a:avLst/>
          </a:prstGeom>
          <a:solidFill>
            <a:srgbClr val="197A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akeaway"/>
          <p:cNvSpPr txBox="1"/>
          <p:nvPr/>
        </p:nvSpPr>
        <p:spPr>
          <a:xfrm>
            <a:off x="8321040" y="1508760"/>
            <a:ext cx="3319272" cy="38404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市場成長と参入余地が両立するテーマ(A・B)に調査を集中させる。Dは成長率が低いため優先度を下げる。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457200" y="635508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Meiryo UI"/>
                <a:ea typeface="Meiryo UI"/>
              </a:rPr>
              <a:t>出所: サンプルデータ(検査用の仮の数値)</a:t>
            </a:r>
          </a:p>
        </p:txBody>
      </p:sp>
      <p:sp>
        <p:nvSpPr>
          <p:cNvPr id="10" name="page_number"/>
          <p:cNvSpPr txBox="1"/>
          <p:nvPr/>
        </p:nvSpPr>
        <p:spPr>
          <a:xfrm>
            <a:off x="11155680" y="6382512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Meiryo UI"/>
                <a:ea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11247120" cy="713232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l"/>
            <a:r>
              <a:rPr sz="2000" b="1">
                <a:solidFill>
                  <a:srgbClr val="197A56"/>
                </a:solidFill>
                <a:latin typeface="Meiryo UI"/>
                <a:ea typeface="Meiryo UI"/>
              </a:rPr>
              <a:t>国内市場は2027年まで二桁成長が続く見通しである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0">
                <a:solidFill>
                  <a:srgbClr val="767676"/>
                </a:solidFill>
                <a:latin typeface="Meiryo UI"/>
                <a:ea typeface="Meiryo UI"/>
              </a:rPr>
              <a:t>市場規模は実績(濃緑)と予測(薄緑)を分けて示し、予測の年は「予」を付す</a:t>
            </a:r>
          </a:p>
        </p:txBody>
      </p:sp>
      <p:sp>
        <p:nvSpPr>
          <p:cNvPr id="4" name="bg_kpi_card"/>
          <p:cNvSpPr/>
          <p:nvPr/>
        </p:nvSpPr>
        <p:spPr>
          <a:xfrm>
            <a:off x="457200" y="1463040"/>
            <a:ext cx="35935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pi_value"/>
          <p:cNvSpPr txBox="1"/>
          <p:nvPr/>
        </p:nvSpPr>
        <p:spPr>
          <a:xfrm>
            <a:off x="640080" y="1536192"/>
            <a:ext cx="3227832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4000" b="1">
                <a:solidFill>
                  <a:srgbClr val="197A56"/>
                </a:solidFill>
                <a:latin typeface="Meiryo UI"/>
                <a:ea typeface="Meiryo UI"/>
              </a:rPr>
              <a:t>10.4兆円</a:t>
            </a:r>
          </a:p>
        </p:txBody>
      </p:sp>
      <p:sp>
        <p:nvSpPr>
          <p:cNvPr id="6" name="kpi_label"/>
          <p:cNvSpPr txBox="1"/>
          <p:nvPr/>
        </p:nvSpPr>
        <p:spPr>
          <a:xfrm>
            <a:off x="640080" y="2313432"/>
            <a:ext cx="322783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2025年 市場規模(実績)</a:t>
            </a:r>
          </a:p>
        </p:txBody>
      </p:sp>
      <p:sp>
        <p:nvSpPr>
          <p:cNvPr id="7" name="kpi_note"/>
          <p:cNvSpPr txBox="1"/>
          <p:nvPr/>
        </p:nvSpPr>
        <p:spPr>
          <a:xfrm>
            <a:off x="640080" y="2560320"/>
            <a:ext cx="3227832" cy="237744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Meiryo UI"/>
                <a:ea typeface="Meiryo UI"/>
              </a:rPr>
              <a:t>前年比 +14.3%</a:t>
            </a:r>
          </a:p>
        </p:txBody>
      </p:sp>
      <p:sp>
        <p:nvSpPr>
          <p:cNvPr id="8" name="bg_kpi_card"/>
          <p:cNvSpPr/>
          <p:nvPr/>
        </p:nvSpPr>
        <p:spPr>
          <a:xfrm>
            <a:off x="4297680" y="1463040"/>
            <a:ext cx="35935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pi_value"/>
          <p:cNvSpPr txBox="1"/>
          <p:nvPr/>
        </p:nvSpPr>
        <p:spPr>
          <a:xfrm>
            <a:off x="4480560" y="1536192"/>
            <a:ext cx="3227832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4000" b="1">
                <a:solidFill>
                  <a:srgbClr val="1BA1A6"/>
                </a:solidFill>
                <a:latin typeface="Meiryo UI"/>
                <a:ea typeface="Meiryo UI"/>
              </a:rPr>
              <a:t>+14%</a:t>
            </a:r>
          </a:p>
        </p:txBody>
      </p:sp>
      <p:sp>
        <p:nvSpPr>
          <p:cNvPr id="10" name="kpi_label"/>
          <p:cNvSpPr txBox="1"/>
          <p:nvPr/>
        </p:nvSpPr>
        <p:spPr>
          <a:xfrm>
            <a:off x="4480560" y="2313432"/>
            <a:ext cx="322783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2026予 前年比成長率</a:t>
            </a:r>
          </a:p>
        </p:txBody>
      </p:sp>
      <p:sp>
        <p:nvSpPr>
          <p:cNvPr id="11" name="kpi_note"/>
          <p:cNvSpPr txBox="1"/>
          <p:nvPr/>
        </p:nvSpPr>
        <p:spPr>
          <a:xfrm>
            <a:off x="4480560" y="2560320"/>
            <a:ext cx="3227832" cy="237744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Meiryo UI"/>
                <a:ea typeface="Meiryo UI"/>
              </a:rPr>
              <a:t>予測値</a:t>
            </a:r>
          </a:p>
        </p:txBody>
      </p:sp>
      <p:sp>
        <p:nvSpPr>
          <p:cNvPr id="12" name="bg_kpi_card"/>
          <p:cNvSpPr/>
          <p:nvPr/>
        </p:nvSpPr>
        <p:spPr>
          <a:xfrm>
            <a:off x="8138160" y="1463040"/>
            <a:ext cx="35935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kpi_value"/>
          <p:cNvSpPr txBox="1"/>
          <p:nvPr/>
        </p:nvSpPr>
        <p:spPr>
          <a:xfrm>
            <a:off x="8321040" y="1536192"/>
            <a:ext cx="3227832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4000" b="1">
                <a:solidFill>
                  <a:srgbClr val="1BA1A6"/>
                </a:solidFill>
                <a:latin typeface="Meiryo UI"/>
                <a:ea typeface="Meiryo UI"/>
              </a:rPr>
              <a:t>13.6兆円</a:t>
            </a:r>
          </a:p>
        </p:txBody>
      </p:sp>
      <p:sp>
        <p:nvSpPr>
          <p:cNvPr id="14" name="kpi_label"/>
          <p:cNvSpPr txBox="1"/>
          <p:nvPr/>
        </p:nvSpPr>
        <p:spPr>
          <a:xfrm>
            <a:off x="8321040" y="2313432"/>
            <a:ext cx="322783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2027予 市場規模</a:t>
            </a:r>
          </a:p>
        </p:txBody>
      </p:sp>
      <p:sp>
        <p:nvSpPr>
          <p:cNvPr id="15" name="kpi_note"/>
          <p:cNvSpPr txBox="1"/>
          <p:nvPr/>
        </p:nvSpPr>
        <p:spPr>
          <a:xfrm>
            <a:off x="8321040" y="2560320"/>
            <a:ext cx="3227832" cy="237744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Meiryo UI"/>
                <a:ea typeface="Meiryo UI"/>
              </a:rPr>
              <a:t>予測値</a:t>
            </a:r>
          </a:p>
        </p:txBody>
      </p:sp>
      <p:sp>
        <p:nvSpPr>
          <p:cNvPr id="16" name="chart_label_bar"/>
          <p:cNvSpPr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eiryo UI"/>
                <a:ea typeface="Meiryo UI"/>
              </a:rPr>
              <a:t>市場規模の推移(兆円)</a:t>
            </a:r>
          </a:p>
        </p:txBody>
      </p:sp>
      <p:graphicFrame>
        <p:nvGraphicFramePr>
          <p:cNvPr id="17" name="chart_bar"/>
          <p:cNvGraphicFramePr>
            <a:graphicFrameLocks noGrp="1"/>
          </p:cNvGraphicFramePr>
          <p:nvPr/>
        </p:nvGraphicFramePr>
        <p:xfrm>
          <a:off x="457200" y="3291840"/>
          <a:ext cx="54864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_label_line"/>
          <p:cNvSpPr/>
          <p:nvPr/>
        </p:nvSpPr>
        <p:spPr>
          <a:xfrm>
            <a:off x="6245352" y="2971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eiryo UI"/>
                <a:ea typeface="Meiryo UI"/>
              </a:rPr>
              <a:t>成長率の推移(%)</a:t>
            </a:r>
          </a:p>
        </p:txBody>
      </p:sp>
      <p:graphicFrame>
        <p:nvGraphicFramePr>
          <p:cNvPr id="19" name="chart_line"/>
          <p:cNvGraphicFramePr>
            <a:graphicFrameLocks noGrp="1"/>
          </p:cNvGraphicFramePr>
          <p:nvPr/>
        </p:nvGraphicFramePr>
        <p:xfrm>
          <a:off x="6245352" y="3291840"/>
          <a:ext cx="548640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source"/>
          <p:cNvSpPr txBox="1"/>
          <p:nvPr/>
        </p:nvSpPr>
        <p:spPr>
          <a:xfrm>
            <a:off x="457200" y="635508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Meiryo UI"/>
                <a:ea typeface="Meiryo UI"/>
              </a:rPr>
              <a:t>出所: サンプルデータ(検査用の仮の数値)。2026年以降は予測値</a:t>
            </a:r>
          </a:p>
        </p:txBody>
      </p:sp>
      <p:sp>
        <p:nvSpPr>
          <p:cNvPr id="21" name="page_number"/>
          <p:cNvSpPr txBox="1"/>
          <p:nvPr/>
        </p:nvSpPr>
        <p:spPr>
          <a:xfrm>
            <a:off x="11155680" y="6382512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Meiryo UI"/>
                <a:ea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"/>
            <a:ext cx="11247120" cy="713232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l"/>
            <a:r>
              <a:rPr sz="2000" b="1">
                <a:solidFill>
                  <a:srgbClr val="197A56"/>
                </a:solidFill>
                <a:latin typeface="Meiryo UI"/>
                <a:ea typeface="Meiryo UI"/>
              </a:rPr>
              <a:t>評価バッジで候補の優先順位を一目で判定できる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0">
                <a:solidFill>
                  <a:srgbClr val="767676"/>
                </a:solidFill>
                <a:latin typeface="Meiryo UI"/>
                <a:ea typeface="Meiryo UI"/>
              </a:rPr>
              <a:t>評価記号は S(極めて優良)から F(不適格)の7段階、対象外は NA</a:t>
            </a:r>
          </a:p>
        </p:txBody>
      </p:sp>
      <p:sp>
        <p:nvSpPr>
          <p:cNvPr id="4" name="badge_S"/>
          <p:cNvSpPr/>
          <p:nvPr/>
        </p:nvSpPr>
        <p:spPr>
          <a:xfrm>
            <a:off x="822960" y="1828800"/>
            <a:ext cx="548640" cy="548640"/>
          </a:xfrm>
          <a:prstGeom prst="roundRect">
            <a:avLst/>
          </a:prstGeom>
          <a:solidFill>
            <a:srgbClr val="0E4D33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  <a:ea typeface="Meiryo UI"/>
              </a:rPr>
              <a:t>S</a:t>
            </a:r>
          </a:p>
        </p:txBody>
      </p:sp>
      <p:sp>
        <p:nvSpPr>
          <p:cNvPr id="5" name="grade_label_S"/>
          <p:cNvSpPr/>
          <p:nvPr/>
        </p:nvSpPr>
        <p:spPr>
          <a:xfrm>
            <a:off x="45720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極めて優良</a:t>
            </a:r>
          </a:p>
        </p:txBody>
      </p:sp>
      <p:sp>
        <p:nvSpPr>
          <p:cNvPr id="6" name="badge_A"/>
          <p:cNvSpPr/>
          <p:nvPr/>
        </p:nvSpPr>
        <p:spPr>
          <a:xfrm>
            <a:off x="2240279" y="1828800"/>
            <a:ext cx="548640" cy="548640"/>
          </a:xfrm>
          <a:prstGeom prst="roundRect">
            <a:avLst/>
          </a:prstGeom>
          <a:solidFill>
            <a:srgbClr val="197A56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  <a:ea typeface="Meiryo UI"/>
              </a:rPr>
              <a:t>A</a:t>
            </a:r>
          </a:p>
        </p:txBody>
      </p:sp>
      <p:sp>
        <p:nvSpPr>
          <p:cNvPr id="7" name="grade_label_A"/>
          <p:cNvSpPr/>
          <p:nvPr/>
        </p:nvSpPr>
        <p:spPr>
          <a:xfrm>
            <a:off x="1874519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優良</a:t>
            </a:r>
          </a:p>
        </p:txBody>
      </p:sp>
      <p:sp>
        <p:nvSpPr>
          <p:cNvPr id="8" name="badge_B"/>
          <p:cNvSpPr/>
          <p:nvPr/>
        </p:nvSpPr>
        <p:spPr>
          <a:xfrm>
            <a:off x="3657600" y="1828800"/>
            <a:ext cx="548640" cy="548640"/>
          </a:xfrm>
          <a:prstGeom prst="roundRect">
            <a:avLst/>
          </a:prstGeom>
          <a:solidFill>
            <a:srgbClr val="86C99B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0E4D33"/>
                </a:solidFill>
                <a:latin typeface="Meiryo UI"/>
                <a:ea typeface="Meiryo UI"/>
              </a:rPr>
              <a:t>B</a:t>
            </a:r>
          </a:p>
        </p:txBody>
      </p:sp>
      <p:sp>
        <p:nvSpPr>
          <p:cNvPr id="9" name="grade_label_B"/>
          <p:cNvSpPr/>
          <p:nvPr/>
        </p:nvSpPr>
        <p:spPr>
          <a:xfrm>
            <a:off x="329184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良好</a:t>
            </a:r>
          </a:p>
        </p:txBody>
      </p:sp>
      <p:sp>
        <p:nvSpPr>
          <p:cNvPr id="10" name="badge_C"/>
          <p:cNvSpPr/>
          <p:nvPr/>
        </p:nvSpPr>
        <p:spPr>
          <a:xfrm>
            <a:off x="5074920" y="1828800"/>
            <a:ext cx="548640" cy="548640"/>
          </a:xfrm>
          <a:prstGeom prst="roundRect">
            <a:avLst/>
          </a:prstGeom>
          <a:solidFill>
            <a:srgbClr val="D68910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Meiryo UI"/>
                <a:ea typeface="Meiryo UI"/>
              </a:rPr>
              <a:t>C</a:t>
            </a:r>
          </a:p>
        </p:txBody>
      </p:sp>
      <p:sp>
        <p:nvSpPr>
          <p:cNvPr id="11" name="grade_label_C"/>
          <p:cNvSpPr/>
          <p:nvPr/>
        </p:nvSpPr>
        <p:spPr>
          <a:xfrm>
            <a:off x="470916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中立</a:t>
            </a:r>
          </a:p>
        </p:txBody>
      </p:sp>
      <p:sp>
        <p:nvSpPr>
          <p:cNvPr id="12" name="badge_D"/>
          <p:cNvSpPr/>
          <p:nvPr/>
        </p:nvSpPr>
        <p:spPr>
          <a:xfrm>
            <a:off x="6492240" y="1828800"/>
            <a:ext cx="54864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Meiryo UI"/>
                <a:ea typeface="Meiryo UI"/>
              </a:rPr>
              <a:t>D</a:t>
            </a:r>
          </a:p>
        </p:txBody>
      </p:sp>
      <p:sp>
        <p:nvSpPr>
          <p:cNvPr id="13" name="grade_label_D"/>
          <p:cNvSpPr/>
          <p:nvPr/>
        </p:nvSpPr>
        <p:spPr>
          <a:xfrm>
            <a:off x="612648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やや弱い</a:t>
            </a:r>
          </a:p>
        </p:txBody>
      </p:sp>
      <p:sp>
        <p:nvSpPr>
          <p:cNvPr id="14" name="badge_E"/>
          <p:cNvSpPr/>
          <p:nvPr/>
        </p:nvSpPr>
        <p:spPr>
          <a:xfrm>
            <a:off x="7909560" y="1828800"/>
            <a:ext cx="54864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  <a:ea typeface="Meiryo UI"/>
              </a:rPr>
              <a:t>E</a:t>
            </a:r>
          </a:p>
        </p:txBody>
      </p:sp>
      <p:sp>
        <p:nvSpPr>
          <p:cNvPr id="15" name="grade_label_E"/>
          <p:cNvSpPr/>
          <p:nvPr/>
        </p:nvSpPr>
        <p:spPr>
          <a:xfrm>
            <a:off x="754380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弱い</a:t>
            </a:r>
          </a:p>
        </p:txBody>
      </p:sp>
      <p:sp>
        <p:nvSpPr>
          <p:cNvPr id="16" name="badge_F"/>
          <p:cNvSpPr/>
          <p:nvPr/>
        </p:nvSpPr>
        <p:spPr>
          <a:xfrm>
            <a:off x="9326880" y="1828800"/>
            <a:ext cx="548640" cy="548640"/>
          </a:xfrm>
          <a:prstGeom prst="roundRect">
            <a:avLst/>
          </a:prstGeom>
          <a:solidFill>
            <a:srgbClr val="7B241C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  <a:ea typeface="Meiryo UI"/>
              </a:rPr>
              <a:t>F</a:t>
            </a:r>
          </a:p>
        </p:txBody>
      </p:sp>
      <p:sp>
        <p:nvSpPr>
          <p:cNvPr id="17" name="grade_label_F"/>
          <p:cNvSpPr/>
          <p:nvPr/>
        </p:nvSpPr>
        <p:spPr>
          <a:xfrm>
            <a:off x="896112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不適格</a:t>
            </a:r>
          </a:p>
        </p:txBody>
      </p:sp>
      <p:sp>
        <p:nvSpPr>
          <p:cNvPr id="18" name="badge_NA"/>
          <p:cNvSpPr/>
          <p:nvPr/>
        </p:nvSpPr>
        <p:spPr>
          <a:xfrm>
            <a:off x="10744200" y="1828800"/>
            <a:ext cx="548640" cy="548640"/>
          </a:xfrm>
          <a:prstGeom prst="roundRect">
            <a:avLst/>
          </a:prstGeom>
          <a:solidFill>
            <a:srgbClr val="767676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  <a:ea typeface="Meiryo UI"/>
              </a:rPr>
              <a:t>NA</a:t>
            </a:r>
          </a:p>
        </p:txBody>
      </p:sp>
      <p:sp>
        <p:nvSpPr>
          <p:cNvPr id="19" name="grade_label_NA"/>
          <p:cNvSpPr/>
          <p:nvPr/>
        </p:nvSpPr>
        <p:spPr>
          <a:xfrm>
            <a:off x="1037844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評価対象外</a:t>
            </a:r>
          </a:p>
        </p:txBody>
      </p:sp>
      <p:sp>
        <p:nvSpPr>
          <p:cNvPr id="20" name="chevron"/>
          <p:cNvSpPr/>
          <p:nvPr/>
        </p:nvSpPr>
        <p:spPr>
          <a:xfrm>
            <a:off x="457200" y="3200400"/>
            <a:ext cx="3566160" cy="457200"/>
          </a:xfrm>
          <a:prstGeom prst="chevron">
            <a:avLst/>
          </a:prstGeom>
          <a:solidFill>
            <a:srgbClr val="0E4D33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</a:rPr>
              <a:t>1 市場成長率で絞り込む</a:t>
            </a:r>
          </a:p>
        </p:txBody>
      </p:sp>
      <p:sp>
        <p:nvSpPr>
          <p:cNvPr id="21" name="chevron"/>
          <p:cNvSpPr/>
          <p:nvPr/>
        </p:nvSpPr>
        <p:spPr>
          <a:xfrm>
            <a:off x="4297680" y="3200400"/>
            <a:ext cx="3566160" cy="457200"/>
          </a:xfrm>
          <a:prstGeom prst="chevron">
            <a:avLst/>
          </a:prstGeom>
          <a:solidFill>
            <a:srgbClr val="197A56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</a:rPr>
              <a:t>2 参入余地を定性評価する</a:t>
            </a:r>
          </a:p>
        </p:txBody>
      </p:sp>
      <p:sp>
        <p:nvSpPr>
          <p:cNvPr id="22" name="chevron"/>
          <p:cNvSpPr/>
          <p:nvPr/>
        </p:nvSpPr>
        <p:spPr>
          <a:xfrm>
            <a:off x="8138160" y="3200400"/>
            <a:ext cx="3566160" cy="457200"/>
          </a:xfrm>
          <a:prstGeom prst="chevron">
            <a:avLst/>
          </a:prstGeom>
          <a:solidFill>
            <a:srgbClr val="1BA1A6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Meiryo UI"/>
                <a:ea typeface="Meiryo UI"/>
              </a:rPr>
              <a:t>3 評価バッジで判定する</a:t>
            </a:r>
          </a:p>
        </p:txBody>
      </p:sp>
      <p:sp>
        <p:nvSpPr>
          <p:cNvPr id="23" name="section_label"/>
          <p:cNvSpPr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eiryo UI"/>
                <a:ea typeface="Meiryo UI"/>
              </a:rPr>
              <a:t>重点候補の判定</a:t>
            </a:r>
          </a:p>
        </p:txBody>
      </p:sp>
      <p:sp>
        <p:nvSpPr>
          <p:cNvPr id="24" name="grade_header"/>
          <p:cNvSpPr/>
          <p:nvPr/>
        </p:nvSpPr>
        <p:spPr>
          <a:xfrm>
            <a:off x="9144000" y="3886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eiryo UI"/>
                <a:ea typeface="Meiryo UI"/>
              </a:rPr>
              <a:t>総合評価</a:t>
            </a:r>
          </a:p>
        </p:txBody>
      </p:sp>
      <p:sp>
        <p:nvSpPr>
          <p:cNvPr id="25" name="rank_1"/>
          <p:cNvSpPr/>
          <p:nvPr/>
        </p:nvSpPr>
        <p:spPr>
          <a:xfrm>
            <a:off x="457200" y="4297680"/>
            <a:ext cx="384048" cy="384048"/>
          </a:xfrm>
          <a:prstGeom prst="ellipse">
            <a:avLst/>
          </a:prstGeom>
          <a:solidFill>
            <a:srgbClr val="0E4D33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26" name="candidate_1"/>
          <p:cNvSpPr/>
          <p:nvPr/>
        </p:nvSpPr>
        <p:spPr>
          <a:xfrm>
            <a:off x="1005840" y="42976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テーマA データ基盤:市場成長率が高く、参入余地も大きい</a:t>
            </a:r>
          </a:p>
        </p:txBody>
      </p:sp>
      <p:sp>
        <p:nvSpPr>
          <p:cNvPr id="27" name="badge_S"/>
          <p:cNvSpPr/>
          <p:nvPr/>
        </p:nvSpPr>
        <p:spPr>
          <a:xfrm>
            <a:off x="9144000" y="4297680"/>
            <a:ext cx="384048" cy="384048"/>
          </a:xfrm>
          <a:prstGeom prst="roundRect">
            <a:avLst/>
          </a:prstGeom>
          <a:solidFill>
            <a:srgbClr val="0E4D33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</a:rPr>
              <a:t>S</a:t>
            </a:r>
          </a:p>
        </p:txBody>
      </p:sp>
      <p:sp>
        <p:nvSpPr>
          <p:cNvPr id="28" name="rank_2"/>
          <p:cNvSpPr/>
          <p:nvPr/>
        </p:nvSpPr>
        <p:spPr>
          <a:xfrm>
            <a:off x="457200" y="4983480"/>
            <a:ext cx="384048" cy="384048"/>
          </a:xfrm>
          <a:prstGeom prst="ellipse">
            <a:avLst/>
          </a:prstGeom>
          <a:solidFill>
            <a:srgbClr val="0E4D33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29" name="candidate_2"/>
          <p:cNvSpPr/>
          <p:nvPr/>
        </p:nvSpPr>
        <p:spPr>
          <a:xfrm>
            <a:off x="1005840" y="4983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テーマB 省人化ロボット:成長性は十分で、参入余地は中程度</a:t>
            </a:r>
          </a:p>
        </p:txBody>
      </p:sp>
      <p:sp>
        <p:nvSpPr>
          <p:cNvPr id="30" name="badge_A"/>
          <p:cNvSpPr/>
          <p:nvPr/>
        </p:nvSpPr>
        <p:spPr>
          <a:xfrm>
            <a:off x="9144000" y="4983480"/>
            <a:ext cx="384048" cy="384048"/>
          </a:xfrm>
          <a:prstGeom prst="roundRect">
            <a:avLst/>
          </a:prstGeom>
          <a:solidFill>
            <a:srgbClr val="197A56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</a:rPr>
              <a:t>A</a:t>
            </a:r>
          </a:p>
        </p:txBody>
      </p:sp>
      <p:sp>
        <p:nvSpPr>
          <p:cNvPr id="31" name="rank_3"/>
          <p:cNvSpPr/>
          <p:nvPr/>
        </p:nvSpPr>
        <p:spPr>
          <a:xfrm>
            <a:off x="457200" y="5669280"/>
            <a:ext cx="384048" cy="384048"/>
          </a:xfrm>
          <a:prstGeom prst="ellipse">
            <a:avLst/>
          </a:prstGeom>
          <a:solidFill>
            <a:srgbClr val="0E4D33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32" name="candidate_3"/>
          <p:cNvSpPr/>
          <p:nvPr/>
        </p:nvSpPr>
        <p:spPr>
          <a:xfrm>
            <a:off x="1005840" y="56692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テーマC 再生医療:参入余地は大きいが、成長率は中程度</a:t>
            </a:r>
          </a:p>
        </p:txBody>
      </p:sp>
      <p:sp>
        <p:nvSpPr>
          <p:cNvPr id="33" name="badge_B"/>
          <p:cNvSpPr/>
          <p:nvPr/>
        </p:nvSpPr>
        <p:spPr>
          <a:xfrm>
            <a:off x="9144000" y="5669280"/>
            <a:ext cx="384048" cy="384048"/>
          </a:xfrm>
          <a:prstGeom prst="roundRect">
            <a:avLst/>
          </a:prstGeom>
          <a:solidFill>
            <a:srgbClr val="86C99B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>
                <a:solidFill>
                  <a:srgbClr val="0E4D33"/>
                </a:solidFill>
                <a:latin typeface="Meiryo UI"/>
                <a:ea typeface="Meiryo UI"/>
              </a:rPr>
              <a:t>B</a:t>
            </a:r>
          </a:p>
        </p:txBody>
      </p:sp>
      <p:sp>
        <p:nvSpPr>
          <p:cNvPr id="34" name="source"/>
          <p:cNvSpPr txBox="1"/>
          <p:nvPr/>
        </p:nvSpPr>
        <p:spPr>
          <a:xfrm>
            <a:off x="457200" y="635508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Meiryo UI"/>
                <a:ea typeface="Meiryo UI"/>
              </a:rPr>
              <a:t>出所: サンプルデータ。評価基準は検査用の仮定義</a:t>
            </a:r>
          </a:p>
        </p:txBody>
      </p:sp>
      <p:sp>
        <p:nvSpPr>
          <p:cNvPr id="35" name="page_number"/>
          <p:cNvSpPr txBox="1"/>
          <p:nvPr/>
        </p:nvSpPr>
        <p:spPr>
          <a:xfrm>
            <a:off x="11155680" y="6382512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800" b="0">
                <a:solidFill>
                  <a:srgbClr val="767676"/>
                </a:solidFill>
                <a:latin typeface="Meiryo UI"/>
                <a:ea typeface="Meiryo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closin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losing_text"/>
          <p:cNvSpPr txBox="1"/>
          <p:nvPr/>
        </p:nvSpPr>
        <p:spPr>
          <a:xfrm>
            <a:off x="914400" y="2194560"/>
            <a:ext cx="10362895" cy="24688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重点候補A・Bの一次調査を開始する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本資料は投資助言ではありません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